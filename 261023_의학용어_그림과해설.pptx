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1EA"/>
    <a:srgbClr val="EDF7FF"/>
    <a:srgbClr val="F4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theme" Target="theme/theme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tableStyles" Target="tableStyles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0866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A-01 / 절개 · 절제 · 절단 · 적출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절개: 갈라서 여는 것 / 절제: 병든 곳을 잘라냄 / 적출: 통째로 꺼냄</a:t>
            </a:r>
          </a:p>
          <a:p>
            <a:endParaRPr/>
          </a:p>
          <a:p>
            <a:r>
              <a:t>수정 근거: 네 용어 중 빠져 있던 절단의 정의를 보완했습니다.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986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A-02 / 흡인이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바늘이나 관을 넣어요 / 당겨서 빨아들여요 / 필요하면 검사로 보내요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0318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A-03 / 천자가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초음파로 위치를 확인해요 / 바늘·가는 관을 넣어요 / 복수를 몸 밖으로 빼내요</a:t>
            </a:r>
          </a:p>
          <a:p>
            <a:endParaRPr/>
          </a:p>
          <a:p>
            <a:r>
              <a:t>수정 근거: 천자를 복수천자 사례로 설명하고, 한 번으로 끝난다는 단정을 삭제했습니다. 그림은 복강의 액체를 몸 밖으로 빼는 모식도입니다. 2차 참고자료의 추가 분류를 반영하되 모든 환자에게 동일한 방법을 쓰는 표현은 피했습니다.</a:t>
            </a:r>
          </a:p>
          <a:p>
            <a:endParaRPr/>
          </a:p>
          <a:p>
            <a:r>
              <a:t>근거: MSK 복수천자 안내</a:t>
            </a:r>
          </a:p>
          <a:p>
            <a:r>
              <a:t>https://www.mskcc.org/cancer-care/patient-education/paracentesis-abdominal-tap</a:t>
            </a:r>
          </a:p>
          <a:p>
            <a:endParaRPr/>
          </a:p>
          <a:p>
            <a:r>
              <a:t>그림: 내장 ImageGen 도구로 제작한 모식도. 실제 환자·기기 사진이 아닙니다. 원본: 그림/A-03.png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7898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A-04 / 배농이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곪은 부위를 마취해요 / 작게 째서 고름을 빼요 / 씻어내고 소독해요</a:t>
            </a:r>
          </a:p>
          <a:p>
            <a:endParaRPr/>
          </a:p>
          <a:p>
            <a:r>
              <a:t>수정 근거:  2차 참고자료의 추가 분류를 반영하되 모든 환자에게 동일한 방법을 쓰는 표현은 피했습니다.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5360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A-05 / 배액이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고인 곳에 관을 넣어요 / 주머니에 연결해요 / 양이 줄면 관을 빼요</a:t>
            </a:r>
          </a:p>
          <a:p>
            <a:endParaRPr/>
          </a:p>
          <a:p>
            <a:r>
              <a:t>수정 근거: 배액관을 두는 기간은 고정된 며칠 이상이 아니므로 기간 단정을 제거했습니다. 2차 참고자료의 추가 분류를 반영하되 모든 환자에게 동일한 방법을 쓰는 표현은 피했습니다.</a:t>
            </a:r>
          </a:p>
          <a:p>
            <a:endParaRPr/>
          </a:p>
          <a:p>
            <a:r>
              <a:t>근거: MSK 복수천자 안내</a:t>
            </a:r>
          </a:p>
          <a:p>
            <a:r>
              <a:t>https://www.mskcc.org/cancer-care/patient-education/paracentesis-abdominal-tap</a:t>
            </a:r>
          </a:p>
          <a:p>
            <a:endParaRPr/>
          </a:p>
          <a:p>
            <a:r>
              <a:t>그림: 내장 ImageGen 도구로 제작한 모식도. 실제 환자·기기 사진이 아닙니다. 원본: 그림/A-05.png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6180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A-06 / 조직검사(생검)가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바늘·내시경으로 접근 / 조직을 조금 떼어내요 / 현미경으로 살펴봐요</a:t>
            </a:r>
          </a:p>
          <a:p>
            <a:endParaRPr/>
          </a:p>
          <a:p>
            <a:r>
              <a:t>수정 근거: 생검의 진단 목적을 설명하되 진단과 치료가 겹치는 절제 생검을 배제하지 않았습니다.</a:t>
            </a:r>
          </a:p>
          <a:p>
            <a:endParaRPr/>
          </a:p>
          <a:p>
            <a:r>
              <a:t>근거: ACR·RSNA 생검·진공보조 생검</a:t>
            </a:r>
          </a:p>
          <a:p>
            <a:r>
              <a:t>https://www.radiologyinfo.org/en/info/biopgen</a:t>
            </a:r>
          </a:p>
          <a:p>
            <a:endParaRPr/>
          </a:p>
          <a:p>
            <a:r>
              <a:t>그림: 내장 ImageGen 도구로 제작한 모식도. 실제 환자·기기 사진이 아닙니다. 원본: 그림/A-06.png</a:t>
            </a:r>
          </a:p>
          <a:p>
            <a:endParaRPr/>
          </a:p>
          <a:p>
            <a:r>
              <a:t>보충 설명: 영상검사만으로 알기 어려운 조직의 성격을 확인해요.</a:t>
            </a:r>
          </a:p>
          <a:p>
            <a:r>
              <a:t>보충 설명 근거 (2026-10-15): https://www.radiologyinfo.org/en/info/biopgen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8508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A-07 / 창상봉합술이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상처를 씻고 소독해요 / 실이나 의료용 풀로 닫아요 / 실 제거 시기는 부위마다 달라요</a:t>
            </a:r>
          </a:p>
          <a:p>
            <a:endParaRPr/>
          </a:p>
          <a:p>
            <a:r>
              <a:t>수정 근거: 봉합사 제거 시기는 상처 위치와 종류에 따라 달라 1~2주로 일반화하지 않았습니다.</a:t>
            </a:r>
          </a:p>
          <a:p>
            <a:endParaRPr/>
          </a:p>
          <a:p>
            <a:r>
              <a:t>근거: MedlinePlus 봉합사 제거 시기</a:t>
            </a:r>
          </a:p>
          <a:p>
            <a:r>
              <a:t>https://medlineplus.gov/ency/imagepages/19630.htm</a:t>
            </a:r>
          </a:p>
          <a:p>
            <a:endParaRPr/>
          </a:p>
          <a:p>
            <a:r>
              <a:t>그림: 내장 ImageGen 도구로 제작한 모식도. 실제 환자·기기 사진이 아닙니다. 원본: 그림/A-07.png</a:t>
            </a:r>
          </a:p>
          <a:p>
            <a:endParaRPr/>
          </a:p>
          <a:p>
            <a:r>
              <a:t>보충 설명: 상처의 양쪽 가장자리를 맞대어 아물도록 도와요.</a:t>
            </a:r>
          </a:p>
          <a:p>
            <a:r>
              <a:t>보충 설명 근거 (2026-10-15): https://medlineplus.gov/ency/imagepages/19630.htm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4490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A-08 / 변연절제술이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상처를 씻어내요 / 죽은 조직을 잘라내요 / 깨끗한 면만 남겨요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19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A-09 / 신경차단술이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영상으로 신경 위치 확인 / 가는 바늘을 넣어요 / 마취제·소염제를 넣어요</a:t>
            </a:r>
          </a:p>
          <a:p>
            <a:endParaRPr/>
          </a:p>
          <a:p>
            <a:r>
              <a:t>수정 근거:  2차 참고자료의 추가 분류를 반영하되 모든 환자에게 동일한 방법을 쓰는 표현은 피했습니다.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5069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A-10 / 소작술이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부위를 마취해요 / 열을 내는 기구를 대요 / 조직을 지져 없애요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그림/A-10.png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3355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A-11 / 결찰술이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묶을 곳을 찾아요 / 실이나 클립으로 묶어요 / 피나 액체가 멈춰요</a:t>
            </a:r>
          </a:p>
          <a:p>
            <a:endParaRPr/>
          </a:p>
          <a:p>
            <a:r>
              <a:t>수정 근거: 측부 혈류까지 전부 없어지는 것으로 일반화하지 않았습니다.</a:t>
            </a:r>
          </a:p>
          <a:p>
            <a:endParaRPr/>
          </a:p>
          <a:p>
            <a:r>
              <a:t>근거: ACR·RSNA 방사선색전술</a:t>
            </a:r>
          </a:p>
          <a:p>
            <a:r>
              <a:t>https://www.radiologyinfo.org/en/info/radioembol</a:t>
            </a:r>
          </a:p>
          <a:p>
            <a:endParaRPr/>
          </a:p>
          <a:p>
            <a:r>
              <a:t>그림: 내장 ImageGen 도구로 제작한 모식도. 실제 환자·기기 사진이 아닙니다. 원본: 그림/A-11.png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49944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A-12 / 박리술이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붙은 곳을 확인해요 / 기구로 조심히 떼어내요 / 제자리로 돌려놔요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그림/A-12.png</a:t>
            </a:r>
          </a:p>
          <a:p>
            <a:endParaRPr/>
          </a:p>
          <a:p>
            <a:r>
              <a:t>보충 설명: ‘유착’은 원래 떨어져 있어야 할 조직이 서로 붙은 상태예요.</a:t>
            </a:r>
          </a:p>
          <a:p>
            <a:r>
              <a:t>보충 설명 근거 (2026-10-15): https://www.niddk.nih.gov/health-information/digestive-diseases/abdominal-adhesions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786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A-13 / 문합술이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병든 부분을 잘라내요 / 남은 양 끝을 맞대요 / 꿰매어 이어 붙여요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그림/A-13.png</a:t>
            </a:r>
          </a:p>
          <a:p>
            <a:endParaRPr/>
          </a:p>
          <a:p>
            <a:r>
              <a:t>보충 설명: 이은 부위를 통해 음식물이나 혈액 등이 다시 지나가게 해요.</a:t>
            </a:r>
          </a:p>
          <a:p>
            <a:r>
              <a:t>보충 설명 근거 (2026-10-15): https://www.cancer.gov/publications/dictionaries/cancer-terms/def/anastomosis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4120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A-14 / 이식술이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기증 장기를 준비해요 / 혈관을 이어 붙여요 / 거부반응 약을 먹어요</a:t>
            </a:r>
          </a:p>
          <a:p>
            <a:endParaRPr/>
          </a:p>
          <a:p>
            <a:r>
              <a:t>수정 근거: 일반 이식술의 장은 신장이식 예시로 한정해 그림과 설명을 맞췄습니다.</a:t>
            </a:r>
          </a:p>
          <a:p>
            <a:endParaRPr/>
          </a:p>
          <a:p>
            <a:r>
              <a:t>근거: NIDDK 신장이식</a:t>
            </a:r>
          </a:p>
          <a:p>
            <a:r>
              <a:t>https://www.niddk.nih.gov/health-information/kidney-disease/kidney-failure/kidney-transplant</a:t>
            </a:r>
          </a:p>
          <a:p>
            <a:endParaRPr/>
          </a:p>
          <a:p>
            <a:r>
              <a:t>그림: 내장 ImageGen 도구로 제작한 모식도. 실제 환자·기기 사진이 아닙니다. 원본: 그림/A-14.png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5401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A-15 / 치환술이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닳은 부분을 깎아내요 / 인공 부품을 끼워요 / 재활 운동을 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73621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A-16 / 정복술과 고정술이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어긋난 뼈를 맞춰요 / 판·나사·핀으로 고정 / 뼈가 붙길 기다려요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그림/A-16.png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44055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A-17 / 색전술이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혈관에 가는 관을 넣어요 / 목표 혈관까지 보내요 / 막는 물질을 넣어요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그림/A-17.png</a:t>
            </a:r>
          </a:p>
          <a:p>
            <a:endParaRPr/>
          </a:p>
          <a:p>
            <a:r>
              <a:t>보충 설명: 출혈을 줄이거나 종양으로 가는 혈액을 차단할 때 사용해요.</a:t>
            </a:r>
          </a:p>
          <a:p>
            <a:r>
              <a:t>보충 설명 근거 (2026-10-15): https://www.radiologyinfo.org/en/info/cathembol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41139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A-18 / 쇄석술(체외충격파)이란?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결석 위치를 맞춰요 / 충격파를 여러 번 쏴요 / 조각이 소변으로 나와요</a:t>
            </a:r>
          </a:p>
          <a:p>
            <a:endParaRPr/>
          </a:p>
          <a:p>
            <a:r>
              <a:t>수정 근거: 일반적인 쇄석술 설명에 충격파 시술만 제시돼 있어, 제목에서 해당 사례를 명시했습니다.</a:t>
            </a:r>
          </a:p>
          <a:p>
            <a:endParaRPr/>
          </a:p>
          <a:p>
            <a:r>
              <a:t>근거: NHS 요로결석 체외충격파 쇄석술</a:t>
            </a:r>
          </a:p>
          <a:p>
            <a:r>
              <a:t>https://www.plymouthhospitals.nhs.uk/display-pil/pil-extracorporeal-shockwave-lithotripsy-eswl-for-stones-4316/</a:t>
            </a:r>
          </a:p>
          <a:p>
            <a:endParaRPr/>
          </a:p>
          <a:p>
            <a:r>
              <a:t>그림: 내장 ImageGen 도구로 제작한 모식도. 실제 환자·기기 사진이 아닙니다. 원본: 그림/A-18.png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00492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A-19 / 삽입술이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넣을 자리까지 접근해요 / 장치를 펼치거나 심어요 / 자리를 확인해요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그림/A-19.png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30365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A-20 / 요추천자가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허리뼈 사이 / 뇌척수액 / 조금 채취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ACR·RSNA 요추천자</a:t>
            </a:r>
          </a:p>
          <a:p>
            <a:r>
              <a:t>https://www.radiologyinfo.org/en/info/spinaltap</a:t>
            </a:r>
          </a:p>
          <a:p>
            <a:endParaRPr/>
          </a:p>
          <a:p>
            <a:r>
              <a:t>그림: 내장 ImageGen 도구로 제작한 모식도. 실제 환자·기기 사진이 아닙니다. 원본: 그림/A-20.png</a:t>
            </a:r>
          </a:p>
          <a:p>
            <a:endParaRPr/>
          </a:p>
          <a:p>
            <a:r>
              <a:t>보충 설명: 뇌척수액은 뇌와 척수 주변을 감싸는 액체예요.</a:t>
            </a:r>
          </a:p>
          <a:p>
            <a:r>
              <a:t>보충 설명 근거 (2026-10-15): https://www.radiologyinfo.org/en/info/spinaltap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89048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A-21 / 골수검사(골수천자)가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골반뼈 / 골수 채취 / 현미경 검사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골수 흡인·생검</a:t>
            </a:r>
          </a:p>
          <a:p>
            <a:r>
              <a:t>https://www.mayoclinic.org/tests-procedures/bone-marrow-biopsy/about/pac-20393117</a:t>
            </a:r>
          </a:p>
          <a:p>
            <a:endParaRPr/>
          </a:p>
          <a:p>
            <a:r>
              <a:t>그림: 내장 ImageGen 도구로 제작한 모식도. 실제 환자·기기 사진이 아닙니다. 원본: 그림/A-21.png</a:t>
            </a:r>
          </a:p>
          <a:p>
            <a:endParaRPr/>
          </a:p>
          <a:p>
            <a:r>
              <a:t>보충 설명: 골수는 뼈 안에서 혈액세포를 만드는 조직이에요.</a:t>
            </a:r>
          </a:p>
          <a:p>
            <a:r>
              <a:t>보충 설명 근거 (2026-10-15): https://www.mayoclinic.org/tests-procedures/bone-marrow-biopsy/about/pac-20393117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61179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A-22 / 흉막천자와 흉관삽입이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폐 바깥 공간 / 가는 관 / 액체·공기 배출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ACR·RSNA 흉막천자</a:t>
            </a:r>
          </a:p>
          <a:p>
            <a:r>
              <a:t>https://www.radiologyinfo.org/en/info/thoracentesis</a:t>
            </a:r>
          </a:p>
          <a:p>
            <a:endParaRPr/>
          </a:p>
          <a:p>
            <a:r>
              <a:t>그림: 내장 ImageGen 도구로 제작한 모식도. 실제 환자·기기 사진이 아닙니다. 원본: 그림/A-22.png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80327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A-23 / 심낭천자가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심장 / 고인 액체 / 주머니에서 배액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심낭삼출 치료</a:t>
            </a:r>
          </a:p>
          <a:p>
            <a:r>
              <a:t>https://www.mayoclinic.org/diseases-conditions/pericardial-effusion/diagnosis-treatment/drc-20353724</a:t>
            </a:r>
          </a:p>
          <a:p>
            <a:endParaRPr/>
          </a:p>
          <a:p>
            <a:r>
              <a:t>그림: 내장 ImageGen 도구로 제작한 모식도. 실제 환자·기기 사진이 아닙니다. 원본: 그림/A-23.png</a:t>
            </a:r>
          </a:p>
          <a:p>
            <a:endParaRPr/>
          </a:p>
          <a:p>
            <a:r>
              <a:t>보충 설명: ‘심낭’은 심장을 둘러싸고 있는 얇은 주머니를 말해요.</a:t>
            </a:r>
          </a:p>
          <a:p>
            <a:r>
              <a:t>보충 설명 근거 (2026-10-15): https://www.cancer.gov/publications/dictionaries/cancer-terms/def/pericardium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65687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A-24 / 경피적 경화술이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물혹 / 액체를 빼요 / 약으로 경화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CUH NHS 간·신장 낭종 경화술</a:t>
            </a:r>
          </a:p>
          <a:p>
            <a:r>
              <a:t>https://www.cuh.nhs.uk/patient-information/ultrasound-guided-sclerotherapy-a-guide-for-patients/</a:t>
            </a:r>
          </a:p>
          <a:p>
            <a:endParaRPr/>
          </a:p>
          <a:p>
            <a:r>
              <a:t>그림: 내장 ImageGen 도구로 제작한 모식도. 실제 환자·기기 사진이 아닙니다. 원본: 그림/A-24.png</a:t>
            </a:r>
          </a:p>
          <a:p>
            <a:endParaRPr/>
          </a:p>
          <a:p>
            <a:r>
              <a:t>보충 설명: ‘경피적’은 피부를 통해 바늘이나 관으로 접근한다는 뜻이에요.</a:t>
            </a:r>
          </a:p>
          <a:p>
            <a:r>
              <a:t>보충 설명 근거 (2026-10-15): https://www.cancer.gov/publications/dictionaries/cancer-terms/def/percutaneous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59612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A-25 / 도수정복술이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어긋난 뼈 / 위치를 맞춰요 / 고정해요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MedlinePlus 비수술적 골절 정복</a:t>
            </a:r>
          </a:p>
          <a:p>
            <a:r>
              <a:t>https://www.medlineplus.gov/ency/patientinstructions/000521.htm</a:t>
            </a:r>
          </a:p>
          <a:p>
            <a:endParaRPr/>
          </a:p>
          <a:p>
            <a:r>
              <a:t>그림: 내장 ImageGen 도구로 제작한 모식도. 실제 환자·기기 사진이 아닙니다. 원본: 그림/A-25.png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15410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A-26 / 깁스와 부목이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한쪽을 받치는 부목 / 둘레를 감싸는 깁스 / 움직임 제한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MedlinePlus 골절 고정·깁스·부목</a:t>
            </a:r>
          </a:p>
          <a:p>
            <a:r>
              <a:t>https://medlineplus.gov/fractures.html</a:t>
            </a:r>
          </a:p>
          <a:p>
            <a:endParaRPr/>
          </a:p>
          <a:p>
            <a:r>
              <a:t>그림: 내장 ImageGen 도구로 제작한 모식도. 실제 환자·기기 사진이 아닙니다. 원본: 그림/A-26.png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31817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A-27 / 이물제거술이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식도 속 이물 / 내시경 집게 / 꺼내요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Gloucestershire NHS 소화관 이물 제거</a:t>
            </a:r>
          </a:p>
          <a:p>
            <a:r>
              <a:t>https://www.gloshospitals.nhs.uk/media/documents/Foreign_bodies.pdf</a:t>
            </a:r>
          </a:p>
          <a:p>
            <a:endParaRPr/>
          </a:p>
          <a:p>
            <a:r>
              <a:t>그림: 내장 ImageGen 도구로 제작한 모식도. 실제 환자·기기 사진이 아닙니다. 원본: 그림/A-27.png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65726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A-28 / 화상 처치가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표면 손상 / 물집이 생긴 층 / 깊은 손상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NHS 화상</a:t>
            </a:r>
          </a:p>
          <a:p>
            <a:r>
              <a:t>https://www.nhs.uk/conditions/Burns-and-scalds/</a:t>
            </a:r>
          </a:p>
          <a:p>
            <a:endParaRPr/>
          </a:p>
          <a:p>
            <a:r>
              <a:t>그림: 내장 ImageGen 도구로 제작한 모식도. 실제 환자·기기 사진이 아닙니다. 원본: 그림/A-28.png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28012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A-29 / 피부이식과 피판술이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피부이식 / 혈관을 가진 피판 / 결손을 덮어요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Royal Orthopaedic Hospital 피부이식</a:t>
            </a:r>
          </a:p>
          <a:p>
            <a:r>
              <a:t>https://roh.nhs.uk/services-information/other-info/before-surgery/skin-grafts</a:t>
            </a:r>
          </a:p>
          <a:p>
            <a:endParaRPr/>
          </a:p>
          <a:p>
            <a:r>
              <a:t>그림: 내장 ImageGen 도구로 제작한 모식도. 실제 환자·기기 사진이 아닙니다. 원본: 그림/A-29.png</a:t>
            </a:r>
          </a:p>
          <a:p>
            <a:endParaRPr/>
          </a:p>
          <a:p>
            <a:r>
              <a:t>보충 설명: 국소피판은 옆 피부를 옮기면서 혈액이 통하는 연결을 남겨요.</a:t>
            </a:r>
          </a:p>
          <a:p>
            <a:r>
              <a:t>보충 설명 근거 (2026-10-15): https://www.uhsussex.nhs.uk/resources/skin-grafts-and-skin-flaps-2/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09056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A-30 / 자가 배양 피부 이식이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피부세포 채취 / 세포 배양 / 피부 결손에 이식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FDA 배양 자가 피부이식 환자자료</a:t>
            </a:r>
          </a:p>
          <a:p>
            <a:r>
              <a:t>https://www.fda.gov/media/103055/download</a:t>
            </a:r>
          </a:p>
          <a:p>
            <a:endParaRPr/>
          </a:p>
          <a:p>
            <a:r>
              <a:t>추가 확인 사항: 드물거나 선택적으로 사용하는 치료입니다. 국내 시행·허가·행위 분류와 적용 대상은 실제 의료기관 기준으로 추가 확인하세요.</a:t>
            </a:r>
          </a:p>
          <a:p>
            <a:endParaRPr/>
          </a:p>
          <a:p>
            <a:r>
              <a:t>그림: 내장 ImageGen 도구로 제작한 모식도. 실제 환자·기기 사진이 아닙니다. 원본: 그림/A-30.png</a:t>
            </a:r>
          </a:p>
          <a:p>
            <a:endParaRPr/>
          </a:p>
          <a:p>
            <a:r>
              <a:t>보충 설명: ‘배양’은 채취한 세포를 자라게 해 양을 늘리는 과정이에요.</a:t>
            </a:r>
          </a:p>
          <a:p>
            <a:r>
              <a:t>보충 설명 근거 (2026-10-15): https://www.cancer.gov/publications/dictionaries/cancer-terms/def/culture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33779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A-31 / 티눈 제거·내성 발톱 처치가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티눈 / 내성 발톱 / 상태에 맞게 처치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MedlinePlus 내성 발톱</a:t>
            </a:r>
          </a:p>
          <a:p>
            <a:r>
              <a:t>https://medlineplus.gov/ency/article/001237.htm</a:t>
            </a:r>
          </a:p>
          <a:p>
            <a:endParaRPr/>
          </a:p>
          <a:p>
            <a:r>
              <a:t>근거: MedlinePlus 티눈·굳은살</a:t>
            </a:r>
          </a:p>
          <a:p>
            <a:r>
              <a:t>https://medlineplus.gov/cornsandcalluses.html</a:t>
            </a:r>
          </a:p>
          <a:p>
            <a:endParaRPr/>
          </a:p>
          <a:p>
            <a:r>
              <a:t>그림: 내장 ImageGen 도구로 제작한 모식도. 실제 환자·기기 사진이 아닙니다. 원본: 그림/A-31.png</a:t>
            </a:r>
          </a:p>
          <a:p>
            <a:endParaRPr/>
          </a:p>
          <a:p>
            <a:r>
              <a:t>보충 설명: 티눈은 두꺼워진 피부, 내성 발톱은 파고드는 발톱이 문제예요.</a:t>
            </a:r>
          </a:p>
          <a:p>
            <a:r>
              <a:t>보충 설명 근거 (2026-10-15): https://www.nhs.uk/conditions/corns-and-calluses/ / https://www.nhs.uk/conditions/ingrown-toenail/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68112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B-01 / 치료에 접근하는 여러 방법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①열기 ②복강경 ③내시경 / ④카테터 ⑤로봇 / ⑥몸 밖에서 쏘기</a:t>
            </a:r>
          </a:p>
          <a:p>
            <a:endParaRPr/>
          </a:p>
          <a:p>
            <a:r>
              <a:t>수정 근거: 로봇은 몸속으로 들어가는 별개의 해부학적 경로가 아니라 의사가 사용하는 수술 도구입니다.</a:t>
            </a:r>
          </a:p>
          <a:p>
            <a:endParaRPr/>
          </a:p>
          <a:p>
            <a:r>
              <a:t>근거: Mayo Clinic 로봇수술</a:t>
            </a:r>
          </a:p>
          <a:p>
            <a:r>
              <a:t>https://www.mayoclinic.org/tests-procedures/robotic-surgery/about/pac-20394974</a:t>
            </a:r>
          </a:p>
          <a:p>
            <a:endParaRPr/>
          </a:p>
          <a:p>
            <a:r>
              <a:t>그림: 내장 ImageGen 도구로 제작한 모식도. 실제 환자·기기 사진이 아닙니다. 원본: 그림/B-01.png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98128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B-02 / 개복·개흉·개두 수술이란?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전신마취를 해요 / 피부와 뼈·근육을 열어요 / 직접 보며 수술해요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그림/B-02.png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76096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B-03 / 복강경 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배에 작은 구멍을 내요 / 카메라와 기구를 넣어요 / 화면을 보며 수술해요</a:t>
            </a:r>
          </a:p>
          <a:p>
            <a:endParaRPr/>
          </a:p>
          <a:p>
            <a:r>
              <a:t>수정 근거: 절개 크기를 모든 수술에 공통인 숫자로 제한하지 않았습니다.</a:t>
            </a:r>
          </a:p>
          <a:p>
            <a:endParaRPr/>
          </a:p>
          <a:p>
            <a:r>
              <a:t>근거: Mayo Clinic 로봇수술</a:t>
            </a:r>
          </a:p>
          <a:p>
            <a:r>
              <a:t>https://www.mayoclinic.org/tests-procedures/robotic-surgery/about/pac-20394974</a:t>
            </a:r>
          </a:p>
          <a:p>
            <a:endParaRPr/>
          </a:p>
          <a:p>
            <a:r>
              <a:t>그림: 내장 ImageGen 도구로 제작한 모식도. 실제 환자·기기 사진이 아닙니다. 원본: 그림/B-03.png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80081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B-04 / 내시경 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입·항문으로 관을 넣어요 / 화면으로 속을 살펴요 / 용종을 떼거나 검사해요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그림/B-04.png</a:t>
            </a:r>
          </a:p>
          <a:p>
            <a:endParaRPr/>
          </a:p>
          <a:p>
            <a:r>
              <a:t>보충 설명: 내시경 끝의 기구로 조직을 떼거나 작은 병변을 제거하기도 해요.</a:t>
            </a:r>
          </a:p>
          <a:p>
            <a:r>
              <a:t>보충 설명 근거 (2026-10-15): https://www.nhs.uk/tests-and-treatments/gastroscopy/why-its-done/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60677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B-05 / 관절경 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구멍 2~3개를 내요 / 카메라로 속을 봐요 / 찢어진 곳을 다듬어요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그림/B-05.png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95397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B-06 / 혈관 카테터 시술이란?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손목·사타구니를 마취 / 혈관으로 관을 넣어요 / 혈관을 넓히거나 막아요</a:t>
            </a:r>
          </a:p>
          <a:p>
            <a:endParaRPr/>
          </a:p>
          <a:p>
            <a:r>
              <a:t>수정 근거: 카테터 전체를 혈관 시술로 일반화하지 않도록 제목을 좁히고, 막힌 곳을 막는다는 모호한 문구를 고쳤습니다.</a:t>
            </a:r>
          </a:p>
          <a:p>
            <a:endParaRPr/>
          </a:p>
          <a:p>
            <a:r>
              <a:t>근거: ACR·RSNA 방사선색전술</a:t>
            </a:r>
          </a:p>
          <a:p>
            <a:r>
              <a:t>https://www.radiologyinfo.org/en/info/radioembol</a:t>
            </a:r>
          </a:p>
          <a:p>
            <a:endParaRPr/>
          </a:p>
          <a:p>
            <a:r>
              <a:t>그림: 내장 ImageGen 도구로 제작한 모식도. 실제 환자·기기 사진이 아닙니다. 원본: 그림/B-06.png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70138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B-07 / 로봇수술이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작은 구멍으로 기구를 넣어요 / 확대된 3D 화면을 봐요 / 의사가 직접 조종해요</a:t>
            </a:r>
          </a:p>
          <a:p>
            <a:endParaRPr/>
          </a:p>
          <a:p>
            <a:r>
              <a:t>수정 근거: 로봇 팔 전체가 몸 안에 들어가는 듯한 표현을 가는 수술 기구로 바로잡았습니다. 2차 참고자료의 추가 분류를 반영하되 모든 환자에게 동일한 방법을 쓰는 표현은 피했습니다.</a:t>
            </a:r>
          </a:p>
          <a:p>
            <a:endParaRPr/>
          </a:p>
          <a:p>
            <a:r>
              <a:t>근거: Mayo Clinic 로봇수술</a:t>
            </a:r>
          </a:p>
          <a:p>
            <a:r>
              <a:t>https://www.mayoclinic.org/tests-procedures/robotic-surgery/about/pac-20394974</a:t>
            </a:r>
          </a:p>
          <a:p>
            <a:endParaRPr/>
          </a:p>
          <a:p>
            <a:r>
              <a:t>그림: 내장 ImageGen 도구로 제작한 모식도. 실제 환자·기기 사진이 아닙니다. 원본: 그림/B-07.png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05741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B-08 / 비침습 에너지 치료란?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영상으로 위치를 맞춰요 / 몸 밖에서 에너지를 쏴요 / 대개 당일 귀가해요</a:t>
            </a:r>
          </a:p>
          <a:p>
            <a:endParaRPr/>
          </a:p>
          <a:p>
            <a:r>
              <a:t>수정 근거: 비침습의 넓은 개념과 현재 에너지 치료 예시를 구별했습니다.</a:t>
            </a:r>
          </a:p>
          <a:p>
            <a:endParaRPr/>
          </a:p>
          <a:p>
            <a:r>
              <a:t>근거: NCI 방사선치료 종류</a:t>
            </a:r>
          </a:p>
          <a:p>
            <a:r>
              <a:t>https://training.seer.cancer.gov/treatment/radiation/radiation-types.html</a:t>
            </a:r>
          </a:p>
          <a:p>
            <a:endParaRPr/>
          </a:p>
          <a:p>
            <a:r>
              <a:t>그림: 내장 ImageGen 도구로 제작한 모식도. 실제 환자·기기 사진이 아닙니다. 원본: 그림/B-08.png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84218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C-01 / 암 치료의 세 가지 기둥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수술: 암을 잘라내요 / 약: 온몸의 암을 공격 / 방사선: 쬐어서 파괴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35458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C-02 / 암 진단부터 치료까지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검사로 의심 부위 확인 / 필요하면 조직검사를 해요 / 치료 후 정기 검사</a:t>
            </a:r>
          </a:p>
          <a:p>
            <a:endParaRPr/>
          </a:p>
          <a:p>
            <a:r>
              <a:t>수정 근거: 모든 암을 조직검사로만 확정한다는 단정을 제거했습니다.</a:t>
            </a:r>
          </a:p>
          <a:p>
            <a:endParaRPr/>
          </a:p>
          <a:p>
            <a:r>
              <a:t>근거: ACR·RSNA 생검·진공보조 생검</a:t>
            </a:r>
          </a:p>
          <a:p>
            <a:r>
              <a:t>https://www.radiologyinfo.org/en/info/biopgen</a:t>
            </a:r>
          </a:p>
          <a:p>
            <a:endParaRPr/>
          </a:p>
          <a:p>
            <a:r>
              <a:t>그림: 내장 ImageGen 도구로 제작한 모식도. 실제 환자·기기 사진이 아닙니다. 원본: 그림/C-02.png</a:t>
            </a:r>
          </a:p>
          <a:p>
            <a:endParaRPr/>
          </a:p>
          <a:p>
            <a:r>
              <a:t>보충 설명: 조직검사는 암 여부를 확인하고 치료 방향을 정하는 데 도움을 줘요.</a:t>
            </a:r>
          </a:p>
          <a:p>
            <a:r>
              <a:t>보충 설명 근거 (2026-10-15): https://www.radiologyinfo.org/en/info/biopgen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17623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C-03 / 국가암검진 6가지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①위 ②대장 ③간 / ④폐 ⑤자궁경부 ⑥유방 / 대상·주기는 암마다 달라요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근거: 국가암정보센터 국가암검진</a:t>
            </a:r>
          </a:p>
          <a:p>
            <a:r>
              <a:t>https://edu.cancer.go.kr/lay1/S1T553C555/contents.do</a:t>
            </a:r>
          </a:p>
          <a:p>
            <a:endParaRPr/>
          </a:p>
          <a:p>
            <a:r>
              <a:t>그림: 내장 ImageGen 도구로 제작한 모식도. 실제 환자·기기 사진이 아닙니다. 원본: 그림/C-03.png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93334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C-04 / 내시경 검사가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입이나 항문으로 넣어요 / 점막을 화면으로 봐요 / 조직을 떼거나 용종 제거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그림/B-04.png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27030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C-05 / 초음파 검사가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젤을 바르고 기구를 대요 / 화면으로 장기를 봐요 / 혹의 크기·모양 확인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53304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C-06 / CT 검사가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누워서 통을 지나가요 / 조영제를 쓰기도 해요 / 몇 분이면 끝나요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20136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C-07 / MRI 검사가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좁은 통 안에 누워요 / 검사 시간은 부위마다 달라요 / 소리가 커서 귀마개를 해요</a:t>
            </a:r>
          </a:p>
          <a:p>
            <a:endParaRPr/>
          </a:p>
          <a:p>
            <a:r>
              <a:t>수정 근거: MRI는 자기장과 전파를 사용하며 촬영 시간도 다양합니다.</a:t>
            </a:r>
          </a:p>
          <a:p>
            <a:endParaRPr/>
          </a:p>
          <a:p>
            <a:r>
              <a:t>근거: ACR·RSNA MRI 원리</a:t>
            </a:r>
          </a:p>
          <a:p>
            <a:r>
              <a:t>https://www.radiologyinfo.org/en/mri</a:t>
            </a:r>
          </a:p>
          <a:p>
            <a:endParaRPr/>
          </a:p>
          <a:p>
            <a:r>
              <a:t>그림: 내장 ImageGen 도구로 제작한 모식도. 실제 환자·기기 사진이 아닙니다. 원본: 그림/C-07.png</a:t>
            </a:r>
          </a:p>
          <a:p>
            <a:endParaRPr/>
          </a:p>
          <a:p>
            <a:r>
              <a:t>보충 설명: 강한 자기장을 쓰므로 몸속 금속이나 삽입 기기를 미리 확인해요.</a:t>
            </a:r>
          </a:p>
          <a:p>
            <a:r>
              <a:t>보충 설명 근거 (2026-10-15): https://www.radiologyinfo.org/en/info/safety-mr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31013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C-08 / CT와 MRI는 뭐가 다른가요?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CT: X선, 빠르게 촬영 / MRI: 연부조직 관찰 / 부위에 맞게 골라요</a:t>
            </a:r>
          </a:p>
          <a:p>
            <a:endParaRPr/>
          </a:p>
          <a:p>
            <a:r>
              <a:t>수정 근거: MRI가 모든 부위에서 CT보다 더 자세하다는 인상을 줄이지 않도록 관찰 특성을 적었습니다.</a:t>
            </a:r>
          </a:p>
          <a:p>
            <a:endParaRPr/>
          </a:p>
          <a:p>
            <a:r>
              <a:t>근거: ACR·RSNA MRI 원리</a:t>
            </a:r>
          </a:p>
          <a:p>
            <a:r>
              <a:t>https://www.radiologyinfo.org/en/mri</a:t>
            </a:r>
          </a:p>
          <a:p>
            <a:endParaRPr/>
          </a:p>
          <a:p>
            <a:r>
              <a:t>그림: 내장 ImageGen 도구로 제작한 모식도. 실제 환자·기기 사진이 아닙니다. 원본: 그림/C-08.png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02873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C-09 / PET 검사가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검사약을 주사해요 / 한 시간쯤 기다려요 / 온몸을 촬영해요</a:t>
            </a:r>
          </a:p>
          <a:p>
            <a:endParaRPr/>
          </a:p>
          <a:p>
            <a:r>
              <a:t>수정 근거: PET에는 여러 추적자가 있으며 FDG의 섭취는 암에만 특이적이지 않습니다.</a:t>
            </a:r>
          </a:p>
          <a:p>
            <a:endParaRPr/>
          </a:p>
          <a:p>
            <a:r>
              <a:t>근거: ACR·RSNA PET/CT</a:t>
            </a:r>
          </a:p>
          <a:p>
            <a:r>
              <a:t>https://www.radiologyinfo.org/en/info/pet</a:t>
            </a:r>
          </a:p>
          <a:p>
            <a:endParaRPr/>
          </a:p>
          <a:p>
            <a:r>
              <a:t>그림: 내장 ImageGen 도구로 제작한 모식도. 실제 환자·기기 사진이 아닙니다. 원본: 그림/C-09.png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012718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C-10 / 미세침흡인검사가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초음파로 혹을 봐요 / 가는 바늘로 세포를 뽑아요 / 현미경으로 확인해요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그림/C-10.png</a:t>
            </a:r>
          </a:p>
          <a:p>
            <a:endParaRPr/>
          </a:p>
          <a:p>
            <a:r>
              <a:t>보충 설명: 세포를 뽑는 검사와 조직 조각을 떼는 검사는 구분해요.</a:t>
            </a:r>
          </a:p>
          <a:p>
            <a:r>
              <a:t>보충 설명 근거 (2026-10-15): https://www.radiologyinfo.org/en/info/biopgen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3843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C-11 / 유전자 검사(NGS)가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암 조직이나 피로 검사 / 유전자 변이를 찾아요 / 치료 선택에 참고해요</a:t>
            </a:r>
          </a:p>
          <a:p>
            <a:endParaRPr/>
          </a:p>
          <a:p>
            <a:r>
              <a:t>수정 근거: 검사 결과가 반드시 맞는 약으로 이어지지는 않으므로 치료 선택의 참고 자료로 표현했습니다. 2차 참고자료의 추가 분류를 반영하되 모든 환자에게 동일한 방법을 쓰는 표현은 피했습니다.</a:t>
            </a:r>
          </a:p>
          <a:p>
            <a:endParaRPr/>
          </a:p>
          <a:p>
            <a:r>
              <a:t>근거: NCI 바이오마커 검사</a:t>
            </a:r>
          </a:p>
          <a:p>
            <a:r>
              <a:t>https://www.cancer.gov/about-cancer/treatment/types/biomarker-testing-cancer-treatment</a:t>
            </a:r>
          </a:p>
          <a:p>
            <a:endParaRPr/>
          </a:p>
          <a:p>
            <a:r>
              <a:t>그림: 내장 ImageGen 도구로 제작한 모식도. 실제 환자·기기 사진이 아닙니다. 원본: 그림/C-11.png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74090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C-12 / 림프계가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림프관: 온몸의 길 / 림프절: 거르는 정거장 / 세균·이물질을 걸러요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63794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C-13 / 전이가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혈관을 타고 가요 / 림프관을 타고 가요 / 다른 곳에서 자라요</a:t>
            </a:r>
          </a:p>
          <a:p>
            <a:endParaRPr/>
          </a:p>
          <a:p>
            <a:r>
              <a:t>수정 근거: 주변 조직으로 직접 자라는 침윤과, 다른 부위로 퍼져 자라는 전이를 구별했습니다.</a:t>
            </a:r>
          </a:p>
          <a:p>
            <a:endParaRPr/>
          </a:p>
          <a:p>
            <a:r>
              <a:t>근거: NCI 암 병기</a:t>
            </a:r>
          </a:p>
          <a:p>
            <a:r>
              <a:t>https://www.cancer.gov/about-cancer/diagnosis-staging/staging</a:t>
            </a:r>
          </a:p>
          <a:p>
            <a:endParaRPr/>
          </a:p>
          <a:p>
            <a:r>
              <a:t>그림: 내장 ImageGen 도구로 제작한 모식도. 실제 환자·기기 사진이 아닙니다. 원본: 그림/C-13.png</a:t>
            </a:r>
          </a:p>
          <a:p>
            <a:endParaRPr/>
          </a:p>
          <a:p>
            <a:r>
              <a:t>보충 설명: 다른 장기로 옮겨 간 암도 처음 생긴 암의 성질을 지녀요.</a:t>
            </a:r>
          </a:p>
          <a:p>
            <a:r>
              <a:t>보충 설명 근거 (2026-10-15): https://www.cancer.gov/types/metastatic-cancer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50964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C-14 / 암의 병기가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국한: 생긴 장기 안에만 / 주변: 인접 조직·림프절 / 원격: 먼 장기까지</a:t>
            </a:r>
          </a:p>
          <a:p>
            <a:endParaRPr/>
          </a:p>
          <a:p>
            <a:r>
              <a:t>수정 근거: 국한·주변·원격은 요약 분류이며 암종별 1~4기 병기와 일대일 대응하지 않습니다.</a:t>
            </a:r>
          </a:p>
          <a:p>
            <a:endParaRPr/>
          </a:p>
          <a:p>
            <a:r>
              <a:t>근거: NCI 암 병기</a:t>
            </a:r>
          </a:p>
          <a:p>
            <a:r>
              <a:t>https://www.cancer.gov/about-cancer/diagnosis-staging/staging</a:t>
            </a:r>
          </a:p>
          <a:p>
            <a:endParaRPr/>
          </a:p>
          <a:p>
            <a:r>
              <a:t>그림: 내장 ImageGen 도구로 제작한 모식도. 실제 환자·기기 사진이 아닙니다. 원본: 그림/C-14.png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63567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C-15 / 원발암이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암이 처음 생긴 자리 / 암 이름의 기준이 돼요 / 치료 계획의 출발점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012358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C-16 / 전이암이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원래 암에서 떨어져 나와 / 혈관·림프관으로 이동 / 다른 장기에서 자라요</a:t>
            </a:r>
          </a:p>
          <a:p>
            <a:endParaRPr/>
          </a:p>
          <a:p>
            <a:r>
              <a:t>수정 근거: 전이 과정에서 종양의 분자적 특성이 변할 수 있어 세포의 성질이 모두 같다는 단정을 줄였습니다.</a:t>
            </a:r>
          </a:p>
          <a:p>
            <a:endParaRPr/>
          </a:p>
          <a:p>
            <a:r>
              <a:t>근거: NCI 바이오마커 검사</a:t>
            </a:r>
          </a:p>
          <a:p>
            <a:r>
              <a:t>https://www.cancer.gov/about-cancer/treatment/types/biomarker-testing-cancer-treatment</a:t>
            </a:r>
          </a:p>
          <a:p>
            <a:endParaRPr/>
          </a:p>
          <a:p>
            <a:r>
              <a:t>근거: NCI 암 병기</a:t>
            </a:r>
          </a:p>
          <a:p>
            <a:r>
              <a:t>https://www.cancer.gov/about-cancer/diagnosis-staging/staging</a:t>
            </a:r>
          </a:p>
          <a:p>
            <a:endParaRPr/>
          </a:p>
          <a:p>
            <a:r>
              <a:t>그림: 내장 ImageGen 도구로 제작한 모식도. 실제 환자·기기 사진이 아닙니다. 원본: 그림/C-16.png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62977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C-17 / 재발암이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치료 후 암이 안 보여요 / 시간이 지나 다시 생겨요 / 같은 곳이나 다른 곳에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그림/C-17.png</a:t>
            </a:r>
          </a:p>
          <a:p>
            <a:endParaRPr/>
          </a:p>
          <a:p>
            <a:r>
              <a:t>보충 설명: 재발은 처음 생긴 곳이나 그 주변, 다른 부위에도 나타날 수 있어요.</a:t>
            </a:r>
          </a:p>
          <a:p>
            <a:r>
              <a:t>보충 설명 근거 (2026-10-15): https://www.cancer.gov/types/recurrent-cancer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032377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C-18 / 잔여암이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수술·항암 치료를 해요 / 검사로 남은 암을 확인 / 추가 치료를 정해요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그림/C-18.png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340476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C-19 / 이차 원발암이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전이가 아니에요 / 재발도 아니에요 / 새로 생긴 별개의 암</a:t>
            </a:r>
          </a:p>
          <a:p>
            <a:endParaRPr/>
          </a:p>
          <a:p>
            <a:r>
              <a:t>수정 근거: 전이암을 뜻할 수도 있는 이차암 대신 새 원발암을 뜻하는 이차 원발암으로 명확하게 했습니다.</a:t>
            </a:r>
          </a:p>
          <a:p>
            <a:endParaRPr/>
          </a:p>
          <a:p>
            <a:r>
              <a:t>근거: NCI 이차 원발암 정의</a:t>
            </a:r>
          </a:p>
          <a:p>
            <a:r>
              <a:t>https://www.cancer.gov/publications/dictionaries/cancer-terms/def/second-primary-cancer</a:t>
            </a:r>
          </a:p>
          <a:p>
            <a:endParaRPr/>
          </a:p>
          <a:p>
            <a:r>
              <a:t>그림: 내장 ImageGen 도구로 제작한 모식도. 실제 환자·기기 사진이 아닙니다. 원본: 그림/C-19.png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45823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C-20 / 전이암 · 재발암 · 잔여암 · 이차 원발암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전이: 옮겨 감 / 재발: 다시 생김 / 잔여: 남음 / 이차 원발: 새로 생긴 암</a:t>
            </a:r>
          </a:p>
          <a:p>
            <a:endParaRPr/>
          </a:p>
          <a:p>
            <a:r>
              <a:t>수정 근거: 비교표의 이차암을 이차 원발암으로 통일했습니다.</a:t>
            </a:r>
          </a:p>
          <a:p>
            <a:endParaRPr/>
          </a:p>
          <a:p>
            <a:r>
              <a:t>근거: NCI 이차 원발암 정의</a:t>
            </a:r>
          </a:p>
          <a:p>
            <a:r>
              <a:t>https://www.cancer.gov/publications/dictionaries/cancer-terms/def/second-primary-cancer</a:t>
            </a:r>
          </a:p>
          <a:p>
            <a:endParaRPr/>
          </a:p>
          <a:p>
            <a:r>
              <a:t>그림: 내장 ImageGen 도구로 제작한 모식도. 실제 환자·기기 사진이 아닙니다. 원본: 그림/C-20.png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713175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C-21 / 근치적 절제술이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암의 범위를 확인해요 / 여유를 두고 잘라내요 / 필요하면 림프절도 떼어요</a:t>
            </a:r>
          </a:p>
          <a:p>
            <a:endParaRPr/>
          </a:p>
          <a:p>
            <a:r>
              <a:t>수정 근거: 근치적 수술의 핵심은 완전 제거 목표이며, 모든 암에서 림프절 절제가 필수는 아닙니다.</a:t>
            </a:r>
          </a:p>
          <a:p>
            <a:endParaRPr/>
          </a:p>
          <a:p>
            <a:r>
              <a:t>근거: NCI 근치수술과 선택적 림프절 절제 사례</a:t>
            </a:r>
          </a:p>
          <a:p>
            <a:r>
              <a:t>https://www.training.seer.cancer.gov/prostate/treatment/surgery-primary-site.html</a:t>
            </a:r>
          </a:p>
          <a:p>
            <a:endParaRPr/>
          </a:p>
          <a:p>
            <a:r>
              <a:t>그림: 내장 ImageGen 도구로 제작한 모식도. 실제 환자·기기 사진이 아닙니다. 원본: 그림/C-21.png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658866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C-22 / 내시경 점막하 박리술(ESD)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점막 밑에 액체를 넣어요 / 둘레를 잘라요 / 얇게 벗겨내요</a:t>
            </a:r>
          </a:p>
          <a:p>
            <a:endParaRPr/>
          </a:p>
          <a:p>
            <a:r>
              <a:t>수정 근거: 주입액을 물로 단정하지 않고, ESD의 적응증을 점막에만 있는 암으로 제한하지 않았습니다.</a:t>
            </a:r>
          </a:p>
          <a:p>
            <a:endParaRPr/>
          </a:p>
          <a:p>
            <a:r>
              <a:t>근거: ESGE 2022 ESD 지침</a:t>
            </a:r>
          </a:p>
          <a:p>
            <a:r>
              <a:t>https://www.esge.com/endoscopic-submucosal-dissection-update-2022</a:t>
            </a:r>
          </a:p>
          <a:p>
            <a:endParaRPr/>
          </a:p>
          <a:p>
            <a:r>
              <a:t>그림: 내장 ImageGen 도구로 제작한 모식도. 실제 환자·기기 사진이 아닙니다. 원본: 그림/C-22.png</a:t>
            </a:r>
          </a:p>
          <a:p>
            <a:endParaRPr/>
          </a:p>
          <a:p>
            <a:r>
              <a:t>보충 설명: ‘점막’은 위나 장의 안쪽 표면을 덮고 있는 층을 말해요.</a:t>
            </a:r>
          </a:p>
          <a:p>
            <a:r>
              <a:t>보충 설명 근거 (2026-10-15): https://www.cancer.gov/publications/dictionaries/cancer-terms/def/mucosa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228985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C-23 / 고주파열치료가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초음파를 보며 바늘 삽입 / 전류로 열을 내요 / 암을 태워 없애요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그림/C-23.png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61291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C-24 / 극초단파열치료가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바늘을 암에 넣어요 / 전자파로 가열해요 / 열로 암 조직을 파괴해요</a:t>
            </a:r>
          </a:p>
          <a:p>
            <a:endParaRPr/>
          </a:p>
          <a:p>
            <a:r>
              <a:t>수정 근거: 빠르고 넓게라는 성능 단정을 줄이고 고주파와 극초단파의 에너지 차이를 명시했습니다.</a:t>
            </a:r>
          </a:p>
          <a:p>
            <a:endParaRPr/>
          </a:p>
          <a:p>
            <a:r>
              <a:t>근거: ACR·RSNA 열치료·냉동치료</a:t>
            </a:r>
          </a:p>
          <a:p>
            <a:r>
              <a:t>https://www.radiologyinfo.org/en/info/thermal-ablation</a:t>
            </a:r>
          </a:p>
          <a:p>
            <a:endParaRPr/>
          </a:p>
          <a:p>
            <a:r>
              <a:t>그림: 내장 ImageGen 도구로 제작한 모식도. 실제 환자·기기 사진이 아닙니다. 원본: 그림/C-24.png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706047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C-25 / 냉동제거술이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바늘을 암에 넣어요 / 얼렸다 녹이기를 반복 / 암세포가 파괴돼요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그림/C-25.png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130635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C-26 / 화학색전술(TACE)이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사타구니로 관을 넣어요 / 암 혈관에 항암제 주입 / 혈관을 막아요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그림/C-26.png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99373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C-27 / 방사선색전술(TARE)이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사타구니로 관을 넣어요 / 방사성 구슬을 넣어요 / 종양 주변에 방사선을 쬐어요</a:t>
            </a:r>
          </a:p>
          <a:p>
            <a:endParaRPr/>
          </a:p>
          <a:p>
            <a:r>
              <a:t>수정 근거: 방사선색전술의 구슬은 종양을 공급하는 혈관에 머무르므로 암 안으로만 표현하지 않았습니다.</a:t>
            </a:r>
          </a:p>
          <a:p>
            <a:endParaRPr/>
          </a:p>
          <a:p>
            <a:r>
              <a:t>근거: ACR·RSNA 방사선색전술</a:t>
            </a:r>
          </a:p>
          <a:p>
            <a:r>
              <a:t>https://www.radiologyinfo.org/en/info/radioembol</a:t>
            </a:r>
          </a:p>
          <a:p>
            <a:endParaRPr/>
          </a:p>
          <a:p>
            <a:r>
              <a:t>그림: 내장 ImageGen 도구로 제작한 모식도. 실제 환자·기기 사진이 아닙니다. 원본: 그림/C-27.png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908973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C-28 / 하이푸(HIFU)가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영상으로 위치를 봐요 / 초음파를 한 점에 모아요 / 열로 조직을 태워요</a:t>
            </a:r>
          </a:p>
          <a:p>
            <a:endParaRPr/>
          </a:p>
          <a:p>
            <a:r>
              <a:t>수정 근거: HIFU를 축소에만 쓰는 것으로 제한하지 않고 적용 질환·위치의 조건을 밝혔습니다.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그림/C-28.png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342098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C-29 / 조혈모세포이식이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본인·기증자 세포를 모아요 / 항암치료 등으로 준비해요 / 수혈하듯 넣어 줘요</a:t>
            </a:r>
          </a:p>
          <a:p>
            <a:endParaRPr/>
          </a:p>
          <a:p>
            <a:r>
              <a:t>수정 근거: 골수를 물리적으로 비우는 듯한 표현을 삭제하고 항암치료 후 조혈기능 회복을 돕는 이식으로 설명했습니다.</a:t>
            </a:r>
          </a:p>
          <a:p>
            <a:endParaRPr/>
          </a:p>
          <a:p>
            <a:r>
              <a:t>근거: NCI 조혈모세포이식</a:t>
            </a:r>
          </a:p>
          <a:p>
            <a:r>
              <a:t>https://www.cancer.gov/about-cancer/treatment/types/stem-cell-transplant</a:t>
            </a:r>
          </a:p>
          <a:p>
            <a:endParaRPr/>
          </a:p>
          <a:p>
            <a:r>
              <a:t>그림: 내장 ImageGen 도구로 제작한 모식도. 실제 환자·기기 사진이 아닙니다. 원본: 그림/C-29.png</a:t>
            </a:r>
          </a:p>
          <a:p>
            <a:endParaRPr/>
          </a:p>
          <a:p>
            <a:r>
              <a:t>보충 설명: 조혈모세포는 여러 종류의 혈액세포로 자라는 바탕 세포예요.</a:t>
            </a:r>
          </a:p>
          <a:p>
            <a:r>
              <a:t>보충 설명 근거 (2026-10-15): https://www.cancer.gov/about-cancer/treatment/types/stem-cell-transplant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695418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C-30 / 유방재건술이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보형물을 넣거나 / 배·등의 조직을 옮겨요 / 모양을 맞춰요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그림/C-30.png</a:t>
            </a:r>
          </a:p>
          <a:p>
            <a:endParaRPr/>
          </a:p>
          <a:p>
            <a:r>
              <a:t>보충 설명: 보형물을 넣거나 자기 몸의 조직을 옮겨 모양을 만들 수 있어요.</a:t>
            </a:r>
          </a:p>
          <a:p>
            <a:r>
              <a:t>보충 설명 근거 (2026-10-15): https://www.cancer.gov/types/breast/treatment/surgery/breast-reconstruction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723066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C-31 / 대표적인 항암약 다섯 분류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①세포독성 ②표적 / ③면역 ④호르몬 / ⑤항체약물접합체</a:t>
            </a:r>
          </a:p>
          <a:p>
            <a:endParaRPr/>
          </a:p>
          <a:p>
            <a:r>
              <a:t>수정 근거: 다섯 분류가 완전하고 서로 배타적인 전체 분류인 듯한 인상을 줄였습니다. 2차 참고자료의 추가 분류를 반영하되 모든 환자에게 동일한 방법을 쓰는 표현은 피했습니다.</a:t>
            </a:r>
          </a:p>
          <a:p>
            <a:endParaRPr/>
          </a:p>
          <a:p>
            <a:r>
              <a:t>근거: NCI 표적치료</a:t>
            </a:r>
          </a:p>
          <a:p>
            <a:r>
              <a:t>https://www.cancer.gov/about-cancer/treatment/types/targeted-therapies</a:t>
            </a:r>
          </a:p>
          <a:p>
            <a:endParaRPr/>
          </a:p>
          <a:p>
            <a:r>
              <a:t>근거: NCI 면역관문억제제</a:t>
            </a:r>
          </a:p>
          <a:p>
            <a:r>
              <a:t>https://www.cancer.gov/about-cancer/treatment/types/immunotherapy/checkpoint-inhibitors</a:t>
            </a:r>
          </a:p>
          <a:p>
            <a:endParaRPr/>
          </a:p>
          <a:p>
            <a:r>
              <a:t>그림: 내장 ImageGen 도구로 제작한 모식도. 실제 환자·기기 사진이 아닙니다. 원본: 그림/C-31.png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081496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C-32 / 세포독성 항암제가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주사나 알약으로 써요 / 빨리 자라는 세포를 공격 / 쉬는 기간에 몸이 회복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그림/C-32.png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864465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C-33 / 표적항암제가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검사로 치료 표적을 확인 / 맞는 약을 먹거나 맞아요 / 성장 신호 등을 차단해요</a:t>
            </a:r>
          </a:p>
          <a:p>
            <a:endParaRPr/>
          </a:p>
          <a:p>
            <a:r>
              <a:t>수정 근거: 표적이 암세포에만 있다는 단정을 수정하고, 세포 안 표적 및 정상 조직 부작용 가능성을 반영했습니다.</a:t>
            </a:r>
          </a:p>
          <a:p>
            <a:endParaRPr/>
          </a:p>
          <a:p>
            <a:r>
              <a:t>근거: NCI 표적치료</a:t>
            </a:r>
          </a:p>
          <a:p>
            <a:r>
              <a:t>https://www.cancer.gov/about-cancer/treatment/types/targeted-therapies</a:t>
            </a:r>
          </a:p>
          <a:p>
            <a:endParaRPr/>
          </a:p>
          <a:p>
            <a:r>
              <a:t>그림: 내장 ImageGen 도구로 제작한 모식도. 실제 환자·기기 사진이 아닙니다. 원본: 그림/C-33.png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347115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C-34 / 면역항암제(면역관문억제제)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주사로 투여해요 / 면역 억제 신호를 막아요 / 면역세포의 공격을 도와요</a:t>
            </a:r>
          </a:p>
          <a:p>
            <a:endParaRPr/>
          </a:p>
          <a:p>
            <a:r>
              <a:t>수정 근거: 그림의 브레이크 비유는 면역관문억제제에 해당합니다. 전체 면역치료와 구분하고 반응의 개인차를 유지했습니다.</a:t>
            </a:r>
          </a:p>
          <a:p>
            <a:endParaRPr/>
          </a:p>
          <a:p>
            <a:r>
              <a:t>근거: NCI 면역관문억제제</a:t>
            </a:r>
          </a:p>
          <a:p>
            <a:r>
              <a:t>https://www.cancer.gov/about-cancer/treatment/types/immunotherapy/checkpoint-inhibitors</a:t>
            </a:r>
          </a:p>
          <a:p>
            <a:endParaRPr/>
          </a:p>
          <a:p>
            <a:r>
              <a:t>그림: 내장 ImageGen 도구로 제작한 모식도. 실제 환자·기기 사진이 아닙니다. 원본: 그림/C-34.png</a:t>
            </a:r>
          </a:p>
          <a:p>
            <a:endParaRPr/>
          </a:p>
          <a:p>
            <a:r>
              <a:t>보충 설명: 면역관문은 면역 반응이 지나치지 않도록 조절하는 장치예요.</a:t>
            </a:r>
          </a:p>
          <a:p>
            <a:r>
              <a:t>보충 설명 근거 (2026-10-15): https://www.cancer.gov/about-cancer/treatment/types/immunotherapy/checkpoint-inhibitors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156386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C-35 / 호르몬치료가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먹는 약이나 주사 / 호르몬을 막거나 줄여요 / 암이 자라기 어려워져요</a:t>
            </a:r>
          </a:p>
          <a:p>
            <a:endParaRPr/>
          </a:p>
          <a:p>
            <a:r>
              <a:t>수정 근거: 모든 호르몬치료가 몇 년간 지속되는 것은 아니므로 기간 단정을 제거했습니다.</a:t>
            </a:r>
          </a:p>
          <a:p>
            <a:endParaRPr/>
          </a:p>
          <a:p>
            <a:r>
              <a:t>근거: NCI 표적치료</a:t>
            </a:r>
          </a:p>
          <a:p>
            <a:r>
              <a:t>https://www.cancer.gov/about-cancer/treatment/types/targeted-therapies</a:t>
            </a:r>
          </a:p>
          <a:p>
            <a:endParaRPr/>
          </a:p>
          <a:p>
            <a:r>
              <a:t>그림: 내장 ImageGen 도구로 제작한 모식도. 실제 환자·기기 사진이 아닙니다. 원본: 그림/C-35.png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630666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C-36 / 항체약물접합체(ADC)가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항체가 암세포를 찾아가요 / 암세포 안으로 들어가요 / 안에서 항암제가 나와요</a:t>
            </a:r>
          </a:p>
          <a:p>
            <a:endParaRPr/>
          </a:p>
          <a:p>
            <a:r>
              <a:t>수정 근거: ADC도 정상 세포 독성이 생길 수 있어 전달 방식이 곧 부작용 없음으로 읽히지 않도록 했습니다.</a:t>
            </a:r>
          </a:p>
          <a:p>
            <a:endParaRPr/>
          </a:p>
          <a:p>
            <a:r>
              <a:t>근거: NCI 표적치료</a:t>
            </a:r>
          </a:p>
          <a:p>
            <a:r>
              <a:t>https://www.cancer.gov/about-cancer/treatment/types/targeted-therapies</a:t>
            </a:r>
          </a:p>
          <a:p>
            <a:endParaRPr/>
          </a:p>
          <a:p>
            <a:r>
              <a:t>그림: 내장 ImageGen 도구로 제작한 모식도. 실제 환자·기기 사진이 아닙니다. 원본: 그림/C-36.png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481113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C-37 / CAR-T 세포치료가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피에서 면역세포를 채취 / 암을 찾는 유전자를 넣어요 / 늘려서 다시 주사해요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추가 확인 사항: 국내 허가 적응증과 시술기관 조건은 제품·시점에 따라 달라 최신 식약처·공식 기준 대조가 필요합니다.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그림/C-37.png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764635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C-38 / 방사성리간드 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방사성 약을 주사해요 / 약이 암세포에 달라붙어요 / 가까이서 방사선을 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추가 확인 사항: 표적이 확인된 일부 환자에 사용합니다. 국내 허가 적응증을 최신 자료로 확인해야 합니다.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그림/C-38.png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151600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C-39 / 방사성 요오드 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캡슐을 먹어요 / 갑상선 세포에 모여요 / 방사선이 세포를 없애요</a:t>
            </a:r>
          </a:p>
          <a:p>
            <a:endParaRPr/>
          </a:p>
          <a:p>
            <a:r>
              <a:t>수정 근거: 모든 갑상선암에서 방사성 요오드를 사용하는 듯한 범위를 좁혔습니다.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그림/C-39.png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755802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C-40 / 항암 치료의 ‘사이클’이란?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정해진 날에 약을 투여 / 정해진 일정대로 쉬어요 / 이것이 1사이클이에요</a:t>
            </a:r>
          </a:p>
          <a:p>
            <a:endParaRPr/>
          </a:p>
          <a:p>
            <a:r>
              <a:t>수정 근거: 항암 일정에는 주 단위 외 여러 주기가 있고 먹는 약도 포함됩니다.</a:t>
            </a:r>
          </a:p>
          <a:p>
            <a:endParaRPr/>
          </a:p>
          <a:p>
            <a:r>
              <a:t>근거: NCI 표적치료</a:t>
            </a:r>
          </a:p>
          <a:p>
            <a:r>
              <a:t>https://www.cancer.gov/about-cancer/treatment/types/targeted-therapies</a:t>
            </a:r>
          </a:p>
          <a:p>
            <a:endParaRPr/>
          </a:p>
          <a:p>
            <a:r>
              <a:t>그림: 편집 가능한 도표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925393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C-41 / 외부 방사선치료가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CT로 치료 계획을 세워요 / 누워서 방사선을 쬐어요 / 치료 일정에 맞춰 반복해요</a:t>
            </a:r>
          </a:p>
          <a:p>
            <a:endParaRPr/>
          </a:p>
          <a:p>
            <a:r>
              <a:t>수정 근거: 몸에 방사선이 남지 않는 설명은 외부조사에 해당하므로 제목에서 범위를 명시했습니다.</a:t>
            </a:r>
          </a:p>
          <a:p>
            <a:endParaRPr/>
          </a:p>
          <a:p>
            <a:r>
              <a:t>근거: NCI 방사선치료 종류</a:t>
            </a:r>
          </a:p>
          <a:p>
            <a:r>
              <a:t>https://training.seer.cancer.gov/treatment/radiation/radiation-types.html</a:t>
            </a:r>
          </a:p>
          <a:p>
            <a:endParaRPr/>
          </a:p>
          <a:p>
            <a:r>
              <a:t>근거: NCI 근접방사선치료</a:t>
            </a:r>
          </a:p>
          <a:p>
            <a:r>
              <a:t>https://www.cancer.gov/about-cancer/treatment/types/radiation-therapy/brachytherapy</a:t>
            </a:r>
          </a:p>
          <a:p>
            <a:endParaRPr/>
          </a:p>
          <a:p>
            <a:r>
              <a:t>그림: 내장 ImageGen 도구로 제작한 모식도. 실제 환자·기기 사진이 아닙니다. 원본: 그림/C-41.png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84821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C-42 / 3차원 입체조형 방사선치료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CT로 암을 입체로 봐요 / 여러 방향을 정해요 / 암에 선량을 모아요</a:t>
            </a:r>
          </a:p>
          <a:p>
            <a:endParaRPr/>
          </a:p>
          <a:p>
            <a:r>
              <a:t>수정 근거: 방사선이 암에서만 겹친다는 설명은 정상 조직 선량을 감추므로 암에 선량을 집중하는 것으로 표현했습니다.</a:t>
            </a:r>
          </a:p>
          <a:p>
            <a:endParaRPr/>
          </a:p>
          <a:p>
            <a:r>
              <a:t>근거: NCI 방사선치료 종류</a:t>
            </a:r>
          </a:p>
          <a:p>
            <a:r>
              <a:t>https://training.seer.cancer.gov/treatment/radiation/radiation-types.html</a:t>
            </a:r>
          </a:p>
          <a:p>
            <a:endParaRPr/>
          </a:p>
          <a:p>
            <a:r>
              <a:t>그림: 내장 ImageGen 도구로 제작한 모식도. 실제 환자·기기 사진이 아닙니다. 원본: 그림/C-42.png</a:t>
            </a:r>
          </a:p>
          <a:p>
            <a:endParaRPr/>
          </a:p>
          <a:p>
            <a:r>
              <a:t>보충 설명: 치료 계획에서 종양의 모양과 주변 장기의 위치를 함께 살펴요.</a:t>
            </a:r>
          </a:p>
          <a:p>
            <a:r>
              <a:t>보충 설명 근거 (2026-10-15): https://www.cancer.gov/about-cancer/treatment/types/radiation-therapy/external-beam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660750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C-43 / 세기조절 방사선치료(IMRT)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빔을 잘게 나눠요 / 구역마다 세기를 조절 / 암 모양대로 쬐어요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그림/C-43.png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435873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C-44 / 토모테라피가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치료 직전 영상을 찍어요 / 위치를 확인해요 / 돌면서 쬐어요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그림/C-44.png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440728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C-45 / 정위적 방사선치료가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암 위치를 정밀하게 잡아요 / 여러 방향에서 모아요 / 횟수는 치료 계획마다 달라요</a:t>
            </a:r>
          </a:p>
          <a:p>
            <a:endParaRPr/>
          </a:p>
          <a:p>
            <a:r>
              <a:t>수정 근거: 정위적 방사선치료의 모든 일정이 1~5회로 끝나는 것은 아니므로 적은 횟수의 집중치료로 설명했습니다.</a:t>
            </a:r>
          </a:p>
          <a:p>
            <a:endParaRPr/>
          </a:p>
          <a:p>
            <a:r>
              <a:t>근거: NCI 방사선치료 종류</a:t>
            </a:r>
          </a:p>
          <a:p>
            <a:r>
              <a:t>https://training.seer.cancer.gov/treatment/radiation/radiation-types.html</a:t>
            </a:r>
          </a:p>
          <a:p>
            <a:endParaRPr/>
          </a:p>
          <a:p>
            <a:r>
              <a:t>그림: 내장 ImageGen 도구로 제작한 모식도. 실제 환자·기기 사진이 아닙니다. 원본: 그림/C-45.png</a:t>
            </a:r>
          </a:p>
          <a:p>
            <a:endParaRPr/>
          </a:p>
          <a:p>
            <a:r>
              <a:t>보충 설명: ‘정위적’은 영상으로 위치를 정밀하게 맞춘다는 뜻이에요.</a:t>
            </a:r>
          </a:p>
          <a:p>
            <a:r>
              <a:t>보충 설명 근거 (2026-10-15): https://www.radiologyinfo.org/en/info/stereotactic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06643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C-46 / 감마나이프가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머리를 고정해요 / 감마선을 한 점에 모아요 / 대개 하루에 끝나요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그림/C-46.png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29746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C-47 / 사이버나이프가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로봇 팔이 움직여요 / 필요하면 움직임을 추적해요 / 여러 각도에서 쬐어요</a:t>
            </a:r>
          </a:p>
          <a:p>
            <a:endParaRPr/>
          </a:p>
          <a:p>
            <a:r>
              <a:t>수정 근거: 모든 치료에서 호흡 추적을 사용하는 것은 아니므로 필요한 경우로 한정했습니다.</a:t>
            </a:r>
          </a:p>
          <a:p>
            <a:endParaRPr/>
          </a:p>
          <a:p>
            <a:r>
              <a:t>근거: NHS 사이버나이프와 움직임 추적</a:t>
            </a:r>
          </a:p>
          <a:p>
            <a:r>
              <a:t>https://www.enherts-tr.nhs.uk/services/cyberknife/</a:t>
            </a:r>
          </a:p>
          <a:p>
            <a:endParaRPr/>
          </a:p>
          <a:p>
            <a:r>
              <a:t>그림: 내장 ImageGen 도구로 제작한 모식도. 실제 환자·기기 사진이 아닙니다. 원본: 그림/C-47.png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815669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C-48 / 근접 방사선치료가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관이나 바늘로 접근해요 / 방사선원을 넣어요 / 암 가까이서 쬐어요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그림/C-48.png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410653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C-49 / 양성자치료가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CT·MRI로 계획 / 자세를 고정하고 누워요 / 몇 분간 쬐어요</a:t>
            </a:r>
          </a:p>
          <a:p>
            <a:endParaRPr/>
          </a:p>
          <a:p>
            <a:r>
              <a:t>수정 근거: 출구 쪽 선량을 줄이는 특징을 정상 조직이 완전히 보호된다는 단정과 구분했습니다.</a:t>
            </a:r>
          </a:p>
          <a:p>
            <a:endParaRPr/>
          </a:p>
          <a:p>
            <a:r>
              <a:t>근거: ACR·RSNA 양성자 치료</a:t>
            </a:r>
          </a:p>
          <a:p>
            <a:r>
              <a:t>https://www.radiologyinfo.org/en/info/protonthera</a:t>
            </a:r>
          </a:p>
          <a:p>
            <a:endParaRPr/>
          </a:p>
          <a:p>
            <a:r>
              <a:t>그림: 내장 ImageGen 도구로 제작한 모식도. 실제 환자·기기 사진이 아닙니다. 원본: 그림/C-49.png</a:t>
            </a:r>
          </a:p>
          <a:p>
            <a:r>
              <a:t>그림 수정 근거: NCI External Beam Radiation Therapy (양성자의 종양 깊이 선량 집중 및 정상 조직 선량 감소 개념). https://www.cancer.gov/about-cancer/treatment/types/radiation-therapy/external-beam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15549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C-50 / 중입자치료가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CT·MRI로 계획 / 자세를 고정하고 누워요 / 몇 분간 쬐어요</a:t>
            </a:r>
          </a:p>
          <a:p>
            <a:endParaRPr/>
          </a:p>
          <a:p>
            <a:r>
              <a:t>수정 근거: 탄소입자에는 표적 뒤의 작은 분열 꼬리 선량이 있습니다. 안내서의 피크 뒤 즉시 0 조건은 삭제 대상으로 표시했습니다.</a:t>
            </a:r>
          </a:p>
          <a:p>
            <a:endParaRPr/>
          </a:p>
          <a:p>
            <a:r>
              <a:t>근거: 탄소입자의 분열과 꼬리 선량 연구</a:t>
            </a:r>
          </a:p>
          <a:p>
            <a:r>
              <a:t>https://pubmed.ncbi.nlm.nih.gov/39862066/</a:t>
            </a:r>
          </a:p>
          <a:p>
            <a:endParaRPr/>
          </a:p>
          <a:p>
            <a:r>
              <a:t>그림: 내장 ImageGen 도구로 제작한 모식도. 실제 환자·기기 사진이 아닙니다. 원본: 그림/C-50.png</a:t>
            </a:r>
          </a:p>
          <a:p>
            <a:r>
              <a:t>그림 수정 근거: QST Clustered DNA Damage and Repair in Human Cells (중입자에 의한 군집 DNA 손상 개념). https://www.qst.go.jp/uploaded/attachment/48709.pdf ; QST heavy-ion therapeutic beam research. https://www.qst.go.jp/site/iqms/therapeutic-beam-research.html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85938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C-51 / 전립선 고강도 초음파 집속술이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직장의 초음파 기구 / 전립선 표적 / 열을 한 점에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고강도 집속 초음파</a:t>
            </a:r>
          </a:p>
          <a:p>
            <a:r>
              <a:t>https://www.mayoclinic.org/tests-procedures/high-intensity-focused-ultrasound/about/pac-20596150</a:t>
            </a:r>
          </a:p>
          <a:p>
            <a:endParaRPr/>
          </a:p>
          <a:p>
            <a:r>
              <a:t>추가 확인 사항: 드물거나 선택적으로 사용하는 치료입니다. 국내 시행·허가·행위 분류와 적용 대상은 실제 의료기관 기준으로 추가 확인하세요.</a:t>
            </a:r>
          </a:p>
          <a:p>
            <a:endParaRPr/>
          </a:p>
          <a:p>
            <a:r>
              <a:t>그림: 내장 ImageGen 도구로 제작한 모식도. 실제 환자·기기 사진이 아닙니다. 원본: 그림/C-51.png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861092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C-52 / 폐 고주파 치료이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폐의 종양 / 바늘 전극 / 국소 열치료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ACR·RSNA 종양 열·냉동 절제</a:t>
            </a:r>
          </a:p>
          <a:p>
            <a:r>
              <a:t>https://www.radiologyinfo.org/en/info/thermal-ablation-?PdfExport=1</a:t>
            </a:r>
          </a:p>
          <a:p>
            <a:endParaRPr/>
          </a:p>
          <a:p>
            <a:r>
              <a:t>그림: 내장 ImageGen 도구로 제작한 모식도. 실제 환자·기기 사진이 아닙니다. 원본: 그림/C-52.png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951091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C-53 / 담관 종양 고주파 열치료이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담관의 종양 / 가는 전극 / 국소 열치료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NICE 악성 담관 폐쇄의 고주파 열치료</a:t>
            </a:r>
          </a:p>
          <a:p>
            <a:r>
              <a:t>https://www.nice.org.uk/guidance/HTG731</a:t>
            </a:r>
          </a:p>
          <a:p>
            <a:endParaRPr/>
          </a:p>
          <a:p>
            <a:r>
              <a:t>추가 확인 사항: 드물거나 선택적으로 사용하는 치료입니다. 국내 시행·허가·행위 분류와 적용 대상은 실제 의료기관 기준으로 추가 확인하세요.</a:t>
            </a:r>
          </a:p>
          <a:p>
            <a:endParaRPr/>
          </a:p>
          <a:p>
            <a:r>
              <a:t>그림: 내장 ImageGen 도구로 제작한 모식도. 실제 환자·기기 사진이 아닙니다. 원본: 그림/C-53.png</a:t>
            </a:r>
          </a:p>
          <a:p>
            <a:endParaRPr/>
          </a:p>
          <a:p>
            <a:r>
              <a:t>보충 설명: 담관은 간에서 만든 담즙이 장으로 내려가는 길이에요.</a:t>
            </a:r>
          </a:p>
          <a:p>
            <a:r>
              <a:t>보충 설명 근거 (2026-10-15): https://www.radiologyinfo.org/en/info/biliary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716338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C-54 / 뼈 종양 고주파 열치료이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뼈의 종양 / 바늘 전극 / 국소 열치료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ACR·RSNA 종양 열·냉동 절제</a:t>
            </a:r>
          </a:p>
          <a:p>
            <a:r>
              <a:t>https://www.radiologyinfo.org/en/info/thermal-ablation-?PdfExport=1</a:t>
            </a:r>
          </a:p>
          <a:p>
            <a:endParaRPr/>
          </a:p>
          <a:p>
            <a:r>
              <a:t>그림: 내장 ImageGen 도구로 제작한 모식도. 실제 환자·기기 사진이 아닙니다. 원본: 그림/C-54.png</a:t>
            </a:r>
          </a:p>
          <a:p>
            <a:endParaRPr/>
          </a:p>
          <a:p>
            <a:r>
              <a:t>보충 설명: ‘국소 치료’는 병변이 있는 특정 부위를 집중해서 치료하는 방법이에요.</a:t>
            </a:r>
          </a:p>
          <a:p>
            <a:r>
              <a:t>보충 설명 근거 (2026-10-15): https://www.cancer.gov/publications/dictionaries/cancer-terms/def/local-therapy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501995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C-55 / 개봉선원 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방사성 의약품 / 몸 안에 투여 / 표적 가까이 방사선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방사성 의약품</a:t>
            </a:r>
          </a:p>
          <a:p>
            <a:r>
              <a:t>https://www.mayoclinic.org/tests-procedures/radiopharmaceutic/about/pac-20587480</a:t>
            </a:r>
          </a:p>
          <a:p>
            <a:endParaRPr/>
          </a:p>
          <a:p>
            <a:r>
              <a:t>그림: 내장 ImageGen 도구로 제작한 모식도. 실제 환자·기기 사진이 아닙니다. 원본: 그림/C-55.png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741334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D-01 / 심장 치료 한눈에 보기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①혈관이 막히면 넓혀요 / ②박자가 틀리면 바로잡아요 / ③문(판막) ④큰 혈관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893552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D-02 / 관상동맥 조영술이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손목·사타구니로 관 삽입 / 조영제를 넣어요 / X선으로 혈관을 찍어요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그림/D-02.png</a:t>
            </a:r>
          </a:p>
          <a:p>
            <a:endParaRPr/>
          </a:p>
          <a:p>
            <a:r>
              <a:t>보충 설명: 조영제는 혈관이 X선 영상에서 더 잘 보이도록 돕는 약이에요.</a:t>
            </a:r>
          </a:p>
          <a:p>
            <a:r>
              <a:t>보충 설명 근거 (2026-10-15): https://www.radiologyinfo.org/en/info/safety-contrast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452300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D-03 / 스텐트 삽입술이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혈관에 가는 관을 넣어요 / 풍선으로 넓혀요 / 그물망을 펼쳐 둬요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그림/D-03.png</a:t>
            </a:r>
          </a:p>
          <a:p>
            <a:endParaRPr/>
          </a:p>
          <a:p>
            <a:r>
              <a:t>보충 설명: 스텐트는 넓힌 혈관이 오므라들지 않도록 안에서 받쳐 줘요.</a:t>
            </a:r>
          </a:p>
          <a:p>
            <a:r>
              <a:t>보충 설명 근거 (2026-10-15): https://www.nhlbi.nih.gov/health/stents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166246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D-04 / 관상동맥 우회술이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가슴을 열어요 / 다른 혈관으로 우회로 준비 / 막힌 곳을 건너 이어요</a:t>
            </a:r>
          </a:p>
          <a:p>
            <a:endParaRPr/>
          </a:p>
          <a:p>
            <a:r>
              <a:t>수정 근거: 가슴의 동맥은 한쪽을 남겨 연결하는 경우도 있어 혈관을 모두 떼어낸다고 표현하지 않았습니다.</a:t>
            </a:r>
          </a:p>
          <a:p>
            <a:endParaRPr/>
          </a:p>
          <a:p>
            <a:r>
              <a:t>근거: NHS 관상동맥 우회술</a:t>
            </a:r>
          </a:p>
          <a:p>
            <a:r>
              <a:t>https://www.nhs.uk/tests-and-treatments/coronary-artery-bypass-graft/how-its-done/</a:t>
            </a:r>
          </a:p>
          <a:p>
            <a:endParaRPr/>
          </a:p>
          <a:p>
            <a:r>
              <a:t>그림: 내장 ImageGen 도구로 제작한 모식도. 실제 환자·기기 사진이 아닙니다. 원본: 그림/D-04.png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87685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D-05 / 고주파 전극도자절제술이란?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다리 혈관으로 관을 넣어요 / 이상 부위를 찾아요 / 열로 지져요</a:t>
            </a:r>
          </a:p>
          <a:p>
            <a:endParaRPr/>
          </a:p>
          <a:p>
            <a:r>
              <a:t>수정 근거: 전극도자절제술 가운데 열을 쓰는 고주파 사례임을 제목에서 명시했습니다.</a:t>
            </a:r>
          </a:p>
          <a:p>
            <a:endParaRPr/>
          </a:p>
          <a:p>
            <a:r>
              <a:t>근거: AHA 부정맥 비수술 치료</a:t>
            </a:r>
          </a:p>
          <a:p>
            <a:r>
              <a:t>https://www.heart.org/en/health-topics/atrial-fibrillation/treatment-and-prevention-of-atrial-fibrillation/nonsurgical-procedures-for-afib</a:t>
            </a:r>
          </a:p>
          <a:p>
            <a:endParaRPr/>
          </a:p>
          <a:p>
            <a:r>
              <a:t>그림: 내장 ImageGen 도구로 제작한 모식도. 실제 환자·기기 사진이 아닙니다. 원본: 그림/D-05.png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469530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D-06 / 냉각풍선절제술이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다리 혈관으로 관을 넣어요 / 풍선을 밀착시켜요 / 얼려서 차단해요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1484363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D-07 / 펄스장절제술이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다리 혈관으로 관을 넣어요 / 관 끝을 펼쳐 대요 / 전기 펄스를 줘요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추가 확인 사항: 펄스장절제술은 열을 최소화하지만 위험이 없는 치료는 아닙니다. 국내 허가·기관·적응증의 최신 상태는 추가 확인이 필요합니다.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416942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D-08 / 인공심박동기가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쇄골 아래 피부 밑에 심어요 / 전깃줄을 심장에 연결 / 느려지면 자극을 줘요</a:t>
            </a:r>
          </a:p>
          <a:p>
            <a:endParaRPr/>
          </a:p>
          <a:p>
            <a:r>
              <a:t>수정 근거: 전선형 그림이 심박동기 전체를 대표하는 것으로 보이지 않도록 다른 종류도 있음을 밝혔습니다.</a:t>
            </a:r>
          </a:p>
          <a:p>
            <a:endParaRPr/>
          </a:p>
          <a:p>
            <a:r>
              <a:t>근거: NHLBI 전선형·무전선형 심박동기</a:t>
            </a:r>
          </a:p>
          <a:p>
            <a:r>
              <a:t>https://www.nhlbi.nih.gov/health/pacemakers/how-it-works</a:t>
            </a:r>
          </a:p>
          <a:p>
            <a:endParaRPr/>
          </a:p>
          <a:p>
            <a:r>
              <a:t>그림: 내장 ImageGen 도구로 제작한 모식도. 실제 환자·기기 사진이 아닙니다. 원본: 그림/D-08.png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8959830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D-09 / 인공판막 치환술이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가슴을 열어요 / 고장 난 판막을 떼어요 / 인공판막을 꿰매 넣어요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그림/D-09.png</a:t>
            </a:r>
          </a:p>
          <a:p>
            <a:endParaRPr/>
          </a:p>
          <a:p>
            <a:r>
              <a:t>보충 설명: 기계판막과 조직판막은 재료와 이후 관리 방법이 달라요.</a:t>
            </a:r>
          </a:p>
          <a:p>
            <a:r>
              <a:t>보충 설명 근거 (2026-10-15): https://www.nhs.uk/tests-and-treatments/aortic-valve-replacement/what-happens/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0735536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D-10 / TAVI(타비)가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사타구니 혈관으로 접근 / 접힌 판막을 보내요 / 제자리에서 펼쳐요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그림/D-10.png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257621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D-11 / 대동맥 스텐트그라프트란?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사타구니 혈관으로 접근 / 부푼 곳에 관을 펼쳐요 / 피가 관 안으로 흘러요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9688269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D-12 / 인조혈관 치환술이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가슴이나 배를 열어요 / 부푼 혈관을 잘라내요 / 인조혈관으로 이어요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259312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D-13 / 에크모(ECMO)가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큰 혈관에 관을 연결해요 / 피를 몸 밖으로 빼요 / 산소를 넣어 돌려보내요</a:t>
            </a:r>
          </a:p>
          <a:p>
            <a:endParaRPr/>
          </a:p>
          <a:p>
            <a:r>
              <a:t>수정 근거: VV형은 폐 기능, VA형은 심장과 폐 기능을 지원하며 한 삽입 부위의 이중관도 있습니다. 2차 참고자료의 추가 분류를 반영하되 모든 환자에게 동일한 방법을 쓰는 표현은 피했습니다.</a:t>
            </a:r>
          </a:p>
          <a:p>
            <a:endParaRPr/>
          </a:p>
          <a:p>
            <a:r>
              <a:t>근거: ELSO 에크모 종류</a:t>
            </a:r>
          </a:p>
          <a:p>
            <a:r>
              <a:t>https://www.elso.org/ecmo-resources/types-of-ecmo.aspx</a:t>
            </a:r>
          </a:p>
          <a:p>
            <a:endParaRPr/>
          </a:p>
          <a:p>
            <a:r>
              <a:t>그림: 내장 ImageGen 도구로 제작한 모식도. 실제 환자·기기 사진이 아닙니다. 원본: 그림/D-13.png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306193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D-14 / 하지정맥류 발거술이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피부를 작게 열어요 / 망가진 정맥을 묶어요 / 정맥을 빼내요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그림/D-14.png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203388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D-15 / 정맥 레이저·고주파 폐쇄술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정맥에 가는 관을 넣어요 / 열을 내요 / 혈관이 붙어서 막혀요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746766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D-16 / 정맥 접착 폐쇄술이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정맥에 가는 관을 넣어요 / 접착제를 넣어요 / 눌러서 붙여요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그림/D-16.png</a:t>
            </a:r>
          </a:p>
          <a:p>
            <a:endParaRPr/>
          </a:p>
          <a:p>
            <a:r>
              <a:t>보충 설명: 치료한 정맥을 닫아 혈액이 다른 건강한 정맥으로 흐르도록 해요.</a:t>
            </a:r>
          </a:p>
          <a:p>
            <a:r>
              <a:t>보충 설명 근거 (2026-10-15): https://www.cuh.nhs.uk/patient-information/patient-information-on-cyanoacrylate-glue-closure-for-varicose-veins/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915185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D-17 / 심전도 검사가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가슴·팔다리 전극 / 전기 신호 기록 / 심전도 파형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AHA 심전도</a:t>
            </a:r>
          </a:p>
          <a:p>
            <a:r>
              <a:t>https://www.heart.org/en/health-topics/heart-attack/diagnosing-a-heart-attack/electrocardiogram</a:t>
            </a:r>
          </a:p>
          <a:p>
            <a:endParaRPr/>
          </a:p>
          <a:p>
            <a:r>
              <a:t>그림: 내장 ImageGen 도구로 제작한 모식도. 실제 환자·기기 사진이 아닙니다. 원본: 그림/D-17.png</a:t>
            </a:r>
          </a:p>
          <a:p>
            <a:endParaRPr/>
          </a:p>
          <a:p>
            <a:r>
              <a:t>보충 설명: 심전도는 심장의 모양보다 박동을 만드는 전기 활동을 살펴봐요.</a:t>
            </a:r>
          </a:p>
          <a:p>
            <a:r>
              <a:t>보충 설명 근거 (2026-10-15): https://www.heart.org/en/health-topics/heart-attack/diagnosing-a-heart-attack/electrocardiogram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2864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D-18 / 홀터 검사가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가슴 전극 / 휴대 기록기 / 생활 중 기록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AHA 홀터 기록</a:t>
            </a:r>
          </a:p>
          <a:p>
            <a:r>
              <a:t>https://www.heart.org/en/health-topics/arrhythmia/symptoms-diagnosis--monitoring-of-arrhythmia/holter-monitor</a:t>
            </a:r>
          </a:p>
          <a:p>
            <a:endParaRPr/>
          </a:p>
          <a:p>
            <a:r>
              <a:t>그림: 내장 ImageGen 도구로 제작한 모식도. 실제 환자·기기 사진이 아닙니다. 원본: 그림/D-18.png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8870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D-19 / 운동부하 검사가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러닝머신 운동 / 전극과 혈압계 / 변화 관찰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AHA 운동부하 검사</a:t>
            </a:r>
          </a:p>
          <a:p>
            <a:r>
              <a:t>https://www.heart.org/en/health-topics/heart-attack/diagnosing-a-heart-attack/exercise-stress-test</a:t>
            </a:r>
          </a:p>
          <a:p>
            <a:endParaRPr/>
          </a:p>
          <a:p>
            <a:r>
              <a:t>그림: 내장 ImageGen 도구로 제작한 모식도. 실제 환자·기기 사진이 아닙니다. 원본: 그림/D-19.png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5654919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D-20 / 전기생리학 검사가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심장 안 전극 / 전기 신호 측정 / 부정맥 원인 찾기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AHA 전기생리학 검사</a:t>
            </a:r>
          </a:p>
          <a:p>
            <a:r>
              <a:t>https://www.heart.org/en/health-topics/arrhythmia/symptoms-diagnosis--monitoring-of-arrhythmia/electrophysiology-studies</a:t>
            </a:r>
          </a:p>
          <a:p>
            <a:endParaRPr/>
          </a:p>
          <a:p>
            <a:r>
              <a:t>그림: 내장 ImageGen 도구로 제작한 모식도. 실제 환자·기기 사진이 아닙니다. 원본: 그림/D-20.png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9260272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D-21 / 이식형 사건기록기가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피부 아래 기록기 / 박자 기록 / 원인 확인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AHA 사건기록기·이식형 기록기</a:t>
            </a:r>
          </a:p>
          <a:p>
            <a:r>
              <a:t>https://www.heart.org/en/health-topics/arrhythmia/symptoms-diagnosis--monitoring-of-arrhythmia/cardiac-event-recorder</a:t>
            </a:r>
          </a:p>
          <a:p>
            <a:endParaRPr/>
          </a:p>
          <a:p>
            <a:r>
              <a:t>그림: 내장 ImageGen 도구로 제작한 모식도. 실제 환자·기기 사진이 아닙니다. 원본: 그림/D-21.png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8676838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D-22 / 이식형 제세동기(ICD)가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피부 아래 기기 / 심장과 연결 / 위험한 박자 치료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AHA 이식형 제세동기</a:t>
            </a:r>
          </a:p>
          <a:p>
            <a:r>
              <a:t>https://www.heart.org/en/health-topics/arrhythmia/prevention--treatment-of-arrhythmia/implantable-cardioverter-defibrillator-icd</a:t>
            </a:r>
          </a:p>
          <a:p>
            <a:endParaRPr/>
          </a:p>
          <a:p>
            <a:r>
              <a:t>그림: 내장 ImageGen 도구로 제작한 모식도. 실제 환자·기기 사진이 아닙니다. 원본: 그림/D-22.png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5964623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D-23 / 심실보조장치가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심실의 피 / 보조 펌프 / 대동맥으로 전달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심실보조장치</a:t>
            </a:r>
          </a:p>
          <a:p>
            <a:r>
              <a:t>https://www.mayoclinic.org/tests-procedures/ventricular-assist-device/about/pac-20384529</a:t>
            </a:r>
          </a:p>
          <a:p>
            <a:endParaRPr/>
          </a:p>
          <a:p>
            <a:r>
              <a:t>그림: 내장 ImageGen 도구로 제작한 모식도. 실제 환자·기기 사진이 아닙니다. 원본: 그림/D-23.png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100439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D-24 / 풍선 판막 성형술이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좁은 판막 / 풍선으로 확장 / 통로를 넓혀요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판막 성형술</a:t>
            </a:r>
          </a:p>
          <a:p>
            <a:r>
              <a:t>https://www.mayoclinic.org/tests-procedures/valvuloplasty/pyc-20384961</a:t>
            </a:r>
          </a:p>
          <a:p>
            <a:endParaRPr/>
          </a:p>
          <a:p>
            <a:r>
              <a:t>그림: 내장 ImageGen 도구로 제작한 모식도. 실제 환자·기기 사진이 아닙니다. 원본: 그림/D-24.png</a:t>
            </a:r>
          </a:p>
          <a:p>
            <a:endParaRPr/>
          </a:p>
          <a:p>
            <a:r>
              <a:t>보충 설명: 풍선은 좁아진 판막을 벌린 뒤 시술 기구와 함께 빼내요.</a:t>
            </a:r>
          </a:p>
          <a:p>
            <a:r>
              <a:t>보충 설명 근거 (2026-10-15): https://www.mayoclinic.org/tests-procedures/valvuloplasty/pyc-20384961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59183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D-25 / 승모판 클립 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덜 닫히는 승모판 / 판막을 집는 클립 / 역류를 줄여요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AHA 승모판 클립의 경로</a:t>
            </a:r>
          </a:p>
          <a:p>
            <a:r>
              <a:t>https://www.heart.org/-/media/files/affiliates/mwa/kansas-city/kc-cardiac-and-stroke-symposium/mitral-valve-therapies-for-heart-failure-patients.pdf</a:t>
            </a:r>
          </a:p>
          <a:p>
            <a:endParaRPr/>
          </a:p>
          <a:p>
            <a:r>
              <a:t>그림: 내장 ImageGen 도구로 제작한 모식도. 실제 환자·기기 사진이 아닙니다. 원본: 그림/D-25.png</a:t>
            </a:r>
          </a:p>
          <a:p>
            <a:endParaRPr/>
          </a:p>
          <a:p>
            <a:r>
              <a:t>보충 설명: 판막이 제대로 닫히지 않아 피가 뒤로 새는 것을 ‘역류’라고 해요.</a:t>
            </a:r>
          </a:p>
          <a:p>
            <a:r>
              <a:t>보충 설명 근거 (2026-10-15): https://www.mayoclinic.org/diseases-conditions/mitral-valve-regurgitation/symptoms-causes/syc-20350178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101748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D-26 / 심방중격결손 폐쇄술이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심방 사이 구멍 / 양쪽으로 펼친 기구 / 구멍 폐쇄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심방중격결손 치료</a:t>
            </a:r>
          </a:p>
          <a:p>
            <a:r>
              <a:t>https://www.mayoclinic.org/diseases-conditions/atrial-septal-defect/diagnosis-treatment/drc-20369720</a:t>
            </a:r>
          </a:p>
          <a:p>
            <a:endParaRPr/>
          </a:p>
          <a:p>
            <a:r>
              <a:t>그림: 내장 ImageGen 도구로 제작한 모식도. 실제 환자·기기 사진이 아닙니다. 원본: 그림/D-26.png</a:t>
            </a:r>
          </a:p>
          <a:p>
            <a:endParaRPr/>
          </a:p>
          <a:p>
            <a:r>
              <a:t>보충 설명: 심방중격은 심장의 위쪽 두 방 사이를 나누는 벽이에요.</a:t>
            </a:r>
          </a:p>
          <a:p>
            <a:r>
              <a:t>보충 설명 근거 (2026-10-15): https://www.mayoclinic.org/diseases-conditions/atrial-septal-defect/symptoms-causes/syc-20369715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0782709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D-27 / 죽종 제거술이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벽의 죽종 / 혈관 속 기구 / 죽종을 줄여요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AHA 혈관 시술·죽종 제거술</a:t>
            </a:r>
          </a:p>
          <a:p>
            <a:r>
              <a:t>https://www.heart.org/en/health-topics/heart-attack/treatment-of-a-heart-attack/cardiac-procedures-and-surgeries</a:t>
            </a:r>
          </a:p>
          <a:p>
            <a:endParaRPr/>
          </a:p>
          <a:p>
            <a:r>
              <a:t>그림: 내장 ImageGen 도구로 제작한 모식도. 실제 환자·기기 사진이 아닙니다. 원본: 그림/D-27.png</a:t>
            </a:r>
          </a:p>
          <a:p>
            <a:endParaRPr/>
          </a:p>
          <a:p>
            <a:r>
              <a:t>보충 설명: 죽종은 혈관 안쪽 벽에 쌓인 지방 성분 등의 덩어리예요.</a:t>
            </a:r>
          </a:p>
          <a:p>
            <a:r>
              <a:t>보충 설명 근거 (2026-10-15): https://www.nhlbi.nih.gov/health/atherosclerosis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0819389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D-28 / 뇌동정맥기형 치료이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들어오는 동맥 / 비정상 혈관 연결 / 나가는 정맥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NINDS 뇌동정맥기형</a:t>
            </a:r>
          </a:p>
          <a:p>
            <a:r>
              <a:t>https://www.ninds.nih.gov/health-information/disorders/arteriovenous-malformations-avms</a:t>
            </a:r>
          </a:p>
          <a:p>
            <a:endParaRPr/>
          </a:p>
          <a:p>
            <a:r>
              <a:t>그림: 내장 ImageGen 도구로 제작한 모식도. 실제 환자·기기 사진이 아닙니다. 원본: 그림/D-28.png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5148523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D-29 / 광투시 정맥 제거술이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피부 밑 정맥 / 빛으로 확인 / 정맥 제거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NICE 광투시 정맥 제거술</a:t>
            </a:r>
          </a:p>
          <a:p>
            <a:r>
              <a:t>https://www.nice.org.uk/guidance/htg16/informationforpublic</a:t>
            </a:r>
          </a:p>
          <a:p>
            <a:endParaRPr/>
          </a:p>
          <a:p>
            <a:r>
              <a:t>그림: 내장 ImageGen 도구로 제작한 모식도. 실제 환자·기기 사진이 아닙니다. 원본: 그림/D-29.png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893505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D-30 / 히스속·방실접합부 절제술이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전기 전달 길목 / 카테터로 차단 / 심박동기가 보조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방실결절 절제와 심박동기</a:t>
            </a:r>
          </a:p>
          <a:p>
            <a:r>
              <a:t>https://www.mayoclinic.org/tests-procedures/av-node-ablation/pyc-20384978</a:t>
            </a:r>
          </a:p>
          <a:p>
            <a:endParaRPr/>
          </a:p>
          <a:p>
            <a:r>
              <a:t>추가 확인 사항: 약관의 히스속 절제술 명칭과 실제 방실접합부 절제 범위의 대응을 의료 자문으로 확인해야 합니다. 일반 부정맥 절제술 전체와 동일하게 취급하지 않습니다.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그림/D-30.png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271748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E-01 / 뇌졸중: 뇌경색과 뇌출혈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뇌경색: 혈관이 막힘 / 뇌출혈: 혈관이 터짐 / 둘을 합쳐 뇌졸중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그림/E-01.png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5891287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E-02 / 혈전용해술이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CT로 뇌출혈이 아닌지 확인 / 정맥에 약을 주사해요 / 혈전을 녹여 혈류 회복을 도와요</a:t>
            </a:r>
          </a:p>
          <a:p>
            <a:endParaRPr/>
          </a:p>
          <a:p>
            <a:r>
              <a:t>수정 근거: 4.5시간은 일반적인 치료창이지만 영상으로 선별하는 연장 치료창도 있어 치료 포기로 이어질 단정을 제거했습니다.</a:t>
            </a:r>
          </a:p>
          <a:p>
            <a:endParaRPr/>
          </a:p>
          <a:p>
            <a:r>
              <a:t>근거: AHA·ASA 2026 뇌경색 지침</a:t>
            </a:r>
          </a:p>
          <a:p>
            <a:r>
              <a:t>https://www.ahajournals.org/doi/10.1161/STR.0000000000000513</a:t>
            </a:r>
          </a:p>
          <a:p>
            <a:endParaRPr/>
          </a:p>
          <a:p>
            <a:r>
              <a:t>그림: 내장 ImageGen 도구로 제작한 모식도. 실제 환자·기기 사진이 아닙니다. 원본: 그림/E-02.png</a:t>
            </a:r>
          </a:p>
          <a:p>
            <a:endParaRPr/>
          </a:p>
          <a:p>
            <a:r>
              <a:t>보충 설명: 혈전은 혈관 안에서 피가 굳어 생긴 덩어리예요.</a:t>
            </a:r>
          </a:p>
          <a:p>
            <a:r>
              <a:t>보충 설명 근거 (2026-10-15): https://www.cancer.gov/publications/dictionaries/cancer-terms/def/blood-clot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183671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E-03 / 혈전제거술이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사타구니 혈관으로 접근 / 그물·흡인으로 혈전 제거 / 밖으로 꺼내요</a:t>
            </a:r>
          </a:p>
          <a:p>
            <a:endParaRPr/>
          </a:p>
          <a:p>
            <a:r>
              <a:t>수정 근거: 혈전제거에는 스텐트 회수기 외 흡인 등도 사용하므로 한 기구로만 설명하지 않았습니다.</a:t>
            </a:r>
          </a:p>
          <a:p>
            <a:endParaRPr/>
          </a:p>
          <a:p>
            <a:r>
              <a:t>근거: AHA·ASA 2026 뇌경색 지침</a:t>
            </a:r>
          </a:p>
          <a:p>
            <a:r>
              <a:t>https://www.ahajournals.org/doi/10.1161/STR.0000000000000513</a:t>
            </a:r>
          </a:p>
          <a:p>
            <a:endParaRPr/>
          </a:p>
          <a:p>
            <a:r>
              <a:t>그림: 내장 ImageGen 도구로 제작한 모식도. 실제 환자·기기 사진이 아닙니다. 원본: 그림/E-03.png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8669302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E-04 / 코일색전술이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사타구니 혈관으로 접근 / 꽈리 안에 관을 넣어요 / 코일을 채워요</a:t>
            </a:r>
          </a:p>
          <a:p>
            <a:endParaRPr/>
          </a:p>
          <a:p>
            <a:r>
              <a:t>수정 근거: 동맥류 치료는 파열 전후 모두 가능하며 위험 감소를 목표로 합니다.</a:t>
            </a:r>
          </a:p>
          <a:p>
            <a:endParaRPr/>
          </a:p>
          <a:p>
            <a:r>
              <a:t>근거: NINDS 뇌동맥류</a:t>
            </a:r>
          </a:p>
          <a:p>
            <a:r>
              <a:t>https://www.ninds.nih.gov/health-information/disorders/cerebral-aneurysms</a:t>
            </a:r>
          </a:p>
          <a:p>
            <a:endParaRPr/>
          </a:p>
          <a:p>
            <a:r>
              <a:t>그림: 내장 ImageGen 도구로 제작한 모식도. 실제 환자·기기 사진이 아닙니다. 원본: 그림/E-04.png</a:t>
            </a:r>
          </a:p>
          <a:p>
            <a:endParaRPr/>
          </a:p>
          <a:p>
            <a:r>
              <a:t>보충 설명: 코일은 동맥류 안에 넣어 그 안에서 피가 굳도록 도와요.</a:t>
            </a:r>
          </a:p>
          <a:p>
            <a:r>
              <a:t>보충 설명 근거 (2026-10-15): https://www.nhs.uk/conditions/brain-aneurysm/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532115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E-05 / 클립결찰술이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머리뼈를 열어요 / 현미경으로 꽈리를 찾아요 / 클립으로 목을 집어요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그림/E-05.png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36916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E-06 / 개두 혈종제거술이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머리뼈 일부를 열어요 / 고인 피를 빼내요 / 피 나는 곳을 막아요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그림/E-06.png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2225143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E-07 / 뇌실배액술이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머리뼈에 작은 구멍을 내요 / 뇌실에 관을 넣어요 / 밖으로 빼내요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그림/E-07.png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897781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E-08 / 경동맥 스텐트·내막절제술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스텐트: 관으로 넓혀요 / 내막절제: 죽상반을 제거 / 뇌로 가는 길을 넓혀요</a:t>
            </a:r>
          </a:p>
          <a:p>
            <a:endParaRPr/>
          </a:p>
          <a:p>
            <a:r>
              <a:t>수정 근거: 예방 효과를 단정하지 않고 위험 감소로 표현했으며 내막절제의 제거 대상을 죽상반으로 명확히 했습니다.</a:t>
            </a:r>
          </a:p>
          <a:p>
            <a:endParaRPr/>
          </a:p>
          <a:p>
            <a:r>
              <a:t>근거: NHS 경동맥 내막절제술</a:t>
            </a:r>
          </a:p>
          <a:p>
            <a:r>
              <a:t>https://www.cuh.nhs.uk/patient-information/open-surgery-on-the-carotid-arteries-carotid-endarterectomy/</a:t>
            </a:r>
          </a:p>
          <a:p>
            <a:endParaRPr/>
          </a:p>
          <a:p>
            <a:r>
              <a:t>그림: 내장 ImageGen 도구로 제작한 모식도. 실제 환자·기기 사진이 아닙니다. 원본: 그림/E-08.png</a:t>
            </a:r>
          </a:p>
          <a:p>
            <a:endParaRPr/>
          </a:p>
          <a:p>
            <a:r>
              <a:t>보충 설명: 경동맥은 목을 지나 뇌로 혈액을 보내는 주요 혈관이에요.</a:t>
            </a:r>
          </a:p>
          <a:p>
            <a:r>
              <a:t>보충 설명 근거 (2026-10-15): https://www.cuh.nhs.uk/patient-information/open-surgery-on-the-carotid-arteries-carotid-endarterectomy/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629117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E-09 / 뇌졸중의 대표적인 세 신호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얼굴 한쪽이 처져요 / 팔 한쪽에 힘이 빠져요 / 말이 어눌해져요</a:t>
            </a:r>
          </a:p>
          <a:p>
            <a:endParaRPr/>
          </a:p>
          <a:p>
            <a:r>
              <a:t>수정 근거: 세 신호가 뇌졸중 증상의 전부가 아님을 명시했습니다.</a:t>
            </a:r>
          </a:p>
          <a:p>
            <a:endParaRPr/>
          </a:p>
          <a:p>
            <a:r>
              <a:t>근거: AHA·ASA 2026 뇌경색 지침</a:t>
            </a:r>
          </a:p>
          <a:p>
            <a:r>
              <a:t>https://www.ahajournals.org/doi/10.1161/STR.0000000000000513</a:t>
            </a:r>
          </a:p>
          <a:p>
            <a:endParaRPr/>
          </a:p>
          <a:p>
            <a:r>
              <a:t>그림: 내장 ImageGen 도구로 제작한 모식도. 실제 환자·기기 사진이 아닙니다. 원본: 그림/E-09.png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082711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E-10 / 뇌혈관 조영술이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뇌혈관 / 조영제 주입 / 혈관 모양 확인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ACR·RSNA 뇌혈관 조영술</a:t>
            </a:r>
          </a:p>
          <a:p>
            <a:r>
              <a:t>https://www.radiologyinfo.org/en/info/AngioCerebral</a:t>
            </a:r>
          </a:p>
          <a:p>
            <a:endParaRPr/>
          </a:p>
          <a:p>
            <a:r>
              <a:t>그림: 내장 ImageGen 도구로 제작한 모식도. 실제 환자·기기 사진이 아닙니다. 원본: 그림/E-10.png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1891629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E-11 / 단락술(션트)이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뇌실의 관 / 피부 아래 통로 / 복강으로 배액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뇌실 션트</a:t>
            </a:r>
          </a:p>
          <a:p>
            <a:r>
              <a:t>https://www.mayoclinic.org/tests-procedures/brain-shunt/about/pac-20588547</a:t>
            </a:r>
          </a:p>
          <a:p>
            <a:endParaRPr/>
          </a:p>
          <a:p>
            <a:r>
              <a:t>그림: 내장 ImageGen 도구로 제작한 모식도. 실제 환자·기기 사진이 아닙니다. 원본: 그림/E-11.png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2186600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E-12 / 치매 검사는 어떻게 하나요?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인지 기능 검사 / 뇌 영상 / 필요하면 단백질 검사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NIA 알츠하이머병 진단</a:t>
            </a:r>
          </a:p>
          <a:p>
            <a:r>
              <a:t>https://www.nia.nih.gov/health/alzheimers-symptoms-and-diagnosis/how-alzheimers-disease-diagnosed</a:t>
            </a:r>
          </a:p>
          <a:p>
            <a:endParaRPr/>
          </a:p>
          <a:p>
            <a:r>
              <a:t>그림: 내장 ImageGen 도구로 제작한 모식도. 실제 환자·기기 사진이 아닙니다. 원본: 그림/E-12.png</a:t>
            </a:r>
          </a:p>
          <a:p>
            <a:endParaRPr/>
          </a:p>
          <a:p>
            <a:r>
              <a:t>보충 설명: 인지검사는 기억력·언어·집중력 등 여러 기능을 함께 살펴봐요.</a:t>
            </a:r>
          </a:p>
          <a:p>
            <a:r>
              <a:t>보충 설명 근거 (2026-10-15): https://www.england.nhs.uk/london/wp-content/uploads/sites/8/2022/08/Neuropsychological-Assessment-in-dementia-diagnosis-FINAL.pdf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2053996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E-13 / 알츠하이머 표적 치료제가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아밀로이드 / 표적 항체 / 진행을 늦추는 치료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식약처 경증 알츠하이머 치료제 허가 공지</a:t>
            </a:r>
          </a:p>
          <a:p>
            <a:r>
              <a:t>https://www.mfds.go.kr/brd/m_99/view.do?seq=48294</a:t>
            </a:r>
          </a:p>
          <a:p>
            <a:endParaRPr/>
          </a:p>
          <a:p>
            <a:r>
              <a:t>근거: FDA 초기 알츠하이머 치료·ARIA MRI 감시</a:t>
            </a:r>
          </a:p>
          <a:p>
            <a:r>
              <a:t>https://www.fda.gov/drugs/drug-safety-communications/fda-recommend-additional-earlier-mri-monitoring-patients-alzheimers-disease-taking-leqembi-lecanemab</a:t>
            </a:r>
          </a:p>
          <a:p>
            <a:endParaRPr/>
          </a:p>
          <a:p>
            <a:r>
              <a:t>추가 확인 사항: 국내 제품별 최신 허가 범위·투여 방식·건강보험 적용 여부를 이번 일반 설명에서 확정하지 않았습니다. 초기 환자 선별과 MRI 부작용 감시 원리를 설명했습니다.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그림/E-13.png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199473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E-14 / 뇌 초음파 집속술이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여러 초음파 / 뇌 속 표적 / 한 점에 집중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고강도 집속 초음파</a:t>
            </a:r>
          </a:p>
          <a:p>
            <a:r>
              <a:t>https://www.mayoclinic.org/tests-procedures/high-intensity-focused-ultrasound/about/pac-20596150</a:t>
            </a:r>
          </a:p>
          <a:p>
            <a:endParaRPr/>
          </a:p>
          <a:p>
            <a:r>
              <a:t>그림: 내장 ImageGen 도구로 제작한 모식도. 실제 환자·기기 사진이 아닙니다. 원본: 그림/E-14.png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1182307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E-15 / 뇌심부 자극술이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뇌 속 전극 / 피부 아래 연결선 / 가슴의 배터리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NINDS 뇌심부 자극술</a:t>
            </a:r>
          </a:p>
          <a:p>
            <a:r>
              <a:t>https://www.ninds.nih.gov/health-information/disorders/deep-brain-stimulation-dbs</a:t>
            </a:r>
          </a:p>
          <a:p>
            <a:endParaRPr/>
          </a:p>
          <a:p>
            <a:r>
              <a:t>그림: 내장 ImageGen 도구로 제작한 모식도. 실제 환자·기기 사진이 아닙니다. 원본: 그림/E-15.png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2621297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E-16 / SPECT 검사가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검사약 투여 / 회전하는 감마카메라 / 분포 영상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SPECT</a:t>
            </a:r>
          </a:p>
          <a:p>
            <a:r>
              <a:t>https://www.mayoclinic.org/tests-procedures/spect-scan/about/pac-20384925</a:t>
            </a:r>
          </a:p>
          <a:p>
            <a:endParaRPr/>
          </a:p>
          <a:p>
            <a:r>
              <a:t>그림: 내장 ImageGen 도구로 제작한 모식도. 실제 환자·기기 사진이 아닙니다. 원본: 그림/E-16.png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8127743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F-01 / 허리·관절의 주사·시술·수술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주사: 바늘로 약 주입 / 시술: 관·내시경 사용 / 수술: 열거나 고정</a:t>
            </a:r>
          </a:p>
          <a:p>
            <a:endParaRPr/>
          </a:p>
          <a:p>
            <a:r>
              <a:t>수정 근거: 주사·시술·수술은 고정된 순서나 일률적 부담 단계가 아닙니다. 보존치료도 함께 언급했습니다.</a:t>
            </a:r>
          </a:p>
          <a:p>
            <a:endParaRPr/>
          </a:p>
          <a:p>
            <a:r>
              <a:t>근거: AAOS 허리디스크 치료 선택</a:t>
            </a:r>
          </a:p>
          <a:p>
            <a:r>
              <a:t>https://orthoinfo.aaos.org/globalassets/pdfs/herniated-disk.pdf</a:t>
            </a:r>
          </a:p>
          <a:p>
            <a:endParaRPr/>
          </a:p>
          <a:p>
            <a:r>
              <a:t>그림: 내장 ImageGen 도구로 제작한 모식도. 실제 환자·기기 사진이 아닙니다. 원본: 그림/F-01.png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8708673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F-02 / 신경성형술이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꼬리뼈 쪽을 마취해요 / 가는 관을 넣어요 / 유착을 풀고 약 주입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추가 확인 사항: 경막외 유착박리술의 적용 대상과 근거 수준·개인차는 별도 임상 검토가 필요합니다. 모든 유착이 물리적으로 풀린다는 인상을 피해야 합니다.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그림/F-02.png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365066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F-03 / 내시경 디스크 제거술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1cm 안팎 구멍을 내요 / 내시경으로 신경을 봐요 / 튀어나온 조각을 꺼내요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그림/F-03.png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7531007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F-04 / 척추유합술이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뼈가 붙을 자리를 준비 / 뼈 이식재 등을 넣어요 / 필요하면 나사로 고정</a:t>
            </a:r>
          </a:p>
          <a:p>
            <a:endParaRPr/>
          </a:p>
          <a:p>
            <a:r>
              <a:t>수정 근거: 금속 고정만으로 정의하지 않고 뼈가 붙도록 하는 유합의 목표를 명시했습니다.</a:t>
            </a:r>
          </a:p>
          <a:p>
            <a:endParaRPr/>
          </a:p>
          <a:p>
            <a:r>
              <a:t>근거: MedlinePlus 척추유합</a:t>
            </a:r>
          </a:p>
          <a:p>
            <a:r>
              <a:t>https://medlineplus.gov/ency/patientinstructions/000313.htm</a:t>
            </a:r>
          </a:p>
          <a:p>
            <a:endParaRPr/>
          </a:p>
          <a:p>
            <a:r>
              <a:t>그림: 내장 ImageGen 도구로 제작한 모식도. 실제 환자·기기 사진이 아닙니다. 원본: 그림/F-04.png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6659365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F-05 / 관절경 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구멍 2~3개를 내요 / 카메라로 속을 봐요 / 찢어진 곳을 다듬어요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그림/B-05.png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5618285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F-06 / 인공관절 치환술이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닳은 관절면을 깎아요 / 금속·플라스틱 관절 삽입 / 재활 운동을 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0989172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F-07 / 무릎 골수 흡인 농축물 주사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골반뼈에서 골수 채취 / 원심분리로 농축해요 / 무릎에 주사해요</a:t>
            </a:r>
          </a:p>
          <a:p>
            <a:endParaRPr/>
          </a:p>
          <a:p>
            <a:r>
              <a:t>수정 근거: 순수 줄기세포 주사와 골수 흡인 농축물을 구별하기 위해 공식 행위명으로 정리했습니다. 현재 적응증 등급의 고시 원문 대조는 추가 확인 사항입니다.</a:t>
            </a:r>
          </a:p>
          <a:p>
            <a:endParaRPr/>
          </a:p>
          <a:p>
            <a:r>
              <a:t>근거: HIRA 골수 흡인 농축물의 공식 행위명</a:t>
            </a:r>
          </a:p>
          <a:p>
            <a:r>
              <a:t>https://www.hira.or.kr/ebooksc/2025/12/BZ202512122658473.pdf</a:t>
            </a:r>
          </a:p>
          <a:p>
            <a:endParaRPr/>
          </a:p>
          <a:p>
            <a:r>
              <a:t>추가 확인 사항: 골수 농축물은 순수 줄기세포와 다릅니다. KL/ICRS 등의 현재 대상 기준과 효과의 한계는 최신 고시·의료 자문으로 확인해야 합니다.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그림/F-07.png</a:t>
            </a:r>
          </a:p>
          <a:p>
            <a:endParaRPr/>
          </a:p>
          <a:p>
            <a:r>
              <a:t>보충 설명: 골수는 뼈 안의 부드러운 조직으로, 혈액세포를 만드는 일을 해요.</a:t>
            </a:r>
          </a:p>
          <a:p>
            <a:r>
              <a:t>보충 설명 근거 (2026-10-15): https://www.mayoclinic.org/tests-procedures/bone-marrow-biopsy/about/pac-20393117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339269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F-08 / 무릎 연골 줄기세포 수술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연골이 패인 곳을 다듬어요 / 작은 구멍을 내요 / 치료제를 채워요</a:t>
            </a:r>
          </a:p>
          <a:p>
            <a:endParaRPr/>
          </a:p>
          <a:p>
            <a:r>
              <a:t>수정 근거: 줄기세포 수술에서 제품별 대상과 재활을 일반적으로 확인하도록 했습니다.</a:t>
            </a:r>
          </a:p>
          <a:p>
            <a:endParaRPr/>
          </a:p>
          <a:p>
            <a:r>
              <a:t>추가 확인 사항: 치료제 종류에 따라 적응증·방법이 다릅니다. 허가사항과 연골 재생 효과의 표현을 최신 공식 자료로 확인해야 합니다.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그림/F-08.png</a:t>
            </a:r>
          </a:p>
          <a:p>
            <a:endParaRPr/>
          </a:p>
          <a:p>
            <a:r>
              <a:t>보충 설명: 연골은 관절에서 뼈끼리 닿는 면을 덮는 매끈한 조직이에요.</a:t>
            </a:r>
          </a:p>
          <a:p>
            <a:r>
              <a:t>보충 설명 근거 (2026-10-15): https://www.niams.nih.gov/health-topics/osteoarthritis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7410162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F-09 / 도수치료가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자세와 움직임을 살펴요 / 손으로 교정해요 / 여러 번 나눠 받아요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근거: HIRA 도수치료 2026.7.1 시행 고시</a:t>
            </a:r>
          </a:p>
          <a:p>
            <a:r>
              <a:t>https://www.hira.or.kr/rc/insu/insuadtcrtr/InsuAdtCrtrPopup.do?brdBltNo=&amp;brdScnBltNo=4&amp;isPopupYn=Y&amp;mtgHmeDd=20260701&amp;mtgMtrRegSno=1&amp;sno=4</a:t>
            </a:r>
          </a:p>
          <a:p>
            <a:endParaRPr/>
          </a:p>
          <a:p>
            <a:r>
              <a:t>그림: 내장 ImageGen 도구로 제작한 모식도. 실제 환자·기기 사진이 아닙니다. 원본: 그림/F-09.png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8843899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F-10 / 체외충격파치료가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아픈 곳에 기구를 대요 / 충격파를 쏴요 / 여러 번 나눠 받아요</a:t>
            </a:r>
          </a:p>
          <a:p>
            <a:endParaRPr/>
          </a:p>
          <a:p>
            <a:r>
              <a:t>수정 근거: 근골격계 충격파치료와 쇄석술은 충격파 원리를 공유하므로 이름만 비슷하다는 문구를 고쳤습니다.</a:t>
            </a:r>
          </a:p>
          <a:p>
            <a:endParaRPr/>
          </a:p>
          <a:p>
            <a:r>
              <a:t>근거: NHS 근골격계 충격파치료</a:t>
            </a:r>
          </a:p>
          <a:p>
            <a:r>
              <a:t>https://www.rnoh.nhs.uk/patients-and-visitors/patient-information-guides/radial-extracorporeal-shockwave-therapy-eswt</a:t>
            </a:r>
          </a:p>
          <a:p>
            <a:endParaRPr/>
          </a:p>
          <a:p>
            <a:r>
              <a:t>근거: NHS 요로결석 체외충격파 쇄석술</a:t>
            </a:r>
          </a:p>
          <a:p>
            <a:r>
              <a:t>https://www.plymouthhospitals.nhs.uk/display-pil/pil-extracorporeal-shockwave-lithotripsy-eswl-for-stones-4316/</a:t>
            </a:r>
          </a:p>
          <a:p>
            <a:endParaRPr/>
          </a:p>
          <a:p>
            <a:r>
              <a:t>그림: 내장 ImageGen 도구로 제작한 모식도. 실제 환자·기기 사진이 아닙니다. 원본: 그림/F-10.png</a:t>
            </a:r>
          </a:p>
          <a:p>
            <a:endParaRPr/>
          </a:p>
          <a:p>
            <a:r>
              <a:t>보충 설명: 충격파는 전기 충격이 아니라 기계적인 압력 파동을 이용해요.</a:t>
            </a:r>
          </a:p>
          <a:p>
            <a:r>
              <a:t>보충 설명 근거 (2026-10-15): https://www.rnoh.nhs.uk/patients-and-visitors/patient-information-guides/radial-extracorporeal-shockwave-therapy-eswt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184324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F-11 / 추간판 내 고주파 열치료이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디스크 / 가는 전극 / 디스크 안 열치료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NICE 추간판 전기열 치료</a:t>
            </a:r>
          </a:p>
          <a:p>
            <a:r>
              <a:t>https://www.nice.org.uk/guidance/htg398/resources/percutaneous-electrothermal-treatment-of-the-intervertebral-disc-annulus-for-low-back-pain-and-sciatica-pdf-1809592365238981</a:t>
            </a:r>
          </a:p>
          <a:p>
            <a:endParaRPr/>
          </a:p>
          <a:p>
            <a:r>
              <a:t>추가 확인 사항: 드물거나 선택적으로 사용하는 치료입니다. 국내 시행·허가·행위 분류와 적용 대상은 실제 의료기관 기준으로 추가 확인하세요.</a:t>
            </a:r>
          </a:p>
          <a:p>
            <a:endParaRPr/>
          </a:p>
          <a:p>
            <a:r>
              <a:t>그림: 내장 ImageGen 도구로 제작한 모식도. 실제 환자·기기 사진이 아닙니다. 원본: 그림/F-11.png</a:t>
            </a:r>
          </a:p>
          <a:p>
            <a:endParaRPr/>
          </a:p>
          <a:p>
            <a:r>
              <a:t>보충 설명: ‘추간판’은 척추뼈 사이에서 충격을 덜어 주는 디스크를 말해요.</a:t>
            </a:r>
          </a:p>
          <a:p>
            <a:r>
              <a:t>보충 설명 근거 (2026-10-15): https://www.nhs.uk/conditions/slipped-disc/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5912247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F-12 / 수핵 성형술·수핵 용해술이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수핵 / 바늘·기구 / 압력을 줄여요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NICE 수핵 코블레이션</a:t>
            </a:r>
          </a:p>
          <a:p>
            <a:r>
              <a:t>https://www.nice.org.uk/guidance/htg397/evidence/overview-final-pdf-13373251597</a:t>
            </a:r>
          </a:p>
          <a:p>
            <a:endParaRPr/>
          </a:p>
          <a:p>
            <a:r>
              <a:t>추가 확인 사항: 드물거나 선택적으로 사용하는 치료입니다. 국내 시행·허가·행위 분류와 적용 대상은 실제 의료기관 기준으로 추가 확인하세요.</a:t>
            </a:r>
          </a:p>
          <a:p>
            <a:endParaRPr/>
          </a:p>
          <a:p>
            <a:r>
              <a:t>그림: 내장 ImageGen 도구로 제작한 모식도. 실제 환자·기기 사진이 아닙니다. 원본: 그림/F-12.png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5632194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F-13 / 자가 연골세포 이식술이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연골세포 채취 / 세포 배양 / 결손 부위 이식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NICE 자가 연골세포 이식</a:t>
            </a:r>
          </a:p>
          <a:p>
            <a:r>
              <a:t>https://www.nice.org.uk/guidance/ta477/resources</a:t>
            </a:r>
          </a:p>
          <a:p>
            <a:endParaRPr/>
          </a:p>
          <a:p>
            <a:r>
              <a:t>그림: 내장 ImageGen 도구로 제작한 모식도. 실제 환자·기기 사진이 아닙니다. 원본: 그림/F-13.png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548873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F-14 / 회전근개 봉합술이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찢어진 힘줄 / 뼈의 고정점 / 실로 다시 붙여요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AAOS 회전근개 파열</a:t>
            </a:r>
          </a:p>
          <a:p>
            <a:r>
              <a:t>https://orthoinfo.aaos.org/globalassets/pdfs/rotator-cuff-tears.pdf</a:t>
            </a:r>
          </a:p>
          <a:p>
            <a:endParaRPr/>
          </a:p>
          <a:p>
            <a:r>
              <a:t>그림: 내장 ImageGen 도구로 제작한 모식도. 실제 환자·기기 사진이 아닙니다. 원본: 그림/F-14.png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8931714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F-15 / 십자인대 재건술이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끊어진 인대 / 힘줄 이식편 / 뼈 터널에 고정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AAOS 앞십자인대 재건</a:t>
            </a:r>
          </a:p>
          <a:p>
            <a:r>
              <a:t>https://orthoinfo.aaos.org/globalassets/pdfs/acl-injuries-cpg_pls_final.pdf</a:t>
            </a:r>
          </a:p>
          <a:p>
            <a:endParaRPr/>
          </a:p>
          <a:p>
            <a:r>
              <a:t>그림: 내장 ImageGen 도구로 제작한 모식도. 실제 환자·기기 사진이 아닙니다. 원본: 그림/F-15.png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577784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F-16 / 골이식술이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뼈의 결손 / 이식 재료 / 뼈가 붙도록 보조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NICE 척추 유합·골이식</a:t>
            </a:r>
          </a:p>
          <a:p>
            <a:r>
              <a:t>https://www.nice.org.uk/advice/mib108/chapter/The-technology</a:t>
            </a:r>
          </a:p>
          <a:p>
            <a:endParaRPr/>
          </a:p>
          <a:p>
            <a:r>
              <a:t>그림: 내장 ImageGen 도구로 제작한 모식도. 실제 환자·기기 사진이 아닙니다. 원본: 그림/F-16.png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1719618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F-17 / 내고정물 제거술이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붙은 뼈 / 금속판·나사 / 필요하면 제거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Royal Orthopaedic Hospital 내고정물 제거</a:t>
            </a:r>
          </a:p>
          <a:p>
            <a:r>
              <a:t>https://roh.nhs.uk/services-information/foot-and-ankle/removal-of-internal-fixation</a:t>
            </a:r>
          </a:p>
          <a:p>
            <a:endParaRPr/>
          </a:p>
          <a:p>
            <a:r>
              <a:t>그림: 내장 ImageGen 도구로 제작한 모식도. 실제 환자·기기 사진이 아닙니다. 원본: 그림/F-17.png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2031518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F-18 / 다리 길이 연장술이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뼈 사이 틈 / 서서히 늘리기 / 새 뼈 형성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Oxford University Hospitals 사지 연장 치료</a:t>
            </a:r>
          </a:p>
          <a:p>
            <a:r>
              <a:t>https://www.ouh.nhs.uk/limbreconstruction/information/treatment/</a:t>
            </a:r>
          </a:p>
          <a:p>
            <a:endParaRPr/>
          </a:p>
          <a:p>
            <a:r>
              <a:t>그림: 내장 ImageGen 도구로 제작한 모식도. 실제 환자·기기 사진이 아닙니다. 원본: 그림/F-18.png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0417023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G-01 / 갑상선 양성결절 고주파치료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초음파로 혹을 봐요 / 바늘 전극을 넣어요 / 열로 혹을 줄여요</a:t>
            </a:r>
          </a:p>
          <a:p>
            <a:endParaRPr/>
          </a:p>
          <a:p>
            <a:r>
              <a:t>수정 근거: 현재 양성결절 치료 사례로 제목 범위를 한정해 악성 종양 등 별도 적응증과 혼동을 줄였습니다.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그림/G-01.png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99105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G-02 / 유방 진공보조절제술이란?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초음파로 혹을 봐요 / 바늘을 혹에 넣어요 / 조직을 채취·제거해요</a:t>
            </a:r>
          </a:p>
          <a:p>
            <a:endParaRPr/>
          </a:p>
          <a:p>
            <a:r>
              <a:t>수정 근거: 제품명 맘모톰을 일반적인 행위명으로 바꾸고, 진공보조 기구 자체가 조직검사에도 사용됨을 반영했습니다.</a:t>
            </a:r>
          </a:p>
          <a:p>
            <a:endParaRPr/>
          </a:p>
          <a:p>
            <a:r>
              <a:t>근거: ACR·RSNA 생검·진공보조 생검</a:t>
            </a:r>
          </a:p>
          <a:p>
            <a:r>
              <a:t>https://www.radiologyinfo.org/en/info/biopgen</a:t>
            </a:r>
          </a:p>
          <a:p>
            <a:endParaRPr/>
          </a:p>
          <a:p>
            <a:r>
              <a:t>그림: 내장 ImageGen 도구로 제작한 모식도. 실제 환자·기기 사진이 아닙니다. 원본: 그림/G-02.png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2892329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G-03 / 자궁근종 치료 네 가지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하이푸·색전술: 줄이기 / 근종절제: 혹만 떼기 / 자궁적출: 자궁 들어내기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그림/G-03.png</a:t>
            </a:r>
          </a:p>
          <a:p>
            <a:endParaRPr/>
          </a:p>
          <a:p>
            <a:r>
              <a:t>보충 설명: 근종은 자궁 근육층에 생기는 양성 종양이에요.</a:t>
            </a:r>
          </a:p>
          <a:p>
            <a:r>
              <a:t>보충 설명 근거 (2026-10-15): https://www.nhs.uk/conditions/fibroids/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359186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G-04 / 대장 용종절제술이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내시경으로 용종을 확인 / 올가미 등으로 잘라내요 / 제거한 조직을 검사해요</a:t>
            </a:r>
          </a:p>
          <a:p>
            <a:endParaRPr/>
          </a:p>
          <a:p>
            <a:r>
              <a:t>수정 근거: 용종을 모두 전기로 자르지는 않으며 냉 올가미 방식도 있습니다.</a:t>
            </a:r>
          </a:p>
          <a:p>
            <a:endParaRPr/>
          </a:p>
          <a:p>
            <a:r>
              <a:t>근거: ASGE 용종절제 기구 지침</a:t>
            </a:r>
          </a:p>
          <a:p>
            <a:r>
              <a:t>https://www.asge.org/docs/default-source/default-document-library/piis0016510721001267.pdf</a:t>
            </a:r>
          </a:p>
          <a:p>
            <a:endParaRPr/>
          </a:p>
          <a:p>
            <a:r>
              <a:t>그림: 내장 ImageGen 도구로 제작한 모식도. 실제 환자·기기 사진이 아닙니다. 원본: 그림/G-04.png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5100948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G-05 / 복강경 담낭절제술이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배에 작은 구멍을 내요 / 담낭을 간에서 떼어요 / 구멍으로 꺼내요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그림/G-05.png</a:t>
            </a:r>
          </a:p>
          <a:p>
            <a:endParaRPr/>
          </a:p>
          <a:p>
            <a:r>
              <a:t>보충 설명: 담낭은 간에서 만든 담즙을 저장하는 작은 주머니예요.</a:t>
            </a:r>
          </a:p>
          <a:p>
            <a:r>
              <a:t>보충 설명 근거 (2026-10-15): https://www.radiologyinfo.org/en/info/biliary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4820849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G-06 / 충수절제술이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배에 작은 구멍을 내요 / 충수를 묶고 잘라요 / 구멍으로 꺼내요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그림/G-06.png</a:t>
            </a:r>
          </a:p>
          <a:p>
            <a:endParaRPr/>
          </a:p>
          <a:p>
            <a:r>
              <a:t>보충 설명: 충수는 대장이 시작되는 부위에 달린 작은 관 모양 조직이에요.</a:t>
            </a:r>
          </a:p>
          <a:p>
            <a:r>
              <a:t>보충 설명 근거 (2026-10-15): https://www.niddk.nih.gov/health-information/digestive-diseases/appendicitis/definition-facts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0163350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G-07 / 항역류 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배에 작은 구멍을 내요 / 위로 식도를 감싸요 / 조이는 힘을 보강해요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그림/G-07.png</a:t>
            </a:r>
          </a:p>
          <a:p>
            <a:endParaRPr/>
          </a:p>
          <a:p>
            <a:r>
              <a:t>보충 설명: 위산이 위에서 식도로 거꾸로 올라오는 것을 ‘역류’라고 해요.</a:t>
            </a:r>
          </a:p>
          <a:p>
            <a:r>
              <a:t>보충 설명 근거 (2026-10-15): https://www.niddk.nih.gov/health-information/digestive-diseases/acid-reflux-ger-gerd-adults/definition-facts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1950047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G-08 / 전립선비대증 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요도로 기구를 넣어요 / 깎거나 묶거나 줄여요 / 소변 길이 넓어져요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추가 확인 사항: 기구·방법마다 전립선 크기 외 해부학적 조건, 약물치료 반응 등이 중요합니다. 한 가지 단면 그림은 개념도입니다.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그림/G-08.png</a:t>
            </a:r>
          </a:p>
          <a:p>
            <a:endParaRPr/>
          </a:p>
          <a:p>
            <a:r>
              <a:t>보충 설명: 전립선은 방광 아래에서 소변이 나가는 요도를 둘러싸고 있어요.</a:t>
            </a:r>
          </a:p>
          <a:p>
            <a:r>
              <a:t>보충 설명 근거 (2026-10-15): https://www.niddk.nih.gov/health-information/urologic-diseases/prostate-problems/enlarged-prostate-benign-prostatic-hyperplasia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4912633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G-09 / 체외충격파 쇄석술이란?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누워서 결석 위치를 맞춰요 / 충격파를 여러 번 쏴요 / 조각이 소변으로 나와요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그림/A-18.png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4190019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G-10 / 백내장 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2~3mm로 작게 열어요 / 초음파로 부숴 빼내요 / 인공수정체를 넣어요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그림/G-10.png</a:t>
            </a:r>
          </a:p>
          <a:p>
            <a:endParaRPr/>
          </a:p>
          <a:p>
            <a:r>
              <a:t>보충 설명: 백내장은 눈 속 수정체가 흐려져 빛이 잘 통과하지 못하는 상태예요.</a:t>
            </a:r>
          </a:p>
          <a:p>
            <a:r>
              <a:t>보충 설명 근거 (2026-10-15): https://www.nei.nih.gov/eye-health-information/eye-conditions-and-diseases/cataracts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2773748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G-11 / 망막 레이저와 눈 속 주사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눈에 마취약을 넣어요 / 레이저를 쬐거나 / 눈 속에 약을 주사해요</a:t>
            </a:r>
          </a:p>
          <a:p>
            <a:endParaRPr/>
          </a:p>
          <a:p>
            <a:r>
              <a:t>수정 근거: 레이저와 유리체강내 약물 주사를 모든 망막질환의 한 기전으로 일반화하지 않았습니다.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그림/G-11.png</a:t>
            </a:r>
          </a:p>
          <a:p>
            <a:endParaRPr/>
          </a:p>
          <a:p>
            <a:r>
              <a:t>보충 설명: 망막은 눈 안쪽에서 빛을 받아들이는 얇은 신경 조직이에요.</a:t>
            </a:r>
          </a:p>
          <a:p>
            <a:r>
              <a:t>보충 설명 근거 (2026-10-15): https://www.nei.nih.gov/eye-health-information/eye-conditions-and-diseases/retinal-detachment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3132340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G-12 / 혈액투석이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혈관 통로에 연결해요 / 피를 기계로 보내 걸러요 / 깨끗한 피를 돌려보내요</a:t>
            </a:r>
          </a:p>
          <a:p>
            <a:endParaRPr/>
          </a:p>
          <a:p>
            <a:r>
              <a:t>수정 근거: 투석 통로에는 팔의 바늘 두 개 외 중심정맥관 등도 있어 연결 방식을 넓혀 설명했습니다. 2차 참고자료의 추가 분류를 반영하되 모든 환자에게 동일한 방법을 쓰는 표현은 피했습니다.</a:t>
            </a:r>
          </a:p>
          <a:p>
            <a:endParaRPr/>
          </a:p>
          <a:p>
            <a:r>
              <a:t>근거: NIDDK 혈액투석</a:t>
            </a:r>
          </a:p>
          <a:p>
            <a:r>
              <a:t>https://www.niddk.nih.gov/health-information/kidney-disease/kidney-failure/hemodialysis</a:t>
            </a:r>
          </a:p>
          <a:p>
            <a:endParaRPr/>
          </a:p>
          <a:p>
            <a:r>
              <a:t>그림: 내장 ImageGen 도구로 제작한 모식도. 실제 환자·기기 사진이 아닙니다. 원본: 그림/G-12.png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1993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G-13 / 복막투석이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배에 관을 심어 둬요 / 투석액을 넣어요 / 몇 시간 뒤 빼내요</a:t>
            </a:r>
          </a:p>
          <a:p>
            <a:endParaRPr/>
          </a:p>
          <a:p>
            <a:r>
              <a:t>원문 내용을 1차 검토해 장면 중심으로 재구성했습니다.</a:t>
            </a:r>
          </a:p>
          <a:p>
            <a:endParaRPr/>
          </a:p>
          <a:p>
            <a:r>
              <a:t>그림: 내장 ImageGen 도구로 제작한 모식도. 실제 환자·기기 사진이 아닙니다. 원본: 그림/G-13.png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8369392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G-14 / 신의료기술평가가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새 기술이 개발돼요 / 안전성·효과를 평가해요 / 정해진 대상에 써요</a:t>
            </a:r>
          </a:p>
          <a:p>
            <a:endParaRPr/>
          </a:p>
          <a:p>
            <a:r>
              <a:t>수정 근거: 신의료기술 자체와 신의료기술평가 제도를 구별했습니다. 제도 절차의 예외는 추가 확인 대상으로 남겼습니다. 고정된 허가-평가 순서 그림 대신 안전성·유효성·사용 대상의 표를 제시합니다.</a:t>
            </a:r>
          </a:p>
          <a:p>
            <a:endParaRPr/>
          </a:p>
          <a:p>
            <a:r>
              <a:t>그림: 편집 가능한 도표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0759273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G-15 / 적응증과 금기증이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적응증: 도움이 되는 경우 / 금기증: 쓰면 안 되는 경우 / 치료 전 의사가 확인</a:t>
            </a:r>
          </a:p>
          <a:p>
            <a:endParaRPr/>
          </a:p>
          <a:p>
            <a:r>
              <a:t>수정 근거: 절대금기와 상대금기가 존재함을 보완했습니다.</a:t>
            </a:r>
          </a:p>
          <a:p>
            <a:endParaRPr/>
          </a:p>
          <a:p>
            <a:r>
              <a:t>그림: 편집 가능한 도표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2159753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G-16 / 급여와 비급여가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급여: 건강보험 적용 / 비급여: 전액 본인 부담 / 선별급여: 항목별 본인부담</a:t>
            </a:r>
          </a:p>
          <a:p>
            <a:endParaRPr/>
          </a:p>
          <a:p>
            <a:r>
              <a:t>수정 근거: 선별급여의 본인부담률은 항목별로 달라 일률적인 높은 부담으로 정의하지 않았습니다.</a:t>
            </a:r>
          </a:p>
          <a:p>
            <a:endParaRPr/>
          </a:p>
          <a:p>
            <a:r>
              <a:t>근거: 국민건강보험공단 2026 산정특례 안내</a:t>
            </a:r>
          </a:p>
          <a:p>
            <a:r>
              <a:t>https://www.nhis.or.kr/renewal_popup/poster/20260608_poster_longdesc_1.html</a:t>
            </a:r>
          </a:p>
          <a:p>
            <a:endParaRPr/>
          </a:p>
          <a:p>
            <a:r>
              <a:t>그림: 편집 가능한 도표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3032655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G-17 / 암 산정특례가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확진 뒤 등록을 신청해요 / 해당 급여 진료비의 5% 부담 / 암은 통상 5년간 적용</a:t>
            </a:r>
          </a:p>
          <a:p>
            <a:endParaRPr/>
          </a:p>
          <a:p>
            <a:r>
              <a:t>수정 근거: 5%·5년은 모든 산정특례 질환에 공통인 것이 아니므로 이 장의 범위를 암으로 좁혔습니다.</a:t>
            </a:r>
          </a:p>
          <a:p>
            <a:endParaRPr/>
          </a:p>
          <a:p>
            <a:r>
              <a:t>근거: 국민건강보험공단 2026 산정특례 안내</a:t>
            </a:r>
          </a:p>
          <a:p>
            <a:r>
              <a:t>https://www.nhis.or.kr/renewal_popup/poster/20260608_poster_longdesc_1.html</a:t>
            </a:r>
          </a:p>
          <a:p>
            <a:endParaRPr/>
          </a:p>
          <a:p>
            <a:r>
              <a:t>그림: 편집 가능한 도표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6189109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G-18 / 탈장 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약한 배 벽 / 밀려 나온 장 / 틈을 보강해요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NIDDK 서혜부 탈장 수술</a:t>
            </a:r>
          </a:p>
          <a:p>
            <a:r>
              <a:t>https://www.niddk.nih.gov/health-information/digestive-diseases/inguinal-hernia</a:t>
            </a:r>
          </a:p>
          <a:p>
            <a:endParaRPr/>
          </a:p>
          <a:p>
            <a:r>
              <a:t>그림: 내장 ImageGen 도구로 제작한 모식도. 실제 환자·기기 사진이 아닙니다. 원본: 그림/G-18.png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8958176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G-19 / 치핵(치질) 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내치핵 / 고무밴드 결찰 / 상태에 맞는 절제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NIDDK 치핵 치료</a:t>
            </a:r>
          </a:p>
          <a:p>
            <a:r>
              <a:t>https://www.niddk.nih.gov/health-information/digestive-diseases/hemorrhoids/treatment</a:t>
            </a:r>
          </a:p>
          <a:p>
            <a:endParaRPr/>
          </a:p>
          <a:p>
            <a:r>
              <a:t>그림: 내장 ImageGen 도구로 제작한 모식도. 실제 환자·기기 사진이 아닙니다. 원본: 그림/G-19.png</a:t>
            </a:r>
          </a:p>
          <a:p>
            <a:endParaRPr/>
          </a:p>
          <a:p>
            <a:r>
              <a:t>보충 설명: 치핵은 항문이나 직장 아래쪽의 혈관이 부풀고 늘어진 상태예요.</a:t>
            </a:r>
          </a:p>
          <a:p>
            <a:r>
              <a:t>보충 설명 근거 (2026-10-15): https://www.niddk.nih.gov/health-information/digestive-diseases/hemorrhoids/definition-facts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9501485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G-20 / 편도 절제술이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목젖 / 양쪽 편도 / 편도 제거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CUH NHS 편도 절제</a:t>
            </a:r>
          </a:p>
          <a:p>
            <a:r>
              <a:t>https://www.cuh.nhs.uk/patient-information/tonsillectomy/</a:t>
            </a:r>
          </a:p>
          <a:p>
            <a:endParaRPr/>
          </a:p>
          <a:p>
            <a:r>
              <a:t>그림: 내장 ImageGen 도구로 제작한 모식도. 실제 환자·기기 사진이 아닙니다. 원본: 그림/G-20.png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314254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G-21 / 부비동 내시경 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부비동 / 코로 들어간 내시경 / 배출 길을 넓혀요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University Hospitals Sussex 내시경 부비동 수술</a:t>
            </a:r>
          </a:p>
          <a:p>
            <a:r>
              <a:t>https://www.uhsussex.nhs.uk/resources/functional-endoscopic-sinus-surgery-fess/</a:t>
            </a:r>
          </a:p>
          <a:p>
            <a:endParaRPr/>
          </a:p>
          <a:p>
            <a:r>
              <a:t>그림: 내장 ImageGen 도구로 제작한 모식도. 실제 환자·기기 사진이 아닙니다. 원본: 그림/G-21.png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0090688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G-22 / 중이 환기관 삽입술이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고막 / 작은 환기관 / 환기·액체 배출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Central East NHS 성인 고막 환기관</a:t>
            </a:r>
          </a:p>
          <a:p>
            <a:r>
              <a:t>https://www.centraleast.icb.nhs.uk/documents/ent-grommet-insertion-in-adults/</a:t>
            </a:r>
          </a:p>
          <a:p>
            <a:endParaRPr/>
          </a:p>
          <a:p>
            <a:r>
              <a:t>그림: 내장 ImageGen 도구로 제작한 모식도. 실제 환자·기기 사진이 아닙니다. 원본: 그림/G-22.png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9453499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G-23 / 고막 성형술이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고막의 구멍 / 이식 조직 / 고막 재건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Kingston and Richmond NHS 고막 재건</a:t>
            </a:r>
          </a:p>
          <a:p>
            <a:r>
              <a:t>https://www.kingstonandrichmond.nhs.uk/patients-and-families/patient-leaflets/myringoplasty-and-tympanoplasty</a:t>
            </a:r>
          </a:p>
          <a:p>
            <a:endParaRPr/>
          </a:p>
          <a:p>
            <a:r>
              <a:t>그림: 내장 ImageGen 도구로 제작한 모식도. 실제 환자·기기 사진이 아닙니다. 원본: 그림/G-23.png</a:t>
            </a:r>
          </a:p>
          <a:p>
            <a:endParaRPr/>
          </a:p>
          <a:p>
            <a:r>
              <a:t>보충 설명: 고막은 바깥 귀와 가운데 귀 사이에서 소리를 전달하는 얇은 막이에요.</a:t>
            </a:r>
          </a:p>
          <a:p>
            <a:r>
              <a:t>보충 설명 근거 (2026-10-15): https://www.nidcd.nih.gov/health/how-do-we-hear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4180958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G-24 / 제왕절개가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배·자궁의 절개 / 자궁 안 아기 / 분만 수술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NHS 제왕절개</a:t>
            </a:r>
          </a:p>
          <a:p>
            <a:r>
              <a:t>https://www.nhs.uk/tests-and-treatments/caesarean-section/</a:t>
            </a:r>
          </a:p>
          <a:p>
            <a:endParaRPr/>
          </a:p>
          <a:p>
            <a:r>
              <a:t>그림: 내장 ImageGen 도구로 제작한 모식도. 실제 환자·기기 사진이 아닙니다. 원본: 그림/G-24.png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5312694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G-25 / 자궁 소파술이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자궁 안 조직 / 자궁경부의 기구 / 조직 제거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ACOG 자궁 소파술</a:t>
            </a:r>
          </a:p>
          <a:p>
            <a:r>
              <a:t>https://www.acog.org/womens-health/faqs/dilation-and-curettage</a:t>
            </a:r>
          </a:p>
          <a:p>
            <a:endParaRPr/>
          </a:p>
          <a:p>
            <a:r>
              <a:t>그림: 내장 ImageGen 도구로 제작한 모식도. 실제 환자·기기 사진이 아닙니다. 원본: 그림/G-25.png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5208708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G-26 / 요실금 수술(요도 슬링)이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방광 / 요도 아래 테이프 / 요도를 받쳐요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ACOG 복압성 요실금 수술</a:t>
            </a:r>
          </a:p>
          <a:p>
            <a:r>
              <a:t>https://www.acog.org/womens-health/faqs/surgery-for-stress-urinary-incontinence</a:t>
            </a:r>
          </a:p>
          <a:p>
            <a:endParaRPr/>
          </a:p>
          <a:p>
            <a:r>
              <a:t>그림: 내장 ImageGen 도구로 제작한 모식도. 실제 환자·기기 사진이 아닙니다. 원본: 그림/G-26.png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2442725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G-27 / 갑상선 절제술이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갑상선 / 부분 절제 / 전체 절제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UCLH NHS 갑상선 수술</a:t>
            </a:r>
          </a:p>
          <a:p>
            <a:r>
              <a:t>https://www.uclh.nhs.uk/patients-and-visitors/patient-information-pages/thyroid-surgery</a:t>
            </a:r>
          </a:p>
          <a:p>
            <a:endParaRPr/>
          </a:p>
          <a:p>
            <a:r>
              <a:t>그림: 내장 ImageGen 도구로 제작한 모식도. 실제 환자·기기 사진이 아닙니다. 원본: 그림/G-27.png</a:t>
            </a:r>
          </a:p>
          <a:p>
            <a:endParaRPr/>
          </a:p>
          <a:p>
            <a:r>
              <a:t>보충 설명: 갑상선은 목 앞에서 몸의 대사를 조절하는 호르몬을 만드는 기관이에요.</a:t>
            </a:r>
          </a:p>
          <a:p>
            <a:r>
              <a:t>보충 설명 근거 (2026-10-15): https://www.uclh.nhs.uk/patients-and-visitors/patient-information-pages/thyroid-surgery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311358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G-28 / 유방 부분절제·전절제가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암 주변 부분 절제 / 유방 전체 절제 / 범위를 정해요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NCI 유방 부분절제·전절제</a:t>
            </a:r>
          </a:p>
          <a:p>
            <a:r>
              <a:t>https://www.cancer.gov/types/breast/treatment/surgery</a:t>
            </a:r>
          </a:p>
          <a:p>
            <a:endParaRPr/>
          </a:p>
          <a:p>
            <a:r>
              <a:t>그림: 내장 ImageGen 도구로 제작한 모식도. 실제 환자·기기 사진이 아닙니다. 원본: 그림/G-28.png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3529125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G-29 / 위 절제술이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위의 절제 범위 / 남은 위 / 장을 연결해요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NHS 위 절제</a:t>
            </a:r>
          </a:p>
          <a:p>
            <a:r>
              <a:t>https://www.nhs.uk/tests-and-treatments/gastrectomy/</a:t>
            </a:r>
          </a:p>
          <a:p>
            <a:endParaRPr/>
          </a:p>
          <a:p>
            <a:r>
              <a:t>그림: 내장 ImageGen 도구로 제작한 모식도. 실제 환자·기기 사진이 아닙니다. 원본: 그림/G-29.png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21452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G-30 / 장루가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피부의 장 끝 / 장루 주머니 / 배설물 수집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NHS 장루</a:t>
            </a:r>
          </a:p>
          <a:p>
            <a:r>
              <a:t>https://www.nhs.uk/tests-and-treatments/colostomy/what-is-a-colostomy/</a:t>
            </a:r>
          </a:p>
          <a:p>
            <a:endParaRPr/>
          </a:p>
          <a:p>
            <a:r>
              <a:t>그림: 내장 ImageGen 도구로 제작한 모식도. 실제 환자·기기 사진이 아닙니다. 원본: 그림/G-30.png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9098399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G-31 / 망막박리 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떨어진 망막 / 원인 부위 치료 / 망막을 붙여요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AAO 망막박리</a:t>
            </a:r>
          </a:p>
          <a:p>
            <a:r>
              <a:t>https://eyewiki.aao.org/Retinal_Detachment</a:t>
            </a:r>
          </a:p>
          <a:p>
            <a:endParaRPr/>
          </a:p>
          <a:p>
            <a:r>
              <a:t>그림: 내장 ImageGen 도구로 제작한 모식도. 실제 환자·기기 사진이 아닙니다. 원본: 그림/G-31.png</a:t>
            </a:r>
          </a:p>
          <a:p>
            <a:endParaRPr/>
          </a:p>
          <a:p>
            <a:r>
              <a:t>보충 설명: 망막이 안쪽 벽에서 떨어지면 빛의 신호를 전달하는 데 문제가 생겨요.</a:t>
            </a:r>
          </a:p>
          <a:p>
            <a:r>
              <a:t>보충 설명 근거 (2026-10-15): https://www.nei.nih.gov/eye-health-information/eye-conditions-and-diseases/retinal-detachment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0955506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G-32 / 유리체 절제술이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흰자위의 작은 통로 / 유리체 제거 / 필요한 망막 치료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AAO 평면부 유리체 절제</a:t>
            </a:r>
          </a:p>
          <a:p>
            <a:r>
              <a:t>https://eyewiki.aao.org/Pars_Plana_Vitrectomy</a:t>
            </a:r>
          </a:p>
          <a:p>
            <a:endParaRPr/>
          </a:p>
          <a:p>
            <a:r>
              <a:t>그림: 내장 ImageGen 도구로 제작한 모식도. 실제 환자·기기 사진이 아닙니다. 원본: 그림/G-32.png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783057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G-33 / 녹내장 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눈 속 방수 / 새 배출 통로 / 안압을 낮춰요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NEI 녹내장 수술의 목적</a:t>
            </a:r>
          </a:p>
          <a:p>
            <a:r>
              <a:t>https://www.nei.nih.gov/eye-health-information/eye-conditions-and-diseases/glaucoma/glaucoma-surgery</a:t>
            </a:r>
          </a:p>
          <a:p>
            <a:endParaRPr/>
          </a:p>
          <a:p>
            <a:r>
              <a:t>그림: 내장 ImageGen 도구로 제작한 모식도. 실제 환자·기기 사진이 아닙니다. 원본: 그림/G-33.png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1502133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G-34 / 각막 이식이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손상된 각막 / 기증 각막 / 필요한 층 이식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NEI 각막 이식</a:t>
            </a:r>
          </a:p>
          <a:p>
            <a:r>
              <a:t>https://www.nei.nih.gov/eye-health-information/eye-conditions-and-diseases/corneal-conditions/corneal-transplants</a:t>
            </a:r>
          </a:p>
          <a:p>
            <a:endParaRPr/>
          </a:p>
          <a:p>
            <a:r>
              <a:t>그림: 내장 ImageGen 도구로 제작한 모식도. 실제 환자·기기 사진이 아닙니다. 원본: 그림/G-34.png</a:t>
            </a:r>
          </a:p>
          <a:p>
            <a:endParaRPr/>
          </a:p>
          <a:p>
            <a:r>
              <a:t>보충 설명: 각막은 눈의 맨 앞에서 빛을 통과시키는 투명한 막이에요.</a:t>
            </a:r>
          </a:p>
          <a:p>
            <a:r>
              <a:t>보충 설명 근거 (2026-10-15): https://www.nei.nih.gov/eye-health-information/eye-conditions-and-diseases/corneal-conditions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5965247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G-35 / 절단 부위 재접합술이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뼈·힘줄 연결 / 혈관 연결 / 신경 연결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절단 손가락·손 재접합</a:t>
            </a:r>
          </a:p>
          <a:p>
            <a:r>
              <a:t>https://www.mayoclinic.org/medical-professionals/trauma/news/hand-injuries-on-the-farm/mqc-20555333</a:t>
            </a:r>
          </a:p>
          <a:p>
            <a:endParaRPr/>
          </a:p>
          <a:p>
            <a:r>
              <a:t>그림: 내장 ImageGen 도구로 제작한 모식도. 실제 환자·기기 사진이 아닙니다. 원본: 그림/G-35.png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9620232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G-36 / 신장 이식이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원래 신장 / 골반 쪽 새 신장 / 혈관·방광 연결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NIDDK 신장 이식</a:t>
            </a:r>
          </a:p>
          <a:p>
            <a:r>
              <a:t>https://www.niddk.nih.gov/health-information/kidney-disease/kidney-failure/kidney-transplant</a:t>
            </a:r>
          </a:p>
          <a:p>
            <a:endParaRPr/>
          </a:p>
          <a:p>
            <a:r>
              <a:t>그림: 내장 ImageGen 도구로 제작한 모식도. 실제 환자·기기 사진이 아닙니다. 원본: 그림/G-36.png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3575470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G-37 / 간 이식이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병든 간 제거 / 새 간 이식 / 혈관·담관 연결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NIDDK 간 이식</a:t>
            </a:r>
          </a:p>
          <a:p>
            <a:r>
              <a:t>https://www.niddk.nih.gov/health-information/liver-disease/liver-transplant</a:t>
            </a:r>
          </a:p>
          <a:p>
            <a:endParaRPr/>
          </a:p>
          <a:p>
            <a:r>
              <a:t>그림: 내장 ImageGen 도구로 제작한 모식도. 실제 환자·기기 사진이 아닙니다. 원본: 그림/G-37.png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61928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G-38 / 심장·폐 이식이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심장 이식 / 폐 이식 / 필요한 장기 교체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NHS 장기 이식 폐 이식 유형</a:t>
            </a:r>
          </a:p>
          <a:p>
            <a:r>
              <a:t>https://www.nhsbt.nhs.uk/organ-transplantation/lung/is-a-lung-transplant-right-for-you/types-of-lung-transplant/</a:t>
            </a:r>
          </a:p>
          <a:p>
            <a:endParaRPr/>
          </a:p>
          <a:p>
            <a:r>
              <a:t>근거: Mayo Clinic 심장 이식</a:t>
            </a:r>
          </a:p>
          <a:p>
            <a:r>
              <a:t>https://www.mayoclinic.org/tests-procedures/heart-transplant/about/pac-20384750</a:t>
            </a:r>
          </a:p>
          <a:p>
            <a:endParaRPr/>
          </a:p>
          <a:p>
            <a:r>
              <a:t>그림: 내장 ImageGen 도구로 제작한 모식도. 실제 환자·기기 사진이 아닙니다. 원본: 그림/G-38.png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477733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G-39 / ERCP(내시경 담췌관 시술)이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십이지장의 입구 / 담관 속 기구 / 돌 제거·배액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NIDDK ERCP</a:t>
            </a:r>
          </a:p>
          <a:p>
            <a:r>
              <a:t>https://www.niddk.nih.gov/health-information/diagnostic-tests/endoscopic-retrograde-cholangiopancreatography</a:t>
            </a:r>
          </a:p>
          <a:p>
            <a:endParaRPr/>
          </a:p>
          <a:p>
            <a:r>
              <a:t>그림: 내장 ImageGen 도구로 제작한 모식도. 실제 환자·기기 사진이 아닙니다. 원본: 그림/G-39.png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4566947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G-40 / 경피적 담즙배액술이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간 속 담관 / 피부를 통과한 관 / 담즙 배출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ACR·RSNA 담관 시술</a:t>
            </a:r>
          </a:p>
          <a:p>
            <a:r>
              <a:t>https://www.radiologyinfo.org/en/info/biliary</a:t>
            </a:r>
          </a:p>
          <a:p>
            <a:endParaRPr/>
          </a:p>
          <a:p>
            <a:r>
              <a:t>그림: 내장 ImageGen 도구로 제작한 모식도. 실제 환자·기기 사진이 아닙니다. 원본: 그림/G-40.png</a:t>
            </a:r>
          </a:p>
          <a:p>
            <a:endParaRPr/>
          </a:p>
          <a:p>
            <a:r>
              <a:t>보충 설명: 담즙은 간에서 만들어져 지방 소화를 돕는 액체예요.</a:t>
            </a:r>
          </a:p>
          <a:p>
            <a:r>
              <a:t>보충 설명 근거 (2026-10-15): https://www.radiologyinfo.org/en/info/biliary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2295359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G-41 / 간농양 배액술이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간의 고름집 / 배액관 / 고름 배출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ACR·RSNA 농양 배액</a:t>
            </a:r>
          </a:p>
          <a:p>
            <a:r>
              <a:t>https://www.radiologyinfo.org/en/info/percabscessdrn</a:t>
            </a:r>
          </a:p>
          <a:p>
            <a:endParaRPr/>
          </a:p>
          <a:p>
            <a:r>
              <a:t>그림: 내장 ImageGen 도구로 제작한 모식도. 실제 환자·기기 사진이 아닙니다. 원본: 그림/G-41.png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7224095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G-42 / 경피적 신루 설치술이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신장 집합 공간 / 등 쪽의 관 / 소변 배액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ACR·RSNA 신루·요관 스텐트</a:t>
            </a:r>
          </a:p>
          <a:p>
            <a:r>
              <a:t>https://www.radiologyinfo.org/en/info/ureteralnephro</a:t>
            </a:r>
          </a:p>
          <a:p>
            <a:endParaRPr/>
          </a:p>
          <a:p>
            <a:r>
              <a:t>그림: 내장 ImageGen 도구로 제작한 모식도. 실제 환자·기기 사진이 아닙니다. 원본: 그림/G-42.png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1842519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G-43 / 요관 스텐트이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신장 쪽 끝 / 요관 안 스텐트 / 방광 쪽 끝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ACR·RSNA 신루·요관 스텐트</a:t>
            </a:r>
          </a:p>
          <a:p>
            <a:r>
              <a:t>https://www.radiologyinfo.org/en/info/ureteralnephro</a:t>
            </a:r>
          </a:p>
          <a:p>
            <a:endParaRPr/>
          </a:p>
          <a:p>
            <a:r>
              <a:t>그림: 내장 ImageGen 도구로 제작한 모식도. 실제 환자·기기 사진이 아닙니다. 원본: 그림/G-43.png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9372222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G-44 / 기관절개술이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목 앞 통로 / 기관 안의 관 / 호흡을 도와요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NHS 기관절개</a:t>
            </a:r>
          </a:p>
          <a:p>
            <a:r>
              <a:t>https://www.nhs.uk/tests-and-treatments/tracheostomy/</a:t>
            </a:r>
          </a:p>
          <a:p>
            <a:endParaRPr/>
          </a:p>
          <a:p>
            <a:r>
              <a:t>그림: 내장 ImageGen 도구로 제작한 모식도. 실제 환자·기기 사진이 아닙니다. 원본: 그림/G-44.png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955325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G-45 / 갑상선 결절 레이저 치료이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갑상선 결절 / 가는 광섬유 / 레이저 열치료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NICE 갑상선 결절 레이저 치료 검토</a:t>
            </a:r>
          </a:p>
          <a:p>
            <a:r>
              <a:t>https://www.nice.org.uk/guidance/prioritisation/gid-ipg10308</a:t>
            </a:r>
          </a:p>
          <a:p>
            <a:endParaRPr/>
          </a:p>
          <a:p>
            <a:r>
              <a:t>추가 확인 사항: 드물거나 선택적으로 사용하는 치료입니다. 국내 시행·허가·행위 분류와 적용 대상은 실제 의료기관 기준으로 추가 확인하세요.</a:t>
            </a:r>
          </a:p>
          <a:p>
            <a:endParaRPr/>
          </a:p>
          <a:p>
            <a:r>
              <a:t>그림: 내장 ImageGen 도구로 제작한 모식도. 실제 환자·기기 사진이 아닙니다. 원본: 그림/G-45.png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8333793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G-46 / 췌도 이식이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췌도 세포 / 간의 문맥으로 / 세포 이식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NIDDK 췌도 이식</a:t>
            </a:r>
          </a:p>
          <a:p>
            <a:r>
              <a:t>https://www.niddk.nih.gov/health-information/diabetes/overview/insulin-medicines-treatments/pancreatic-islet-transplantation</a:t>
            </a:r>
          </a:p>
          <a:p>
            <a:endParaRPr/>
          </a:p>
          <a:p>
            <a:r>
              <a:t>추가 확인 사항: 드물거나 선택적으로 사용하는 치료입니다. 국내 시행·허가·행위 분류와 적용 대상은 실제 의료기관 기준으로 추가 확인하세요.</a:t>
            </a:r>
          </a:p>
          <a:p>
            <a:endParaRPr/>
          </a:p>
          <a:p>
            <a:r>
              <a:t>그림: 내장 ImageGen 도구로 제작한 모식도. 실제 환자·기기 사진이 아닙니다. 원본: 그림/G-46.png</a:t>
            </a:r>
          </a:p>
          <a:p>
            <a:endParaRPr/>
          </a:p>
          <a:p>
            <a:r>
              <a:t>보충 설명: 췌도는 혈당을 조절하는 호르몬을 만드는 세포들이 모인 부분이에요.</a:t>
            </a:r>
          </a:p>
          <a:p>
            <a:r>
              <a:t>보충 설명 근거 (2026-10-15): https://www.niddk.nih.gov/health-information/diabetes/overview/insulin-medicines-treatments/pancreatic-islet-transplantation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8909007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G-47 / 각막 교차결합술이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각막에 약 / 자외선 조사 / 결합 강화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AAO 각막 교차결합</a:t>
            </a:r>
          </a:p>
          <a:p>
            <a:r>
              <a:t>https://eyewiki.aao.org/Corneal_Collagen_Cross-Linking</a:t>
            </a:r>
          </a:p>
          <a:p>
            <a:endParaRPr/>
          </a:p>
          <a:p>
            <a:r>
              <a:t>그림: 내장 ImageGen 도구로 제작한 모식도. 실제 환자·기기 사진이 아닙니다. 원본: 그림/G-47.png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7309618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G-48 / 각막 내 링 삽입술이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각막 층 / 작은 링 / 모양 조절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AAO 각막 내 링</a:t>
            </a:r>
          </a:p>
          <a:p>
            <a:r>
              <a:t>https://eyewiki.aao.org/Myoring_%28Full_360_Ring%29</a:t>
            </a:r>
          </a:p>
          <a:p>
            <a:endParaRPr/>
          </a:p>
          <a:p>
            <a:r>
              <a:t>그림: 내장 ImageGen 도구로 제작한 모식도. 실제 환자·기기 사진이 아닙니다. 원본: 그림/G-48.png</a:t>
            </a:r>
          </a:p>
          <a:p>
            <a:endParaRPr/>
          </a:p>
          <a:p>
            <a:r>
              <a:t>보충 설명: 각막은 빛이 눈 안으로 들어올 때 처음 지나가는 투명한 부분이에요.</a:t>
            </a:r>
          </a:p>
          <a:p>
            <a:r>
              <a:t>보충 설명 근거 (2026-10-15): https://www.nei.nih.gov/eye-health-information/eye-conditions-and-diseases/corneal-conditions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471573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G-49 / 코골이·수면무호흡 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좁은 숨길 / 막히는 위치 확인 / 숨길을 넓혀요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NHLBI 수면무호흡 치료</a:t>
            </a:r>
          </a:p>
          <a:p>
            <a:r>
              <a:t>https://www.nhlbi.nih.gov/health/sleep-apnea/treatment</a:t>
            </a:r>
          </a:p>
          <a:p>
            <a:endParaRPr/>
          </a:p>
          <a:p>
            <a:r>
              <a:t>그림: 내장 ImageGen 도구로 제작한 모식도. 실제 환자·기기 사진이 아닙니다. 원본: 그림/G-49.png</a:t>
            </a:r>
          </a:p>
          <a:p>
            <a:endParaRPr/>
          </a:p>
          <a:p>
            <a:r>
              <a:t>보충 설명: 수면무호흡은 자는 동안 숨쉬기가 반복해서 멈추거나 약해지는 상태예요.</a:t>
            </a:r>
          </a:p>
          <a:p>
            <a:r>
              <a:t>보충 설명 근거 (2026-10-15): https://www.nhlbi.nih.gov/health/sleep-apnea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1401827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G-50 / 비밸브 재건술이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비밸브의 좁아짐 / 구조 보강 / 공기 흐름 개선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AAO-HNS 비밸브 재건 입장문</a:t>
            </a:r>
          </a:p>
          <a:p>
            <a:r>
              <a:t>https://www.entnet.org/resource/position-statement-nasal-valve-repair/</a:t>
            </a:r>
          </a:p>
          <a:p>
            <a:endParaRPr/>
          </a:p>
          <a:p>
            <a:r>
              <a:t>그림: 내장 ImageGen 도구로 제작한 모식도. 실제 환자·기기 사진이 아닙니다. 원본: 그림/G-50.png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3237986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G-51 / 액취증·다한증 수술이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액취증의 땀샘 치료 / 다한증의 신경 치료 / 목적에 맞게 선택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다한증 수술·땀샘 치료</a:t>
            </a:r>
          </a:p>
          <a:p>
            <a:r>
              <a:t>https://www.mayoclinic.org/diseases-conditions/hyperhidrosis/diagnosis-treatment/drc-20367173</a:t>
            </a:r>
          </a:p>
          <a:p>
            <a:endParaRPr/>
          </a:p>
          <a:p>
            <a:r>
              <a:t>그림: 내장 ImageGen 도구로 제작한 모식도. 실제 환자·기기 사진이 아닙니다. 원본: 그림/G-51.png</a:t>
            </a:r>
          </a:p>
          <a:p>
            <a:endParaRPr/>
          </a:p>
          <a:p>
            <a:r>
              <a:t>보충 설명: 액취증은 냄새, 다한증은 지나치게 많은 땀이 주된 문제예요.</a:t>
            </a:r>
          </a:p>
          <a:p>
            <a:r>
              <a:t>보충 설명 근거 (2026-10-15): https://www.nhs.uk/conditions/body-odour-bo/ / https://www.nhs.uk/conditions/excessive-sweating-hyperhidrosis/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9167395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H-01 / 전신마취가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의식·통증 억제 / 호흡 보조 / 계속 감시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NHLBI 인공호흡기 지원</a:t>
            </a:r>
          </a:p>
          <a:p>
            <a:r>
              <a:t>https://www.nhlbi.nih.gov/health/ventilator/what-to-expect</a:t>
            </a:r>
          </a:p>
          <a:p>
            <a:endParaRPr/>
          </a:p>
          <a:p>
            <a:r>
              <a:t>그림: 내장 ImageGen 도구로 제작한 모식도. 실제 환자·기기 사진이 아닙니다. 원본: 그림/H-01.png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9218634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H-02 / 중환자실이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지속 관찰 / 필요한 기능 보조 / 집중 치료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NHS 중환자실</a:t>
            </a:r>
          </a:p>
          <a:p>
            <a:r>
              <a:t>https://www.nhs.uk/tests-and-treatments/intensive-care/</a:t>
            </a:r>
          </a:p>
          <a:p>
            <a:endParaRPr/>
          </a:p>
          <a:p>
            <a:r>
              <a:t>그림: 내장 ImageGen 도구로 제작한 모식도. 실제 환자·기기 사진이 아닙니다. 원본: 그림/H-02.png</a:t>
            </a:r>
          </a:p>
          <a:p>
            <a:endParaRPr/>
          </a:p>
          <a:p>
            <a:r>
              <a:t>보충 설명: 중환자실의 기계는 상태를 관찰하거나 장기 기능을 보조해요.</a:t>
            </a:r>
          </a:p>
          <a:p>
            <a:r>
              <a:t>보충 설명 근거 (2026-10-15): https://www.nhs.uk/tests-and-treatments/intensive-care/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0395604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H-03 / 인공호흡기가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기관 안의 관 / 공기 유입 / 기계가 보조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NHLBI 인공호흡기 지원</a:t>
            </a:r>
          </a:p>
          <a:p>
            <a:r>
              <a:t>https://www.nhlbi.nih.gov/health/ventilator/what-to-expect</a:t>
            </a:r>
          </a:p>
          <a:p>
            <a:endParaRPr/>
          </a:p>
          <a:p>
            <a:r>
              <a:t>그림: 내장 ImageGen 도구로 제작한 모식도. 실제 환자·기기 사진이 아닙니다. 원본: 그림/H-03.png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6607387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H-04 / 저체온요법·목표체온관리가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냉각 패드 / 목표 체온 관리 / 발열 예방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AHA 2025 심정지 후 체온 관리 지침</a:t>
            </a:r>
          </a:p>
          <a:p>
            <a:r>
              <a:t>https://cpr.heart.org/en/resuscitation-science/cpr-and-ecc-guidelines/post-cardiac-arrest-care</a:t>
            </a:r>
          </a:p>
          <a:p>
            <a:endParaRPr/>
          </a:p>
          <a:p>
            <a:r>
              <a:t>그림: 내장 ImageGen 도구로 제작한 모식도. 실제 환자·기기 사진이 아닙니다. 원본: 그림/H-04.png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1376960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H-05 / 지속적 신대체요법(CRRT)이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정맥관 / 천천히 여과 / 수분·노폐물 조절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ELHT NHS 중환자 치료·지속 신대체요법</a:t>
            </a:r>
          </a:p>
          <a:p>
            <a:r>
              <a:t>https://elht.nhs.uk/services/critical-care-unit/procedures-and-treatments</a:t>
            </a:r>
          </a:p>
          <a:p>
            <a:endParaRPr/>
          </a:p>
          <a:p>
            <a:r>
              <a:t>그림: 내장 ImageGen 도구로 제작한 모식도. 실제 환자·기기 사진이 아닙니다. 원본: 그림/H-05.png</a:t>
            </a:r>
          </a:p>
          <a:p>
            <a:endParaRPr/>
          </a:p>
          <a:p>
            <a:r>
              <a:t>보충 설명: ‘신대체’는 신장이 하던 일부 역할을 대신한다는 뜻이에요.</a:t>
            </a:r>
          </a:p>
          <a:p>
            <a:r>
              <a:t>보충 설명 근거 (2026-10-15): https://www.nhsbt.nhs.uk/organ-transplantation/kidney/is-a-kidney-transplant-right-for-you/alternatives-to-a-kidney-transplant/dialysis/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6387542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H-06 / 중심정맥관이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큰 정맥 / 가는 관 / 약과 수액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CUH NHS 중심정맥 포트</a:t>
            </a:r>
          </a:p>
          <a:p>
            <a:r>
              <a:t>https://www.cuh.nhs.uk/patient-information/portacath-care-of-your-portacath/</a:t>
            </a:r>
          </a:p>
          <a:p>
            <a:endParaRPr/>
          </a:p>
          <a:p>
            <a:r>
              <a:t>그림: 내장 ImageGen 도구로 제작한 모식도. 실제 환자·기기 사진이 아닙니다. 원본: 그림/H-06.png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084280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H-07 / 인공심폐기(체외순환)가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정맥혈을 밖으로 / 산소 공급 / 동맥으로 반환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GOSH NHS 체외순환 프로토콜</a:t>
            </a:r>
          </a:p>
          <a:p>
            <a:r>
              <a:t>https://media.gosh.nhs.uk/documents/Perfusion_Protocols_update_for_web.pdf</a:t>
            </a:r>
          </a:p>
          <a:p>
            <a:endParaRPr/>
          </a:p>
          <a:p>
            <a:r>
              <a:t>그림: 내장 ImageGen 도구로 제작한 모식도. 실제 환자·기기 사진이 아닙니다. 원본: 그림/H-07.png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9939436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H-08 / 신경파괴술이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통증 전달 신경 / 약 또는 열 / 신호를 줄여요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NCI 암 통증 전문자료</a:t>
            </a:r>
          </a:p>
          <a:p>
            <a:r>
              <a:t>https://www.cancer.gov/about-cancer/treatment/side-effects/pain/pain-hp-pdq</a:t>
            </a:r>
          </a:p>
          <a:p>
            <a:endParaRPr/>
          </a:p>
          <a:p>
            <a:r>
              <a:t>그림: 내장 ImageGen 도구로 제작한 모식도. 실제 환자·기기 사진이 아닙니다. 원본: 그림/H-08.png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5063480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H-09 / 마약성 진통제가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먹는 약 / 붙이는 약 / 주사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NCI 암 통증·진통제</a:t>
            </a:r>
          </a:p>
          <a:p>
            <a:r>
              <a:t>https://www.cancer.gov/about-cancer/treatment/side-effects/pain/pain-pdq</a:t>
            </a:r>
          </a:p>
          <a:p>
            <a:endParaRPr/>
          </a:p>
          <a:p>
            <a:r>
              <a:t>그림: 내장 ImageGen 도구로 제작한 모식도. 실제 환자·기기 사진이 아닙니다. 원본: 그림/H-09.png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5129800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H-10 / 약물주입펌프(척수강 내)가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피부 아래 펌프 / 척수강의 관 / 약을 소량 전달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약물펌프·신경자극기</a:t>
            </a:r>
          </a:p>
          <a:p>
            <a:r>
              <a:t>https://newsnetwork.mayoclinic.org/discussion/devices-for-relief-from-chronic-nerve-pain-may-be-considered-if-conservative-options-fail/</a:t>
            </a:r>
          </a:p>
          <a:p>
            <a:endParaRPr/>
          </a:p>
          <a:p>
            <a:r>
              <a:t>그림: 내장 ImageGen 도구로 제작한 모식도. 실제 환자·기기 사진이 아닙니다. 원본: 그림/H-10.png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5947208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H-11 / 척수신경자극기가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피부 아래 배터리 / 경막외 전극 / 전기 자극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약물펌프·신경자극기</a:t>
            </a:r>
          </a:p>
          <a:p>
            <a:r>
              <a:t>https://newsnetwork.mayoclinic.org/discussion/devices-for-relief-from-chronic-nerve-pain-may-be-considered-if-conservative-options-fail/</a:t>
            </a:r>
          </a:p>
          <a:p>
            <a:endParaRPr/>
          </a:p>
          <a:p>
            <a:r>
              <a:t>그림: 내장 ImageGen 도구로 제작한 모식도. 실제 환자·기기 사진이 아닙니다. 원본: 그림/H-11.png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9060875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H-12 / 재활치료가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운동 치료 / 일상 동작 훈련 / 말·삼킴 훈련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WHO 재활의 목적·구성</a:t>
            </a:r>
          </a:p>
          <a:p>
            <a:r>
              <a:t>https://www.who.int/news-room/fact-sheets/detail/rehabilitation</a:t>
            </a:r>
          </a:p>
          <a:p>
            <a:endParaRPr/>
          </a:p>
          <a:p>
            <a:r>
              <a:t>그림: 내장 ImageGen 도구로 제작한 모식도. 실제 환자·기기 사진이 아닙니다. 원본: 그림/H-12.png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321005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H-13 / 보행 재활이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서기·균형 / 평행봉 걷기 / 보조기구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WHO 재활의 목적·구성</a:t>
            </a:r>
          </a:p>
          <a:p>
            <a:r>
              <a:t>https://www.who.int/news-room/fact-sheets/detail/rehabilitation</a:t>
            </a:r>
          </a:p>
          <a:p>
            <a:endParaRPr/>
          </a:p>
          <a:p>
            <a:r>
              <a:t>그림: 내장 ImageGen 도구로 제작한 모식도. 실제 환자·기기 사진이 아닙니다. 원본: 그림/H-13.png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173422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H-14 / 암 재활이 뭔가요?</a:t>
            </a:r>
          </a:p>
          <a:p>
            <a:endParaRPr/>
          </a:p>
          <a:p>
            <a:r>
              <a:t>자료 대조일: 2026-10-14. 고객용 의료 정보의 1차 검토본입니다. 의료전문가 확인을 대신하지 않습니다.</a:t>
            </a:r>
          </a:p>
          <a:p>
            <a:endParaRPr/>
          </a:p>
          <a:p>
            <a:r>
              <a:t>핵심 설명: 붓기 관리 / 체력 회복 / 일상 복귀 훈련</a:t>
            </a:r>
          </a:p>
          <a:p>
            <a:endParaRPr/>
          </a:p>
          <a:p>
            <a:r>
              <a:t>수정 근거: 2차 참고 문서의 주제와 정의를 검토하고 고객용 문구·장면을 새로 작성했습니다. 치료 대상·효과·방법의 과도한 일반화를 피하고 해부학적 공간과 흐름을 구분했습니다.</a:t>
            </a:r>
          </a:p>
          <a:p>
            <a:endParaRPr/>
          </a:p>
          <a:p>
            <a:r>
              <a:t>근거: Mayo Clinic 암 재활</a:t>
            </a:r>
          </a:p>
          <a:p>
            <a:r>
              <a:t>https://www.mayoclinic.org/tests-procedures/cancer-rehabilitation/about/pac-20393327</a:t>
            </a:r>
          </a:p>
          <a:p>
            <a:endParaRPr/>
          </a:p>
          <a:p>
            <a:r>
              <a:t>근거: NCI 림프부종</a:t>
            </a:r>
          </a:p>
          <a:p>
            <a:r>
              <a:t>https://www.cancer.gov/about-cancer/treatment/side-effects/lymphedema</a:t>
            </a:r>
          </a:p>
          <a:p>
            <a:endParaRPr/>
          </a:p>
          <a:p>
            <a:r>
              <a:t>그림: 내장 ImageGen 도구로 제작한 모식도. 실제 환자·기기 사진이 아닙니다. 원본: 그림/H-14.png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4419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98D3CE7-8C67-4880-83F8-6B1FD44BA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BFAD344-015E-4FCB-9E30-B3BFE8419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8522E46-3058-40C9-9048-CEFD9EEDA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1DECA96-6107-49DF-886C-12956E247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44D40C0-4BE9-47C0-B3A7-63F43E008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ECDA726-17D6-4B1C-B147-CC99C5F71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8E42ECE-3FD0-4634-BE63-1891B97EA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9E230D8-4F06-4CFE-9E27-FA27DD64CAC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324F487-2FEC-41E1-AAF3-78AFB1FC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337BAC1-18DC-4AA3-8A04-314B31E4F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Pretendard"/>
          <a:ea typeface="Pretendard"/>
          <a:cs typeface="Pretendard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>
        <a:buNone/>
        <a:defRPr sz="18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>
        <a:buNone/>
        <a:defRPr sz="18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>
        <a:buNone/>
        <a:defRPr sz="18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>
        <a:buNone/>
        <a:defRPr sz="18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>
        <a:buNone/>
        <a:defRPr sz="18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>
        <a:buNone/>
        <a:defRPr sz="18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>
        <a:buNone/>
        <a:defRPr sz="18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>
        <a:buNone/>
        <a:defRPr sz="18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e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e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e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e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e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e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jpe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e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e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e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e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e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e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e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e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e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e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jpe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jpe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jpe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e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e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e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jpe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jpe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jpe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jpe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6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jpe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6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jpe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6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e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6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jpe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6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jpe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6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jpe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6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jpe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6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e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6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jpe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6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jpe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6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jpe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6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e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6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jpe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6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jpe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6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jpe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6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jpe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jpe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jpe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6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jpe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6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e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6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jpe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6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jpe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6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jpe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6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6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6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6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6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jpe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6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jpe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6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jpe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6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jpe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6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jpe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6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jpe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6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jpe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6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jpe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6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jpe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6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jpe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6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jpe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6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jpe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6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jpe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6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6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e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6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jpe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6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jpe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6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jpe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6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jpe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6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jpeg"/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6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jpe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6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jpe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6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jpe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6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jpe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6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jpe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6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jpe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6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jpe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6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jpe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6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jpe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6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jpeg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6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jpe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6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jpeg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6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jpeg"/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6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jpeg"/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6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jpeg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6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jpeg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6.xml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jpeg"/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6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jpeg"/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6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jpeg"/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6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jpeg"/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6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jpe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6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jpeg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6.xml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jpeg"/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6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jpeg"/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6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jpeg"/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6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jpeg"/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6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jpeg"/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6.xml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jpeg"/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41DF723-7292-4159-87CC-35D26C99EC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27CCABB-B63D-42CB-AD0D-F7F69E24FD4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절개 · 절제 · 절단 · 적출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D3BE790-E56C-4DF2-B5E7-629AD2E75D1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비슷해 보여도 뜻이 다른 네 가지 말이에요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8246E662-7DAC-4FAA-BD8B-B0648E8D5CD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절단은 구조를 끊어 나누는 말, 적출은 장기 등을 통째로 꺼내는 말이에요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94A00C0-38A4-4EB8-9D89-EB7254B62AA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01" descr="{&quot;page&quot;: 1, &quot;text_data&quot;: &quot;절개 · 절제 · 절단 · 적출\n비슷해 보여도 뜻이 다른 네 가지 말이에요\n절단은 구조를 끊어 나누는 말, 적출은 장기 등을 통째로 꺼내는 말이에요\n[핵심 설명] 절개: 갈라서 여는 것 / 절제: 병든 부분을 잘라내는 것 / 절단: 구조를 끊어 나누는 것 / 적출: 장기 등을 통째로 꺼내는 것&quot;, &quot;header1&quot;: &quot;기본 수술·처치&quot;, &quot;header2&quot;: &quot;기본 수술 용어&quot;, &quot;header3&quot;: &quot;절개·절제·절단·적출&quot;, &quot;keywords&quot;: [&quot;종수술비&quot;, &quot;질병수술비&quot;, &quot;상해수술비&quot;, &quot;수술의 정의&quot;]}">
            <a:extLst>
              <a:ext uri="{FF2B5EF4-FFF2-40B4-BE49-F238E27FC236}">
                <a16:creationId xmlns:a16="http://schemas.microsoft.com/office/drawing/2014/main" id="{46EFB32A-FE6C-4FD1-88C3-342BD5CF3A32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001  헤더1: 기본 수술·처치  헤더2: 기본 수술 용어  헤더3: 절개·절제·절단·적출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종수술비, 질병수술비, 상해수술비, 수술의 정의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절개 · 절제 · 절단 · 적출 비슷해 보여도 뜻이 다른 네 가지 말이에요 절단은 구조를 끊어 나누는 말, 적출은 장기 등을 통째로 꺼내는 말이에요 [핵심 설명] 절개: 갈라서 여는 것 / 절제: 병든 부분을 잘라내는 것 / 절단: 구조를 끊어 나누는 것 / 적출: 장기 등을 통째로 꺼내는 것</a:t>
            </a:r>
          </a:p>
        </p:txBody>
      </p:sp>
    </p:spTree>
    <p:extLst>
      <p:ext uri="{BB962C8B-B14F-4D97-AF65-F5344CB8AC3E}">
        <p14:creationId xmlns:p14="http://schemas.microsoft.com/office/powerpoint/2010/main" val="1671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D03296F-8EA0-4E57-AF58-2AE2C3A12F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AC84583-CBF0-4CCE-B073-06539CCFD6C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흡인이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8ACAB6B-1D4A-4801-906E-0769B0D3031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주사기나 기구로 몸속 액체를 빨아들이는 처치예요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7D78133E-9AB3-49B5-9ECE-379B4646BB9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찔러 넣는 것은 ‘천자’, 빨아들이는 것은 ‘흡인’이에요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6FCD6CC-4FB0-4446-A82F-A7116A82251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02" descr="{&quot;page&quot;: 2, &quot;text_data&quot;: &quot;흡인이 뭔가요?\n주사기나 기구로 몸속 액체를 빨아들이는 처치예요\n찔러 넣는 것은 ‘천자’, 빨아들이는 것은 ‘흡인’이에요\n[핵심 설명] 바늘이나 관을 넣어요 / 당겨서 빨아들여요 / 필요하면 검사로 보내요&quot;, &quot;header1&quot;: &quot;기본 수술·처치&quot;, &quot;header2&quot;: &quot;흡인·천자·배액&quot;, &quot;header3&quot;: &quot;흡인술&quot;, &quot;keywords&quot;: [&quot;흡인&quot;, &quot;천자&quot;, &quot;배액&quot;, &quot;배농&quot;, &quot;특정급여시술치료비&quot;]}">
            <a:extLst>
              <a:ext uri="{FF2B5EF4-FFF2-40B4-BE49-F238E27FC236}">
                <a16:creationId xmlns:a16="http://schemas.microsoft.com/office/drawing/2014/main" id="{D5EF98BE-8650-4D00-87DE-45D73DEA3D9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002  헤더1: 기본 수술·처치  헤더2: 흡인·천자·배액  헤더3: 흡인술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배액, 배농,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흡인이 뭔가요? 주사기나 기구로 몸속 액체를 빨아들이는 처치예요 찔러 넣는 것은 ‘천자’, 빨아들이는 것은 ‘흡인’이에요 [핵심 설명] 바늘이나 관을 넣어요 / 당겨서 빨아들여요 / 필요하면 검사로 보내요</a:t>
            </a:r>
          </a:p>
        </p:txBody>
      </p:sp>
    </p:spTree>
    <p:extLst>
      <p:ext uri="{BB962C8B-B14F-4D97-AF65-F5344CB8AC3E}">
        <p14:creationId xmlns:p14="http://schemas.microsoft.com/office/powerpoint/2010/main" val="228026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D500730-21B6-4F3D-A6AC-15C1A4CA341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7480C8BA-5293-4A5B-BFD6-A391C5FD41F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천자가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05629A7-F183-440E-8106-47BEF0DF657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복수천자 예시: 가는 관으로 배에 고인 물을 빼내요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A874382-2902-4A34-B337-E20EA2D61327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부위 이름이 앞에 붙어요. 복수천자·흉막천자·요추천자 등이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A1CC9EBF-968B-49FD-A1F3-B625808F0E4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03" descr="{&quot;page&quot;: 3, &quot;text_data&quot;: &quot;천자가 뭔가요?\n복수천자 예시: 가는 관으로 배에 고인 물을 빼내요\n부위 이름이 앞에 붙어요. 복수천자·흉막천자·요추천자 등이 있어요\n[핵심 설명] 초음파로 위치를 확인해요 / 바늘·가는 관을 넣어요 / 복수를 몸 밖으로 빼내요&quot;, &quot;header1&quot;: &quot;기본 수술·처치&quot;, &quot;header2&quot;: &quot;흡인·천자·배액&quot;, &quot;header3&quot;: &quot;천자·복수천자&quot;, &quot;keywords&quot;: [&quot;흡인&quot;, &quot;천자&quot;, &quot;배액&quot;, &quot;복수&quot;, &quot;특정급여시술치료비&quot;]}">
            <a:extLst>
              <a:ext uri="{FF2B5EF4-FFF2-40B4-BE49-F238E27FC236}">
                <a16:creationId xmlns:a16="http://schemas.microsoft.com/office/drawing/2014/main" id="{A0094A39-0019-4623-B3F1-533A1C03B0E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003  헤더1: 기본 수술·처치  헤더2: 흡인·천자·배액  헤더3: 천자·복수천자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배액, 복수,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천자가 뭔가요? 복수천자 예시: 가는 관으로 배에 고인 물을 빼내요 부위 이름이 앞에 붙어요. 복수천자·흉막천자·요추천자 등이 있어요 [핵심 설명] 초음파로 위치를 확인해요 / 바늘·가는 관을 넣어요 / 복수를 몸 밖으로 빼내요</a:t>
            </a:r>
          </a:p>
        </p:txBody>
      </p:sp>
    </p:spTree>
    <p:extLst>
      <p:ext uri="{BB962C8B-B14F-4D97-AF65-F5344CB8AC3E}">
        <p14:creationId xmlns:p14="http://schemas.microsoft.com/office/powerpoint/2010/main" val="152204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DE0722F-7EF9-4C47-9E21-29DD406BA81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7DCBD0A-F54E-4F7C-A323-58C5021CAA2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배농이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3DD2A83-0079-4D16-A2EC-588C1CA889D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곪은 곳을 살짝 열어 고름을 빼내는 처치예요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3932BD5-8FEF-4C89-8107-FF46056CDC0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종기·다래끼·편도 주위 고름 등에서 위치와 상태에 맞춰 시행해요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63802D8-F20B-4C93-BF70-1BDFFF7AE6D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04" descr="{&quot;page&quot;: 4, &quot;text_data&quot;: &quot;배농이 뭔가요?\n곪은 곳을 살짝 열어 고름을 빼내는 처치예요\n종기·다래끼·편도 주위 고름 등에서 위치와 상태에 맞춰 시행해요\n[핵심 설명] 곪은 부위를 마취해요 / 작게 째서 고름을 빼요 / 씻어내고 소독해요&quot;, &quot;header1&quot;: &quot;기본 수술·처치&quot;, &quot;header2&quot;: &quot;흡인·천자·배액&quot;, &quot;header3&quot;: &quot;배농&quot;, &quot;keywords&quot;: [&quot;흡인&quot;, &quot;천자&quot;, &quot;배액&quot;, &quot;배농&quot;, &quot;특정급여시술치료비&quot;]}">
            <a:extLst>
              <a:ext uri="{FF2B5EF4-FFF2-40B4-BE49-F238E27FC236}">
                <a16:creationId xmlns:a16="http://schemas.microsoft.com/office/drawing/2014/main" id="{3C95F2C2-F49A-4DB5-8130-CC970F4E2EB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004  헤더1: 기본 수술·처치  헤더2: 흡인·천자·배액  헤더3: 배농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배액, 배농,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배농이 뭔가요? 곪은 곳을 살짝 열어 고름을 빼내는 처치예요 종기·다래끼·편도 주위 고름 등에서 위치와 상태에 맞춰 시행해요 [핵심 설명] 곪은 부위를 마취해요 / 작게 째서 고름을 빼요 / 씻어내고 소독해요</a:t>
            </a:r>
          </a:p>
        </p:txBody>
      </p:sp>
    </p:spTree>
    <p:extLst>
      <p:ext uri="{BB962C8B-B14F-4D97-AF65-F5344CB8AC3E}">
        <p14:creationId xmlns:p14="http://schemas.microsoft.com/office/powerpoint/2010/main" val="133422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E17BCBA-C014-4E09-AB26-5CCBD5E6F01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03A8774-B0F5-463D-92C4-1B80EF1C790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배액이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CEACA56-A2F7-4850-A4C3-7D1A0968764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고이는 액체가 계속 빠지도록 관을 넣어 둬요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7468EA8-C6DA-456F-9929-E72D614E3788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배액관을 두고 지속해서 빼내기도 하며 필요하면 관을 교환해요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D484DB3-21BC-4AAD-874C-BAB4BA8FE0A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05" descr="{&quot;page&quot;: 5, &quot;text_data&quot;: &quot;배액이 뭔가요?\n고이는 액체가 계속 빠지도록 관을 넣어 둬요\n배액관을 두고 지속해서 빼내기도 하며 필요하면 관을 교환해요\n[핵심 설명] 고인 곳에 관을 넣어요 / 주머니에 연결해요 / 양이 줄면 관을 빼요&quot;, &quot;header1&quot;: &quot;기본 수술·처치&quot;, &quot;header2&quot;: &quot;흡인·천자·배액&quot;, &quot;header3&quot;: &quot;배액&quot;, &quot;keywords&quot;: [&quot;흡인&quot;, &quot;천자&quot;, &quot;배액&quot;, &quot;배농&quot;, &quot;특정급여시술치료비&quot;]}">
            <a:extLst>
              <a:ext uri="{FF2B5EF4-FFF2-40B4-BE49-F238E27FC236}">
                <a16:creationId xmlns:a16="http://schemas.microsoft.com/office/drawing/2014/main" id="{E793E30A-4014-40E5-8C4F-55437095C48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005  헤더1: 기본 수술·처치  헤더2: 흡인·천자·배액  헤더3: 배액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배액, 배농,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배액이 뭔가요? 고이는 액체가 계속 빠지도록 관을 넣어 둬요 배액관을 두고 지속해서 빼내기도 하며 필요하면 관을 교환해요 [핵심 설명] 고인 곳에 관을 넣어요 / 주머니에 연결해요 / 양이 줄면 관을 빼요</a:t>
            </a:r>
          </a:p>
        </p:txBody>
      </p:sp>
    </p:spTree>
    <p:extLst>
      <p:ext uri="{BB962C8B-B14F-4D97-AF65-F5344CB8AC3E}">
        <p14:creationId xmlns:p14="http://schemas.microsoft.com/office/powerpoint/2010/main" val="83761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085E13A-5ED0-4BBE-8184-F122713D182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D50E753-E0A5-4337-985A-2CB1D7A80D6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조직검사(생검)가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99FF7AC-9487-4541-8D84-BE27A6FDCCE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의심되는 조직을 조금 떼어 현미경으로 확인해요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6B66AC2-D2CC-405D-874F-1BB3825BCB0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확진과 치료 방향 판단에 쓰며 검사 방식은 상태에 따라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18F71F8-3B9E-496F-8D75-97C4B91E3C8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9AF6E06E-6546-4A84-A307-F337A6712DD7}"/>
              </a:ext>
            </a:extLst>
          </p:cNvPr>
          <p:cNvSpPr>
            <a:spLocks noGrp="1"/>
          </p:cNvSpPr>
          <p:nvPr/>
        </p:nvSpPr>
        <p:spPr>
          <a:xfrm>
            <a:off x="552450" y="5429250"/>
            <a:ext cx="1108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영상검사만으로 알기 어려운 조직의 성격을 확인해요.</a:t>
            </a:r>
          </a:p>
        </p:txBody>
      </p:sp>
      <p:sp>
        <p:nvSpPr>
          <p:cNvPr id="8" name="RAG_METADATA_PAGE_006" descr="{&quot;page&quot;: 6, &quot;text_data&quot;: &quot;조직검사(생검)가 뭔가요?\n의심되는 조직을 조금 떼어 현미경으로 확인해요\n영상검사만으로 알기 어려운 조직의 성격을 확인해요.\n확진과 치료 방향 판단에 쓰며 검사 방식은 상태에 따라 달라요\n[핵심 설명] 바늘·내시경으로 접근 / 조직을 조금 떼어내요 / 현미경으로 살펴봐요&quot;, &quot;header1&quot;: &quot;기본 수술·처치&quot;, &quot;header2&quot;: &quot;검체 채취·진단&quot;, &quot;header3&quot;: &quot;조직검사·생검&quot;, &quot;keywords&quot;: [&quot;조직검사&quot;, &quot;생검&quot;, &quot;암진단비&quot;, &quot;세포검사&quot;]}">
            <a:extLst>
              <a:ext uri="{FF2B5EF4-FFF2-40B4-BE49-F238E27FC236}">
                <a16:creationId xmlns:a16="http://schemas.microsoft.com/office/drawing/2014/main" id="{3A32E3A3-4FD1-45EA-93FF-5E20DE5AEA6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006  헤더1: 기본 수술·처치  헤더2: 검체 채취·진단  헤더3: 조직검사·생검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조직검사, 생검, 암진단비, 세포검사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조직검사(생검)가 뭔가요? 의심되는 조직을 조금 떼어 현미경으로 확인해요 영상검사만으로 알기 어려운 조직의 성격을 확인해요. 확진과 치료 방향 판단에 쓰며 검사 방식은 상태에 따라 달라요 [핵심 설명] 바늘·내시경으로 접근 / 조직을 조금 떼어내요 / 현미경으로 살펴봐요</a:t>
            </a:r>
          </a:p>
        </p:txBody>
      </p:sp>
    </p:spTree>
    <p:extLst>
      <p:ext uri="{BB962C8B-B14F-4D97-AF65-F5344CB8AC3E}">
        <p14:creationId xmlns:p14="http://schemas.microsoft.com/office/powerpoint/2010/main" val="801285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73063BD-F851-431D-80C0-1C0E33600B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8E335CF-AE4F-4570-BD02-923A0803C3B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창상봉합술이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19C86E84-9811-4EBC-A0D1-3A20071ADAE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찢어지거나 베인 상처를 꿰매어 닫는 처치예요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CB4DE2A-6920-4BFB-806F-E57BFE176126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깊은 상처는 속부터 층층이 꿰매요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D8DF59D1-861E-4883-927D-74243C0B511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DEAF285D-97AB-4CC9-8A8A-E9CA96568023}"/>
              </a:ext>
            </a:extLst>
          </p:cNvPr>
          <p:cNvSpPr>
            <a:spLocks noGrp="1"/>
          </p:cNvSpPr>
          <p:nvPr/>
        </p:nvSpPr>
        <p:spPr>
          <a:xfrm>
            <a:off x="552450" y="5429250"/>
            <a:ext cx="1108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상처의 양쪽 가장자리를 맞대어 아물도록 도와요.</a:t>
            </a:r>
          </a:p>
        </p:txBody>
      </p:sp>
      <p:sp>
        <p:nvSpPr>
          <p:cNvPr id="8" name="RAG_METADATA_PAGE_007" descr="{&quot;page&quot;: 7, &quot;text_data&quot;: &quot;창상봉합술이 뭔가요?\n찢어지거나 베인 상처를 꿰매어 닫는 처치예요\n상처의 양쪽 가장자리를 맞대어 아물도록 도와요.\n깊은 상처는 속부터 층층이 꿰매요\n[핵심 설명] 상처를 씻고 소독해요 / 실이나 의료용 풀로 닫아요 / 실 제거 시기는 부위마다 달라요&quot;, &quot;header1&quot;: &quot;기본 수술·처치&quot;, &quot;header2&quot;: &quot;상처 처치·복원&quot;, &quot;header3&quot;: &quot;창상봉합술&quot;, &quot;keywords&quot;: [&quot;봉합&quot;, &quot;상처봉합&quot;, &quot;창상봉합술치료비&quot;, &quot;상해통합치료비&quot;]}">
            <a:extLst>
              <a:ext uri="{FF2B5EF4-FFF2-40B4-BE49-F238E27FC236}">
                <a16:creationId xmlns:a16="http://schemas.microsoft.com/office/drawing/2014/main" id="{959332C6-D2CB-4274-8820-ABF283DAC906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007  헤더1: 기본 수술·처치  헤더2: 상처 처치·복원  헤더3: 창상봉합술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봉합, 상처봉합, 창상봉합술치료비, 상해통합치료비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창상봉합술이 뭔가요? 찢어지거나 베인 상처를 꿰매어 닫는 처치예요 상처의 양쪽 가장자리를 맞대어 아물도록 도와요. 깊은 상처는 속부터 층층이 꿰매요 [핵심 설명] 상처를 씻고 소독해요 / 실이나 의료용 풀로 닫아요 / 실 제거 시기는 부위마다 달라요</a:t>
            </a:r>
          </a:p>
        </p:txBody>
      </p:sp>
    </p:spTree>
    <p:extLst>
      <p:ext uri="{BB962C8B-B14F-4D97-AF65-F5344CB8AC3E}">
        <p14:creationId xmlns:p14="http://schemas.microsoft.com/office/powerpoint/2010/main" val="1175834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1DF2BED-E5CA-41A5-A883-F1E253F5652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3B978D1-9075-41EA-BB3E-BAEB37E7564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변연절제술이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35D906C-6C30-4E02-988F-6380D9B6B17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상처의 죽거나 오염된 조직을 잘라내는 처치예요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E8A45E0-4544-4141-914F-631C765127FC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깨끗한 면이 드러나야 상처가 잘 붙어요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231FB7DF-C61F-446C-A8C6-B82B086CCB9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08" descr="{&quot;page&quot;: 8, &quot;text_data&quot;: &quot;변연절제술이 뭔가요?\n상처의 죽거나 오염된 조직을 잘라내는 처치예요\n깨끗한 면이 드러나야 상처가 잘 붙어요\n[핵심 설명] 상처를 씻어내요 / 죽은 조직을 잘라내요 / 깨끗한 면만 남겨요&quot;, &quot;header1&quot;: &quot;기본 수술·처치&quot;, &quot;header2&quot;: &quot;상처 처치·복원&quot;, &quot;header3&quot;: &quot;변연절제술&quot;, &quot;keywords&quot;: [&quot;상처치료&quot;, &quot;괴사&quot;, &quot;변연절제&quot;, &quot;상해수술비&quot;, &quot;종수술비&quot;]}">
            <a:extLst>
              <a:ext uri="{FF2B5EF4-FFF2-40B4-BE49-F238E27FC236}">
                <a16:creationId xmlns:a16="http://schemas.microsoft.com/office/drawing/2014/main" id="{02F7D8C1-F811-4AB7-9107-F4024316652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008  헤더1: 기본 수술·처치  헤더2: 상처 처치·복원  헤더3: 변연절제술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상처치료, 괴사, 변연절제, 상해수술비,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변연절제술이 뭔가요? 상처의 죽거나 오염된 조직을 잘라내는 처치예요 깨끗한 면이 드러나야 상처가 잘 붙어요 [핵심 설명] 상처를 씻어내요 / 죽은 조직을 잘라내요 / 깨끗한 면만 남겨요</a:t>
            </a:r>
          </a:p>
        </p:txBody>
      </p:sp>
    </p:spTree>
    <p:extLst>
      <p:ext uri="{BB962C8B-B14F-4D97-AF65-F5344CB8AC3E}">
        <p14:creationId xmlns:p14="http://schemas.microsoft.com/office/powerpoint/2010/main" val="1678499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E0FC7AC-2531-4342-B126-3E5B028D55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6A99C2E-ACB5-4520-86C1-292AA1D5297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신경차단술이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56EB9A4-82B9-4858-98CB-B8D53A74841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아픈 신경 주변에 약을 주사해 통증을 줄여요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95C1AC4-3E84-475A-B14E-088C48E97FD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신경뿌리·말초신경 등 위치에 따라 달라요. 관으로 약을 계속 넣는 방식도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8B9378C-E86E-4F43-B1E0-554A48DD133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09" descr="{&quot;page&quot;: 9, &quot;text_data&quot;: &quot;신경차단술이 뭔가요?\n아픈 신경 주변에 약을 주사해 통증을 줄여요\n신경뿌리·말초신경 등 위치에 따라 달라요. 관으로 약을 계속 넣는 방식도 있어요\n[핵심 설명] 영상으로 신경 위치 확인 / 가는 바늘을 넣어요 / 마취제·소염제를 넣어요&quot;, &quot;header1&quot;: &quot;기본 수술·처치&quot;, &quot;header2&quot;: &quot;신경·통증 처치&quot;, &quot;header3&quot;: &quot;신경차단술&quot;, &quot;keywords&quot;: [&quot;신경차단&quot;, &quot;신경주사&quot;, &quot;통증치료&quot;, &quot;특정급여시술치료비&quot;, &quot;질병통합치료비&quot;]}">
            <a:extLst>
              <a:ext uri="{FF2B5EF4-FFF2-40B4-BE49-F238E27FC236}">
                <a16:creationId xmlns:a16="http://schemas.microsoft.com/office/drawing/2014/main" id="{D1707779-CE49-418C-B958-0E21D241ACF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009  헤더1: 기본 수술·처치  헤더2: 신경·통증 처치  헤더3: 신경차단술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신경차단, 신경주사, 통증치료, 특정급여시술치료비, 질병통합치료비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신경차단술이 뭔가요? 아픈 신경 주변에 약을 주사해 통증을 줄여요 신경뿌리·말초신경 등 위치에 따라 달라요. 관으로 약을 계속 넣는 방식도 있어요 [핵심 설명] 영상으로 신경 위치 확인 / 가는 바늘을 넣어요 / 마취제·소염제를 넣어요</a:t>
            </a:r>
          </a:p>
        </p:txBody>
      </p:sp>
    </p:spTree>
    <p:extLst>
      <p:ext uri="{BB962C8B-B14F-4D97-AF65-F5344CB8AC3E}">
        <p14:creationId xmlns:p14="http://schemas.microsoft.com/office/powerpoint/2010/main" val="186687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FECD14B-2A64-4E0B-8316-9ABBC4EB889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11F40E2-B3F1-4BF4-9049-E549DE6966B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소작술이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19E5702D-53AA-4F0F-8045-3A714193E98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전기나 레이저의 열로 조직을 지지는 처치예요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162869C-7C78-4D72-8FD1-584A48730A4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피를 멎게 할 때도 써요. 딱지가 생겼다가 아물어요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9D52F7A-5EF5-43EB-9581-2F7582C5285F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10" descr="{&quot;page&quot;: 10, &quot;text_data&quot;: &quot;소작술이 뭔가요?\n전기나 레이저의 열로 조직을 지지는 처치예요\n피를 멎게 할 때도 써요. 딱지가 생겼다가 아물어요\n[핵심 설명] 부위를 마취해요 / 열을 내는 기구를 대요 / 조직을 지져 없애요&quot;, &quot;header1&quot;: &quot;기본 수술·처치&quot;, &quot;header2&quot;: &quot;기본 수술 용어&quot;, &quot;header3&quot;: &quot;소작술&quot;, &quot;keywords&quot;: [&quot;소작&quot;, &quot;레이저치료&quot;, &quot;지혈&quot;, &quot;질병수술비&quot;, &quot;종수술비&quot;]}">
            <a:extLst>
              <a:ext uri="{FF2B5EF4-FFF2-40B4-BE49-F238E27FC236}">
                <a16:creationId xmlns:a16="http://schemas.microsoft.com/office/drawing/2014/main" id="{CA005E80-96D6-4CE1-86FF-D735EF807D6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010  헤더1: 기본 수술·처치  헤더2: 기본 수술 용어  헤더3: 소작술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소작, 레이저치료, 지혈,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소작술이 뭔가요? 전기나 레이저의 열로 조직을 지지는 처치예요 피를 멎게 할 때도 써요. 딱지가 생겼다가 아물어요 [핵심 설명] 부위를 마취해요 / 열을 내는 기구를 대요 / 조직을 지져 없애요</a:t>
            </a:r>
          </a:p>
        </p:txBody>
      </p:sp>
    </p:spTree>
    <p:extLst>
      <p:ext uri="{BB962C8B-B14F-4D97-AF65-F5344CB8AC3E}">
        <p14:creationId xmlns:p14="http://schemas.microsoft.com/office/powerpoint/2010/main" val="1940559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29B2BF8-5026-405F-9012-108A9F5B133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2798F5C-6018-446D-8FFC-7E5D0BAC987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결찰술이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8C87550-A900-44C8-A016-DCDE4AE0E8A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혈관이나 관을 실·클립으로 묶어 막는 처치예요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EA11BB0-C611-4CA8-BC12-8593B93B08E8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혈관·관을 묶어 그 통로의 흐름을 막는 방법이에요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E319D6C-5B30-45D8-9C4C-3D1C116CF8B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11" descr="{&quot;page&quot;: 11, &quot;text_data&quot;: &quot;결찰술이 뭔가요?\n혈관이나 관을 실·클립으로 묶어 막는 처치예요\n혈관·관을 묶어 그 통로의 흐름을 막는 방법이에요\n[핵심 설명] 묶을 곳을 찾아요 / 실이나 클립으로 묶어요 / 피나 액체가 멈춰요&quot;, &quot;header1&quot;: &quot;기본 수술·처치&quot;, &quot;header2&quot;: &quot;기본 수술 용어&quot;, &quot;header3&quot;: &quot;결찰술&quot;, &quot;keywords&quot;: [&quot;결찰&quot;, &quot;지혈&quot;, &quot;질병수술비&quot;, &quot;상해수술비&quot;, &quot;종수술비&quot;]}">
            <a:extLst>
              <a:ext uri="{FF2B5EF4-FFF2-40B4-BE49-F238E27FC236}">
                <a16:creationId xmlns:a16="http://schemas.microsoft.com/office/drawing/2014/main" id="{CF56507C-3733-4065-B47C-A90319A9E97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011  헤더1: 기본 수술·처치  헤더2: 기본 수술 용어  헤더3: 결찰술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결찰, 지혈, 질병수술비, 상해수술비,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결찰술이 뭔가요? 혈관이나 관을 실·클립으로 묶어 막는 처치예요 혈관·관을 묶어 그 통로의 흐름을 막는 방법이에요 [핵심 설명] 묶을 곳을 찾아요 / 실이나 클립으로 묶어요 / 피나 액체가 멈춰요</a:t>
            </a:r>
          </a:p>
        </p:txBody>
      </p:sp>
    </p:spTree>
    <p:extLst>
      <p:ext uri="{BB962C8B-B14F-4D97-AF65-F5344CB8AC3E}">
        <p14:creationId xmlns:p14="http://schemas.microsoft.com/office/powerpoint/2010/main" val="241707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3A2CFE4-1164-4138-8F42-2242AC8E2CE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BDD6E06-7D2B-4237-B496-6046D36403A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박리술이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F2C135F-858F-42B0-9563-4EEF118E369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서로 달라붙은 조직을 떼어 분리하는 처치예요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F5634758-88F5-4CB4-BC15-1DC6CC60202A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수술 뒤 장기가 달라붙는 ‘유착’을 풀 때 많이 써요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2BB32C6F-02D6-4CB6-AD73-D090429628E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A92BA9A5-3F06-4AA5-B468-82C4A333B694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‘유착’은 원래 떨어져 있어야 할 조직이 서로 붙은 상태예요.</a:t>
            </a:r>
          </a:p>
        </p:txBody>
      </p:sp>
      <p:sp>
        <p:nvSpPr>
          <p:cNvPr id="8" name="RAG_METADATA_PAGE_012" descr="{&quot;page&quot;: 12, &quot;text_data&quot;: &quot;박리술이 뭔가요?\n서로 달라붙은 조직을 떼어 분리하는 처치예요\n수술 뒤 장기가 달라붙는 ‘유착’을 풀 때 많이 써요\n‘유착’은 원래 떨어져 있어야 할 조직이 서로 붙은 상태예요.\n[핵심 설명] 붙은 곳을 확인해요 / 기구로 조심히 떼어내요 / 제자리로 돌려놔요&quot;, &quot;header1&quot;: &quot;기본 수술·처치&quot;, &quot;header2&quot;: &quot;기본 수술 용어&quot;, &quot;header3&quot;: &quot;박리술&quot;, &quot;keywords&quot;: [&quot;유착&quot;, &quot;유착박리&quot;, &quot;질병수술비&quot;, &quot;종수술비&quot;]}">
            <a:extLst>
              <a:ext uri="{FF2B5EF4-FFF2-40B4-BE49-F238E27FC236}">
                <a16:creationId xmlns:a16="http://schemas.microsoft.com/office/drawing/2014/main" id="{F0CFCB1D-E522-4518-9649-0E75B5AEA93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012  헤더1: 기본 수술·처치  헤더2: 기본 수술 용어  헤더3: 박리술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유착, 유착박리,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박리술이 뭔가요? 서로 달라붙은 조직을 떼어 분리하는 처치예요 수술 뒤 장기가 달라붙는 ‘유착’을 풀 때 많이 써요 ‘유착’은 원래 떨어져 있어야 할 조직이 서로 붙은 상태예요. [핵심 설명] 붙은 곳을 확인해요 / 기구로 조심히 떼어내요 / 제자리로 돌려놔요</a:t>
            </a:r>
          </a:p>
        </p:txBody>
      </p:sp>
    </p:spTree>
    <p:extLst>
      <p:ext uri="{BB962C8B-B14F-4D97-AF65-F5344CB8AC3E}">
        <p14:creationId xmlns:p14="http://schemas.microsoft.com/office/powerpoint/2010/main" val="1401223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C200D2D-B31F-4A92-81A6-4002C1D960D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7AC20EC2-A860-4488-BC38-F2508DB954B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문합술이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2F216C00-2406-46C7-813E-B090666FD7D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잘라낸 관의 양 끝을 다시 이어 붙이는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BB1460C-654D-4234-AADC-D65EEF25FCC7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장·혈관처럼 관 모양의 장기를 이을 때 써요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5AD032B-2A1C-4C31-BFDF-43432EE3018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BC91EB35-AB88-45C5-BE84-CAB953847A27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이은 부위를 통해 음식물이나 혈액 등이 다시 지나가게 해요.</a:t>
            </a:r>
          </a:p>
        </p:txBody>
      </p:sp>
      <p:sp>
        <p:nvSpPr>
          <p:cNvPr id="8" name="RAG_METADATA_PAGE_013" descr="{&quot;page&quot;: 13, &quot;text_data&quot;: &quot;문합술이 뭔가요?\n잘라낸 관의 양 끝을 다시 이어 붙이는 수술이에요\n장·혈관처럼 관 모양의 장기를 이을 때 써요\n이은 부위를 통해 음식물이나 혈액 등이 다시 지나가게 해요.\n[핵심 설명] 병든 부분을 잘라내요 / 남은 양 끝을 맞대요 / 꿰매어 이어 붙여요&quot;, &quot;header1&quot;: &quot;기본 수술·처치&quot;, &quot;header2&quot;: &quot;기본 수술 용어&quot;, &quot;header3&quot;: &quot;문합술&quot;, &quot;keywords&quot;: [&quot;장문합&quot;, &quot;혈관문합&quot;, &quot;질병수술비&quot;, &quot;상해수술비&quot;, &quot;종수술비&quot;]}">
            <a:extLst>
              <a:ext uri="{FF2B5EF4-FFF2-40B4-BE49-F238E27FC236}">
                <a16:creationId xmlns:a16="http://schemas.microsoft.com/office/drawing/2014/main" id="{A24B99FE-0A40-417B-AA35-BBA97ED98E9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013  헤더1: 기본 수술·처치  헤더2: 기본 수술 용어  헤더3: 문합술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장문합, 혈관문합, 질병수술비, 상해수술비,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문합술이 뭔가요? 잘라낸 관의 양 끝을 다시 이어 붙이는 수술이에요 장·혈관처럼 관 모양의 장기를 이을 때 써요 이은 부위를 통해 음식물이나 혈액 등이 다시 지나가게 해요. [핵심 설명] 병든 부분을 잘라내요 / 남은 양 끝을 맞대요 / 꿰매어 이어 붙여요</a:t>
            </a:r>
          </a:p>
        </p:txBody>
      </p:sp>
    </p:spTree>
    <p:extLst>
      <p:ext uri="{BB962C8B-B14F-4D97-AF65-F5344CB8AC3E}">
        <p14:creationId xmlns:p14="http://schemas.microsoft.com/office/powerpoint/2010/main" val="554041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5464041-13EC-48A2-A8CD-0962EE342D7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09D465B6-BC2A-4C99-9E46-26BEB9B3420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이식술이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D7EA39F-3942-4279-8B2A-C6F9C7D83F7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신장이식 예시: 기증받은 신장을 골반 쪽에 옮겨 심어요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F7089393-6DD4-446A-9C57-CA649A0544ED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이식한 장기·조직의 종류에 따라 이식 방법과 이후 관리가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4D2DC8C-DDEA-45AB-B84A-1844D96064D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14" descr="{&quot;page&quot;: 14, &quot;text_data&quot;: &quot;이식술이 뭔가요?\n신장이식 예시: 기증받은 신장을 골반 쪽에 옮겨 심어요\n이식한 장기·조직의 종류에 따라 이식 방법과 이후 관리가 달라요\n[핵심 설명] 기증 장기를 준비해요 / 혈관을 이어 붙여요 / 거부반응 약을 먹어요&quot;, &quot;header1&quot;: &quot;기본 수술·처치&quot;, &quot;header2&quot;: &quot;이식·치환&quot;, &quot;header3&quot;: &quot;이식술&quot;, &quot;keywords&quot;: [&quot;장기이식&quot;, &quot;5대장기이식수술비&quot;, &quot;종수술비&quot;]}">
            <a:extLst>
              <a:ext uri="{FF2B5EF4-FFF2-40B4-BE49-F238E27FC236}">
                <a16:creationId xmlns:a16="http://schemas.microsoft.com/office/drawing/2014/main" id="{3F94B844-39AF-4AB3-9C84-AC1BEF4B1AA8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014  헤더1: 기본 수술·처치  헤더2: 이식·치환  헤더3: 이식술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장기이식, 5대장기이식수술비,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이식술이 뭔가요? 신장이식 예시: 기증받은 신장을 골반 쪽에 옮겨 심어요 이식한 장기·조직의 종류에 따라 이식 방법과 이후 관리가 달라요 [핵심 설명] 기증 장기를 준비해요 / 혈관을 이어 붙여요 / 거부반응 약을 먹어요</a:t>
            </a:r>
          </a:p>
        </p:txBody>
      </p:sp>
    </p:spTree>
    <p:extLst>
      <p:ext uri="{BB962C8B-B14F-4D97-AF65-F5344CB8AC3E}">
        <p14:creationId xmlns:p14="http://schemas.microsoft.com/office/powerpoint/2010/main" val="1594838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6261390-25C6-4DF0-A590-78480BACD8A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423C1EE-979E-4667-9E11-C6535A4BC1F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치환술이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666BDAF-1645-474B-97D4-4FFED75F3FF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망가진 부분을 인공 부품으로 바꾸는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861EB98-A3AC-4B24-A084-4B1B5E89D7B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인공관절, 인공판막이 대표적이에요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510BC3A-A0EF-4E95-B8C8-4071073E4C1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15" descr="{&quot;page&quot;: 15, &quot;text_data&quot;: &quot;치환술이 뭔가요?\n망가진 부분을 인공 부품으로 바꾸는 수술이에요\n인공관절, 인공판막이 대표적이에요\n[핵심 설명] 닳은 부분을 깎아내요 / 인공 부품을 끼워요 / 재활 운동을 해요&quot;, &quot;header1&quot;: &quot;기본 수술·처치&quot;, &quot;header2&quot;: &quot;이식·치환&quot;, &quot;header3&quot;: &quot;치환술&quot;, &quot;keywords&quot;: [&quot;인공관절&quot;, &quot;인공판막&quot;, &quot;인공관절수술비&quot;, &quot;종수술비&quot;]}">
            <a:extLst>
              <a:ext uri="{FF2B5EF4-FFF2-40B4-BE49-F238E27FC236}">
                <a16:creationId xmlns:a16="http://schemas.microsoft.com/office/drawing/2014/main" id="{50623ADE-65DA-417E-A71B-345D83FDF59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015  헤더1: 기본 수술·처치  헤더2: 이식·치환  헤더3: 치환술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인공관절, 인공판막, 인공관절수술비,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치환술이 뭔가요? 망가진 부분을 인공 부품으로 바꾸는 수술이에요 인공관절, 인공판막이 대표적이에요 [핵심 설명] 닳은 부분을 깎아내요 / 인공 부품을 끼워요 / 재활 운동을 해요</a:t>
            </a:r>
          </a:p>
        </p:txBody>
      </p:sp>
    </p:spTree>
    <p:extLst>
      <p:ext uri="{BB962C8B-B14F-4D97-AF65-F5344CB8AC3E}">
        <p14:creationId xmlns:p14="http://schemas.microsoft.com/office/powerpoint/2010/main" val="821672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ABE096B-5C44-47CB-B467-11FCA49D06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41B6D288-317C-4D88-8D6A-60E36817E24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정복술과 고정술이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FC9B345-69AE-45DE-939A-C13F1CD7A798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어긋난 뼈를 맞추고(정복) 움직이지 않게 잡아 둬요(고정)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5594FC6-41EA-4338-A5DA-C6D7B1A72EF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뼈가 붙은 뒤에 금속을 빼기도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723E404-964C-4320-A786-E863B9140CD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16" descr="{&quot;page&quot;: 16, &quot;text_data&quot;: &quot;정복술과 고정술이 뭔가요?\n어긋난 뼈를 맞추고(정복) 움직이지 않게 잡아 둬요(고정)\n뼈가 붙은 뒤에 금속을 빼기도 해요\n[핵심 설명] 어긋난 뼈를 맞춰요 / 판·나사·핀으로 고정 / 뼈가 붙길 기다려요&quot;, &quot;header1&quot;: &quot;기본 수술·처치&quot;, &quot;header2&quot;: &quot;정복·고정&quot;, &quot;header3&quot;: &quot;정복술·고정술&quot;, &quot;keywords&quot;: [&quot;골절&quot;, &quot;골절수술비&quot;, &quot;골절진단비&quot;, &quot;상해수술비&quot;, &quot;종수술비&quot;]}">
            <a:extLst>
              <a:ext uri="{FF2B5EF4-FFF2-40B4-BE49-F238E27FC236}">
                <a16:creationId xmlns:a16="http://schemas.microsoft.com/office/drawing/2014/main" id="{F95F0F90-5965-4FBE-A02A-178F4F11AC6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016  헤더1: 기본 수술·처치  헤더2: 정복·고정  헤더3: 정복술·고정술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골절, 골절수술비, 골절진단비, 상해수술비,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정복술과 고정술이 뭔가요? 어긋난 뼈를 맞추고(정복) 움직이지 않게 잡아 둬요(고정) 뼈가 붙은 뒤에 금속을 빼기도 해요 [핵심 설명] 어긋난 뼈를 맞춰요 / 판·나사·핀으로 고정 / 뼈가 붙길 기다려요</a:t>
            </a:r>
          </a:p>
        </p:txBody>
      </p:sp>
    </p:spTree>
    <p:extLst>
      <p:ext uri="{BB962C8B-B14F-4D97-AF65-F5344CB8AC3E}">
        <p14:creationId xmlns:p14="http://schemas.microsoft.com/office/powerpoint/2010/main" val="618050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C8495D7-917B-400D-B2CB-06F348365F9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859F7BC-F045-4B69-B850-FD783DEFD14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색전술이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D358D26-BB6D-48EC-921F-10AD1B22954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혈관 속을 일부러 막아 피 공급을 끊는 시술이에요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D22D3BF-8794-4A9E-9EF9-19ECC8C5DCA5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피 공급이 끊기면 혹이 줄어들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230A778-F85A-47B7-8464-905042A0C56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433FF214-A7D5-41AD-BEA6-A04081EBB9A4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출혈을 줄이거나 종양으로 가는 혈액을 차단할 때 사용해요.</a:t>
            </a:r>
          </a:p>
        </p:txBody>
      </p:sp>
      <p:sp>
        <p:nvSpPr>
          <p:cNvPr id="8" name="RAG_METADATA_PAGE_017" descr="{&quot;page&quot;: 17, &quot;text_data&quot;: &quot;색전술이 뭔가요?\n혈관 속을 일부러 막아 피 공급을 끊는 시술이에요\n피 공급이 끊기면 혹이 줄어들 수 있어요\n출혈을 줄이거나 종양으로 가는 혈액을 차단할 때 사용해요.\n[핵심 설명] 혈관에 가는 관을 넣어요 / 목표 혈관까지 보내요 / 막는 물질을 넣어요&quot;, &quot;header1&quot;: &quot;기본 수술·처치&quot;, &quot;header2&quot;: &quot;혈관·결석 처치&quot;, &quot;header3&quot;: &quot;색전술&quot;, &quot;keywords&quot;: [&quot;색전술&quot;, &quot;암통합치료비&quot;, &quot;순환계치료비&quot;, &quot;출혈&quot;]}">
            <a:extLst>
              <a:ext uri="{FF2B5EF4-FFF2-40B4-BE49-F238E27FC236}">
                <a16:creationId xmlns:a16="http://schemas.microsoft.com/office/drawing/2014/main" id="{1F60C925-5C5E-46CD-BE09-E0BB23EE83F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017  헤더1: 기본 수술·처치  헤더2: 혈관·결석 처치  헤더3: 색전술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색전술, 암통합치료비, 순환계치료비, 출혈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색전술이 뭔가요? 혈관 속을 일부러 막아 피 공급을 끊는 시술이에요 피 공급이 끊기면 혹이 줄어들 수 있어요 출혈을 줄이거나 종양으로 가는 혈액을 차단할 때 사용해요. [핵심 설명] 혈관에 가는 관을 넣어요 / 목표 혈관까지 보내요 / 막는 물질을 넣어요</a:t>
            </a:r>
          </a:p>
        </p:txBody>
      </p:sp>
    </p:spTree>
    <p:extLst>
      <p:ext uri="{BB962C8B-B14F-4D97-AF65-F5344CB8AC3E}">
        <p14:creationId xmlns:p14="http://schemas.microsoft.com/office/powerpoint/2010/main" val="485767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0AB3AD0-62CA-4A0A-ABB3-67A02DDE907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FCDCF63-1BCE-4DB4-A266-0873B856CFF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쇄석술(체외충격파)이란?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AFDBBFA-59FA-44E3-8EEC-CD0F09F437C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몸속의 돌(결석)을 잘게 부수는 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A526BE23-317B-4B90-8E40-E112CFCDF90C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돌 크기와 위치에 따라 내시경으로 꺼내기도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C5D6D3C-8141-4701-9862-A49071389E5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18" descr="{&quot;page&quot;: 18, &quot;text_data&quot;: &quot;쇄석술(체외충격파)이란?\n몸속의 돌(결석)을 잘게 부수는 치료예요\n돌 크기와 위치에 따라 내시경으로 꺼내기도 해요\n[핵심 설명] 결석 위치를 맞춰요 / 충격파를 여러 번 쏴요 / 조각이 소변으로 나와요&quot;, &quot;header1&quot;: &quot;기본 수술·처치&quot;, &quot;header2&quot;: &quot;혈관·결석 처치&quot;, &quot;header3&quot;: &quot;체외충격파 쇄석술&quot;, &quot;keywords&quot;: [&quot;요로결석&quot;, &quot;쇄석술&quot;, &quot;질병수술비&quot;, &quot;종수술비&quot;]}">
            <a:extLst>
              <a:ext uri="{FF2B5EF4-FFF2-40B4-BE49-F238E27FC236}">
                <a16:creationId xmlns:a16="http://schemas.microsoft.com/office/drawing/2014/main" id="{E8498CDE-E388-4FC6-8263-6A10F8B26F6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018  헤더1: 기본 수술·처치  헤더2: 혈관·결석 처치  헤더3: 체외충격파 쇄석술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요로결석, 쇄석술,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쇄석술(체외충격파)이란? 몸속의 돌(결석)을 잘게 부수는 치료예요 돌 크기와 위치에 따라 내시경으로 꺼내기도 해요 [핵심 설명] 결석 위치를 맞춰요 / 충격파를 여러 번 쏴요 / 조각이 소변으로 나와요</a:t>
            </a:r>
          </a:p>
        </p:txBody>
      </p:sp>
    </p:spTree>
    <p:extLst>
      <p:ext uri="{BB962C8B-B14F-4D97-AF65-F5344CB8AC3E}">
        <p14:creationId xmlns:p14="http://schemas.microsoft.com/office/powerpoint/2010/main" val="35550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7B8C83F-0395-421D-BCCF-0E449D31730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71E51E0B-3FB2-4020-9E37-CED5C11E4A8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삽입술이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1DFA6C7-9796-4CC9-99CC-63FCDB11494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기구나 장치를 몸 안에 넣어 두는 시술이에요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2AF4A1E-3DFE-4EDE-B4BF-FFBD34E91D8D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스텐트, 심박동기, 배액관이 대표적이에요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80F3E11-A1B6-438E-879A-11C05879F86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19" descr="{&quot;page&quot;: 19, &quot;text_data&quot;: &quot;삽입술이 뭔가요?\n기구나 장치를 몸 안에 넣어 두는 시술이에요\n스텐트, 심박동기, 배액관이 대표적이에요\n[핵심 설명] 넣을 자리까지 접근해요 / 장치를 펼치거나 심어요 / 자리를 확인해요&quot;, &quot;header1&quot;: &quot;기본 수술·처치&quot;, &quot;header2&quot;: &quot;기구·장치 삽입&quot;, &quot;header3&quot;: &quot;삽입술&quot;, &quot;keywords&quot;: [&quot;스텐트&quot;, &quot;심박동기&quot;, &quot;질병수술비&quot;, &quot;종수술비&quot;]}">
            <a:extLst>
              <a:ext uri="{FF2B5EF4-FFF2-40B4-BE49-F238E27FC236}">
                <a16:creationId xmlns:a16="http://schemas.microsoft.com/office/drawing/2014/main" id="{04AD3FF0-BB37-494D-A56F-D8CE5829AE42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019  헤더1: 기본 수술·처치  헤더2: 기구·장치 삽입  헤더3: 삽입술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스텐트, 심박동기,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삽입술이 뭔가요? 기구나 장치를 몸 안에 넣어 두는 시술이에요 스텐트, 심박동기, 배액관이 대표적이에요 [핵심 설명] 넣을 자리까지 접근해요 / 장치를 펼치거나 심어요 / 자리를 확인해요</a:t>
            </a:r>
          </a:p>
        </p:txBody>
      </p:sp>
    </p:spTree>
    <p:extLst>
      <p:ext uri="{BB962C8B-B14F-4D97-AF65-F5344CB8AC3E}">
        <p14:creationId xmlns:p14="http://schemas.microsoft.com/office/powerpoint/2010/main" val="1841686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DA26676-8F3B-4CC3-9388-94B30664418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93539646-46CC-4BBA-AA9D-11E97C9BF16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요추천자가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B62207C-0A4B-47EB-A456-84B1D7DC7DB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허리 아래쪽 뼈 사이로 뇌척수액을 조금 채취하는 검사예요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C433E69-111B-4F0C-8B4D-2891735C5619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검사 뒤 관찰·휴식 방법은 의료진의 안내를 따라요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EB4BA40-4EF1-4709-998F-683D5C66D35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19393943-3FF6-4EC8-A9DB-497CBA62DE31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뇌척수액은 뇌와 척수 주변을 감싸는 액체예요.</a:t>
            </a:r>
          </a:p>
        </p:txBody>
      </p:sp>
      <p:sp>
        <p:nvSpPr>
          <p:cNvPr id="8" name="RAG_METADATA_PAGE_020" descr="{&quot;page&quot;: 20, &quot;text_data&quot;: &quot;요추천자가 뭔가요?\n허리 아래쪽 뼈 사이로 뇌척수액을 조금 채취하는 검사예요\n검사 뒤 관찰·휴식 방법은 의료진의 안내를 따라요\n뇌척수액은 뇌와 척수 주변을 감싸는 액체예요.\n[핵심 설명] 허리뼈 사이 / 뇌척수액 / 조금 채취&quot;, &quot;header1&quot;: &quot;기본 수술·처치&quot;, &quot;header2&quot;: &quot;검체 채취·진단&quot;, &quot;header3&quot;: &quot;요추천자&quot;, &quot;keywords&quot;: [&quot;흡인&quot;, &quot;천자&quot;, &quot;배액&quot;, &quot;뇌척수액검사&quot;, &quot;특정급여시술치료비&quot;]}">
            <a:extLst>
              <a:ext uri="{FF2B5EF4-FFF2-40B4-BE49-F238E27FC236}">
                <a16:creationId xmlns:a16="http://schemas.microsoft.com/office/drawing/2014/main" id="{8E5F5A0D-40CD-4A84-B219-36F2AD4F777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020  헤더1: 기본 수술·처치  헤더2: 검체 채취·진단  헤더3: 요추천자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배액, 뇌척수액검사,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요추천자가 뭔가요? 허리 아래쪽 뼈 사이로 뇌척수액을 조금 채취하는 검사예요 검사 뒤 관찰·휴식 방법은 의료진의 안내를 따라요 뇌척수액은 뇌와 척수 주변을 감싸는 액체예요. [핵심 설명] 허리뼈 사이 / 뇌척수액 / 조금 채취</a:t>
            </a:r>
          </a:p>
        </p:txBody>
      </p:sp>
    </p:spTree>
    <p:extLst>
      <p:ext uri="{BB962C8B-B14F-4D97-AF65-F5344CB8AC3E}">
        <p14:creationId xmlns:p14="http://schemas.microsoft.com/office/powerpoint/2010/main" val="1007085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7A8C4D9-7C77-46AB-AEDB-BB45B1E6E8C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03FC3904-5C5B-419A-ACA8-1756DB76F01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골수검사(골수천자)가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18F586E9-BFEF-42DE-B626-7E5FE74FB99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골반뼈 안의 골수 액체나 작은 조직을 채취해 살펴봐요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577D9517-D404-46A5-80AE-56C0D4196042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흡인과 조직검사는 함께 하기도 하며 혈액 질환 진단에 쓰여요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2F773E3-CE9A-4358-8DC7-409C6A9B5EE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A2BB4AAE-BB5D-4374-A22B-9E75798870C3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골수는 뼈 안에서 혈액세포를 만드는 조직이에요.</a:t>
            </a:r>
          </a:p>
        </p:txBody>
      </p:sp>
      <p:sp>
        <p:nvSpPr>
          <p:cNvPr id="8" name="RAG_METADATA_PAGE_021" descr="{&quot;page&quot;: 21, &quot;text_data&quot;: &quot;골수검사(골수천자)가 뭔가요?\n골반뼈 안의 골수 액체나 작은 조직을 채취해 살펴봐요\n흡인과 조직검사는 함께 하기도 하며 혈액 질환 진단에 쓰여요\n골수는 뼈 안에서 혈액세포를 만드는 조직이에요.\n[핵심 설명] 골반뼈 / 골수 채취 / 현미경 검사&quot;, &quot;header1&quot;: &quot;기본 수술·처치&quot;, &quot;header2&quot;: &quot;검체 채취·진단&quot;, &quot;header3&quot;: &quot;골수검사·골수천자&quot;, &quot;keywords&quot;: [&quot;흡인&quot;, &quot;천자&quot;, &quot;골수검사&quot;, &quot;백혈병&quot;, &quot;암진단비&quot;, &quot;특정급여시술치료비&quot;]}">
            <a:extLst>
              <a:ext uri="{FF2B5EF4-FFF2-40B4-BE49-F238E27FC236}">
                <a16:creationId xmlns:a16="http://schemas.microsoft.com/office/drawing/2014/main" id="{988FED91-383B-47D5-9430-33BFE502F53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021  헤더1: 기본 수술·처치  헤더2: 검체 채취·진단  헤더3: 골수검사·골수천자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골수검사, 백혈병, 암진단비,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골수검사(골수천자)가 뭔가요? 골반뼈 안의 골수 액체나 작은 조직을 채취해 살펴봐요 흡인과 조직검사는 함께 하기도 하며 혈액 질환 진단에 쓰여요 골수는 뼈 안에서 혈액세포를 만드는 조직이에요. [핵심 설명] 골반뼈 / 골수 채취 / 현미경 검사</a:t>
            </a:r>
          </a:p>
        </p:txBody>
      </p:sp>
    </p:spTree>
    <p:extLst>
      <p:ext uri="{BB962C8B-B14F-4D97-AF65-F5344CB8AC3E}">
        <p14:creationId xmlns:p14="http://schemas.microsoft.com/office/powerpoint/2010/main" val="1457673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5D58AAD-04B7-480B-8942-D24C5D21FF9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2A3AB26-CBA0-47B6-8CD6-7402F75EC22A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흉막천자와 흉관삽입이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19EC144-1777-4CF6-A8B8-E42DB677851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폐 바깥 공간에 고인 액체나 공기를 빼내는 처치예요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2ABD79BA-67CA-40D7-AEEA-9F293E345435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천자는 일회 채취·배액에, 흉관은 지속 배액 등에 사용해요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5910AC5-3F32-4FD2-A595-24B44659E21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22" descr="{&quot;page&quot;: 22, &quot;text_data&quot;: &quot;흉막천자와 흉관삽입이 뭔가요?\n폐 바깥 공간에 고인 액체나 공기를 빼내는 처치예요\n천자는 일회 채취·배액에, 흉관은 지속 배액 등에 사용해요\n[핵심 설명] 폐 바깥 공간 / 가는 관 / 액체·공기 배출&quot;, &quot;header1&quot;: &quot;기본 수술·처치&quot;, &quot;header2&quot;: &quot;흡인·천자·배액&quot;, &quot;header3&quot;: &quot;흉막천자·흉관삽입&quot;, &quot;keywords&quot;: [&quot;흡인&quot;, &quot;천자&quot;, &quot;배액&quot;, &quot;흉수&quot;, &quot;흉관삽입&quot;, &quot;특정급여시술치료비&quot;]}">
            <a:extLst>
              <a:ext uri="{FF2B5EF4-FFF2-40B4-BE49-F238E27FC236}">
                <a16:creationId xmlns:a16="http://schemas.microsoft.com/office/drawing/2014/main" id="{76BC7EDC-B68E-459D-9AD5-D5B8D417525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022  헤더1: 기본 수술·처치  헤더2: 흡인·천자·배액  헤더3: 흉막천자·흉관삽입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배액, 흉수, 흉관삽입,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흉막천자와 흉관삽입이 뭔가요? 폐 바깥 공간에 고인 액체나 공기를 빼내는 처치예요 천자는 일회 채취·배액에, 흉관은 지속 배액 등에 사용해요 [핵심 설명] 폐 바깥 공간 / 가는 관 / 액체·공기 배출</a:t>
            </a:r>
          </a:p>
        </p:txBody>
      </p:sp>
    </p:spTree>
    <p:extLst>
      <p:ext uri="{BB962C8B-B14F-4D97-AF65-F5344CB8AC3E}">
        <p14:creationId xmlns:p14="http://schemas.microsoft.com/office/powerpoint/2010/main" val="475406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E8C8ADB-AA94-40C4-972F-5416F607387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0B94FC77-8F4C-4876-B867-A69C8093ABE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심낭천자가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82ACC8E-05CC-4B1F-9ABB-156606A0354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심장을 둘러싼 주머니의 액체를 바늘이나 관으로 빼내요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2C07C279-1962-4D83-B440-81728A1957BF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초음파 등으로 안전한 경로를 정하며 심장을 누르면 긴급히 시행해요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A26C9505-B175-4EDD-A9E6-360DA79E8E3F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DF8BC428-CFF1-4051-A2C9-5A53F4A40D4C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‘심낭’은 심장을 둘러싸고 있는 얇은 주머니를 말해요.</a:t>
            </a:r>
          </a:p>
        </p:txBody>
      </p:sp>
      <p:sp>
        <p:nvSpPr>
          <p:cNvPr id="8" name="RAG_METADATA_PAGE_023" descr="{&quot;page&quot;: 23, &quot;text_data&quot;: &quot;심낭천자가 뭔가요?\n심장을 둘러싼 주머니의 액체를 바늘이나 관으로 빼내요\n초음파 등으로 안전한 경로를 정하며 심장을 누르면 긴급히 시행해요\n‘심낭’은 심장을 둘러싸고 있는 얇은 주머니를 말해요.\n[핵심 설명] 심장 / 고인 액체 / 주머니에서 배액&quot;, &quot;header1&quot;: &quot;기본 수술·처치&quot;, &quot;header2&quot;: &quot;흡인·천자·배액&quot;, &quot;header3&quot;: &quot;심낭천자&quot;, &quot;keywords&quot;: [&quot;흡인&quot;, &quot;천자&quot;, &quot;배액&quot;, &quot;심낭천자&quot;, &quot;순환계치료비&quot;, &quot;특정급여시술치료비&quot;]}">
            <a:extLst>
              <a:ext uri="{FF2B5EF4-FFF2-40B4-BE49-F238E27FC236}">
                <a16:creationId xmlns:a16="http://schemas.microsoft.com/office/drawing/2014/main" id="{DD389353-540E-4F2A-8323-B04BD6B2AF8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023  헤더1: 기본 수술·처치  헤더2: 흡인·천자·배액  헤더3: 심낭천자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배액, 심낭천자, 순환계치료비,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심낭천자가 뭔가요? 심장을 둘러싼 주머니의 액체를 바늘이나 관으로 빼내요 초음파 등으로 안전한 경로를 정하며 심장을 누르면 긴급히 시행해요 ‘심낭’은 심장을 둘러싸고 있는 얇은 주머니를 말해요. [핵심 설명] 심장 / 고인 액체 / 주머니에서 배액</a:t>
            </a:r>
          </a:p>
        </p:txBody>
      </p:sp>
    </p:spTree>
    <p:extLst>
      <p:ext uri="{BB962C8B-B14F-4D97-AF65-F5344CB8AC3E}">
        <p14:creationId xmlns:p14="http://schemas.microsoft.com/office/powerpoint/2010/main" val="153691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497C833-2ECE-4DE5-92B2-EC5F790BFFE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FA4228B-B077-4C1C-AF11-7C09614B90E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경피적 경화술이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35C3CF4-2603-41A5-9C25-7A36E652CF0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물혹의 액체를 빼고 약으로 안쪽 벽을 변화시키는 시술이에요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2877AF6B-4986-4C20-B6D3-D60121CFBEAE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물혹의 종류와 위치에 따라 선택하며 다시 생길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B7C7DE8-CD91-43EA-8EEF-359FF9E3FF9F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71C151D1-C770-47F0-B75A-775B9019B977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‘경피적’은 피부를 통해 바늘이나 관으로 접근한다는 뜻이에요.</a:t>
            </a:r>
          </a:p>
        </p:txBody>
      </p:sp>
      <p:sp>
        <p:nvSpPr>
          <p:cNvPr id="8" name="RAG_METADATA_PAGE_024" descr="{&quot;page&quot;: 24, &quot;text_data&quot;: &quot;경피적 경화술이 뭔가요?\n물혹의 액체를 빼고 약으로 안쪽 벽을 변화시키는 시술이에요\n물혹의 종류와 위치에 따라 선택하며 다시 생길 수 있어요\n‘경피적’은 피부를 통해 바늘이나 관으로 접근한다는 뜻이에요.\n[핵심 설명] 물혹 / 액체를 빼요 / 약으로 경화&quot;, &quot;header1&quot;: &quot;기본 수술·처치&quot;, &quot;header2&quot;: &quot;낭종 처치&quot;, &quot;header3&quot;: &quot;경피적 경화술&quot;, &quot;keywords&quot;: [&quot;흡인&quot;, &quot;천자&quot;, &quot;배액&quot;, &quot;경화술&quot;, &quot;물혹&quot;, &quot;특정급여시술치료비&quot;]}">
            <a:extLst>
              <a:ext uri="{FF2B5EF4-FFF2-40B4-BE49-F238E27FC236}">
                <a16:creationId xmlns:a16="http://schemas.microsoft.com/office/drawing/2014/main" id="{6E256D9B-1AED-40FC-87D3-2CB2F419C7F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024  헤더1: 기본 수술·처치  헤더2: 낭종 처치  헤더3: 경피적 경화술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배액, 경화술, 물혹,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경피적 경화술이 뭔가요? 물혹의 액체를 빼고 약으로 안쪽 벽을 변화시키는 시술이에요 물혹의 종류와 위치에 따라 선택하며 다시 생길 수 있어요 ‘경피적’은 피부를 통해 바늘이나 관으로 접근한다는 뜻이에요. [핵심 설명] 물혹 / 액체를 빼요 / 약으로 경화</a:t>
            </a:r>
          </a:p>
        </p:txBody>
      </p:sp>
    </p:spTree>
    <p:extLst>
      <p:ext uri="{BB962C8B-B14F-4D97-AF65-F5344CB8AC3E}">
        <p14:creationId xmlns:p14="http://schemas.microsoft.com/office/powerpoint/2010/main" val="970337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C2D4B91-C6B2-48A3-A65F-81C15C19C2D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B9350B1-ECD7-4822-A0EB-0BC4943C5F3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도수정복술이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A6FE060-1F3E-4E6C-A025-A4A5BD9420F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피부를 열지 않고 어긋난 뼈나 빠진 관절의 위치를 맞춰요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2F18A5C-29A0-48BE-A9ED-C4F2C33C36DB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통증을 다루는 도수치료와는 다른 처치예요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78D2347-7354-4EAD-B948-AF1C990BC80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25" descr="{&quot;page&quot;: 25, &quot;text_data&quot;: &quot;도수정복술이 뭔가요?\n피부를 열지 않고 어긋난 뼈나 빠진 관절의 위치를 맞춰요\n통증을 다루는 도수치료와는 다른 처치예요\n[핵심 설명] 어긋난 뼈 / 위치를 맞춰요 / 고정해요&quot;, &quot;header1&quot;: &quot;기본 수술·처치&quot;, &quot;header2&quot;: &quot;정복·고정&quot;, &quot;header3&quot;: &quot;도수정복술&quot;, &quot;keywords&quot;: [&quot;골절&quot;, &quot;도수정복&quot;, &quot;탈구&quot;, &quot;특정급여시술치료비&quot;, &quot;상해통합치료비&quot;]}">
            <a:extLst>
              <a:ext uri="{FF2B5EF4-FFF2-40B4-BE49-F238E27FC236}">
                <a16:creationId xmlns:a16="http://schemas.microsoft.com/office/drawing/2014/main" id="{735E9947-819B-4BC6-A329-B4FE3F66EB8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025  헤더1: 기본 수술·처치  헤더2: 정복·고정  헤더3: 도수정복술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골절, 도수정복, 탈구, 특정급여시술치료비, 상해통합치료비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도수정복술이 뭔가요? 피부를 열지 않고 어긋난 뼈나 빠진 관절의 위치를 맞춰요 통증을 다루는 도수치료와는 다른 처치예요 [핵심 설명] 어긋난 뼈 / 위치를 맞춰요 / 고정해요</a:t>
            </a:r>
          </a:p>
        </p:txBody>
      </p:sp>
    </p:spTree>
    <p:extLst>
      <p:ext uri="{BB962C8B-B14F-4D97-AF65-F5344CB8AC3E}">
        <p14:creationId xmlns:p14="http://schemas.microsoft.com/office/powerpoint/2010/main" val="463375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1DEED62-3036-41CC-A43D-517A5F57645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D8D84A7-0CBD-446C-9BDF-3ED015C3199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깁스와 부목이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CBE3DCA9-8EF9-4FFC-9241-CD8550F15C1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다친 부위가 움직이지 않도록 받치거나 감싸서 고정해요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4C86023-CD7C-48C8-A5CB-0C9E35702605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붓기와 손상 상태에 맞춰 고정 방법·기간을 정해요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21D9618A-8A56-4D40-A2AF-A6BA8FCA4D9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26" descr="{&quot;page&quot;: 26, &quot;text_data&quot;: &quot;깁스와 부목이 뭔가요?\n다친 부위가 움직이지 않도록 받치거나 감싸서 고정해요\n붓기와 손상 상태에 맞춰 고정 방법·기간을 정해요\n[핵심 설명] 한쪽을 받치는 부목 / 둘레를 감싸는 깁스 / 움직임 제한&quot;, &quot;header1&quot;: &quot;기본 수술·처치&quot;, &quot;header2&quot;: &quot;정복·고정&quot;, &quot;header3&quot;: &quot;깁스·부목&quot;, &quot;keywords&quot;: [&quot;깁스&quot;, &quot;부목&quot;, &quot;깁스치료비&quot;, &quot;골절진단비&quot;, &quot;상해통합치료비&quot;]}">
            <a:extLst>
              <a:ext uri="{FF2B5EF4-FFF2-40B4-BE49-F238E27FC236}">
                <a16:creationId xmlns:a16="http://schemas.microsoft.com/office/drawing/2014/main" id="{E7940F7C-E7B0-4CEF-850A-8965E10CBCD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026  헤더1: 기본 수술·처치  헤더2: 정복·고정  헤더3: 깁스·부목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깁스, 부목, 깁스치료비, 골절진단비, 상해통합치료비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깁스와 부목이 뭔가요? 다친 부위가 움직이지 않도록 받치거나 감싸서 고정해요 붓기와 손상 상태에 맞춰 고정 방법·기간을 정해요 [핵심 설명] 한쪽을 받치는 부목 / 둘레를 감싸는 깁스 / 움직임 제한</a:t>
            </a:r>
          </a:p>
        </p:txBody>
      </p:sp>
    </p:spTree>
    <p:extLst>
      <p:ext uri="{BB962C8B-B14F-4D97-AF65-F5344CB8AC3E}">
        <p14:creationId xmlns:p14="http://schemas.microsoft.com/office/powerpoint/2010/main" val="1872876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0538B96-39F7-4B8A-9DF4-9EC3D70C4A8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1E32F76-CA9F-4375-A6A8-28587BD0285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이물제거술이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E892985-894B-476D-A8F8-282C9528059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몸에 들어가거나 박힌 물건을 기구로 꺼내는 처치예요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708F87E2-9282-45FE-8695-60CDD4E1916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위치와 물건의 종류에 따라 영상·내시경·수술 방법을 선택해요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D2D563F-64C5-4FE2-8326-7D0ED04DF80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27" descr="{&quot;page&quot;: 27, &quot;text_data&quot;: &quot;이물제거술이 뭔가요?\n몸에 들어가거나 박힌 물건을 기구로 꺼내는 처치예요\n위치와 물건의 종류에 따라 영상·내시경·수술 방법을 선택해요\n[핵심 설명] 식도 속 이물 / 내시경 집게 / 꺼내요&quot;, &quot;header1&quot;: &quot;기본 수술·처치&quot;, &quot;header2&quot;: &quot;이물 제거&quot;, &quot;header3&quot;: &quot;이물제거술&quot;, &quot;keywords&quot;: [&quot;이물제거&quot;, &quot;내시경&quot;, &quot;상해수술비&quot;, &quot;질병수술비&quot;, &quot;종수술비&quot;]}">
            <a:extLst>
              <a:ext uri="{FF2B5EF4-FFF2-40B4-BE49-F238E27FC236}">
                <a16:creationId xmlns:a16="http://schemas.microsoft.com/office/drawing/2014/main" id="{662D9062-8998-41B7-A078-2C9D3AE82BE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027  헤더1: 기본 수술·처치  헤더2: 이물 제거  헤더3: 이물제거술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이물제거, 내시경, 상해수술비,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이물제거술이 뭔가요? 몸에 들어가거나 박힌 물건을 기구로 꺼내는 처치예요 위치와 물건의 종류에 따라 영상·내시경·수술 방법을 선택해요 [핵심 설명] 식도 속 이물 / 내시경 집게 / 꺼내요</a:t>
            </a:r>
          </a:p>
        </p:txBody>
      </p:sp>
    </p:spTree>
    <p:extLst>
      <p:ext uri="{BB962C8B-B14F-4D97-AF65-F5344CB8AC3E}">
        <p14:creationId xmlns:p14="http://schemas.microsoft.com/office/powerpoint/2010/main" val="1207907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369B3C4-9933-4781-A911-2631457C239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AF7EED0-898F-4E2B-9F2E-6EED9FCB23B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화상 처치가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3DFF208-1E3B-477F-8D73-6E33646EF2E8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화상 깊이와 범위에 맞춰 상처를 보호하고 회복을 도와요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FC1FB99-4F71-47A3-878B-BDF455E6D1C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깊거나 넓은 화상은 전문 치료와 피부이식이 필요할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4AD09EB-E7B6-4CA3-A4E4-A653337ECE8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28" descr="{&quot;page&quot;: 28, &quot;text_data&quot;: &quot;화상 처치가 뭔가요?\n화상 깊이와 범위에 맞춰 상처를 보호하고 회복을 도와요\n깊거나 넓은 화상은 전문 치료와 피부이식이 필요할 수 있어요\n[핵심 설명] 흐르는 물로 식혀요 / 상처를 보호해요 / 깊이와 범위를 확인해요&quot;, &quot;header1&quot;: &quot;기본 수술·처치&quot;, &quot;header2&quot;: &quot;상처 처치·복원&quot;, &quot;header3&quot;: &quot;화상 처치&quot;, &quot;keywords&quot;: [&quot;화상&quot;, &quot;화상치료비&quot;, &quot;화상진단비&quot;, &quot;화상수술비&quot;, &quot;상해통합치료비&quot;]}">
            <a:extLst>
              <a:ext uri="{FF2B5EF4-FFF2-40B4-BE49-F238E27FC236}">
                <a16:creationId xmlns:a16="http://schemas.microsoft.com/office/drawing/2014/main" id="{EE39F8F6-B3E8-476A-BB6C-73DBB750831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028  헤더1: 기본 수술·처치  헤더2: 상처 처치·복원  헤더3: 화상 처치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화상, 화상치료비, 화상진단비, 화상수술비, 상해통합치료비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화상 처치가 뭔가요? 화상 깊이와 범위에 맞춰 상처를 보호하고 회복을 도와요 깊거나 넓은 화상은 전문 치료와 피부이식이 필요할 수 있어요 [핵심 설명] 흐르는 물로 식혀요 / 상처를 보호해요 / 깊이와 범위를 확인해요</a:t>
            </a:r>
          </a:p>
        </p:txBody>
      </p:sp>
    </p:spTree>
    <p:extLst>
      <p:ext uri="{BB962C8B-B14F-4D97-AF65-F5344CB8AC3E}">
        <p14:creationId xmlns:p14="http://schemas.microsoft.com/office/powerpoint/2010/main" val="1505636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A89BC10-6EF4-4634-BD0B-01F2821CE76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B5F3915-0B30-431E-86ED-FF5465C6ED5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피부이식과 피판술이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018728A9-A849-4D88-9AD7-02124E5EA328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피부나 피부·연부조직을 옮겨 결손 부위를 덮는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8523B3B3-1DCD-409C-ACE6-6B0255BB68A1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피판은 혈액 공급을 유지하거나 혈관을 연결하며 옮겨요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90ACBFE-4836-4FE3-A31E-A332FCA4F942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9C0B57FE-F579-49F8-8753-2143523CB280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국소피판은 옆 피부를 옮기면서 혈액이 통하는 연결을 남겨요.</a:t>
            </a:r>
          </a:p>
        </p:txBody>
      </p:sp>
      <p:sp>
        <p:nvSpPr>
          <p:cNvPr id="8" name="RAG_METADATA_PAGE_029" descr="{&quot;page&quot;: 29, &quot;text_data&quot;: &quot;피부이식과 피판술이 뭔가요?\n피부나 피부·연부조직을 옮겨 결손 부위를 덮는 수술이에요\n피판은 혈액 공급을 유지하거나 혈관을 연결하며 옮겨요\n국소피판은 옆 피부를 옮기면서 혈액이 통하는 연결을 남겨요.\n[핵심 설명] 피부이식 / 혈관을 가진 피판 / 결손을 덮어요&quot;, &quot;header1&quot;: &quot;기본 수술·처치&quot;, &quot;header2&quot;: &quot;상처 처치·복원&quot;, &quot;header3&quot;: &quot;피부이식·피판술&quot;, &quot;keywords&quot;: [&quot;피부이식&quot;, &quot;흉터수술&quot;, &quot;화상수술비&quot;, &quot;상해수술비&quot;, &quot;종수술비&quot;]}">
            <a:extLst>
              <a:ext uri="{FF2B5EF4-FFF2-40B4-BE49-F238E27FC236}">
                <a16:creationId xmlns:a16="http://schemas.microsoft.com/office/drawing/2014/main" id="{306CF2F4-AC0D-4507-BC51-8774E042B986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029  헤더1: 기본 수술·처치  헤더2: 상처 처치·복원  헤더3: 피부이식·피판술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피부이식, 흉터수술, 화상수술비, 상해수술비,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피부이식과 피판술이 뭔가요? 피부나 피부·연부조직을 옮겨 결손 부위를 덮는 수술이에요 피판은 혈액 공급을 유지하거나 혈관을 연결하며 옮겨요 국소피판은 옆 피부를 옮기면서 혈액이 통하는 연결을 남겨요. [핵심 설명] 피부이식 / 혈관을 가진 피판 / 결손을 덮어요</a:t>
            </a:r>
          </a:p>
        </p:txBody>
      </p:sp>
    </p:spTree>
    <p:extLst>
      <p:ext uri="{BB962C8B-B14F-4D97-AF65-F5344CB8AC3E}">
        <p14:creationId xmlns:p14="http://schemas.microsoft.com/office/powerpoint/2010/main" val="1270461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624C3E6-5A38-4C4F-A2CC-5CED954F20F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C071954-09A7-4B98-8BBA-0E8CC1E3633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자가 배양 피부 이식이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90EE9B2-C6BF-4DC8-A555-108A1DB489E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자기 피부세포를 배양해 넓은 피부 결손에 이식해요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E0CA78C7-13C8-46EE-B61A-8758D5038B02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큰 화상 등의 일부 환자에게 전문적으로 적용하는 방법이에요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737A4FF-85FE-4297-AAAE-3D900AA5708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AD894E0B-2310-4E69-8998-EB64E05E992B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‘배양’은 채취한 세포를 자라게 해 양을 늘리는 과정이에요.</a:t>
            </a:r>
          </a:p>
        </p:txBody>
      </p:sp>
      <p:sp>
        <p:nvSpPr>
          <p:cNvPr id="8" name="RAG_METADATA_PAGE_030" descr="{&quot;page&quot;: 30, &quot;text_data&quot;: &quot;자가 배양 피부 이식이 뭔가요?\n자기 피부세포를 배양해 넓은 피부 결손에 이식해요\n큰 화상 등의 일부 환자에게 전문적으로 적용하는 방법이에요\n‘배양’은 채취한 세포를 자라게 해 양을 늘리는 과정이에요.\n[핵심 설명] 피부세포 채취 / 세포 배양 / 피부 결손에 이식&quot;, &quot;header1&quot;: &quot;기본 수술·처치&quot;, &quot;header2&quot;: &quot;상처 처치·복원&quot;, &quot;header3&quot;: &quot;자가 배양 피부 이식&quot;, &quot;keywords&quot;: [&quot;피부이식&quot;, &quot;화상&quot;, &quot;배양피부&quot;, &quot;상해수술비&quot;, &quot;종수술비&quot;]}">
            <a:extLst>
              <a:ext uri="{FF2B5EF4-FFF2-40B4-BE49-F238E27FC236}">
                <a16:creationId xmlns:a16="http://schemas.microsoft.com/office/drawing/2014/main" id="{F795975F-0103-4485-A23B-6A5AB9244FD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030  헤더1: 기본 수술·처치  헤더2: 상처 처치·복원  헤더3: 자가 배양 피부 이식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피부이식, 화상, 배양피부, 상해수술비,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자가 배양 피부 이식이 뭔가요? 자기 피부세포를 배양해 넓은 피부 결손에 이식해요 큰 화상 등의 일부 환자에게 전문적으로 적용하는 방법이에요 ‘배양’은 채취한 세포를 자라게 해 양을 늘리는 과정이에요. [핵심 설명] 피부세포 채취 / 세포 배양 / 피부 결손에 이식</a:t>
            </a:r>
          </a:p>
        </p:txBody>
      </p:sp>
    </p:spTree>
    <p:extLst>
      <p:ext uri="{BB962C8B-B14F-4D97-AF65-F5344CB8AC3E}">
        <p14:creationId xmlns:p14="http://schemas.microsoft.com/office/powerpoint/2010/main" val="997488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C4658FB-5D10-473C-917B-61B7DEF588E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9B593CB-2614-4E54-AF8C-65E034EEF2B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티눈 제거·내성 발톱 처치가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2F2F3DD2-CA7A-449E-A079-338D89D6744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티눈이나 살을 파고드는 발톱을 상태에 맞게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FEB0F13B-CFB9-4471-B52D-0B59406C58F8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감염·혈액순환 문제·당뇨 등이 있으면 치료 방법을 신중히 정해요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43E051EF-DD72-4A11-B0B7-D82B82D1E6B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CC0B53DC-ABB3-49E2-B26C-4608747A87A8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티눈은 두꺼워진 피부, 내성 발톱은 파고드는 발톱이 문제예요.</a:t>
            </a:r>
          </a:p>
        </p:txBody>
      </p:sp>
      <p:sp>
        <p:nvSpPr>
          <p:cNvPr id="8" name="RAG_METADATA_PAGE_031" descr="{&quot;page&quot;: 31, &quot;text_data&quot;: &quot;티눈 제거·내성 발톱 처치가 뭔가요?\n티눈이나 살을 파고드는 발톱을 상태에 맞게 치료해요\n감염·혈액순환 문제·당뇨 등이 있으면 치료 방법을 신중히 정해요\n티눈은 두꺼워진 피부, 내성 발톱은 파고드는 발톱이 문제예요.\n[핵심 설명] 티눈 / 내성 발톱 / 상태에 맞게 처치&quot;, &quot;header1&quot;: &quot;기본 수술·처치&quot;, &quot;header2&quot;: &quot;피부·발톱 처치&quot;, &quot;header3&quot;: &quot;티눈·내성 발톱 치료&quot;, &quot;keywords&quot;: [&quot;티눈&quot;, &quot;내성발톱&quot;, &quot;질병수술비&quot;, &quot;특정급여시술치료비&quot;]}">
            <a:extLst>
              <a:ext uri="{FF2B5EF4-FFF2-40B4-BE49-F238E27FC236}">
                <a16:creationId xmlns:a16="http://schemas.microsoft.com/office/drawing/2014/main" id="{9EC4D78F-AE3A-495C-AEAF-89DF81F27D0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031  헤더1: 기본 수술·처치  헤더2: 피부·발톱 처치  헤더3: 티눈·내성 발톱 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티눈, 내성발톱, 질병수술비,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티눈 제거·내성 발톱 처치가 뭔가요? 티눈이나 살을 파고드는 발톱을 상태에 맞게 치료해요 감염·혈액순환 문제·당뇨 등이 있으면 치료 방법을 신중히 정해요 티눈은 두꺼워진 피부, 내성 발톱은 파고드는 발톱이 문제예요. [핵심 설명] 티눈 / 내성 발톱 / 상태에 맞게 처치</a:t>
            </a:r>
          </a:p>
        </p:txBody>
      </p:sp>
    </p:spTree>
    <p:extLst>
      <p:ext uri="{BB962C8B-B14F-4D97-AF65-F5344CB8AC3E}">
        <p14:creationId xmlns:p14="http://schemas.microsoft.com/office/powerpoint/2010/main" val="1921102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3CDB73E-B3AC-4588-80E3-AEBF8CF8640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4E38034-EB2D-4BFC-B61E-DA186241860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치료에 접근하는 여러 방법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EA743E8-3E0B-4747-BA6E-3A72D02A96D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피부를 열거나 원래 통로·혈관을 이용하는 방법 등이 있어요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8EBAEDF1-0111-450D-B307-78482B23CB6D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로봇은 의사가 조종하는 도구예요. 치료 방법은 상태에 따라 골라요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7183902-52BD-4E8C-9D68-8CEF08985D3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32" descr="{&quot;page&quot;: 32, &quot;text_data&quot;: &quot;치료에 접근하는 여러 방법\n피부를 열거나 원래 통로·혈관을 이용하는 방법 등이 있어요\n로봇은 의사가 조종하는 도구예요. 치료 방법은 상태에 따라 골라요\n[핵심 설명] ①열기 ②복강경 ③내시경 / ④카테터 ⑤로봇 / ⑥몸 밖에서 쏘기&quot;, &quot;header1&quot;: &quot;치료 접근 방법&quot;, &quot;header2&quot;: &quot;접근 방법 비교&quot;, &quot;header3&quot;: &quot;치료 접근 방법 비교&quot;, &quot;keywords&quot;: [&quot;수술방법&quot;, &quot;개복수술&quot;, &quot;복강경&quot;, &quot;로봇수술&quot;, &quot;종수술비&quot;]}">
            <a:extLst>
              <a:ext uri="{FF2B5EF4-FFF2-40B4-BE49-F238E27FC236}">
                <a16:creationId xmlns:a16="http://schemas.microsoft.com/office/drawing/2014/main" id="{07ECFAE5-4B6C-40F8-97FB-BD314B6F678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032  헤더1: 치료 접근 방법  헤더2: 접근 방법 비교  헤더3: 치료 접근 방법 비교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수술방법, 개복수술, 복강경, 로봇수술,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치료에 접근하는 여러 방법 피부를 열거나 원래 통로·혈관을 이용하는 방법 등이 있어요 로봇은 의사가 조종하는 도구예요. 치료 방법은 상태에 따라 골라요 [핵심 설명] ①열기 ②복강경 ③내시경 / ④카테터 ⑤로봇 / ⑥몸 밖에서 쏘기</a:t>
            </a:r>
          </a:p>
        </p:txBody>
      </p:sp>
    </p:spTree>
    <p:extLst>
      <p:ext uri="{BB962C8B-B14F-4D97-AF65-F5344CB8AC3E}">
        <p14:creationId xmlns:p14="http://schemas.microsoft.com/office/powerpoint/2010/main" val="18031186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D0E7F77-9463-44F8-9DFE-77AD56315EC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949B974A-ABD6-4EF2-9681-14A93CBF0C9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개복·개흉·개두 수술이란?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C0DACB58-F9D8-48D9-80BC-A34BBF92BE0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배·가슴·머리를 열고 직접 보면서 하는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EFDAFDEE-E066-4B7C-A63C-29C76F887F2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상처는 크지만 넓게 보고 수술할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295EDEB-9554-41B3-87DF-8C4050F3B9A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33" descr="{&quot;page&quot;: 33, &quot;text_data&quot;: &quot;개복·개흉·개두 수술이란?\n배·가슴·머리를 열고 직접 보면서 하는 수술이에요\n상처는 크지만 넓게 보고 수술할 수 있어요\n[핵심 설명] 전신마취를 해요 / 피부와 뼈·근육을 열어요 / 직접 보며 수술해요&quot;, &quot;header1&quot;: &quot;치료 접근 방법&quot;, &quot;header2&quot;: &quot;개방 수술&quot;, &quot;header3&quot;: &quot;개복·개흉·개두 수술&quot;, &quot;keywords&quot;: [&quot;개복수술&quot;, &quot;개흉수술&quot;, &quot;개두수술&quot;, &quot;질병수술비&quot;, &quot;상해수술비&quot;, &quot;종수술비&quot;]}">
            <a:extLst>
              <a:ext uri="{FF2B5EF4-FFF2-40B4-BE49-F238E27FC236}">
                <a16:creationId xmlns:a16="http://schemas.microsoft.com/office/drawing/2014/main" id="{440C956E-291D-42FA-8C06-0B9B6887772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033  헤더1: 치료 접근 방법  헤더2: 개방 수술  헤더3: 개복·개흉·개두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개복수술, 개흉수술, 개두수술, 질병수술비, 상해수술비,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개복·개흉·개두 수술이란? 배·가슴·머리를 열고 직접 보면서 하는 수술이에요 상처는 크지만 넓게 보고 수술할 수 있어요 [핵심 설명] 전신마취를 해요 / 피부와 뼈·근육을 열어요 / 직접 보며 수술해요</a:t>
            </a:r>
          </a:p>
        </p:txBody>
      </p:sp>
    </p:spTree>
    <p:extLst>
      <p:ext uri="{BB962C8B-B14F-4D97-AF65-F5344CB8AC3E}">
        <p14:creationId xmlns:p14="http://schemas.microsoft.com/office/powerpoint/2010/main" val="4193126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FB42576-2017-4F63-8FB5-500629E938D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9EC1D504-7CD1-479B-B677-A95A5FA7444C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복강경 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48C0484-5F0F-4934-A00E-30FA3088019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배에 작은 구멍 몇 개를 내고 카메라를 넣어 수술해요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49DACAB3-80F3-45ED-8829-DEA8B6692BB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가슴에 하면 ‘흉강경’. 모든 수술에 맞진 않아요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C22EF2D-4052-4DD2-B863-4130D86047D8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34" descr="{&quot;page&quot;: 34, &quot;text_data&quot;: &quot;복강경 수술이 뭔가요?\n배에 작은 구멍 몇 개를 내고 카메라를 넣어 수술해요\n가슴에 하면 ‘흉강경’. 모든 수술에 맞진 않아요\n[핵심 설명] 배에 작은 구멍을 내요 / 카메라와 기구를 넣어요 / 화면을 보며 수술해요&quot;, &quot;header1&quot;: &quot;치료 접근 방법&quot;, &quot;header2&quot;: &quot;복강경·흉강경&quot;, &quot;header3&quot;: &quot;복강경 수술&quot;, &quot;keywords&quot;: [&quot;복강경&quot;, &quot;흉강경&quot;, &quot;질병수술비&quot;, &quot;암수술비&quot;, &quot;종수술비&quot;]}">
            <a:extLst>
              <a:ext uri="{FF2B5EF4-FFF2-40B4-BE49-F238E27FC236}">
                <a16:creationId xmlns:a16="http://schemas.microsoft.com/office/drawing/2014/main" id="{E125012D-7E66-469C-99B3-057628D5AE5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034  헤더1: 치료 접근 방법  헤더2: 복강경·흉강경  헤더3: 복강경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복강경, 흉강경, 질병수술비, 암수술비,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복강경 수술이 뭔가요? 배에 작은 구멍 몇 개를 내고 카메라를 넣어 수술해요 가슴에 하면 ‘흉강경’. 모든 수술에 맞진 않아요 [핵심 설명] 배에 작은 구멍을 내요 / 카메라와 기구를 넣어요 / 화면을 보며 수술해요</a:t>
            </a:r>
          </a:p>
        </p:txBody>
      </p:sp>
    </p:spTree>
    <p:extLst>
      <p:ext uri="{BB962C8B-B14F-4D97-AF65-F5344CB8AC3E}">
        <p14:creationId xmlns:p14="http://schemas.microsoft.com/office/powerpoint/2010/main" val="1656693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7FFF2F2-A794-49B9-B091-0AA42AC8026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3B7E2AE-1FBF-44CE-8B0A-24B8772545F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내시경 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1A90A35-12BC-4F86-B224-C4514A30AFA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입이나 항문으로 카메라 달린 관을 넣어 보고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4D48FB7-C1E1-4F6D-9F3E-4897539F9CD8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원래 있는 통로로 들어가 겉에 상처가 남지 않아요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FC53DCB-B9E2-40F1-823D-80F1D571CE4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1D03DA85-6387-4578-8DA7-307CDCC5475E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내시경 끝의 기구로 조직을 떼거나 작은 병변을 제거하기도 해요.</a:t>
            </a:r>
          </a:p>
        </p:txBody>
      </p:sp>
      <p:sp>
        <p:nvSpPr>
          <p:cNvPr id="8" name="RAG_METADATA_PAGE_035" descr="{&quot;page&quot;: 35, &quot;text_data&quot;: &quot;내시경 시술이 뭔가요?\n입이나 항문으로 카메라 달린 관을 넣어 보고 치료해요\n원래 있는 통로로 들어가 겉에 상처가 남지 않아요\n내시경 끝의 기구로 조직을 떼거나 작은 병변을 제거하기도 해요.\n[핵심 설명] 입·항문으로 관을 넣어요 / 화면으로 속을 살펴요 / 용종을 떼거나 검사해요&quot;, &quot;header1&quot;: &quot;치료 접근 방법&quot;, &quot;header2&quot;: &quot;내시경&quot;, &quot;header3&quot;: &quot;내시경 시술&quot;, &quot;keywords&quot;: [&quot;내시경&quot;, &quot;용종절제&quot;, &quot;질병수술비&quot;, &quot;암수술비&quot;, &quot;종수술비&quot;]}">
            <a:extLst>
              <a:ext uri="{FF2B5EF4-FFF2-40B4-BE49-F238E27FC236}">
                <a16:creationId xmlns:a16="http://schemas.microsoft.com/office/drawing/2014/main" id="{DB515156-CA53-4981-A29A-F47189BE5388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035  헤더1: 치료 접근 방법  헤더2: 내시경  헤더3: 내시경 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내시경, 용종절제, 질병수술비, 암수술비,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내시경 시술이 뭔가요? 입이나 항문으로 카메라 달린 관을 넣어 보고 치료해요 원래 있는 통로로 들어가 겉에 상처가 남지 않아요 내시경 끝의 기구로 조직을 떼거나 작은 병변을 제거하기도 해요. [핵심 설명] 입·항문으로 관을 넣어요 / 화면으로 속을 살펴요 / 용종을 떼거나 검사해요</a:t>
            </a:r>
          </a:p>
        </p:txBody>
      </p:sp>
    </p:spTree>
    <p:extLst>
      <p:ext uri="{BB962C8B-B14F-4D97-AF65-F5344CB8AC3E}">
        <p14:creationId xmlns:p14="http://schemas.microsoft.com/office/powerpoint/2010/main" val="13715616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E0DCCE5-19F1-4D14-B38E-5D1097CE48C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2E83814-D2B7-40EC-BDBC-B5CCBF01769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관절경 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2D41CFF-3D7A-4348-9AD9-DC314786E4D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관절에 작은 구멍을 내고 카메라를 넣어 수술해요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5A23162D-DA58-4E0B-A75C-566ED3B38D1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무릎·어깨에서 가장 많이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7224EA0-04F1-4D49-971A-52519DCE25D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36" descr="{&quot;page&quot;: 36, &quot;text_data&quot;: &quot;관절경 수술이 뭔가요?\n관절에 작은 구멍을 내고 카메라를 넣어 수술해요\n무릎·어깨에서 가장 많이 해요\n[핵심 설명] 구멍 2~3개를 내요 / 카메라로 속을 봐요 / 찢어진 곳을 다듬어요&quot;, &quot;header1&quot;: &quot;치료 접근 방법&quot;, &quot;header2&quot;: &quot;관절경&quot;, &quot;header3&quot;: &quot;관절경 수술&quot;, &quot;keywords&quot;: [&quot;관절경&quot;, &quot;무릎수술&quot;, &quot;어깨수술&quot;, &quot;질병수술비&quot;, &quot;상해수술비&quot;, &quot;종수술비&quot;]}">
            <a:extLst>
              <a:ext uri="{FF2B5EF4-FFF2-40B4-BE49-F238E27FC236}">
                <a16:creationId xmlns:a16="http://schemas.microsoft.com/office/drawing/2014/main" id="{08723B11-B8FB-4222-9918-0249957585D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036  헤더1: 치료 접근 방법  헤더2: 관절경  헤더3: 관절경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관절경, 무릎수술, 어깨수술, 질병수술비, 상해수술비,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관절경 수술이 뭔가요? 관절에 작은 구멍을 내고 카메라를 넣어 수술해요 무릎·어깨에서 가장 많이 해요 [핵심 설명] 구멍 2~3개를 내요 / 카메라로 속을 봐요 / 찢어진 곳을 다듬어요</a:t>
            </a:r>
          </a:p>
        </p:txBody>
      </p:sp>
    </p:spTree>
    <p:extLst>
      <p:ext uri="{BB962C8B-B14F-4D97-AF65-F5344CB8AC3E}">
        <p14:creationId xmlns:p14="http://schemas.microsoft.com/office/powerpoint/2010/main" val="393514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A5D497E-D4C6-4061-A3D3-638DAC69AD3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C3009DE-31E8-43F4-84D0-E26600EA1E3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혈관 카테터 시술이란?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3AF7331-E8D3-4B1A-98FD-F19C0992B27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혈관에 가는 관을 넣어 심장·뇌까지 보내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4E4DA66-028C-432E-BE80-D8C918AC649F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시술에 따라 동맥·정맥, 사타구니·손목 등 진입 경로가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424F5695-F71B-4B31-BC28-500CAA1296C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37" descr="{&quot;page&quot;: 37, &quot;text_data&quot;: &quot;혈관 카테터 시술이란?\n혈관에 가는 관을 넣어 심장·뇌까지 보내 치료해요\n시술에 따라 동맥·정맥, 사타구니·손목 등 진입 경로가 달라요\n[핵심 설명] 사타구니 혈관으로 진입 / 카테터 삽입 / 좁아진 혈관의 풍선 치료. 그림은 동맥 접근의 예시이며 시술별로 동맥·정맥 접근이 달라요.&quot;, &quot;header1&quot;: &quot;치료 접근 방법&quot;, &quot;header2&quot;: &quot;혈관 카테터&quot;, &quot;header3&quot;: &quot;혈관 카테터 시술&quot;, &quot;keywords&quot;: [&quot;카테터&quot;, &quot;혈관시술&quot;, &quot;스텐트&quot;, &quot;순환계치료비&quot;, &quot;질병수술비&quot;]}">
            <a:extLst>
              <a:ext uri="{FF2B5EF4-FFF2-40B4-BE49-F238E27FC236}">
                <a16:creationId xmlns:a16="http://schemas.microsoft.com/office/drawing/2014/main" id="{A19EEC8F-7009-4118-916D-5E167C0866F6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037  헤더1: 치료 접근 방법  헤더2: 혈관 카테터  헤더3: 혈관 카테터 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카테터, 혈관시술, 스텐트, 순환계치료비, 질병수술비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혈관 카테터 시술이란? 혈관에 가는 관을 넣어 심장·뇌까지 보내 치료해요 시술에 따라 동맥·정맥, 사타구니·손목 등 진입 경로가 달라요 [핵심 설명] 사타구니 혈관으로 진입 / 카테터 삽입 / 좁아진 혈관의 풍선 치료. 그림은 동맥 접근의 예시이며 시술별로 동맥·정맥 접근이 달라요.</a:t>
            </a:r>
          </a:p>
        </p:txBody>
      </p:sp>
    </p:spTree>
    <p:extLst>
      <p:ext uri="{BB962C8B-B14F-4D97-AF65-F5344CB8AC3E}">
        <p14:creationId xmlns:p14="http://schemas.microsoft.com/office/powerpoint/2010/main" val="8710504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726A2F5-0948-4F2E-AA50-1E461E469FA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D330512-084E-48D6-992B-D21F08D33D5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로봇수술이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9AF9940-1A07-4CE8-AD0C-D0FA3DA5FCC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의사가 조종석에서 로봇 팔을 움직여 하는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F5C1223-6CD0-4618-B76C-B47914515C2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기기와 접근 방식은 수술에 따라 달라요. 의료진이 기구를 직접 조종해요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DEEC234-26FB-4EB6-AD5B-DD4928F4571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38" descr="{&quot;page&quot;: 38, &quot;text_data&quot;: &quot;로봇수술이 뭔가요?\n의사가 조종석에서 로봇 팔을 움직여 하는 수술이에요\n기기와 접근 방식은 수술에 따라 달라요. 의료진이 기구를 직접 조종해요\n[핵심 설명] 작은 구멍으로 기구를 넣어요 / 확대된 3D 화면을 봐요 / 의사가 직접 조종해요&quot;, &quot;header1&quot;: &quot;치료 접근 방법&quot;, &quot;header2&quot;: &quot;로봇수술&quot;, &quot;header3&quot;: &quot;의사 조종 로봇수술&quot;, &quot;keywords&quot;: [&quot;로봇수술&quot;, &quot;다빈치&quot;, &quot;로봇암수술비&quot;, &quot;암통합치료비&quot;, &quot;암수술비&quot;, &quot;종수술비&quot;]}">
            <a:extLst>
              <a:ext uri="{FF2B5EF4-FFF2-40B4-BE49-F238E27FC236}">
                <a16:creationId xmlns:a16="http://schemas.microsoft.com/office/drawing/2014/main" id="{1850E93F-C7D4-4FA5-A9F9-0074C101A79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038  헤더1: 치료 접근 방법  헤더2: 로봇수술  헤더3: 의사 조종 로봇수술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로봇수술, 다빈치, 로봇암수술비, 암통합치료비, 암수술비,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로봇수술이 뭔가요? 의사가 조종석에서 로봇 팔을 움직여 하는 수술이에요 기기와 접근 방식은 수술에 따라 달라요. 의료진이 기구를 직접 조종해요 [핵심 설명] 작은 구멍으로 기구를 넣어요 / 확대된 3D 화면을 봐요 / 의사가 직접 조종해요</a:t>
            </a:r>
          </a:p>
        </p:txBody>
      </p:sp>
    </p:spTree>
    <p:extLst>
      <p:ext uri="{BB962C8B-B14F-4D97-AF65-F5344CB8AC3E}">
        <p14:creationId xmlns:p14="http://schemas.microsoft.com/office/powerpoint/2010/main" val="9030000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49E19A8-85E1-4E22-BED4-A5A6EC1EE9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977A473-0EEC-4F1E-BDD4-D2D21461BC0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비침습 에너지 치료란?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A4DB685-E4FF-40B6-A451-A4F196D463E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피부를 열지 않고 몸 밖에서 에너지를 쏘아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4AFD391-14EE-4E4E-9092-E7267EA25F4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관찰 뒤 귀가·입원을 정해요. 치료 종류와 상태에 따라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9BBBEF54-3FC6-4E0B-BF73-62E30449B52F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39" descr="{&quot;page&quot;: 39, &quot;text_data&quot;: &quot;비침습 에너지 치료란?\n피부를 열지 않고 몸 밖에서 에너지를 쏘아 치료해요\n관찰 뒤 귀가·입원을 정해요. 치료 종류와 상태에 따라 달라요\n[핵심 설명] 영상으로 위치를 맞춰요 / 몸 밖에서 에너지를 쏴요 / 치료 뒤 관찰하여 귀가·입원을 정해요&quot;, &quot;header1&quot;: &quot;치료 접근 방법&quot;, &quot;header2&quot;: &quot;비침습 치료&quot;, &quot;header3&quot;: &quot;비침습 에너지 치료&quot;, &quot;keywords&quot;: [&quot;비수술치료&quot;, &quot;하이푸&quot;, &quot;방사선치료&quot;, &quot;암통합치료비&quot;]}">
            <a:extLst>
              <a:ext uri="{FF2B5EF4-FFF2-40B4-BE49-F238E27FC236}">
                <a16:creationId xmlns:a16="http://schemas.microsoft.com/office/drawing/2014/main" id="{07F6ACE6-820E-4C55-8A67-4D8CEFDDD47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039  헤더1: 치료 접근 방법  헤더2: 비침습 치료  헤더3: 비침습 에너지 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비수술치료, 하이푸, 방사선치료, 암통합치료비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비침습 에너지 치료란? 피부를 열지 않고 몸 밖에서 에너지를 쏘아 치료해요 관찰 뒤 귀가·입원을 정해요. 치료 종류와 상태에 따라 달라요 [핵심 설명] 영상으로 위치를 맞춰요 / 몸 밖에서 에너지를 쏴요 / 치료 뒤 관찰하여 귀가·입원을 정해요</a:t>
            </a:r>
          </a:p>
        </p:txBody>
      </p:sp>
    </p:spTree>
    <p:extLst>
      <p:ext uri="{BB962C8B-B14F-4D97-AF65-F5344CB8AC3E}">
        <p14:creationId xmlns:p14="http://schemas.microsoft.com/office/powerpoint/2010/main" val="827719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EB909B1-1758-40D1-87D5-DE45DE57506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E98B745-026E-47E3-8193-933402FECF5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 치료의 세 가지 기둥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3BF1A22-04B9-4ACC-84E1-3225C685F91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수술, 약, 방사선을 암의 종류와 단계에 따라 조합해요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8BC7B52-1C9C-4A92-85C2-CDF65D134956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하나만 하기도 하고 두세 가지를 함께 하기도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B428B60-EB77-45D3-8D72-748AEE52DB9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40" descr="{&quot;page&quot;: 40, &quot;text_data&quot;: &quot;암 치료의 세 가지 기둥\n수술, 약, 방사선을 암의 종류와 단계에 따라 조합해요\n하나만 하기도 하고 두세 가지를 함께 하기도 해요\n[핵심 설명] 수술: 암을 잘라내요 / 약: 온몸의 암을 공격 / 방사선: 쬐어서 파괴&quot;, &quot;header1&quot;: &quot;암 진단·치료&quot;, &quot;header2&quot;: &quot;암 치료 개요&quot;, &quot;header3&quot;: &quot;수술·약물·방사선치료&quot;, &quot;keywords&quot;: [&quot;암통합치료비&quot;, &quot;암주요치료비&quot;, &quot;암수술비&quot;, &quot;항암치료&quot;, &quot;방사선치료&quot;]}">
            <a:extLst>
              <a:ext uri="{FF2B5EF4-FFF2-40B4-BE49-F238E27FC236}">
                <a16:creationId xmlns:a16="http://schemas.microsoft.com/office/drawing/2014/main" id="{E7C4D9BA-2E11-42BE-9372-FF810B48662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040  헤더1: 암 진단·치료  헤더2: 암 치료 개요  헤더3: 수술·약물·방사선치료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암주요치료비, 암수술비, 항암치료, 방사선치료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암 치료의 세 가지 기둥 수술, 약, 방사선을 암의 종류와 단계에 따라 조합해요 하나만 하기도 하고 두세 가지를 함께 하기도 해요 [핵심 설명] 수술: 암을 잘라내요 / 약: 온몸의 암을 공격 / 방사선: 쬐어서 파괴</a:t>
            </a:r>
          </a:p>
        </p:txBody>
      </p:sp>
    </p:spTree>
    <p:extLst>
      <p:ext uri="{BB962C8B-B14F-4D97-AF65-F5344CB8AC3E}">
        <p14:creationId xmlns:p14="http://schemas.microsoft.com/office/powerpoint/2010/main" val="3175944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5937C48-ADFA-49DF-887A-1B8A601C23B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4A92A168-3714-4D5A-8C6E-B54BAADE4B3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 진단부터 치료까지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2C54014-C765-4367-857B-775FE722D48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의심 증상에서 치료, 그 뒤 관찰까지의 흐름이에요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B9C054D-6535-46EB-802B-F272CF610694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치료가 끝난 뒤에도 정기적으로 확인해요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F1EA469-BF29-497B-8F53-1FFB823B6FE8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F17CECAF-C284-49B1-9EFA-83135578808C}"/>
              </a:ext>
            </a:extLst>
          </p:cNvPr>
          <p:cNvSpPr>
            <a:spLocks noGrp="1"/>
          </p:cNvSpPr>
          <p:nvPr/>
        </p:nvSpPr>
        <p:spPr>
          <a:xfrm>
            <a:off x="552450" y="5429250"/>
            <a:ext cx="1108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조직검사는 암 여부를 확인하고 치료 방향을 정하는 데 도움을 줘요.</a:t>
            </a:r>
          </a:p>
        </p:txBody>
      </p:sp>
      <p:sp>
        <p:nvSpPr>
          <p:cNvPr id="8" name="RAG_METADATA_PAGE_041" descr="{&quot;page&quot;: 41, &quot;text_data&quot;: &quot;암 진단부터 치료까지\n의심 증상에서 치료, 그 뒤 관찰까지의 흐름이에요\n조직검사는 암 여부를 확인하고 치료 방향을 정하는 데 도움을 줘요.\n치료가 끝난 뒤에도 정기적으로 확인해요\n[핵심 설명] 검사로 의심 부위 확인 / 필요하면 조직검사를 해요 / 치료 후 정기 검사&quot;, &quot;header1&quot;: &quot;암 진단·치료&quot;, &quot;header2&quot;: &quot;암 진료 과정&quot;, &quot;header3&quot;: &quot;암 진단·치료·추적관찰&quot;, &quot;keywords&quot;: [&quot;암통합치료비&quot;, &quot;암진단비&quot;, &quot;조직검사&quot;, &quot;추적검사&quot;]}">
            <a:extLst>
              <a:ext uri="{FF2B5EF4-FFF2-40B4-BE49-F238E27FC236}">
                <a16:creationId xmlns:a16="http://schemas.microsoft.com/office/drawing/2014/main" id="{446E25AF-E4DA-46B7-8992-3A80D26E6A5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041  헤더1: 암 진단·치료  헤더2: 암 진료 과정  헤더3: 암 진단·치료·추적관찰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암진단비, 조직검사, 추적검사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암 진단부터 치료까지 의심 증상에서 치료, 그 뒤 관찰까지의 흐름이에요 조직검사는 암 여부를 확인하고 치료 방향을 정하는 데 도움을 줘요. 치료가 끝난 뒤에도 정기적으로 확인해요 [핵심 설명] 검사로 의심 부위 확인 / 필요하면 조직검사를 해요 / 치료 후 정기 검사</a:t>
            </a:r>
          </a:p>
        </p:txBody>
      </p:sp>
    </p:spTree>
    <p:extLst>
      <p:ext uri="{BB962C8B-B14F-4D97-AF65-F5344CB8AC3E}">
        <p14:creationId xmlns:p14="http://schemas.microsoft.com/office/powerpoint/2010/main" val="14762758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0F4603B-E46D-4B2F-BC87-1DCA9E2134A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156C33C-DA7A-468D-B3ED-6F4895796CB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국가암검진 6가지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5E07DF8-63A2-440B-ABE4-2F0E9FCAFCD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나라에서 정한 나이와 주기에 따라 받는 암 검진이에요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F49A3BD-00DC-4F9B-B987-01792E3A1F3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증상이 없을 때 일찍 찾는 것이 목적이에요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73C20A6-D849-4C4A-A380-CA7512448A0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6" name="기준일">
            <a:extLst>
              <a:ext uri="{FF2B5EF4-FFF2-40B4-BE49-F238E27FC236}">
                <a16:creationId xmlns:a16="http://schemas.microsoft.com/office/drawing/2014/main" id="{AAE795BB-79AC-4FBD-B31A-B8D6DCFEB71D}"/>
              </a:ext>
            </a:extLst>
          </p:cNvPr>
          <p:cNvSpPr>
            <a:spLocks noGrp="1"/>
          </p:cNvSpPr>
          <p:nvPr/>
        </p:nvSpPr>
        <p:spPr>
          <a:xfrm>
            <a:off x="9620250" y="6553200"/>
            <a:ext cx="2019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2026.10 기준</a:t>
            </a:r>
          </a:p>
        </p:txBody>
      </p:sp>
      <p:sp>
        <p:nvSpPr>
          <p:cNvPr id="8" name="RAG_METADATA_PAGE_042" descr="{&quot;page&quot;: 42, &quot;text_data&quot;: &quot;국가암검진 6가지\n나라에서 정한 나이와 주기에 따라 받는 암 검진이에요\n증상이 없을 때 일찍 찾는 것이 목적이에요\n[핵심 설명] ①위 ②대장 ③간 / ④폐 ⑤자궁경부 ⑥유방 / 대상·주기는 암마다 달라요&quot;, &quot;header1&quot;: &quot;암 진단·치료&quot;, &quot;header2&quot;: &quot;암 검진·진단&quot;, &quot;header3&quot;: &quot;국가암검진&quot;, &quot;keywords&quot;: [&quot;암통합치료비&quot;, &quot;암진단비&quot;, &quot;암검진&quot;, &quot;건강검진&quot;]}">
            <a:extLst>
              <a:ext uri="{FF2B5EF4-FFF2-40B4-BE49-F238E27FC236}">
                <a16:creationId xmlns:a16="http://schemas.microsoft.com/office/drawing/2014/main" id="{63C522DA-458F-47A4-8616-EE82727F1884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5143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042  헤더1: 암 진단·치료  헤더2: 암 검진·진단  헤더3: 국가암검진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암진단비, 암검진, 건강검진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국가암검진 6가지 나라에서 정한 나이와 주기에 따라 받는 암 검진이에요 증상이 없을 때 일찍 찾는 것이 목적이에요 [핵심 설명] ①위 ②대장 ③간 / ④폐 ⑤자궁경부 ⑥유방 / 대상·주기는 암마다 달라요</a:t>
            </a:r>
          </a:p>
        </p:txBody>
      </p:sp>
    </p:spTree>
    <p:extLst>
      <p:ext uri="{BB962C8B-B14F-4D97-AF65-F5344CB8AC3E}">
        <p14:creationId xmlns:p14="http://schemas.microsoft.com/office/powerpoint/2010/main" val="6880567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B70DD5C-D2DA-4926-B99D-00F3CAB9EC2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0C34C86-DF33-4C3D-843D-836230A33EC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내시경 검사가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180CC7F6-73D1-499C-95D9-B7BBE53D43D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카메라 달린 관을 넣어 위·대장 속을 직접 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D5ED528-3F40-4B6F-9F4F-A3A2B6F4B15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보면서 바로 조직검사를 할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D0BE8700-FF5C-4175-94B8-276DD5FB3B72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43" descr="{&quot;page&quot;: 43, &quot;text_data&quot;: &quot;내시경 검사가 뭔가요?\n카메라 달린 관을 넣어 위·대장 속을 직접 봐요\n보면서 바로 조직검사를 할 수 있어요\n[핵심 설명] 입이나 항문으로 넣어요 / 점막을 화면으로 봐요 / 조직을 떼거나 용종 제거&quot;, &quot;header1&quot;: &quot;암 진단·치료&quot;, &quot;header2&quot;: &quot;암 검진·진단&quot;, &quot;header3&quot;: &quot;내시경 검사&quot;, &quot;keywords&quot;: [&quot;암통합치료비&quot;, &quot;암내시경검사비&quot;, &quot;위내시경&quot;, &quot;대장내시경&quot;]}">
            <a:extLst>
              <a:ext uri="{FF2B5EF4-FFF2-40B4-BE49-F238E27FC236}">
                <a16:creationId xmlns:a16="http://schemas.microsoft.com/office/drawing/2014/main" id="{3627BF46-F281-446F-80E2-FA777187B71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043  헤더1: 암 진단·치료  헤더2: 암 검진·진단  헤더3: 내시경 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암내시경검사비, 위내시경, 대장내시경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내시경 검사가 뭔가요? 카메라 달린 관을 넣어 위·대장 속을 직접 봐요 보면서 바로 조직검사를 할 수 있어요 [핵심 설명] 입이나 항문으로 넣어요 / 점막을 화면으로 봐요 / 조직을 떼거나 용종 제거</a:t>
            </a:r>
          </a:p>
        </p:txBody>
      </p:sp>
    </p:spTree>
    <p:extLst>
      <p:ext uri="{BB962C8B-B14F-4D97-AF65-F5344CB8AC3E}">
        <p14:creationId xmlns:p14="http://schemas.microsoft.com/office/powerpoint/2010/main" val="7098323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55564B4-9B73-4311-AF74-A1C59003F61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4CDAED7-FEFE-45F3-A8BF-B9CC60877A7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초음파 검사가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3095157-3F76-426C-97C6-1B4FF0601B6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초음파를 쏘아 돌아오는 신호로 장기를 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8165A013-36A4-4598-B7D0-AFC4E6AC035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방사선 노출이 없어요. 간·갑상선·유방에 많이 써요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C5E6686-DC0F-42C2-87A4-322C86A4351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44" descr="{&quot;page&quot;: 44, &quot;text_data&quot;: &quot;초음파 검사가 뭔가요?\n초음파를 쏘아 돌아오는 신호로 장기를 봐요\n방사선 노출이 없어요. 간·갑상선·유방에 많이 써요\n[핵심 설명] 젤을 바르고 기구를 대요 / 화면으로 장기를 봐요 / 혹의 크기·모양 확인&quot;, &quot;header1&quot;: &quot;암 진단·치료&quot;, &quot;header2&quot;: &quot;암 검진·진단&quot;, &quot;header3&quot;: &quot;초음파 검사&quot;, &quot;keywords&quot;: [&quot;암통합치료비&quot;, &quot;초음파&quot;, &quot;갑상선검사&quot;, &quot;유방검사&quot;, &quot;암진단비&quot;]}">
            <a:extLst>
              <a:ext uri="{FF2B5EF4-FFF2-40B4-BE49-F238E27FC236}">
                <a16:creationId xmlns:a16="http://schemas.microsoft.com/office/drawing/2014/main" id="{C2E86CF2-2B55-4CF0-A18F-E297CC4D8B5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044  헤더1: 암 진단·치료  헤더2: 암 검진·진단  헤더3: 초음파 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초음파, 갑상선검사, 유방검사, 암진단비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초음파 검사가 뭔가요? 초음파를 쏘아 돌아오는 신호로 장기를 봐요 방사선 노출이 없어요. 간·갑상선·유방에 많이 써요 [핵심 설명] 젤을 바르고 기구를 대요 / 화면으로 장기를 봐요 / 혹의 크기·모양 확인</a:t>
            </a:r>
          </a:p>
        </p:txBody>
      </p:sp>
    </p:spTree>
    <p:extLst>
      <p:ext uri="{BB962C8B-B14F-4D97-AF65-F5344CB8AC3E}">
        <p14:creationId xmlns:p14="http://schemas.microsoft.com/office/powerpoint/2010/main" val="5804104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AC65106-D288-408D-8036-F86963A6F9C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FDBB631-4822-4EAF-9AE1-C50C3420E1E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CT 검사가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2D6267C7-10DC-4EF8-84DC-65BBF8754A8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X선을 여러 각도에서 쏘아 몸의 단면을 찍어요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6EB9C60-E9C5-4F1D-AF28-EC783E8B47DB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혹의 위치와 크기, 퍼진 정도를 볼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E7F47D5-09C0-4C2D-8454-6EF582CF939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45" descr="{&quot;page&quot;: 45, &quot;text_data&quot;: &quot;CT 검사가 뭔가요?\nX선을 여러 각도에서 쏘아 몸의 단면을 찍어요\n혹의 위치와 크기, 퍼진 정도를 볼 수 있어요\n[핵심 설명] 누워서 통을 지나가요 / 조영제를 쓰기도 해요 / 몇 분이면 끝나요&quot;, &quot;header1&quot;: &quot;암 진단·치료&quot;, &quot;header2&quot;: &quot;암 검진·진단&quot;, &quot;header3&quot;: &quot;CT 검사&quot;, &quot;keywords&quot;: [&quot;CT&quot;, &quot;CT촬영검사비&quot;, &quot;암통합치료비&quot;, &quot;순환계치료비&quot;]}">
            <a:extLst>
              <a:ext uri="{FF2B5EF4-FFF2-40B4-BE49-F238E27FC236}">
                <a16:creationId xmlns:a16="http://schemas.microsoft.com/office/drawing/2014/main" id="{2B678151-7D6A-494E-8C4F-4E137538E9A8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045  헤더1: 암 진단·치료  헤더2: 암 검진·진단  헤더3: CT 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CT, CT촬영검사비, 암통합치료비,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CT 검사가 뭔가요? X선을 여러 각도에서 쏘아 몸의 단면을 찍어요 혹의 위치와 크기, 퍼진 정도를 볼 수 있어요 [핵심 설명] 누워서 통을 지나가요 / 조영제를 쓰기도 해요 / 몇 분이면 끝나요</a:t>
            </a:r>
          </a:p>
        </p:txBody>
      </p:sp>
    </p:spTree>
    <p:extLst>
      <p:ext uri="{BB962C8B-B14F-4D97-AF65-F5344CB8AC3E}">
        <p14:creationId xmlns:p14="http://schemas.microsoft.com/office/powerpoint/2010/main" val="10433954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AF4FEA7-E0AD-4D4E-B190-B0D482C85FC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2A041FF-8A08-4DD0-830D-55BC6FC2C1C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MRI 검사가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0C5EA407-15DC-4391-B8BA-6BB70BB6B69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자기장과 전파로 몸속 구조를 자세히 찍어요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C9DDBF3-232F-42F2-B52A-5C3095920D5E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방사선 노출이 없어요. 뇌·척추·근육을 잘 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1A3E103-710E-4AA9-9C3E-8ECB790E301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2E9634C6-8233-46D7-91D9-FAAC9A0DD720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강한 자기장을 쓰므로 몸속 금속이나 삽입 기기를 미리 확인해요.</a:t>
            </a:r>
          </a:p>
        </p:txBody>
      </p:sp>
      <p:sp>
        <p:nvSpPr>
          <p:cNvPr id="8" name="RAG_METADATA_PAGE_046" descr="{&quot;page&quot;: 46, &quot;text_data&quot;: &quot;MRI 검사가 뭔가요?\n자기장과 전파로 몸속 구조를 자세히 찍어요\n방사선 노출이 없어요. 뇌·척추·근육을 잘 봐요\n강한 자기장을 쓰므로 몸속 금속이나 삽입 기기를 미리 확인해요.\n[핵심 설명] 좁은 통 안에 누워요 / 검사 시간은 부위마다 달라요 / 소리가 커서 귀마개를 해요&quot;, &quot;header1&quot;: &quot;암 진단·치료&quot;, &quot;header2&quot;: &quot;암 검진·진단&quot;, &quot;header3&quot;: &quot;MRI 검사&quot;, &quot;keywords&quot;: [&quot;MRI&quot;, &quot;MRI촬영검사비&quot;, &quot;암통합치료비&quot;, &quot;순환계치료비&quot;]}">
            <a:extLst>
              <a:ext uri="{FF2B5EF4-FFF2-40B4-BE49-F238E27FC236}">
                <a16:creationId xmlns:a16="http://schemas.microsoft.com/office/drawing/2014/main" id="{2F1CD36D-655D-433D-924A-CF872E15902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046  헤더1: 암 진단·치료  헤더2: 암 검진·진단  헤더3: MRI 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MRI, MRI촬영검사비, 암통합치료비,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MRI 검사가 뭔가요? 자기장과 전파로 몸속 구조를 자세히 찍어요 방사선 노출이 없어요. 뇌·척추·근육을 잘 봐요 강한 자기장을 쓰므로 몸속 금속이나 삽입 기기를 미리 확인해요. [핵심 설명] 좁은 통 안에 누워요 / 검사 시간은 부위마다 달라요 / 소리가 커서 귀마개를 해요</a:t>
            </a:r>
          </a:p>
        </p:txBody>
      </p:sp>
    </p:spTree>
    <p:extLst>
      <p:ext uri="{BB962C8B-B14F-4D97-AF65-F5344CB8AC3E}">
        <p14:creationId xmlns:p14="http://schemas.microsoft.com/office/powerpoint/2010/main" val="4527628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01D5FE5-B469-4770-90D9-13CE70DD729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965F2682-5808-4386-914D-E84C9012BA9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CT와 MRI는 뭐가 다른가요?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2010C84-863C-4853-BF31-03A26046CFD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찍는 원리와 잘 보이는 부위가 달라요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2794D8B-607E-4C5B-B4A1-F2F15A91A6FB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어느 쪽이 더 좋다기보다 쓰임이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EEB8EBD-C968-4963-8D87-7A2D47EC53F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47" descr="{&quot;page&quot;: 47, &quot;text_data&quot;: &quot;CT와 MRI는 뭐가 다른가요?\n찍는 원리와 잘 보이는 부위가 달라요\n어느 쪽이 더 좋다기보다 쓰임이 달라요\n[핵심 설명] CT: X선, 빠르게 촬영 / MRI: 연부조직 관찰 / 부위에 맞게 골라요&quot;, &quot;header1&quot;: &quot;암 진단·치료&quot;, &quot;header2&quot;: &quot;암 검진·진단&quot;, &quot;header3&quot;: &quot;CT·MRI 비교&quot;, &quot;keywords&quot;: [&quot;CT&quot;, &quot;MRI&quot;, &quot;검사비&quot;, &quot;암통합치료비&quot;, &quot;순환계치료비&quot;]}">
            <a:extLst>
              <a:ext uri="{FF2B5EF4-FFF2-40B4-BE49-F238E27FC236}">
                <a16:creationId xmlns:a16="http://schemas.microsoft.com/office/drawing/2014/main" id="{CC03BFB1-064E-4D44-BFDE-00F29912879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047  헤더1: 암 진단·치료  헤더2: 암 검진·진단  헤더3: CT·MRI 비교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CT, MRI, 검사비, 암통합치료비,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CT와 MRI는 뭐가 다른가요? 찍는 원리와 잘 보이는 부위가 달라요 어느 쪽이 더 좋다기보다 쓰임이 달라요 [핵심 설명] CT: X선, 빠르게 촬영 / MRI: 연부조직 관찰 / 부위에 맞게 골라요</a:t>
            </a:r>
          </a:p>
        </p:txBody>
      </p:sp>
    </p:spTree>
    <p:extLst>
      <p:ext uri="{BB962C8B-B14F-4D97-AF65-F5344CB8AC3E}">
        <p14:creationId xmlns:p14="http://schemas.microsoft.com/office/powerpoint/2010/main" val="1127440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AEE2E12-5401-4E2A-A07D-6B7650CB931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9AD5954-0205-4F27-BB8B-F582FE87194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PET 검사가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8E6842B-1360-4130-A554-139092B8BA0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FDG 검사약의 분포로 몸속 활동을 영상으로 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946B0FB-4883-4A88-B7AC-AE1D1DB06E6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 외에 염증도 보일 수 있어 다른 검사와 함께 판단해요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9AD3B802-E1B5-4F1D-A9C9-6A76F919AC1F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48" descr="{&quot;page&quot;: 48, &quot;text_data&quot;: &quot;PET 검사가 뭔가요?\nFDG 검사약의 분포로 몸속 활동을 영상으로 봐요\n암 외에 염증도 보일 수 있어 다른 검사와 함께 판단해요\n[핵심 설명] 검사약을 주사해요 / 한 시간쯤 기다려요 / 온몸을 촬영해요&quot;, &quot;header1&quot;: &quot;암 진단·치료&quot;, &quot;header2&quot;: &quot;암 검진·진단&quot;, &quot;header3&quot;: &quot;PET 검사&quot;, &quot;keywords&quot;: [&quot;암통합치료비&quot;, &quot;PET&quot;, &quot;PET검사비&quot;, &quot;암검사&quot;]}">
            <a:extLst>
              <a:ext uri="{FF2B5EF4-FFF2-40B4-BE49-F238E27FC236}">
                <a16:creationId xmlns:a16="http://schemas.microsoft.com/office/drawing/2014/main" id="{321333B6-00F7-4826-9B9C-E482606F14D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048  헤더1: 암 진단·치료  헤더2: 암 검진·진단  헤더3: PET 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PET, PET검사비, 암검사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PET 검사가 뭔가요? FDG 검사약의 분포로 몸속 활동을 영상으로 봐요 암 외에 염증도 보일 수 있어 다른 검사와 함께 판단해요 [핵심 설명] 검사약을 주사해요 / 한 시간쯤 기다려요 / 온몸을 촬영해요</a:t>
            </a:r>
          </a:p>
        </p:txBody>
      </p:sp>
    </p:spTree>
    <p:extLst>
      <p:ext uri="{BB962C8B-B14F-4D97-AF65-F5344CB8AC3E}">
        <p14:creationId xmlns:p14="http://schemas.microsoft.com/office/powerpoint/2010/main" val="5758575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36F9F82-43EA-4FCF-AA66-74984385F4F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8543911-D92C-4D2C-A17B-1DADAB8B88E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미세침흡인검사가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CB22DF8-3FE2-421D-ACAD-1B71C60E9FB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가는 바늘로 혹의 세포를 뽑아 현미경으로 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5E550C7-609E-451A-9569-22F8D38D9020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갑상선·유방 혹에서 많이 하는 검사예요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C8DEB35-D9EB-44C5-96AA-2181D67FC58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B5CE5878-1750-4C2F-9DA2-1CC3BCC120ED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세포를 뽑는 검사와 조직 조각을 떼는 검사는 구분해요.</a:t>
            </a:r>
          </a:p>
        </p:txBody>
      </p:sp>
      <p:sp>
        <p:nvSpPr>
          <p:cNvPr id="8" name="RAG_METADATA_PAGE_049" descr="{&quot;page&quot;: 49, &quot;text_data&quot;: &quot;미세침흡인검사가 뭔가요?\n가는 바늘로 혹의 세포를 뽑아 현미경으로 봐요\n갑상선·유방 혹에서 많이 하는 검사예요\n세포를 뽑는 검사와 조직 조각을 떼는 검사는 구분해요.\n[핵심 설명] 초음파로 혹을 봐요 / 가는 바늘로 세포를 뽑아요 / 현미경으로 확인해요&quot;, &quot;header1&quot;: &quot;암 진단·치료&quot;, &quot;header2&quot;: &quot;암 검진·진단&quot;, &quot;header3&quot;: &quot;미세침흡인검사&quot;, &quot;keywords&quot;: [&quot;흡인&quot;, &quot;천자&quot;, &quot;조직검사&quot;, &quot;세침흡인&quot;, &quot;암진단비&quot;, &quot;암통합치료비&quot;]}">
            <a:extLst>
              <a:ext uri="{FF2B5EF4-FFF2-40B4-BE49-F238E27FC236}">
                <a16:creationId xmlns:a16="http://schemas.microsoft.com/office/drawing/2014/main" id="{1CFA67A2-11C4-425D-89E5-40FFAE3CA5D2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049  헤더1: 암 진단·치료  헤더2: 암 검진·진단  헤더3: 미세침흡인검사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조직검사, 세침흡인, 암진단비, 암통합치료비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미세침흡인검사가 뭔가요? 가는 바늘로 혹의 세포를 뽑아 현미경으로 봐요 갑상선·유방 혹에서 많이 하는 검사예요 세포를 뽑는 검사와 조직 조각을 떼는 검사는 구분해요. [핵심 설명] 초음파로 혹을 봐요 / 가는 바늘로 세포를 뽑아요 / 현미경으로 확인해요</a:t>
            </a:r>
          </a:p>
        </p:txBody>
      </p:sp>
    </p:spTree>
    <p:extLst>
      <p:ext uri="{BB962C8B-B14F-4D97-AF65-F5344CB8AC3E}">
        <p14:creationId xmlns:p14="http://schemas.microsoft.com/office/powerpoint/2010/main" val="9499295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6101945-E09C-4C02-B5CF-B42E01FE03B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57DCABE-BDB3-45F8-84FD-3BB0742A342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유전자 검사(NGS)가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8363DB1-0F1D-411D-946C-A62DEFD13938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암세포의 유전자 변이를 한 번에 읽는 검사예요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A4B691CC-0C34-4E96-997F-FD74B767C337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유전자 하나를 보거나 여러 개를 함께 봐요. 검사 종류는 목적에 따라 정해요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14A05E1-760D-466C-9C0A-BF85FB6E56A2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50" descr="{&quot;page&quot;: 50, &quot;text_data&quot;: &quot;유전자 검사(NGS)가 뭔가요?\n암세포의 유전자 변이를 한 번에 읽는 검사예요\n유전자 하나를 보거나 여러 개를 함께 봐요. 검사 종류는 목적에 따라 정해요\n[핵심 설명] 암 조직이나 피로 검사 / 유전자 변이를 찾아요 / 치료 선택에 참고해요&quot;, &quot;header1&quot;: &quot;암 진단·치료&quot;, &quot;header2&quot;: &quot;암 검진·진단&quot;, &quot;header3&quot;: &quot;유전자 검사·NGS&quot;, &quot;keywords&quot;: [&quot;암통합치료비&quot;, &quot;유전자검사&quot;, &quot;NGS&quot;, &quot;표적항암제&quot;]}">
            <a:extLst>
              <a:ext uri="{FF2B5EF4-FFF2-40B4-BE49-F238E27FC236}">
                <a16:creationId xmlns:a16="http://schemas.microsoft.com/office/drawing/2014/main" id="{0B6B955F-4FBD-4525-8E71-2AAF8345474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050  헤더1: 암 진단·치료  헤더2: 암 검진·진단  헤더3: 유전자 검사·NGS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유전자검사, NGS, 표적항암제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유전자 검사(NGS)가 뭔가요? 암세포의 유전자 변이를 한 번에 읽는 검사예요 유전자 하나를 보거나 여러 개를 함께 봐요. 검사 종류는 목적에 따라 정해요 [핵심 설명] 암 조직이나 피로 검사 / 유전자 변이를 찾아요 / 치료 선택에 참고해요</a:t>
            </a:r>
          </a:p>
        </p:txBody>
      </p:sp>
    </p:spTree>
    <p:extLst>
      <p:ext uri="{BB962C8B-B14F-4D97-AF65-F5344CB8AC3E}">
        <p14:creationId xmlns:p14="http://schemas.microsoft.com/office/powerpoint/2010/main" val="11572092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09A5D93-ACC8-4380-A06D-0DE0F0E4AE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455ABEF3-B50A-4984-984D-1067E80EE15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림프계가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BF619A3-14C2-4E05-B2BA-A9C869852C3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온몸에 퍼진 림프관과 림프절로 이루어진 면역 통로예요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AF154C84-84EC-4184-87DC-8ED87A615A7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암세포가 이 길을 타고 퍼지기도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806D4FE-C5B3-4D46-B202-82FD819CE58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51" descr="{&quot;page&quot;: 51, &quot;text_data&quot;: &quot;림프계가 뭔가요?\n온몸에 퍼진 림프관과 림프절로 이루어진 면역 통로예요\n암세포가 이 길을 타고 퍼지기도 해요\n[핵심 설명] 림프관: 온몸의 길 / 림프절: 거르는 정거장 / 세균·이물질을 걸러요&quot;, &quot;header1&quot;: &quot;암 진단·치료&quot;, &quot;header2&quot;: &quot;암의 발생·확산&quot;, &quot;header3&quot;: &quot;림프계&quot;, &quot;keywords&quot;: [&quot;암통합치료비&quot;, &quot;림프절&quot;, &quot;림프절전이&quot;, &quot;전이암진단비&quot;]}">
            <a:extLst>
              <a:ext uri="{FF2B5EF4-FFF2-40B4-BE49-F238E27FC236}">
                <a16:creationId xmlns:a16="http://schemas.microsoft.com/office/drawing/2014/main" id="{BF1394DC-AB96-44AF-9537-4EF0EF6FE60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051  헤더1: 암 진단·치료  헤더2: 암의 발생·확산  헤더3: 림프계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림프절, 림프절전이, 전이암진단비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림프계가 뭔가요? 온몸에 퍼진 림프관과 림프절로 이루어진 면역 통로예요 암세포가 이 길을 타고 퍼지기도 해요 [핵심 설명] 림프관: 온몸의 길 / 림프절: 거르는 정거장 / 세균·이물질을 걸러요</a:t>
            </a:r>
          </a:p>
        </p:txBody>
      </p:sp>
    </p:spTree>
    <p:extLst>
      <p:ext uri="{BB962C8B-B14F-4D97-AF65-F5344CB8AC3E}">
        <p14:creationId xmlns:p14="http://schemas.microsoft.com/office/powerpoint/2010/main" val="14081175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226CC21-4B3E-4400-A79B-CF412CBB98F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69BD19B-88E5-43C1-9142-B0A80667F1F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전이가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A989439-49DB-407F-A6EC-E277A54B5F3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암세포가 처음 생긴 곳을 떠나 다른 곳에 자리 잡는 것이에요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CB48E86-1622-44C5-85D4-75F75F371618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주변 침윤과 다른 곳으로 옮는 전이는 구별해요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E85A4FC-B19D-412D-A779-AB12469237E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F6FE5DDA-F5FC-41E7-A9BF-25233FB4BBC8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다른 장기로 옮겨 간 암도 처음 생긴 암의 성질을 지녀요.</a:t>
            </a:r>
          </a:p>
        </p:txBody>
      </p:sp>
      <p:sp>
        <p:nvSpPr>
          <p:cNvPr id="8" name="RAG_METADATA_PAGE_052" descr="{&quot;page&quot;: 52, &quot;text_data&quot;: &quot;전이가 뭔가요?\n암세포가 처음 생긴 곳을 떠나 다른 곳에 자리 잡는 것이에요\n주변 침윤과 다른 곳으로 옮는 전이는 구별해요\n다른 장기로 옮겨 간 암도 처음 생긴 암의 성질을 지녀요.\n[핵심 설명] 혈관을 타고 가요 / 림프관을 타고 가요 / 다른 곳에서 자라요&quot;, &quot;header1&quot;: &quot;암 진단·치료&quot;, &quot;header2&quot;: &quot;암의 발생·확산&quot;, &quot;header3&quot;: &quot;전이&quot;, &quot;keywords&quot;: [&quot;암통합치료비&quot;, &quot;전이암&quot;, &quot;전이암진단비&quot;, &quot;4기암&quot;, &quot;림프절전이&quot;]}">
            <a:extLst>
              <a:ext uri="{FF2B5EF4-FFF2-40B4-BE49-F238E27FC236}">
                <a16:creationId xmlns:a16="http://schemas.microsoft.com/office/drawing/2014/main" id="{BC0D38F2-BF8E-4F2E-A484-640C055F6E48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052  헤더1: 암 진단·치료  헤더2: 암의 발생·확산  헤더3: 전이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전이암, 전이암진단비, 4기암, 림프절전이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전이가 뭔가요? 암세포가 처음 생긴 곳을 떠나 다른 곳에 자리 잡는 것이에요 주변 침윤과 다른 곳으로 옮는 전이는 구별해요 다른 장기로 옮겨 간 암도 처음 생긴 암의 성질을 지녀요. [핵심 설명] 혈관을 타고 가요 / 림프관을 타고 가요 / 다른 곳에서 자라요</a:t>
            </a:r>
          </a:p>
        </p:txBody>
      </p:sp>
    </p:spTree>
    <p:extLst>
      <p:ext uri="{BB962C8B-B14F-4D97-AF65-F5344CB8AC3E}">
        <p14:creationId xmlns:p14="http://schemas.microsoft.com/office/powerpoint/2010/main" val="5956150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DFD8CCE-A748-491A-8313-6C6D729228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1B4A802-0274-40AA-984C-C3C1F3D79EF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암의 병기가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67101C7-CDA4-47CF-9EE8-4CEA4671E88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암의 크기와 퍼진 정도를 바탕으로 나누는 단계예요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B68EF9A-DC41-4445-90AB-583AE32B8B74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암마다 병기 기준이 달라요. 그림은 대장암의 예시예요.</a:t>
            </a:r>
          </a:p>
          <a:p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국한·주변·원격 구분은 1~4기와 같지 않아요.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4B07D1C-52A4-4069-AC66-0C1ACA80327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Stage example label"/>
          <p:cNvSpPr txBox="1"/>
          <p:nvPr/>
        </p:nvSpPr>
        <p:spPr>
          <a:xfrm>
            <a:off x="552450" y="1381125"/>
            <a:ext cx="40005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6279"/>
                </a:solidFill>
                <a:latin typeface="Pretendard"/>
              </a:rPr>
              <a:t>대장암의 1~4기 예시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533400" y="5063417"/>
            <a:ext cx="11125200" cy="762000"/>
            <a:chOff x="533400" y="5105400"/>
            <a:chExt cx="11125200" cy="762000"/>
          </a:xfr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9000">
                <a:srgbClr val="EDF7FF"/>
              </a:gs>
              <a:gs pos="67000">
                <a:srgbClr val="FFF1EA"/>
              </a:gs>
              <a:gs pos="100000">
                <a:srgbClr val="F4F0FF"/>
              </a:gs>
            </a:gsLst>
            <a:lin ang="0" scaled="1"/>
            <a:tileRect/>
          </a:gradFill>
        </p:grpSpPr>
        <p:sp>
          <p:nvSpPr>
            <p:cNvPr id="8" name="Stage card 1"/>
            <p:cNvSpPr/>
            <p:nvPr/>
          </p:nvSpPr>
          <p:spPr>
            <a:xfrm>
              <a:off x="533400" y="5105400"/>
              <a:ext cx="2667000" cy="762000"/>
            </a:xfrm>
            <a:prstGeom prst="roundRect">
              <a:avLst>
                <a:gd name="adj" fmla="val 12000"/>
              </a:avLst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Stage card 2"/>
            <p:cNvSpPr/>
            <p:nvPr/>
          </p:nvSpPr>
          <p:spPr>
            <a:xfrm>
              <a:off x="3352800" y="5105400"/>
              <a:ext cx="2667000" cy="762000"/>
            </a:xfrm>
            <a:prstGeom prst="roundRect">
              <a:avLst>
                <a:gd name="adj" fmla="val 12000"/>
              </a:avLst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Stage card 3"/>
            <p:cNvSpPr/>
            <p:nvPr/>
          </p:nvSpPr>
          <p:spPr>
            <a:xfrm>
              <a:off x="6172200" y="5105400"/>
              <a:ext cx="2667000" cy="762000"/>
            </a:xfrm>
            <a:prstGeom prst="roundRect">
              <a:avLst>
                <a:gd name="adj" fmla="val 12000"/>
              </a:avLst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Stage card 4"/>
            <p:cNvSpPr/>
            <p:nvPr/>
          </p:nvSpPr>
          <p:spPr>
            <a:xfrm>
              <a:off x="8991600" y="5105400"/>
              <a:ext cx="2667000" cy="762000"/>
            </a:xfrm>
            <a:prstGeom prst="roundRect">
              <a:avLst>
                <a:gd name="adj" fmla="val 12000"/>
              </a:avLst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" name="Stage heading 1"/>
          <p:cNvSpPr txBox="1"/>
          <p:nvPr/>
        </p:nvSpPr>
        <p:spPr>
          <a:xfrm>
            <a:off x="647700" y="5089525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26364C"/>
                </a:solidFill>
                <a:latin typeface="Pretendard"/>
              </a:rPr>
              <a:t>1기</a:t>
            </a:r>
          </a:p>
        </p:txBody>
      </p:sp>
      <p:sp>
        <p:nvSpPr>
          <p:cNvPr id="10" name="Stage description 1"/>
          <p:cNvSpPr txBox="1"/>
          <p:nvPr/>
        </p:nvSpPr>
        <p:spPr>
          <a:xfrm>
            <a:off x="647700" y="5346700"/>
            <a:ext cx="24384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dirty="0" err="1">
                <a:solidFill>
                  <a:srgbClr val="26364C"/>
                </a:solidFill>
                <a:latin typeface="Pretendard"/>
              </a:rPr>
              <a:t>장벽</a:t>
            </a:r>
            <a:r>
              <a:rPr sz="1450" b="0" dirty="0">
                <a:solidFill>
                  <a:srgbClr val="26364C"/>
                </a:solidFill>
                <a:latin typeface="Pretendard"/>
              </a:rPr>
              <a:t> </a:t>
            </a:r>
            <a:r>
              <a:rPr sz="1450" b="0" dirty="0" err="1">
                <a:solidFill>
                  <a:srgbClr val="26364C"/>
                </a:solidFill>
                <a:latin typeface="Pretendard"/>
              </a:rPr>
              <a:t>안에</a:t>
            </a:r>
            <a:r>
              <a:rPr sz="1450" b="0" dirty="0">
                <a:solidFill>
                  <a:srgbClr val="26364C"/>
                </a:solidFill>
                <a:latin typeface="Pretendard"/>
              </a:rPr>
              <a:t> </a:t>
            </a:r>
            <a:r>
              <a:rPr sz="1450" b="0" dirty="0" err="1">
                <a:solidFill>
                  <a:srgbClr val="26364C"/>
                </a:solidFill>
                <a:latin typeface="Pretendard"/>
              </a:rPr>
              <a:t>머물고</a:t>
            </a:r>
            <a:endParaRPr sz="1450" b="0" dirty="0">
              <a:solidFill>
                <a:srgbClr val="26364C"/>
              </a:solidFill>
              <a:latin typeface="Pretendard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dirty="0" err="1">
                <a:solidFill>
                  <a:srgbClr val="26364C"/>
                </a:solidFill>
                <a:latin typeface="Pretendard"/>
              </a:rPr>
              <a:t>림프절</a:t>
            </a:r>
            <a:r>
              <a:rPr sz="1450" b="0" dirty="0">
                <a:solidFill>
                  <a:srgbClr val="26364C"/>
                </a:solidFill>
                <a:latin typeface="Pretendard"/>
              </a:rPr>
              <a:t> </a:t>
            </a:r>
            <a:r>
              <a:rPr sz="1450" b="0" dirty="0" err="1">
                <a:solidFill>
                  <a:srgbClr val="26364C"/>
                </a:solidFill>
                <a:latin typeface="Pretendard"/>
              </a:rPr>
              <a:t>전이는</a:t>
            </a:r>
            <a:r>
              <a:rPr sz="1450" b="0" dirty="0">
                <a:solidFill>
                  <a:srgbClr val="26364C"/>
                </a:solidFill>
                <a:latin typeface="Pretendard"/>
              </a:rPr>
              <a:t> </a:t>
            </a:r>
            <a:r>
              <a:rPr sz="1450" b="0" dirty="0" err="1">
                <a:solidFill>
                  <a:srgbClr val="26364C"/>
                </a:solidFill>
                <a:latin typeface="Pretendard"/>
              </a:rPr>
              <a:t>없어요</a:t>
            </a:r>
            <a:endParaRPr sz="1450" b="0" dirty="0">
              <a:solidFill>
                <a:srgbClr val="26364C"/>
              </a:solidFill>
              <a:latin typeface="Pretendard"/>
            </a:endParaRPr>
          </a:p>
        </p:txBody>
      </p:sp>
      <p:sp>
        <p:nvSpPr>
          <p:cNvPr id="12" name="Stage heading 2"/>
          <p:cNvSpPr txBox="1"/>
          <p:nvPr/>
        </p:nvSpPr>
        <p:spPr>
          <a:xfrm>
            <a:off x="3467100" y="5089525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64C"/>
                </a:solidFill>
                <a:latin typeface="Pretendard"/>
              </a:rPr>
              <a:t>2기</a:t>
            </a:r>
          </a:p>
        </p:txBody>
      </p:sp>
      <p:sp>
        <p:nvSpPr>
          <p:cNvPr id="13" name="Stage description 2"/>
          <p:cNvSpPr txBox="1"/>
          <p:nvPr/>
        </p:nvSpPr>
        <p:spPr>
          <a:xfrm>
            <a:off x="3467100" y="5346700"/>
            <a:ext cx="24384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6364C"/>
                </a:solidFill>
                <a:latin typeface="Pretendard"/>
              </a:rPr>
              <a:t>장벽을 뚫고 자라지만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6364C"/>
                </a:solidFill>
                <a:latin typeface="Pretendard"/>
              </a:rPr>
              <a:t>림프절 전이는 없어요</a:t>
            </a:r>
          </a:p>
        </p:txBody>
      </p:sp>
      <p:sp>
        <p:nvSpPr>
          <p:cNvPr id="15" name="Stage heading 3"/>
          <p:cNvSpPr txBox="1"/>
          <p:nvPr/>
        </p:nvSpPr>
        <p:spPr>
          <a:xfrm>
            <a:off x="6286500" y="5089525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64C"/>
                </a:solidFill>
                <a:latin typeface="Pretendard"/>
              </a:rPr>
              <a:t>3기</a:t>
            </a:r>
          </a:p>
        </p:txBody>
      </p:sp>
      <p:sp>
        <p:nvSpPr>
          <p:cNvPr id="16" name="Stage description 3"/>
          <p:cNvSpPr txBox="1"/>
          <p:nvPr/>
        </p:nvSpPr>
        <p:spPr>
          <a:xfrm>
            <a:off x="6286500" y="5346700"/>
            <a:ext cx="24384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6364C"/>
                </a:solidFill>
                <a:latin typeface="Pretendard"/>
              </a:rPr>
              <a:t>주변 림프절로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6364C"/>
                </a:solidFill>
                <a:latin typeface="Pretendard"/>
              </a:rPr>
              <a:t>전이되었어요</a:t>
            </a:r>
          </a:p>
        </p:txBody>
      </p:sp>
      <p:sp>
        <p:nvSpPr>
          <p:cNvPr id="18" name="Stage heading 4"/>
          <p:cNvSpPr txBox="1"/>
          <p:nvPr/>
        </p:nvSpPr>
        <p:spPr>
          <a:xfrm>
            <a:off x="9105900" y="5089525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64C"/>
                </a:solidFill>
                <a:latin typeface="Pretendard"/>
              </a:rPr>
              <a:t>4기</a:t>
            </a:r>
          </a:p>
        </p:txBody>
      </p:sp>
      <p:sp>
        <p:nvSpPr>
          <p:cNvPr id="19" name="Stage description 4"/>
          <p:cNvSpPr txBox="1"/>
          <p:nvPr/>
        </p:nvSpPr>
        <p:spPr>
          <a:xfrm>
            <a:off x="9105900" y="5346700"/>
            <a:ext cx="24384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6364C"/>
                </a:solidFill>
                <a:latin typeface="Pretendard"/>
              </a:rPr>
              <a:t>간·폐 등 먼 장기로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6364C"/>
                </a:solidFill>
                <a:latin typeface="Pretendard"/>
              </a:rPr>
              <a:t>전이되었어요</a:t>
            </a:r>
          </a:p>
        </p:txBody>
      </p:sp>
      <p:sp>
        <p:nvSpPr>
          <p:cNvPr id="21" name="RAG_METADATA_PAGE_053" descr="{&quot;page&quot;: 53, &quot;text_data&quot;: &quot;암의 병기가 뭔가요?\n암의 크기와 퍼진 정도를 바탕으로 나누는 단계예요.\n암마다 병기 기준이 달라요. 그림은 대장암의 예시예요.\n국한·주변·원격 구분은 1~4기와 같지 않아요.\n[핵심 설명] 대장암 예시: 1기는 장벽 안에 머물고 림프절 전이는 없어요. 2기는 장벽을 뚫고 자라지만 림프절 전이는 없어요. 3기는 주변 림프절로, 4기는 간·폐 등 먼 장기로 전이되었어요.&quot;, &quot;header1&quot;: &quot;암 진단·치료&quot;, &quot;header2&quot;: &quot;암의 발생·확산&quot;, &quot;header3&quot;: &quot;암의 병기&quot;, &quot;keywords&quot;: [&quot;암통합치료비&quot;, &quot;암진단비&quot;, &quot;암병기&quot;, &quot;초기암&quot;, &quot;4기암&quot;, &quot;말기암&quot;]}">
            <a:extLst>
              <a:ext uri="{FF2B5EF4-FFF2-40B4-BE49-F238E27FC236}">
                <a16:creationId xmlns:a16="http://schemas.microsoft.com/office/drawing/2014/main" id="{1FF7FC13-5FE1-48E2-962B-4661DAB27C52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053  헤더1: 암 진단·치료  헤더2: 암의 발생·확산  헤더3: 암의 병기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암진단비, 암병기, 초기암, 4기암, 말기암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암의 병기가 뭔가요? 암의 크기와 퍼진 정도를 바탕으로 나누는 단계예요. 암마다 병기 기준이 달라요. 그림은 대장암의 예시예요. 국한·주변·원격 구분은 1~4기와 같지 않아요. [핵심 설명] 대장암 예시: 1기는 장벽 안에 머물고 림프절 전이는 없어요. 2기는 장벽을 뚫고 자라지만 림프절 전이는 없어요. 3기는 주변 림프절로, 4기는 간·폐 등 먼 장기로 전이되었어요.</a:t>
            </a:r>
          </a:p>
        </p:txBody>
      </p:sp>
    </p:spTree>
    <p:extLst>
      <p:ext uri="{BB962C8B-B14F-4D97-AF65-F5344CB8AC3E}">
        <p14:creationId xmlns:p14="http://schemas.microsoft.com/office/powerpoint/2010/main" val="18034875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5211BA4-A295-481C-8888-783DC99EFEE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25AC06A-4A6C-43CF-8DFE-F76287CB7C9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원발암이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C4CDFEF-5364-4DDF-901D-9F61693D7B2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몸에서 처음 생긴 암을 말해요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27992F9-02D9-4A84-955F-A338C61202E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폐로 옮겨 간 대장암은 폐암이 아니라 대장암이에요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5983FC1-6EBA-4165-ACEF-A66AA00FD48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54" descr="{&quot;page&quot;: 54, &quot;text_data&quot;: &quot;원발암이 뭔가요?\n몸에서 처음 생긴 암을 말해요\n폐로 옮겨 간 대장암은 폐암이 아니라 대장암이에요\n[핵심 설명] 암이 처음 생긴 자리 / 암 이름의 기준이 돼요 / 치료 계획의 출발점&quot;, &quot;header1&quot;: &quot;암 진단·치료&quot;, &quot;header2&quot;: &quot;암의 발생·확산&quot;, &quot;header3&quot;: &quot;원발암&quot;, &quot;keywords&quot;: [&quot;암통합치료비&quot;, &quot;원발암&quot;, &quot;암진단비&quot;, &quot;통합암진단비&quot;]}">
            <a:extLst>
              <a:ext uri="{FF2B5EF4-FFF2-40B4-BE49-F238E27FC236}">
                <a16:creationId xmlns:a16="http://schemas.microsoft.com/office/drawing/2014/main" id="{080AF39B-0FE4-4768-A3C1-C09D45CFAE84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054  헤더1: 암 진단·치료  헤더2: 암의 발생·확산  헤더3: 원발암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원발암, 암진단비, 통합암진단비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원발암이 뭔가요? 몸에서 처음 생긴 암을 말해요 폐로 옮겨 간 대장암은 폐암이 아니라 대장암이에요 [핵심 설명] 암이 처음 생긴 자리 / 암 이름의 기준이 돼요 / 치료 계획의 출발점</a:t>
            </a:r>
          </a:p>
        </p:txBody>
      </p:sp>
    </p:spTree>
    <p:extLst>
      <p:ext uri="{BB962C8B-B14F-4D97-AF65-F5344CB8AC3E}">
        <p14:creationId xmlns:p14="http://schemas.microsoft.com/office/powerpoint/2010/main" val="5148410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A5D3915-05DA-4B25-8850-C9D0512BBF6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24CFABB-9875-438C-9824-B52EAAAF961C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전이암이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709A0F0-9E00-4962-A8F2-3B3270FB6D3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처음 생긴 암의 세포가 다른 곳으로 옮겨 자란 암이에요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D5E03B5-1CBE-41E4-90B1-DC5D493231B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처음 생긴 암을 기준으로 치료 계획을 세워요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0E6A548-AAFC-4F52-891E-EE10A91C463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55" descr="{&quot;page&quot;: 55, &quot;text_data&quot;: &quot;전이암이 뭔가요?\n처음 생긴 암의 세포가 다른 곳으로 옮겨 자란 암이에요\n처음 생긴 암을 기준으로 치료 계획을 세워요\n[핵심 설명] 원래 암에서 떨어져 나와 / 혈관·림프관으로 이동 / 다른 장기에서 자라요&quot;, &quot;header1&quot;: &quot;암 진단·치료&quot;, &quot;header2&quot;: &quot;암의 발생·확산&quot;, &quot;header3&quot;: &quot;전이암&quot;, &quot;keywords&quot;: [&quot;암통합치료비&quot;, &quot;전이암진단비&quot;, &quot;4기암&quot;, &quot;간전이&quot;, &quot;폐전이&quot;]}">
            <a:extLst>
              <a:ext uri="{FF2B5EF4-FFF2-40B4-BE49-F238E27FC236}">
                <a16:creationId xmlns:a16="http://schemas.microsoft.com/office/drawing/2014/main" id="{FFEBB956-B65B-4EF0-A67A-6644DABD93E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055  헤더1: 암 진단·치료  헤더2: 암의 발생·확산  헤더3: 전이암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전이암진단비, 4기암, 간전이, 폐전이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전이암이 뭔가요? 처음 생긴 암의 세포가 다른 곳으로 옮겨 자란 암이에요 처음 생긴 암을 기준으로 치료 계획을 세워요 [핵심 설명] 원래 암에서 떨어져 나와 / 혈관·림프관으로 이동 / 다른 장기에서 자라요</a:t>
            </a:r>
          </a:p>
        </p:txBody>
      </p:sp>
    </p:spTree>
    <p:extLst>
      <p:ext uri="{BB962C8B-B14F-4D97-AF65-F5344CB8AC3E}">
        <p14:creationId xmlns:p14="http://schemas.microsoft.com/office/powerpoint/2010/main" val="7151131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4C7ECD1-0DB7-4430-BDD8-BEC1C52B22C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02D9E17-111D-4797-A9BA-1F2D68657C1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재발암이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2DCE25D4-A41A-4F83-8628-1CA93F85EA2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치료로 사라졌던 암이 다시 나타난 것이에요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15C2D4F-D0FF-45C3-A97F-568F75322D2A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그래서 치료 뒤에도 정기 검사가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DEB6A337-2253-4C96-AAEC-5F857F6C301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03CEA033-8A6B-4C9E-90D6-607BB035A3A7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재발은 처음 생긴 곳이나 그 주변, 다른 부위에도 나타날 수 있어요.</a:t>
            </a:r>
          </a:p>
        </p:txBody>
      </p:sp>
      <p:sp>
        <p:nvSpPr>
          <p:cNvPr id="8" name="RAG_METADATA_PAGE_056" descr="{&quot;page&quot;: 56, &quot;text_data&quot;: &quot;재발암이 뭔가요?\n치료로 사라졌던 암이 다시 나타난 것이에요\n그래서 치료 뒤에도 정기 검사가 필요해요\n재발은 처음 생긴 곳이나 그 주변, 다른 부위에도 나타날 수 있어요.\n[핵심 설명] 치료 후 암이 안 보여요 / 시간이 지나 다시 생겨요 / 같은 곳이나 다른 곳에&quot;, &quot;header1&quot;: &quot;암 진단·치료&quot;, &quot;header2&quot;: &quot;암의 발생·확산&quot;, &quot;header3&quot;: &quot;재발암&quot;, &quot;keywords&quot;: [&quot;암통합치료비&quot;, &quot;재발암&quot;, &quot;계속암치료비&quot;, &quot;암주요치료비&quot;]}">
            <a:extLst>
              <a:ext uri="{FF2B5EF4-FFF2-40B4-BE49-F238E27FC236}">
                <a16:creationId xmlns:a16="http://schemas.microsoft.com/office/drawing/2014/main" id="{F591C33A-9BAC-4EF0-B2CD-3898E0F57C98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056  헤더1: 암 진단·치료  헤더2: 암의 발생·확산  헤더3: 재발암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재발암, 계속암치료비, 암주요치료비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재발암이 뭔가요? 치료로 사라졌던 암이 다시 나타난 것이에요 그래서 치료 뒤에도 정기 검사가 필요해요 재발은 처음 생긴 곳이나 그 주변, 다른 부위에도 나타날 수 있어요. [핵심 설명] 치료 후 암이 안 보여요 / 시간이 지나 다시 생겨요 / 같은 곳이나 다른 곳에</a:t>
            </a:r>
          </a:p>
        </p:txBody>
      </p:sp>
    </p:spTree>
    <p:extLst>
      <p:ext uri="{BB962C8B-B14F-4D97-AF65-F5344CB8AC3E}">
        <p14:creationId xmlns:p14="http://schemas.microsoft.com/office/powerpoint/2010/main" val="5725123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ED587E6-E21F-4591-B424-1CBCFAF320B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B8C4847-C3FB-4D89-B14F-857AFA43547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잔여암이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4E04997-217C-44C3-BDBF-E9DFF0A2C01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치료 후에도 몸에 남아 있는 암이에요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2F8B9456-CCED-41FC-B8E8-B6B9C2C31425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재발암은 사라졌다 다시 생긴 암, 잔여암은 남아 있는 암이에요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DD431697-730E-4070-81F4-CEAA951C5A3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57" descr="{&quot;page&quot;: 57, &quot;text_data&quot;: &quot;잔여암이 뭔가요?\n치료 후에도 몸에 남아 있는 암이에요\n재발암은 사라졌다 다시 생긴 암, 잔여암은 남아 있는 암이에요\n[핵심 설명] 수술·항암 치료를 해요 / 검사로 남은 암을 확인 / 추가 치료를 정해요&quot;, &quot;header1&quot;: &quot;암 진단·치료&quot;, &quot;header2&quot;: &quot;암의 발생·확산&quot;, &quot;header3&quot;: &quot;잔여암&quot;, &quot;keywords&quot;: [&quot;암통합치료비&quot;, &quot;잔여암&quot;, &quot;계속암치료비&quot;, &quot;암주요치료비&quot;]}">
            <a:extLst>
              <a:ext uri="{FF2B5EF4-FFF2-40B4-BE49-F238E27FC236}">
                <a16:creationId xmlns:a16="http://schemas.microsoft.com/office/drawing/2014/main" id="{7DC75A5A-2DEE-49B5-BFFA-202FAC537CE6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057  헤더1: 암 진단·치료  헤더2: 암의 발생·확산  헤더3: 잔여암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잔여암, 계속암치료비, 암주요치료비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잔여암이 뭔가요? 치료 후에도 몸에 남아 있는 암이에요 재발암은 사라졌다 다시 생긴 암, 잔여암은 남아 있는 암이에요 [핵심 설명] 수술·항암 치료를 해요 / 검사로 남은 암을 확인 / 추가 치료를 정해요</a:t>
            </a:r>
          </a:p>
        </p:txBody>
      </p:sp>
    </p:spTree>
    <p:extLst>
      <p:ext uri="{BB962C8B-B14F-4D97-AF65-F5344CB8AC3E}">
        <p14:creationId xmlns:p14="http://schemas.microsoft.com/office/powerpoint/2010/main" val="15736511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77BC7B6-4C30-4F5A-97A1-DD6CE40E9F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1B32CAD-053F-408F-AE89-1778795E6B5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이차 원발암이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AEE13DE-12AC-45AE-89A7-BF99C7FD0F8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이전 암과 별개로 새로 발생한 또 다른 암이에요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CD67C3E-9921-4281-80FB-AAE257843E68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암을 겪은 뒤에도 검진을 계속 받아야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19784E6-FCA9-4E3C-9E71-0CFC2766FDA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58" descr="{&quot;page&quot;: 58, &quot;text_data&quot;: &quot;이차 원발암이 뭔가요?\n이전 암과 별개로 새로 발생한 또 다른 암이에요\n암을 겪은 뒤에도 검진을 계속 받아야 해요\n[핵심 설명] 전이가 아니에요 / 재발도 아니에요 / 새로 생긴 별개의 암&quot;, &quot;header1&quot;: &quot;암 진단·치료&quot;, &quot;header2&quot;: &quot;암의 발생·확산&quot;, &quot;header3&quot;: &quot;이차 원발암&quot;, &quot;keywords&quot;: [&quot;암통합치료비&quot;, &quot;이차암&quot;, &quot;두번째암&quot;, &quot;암진단비&quot;]}">
            <a:extLst>
              <a:ext uri="{FF2B5EF4-FFF2-40B4-BE49-F238E27FC236}">
                <a16:creationId xmlns:a16="http://schemas.microsoft.com/office/drawing/2014/main" id="{C37C89DC-4A02-4960-91C1-CCF79D2B46F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058  헤더1: 암 진단·치료  헤더2: 암의 발생·확산  헤더3: 이차 원발암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이차암, 두번째암, 암진단비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이차 원발암이 뭔가요? 이전 암과 별개로 새로 발생한 또 다른 암이에요 암을 겪은 뒤에도 검진을 계속 받아야 해요 [핵심 설명] 전이가 아니에요 / 재발도 아니에요 / 새로 생긴 별개의 암</a:t>
            </a:r>
          </a:p>
        </p:txBody>
      </p:sp>
    </p:spTree>
    <p:extLst>
      <p:ext uri="{BB962C8B-B14F-4D97-AF65-F5344CB8AC3E}">
        <p14:creationId xmlns:p14="http://schemas.microsoft.com/office/powerpoint/2010/main" val="13351645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87CDEF9-6E6A-4BD6-AB77-9D58936E36D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088CE28-B00E-4064-92FE-3224F0FAD07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전이암 · 재발암 · 잔여암 · 이차 원발암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E2EFB36-B017-4505-A8AD-9E7583883FA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헷갈리기 쉬운 네 가지 말을 한눈에 비교해요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A3658C05-3B60-4D63-8832-C792C4C43E6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이차 원발암은 전이암과 뜻이 다르므로 구별해요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CA6A53F-4290-415D-9F00-C76AEF2527F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59" descr="{&quot;page&quot;: 59, &quot;text_data&quot;: &quot;전이암 · 재발암 · 잔여암 · 이차 원발암\n헷갈리기 쉬운 네 가지 말을 한눈에 비교해요\n이차 원발암은 전이암과 뜻이 다르므로 구별해요\n[핵심 설명] 전이: 옮겨 감 / 재발: 다시 생김 / 잔여: 남음 / 이차 원발: 새로 생긴 암&quot;, &quot;header1&quot;: &quot;암 진단·치료&quot;, &quot;header2&quot;: &quot;암의 발생·확산&quot;, &quot;header3&quot;: &quot;전이·재발·잔여·이차 원발암 비교&quot;, &quot;keywords&quot;: [&quot;암통합치료비&quot;, &quot;전이암&quot;, &quot;재발암&quot;, &quot;잔여암&quot;, &quot;이차암&quot;, &quot;계속암치료비&quot;]}">
            <a:extLst>
              <a:ext uri="{FF2B5EF4-FFF2-40B4-BE49-F238E27FC236}">
                <a16:creationId xmlns:a16="http://schemas.microsoft.com/office/drawing/2014/main" id="{CAE68DDD-43BF-407D-BDB0-2B01E9BED32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059  헤더1: 암 진단·치료  헤더2: 암의 발생·확산  헤더3: 전이·재발·잔여·이차 원발암 비교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전이암, 재발암, 잔여암, 이차암, 계속암치료비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전이암 · 재발암 · 잔여암 · 이차 원발암 헷갈리기 쉬운 네 가지 말을 한눈에 비교해요 이차 원발암은 전이암과 뜻이 다르므로 구별해요 [핵심 설명] 전이: 옮겨 감 / 재발: 다시 생김 / 잔여: 남음 / 이차 원발: 새로 생긴 암</a:t>
            </a:r>
          </a:p>
        </p:txBody>
      </p:sp>
    </p:spTree>
    <p:extLst>
      <p:ext uri="{BB962C8B-B14F-4D97-AF65-F5344CB8AC3E}">
        <p14:creationId xmlns:p14="http://schemas.microsoft.com/office/powerpoint/2010/main" val="1951130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EE4967C-DD3F-44EF-9B45-1A6E025ABB5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2A17409-6334-4CFC-A1C6-5C990C7EC79C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근치적 절제술이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5FC0AE6F-B41C-4BF1-83A0-C572F7C8109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암을 남김없이 제거하는 것을 목표로 하는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661D3F2-FAF8-4EA0-8D42-520126699C4D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암을 남기지 않는 것이 목표인 수술이에요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7262627-C621-4FA7-9210-1E0976B71BF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60" descr="{&quot;page&quot;: 60, &quot;text_data&quot;: &quot;근치적 절제술이 뭔가요?\n암을 남김없이 제거하는 것을 목표로 하는 수술이에요\n암을 남기지 않는 것이 목표인 수술이에요\n[핵심 설명] 암의 범위를 확인해요 / 여유를 두고 잘라내요 / 필요하면 림프절도 떼어요&quot;, &quot;header1&quot;: &quot;암 진단·치료&quot;, &quot;header2&quot;: &quot;암 수술·국소치료&quot;, &quot;header3&quot;: &quot;근치적 절제술&quot;, &quot;keywords&quot;: [&quot;암통합치료비&quot;, &quot;암수술비&quot;, &quot;암주요치료비&quot;, &quot;종수술비&quot;, &quot;암절제수술&quot;]}">
            <a:extLst>
              <a:ext uri="{FF2B5EF4-FFF2-40B4-BE49-F238E27FC236}">
                <a16:creationId xmlns:a16="http://schemas.microsoft.com/office/drawing/2014/main" id="{34ED3086-D36F-4027-9B29-C9ABA5500DA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060  헤더1: 암 진단·치료  헤더2: 암 수술·국소치료  헤더3: 근치적 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암수술비, 암주요치료비, 종수술비, 암절제수술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근치적 절제술이 뭔가요? 암을 남김없이 제거하는 것을 목표로 하는 수술이에요 암을 남기지 않는 것이 목표인 수술이에요 [핵심 설명] 암의 범위를 확인해요 / 여유를 두고 잘라내요 / 필요하면 림프절도 떼어요</a:t>
            </a:r>
          </a:p>
        </p:txBody>
      </p:sp>
    </p:spTree>
    <p:extLst>
      <p:ext uri="{BB962C8B-B14F-4D97-AF65-F5344CB8AC3E}">
        <p14:creationId xmlns:p14="http://schemas.microsoft.com/office/powerpoint/2010/main" val="16373858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392B6DE-E101-4AAB-8901-1708EA7433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5EC4C11-BCAE-4F39-92A1-06C18626E24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내시경 점막하 박리술(ESD)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FD03835-25E6-492B-BD8F-243B4EC8ED3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내시경으로 점막 아래를 얇게 벗겨 초기 암을 떼어내요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2BB0481-2F8B-4933-A603-A4E5B5CB85F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깊이·크기·조직 등의 조건이 맞는 초기 암에서 고려해요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62568C1-E1ED-488C-9600-1F93BFDB8A9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D43E0C67-FA7F-4399-8E40-E27C5F2914E7}"/>
              </a:ext>
            </a:extLst>
          </p:cNvPr>
          <p:cNvSpPr>
            <a:spLocks noGrp="1"/>
          </p:cNvSpPr>
          <p:nvPr/>
        </p:nvSpPr>
        <p:spPr>
          <a:xfrm>
            <a:off x="552450" y="5429250"/>
            <a:ext cx="1108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‘점막’은 위나 장의 안쪽 표면을 덮고 있는 층을 말해요.</a:t>
            </a:r>
          </a:p>
        </p:txBody>
      </p:sp>
      <p:sp>
        <p:nvSpPr>
          <p:cNvPr id="8" name="RAG_METADATA_PAGE_061" descr="{&quot;page&quot;: 61, &quot;text_data&quot;: &quot;내시경 점막하 박리술(ESD)\n내시경으로 점막 아래를 얇게 벗겨 초기 암을 떼어내요\n‘점막’은 위나 장의 안쪽 표면을 덮고 있는 층을 말해요.\n깊이·크기·조직 등의 조건이 맞는 초기 암에서 고려해요\n[핵심 설명] 점막 밑에 액체를 넣어요 / 둘레를 잘라요 / 얇게 벗겨내요&quot;, &quot;header1&quot;: &quot;암 진단·치료&quot;, &quot;header2&quot;: &quot;암 수술·국소치료&quot;, &quot;header3&quot;: &quot;내시경 점막하 박리술&quot;, &quot;keywords&quot;: [&quot;암통합치료비&quot;, &quot;내시경수술&quot;, &quot;ESD&quot;, &quot;암수술비&quot;, &quot;종수술비&quot;, &quot;조기암&quot;]}">
            <a:extLst>
              <a:ext uri="{FF2B5EF4-FFF2-40B4-BE49-F238E27FC236}">
                <a16:creationId xmlns:a16="http://schemas.microsoft.com/office/drawing/2014/main" id="{87B60A6E-1571-479A-9960-8AEC496CE69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061  헤더1: 암 진단·치료  헤더2: 암 수술·국소치료  헤더3: 내시경 점막하 박리술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내시경수술, ESD, 암수술비, 종수술비, 조기암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내시경 점막하 박리술(ESD) 내시경으로 점막 아래를 얇게 벗겨 초기 암을 떼어내요 ‘점막’은 위나 장의 안쪽 표면을 덮고 있는 층을 말해요. 깊이·크기·조직 등의 조건이 맞는 초기 암에서 고려해요 [핵심 설명] 점막 밑에 액체를 넣어요 / 둘레를 잘라요 / 얇게 벗겨내요</a:t>
            </a:r>
          </a:p>
        </p:txBody>
      </p:sp>
    </p:spTree>
    <p:extLst>
      <p:ext uri="{BB962C8B-B14F-4D97-AF65-F5344CB8AC3E}">
        <p14:creationId xmlns:p14="http://schemas.microsoft.com/office/powerpoint/2010/main" val="13832610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67F6E0B-DF2D-41C6-AD4F-6D8AC4364A1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E8CE665F-99E8-46AB-91B3-E4913A74BF1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고주파열치료가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5EBAFFB8-A94F-4C42-B4F4-693310FD4F6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바늘 전극을 암에 꽂고 열을 내어 태우는 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F6734670-AD98-43BF-9E6C-0CC98B28ABAD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크기가 작은 간암 등에서 많이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23E28F4-EBF9-4F85-A6EF-D83E28D0848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62" descr="{&quot;page&quot;: 62, &quot;text_data&quot;: &quot;고주파열치료가 뭔가요?\n바늘 전극을 암에 꽂고 열을 내어 태우는 치료예요\n크기가 작은 간암 등에서 많이 해요\n[핵심 설명] 초음파를 보며 바늘 삽입 / 전류로 열을 내요 / 암을 태워 없애요&quot;, &quot;header1&quot;: &quot;암 진단·치료&quot;, &quot;header2&quot;: &quot;암 수술·국소치료&quot;, &quot;header3&quot;: &quot;고주파열치료&quot;, &quot;keywords&quot;: [&quot;암통합치료비&quot;, &quot;고주파치료&quot;, &quot;간암&quot;, &quot;암수술비&quot;, &quot;종수술비&quot;]}">
            <a:extLst>
              <a:ext uri="{FF2B5EF4-FFF2-40B4-BE49-F238E27FC236}">
                <a16:creationId xmlns:a16="http://schemas.microsoft.com/office/drawing/2014/main" id="{EF81050D-A2D3-4B21-90F6-9658E40021A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062  헤더1: 암 진단·치료  헤더2: 암 수술·국소치료  헤더3: 고주파열치료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고주파치료, 간암, 암수술비,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고주파열치료가 뭔가요? 바늘 전극을 암에 꽂고 열을 내어 태우는 치료예요 크기가 작은 간암 등에서 많이 해요 [핵심 설명] 초음파를 보며 바늘 삽입 / 전류로 열을 내요 / 암을 태워 없애요</a:t>
            </a:r>
          </a:p>
        </p:txBody>
      </p:sp>
    </p:spTree>
    <p:extLst>
      <p:ext uri="{BB962C8B-B14F-4D97-AF65-F5344CB8AC3E}">
        <p14:creationId xmlns:p14="http://schemas.microsoft.com/office/powerpoint/2010/main" val="5765110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BF4158F-C96E-475B-BB55-C69B34F03A6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B323412-4F93-448E-B5E0-C332AC38BE7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극초단파열치료가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3207611-F180-41FB-B46A-73F7FA5FEAB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전자레인지와 같은 전자파로 암을 가열해 없애요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CC14EF7-11E3-4743-90A0-B774E404A1A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고주파는 전류, 극초단파는 전자파를 이용해요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CFA40B8-5E9D-4164-BD2F-AC56AFE51A8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63" descr="{&quot;page&quot;: 63, &quot;text_data&quot;: &quot;극초단파열치료가 뭔가요?\n전자레인지와 같은 전자파로 암을 가열해 없애요\n고주파는 전류, 극초단파는 전자파를 이용해요\n[핵심 설명] 바늘을 암에 넣어요 / 전자파로 가열해요 / 열로 암 조직을 파괴해요&quot;, &quot;header1&quot;: &quot;암 진단·치료&quot;, &quot;header2&quot;: &quot;암 수술·국소치료&quot;, &quot;header3&quot;: &quot;극초단파열치료&quot;, &quot;keywords&quot;: [&quot;암통합치료비&quot;, &quot;극초단파치료&quot;, &quot;간암&quot;, &quot;암수술비&quot;, &quot;종수술비&quot;]}">
            <a:extLst>
              <a:ext uri="{FF2B5EF4-FFF2-40B4-BE49-F238E27FC236}">
                <a16:creationId xmlns:a16="http://schemas.microsoft.com/office/drawing/2014/main" id="{F483DCAE-5AC0-464E-AA40-6C6D8335057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063  헤더1: 암 진단·치료  헤더2: 암 수술·국소치료  헤더3: 극초단파열치료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극초단파치료, 간암, 암수술비,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극초단파열치료가 뭔가요? 전자레인지와 같은 전자파로 암을 가열해 없애요 고주파는 전류, 극초단파는 전자파를 이용해요 [핵심 설명] 바늘을 암에 넣어요 / 전자파로 가열해요 / 열로 암 조직을 파괴해요</a:t>
            </a:r>
          </a:p>
        </p:txBody>
      </p:sp>
    </p:spTree>
    <p:extLst>
      <p:ext uri="{BB962C8B-B14F-4D97-AF65-F5344CB8AC3E}">
        <p14:creationId xmlns:p14="http://schemas.microsoft.com/office/powerpoint/2010/main" val="16609810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FAB28CD-7736-44FB-84FE-EF8EE1D9571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0DD4CCC-3A44-48E4-AE7D-C71065B83D0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냉동제거술이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BE5A44C-7E93-43A8-AA74-DF1DD106703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바늘 끝을 급속 냉각해 암을 얼려 파괴하는 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8CAB30E0-D68E-42EE-A7E0-A193AB5FF9E7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신장암, 일부 간암·폐암에서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294BF51C-1541-4E75-9F3E-1FC2B593184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64" descr="{&quot;page&quot;: 64, &quot;text_data&quot;: &quot;냉동제거술이 뭔가요?\n바늘 끝을 급속 냉각해 암을 얼려 파괴하는 치료예요\n신장암, 일부 간암·폐암에서 해요\n[핵심 설명] 바늘을 암에 넣어요 / 얼렸다 녹이기를 반복 / 암세포가 파괴돼요&quot;, &quot;header1&quot;: &quot;암 진단·치료&quot;, &quot;header2&quot;: &quot;암 수술·국소치료&quot;, &quot;header3&quot;: &quot;냉동제거술&quot;, &quot;keywords&quot;: [&quot;암통합치료비&quot;, &quot;냉동치료&quot;, &quot;냉동절제&quot;, &quot;암수술비&quot;, &quot;종수술비&quot;]}">
            <a:extLst>
              <a:ext uri="{FF2B5EF4-FFF2-40B4-BE49-F238E27FC236}">
                <a16:creationId xmlns:a16="http://schemas.microsoft.com/office/drawing/2014/main" id="{E64190BE-D165-4625-B45B-68764D24FBF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064  헤더1: 암 진단·치료  헤더2: 암 수술·국소치료  헤더3: 냉동제거술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냉동치료, 냉동절제, 암수술비,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냉동제거술이 뭔가요? 바늘 끝을 급속 냉각해 암을 얼려 파괴하는 치료예요 신장암, 일부 간암·폐암에서 해요 [핵심 설명] 바늘을 암에 넣어요 / 얼렸다 녹이기를 반복 / 암세포가 파괴돼요</a:t>
            </a:r>
          </a:p>
        </p:txBody>
      </p:sp>
    </p:spTree>
    <p:extLst>
      <p:ext uri="{BB962C8B-B14F-4D97-AF65-F5344CB8AC3E}">
        <p14:creationId xmlns:p14="http://schemas.microsoft.com/office/powerpoint/2010/main" val="15173402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154FBA2-54EF-45A5-9DE6-CB7653F5EE6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DBA74CA-63BE-4F39-8581-2A70CDC8CCF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화학색전술(TACE)이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232E23BA-0045-4C9B-B07C-B8594BE5213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암으로 가는 혈관에 항암제를 넣고 그 혈관을 막아요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0354266-E0F2-466F-8A4E-2D9862D043F5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수술이 어려운 간암에서 많이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7E16C06-471D-41F1-8DAB-0FDB2A435A5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65" descr="{&quot;page&quot;: 65, &quot;text_data&quot;: &quot;화학색전술(TACE)이 뭔가요?\n암으로 가는 혈관에 항암제를 넣고 그 혈관을 막아요\n수술이 어려운 간암에서 많이 해요\n[핵심 설명] 사타구니로 관을 넣어요 / 암 혈관에 항암제 주입 / 혈관을 막아요&quot;, &quot;header1&quot;: &quot;암 진단·치료&quot;, &quot;header2&quot;: &quot;암 수술·국소치료&quot;, &quot;header3&quot;: &quot;간동맥 화학색전술&quot;, &quot;keywords&quot;: [&quot;암통합치료비&quot;, &quot;간암&quot;, &quot;간동맥색전술&quot;, &quot;TACE&quot;, &quot;항암치료비&quot;]}">
            <a:extLst>
              <a:ext uri="{FF2B5EF4-FFF2-40B4-BE49-F238E27FC236}">
                <a16:creationId xmlns:a16="http://schemas.microsoft.com/office/drawing/2014/main" id="{15309124-37D2-40EE-BD5E-59A21808A2D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065  헤더1: 암 진단·치료  헤더2: 암 수술·국소치료  헤더3: 간동맥 화학색전술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간암, 간동맥색전술, TACE, 항암치료비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화학색전술(TACE)이 뭔가요? 암으로 가는 혈관에 항암제를 넣고 그 혈관을 막아요 수술이 어려운 간암에서 많이 해요 [핵심 설명] 사타구니로 관을 넣어요 / 암 혈관에 항암제 주입 / 혈관을 막아요</a:t>
            </a:r>
          </a:p>
        </p:txBody>
      </p:sp>
    </p:spTree>
    <p:extLst>
      <p:ext uri="{BB962C8B-B14F-4D97-AF65-F5344CB8AC3E}">
        <p14:creationId xmlns:p14="http://schemas.microsoft.com/office/powerpoint/2010/main" val="6175701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8610A53-5CA7-4F45-902E-EE4698B3A3E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C25E109-4C19-41CC-8B99-2AA393653CB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방사선색전술(TARE)이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6AF6E18-5FAF-4A7F-B2BC-73A9BC755A2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방사성 구슬을 암 혈관에 넣어 안에서 방사선을 쬐어요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2FEA6D95-48C8-418D-BF03-65C283EE788D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구슬이 종양 혈관에 머물며 방사선을 내는 방식이에요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A6ED917-D9BE-47A8-A911-720BD3FC966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66" descr="{&quot;page&quot;: 66, &quot;text_data&quot;: &quot;방사선색전술(TARE)이 뭔가요?\n방사성 구슬을 암 혈관에 넣어 안에서 방사선을 쬐어요\n구슬이 종양 혈관에 머물며 방사선을 내는 방식이에요\n[핵심 설명] 사타구니로 관을 넣어요 / 방사성 구슬을 넣어요 / 종양 주변에 방사선을 쬐어요&quot;, &quot;header1&quot;: &quot;암 진단·치료&quot;, &quot;header2&quot;: &quot;암 수술·국소치료&quot;, &quot;header3&quot;: &quot;방사선색전술&quot;, &quot;keywords&quot;: [&quot;암통합치료비&quot;, &quot;간암&quot;, &quot;방사선색전술&quot;, &quot;TARE&quot;, &quot;항암방사선치료비&quot;]}">
            <a:extLst>
              <a:ext uri="{FF2B5EF4-FFF2-40B4-BE49-F238E27FC236}">
                <a16:creationId xmlns:a16="http://schemas.microsoft.com/office/drawing/2014/main" id="{170D3B9D-8E5A-4AD2-99FE-26C15E26297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066  헤더1: 암 진단·치료  헤더2: 암 수술·국소치료  헤더3: 방사선색전술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간암, 방사선색전술, TARE, 항암방사선치료비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방사선색전술(TARE)이 뭔가요? 방사성 구슬을 암 혈관에 넣어 안에서 방사선을 쬐어요 구슬이 종양 혈관에 머물며 방사선을 내는 방식이에요 [핵심 설명] 사타구니로 관을 넣어요 / 방사성 구슬을 넣어요 / 종양 주변에 방사선을 쬐어요</a:t>
            </a:r>
          </a:p>
        </p:txBody>
      </p:sp>
    </p:spTree>
    <p:extLst>
      <p:ext uri="{BB962C8B-B14F-4D97-AF65-F5344CB8AC3E}">
        <p14:creationId xmlns:p14="http://schemas.microsoft.com/office/powerpoint/2010/main" val="14798777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F13B5D8-B432-451B-B75F-CEF1A9A70EA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96BBDBD7-9976-404D-94D6-E4C02E77D4A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하이푸(HIFU)가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FEE4EB1-1B00-46E4-8F8F-9CF74A5F920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몸 밖에서 초음파를 한 점에 모아 그 열로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A2DE47B0-8D59-45F4-9B7F-571C7847272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치료 가능한 질환과 위치가 정해져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2791068-580F-44DF-BBB9-E67989B30F9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67" descr="{&quot;page&quot;: 67, &quot;text_data&quot;: &quot;하이푸(HIFU)가 뭔가요?\n몸 밖에서 초음파를 한 점에 모아 그 열로 치료해요\n치료 가능한 질환과 위치가 정해져 있어요\n[핵심 설명] 영상으로 위치를 봐요 / 초음파를 한 점에 모아요 / 열로 조직을 태워요&quot;, &quot;header1&quot;: &quot;암 진단·치료&quot;, &quot;header2&quot;: &quot;암 수술·국소치료&quot;, &quot;header3&quot;: &quot;하이푸&quot;, &quot;keywords&quot;: [&quot;암통합치료비&quot;, &quot;하이푸&quot;, &quot;HIFU&quot;, &quot;초음파치료&quot;]}">
            <a:extLst>
              <a:ext uri="{FF2B5EF4-FFF2-40B4-BE49-F238E27FC236}">
                <a16:creationId xmlns:a16="http://schemas.microsoft.com/office/drawing/2014/main" id="{7155A5F8-F3E0-4FAB-959B-F74E621269D6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067  헤더1: 암 진단·치료  헤더2: 암 수술·국소치료  헤더3: 하이푸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하이푸, HIFU, 초음파치료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하이푸(HIFU)가 뭔가요? 몸 밖에서 초음파를 한 점에 모아 그 열로 치료해요 치료 가능한 질환과 위치가 정해져 있어요 [핵심 설명] 영상으로 위치를 봐요 / 초음파를 한 점에 모아요 / 열로 조직을 태워요</a:t>
            </a:r>
          </a:p>
        </p:txBody>
      </p:sp>
    </p:spTree>
    <p:extLst>
      <p:ext uri="{BB962C8B-B14F-4D97-AF65-F5344CB8AC3E}">
        <p14:creationId xmlns:p14="http://schemas.microsoft.com/office/powerpoint/2010/main" val="14698860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86BCA28-8342-4038-A59C-1AF76E1D565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6F69E99-5188-4A46-AC88-1A2DADDA4F5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조혈모세포이식이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E66572C-5703-4037-BE85-AF262B2F4B4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항암치료 뒤 조혈기능 회복을 돕는 세포를 주입해요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BDE13DE-66A3-4063-9622-CBA4DF9CDEF3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백혈병, 림프종 등 혈액암에서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A60150E-816B-49C7-AB8E-FDB456F6475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6D00E6A9-65D8-413F-AAA3-AE4AECC0B466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조혈모세포는 여러 종류의 혈액세포로 자라는 바탕 세포예요.</a:t>
            </a:r>
          </a:p>
        </p:txBody>
      </p:sp>
      <p:sp>
        <p:nvSpPr>
          <p:cNvPr id="8" name="RAG_METADATA_PAGE_068" descr="{&quot;page&quot;: 68, &quot;text_data&quot;: &quot;조혈모세포이식이 뭔가요?\n항암치료 뒤 조혈기능 회복을 돕는 세포를 주입해요\n백혈병, 림프종 등 혈액암에서 해요\n조혈모세포는 여러 종류의 혈액세포로 자라는 바탕 세포예요.\n[핵심 설명] 본인·기증자 세포를 모아요 / 항암치료 등으로 준비해요 / 수혈하듯 넣어 줘요&quot;, &quot;header1&quot;: &quot;암 진단·치료&quot;, &quot;header2&quot;: &quot;혈액암·재건&quot;, &quot;header3&quot;: &quot;조혈모세포이식&quot;, &quot;keywords&quot;: [&quot;암통합치료비&quot;, &quot;조혈모세포이식수술비&quot;, &quot;백혈병&quot;, &quot;림프종&quot;, &quot;혈액암&quot;, &quot;종수술비&quot;]}">
            <a:extLst>
              <a:ext uri="{FF2B5EF4-FFF2-40B4-BE49-F238E27FC236}">
                <a16:creationId xmlns:a16="http://schemas.microsoft.com/office/drawing/2014/main" id="{15BD266F-34A6-4583-AAA0-38BCF425489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068  헤더1: 암 진단·치료  헤더2: 혈액암·재건  헤더3: 조혈모세포이식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조혈모세포이식수술비, 백혈병, 림프종, 혈액암,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조혈모세포이식이 뭔가요? 항암치료 뒤 조혈기능 회복을 돕는 세포를 주입해요 백혈병, 림프종 등 혈액암에서 해요 조혈모세포는 여러 종류의 혈액세포로 자라는 바탕 세포예요. [핵심 설명] 본인·기증자 세포를 모아요 / 항암치료 등으로 준비해요 / 수혈하듯 넣어 줘요</a:t>
            </a:r>
          </a:p>
        </p:txBody>
      </p:sp>
    </p:spTree>
    <p:extLst>
      <p:ext uri="{BB962C8B-B14F-4D97-AF65-F5344CB8AC3E}">
        <p14:creationId xmlns:p14="http://schemas.microsoft.com/office/powerpoint/2010/main" val="19832852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33E3DB0-5DA1-4C9B-B7DF-FF6E538B76D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A0109D7-2F65-4400-B4E8-807FB67F543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유방재건술이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C6C6E328-AD17-4FF5-B245-62099E2ACB4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유방 절제 뒤 모양을 다시 만들어 주는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CA5B8BDE-4507-4DC4-AE68-B46F9FDD1D88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 수술과 함께 하거나 나중에 따로 하기도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B0CBB5C-0086-46DC-8F12-144162AE761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ECD280AF-D098-4A62-A2E8-1C00200660A9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보형물을 넣거나 자기 몸의 조직을 옮겨 모양을 만들 수 있어요.</a:t>
            </a:r>
          </a:p>
        </p:txBody>
      </p:sp>
      <p:sp>
        <p:nvSpPr>
          <p:cNvPr id="8" name="RAG_METADATA_PAGE_069" descr="{&quot;page&quot;: 69, &quot;text_data&quot;: &quot;유방재건술이 뭔가요?\n유방 절제 뒤 모양을 다시 만들어 주는 수술이에요\n암 수술과 함께 하거나 나중에 따로 하기도 해요\n보형물을 넣거나 자기 몸의 조직을 옮겨 모양을 만들 수 있어요.\n[핵심 설명] 보형물을 넣거나 / 배·등의 조직을 옮겨요 / 모양을 맞춰요&quot;, &quot;header1&quot;: &quot;암 진단·치료&quot;, &quot;header2&quot;: &quot;혈액암·재건&quot;, &quot;header3&quot;: &quot;유방재건술&quot;, &quot;keywords&quot;: [&quot;유방재건&quot;, &quot;유방암&quot;, &quot;질병수술비&quot;, &quot;종수술비&quot;]}">
            <a:extLst>
              <a:ext uri="{FF2B5EF4-FFF2-40B4-BE49-F238E27FC236}">
                <a16:creationId xmlns:a16="http://schemas.microsoft.com/office/drawing/2014/main" id="{7CF3AB1E-546C-45C1-A7EE-F4C8C75D669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069  헤더1: 암 진단·치료  헤더2: 혈액암·재건  헤더3: 유방재건술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유방재건, 유방암,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유방재건술이 뭔가요? 유방 절제 뒤 모양을 다시 만들어 주는 수술이에요 암 수술과 함께 하거나 나중에 따로 하기도 해요 보형물을 넣거나 자기 몸의 조직을 옮겨 모양을 만들 수 있어요. [핵심 설명] 보형물을 넣거나 / 배·등의 조직을 옮겨요 / 모양을 맞춰요</a:t>
            </a:r>
          </a:p>
        </p:txBody>
      </p:sp>
    </p:spTree>
    <p:extLst>
      <p:ext uri="{BB962C8B-B14F-4D97-AF65-F5344CB8AC3E}">
        <p14:creationId xmlns:p14="http://schemas.microsoft.com/office/powerpoint/2010/main" val="19685098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56E5C7C-1706-4990-B1C8-B6AA6A7335B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AB18685-1C69-409C-B48A-D50EF041096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대표적인 항암약 다섯 분류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FACABE0-006C-438A-9BD5-918C34E7570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암에 작용하는 방식으로 묶어 본 대표적인 분류예요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F70B427E-A7B9-426E-A52E-F319E297AB2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먹는 약·정맥주사·피하주사 등 투여 경로는 약마다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12A5D3F-ED4B-4012-9E85-2E4154CECD5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70" descr="{&quot;page&quot;: 70, &quot;text_data&quot;: &quot;대표적인 항암약 다섯 분류\n암에 작용하는 방식으로 묶어 본 대표적인 분류예요\n먹는 약·정맥주사·피하주사 등 투여 경로는 약마다 달라요\n[핵심 설명] ①세포독성 ②표적 / ③면역 ④호르몬 / ⑤항체약물접합체&quot;, &quot;header1&quot;: &quot;암 진단·치료&quot;, &quot;header2&quot;: &quot;항암 약물치료&quot;, &quot;header3&quot;: &quot;항암약 분류&quot;, &quot;keywords&quot;: [&quot;암통합치료비&quot;, &quot;항암치료비&quot;, &quot;표적항암제&quot;, &quot;면역항암제&quot;, &quot;호르몬치료&quot;, &quot;항암약물치료비&quot;]}">
            <a:extLst>
              <a:ext uri="{FF2B5EF4-FFF2-40B4-BE49-F238E27FC236}">
                <a16:creationId xmlns:a16="http://schemas.microsoft.com/office/drawing/2014/main" id="{DBA87E58-D4E2-40CC-A493-DF1C13131F6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070  헤더1: 암 진단·치료  헤더2: 항암 약물치료  헤더3: 항암약 분류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항암치료비, 표적항암제, 면역항암제, 호르몬치료, 항암약물치료비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대표적인 항암약 다섯 분류 암에 작용하는 방식으로 묶어 본 대표적인 분류예요 먹는 약·정맥주사·피하주사 등 투여 경로는 약마다 달라요 [핵심 설명] ①세포독성 ②표적 / ③면역 ④호르몬 / ⑤항체약물접합체</a:t>
            </a:r>
          </a:p>
        </p:txBody>
      </p:sp>
    </p:spTree>
    <p:extLst>
      <p:ext uri="{BB962C8B-B14F-4D97-AF65-F5344CB8AC3E}">
        <p14:creationId xmlns:p14="http://schemas.microsoft.com/office/powerpoint/2010/main" val="21391961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A455CBC-65A9-40D7-AAC3-BCCBD311809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1FD356D-0EB9-4B16-8C45-9718FEEF26C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세포독성 항암제가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3EFA36B-A167-4F46-A037-4D1AE5FEE03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빨리 자라는 세포를 공격하는 전통적인 항암제예요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CB0D5FE-85FD-4AF9-AACA-DDD2EE302C7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머리카락·점막 세포도 영향받아 탈모, 구토가 생길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5064392-BFCF-4F8B-AD10-C1AC0EBD121F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71" descr="{&quot;page&quot;: 71, &quot;text_data&quot;: &quot;세포독성 항암제가 뭔가요?\n빨리 자라는 세포를 공격하는 전통적인 항암제예요\n머리카락·점막 세포도 영향받아 탈모, 구토가 생길 수 있어요\n[핵심 설명] 주사나 알약으로 써요 / 빨리 자라는 세포를 공격 / 쉬는 기간에 몸이 회복&quot;, &quot;header1&quot;: &quot;암 진단·치료&quot;, &quot;header2&quot;: &quot;항암 약물치료&quot;, &quot;header3&quot;: &quot;세포독성 항암제&quot;, &quot;keywords&quot;: [&quot;암통합치료비&quot;, &quot;항암약물치료비&quot;, &quot;항암제&quot;, &quot;세포독성항암제&quot;, &quot;항암치료비&quot;]}">
            <a:extLst>
              <a:ext uri="{FF2B5EF4-FFF2-40B4-BE49-F238E27FC236}">
                <a16:creationId xmlns:a16="http://schemas.microsoft.com/office/drawing/2014/main" id="{6ACEDD04-3635-4A19-ABCA-492ADBD722D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071  헤더1: 암 진단·치료  헤더2: 항암 약물치료  헤더3: 세포독성 항암제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항암약물치료비, 항암제, 세포독성항암제, 항암치료비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세포독성 항암제가 뭔가요? 빨리 자라는 세포를 공격하는 전통적인 항암제예요 머리카락·점막 세포도 영향받아 탈모, 구토가 생길 수 있어요 [핵심 설명] 주사나 알약으로 써요 / 빨리 자라는 세포를 공격 / 쉬는 기간에 몸이 회복</a:t>
            </a:r>
          </a:p>
        </p:txBody>
      </p:sp>
    </p:spTree>
    <p:extLst>
      <p:ext uri="{BB962C8B-B14F-4D97-AF65-F5344CB8AC3E}">
        <p14:creationId xmlns:p14="http://schemas.microsoft.com/office/powerpoint/2010/main" val="16191369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35AA2B5-5E8F-45C3-B4FB-A04A406FC30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00DD83B8-C762-4B6E-9DBC-FEB59A2C70F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표적항암제가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7A72EAA-376D-4D53-BC16-EF5A25E07C0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암 성장에 관여하는 특정 표적을 겨냥하는 약이에요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7424EDA-7F62-4345-BEAB-F633BCD5A93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정상 세포도 영향을 받으며 내성이 생길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9B84A66-2300-4495-A0F2-F7730079C10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cxnSp>
        <p:nvCxnSpPr>
          <p:cNvPr id="7" name="Cancer cell label leader"/>
          <p:cNvCxnSpPr/>
          <p:nvPr/>
        </p:nvCxnSpPr>
        <p:spPr>
          <a:xfrm flipH="1" flipV="1">
            <a:off x="5838825" y="5362575"/>
            <a:ext cx="19050" cy="238125"/>
          </a:xfrm>
          <a:prstGeom prst="line">
            <a:avLst/>
          </a:prstGeom>
          <a:ln w="12700">
            <a:solidFill>
              <a:srgbClr val="263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ncer cell label background"/>
          <p:cNvSpPr/>
          <p:nvPr/>
        </p:nvSpPr>
        <p:spPr>
          <a:xfrm>
            <a:off x="5143500" y="5600700"/>
            <a:ext cx="1428750" cy="285750"/>
          </a:xfrm>
          <a:prstGeom prst="roundRect">
            <a:avLst>
              <a:gd name="adj" fmla="val 12000"/>
            </a:avLst>
          </a:prstGeom>
          <a:solidFill>
            <a:srgbClr val="FF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ncer cell label"/>
          <p:cNvSpPr txBox="1"/>
          <p:nvPr/>
        </p:nvSpPr>
        <p:spPr>
          <a:xfrm>
            <a:off x="5143500" y="5600700"/>
            <a:ext cx="14287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64C"/>
                </a:solidFill>
                <a:latin typeface="Pretendard"/>
              </a:rPr>
              <a:t>암세포</a:t>
            </a:r>
          </a:p>
        </p:txBody>
      </p:sp>
      <p:cxnSp>
        <p:nvCxnSpPr>
          <p:cNvPr id="10" name="Normal cell label leader"/>
          <p:cNvCxnSpPr/>
          <p:nvPr/>
        </p:nvCxnSpPr>
        <p:spPr>
          <a:xfrm flipV="1">
            <a:off x="10429875" y="5381625"/>
            <a:ext cx="0" cy="219075"/>
          </a:xfrm>
          <a:prstGeom prst="line">
            <a:avLst/>
          </a:prstGeom>
          <a:ln w="12700">
            <a:solidFill>
              <a:srgbClr val="263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Normal cell label background"/>
          <p:cNvSpPr/>
          <p:nvPr/>
        </p:nvSpPr>
        <p:spPr>
          <a:xfrm>
            <a:off x="9525000" y="5600700"/>
            <a:ext cx="1809750" cy="285750"/>
          </a:xfrm>
          <a:prstGeom prst="roundRect">
            <a:avLst>
              <a:gd name="adj" fmla="val 12000"/>
            </a:avLst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Normal cell label"/>
          <p:cNvSpPr txBox="1"/>
          <p:nvPr/>
        </p:nvSpPr>
        <p:spPr>
          <a:xfrm>
            <a:off x="9525000" y="5600700"/>
            <a:ext cx="18097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64C"/>
                </a:solidFill>
                <a:latin typeface="Pretendard"/>
              </a:rPr>
              <a:t>정상 세포</a:t>
            </a:r>
          </a:p>
        </p:txBody>
      </p:sp>
      <p:sp>
        <p:nvSpPr>
          <p:cNvPr id="13" name="RAG_METADATA_PAGE_072" descr="{&quot;page&quot;: 72, &quot;text_data&quot;: &quot;표적항암제가 뭔가요?\n암 성장에 관여하는 특정 표적을 겨냥하는 약이에요.\n정상 세포도 영향을 받으며 내성이 생길 수 있어요.\n[핵심 설명] 검사로 치료 표적을 확인 / 맞는 약을 먹거나 맞아요 / 성장 신호 등을 차단해요. 그림에서 암세포와 정상 세포를 각각 표시해요.&quot;, &quot;header1&quot;: &quot;암 진단·치료&quot;, &quot;header2&quot;: &quot;항암 약물치료&quot;, &quot;header3&quot;: &quot;표적항암제&quot;, &quot;keywords&quot;: [&quot;암통합치료비&quot;, &quot;표적항암제&quot;, &quot;표적항암치료비&quot;, &quot;항암약물치료비&quot;]}">
            <a:extLst>
              <a:ext uri="{FF2B5EF4-FFF2-40B4-BE49-F238E27FC236}">
                <a16:creationId xmlns:a16="http://schemas.microsoft.com/office/drawing/2014/main" id="{AA0AC9A4-B92F-4CC8-89F1-D2BA955A8CE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072  헤더1: 암 진단·치료  헤더2: 항암 약물치료  헤더3: 표적항암제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표적항암제, 표적항암치료비, 항암약물치료비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표적항암제가 뭔가요? 암 성장에 관여하는 특정 표적을 겨냥하는 약이에요. 정상 세포도 영향을 받으며 내성이 생길 수 있어요. [핵심 설명] 검사로 치료 표적을 확인 / 맞는 약을 먹거나 맞아요 / 성장 신호 등을 차단해요. 그림에서 암세포와 정상 세포를 각각 표시해요.</a:t>
            </a:r>
          </a:p>
        </p:txBody>
      </p:sp>
    </p:spTree>
    <p:extLst>
      <p:ext uri="{BB962C8B-B14F-4D97-AF65-F5344CB8AC3E}">
        <p14:creationId xmlns:p14="http://schemas.microsoft.com/office/powerpoint/2010/main" val="9252805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FCFE54D-8E11-48A9-9B5E-6BAE17E91E4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3F5D0B6-D51F-4DD1-AD69-8BEB2ECC4D3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면역항암제(면역관문억제제)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08FA9197-BD34-4DE7-B6BB-5AEFCFF6264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면역세포의 브레이크를 풀어 암 공격을 도와요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25D4660-A37B-4525-B482-CF50BA80777D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반응은 사람마다 달라요. 면역 부작용을 살펴야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DC2B786-AF1D-43F1-9C80-6E76CD38F11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F502F00E-5B21-4B8A-A8C3-0672F460F089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면역관문은 면역 반응이 지나치지 않도록 조절하는 장치예요.</a:t>
            </a:r>
          </a:p>
        </p:txBody>
      </p:sp>
      <p:cxnSp>
        <p:nvCxnSpPr>
          <p:cNvPr id="8" name="Cell identity leader 0"/>
          <p:cNvCxnSpPr/>
          <p:nvPr/>
        </p:nvCxnSpPr>
        <p:spPr>
          <a:xfrm flipH="1">
            <a:off x="1524000" y="2200275"/>
            <a:ext cx="119062" cy="409575"/>
          </a:xfrm>
          <a:prstGeom prst="line">
            <a:avLst/>
          </a:prstGeom>
          <a:ln w="12700">
            <a:solidFill>
              <a:srgbClr val="263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ell identity background 0"/>
          <p:cNvSpPr/>
          <p:nvPr/>
        </p:nvSpPr>
        <p:spPr>
          <a:xfrm>
            <a:off x="523875" y="1885950"/>
            <a:ext cx="2238375" cy="314325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ell identity 0"/>
          <p:cNvSpPr txBox="1"/>
          <p:nvPr/>
        </p:nvSpPr>
        <p:spPr>
          <a:xfrm>
            <a:off x="523875" y="1885950"/>
            <a:ext cx="223837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64C"/>
                </a:solidFill>
                <a:latin typeface="Pretendard"/>
              </a:rPr>
              <a:t>면역세포(T세포)</a:t>
            </a:r>
          </a:p>
        </p:txBody>
      </p:sp>
      <p:cxnSp>
        <p:nvCxnSpPr>
          <p:cNvPr id="11" name="Cell identity leader 1"/>
          <p:cNvCxnSpPr/>
          <p:nvPr/>
        </p:nvCxnSpPr>
        <p:spPr>
          <a:xfrm>
            <a:off x="4191000" y="2200275"/>
            <a:ext cx="285750" cy="361950"/>
          </a:xfrm>
          <a:prstGeom prst="line">
            <a:avLst/>
          </a:prstGeom>
          <a:ln w="12700">
            <a:solidFill>
              <a:srgbClr val="263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ell identity background 1"/>
          <p:cNvSpPr/>
          <p:nvPr/>
        </p:nvSpPr>
        <p:spPr>
          <a:xfrm>
            <a:off x="3476625" y="1885950"/>
            <a:ext cx="1428750" cy="314325"/>
          </a:xfrm>
          <a:prstGeom prst="roundRect">
            <a:avLst>
              <a:gd name="adj" fmla="val 12000"/>
            </a:avLst>
          </a:prstGeom>
          <a:solidFill>
            <a:srgbClr val="FF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ell identity 1"/>
          <p:cNvSpPr txBox="1"/>
          <p:nvPr/>
        </p:nvSpPr>
        <p:spPr>
          <a:xfrm>
            <a:off x="3476625" y="1885950"/>
            <a:ext cx="142875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64C"/>
                </a:solidFill>
                <a:latin typeface="Pretendard"/>
              </a:rPr>
              <a:t>암세포</a:t>
            </a:r>
          </a:p>
        </p:txBody>
      </p:sp>
      <p:cxnSp>
        <p:nvCxnSpPr>
          <p:cNvPr id="14" name="Cell identity leader 2"/>
          <p:cNvCxnSpPr/>
          <p:nvPr/>
        </p:nvCxnSpPr>
        <p:spPr>
          <a:xfrm flipH="1">
            <a:off x="7381875" y="2200275"/>
            <a:ext cx="71437" cy="371475"/>
          </a:xfrm>
          <a:prstGeom prst="line">
            <a:avLst/>
          </a:prstGeom>
          <a:ln w="12700">
            <a:solidFill>
              <a:srgbClr val="263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ell identity background 2"/>
          <p:cNvSpPr/>
          <p:nvPr/>
        </p:nvSpPr>
        <p:spPr>
          <a:xfrm>
            <a:off x="6334125" y="1885950"/>
            <a:ext cx="2238375" cy="314325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ell identity 2"/>
          <p:cNvSpPr txBox="1"/>
          <p:nvPr/>
        </p:nvSpPr>
        <p:spPr>
          <a:xfrm>
            <a:off x="6334125" y="1885950"/>
            <a:ext cx="223837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64C"/>
                </a:solidFill>
                <a:latin typeface="Pretendard"/>
              </a:rPr>
              <a:t>면역세포(T세포)</a:t>
            </a:r>
          </a:p>
        </p:txBody>
      </p:sp>
      <p:cxnSp>
        <p:nvCxnSpPr>
          <p:cNvPr id="17" name="Cell identity leader 3"/>
          <p:cNvCxnSpPr/>
          <p:nvPr/>
        </p:nvCxnSpPr>
        <p:spPr>
          <a:xfrm>
            <a:off x="10810875" y="2200275"/>
            <a:ext cx="142875" cy="409575"/>
          </a:xfrm>
          <a:prstGeom prst="line">
            <a:avLst/>
          </a:prstGeom>
          <a:ln w="12700">
            <a:solidFill>
              <a:srgbClr val="263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ell identity background 3"/>
          <p:cNvSpPr/>
          <p:nvPr/>
        </p:nvSpPr>
        <p:spPr>
          <a:xfrm>
            <a:off x="10096500" y="1885950"/>
            <a:ext cx="1428750" cy="314325"/>
          </a:xfrm>
          <a:prstGeom prst="roundRect">
            <a:avLst>
              <a:gd name="adj" fmla="val 12000"/>
            </a:avLst>
          </a:prstGeom>
          <a:solidFill>
            <a:srgbClr val="FF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ell identity 3"/>
          <p:cNvSpPr txBox="1"/>
          <p:nvPr/>
        </p:nvSpPr>
        <p:spPr>
          <a:xfrm>
            <a:off x="10096500" y="1885950"/>
            <a:ext cx="142875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64C"/>
                </a:solidFill>
                <a:latin typeface="Pretendard"/>
              </a:rPr>
              <a:t>암세포</a:t>
            </a:r>
          </a:p>
        </p:txBody>
      </p:sp>
      <p:sp>
        <p:nvSpPr>
          <p:cNvPr id="20" name="RAG_METADATA_PAGE_073" descr="{&quot;page&quot;: 73, &quot;text_data&quot;: &quot;면역항암제(면역관문억제제)\n면역세포의 브레이크를 풀어 암 공격을 도와요.\n반응은 사람마다 달라요. 면역 부작용을 살펴야 해요.\n면역관문은 면역 반응이 지나치지 않도록 조절하는 장치예요.\n[핵심 설명] 주사로 투여해요 / 면역 억제 신호를 막아요 / 면역세포의 공격을 도와요. 약 쓰기 전·후 그림에서 면역세포(T세포)와 암세포를 각각 구분해요.&quot;, &quot;header1&quot;: &quot;암 진단·치료&quot;, &quot;header2&quot;: &quot;항암 약물치료&quot;, &quot;header3&quot;: &quot;면역관문억제제&quot;, &quot;keywords&quot;: [&quot;암통합치료비&quot;, &quot;면역항암제&quot;, &quot;면역항암치료비&quot;, &quot;항암약물치료비&quot;]}">
            <a:extLst>
              <a:ext uri="{FF2B5EF4-FFF2-40B4-BE49-F238E27FC236}">
                <a16:creationId xmlns:a16="http://schemas.microsoft.com/office/drawing/2014/main" id="{A12B0AC8-5140-4266-821F-41411EF69FE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073  헤더1: 암 진단·치료  헤더2: 항암 약물치료  헤더3: 면역관문억제제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면역항암제, 면역항암치료비, 항암약물치료비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면역항암제(면역관문억제제) 면역세포의 브레이크를 풀어 암 공격을 도와요. 반응은 사람마다 달라요. 면역 부작용을 살펴야 해요. 면역관문은 면역 반응이 지나치지 않도록 조절하는 장치예요. [핵심 설명] 주사로 투여해요 / 면역 억제 신호를 막아요 / 면역세포의 공격을 도와요. 약 쓰기 전·후 그림에서 면역세포(T세포)와 암세포를 각각 구분해요.</a:t>
            </a:r>
          </a:p>
        </p:txBody>
      </p:sp>
    </p:spTree>
    <p:extLst>
      <p:ext uri="{BB962C8B-B14F-4D97-AF65-F5344CB8AC3E}">
        <p14:creationId xmlns:p14="http://schemas.microsoft.com/office/powerpoint/2010/main" val="1514620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A7098AB-9F88-41F8-8BA9-EBE450B31A7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E214426-F0E8-4E32-83EE-7837B3A613C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호르몬치료가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582CB33-FDBA-4BB5-892E-41DA53C009F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호르몬으로 자라는 암에 호르몬을 차단하는 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A8360D45-619C-4EAD-822D-5F9C0EA3013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호르몬에 반응하는 암인지 확인한 뒤 사용해요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D9DC6E5-41BC-4431-9FE3-2F419186D7C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74" descr="{&quot;page&quot;: 74, &quot;text_data&quot;: &quot;호르몬치료가 뭔가요?\n호르몬으로 자라는 암에 호르몬을 차단하는 치료예요\n호르몬에 반응하는 암인지 확인한 뒤 사용해요\n[핵심 설명] 먹는 약이나 주사 / 호르몬을 막거나 줄여요 / 암이 자라기 어려워져요&quot;, &quot;header1&quot;: &quot;암 진단·치료&quot;, &quot;header2&quot;: &quot;항암 약물치료&quot;, &quot;header3&quot;: &quot;호르몬치료&quot;, &quot;keywords&quot;: [&quot;암통합치료비&quot;, &quot;호르몬치료&quot;, &quot;호르몬치료비&quot;, &quot;유방암&quot;, &quot;전립선암&quot;]}">
            <a:extLst>
              <a:ext uri="{FF2B5EF4-FFF2-40B4-BE49-F238E27FC236}">
                <a16:creationId xmlns:a16="http://schemas.microsoft.com/office/drawing/2014/main" id="{FBEADEFF-EE3B-4BB1-A3AD-B47942F546F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074  헤더1: 암 진단·치료  헤더2: 항암 약물치료  헤더3: 호르몬치료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호르몬치료, 호르몬치료비, 유방암, 전립선암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호르몬치료가 뭔가요? 호르몬으로 자라는 암에 호르몬을 차단하는 치료예요 호르몬에 반응하는 암인지 확인한 뒤 사용해요 [핵심 설명] 먹는 약이나 주사 / 호르몬을 막거나 줄여요 / 암이 자라기 어려워져요</a:t>
            </a:r>
          </a:p>
        </p:txBody>
      </p:sp>
    </p:spTree>
    <p:extLst>
      <p:ext uri="{BB962C8B-B14F-4D97-AF65-F5344CB8AC3E}">
        <p14:creationId xmlns:p14="http://schemas.microsoft.com/office/powerpoint/2010/main" val="10018823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770F00C-8A67-4626-AFBB-7B14608322E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B38650E-64BA-40C5-B939-FE8EF6E7F72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항체약물접합체(ADC)가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0745CAF-8315-4061-9315-7E8D9F74348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암을 찾아가는 항체에 항암제를 매달아 보내는 약이에요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C5FEC249-624C-412C-B4BE-902E611AED2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정상 세포도 영향을 받아 부작용이 생길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8D27243-E7BE-4476-BC38-7E8AAEB6CC4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75" descr="{&quot;page&quot;: 75, &quot;text_data&quot;: &quot;항체약물접합체(ADC)가 뭔가요?\n암을 찾아가는 항체에 항암제를 매달아 보내는 약이에요\n정상 세포도 영향을 받아 부작용이 생길 수 있어요\n[핵심 설명] 항체가 암세포를 찾아가요 / 암세포 안으로 들어가요 / 안에서 항암제가 나와요&quot;, &quot;header1&quot;: &quot;암 진단·치료&quot;, &quot;header2&quot;: &quot;항암 약물치료&quot;, &quot;header3&quot;: &quot;항체약물접합체&quot;, &quot;keywords&quot;: [&quot;암통합치료비&quot;, &quot;표적항암제&quot;, &quot;ADC&quot;, &quot;항체약물접합체&quot;, &quot;항암약물치료비&quot;]}">
            <a:extLst>
              <a:ext uri="{FF2B5EF4-FFF2-40B4-BE49-F238E27FC236}">
                <a16:creationId xmlns:a16="http://schemas.microsoft.com/office/drawing/2014/main" id="{249DD6B2-8500-4C44-8A3A-75838B9781A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075  헤더1: 암 진단·치료  헤더2: 항암 약물치료  헤더3: 항체약물접합체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표적항암제, ADC, 항체약물접합체, 항암약물치료비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항체약물접합체(ADC)가 뭔가요? 암을 찾아가는 항체에 항암제를 매달아 보내는 약이에요 정상 세포도 영향을 받아 부작용이 생길 수 있어요 [핵심 설명] 항체가 암세포를 찾아가요 / 암세포 안으로 들어가요 / 안에서 항암제가 나와요</a:t>
            </a:r>
          </a:p>
        </p:txBody>
      </p:sp>
    </p:spTree>
    <p:extLst>
      <p:ext uri="{BB962C8B-B14F-4D97-AF65-F5344CB8AC3E}">
        <p14:creationId xmlns:p14="http://schemas.microsoft.com/office/powerpoint/2010/main" val="16159755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001F010-E684-41DB-B376-FC316C3A6E5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8C9B04E2-80FA-41B6-B9BE-8C262F7D1E4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CAR-T 세포치료가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C519DC4C-AB9E-4E46-842B-E03A759F18F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내 면역세포를 꺼내 암을 알아보게 고쳐서 다시 넣어요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4999228-F8CC-4B72-99C7-D2FE43E11FD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일부 혈액암에서 써요. 지정된 병원에서만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A1C0665-45D8-4B64-BAD8-1BEE6EBD22E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76" descr="{&quot;page&quot;: 76, &quot;text_data&quot;: &quot;CAR-T 세포치료가 뭔가요?\n내 면역세포를 꺼내 암을 알아보게 고쳐서 다시 넣어요\n일부 혈액암에서 써요. 지정된 병원에서만 해요\n[핵심 설명] 피에서 면역세포를 채취 / 암을 찾는 유전자를 넣어요 / 늘려서 다시 주사해요&quot;, &quot;header1&quot;: &quot;암 진단·치료&quot;, &quot;header2&quot;: &quot;항암 약물치료&quot;, &quot;header3&quot;: &quot;CAR-T 세포치료&quot;, &quot;keywords&quot;: [&quot;암통합치료비&quot;, &quot;카티치료&quot;, &quot;CAR-T&quot;, &quot;혈액암&quot;, &quot;항암약물치료비&quot;]}">
            <a:extLst>
              <a:ext uri="{FF2B5EF4-FFF2-40B4-BE49-F238E27FC236}">
                <a16:creationId xmlns:a16="http://schemas.microsoft.com/office/drawing/2014/main" id="{1E25ADBC-3156-49B3-A02A-428BF28BDEE6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076  헤더1: 암 진단·치료  헤더2: 항암 약물치료  헤더3: CAR-T 세포치료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카티치료, CAR-T, 혈액암, 항암약물치료비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CAR-T 세포치료가 뭔가요? 내 면역세포를 꺼내 암을 알아보게 고쳐서 다시 넣어요 일부 혈액암에서 써요. 지정된 병원에서만 해요 [핵심 설명] 피에서 면역세포를 채취 / 암을 찾는 유전자를 넣어요 / 늘려서 다시 주사해요</a:t>
            </a:r>
          </a:p>
        </p:txBody>
      </p:sp>
    </p:spTree>
    <p:extLst>
      <p:ext uri="{BB962C8B-B14F-4D97-AF65-F5344CB8AC3E}">
        <p14:creationId xmlns:p14="http://schemas.microsoft.com/office/powerpoint/2010/main" val="14001628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FAF8C23-9E9F-4E2E-AF36-8DAB59AF8A4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0F51E15-0517-4796-A4A8-5F5A94F8593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방사성리간드 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F32015F-A3AC-467D-A5A4-67932D4E915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암세포에 달라붙는 약이 가까이에서 방사선을 쬐어요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708AD70-F720-44B6-8C25-5F033CAEA44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전립선암, 신경내분비종양 등에서 써요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A25ADB09-29DC-49E6-9543-B3EF214E25A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77" descr="{&quot;page&quot;: 77, &quot;text_data&quot;: &quot;방사성리간드 치료가 뭔가요?\n암세포에 달라붙는 약이 가까이에서 방사선을 쬐어요\n전립선암, 신경내분비종양 등에서 써요\n[핵심 설명] 방사성 약을 주사해요 / 약이 암세포에 달라붙어요 / 가까이서 방사선을 내요&quot;, &quot;header1&quot;: &quot;암 진단·치료&quot;, &quot;header2&quot;: &quot;항암 약물치료&quot;, &quot;header3&quot;: &quot;방사성리간드 치료&quot;, &quot;keywords&quot;: [&quot;암통합치료비&quot;, &quot;방사성리간드치료&quot;, &quot;전립선암&quot;, &quot;항암방사선치료비&quot;]}">
            <a:extLst>
              <a:ext uri="{FF2B5EF4-FFF2-40B4-BE49-F238E27FC236}">
                <a16:creationId xmlns:a16="http://schemas.microsoft.com/office/drawing/2014/main" id="{A6D90DDD-8856-49ED-871A-A4AB38695C6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077  헤더1: 암 진단·치료  헤더2: 항암 약물치료  헤더3: 방사성리간드 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방사성리간드치료, 전립선암, 항암방사선치료비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방사성리간드 치료가 뭔가요? 암세포에 달라붙는 약이 가까이에서 방사선을 쬐어요 전립선암, 신경내분비종양 등에서 써요 [핵심 설명] 방사성 약을 주사해요 / 약이 암세포에 달라붙어요 / 가까이서 방사선을 내요</a:t>
            </a:r>
          </a:p>
        </p:txBody>
      </p:sp>
    </p:spTree>
    <p:extLst>
      <p:ext uri="{BB962C8B-B14F-4D97-AF65-F5344CB8AC3E}">
        <p14:creationId xmlns:p14="http://schemas.microsoft.com/office/powerpoint/2010/main" val="142113505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2741774-40AD-4E53-B2FC-03310FD62B7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E3BCA1A-1041-487F-80CF-705B823D2E2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방사성 요오드 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461B214-0D62-4CC8-B2C2-99B6613690B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갑상선 세포가 요오드를 흡수하는 성질을 이용한 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54E37B9-5BA7-412E-B296-DD20F3923E68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일부 갑상선암에 사용하며 격리가 필요할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B3354D0-7EED-429B-82EB-2069B615369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78" descr="{&quot;page&quot;: 78, &quot;text_data&quot;: &quot;방사성 요오드 치료가 뭔가요?\n갑상선 세포가 요오드를 흡수하는 성질을 이용한 치료예요\n일부 갑상선암에 사용하며 격리가 필요할 수 있어요\n[핵심 설명] 캡슐을 먹어요 / 갑상선 세포에 모여요 / 방사선이 세포를 없애요&quot;, &quot;header1&quot;: &quot;암 진단·치료&quot;, &quot;header2&quot;: &quot;항암 약물치료&quot;, &quot;header3&quot;: &quot;방사성 요오드 치료&quot;, &quot;keywords&quot;: [&quot;암통합치료비&quot;, &quot;갑상선암&quot;, &quot;방사성요오드&quot;, &quot;항암방사선치료비&quot;]}">
            <a:extLst>
              <a:ext uri="{FF2B5EF4-FFF2-40B4-BE49-F238E27FC236}">
                <a16:creationId xmlns:a16="http://schemas.microsoft.com/office/drawing/2014/main" id="{CCA8DDCF-5CA5-413A-8AA0-FAC63C9DCE9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078  헤더1: 암 진단·치료  헤더2: 항암 약물치료  헤더3: 방사성 요오드 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갑상선암, 방사성요오드, 항암방사선치료비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방사성 요오드 치료가 뭔가요? 갑상선 세포가 요오드를 흡수하는 성질을 이용한 치료예요 일부 갑상선암에 사용하며 격리가 필요할 수 있어요 [핵심 설명] 캡슐을 먹어요 / 갑상선 세포에 모여요 / 방사선이 세포를 없애요</a:t>
            </a:r>
          </a:p>
        </p:txBody>
      </p:sp>
    </p:spTree>
    <p:extLst>
      <p:ext uri="{BB962C8B-B14F-4D97-AF65-F5344CB8AC3E}">
        <p14:creationId xmlns:p14="http://schemas.microsoft.com/office/powerpoint/2010/main" val="18654530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둥근 표 배경 1-1">
            <a:extLst>
              <a:ext uri="{FF2B5EF4-FFF2-40B4-BE49-F238E27FC236}">
                <a16:creationId xmlns:a16="http://schemas.microsoft.com/office/drawing/2014/main" id="{A0B6C137-29AF-4F2F-B6C1-025ABD43C5FB}"/>
              </a:ext>
            </a:extLst>
          </p:cNvPr>
          <p:cNvSpPr>
            <a:spLocks noGrp="1"/>
          </p:cNvSpPr>
          <p:nvPr/>
        </p:nvSpPr>
        <p:spPr>
          <a:xfrm>
            <a:off x="838200" y="24098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CDEBFF"/>
          </a:solidFill>
          <a:ln w="0">
            <a:noFill/>
            <a:prstDash val="solid"/>
          </a:ln>
        </p:spPr>
      </p:sp>
      <p:sp>
        <p:nvSpPr>
          <p:cNvPr id="9" name="둥근 표 배경 1-2">
            <a:extLst>
              <a:ext uri="{FF2B5EF4-FFF2-40B4-BE49-F238E27FC236}">
                <a16:creationId xmlns:a16="http://schemas.microsoft.com/office/drawing/2014/main" id="{7EF00A4D-2F71-4564-9DB5-1CED9801B272}"/>
              </a:ext>
            </a:extLst>
          </p:cNvPr>
          <p:cNvSpPr>
            <a:spLocks noGrp="1"/>
          </p:cNvSpPr>
          <p:nvPr/>
        </p:nvSpPr>
        <p:spPr>
          <a:xfrm>
            <a:off x="4394200" y="24098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DFD8FF"/>
          </a:solidFill>
          <a:ln w="0">
            <a:noFill/>
            <a:prstDash val="solid"/>
          </a:ln>
        </p:spPr>
      </p:sp>
      <p:sp>
        <p:nvSpPr>
          <p:cNvPr id="10" name="둥근 표 배경 1-3">
            <a:extLst>
              <a:ext uri="{FF2B5EF4-FFF2-40B4-BE49-F238E27FC236}">
                <a16:creationId xmlns:a16="http://schemas.microsoft.com/office/drawing/2014/main" id="{450A8C5C-5281-4182-957E-C9E05960ED39}"/>
              </a:ext>
            </a:extLst>
          </p:cNvPr>
          <p:cNvSpPr>
            <a:spLocks noGrp="1"/>
          </p:cNvSpPr>
          <p:nvPr/>
        </p:nvSpPr>
        <p:spPr>
          <a:xfrm>
            <a:off x="7950200" y="24098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FFD8CC"/>
          </a:solidFill>
          <a:ln w="0">
            <a:noFill/>
            <a:prstDash val="solid"/>
          </a:ln>
        </p:spPr>
      </p:sp>
      <p:sp>
        <p:nvSpPr>
          <p:cNvPr id="11" name="둥근 표 배경 2-1">
            <a:extLst>
              <a:ext uri="{FF2B5EF4-FFF2-40B4-BE49-F238E27FC236}">
                <a16:creationId xmlns:a16="http://schemas.microsoft.com/office/drawing/2014/main" id="{E32A6106-4F42-4C0D-88E4-064A03AAF027}"/>
              </a:ext>
            </a:extLst>
          </p:cNvPr>
          <p:cNvSpPr>
            <a:spLocks noGrp="1"/>
          </p:cNvSpPr>
          <p:nvPr/>
        </p:nvSpPr>
        <p:spPr>
          <a:xfrm>
            <a:off x="838200" y="37433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EDF7FF"/>
          </a:solidFill>
          <a:ln w="0">
            <a:noFill/>
            <a:prstDash val="solid"/>
          </a:ln>
        </p:spPr>
      </p:sp>
      <p:sp>
        <p:nvSpPr>
          <p:cNvPr id="12" name="둥근 표 배경 2-2">
            <a:extLst>
              <a:ext uri="{FF2B5EF4-FFF2-40B4-BE49-F238E27FC236}">
                <a16:creationId xmlns:a16="http://schemas.microsoft.com/office/drawing/2014/main" id="{C448215B-5DF2-442D-ACC6-7FCB2EFF73A9}"/>
              </a:ext>
            </a:extLst>
          </p:cNvPr>
          <p:cNvSpPr>
            <a:spLocks noGrp="1"/>
          </p:cNvSpPr>
          <p:nvPr/>
        </p:nvSpPr>
        <p:spPr>
          <a:xfrm>
            <a:off x="4394200" y="37433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F4F0FF"/>
          </a:solidFill>
          <a:ln w="0">
            <a:noFill/>
            <a:prstDash val="solid"/>
          </a:ln>
        </p:spPr>
      </p:sp>
      <p:sp>
        <p:nvSpPr>
          <p:cNvPr id="13" name="둥근 표 배경 2-3">
            <a:extLst>
              <a:ext uri="{FF2B5EF4-FFF2-40B4-BE49-F238E27FC236}">
                <a16:creationId xmlns:a16="http://schemas.microsoft.com/office/drawing/2014/main" id="{95A03E93-1654-49AB-AC2C-602F66724B71}"/>
              </a:ext>
            </a:extLst>
          </p:cNvPr>
          <p:cNvSpPr>
            <a:spLocks noGrp="1"/>
          </p:cNvSpPr>
          <p:nvPr/>
        </p:nvSpPr>
        <p:spPr>
          <a:xfrm>
            <a:off x="7950200" y="37433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FFF1EA"/>
          </a:solidFill>
          <a:ln w="0">
            <a:noFill/>
            <a:prstDash val="solid"/>
          </a:ln>
        </p:spPr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06C5947-FC7C-4A89-9D4D-CFF740AD9B71}"/>
              </a:ext>
            </a:extLst>
          </p:cNvPr>
          <p:cNvGraphicFramePr/>
          <p:nvPr/>
        </p:nvGraphicFramePr>
        <p:xfrm>
          <a:off x="762000" y="2333625"/>
          <a:ext cx="10668000" cy="2667000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0">
                <a:tc>
                  <a:txBody>
                    <a:bodyPr/>
                    <a:lstStyle/>
                    <a:p>
                      <a:pPr algn="ctr"/>
                      <a:r>
                        <a:rPr sz="2700" b="1" dirty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약 </a:t>
                      </a:r>
                      <a:r>
                        <a:rPr sz="2700" b="1" dirty="0" err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투여</a:t>
                      </a:r>
                      <a:endParaRPr sz="2700" b="1" dirty="0">
                        <a:solidFill>
                          <a:srgbClr val="26364C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휴식 기간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 dirty="0" err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다음</a:t>
                      </a:r>
                      <a:r>
                        <a:rPr sz="2700" b="1" dirty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2700" b="1" dirty="0" err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사이클</a:t>
                      </a:r>
                      <a:endParaRPr sz="2700" b="1" dirty="0">
                        <a:solidFill>
                          <a:srgbClr val="26364C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먹거나 주사로</a:t>
                      </a:r>
                    </a:p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정해진 일정에</a:t>
                      </a: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몸 상태를 살피며</a:t>
                      </a:r>
                    </a:p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정해진 기간 동안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 dirty="0" err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치료</a:t>
                      </a:r>
                      <a:r>
                        <a:rPr sz="2175" b="0" dirty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2175" b="0" dirty="0" err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계획에</a:t>
                      </a:r>
                      <a:r>
                        <a:rPr sz="2175" b="0" dirty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2175" b="0" dirty="0" err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맞춰</a:t>
                      </a:r>
                      <a:endParaRPr sz="2175" b="0" dirty="0">
                        <a:solidFill>
                          <a:srgbClr val="26364C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algn="ctr"/>
                      <a:r>
                        <a:rPr sz="2175" b="0" dirty="0" err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반복해요</a:t>
                      </a:r>
                      <a:endParaRPr sz="2175" b="0" dirty="0">
                        <a:solidFill>
                          <a:srgbClr val="26364C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주기 설명">
            <a:extLst>
              <a:ext uri="{FF2B5EF4-FFF2-40B4-BE49-F238E27FC236}">
                <a16:creationId xmlns:a16="http://schemas.microsoft.com/office/drawing/2014/main" id="{B2777DFC-68C6-4929-9F5B-999F3EE216C8}"/>
              </a:ext>
            </a:extLst>
          </p:cNvPr>
          <p:cNvSpPr>
            <a:spLocks noGrp="1"/>
          </p:cNvSpPr>
          <p:nvPr/>
        </p:nvSpPr>
        <p:spPr>
          <a:xfrm>
            <a:off x="809625" y="5314950"/>
            <a:ext cx="1057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약을 투여하는 기간과 쉬는 기간을 묶어 한 사이클이라고 해요</a:t>
            </a:r>
          </a:p>
        </p:txBody>
      </p:sp>
      <p:sp>
        <p:nvSpPr>
          <p:cNvPr id="3" name="제목">
            <a:extLst>
              <a:ext uri="{FF2B5EF4-FFF2-40B4-BE49-F238E27FC236}">
                <a16:creationId xmlns:a16="http://schemas.microsoft.com/office/drawing/2014/main" id="{C99446A6-0646-491B-9754-2C86E4A316B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항암 치료의 ‘사이클’이란?</a:t>
            </a:r>
          </a:p>
        </p:txBody>
      </p:sp>
      <p:sp>
        <p:nvSpPr>
          <p:cNvPr id="4" name="한 줄 설명">
            <a:extLst>
              <a:ext uri="{FF2B5EF4-FFF2-40B4-BE49-F238E27FC236}">
                <a16:creationId xmlns:a16="http://schemas.microsoft.com/office/drawing/2014/main" id="{46E2D869-EA5E-4198-98E1-9E4AFE920B9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약 투여와 휴식 기간을 한 주기로 세는 말이에요</a:t>
            </a:r>
          </a:p>
        </p:txBody>
      </p:sp>
      <p:sp>
        <p:nvSpPr>
          <p:cNvPr id="5" name="알아둘 점">
            <a:extLst>
              <a:ext uri="{FF2B5EF4-FFF2-40B4-BE49-F238E27FC236}">
                <a16:creationId xmlns:a16="http://schemas.microsoft.com/office/drawing/2014/main" id="{7C72E052-7E89-4A3A-8083-37F10E526E76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몇 사이클을 할지는 암과 약에 따라 달라요</a:t>
            </a:r>
          </a:p>
        </p:txBody>
      </p:sp>
      <p:sp>
        <p:nvSpPr>
          <p:cNvPr id="6" name="안내">
            <a:extLst>
              <a:ext uri="{FF2B5EF4-FFF2-40B4-BE49-F238E27FC236}">
                <a16:creationId xmlns:a16="http://schemas.microsoft.com/office/drawing/2014/main" id="{9172A9A6-BF2F-47C7-98F7-B82F03FD31C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14" name="RAG_METADATA_PAGE_079" descr="{&quot;page&quot;: 79, &quot;text_data&quot;: &quot;항암 치료의 ‘사이클’이란?\n약 투여와 휴식 기간을 한 주기로 세는 말이에요\n약을 투여하는 기간과 쉬는 기간을 묶어 한 사이클이라고 해요\n몇 사이클을 할지는 암과 약에 따라 달라요\n[핵심 설명] 정해진 날에 약을 투여 / 정해진 일정대로 쉬어요 / 이것이 1사이클이에요\n[표] 약 투여: 먹거나 주사로 정해진 일정에 / 휴식 기간: 몸 상태를 살피며 정해진 기간 동안 / 다음 사이클: 치료 계획에 맞춰 반복해요&quot;, &quot;header1&quot;: &quot;암 진단·치료&quot;, &quot;header2&quot;: &quot;항암 약물치료&quot;, &quot;header3&quot;: &quot;항암 사이클&quot;, &quot;keywords&quot;: [&quot;암통합치료비&quot;, &quot;항암치료비&quot;, &quot;항암주기&quot;, &quot;암통원일당&quot;, &quot;암주요치료비&quot;]}">
            <a:extLst>
              <a:ext uri="{FF2B5EF4-FFF2-40B4-BE49-F238E27FC236}">
                <a16:creationId xmlns:a16="http://schemas.microsoft.com/office/drawing/2014/main" id="{1A54EC8D-F359-4A85-990F-BC3FE151D50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079  헤더1: 암 진단·치료  헤더2: 항암 약물치료  헤더3: 항암 사이클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항암치료비, 항암주기, 암통원일당, 암주요치료비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항암 치료의 ‘사이클’이란? 약 투여와 휴식 기간을 한 주기로 세는 말이에요 약을 투여하는 기간과 쉬는 기간을 묶어 한 사이클이라고 해요 몇 사이클을 할지는 암과 약에 따라 달라요 [핵심 설명] 정해진 날에 약을 투여 / 정해진 일정대로 쉬어요 / 이것이 1사이클이에요 [표] 약 투여: 먹거나 주사로 정해진 일정에 / 휴식 기간: 몸 상태를 살피며 정해진 기간 동안 / 다음 사이클: 치료 계획에 맞춰 반복해요</a:t>
            </a:r>
          </a:p>
        </p:txBody>
      </p:sp>
    </p:spTree>
    <p:extLst>
      <p:ext uri="{BB962C8B-B14F-4D97-AF65-F5344CB8AC3E}">
        <p14:creationId xmlns:p14="http://schemas.microsoft.com/office/powerpoint/2010/main" val="165646328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BAAD9AF-9E47-4ED3-A7FC-2FA0BA072AC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730F09B-3985-48A2-86CD-908DA627086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외부 방사선치료가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1F973C4-1BCE-4720-9727-52F5F03D9E4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높은 에너지의 방사선으로 암세포를 파괴하는 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2E10A22A-E870-469A-97A7-0D8B80D13F5F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외부조사 뒤 방사선이 몸에 남지는 않아요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77793EC-937A-42E7-AE62-B018DBA8162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80" descr="{&quot;page&quot;: 80, &quot;text_data&quot;: &quot;외부 방사선치료가 뭔가요?\n높은 에너지의 방사선으로 암세포를 파괴하는 치료예요\n외부조사 뒤 방사선이 몸에 남지는 않아요\n[핵심 설명] CT로 치료 계획을 세워요 / 누워서 방사선을 쬐어요 / 치료 일정에 맞춰 반복해요&quot;, &quot;header1&quot;: &quot;암 진단·치료&quot;, &quot;header2&quot;: &quot;방사선치료&quot;, &quot;header3&quot;: &quot;외부 방사선치료&quot;, &quot;keywords&quot;: [&quot;암통합치료비&quot;, &quot;항암방사선치료비&quot;, &quot;방사선치료&quot;, &quot;암주요치료비&quot;]}">
            <a:extLst>
              <a:ext uri="{FF2B5EF4-FFF2-40B4-BE49-F238E27FC236}">
                <a16:creationId xmlns:a16="http://schemas.microsoft.com/office/drawing/2014/main" id="{E14CD49D-1AD5-48F0-9C84-964E4D00987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080  헤더1: 암 진단·치료  헤더2: 방사선치료  헤더3: 외부 방사선치료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항암방사선치료비, 방사선치료, 암주요치료비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외부 방사선치료가 뭔가요? 높은 에너지의 방사선으로 암세포를 파괴하는 치료예요 외부조사 뒤 방사선이 몸에 남지는 않아요 [핵심 설명] CT로 치료 계획을 세워요 / 누워서 방사선을 쬐어요 / 치료 일정에 맞춰 반복해요</a:t>
            </a:r>
          </a:p>
        </p:txBody>
      </p:sp>
    </p:spTree>
    <p:extLst>
      <p:ext uri="{BB962C8B-B14F-4D97-AF65-F5344CB8AC3E}">
        <p14:creationId xmlns:p14="http://schemas.microsoft.com/office/powerpoint/2010/main" val="195753138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A7D3AAC-01CE-4A08-A669-3AE3F9600F3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19CAF0E-32DC-4E8E-AE0C-0D114193E9B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3차원 입체조형 방사선치료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FC24084-F3C1-4A18-9E83-D3C08D360EE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여러 방향의 방사선을 암 모양에 맞춰 쬐어요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38691D5-9568-48DF-BF70-DFFC4F4B4AFC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주변 정상 조직에도 일부 방사선이 닿아요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92EB3807-4DE4-44B9-A3C8-232FC51DBC5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80DD80BC-EC39-44DF-BFE1-37B77F72AB9F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치료 계획에서 종양의 모양과 주변 장기의 위치를 함께 살펴요.</a:t>
            </a:r>
          </a:p>
        </p:txBody>
      </p:sp>
      <p:sp>
        <p:nvSpPr>
          <p:cNvPr id="8" name="RAG_METADATA_PAGE_081" descr="{&quot;page&quot;: 81, &quot;text_data&quot;: &quot;3차원 입체조형 방사선치료\n여러 방향의 방사선을 암 모양에 맞춰 쬐어요\n주변 정상 조직에도 일부 방사선이 닿아요\n치료 계획에서 종양의 모양과 주변 장기의 위치를 함께 살펴요.\n[핵심 설명] CT로 암을 입체로 봐요 / 여러 방향을 정해요 / 암에 선량을 모아요&quot;, &quot;header1&quot;: &quot;암 진단·치료&quot;, &quot;header2&quot;: &quot;방사선치료&quot;, &quot;header3&quot;: &quot;3차원 입체조형 방사선치료&quot;, &quot;keywords&quot;: [&quot;암통합치료비&quot;, &quot;항암방사선치료비&quot;, &quot;3차원방사선치료&quot;]}">
            <a:extLst>
              <a:ext uri="{FF2B5EF4-FFF2-40B4-BE49-F238E27FC236}">
                <a16:creationId xmlns:a16="http://schemas.microsoft.com/office/drawing/2014/main" id="{33B87B0C-5D4E-4F85-8718-A502AAA8980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081  헤더1: 암 진단·치료  헤더2: 방사선치료  헤더3: 3차원 입체조형 방사선치료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항암방사선치료비, 3차원방사선치료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3차원 입체조형 방사선치료 여러 방향의 방사선을 암 모양에 맞춰 쬐어요 주변 정상 조직에도 일부 방사선이 닿아요 치료 계획에서 종양의 모양과 주변 장기의 위치를 함께 살펴요. [핵심 설명] CT로 암을 입체로 봐요 / 여러 방향을 정해요 / 암에 선량을 모아요</a:t>
            </a:r>
          </a:p>
        </p:txBody>
      </p:sp>
    </p:spTree>
    <p:extLst>
      <p:ext uri="{BB962C8B-B14F-4D97-AF65-F5344CB8AC3E}">
        <p14:creationId xmlns:p14="http://schemas.microsoft.com/office/powerpoint/2010/main" val="11903539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E44FC09-8F94-4701-BB16-CCB0BA44974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5E93E58-E34D-4ACE-A846-D3A1D158C5D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세기조절 방사선치료(IMRT)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5F58AD2C-3C42-4AF6-A21E-14BD09EBF768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방사선의 세기를 구역마다 달리해 암 모양에 맞춰요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E720A859-ADCB-4D4D-9472-1A666674175F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암이 중요한 장기 옆에 있을 때 유리해요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42498FF-6B01-4128-A96D-3C46ECB7F80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82" descr="{&quot;page&quot;: 82, &quot;text_data&quot;: &quot;세기조절 방사선치료(IMRT)\n방사선의 세기를 구역마다 달리해 암 모양에 맞춰요\n암이 중요한 장기 옆에 있을 때 유리해요\n[핵심 설명] 빔을 잘게 나눠요 / 구역마다 세기를 조절 / 암 모양대로 쬐어요&quot;, &quot;header1&quot;: &quot;암 진단·치료&quot;, &quot;header2&quot;: &quot;방사선치료&quot;, &quot;header3&quot;: &quot;세기조절 방사선치료&quot;, &quot;keywords&quot;: [&quot;암통합치료비&quot;, &quot;세기조절방사선치료비&quot;, &quot;IMRT&quot;, &quot;항암방사선치료비&quot;]}">
            <a:extLst>
              <a:ext uri="{FF2B5EF4-FFF2-40B4-BE49-F238E27FC236}">
                <a16:creationId xmlns:a16="http://schemas.microsoft.com/office/drawing/2014/main" id="{D6653C3C-042A-464F-97AB-AD014E91A8A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082  헤더1: 암 진단·치료  헤더2: 방사선치료  헤더3: 세기조절 방사선치료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세기조절방사선치료비, IMRT, 항암방사선치료비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세기조절 방사선치료(IMRT) 방사선의 세기를 구역마다 달리해 암 모양에 맞춰요 암이 중요한 장기 옆에 있을 때 유리해요 [핵심 설명] 빔을 잘게 나눠요 / 구역마다 세기를 조절 / 암 모양대로 쬐어요</a:t>
            </a:r>
          </a:p>
        </p:txBody>
      </p:sp>
    </p:spTree>
    <p:extLst>
      <p:ext uri="{BB962C8B-B14F-4D97-AF65-F5344CB8AC3E}">
        <p14:creationId xmlns:p14="http://schemas.microsoft.com/office/powerpoint/2010/main" val="31658886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1E8C934-E0BA-4E55-9565-4023128C8E8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E9E549EF-4942-40E5-8635-BCAAE97CD79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토모테라피가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5FA5DB61-CCC8-491B-8B30-01616F50A5D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CT처럼 몸 둘레를 돌면서 방사선을 쬐는 장비예요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70B9BD0-A6B4-491C-AD58-FCFB81414616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여러 부위를 한 번에 치료하기도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5D3A773-29F8-4F72-8D74-4E7B3B0E49C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83" descr="{&quot;page&quot;: 83, &quot;text_data&quot;: &quot;토모테라피가 뭔가요?\nCT처럼 몸 둘레를 돌면서 방사선을 쬐는 장비예요\n여러 부위를 한 번에 치료하기도 해요\n[핵심 설명] 치료 직전 영상을 찍어요 / 위치를 확인해요 / 돌면서 쬐어요&quot;, &quot;header1&quot;: &quot;암 진단·치료&quot;, &quot;header2&quot;: &quot;방사선치료&quot;, &quot;header3&quot;: &quot;토모테라피&quot;, &quot;keywords&quot;: [&quot;암통합치료비&quot;, &quot;토모테라피&quot;, &quot;세기조절방사선치료비&quot;, &quot;항암방사선치료비&quot;]}">
            <a:extLst>
              <a:ext uri="{FF2B5EF4-FFF2-40B4-BE49-F238E27FC236}">
                <a16:creationId xmlns:a16="http://schemas.microsoft.com/office/drawing/2014/main" id="{F7FF5B9B-F7F6-4456-9C97-51A1EE166E4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083  헤더1: 암 진단·치료  헤더2: 방사선치료  헤더3: 토모테라피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토모테라피, 세기조절방사선치료비, 항암방사선치료비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토모테라피가 뭔가요? CT처럼 몸 둘레를 돌면서 방사선을 쬐는 장비예요 여러 부위를 한 번에 치료하기도 해요 [핵심 설명] 치료 직전 영상을 찍어요 / 위치를 확인해요 / 돌면서 쬐어요</a:t>
            </a:r>
          </a:p>
        </p:txBody>
      </p:sp>
    </p:spTree>
    <p:extLst>
      <p:ext uri="{BB962C8B-B14F-4D97-AF65-F5344CB8AC3E}">
        <p14:creationId xmlns:p14="http://schemas.microsoft.com/office/powerpoint/2010/main" val="20953759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C459B29-AB53-4E3A-BECE-CAFA4A25233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56ABB65-3226-47AC-97C6-21102775DB3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정위적 방사선치료가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0A0FCCCD-9C04-41D4-B068-00D05704E9D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적은 횟수로 집중해서 쬐는 정밀 방사선치료예요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FA3AAEFD-110B-4FF7-8848-092779CECD96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‘방사선수술’이라고도 해요. 칼을 쓰지는 않아요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795852A-A48F-46EB-A076-7EA2019DD0D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CD784F43-0F79-49DC-B692-9AF15FF8FE30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‘정위적’은 영상으로 위치를 정밀하게 맞춘다는 뜻이에요.</a:t>
            </a:r>
          </a:p>
        </p:txBody>
      </p:sp>
      <p:sp>
        <p:nvSpPr>
          <p:cNvPr id="8" name="RAG_METADATA_PAGE_084" descr="{&quot;page&quot;: 84, &quot;text_data&quot;: &quot;정위적 방사선치료가 뭔가요?\n적은 횟수로 집중해서 쬐는 정밀 방사선치료예요\n‘방사선수술’이라고도 해요. 칼을 쓰지는 않아요\n‘정위적’은 영상으로 위치를 정밀하게 맞춘다는 뜻이에요.\n[핵심 설명] 암 위치를 정밀하게 잡아요 / 여러 방향에서 모아요 / 횟수는 치료 계획마다 달라요&quot;, &quot;header1&quot;: &quot;암 진단·치료&quot;, &quot;header2&quot;: &quot;방사선치료&quot;, &quot;header3&quot;: &quot;정위적 방사선치료&quot;, &quot;keywords&quot;: [&quot;암통합치료비&quot;, &quot;정위방사선치료&quot;, &quot;방사선수술&quot;, &quot;항암방사선치료비&quot;]}">
            <a:extLst>
              <a:ext uri="{FF2B5EF4-FFF2-40B4-BE49-F238E27FC236}">
                <a16:creationId xmlns:a16="http://schemas.microsoft.com/office/drawing/2014/main" id="{AB4F8749-7005-4638-8F80-CE6C34D06DE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084  헤더1: 암 진단·치료  헤더2: 방사선치료  헤더3: 정위적 방사선치료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정위방사선치료, 방사선수술, 항암방사선치료비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정위적 방사선치료가 뭔가요? 적은 횟수로 집중해서 쬐는 정밀 방사선치료예요 ‘방사선수술’이라고도 해요. 칼을 쓰지는 않아요 ‘정위적’은 영상으로 위치를 정밀하게 맞춘다는 뜻이에요. [핵심 설명] 암 위치를 정밀하게 잡아요 / 여러 방향에서 모아요 / 횟수는 치료 계획마다 달라요</a:t>
            </a:r>
          </a:p>
        </p:txBody>
      </p:sp>
    </p:spTree>
    <p:extLst>
      <p:ext uri="{BB962C8B-B14F-4D97-AF65-F5344CB8AC3E}">
        <p14:creationId xmlns:p14="http://schemas.microsoft.com/office/powerpoint/2010/main" val="36228760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609168E-AC33-4E54-A2E1-77B9B459052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7602B02-57AE-430A-A844-07DE49E128E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감마나이프가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142FE0F-68D2-4A66-80A4-1996A5F1362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감마선 약 200개를 머릿속 한 점에 모으는 장비예요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C03A879-D81C-4A8E-99D2-E832A8F63C45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머리를 열지 않아요. 뇌종양, 뇌혈관기형에 써요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9FD2804-5F19-4E35-A6C3-0BA2D1EE3EB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85" descr="{&quot;page&quot;: 85, &quot;text_data&quot;: &quot;감마나이프가 뭔가요?\n감마선 약 200개를 머릿속 한 점에 모으는 장비예요\n머리를 열지 않아요. 뇌종양, 뇌혈관기형에 써요\n[핵심 설명] 머리를 고정해요 / 감마선을 한 점에 모아요 / 대개 하루에 끝나요&quot;, &quot;header1&quot;: &quot;암 진단·치료&quot;, &quot;header2&quot;: &quot;방사선치료&quot;, &quot;header3&quot;: &quot;감마나이프&quot;, &quot;keywords&quot;: [&quot;암통합치료비&quot;, &quot;감마나이프&quot;, &quot;뇌종양&quot;, &quot;항암방사선치료비&quot;, &quot;종수술비&quot;]}">
            <a:extLst>
              <a:ext uri="{FF2B5EF4-FFF2-40B4-BE49-F238E27FC236}">
                <a16:creationId xmlns:a16="http://schemas.microsoft.com/office/drawing/2014/main" id="{A20D973F-4310-4B6D-8E90-E2D03DF6D70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085  헤더1: 암 진단·치료  헤더2: 방사선치료  헤더3: 감마나이프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감마나이프, 뇌종양, 항암방사선치료비,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감마나이프가 뭔가요? 감마선 약 200개를 머릿속 한 점에 모으는 장비예요 머리를 열지 않아요. 뇌종양, 뇌혈관기형에 써요 [핵심 설명] 머리를 고정해요 / 감마선을 한 점에 모아요 / 대개 하루에 끝나요</a:t>
            </a:r>
          </a:p>
        </p:txBody>
      </p:sp>
    </p:spTree>
    <p:extLst>
      <p:ext uri="{BB962C8B-B14F-4D97-AF65-F5344CB8AC3E}">
        <p14:creationId xmlns:p14="http://schemas.microsoft.com/office/powerpoint/2010/main" val="8118575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8BA7C57-8FE1-4ED4-9DD9-EF4F8D42CFA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81C41831-FC51-4896-A1EE-0F17A2FBF61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사이버나이프가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7AD104E-88CE-4DF4-9CEB-CE58DC5366C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로봇 팔이 여러 각도에서 방사선을 쬐는 장비예요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F4AA7DA-BEA1-4739-A2A9-E7D413C223CC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 말고도 폐·간·척추 등에 쓸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3F5512F-D663-45FD-87C5-ABE6846164A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86" descr="{&quot;page&quot;: 86, &quot;text_data&quot;: &quot;사이버나이프가 뭔가요?\n로봇 팔이 여러 각도에서 방사선을 쬐는 장비예요\n뇌 말고도 폐·간·척추 등에 쓸 수 있어요\n[핵심 설명] 로봇 팔이 움직여요 / 필요하면 움직임을 추적해요 / 여러 각도에서 쬐어요&quot;, &quot;header1&quot;: &quot;암 진단·치료&quot;, &quot;header2&quot;: &quot;방사선치료&quot;, &quot;header3&quot;: &quot;사이버나이프&quot;, &quot;keywords&quot;: [&quot;암통합치료비&quot;, &quot;사이버나이프&quot;, &quot;정위방사선치료&quot;, &quot;항암방사선치료비&quot;]}">
            <a:extLst>
              <a:ext uri="{FF2B5EF4-FFF2-40B4-BE49-F238E27FC236}">
                <a16:creationId xmlns:a16="http://schemas.microsoft.com/office/drawing/2014/main" id="{F28A17F8-AD5A-4166-956B-D9F60CACEC4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086  헤더1: 암 진단·치료  헤더2: 방사선치료  헤더3: 사이버나이프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사이버나이프, 정위방사선치료, 항암방사선치료비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사이버나이프가 뭔가요? 로봇 팔이 여러 각도에서 방사선을 쬐는 장비예요 뇌 말고도 폐·간·척추 등에 쓸 수 있어요 [핵심 설명] 로봇 팔이 움직여요 / 필요하면 움직임을 추적해요 / 여러 각도에서 쬐어요</a:t>
            </a:r>
          </a:p>
        </p:txBody>
      </p:sp>
    </p:spTree>
    <p:extLst>
      <p:ext uri="{BB962C8B-B14F-4D97-AF65-F5344CB8AC3E}">
        <p14:creationId xmlns:p14="http://schemas.microsoft.com/office/powerpoint/2010/main" val="5804974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3E17A55-814C-418C-AD54-D1B759C74B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079254B-6B63-469D-8895-F26F02EF20E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근접 방사선치료가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5AA2D70-C38D-41C2-9EB7-5F4DCF5E602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방사선을 내는 물질을 암 가까이에 넣어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52A0F2C8-C08E-445C-AE67-C2B334E8FE6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자궁경부암, 전립선암에서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5DC5CEA-E0C2-4887-9322-3AD3DE27563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87" descr="{&quot;page&quot;: 87, &quot;text_data&quot;: &quot;근접 방사선치료가 뭔가요?\n방사선을 내는 물질을 암 가까이에 넣어 치료해요\n자궁경부암, 전립선암에서 해요\n[핵심 설명] 관이나 바늘로 접근해요 / 방사선원을 넣어요 / 암 가까이서 쬐어요&quot;, &quot;header1&quot;: &quot;암 진단·치료&quot;, &quot;header2&quot;: &quot;방사선치료&quot;, &quot;header3&quot;: &quot;근접 방사선치료&quot;, &quot;keywords&quot;: [&quot;암통합치료비&quot;, &quot;근접방사선치료&quot;, &quot;전립선암&quot;, &quot;자궁경부암&quot;, &quot;항암방사선치료비&quot;]}">
            <a:extLst>
              <a:ext uri="{FF2B5EF4-FFF2-40B4-BE49-F238E27FC236}">
                <a16:creationId xmlns:a16="http://schemas.microsoft.com/office/drawing/2014/main" id="{964DD7BB-7F96-4525-A299-BCAF5C4C8D6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087  헤더1: 암 진단·치료  헤더2: 방사선치료  헤더3: 근접 방사선치료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근접방사선치료, 전립선암, 자궁경부암, 항암방사선치료비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근접 방사선치료가 뭔가요? 방사선을 내는 물질을 암 가까이에 넣어 치료해요 자궁경부암, 전립선암에서 해요 [핵심 설명] 관이나 바늘로 접근해요 / 방사선원을 넣어요 / 암 가까이서 쬐어요</a:t>
            </a:r>
          </a:p>
        </p:txBody>
      </p:sp>
    </p:spTree>
    <p:extLst>
      <p:ext uri="{BB962C8B-B14F-4D97-AF65-F5344CB8AC3E}">
        <p14:creationId xmlns:p14="http://schemas.microsoft.com/office/powerpoint/2010/main" val="139457216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81053FF-C5F2-48F1-8C44-3A6C38BDC0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6800" y="933450"/>
            <a:ext cx="10058400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4B970C17-5604-4183-BC76-D69AFDB45D5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양성자치료가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53AF767-8F8D-4B2D-9B30-6B1FCD2DE22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양성자를 빠르게 쏘아 암세포를 파괴하는 방사선치료예요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AD088B68-2CAD-46BD-9060-C767D5815A5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 뒤쪽 정상 조직의 선량을 줄이는 것이 특징이에요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0A95D26-13CE-4C0E-BD2D-AEA00DA2CB6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88" descr="{&quot;page&quot;: 88, &quot;text_data&quot;: &quot;양성자치료가 뭔가요?\n양성자를 빠르게 쏘아 암세포를 파괴하는 방사선치료예요\n암 뒤쪽 정상 조직의 선량을 줄이는 것이 특징이에요\n[핵심 설명] CT·MRI로 계획 / 자세를 고정하고 누워요 / 몇 분간 쬐어요&quot;, &quot;header1&quot;: &quot;암 진단·치료&quot;, &quot;header2&quot;: &quot;방사선치료&quot;, &quot;header3&quot;: &quot;양성자치료&quot;, &quot;keywords&quot;: [&quot;암통합치료비&quot;, &quot;양성자치료&quot;, &quot;항암양성자치료비&quot;, &quot;항암방사선치료비&quot;]}">
            <a:extLst>
              <a:ext uri="{FF2B5EF4-FFF2-40B4-BE49-F238E27FC236}">
                <a16:creationId xmlns:a16="http://schemas.microsoft.com/office/drawing/2014/main" id="{1CE84761-6C70-4B7C-8037-9C123591713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088  헤더1: 암 진단·치료  헤더2: 방사선치료  헤더3: 양성자치료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양성자치료, 항암양성자치료비, 항암방사선치료비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양성자치료가 뭔가요? 양성자를 빠르게 쏘아 암세포를 파괴하는 방사선치료예요 암 뒤쪽 정상 조직의 선량을 줄이는 것이 특징이에요 [핵심 설명] CT·MRI로 계획 / 자세를 고정하고 누워요 / 몇 분간 쬐어요</a:t>
            </a:r>
          </a:p>
        </p:txBody>
      </p:sp>
    </p:spTree>
    <p:extLst>
      <p:ext uri="{BB962C8B-B14F-4D97-AF65-F5344CB8AC3E}">
        <p14:creationId xmlns:p14="http://schemas.microsoft.com/office/powerpoint/2010/main" val="125036018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9FB8E61-9ADF-40C4-BFBD-AA1C4BB59C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166034C-2DDF-4062-B9F0-77E37516AE4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중입자치료가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D21FBD8-C202-4440-BCB6-36BE8139115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탄소 입자를 빠르게 쏘아 암세포를 파괴하는 방사선치료예요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A8BA47C-80CC-4D47-8C25-8B76B0E0E86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표적 뒤에도 작은 선량이 있어 정밀한 치료 계획이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279EC0A-7FA1-4382-A239-5AA2CBE1D2C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89" descr="{&quot;page&quot;: 89, &quot;text_data&quot;: &quot;중입자치료가 뭔가요?\n탄소 입자를 빠르게 쏘아 암세포를 파괴하는 방사선치료예요\n표적 뒤에도 작은 선량이 있어 정밀한 치료 계획이 필요해요\n[핵심 설명] CT·MRI로 계획 / 자세를 고정하고 누워요 / 몇 분간 쬐어요&quot;, &quot;header1&quot;: &quot;암 진단·치료&quot;, &quot;header2&quot;: &quot;방사선치료&quot;, &quot;header3&quot;: &quot;중입자치료&quot;, &quot;keywords&quot;: [&quot;암통합치료비&quot;, &quot;중입자치료&quot;, &quot;항암중입자치료비&quot;, &quot;항암방사선치료비&quot;]}">
            <a:extLst>
              <a:ext uri="{FF2B5EF4-FFF2-40B4-BE49-F238E27FC236}">
                <a16:creationId xmlns:a16="http://schemas.microsoft.com/office/drawing/2014/main" id="{58BCED81-1656-44C8-8757-26399B4DE79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089  헤더1: 암 진단·치료  헤더2: 방사선치료  헤더3: 중입자치료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중입자치료, 항암중입자치료비, 항암방사선치료비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중입자치료가 뭔가요? 탄소 입자를 빠르게 쏘아 암세포를 파괴하는 방사선치료예요 표적 뒤에도 작은 선량이 있어 정밀한 치료 계획이 필요해요 [핵심 설명] CT·MRI로 계획 / 자세를 고정하고 누워요 / 몇 분간 쬐어요</a:t>
            </a:r>
          </a:p>
        </p:txBody>
      </p:sp>
    </p:spTree>
    <p:extLst>
      <p:ext uri="{BB962C8B-B14F-4D97-AF65-F5344CB8AC3E}">
        <p14:creationId xmlns:p14="http://schemas.microsoft.com/office/powerpoint/2010/main" val="21069674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9970B1E-A087-4390-A129-D6EF6AE9D3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03FEA63-88D8-45D8-98A2-9FC2DF5EFA0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전립선 고강도 초음파 집속술이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0D3ADF9F-3149-45FB-B5CE-7936F4F2C63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초음파 에너지를 전립선의 표적에 모아 열로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373A786-1BA3-4E44-AA53-F2FAEB425D5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선택된 전립선암 환자에게 고려하며 다른 치료와 장단점을 비교해요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DBE5AE23-A8D3-4E2C-8EB6-37106717E71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90" descr="{&quot;page&quot;: 90, &quot;text_data&quot;: &quot;전립선 고강도 초음파 집속술이 뭔가요?\n초음파 에너지를 전립선의 표적에 모아 열로 치료해요\n선택된 전립선암 환자에게 고려하며 다른 치료와 장단점을 비교해요\n[핵심 설명] 직장의 초음파 기구 / 전립선 표적 / 열을 한 점에&quot;, &quot;header1&quot;: &quot;암 진단·치료&quot;, &quot;header2&quot;: &quot;암 수술·국소치료&quot;, &quot;header3&quot;: &quot;전립선 초음파 집속술&quot;, &quot;keywords&quot;: [&quot;암통합치료비&quot;, &quot;전립선암&quot;, &quot;하이푸&quot;, &quot;HIFU&quot;]}">
            <a:extLst>
              <a:ext uri="{FF2B5EF4-FFF2-40B4-BE49-F238E27FC236}">
                <a16:creationId xmlns:a16="http://schemas.microsoft.com/office/drawing/2014/main" id="{9E643407-4CBD-4CBC-A71E-31D27AD51B6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090  헤더1: 암 진단·치료  헤더2: 암 수술·국소치료  헤더3: 전립선 초음파 집속술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전립선암, 하이푸, HIFU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전립선 고강도 초음파 집속술이 뭔가요? 초음파 에너지를 전립선의 표적에 모아 열로 치료해요 선택된 전립선암 환자에게 고려하며 다른 치료와 장단점을 비교해요 [핵심 설명] 직장의 초음파 기구 / 전립선 표적 / 열을 한 점에</a:t>
            </a:r>
          </a:p>
        </p:txBody>
      </p:sp>
    </p:spTree>
    <p:extLst>
      <p:ext uri="{BB962C8B-B14F-4D97-AF65-F5344CB8AC3E}">
        <p14:creationId xmlns:p14="http://schemas.microsoft.com/office/powerpoint/2010/main" val="930095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2C490C8-A9B7-48E0-9800-DE69C7245A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16F1438-ADAD-45CB-A121-7D116CC25EC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폐 고주파 치료이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0BC73170-7342-44C5-A852-55AF5226750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바늘 전극의 고주파 열로 폐의 종양을 국소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72A4975C-BBEA-491C-BE66-DCC09C114056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종양 위치·크기와 다른 치료 가능성을 살펴 선택해요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132611A-4A5B-4B32-B339-E1040502A7B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91" descr="{&quot;page&quot;: 91, &quot;text_data&quot;: &quot;폐 고주파 치료이 뭔가요?\n바늘 전극의 고주파 열로 폐의 종양을 국소 치료해요\n종양 위치·크기와 다른 치료 가능성을 살펴 선택해요\n[핵심 설명] 폐의 종양 / 바늘 전극 / 국소 열치료&quot;, &quot;header1&quot;: &quot;암 진단·치료&quot;, &quot;header2&quot;: &quot;암 수술·국소치료&quot;, &quot;header3&quot;: &quot;폐 종양 고주파치료&quot;, &quot;keywords&quot;: [&quot;암통합치료비&quot;, &quot;폐암&quot;, &quot;고주파치료&quot;, &quot;암수술비&quot;, &quot;종수술비&quot;]}">
            <a:extLst>
              <a:ext uri="{FF2B5EF4-FFF2-40B4-BE49-F238E27FC236}">
                <a16:creationId xmlns:a16="http://schemas.microsoft.com/office/drawing/2014/main" id="{D26F5B75-128F-427B-A971-1FB20C2952F2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091  헤더1: 암 진단·치료  헤더2: 암 수술·국소치료  헤더3: 폐 종양 고주파치료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폐암, 고주파치료, 암수술비,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폐 고주파 치료이 뭔가요? 바늘 전극의 고주파 열로 폐의 종양을 국소 치료해요 종양 위치·크기와 다른 치료 가능성을 살펴 선택해요 [핵심 설명] 폐의 종양 / 바늘 전극 / 국소 열치료</a:t>
            </a:r>
          </a:p>
        </p:txBody>
      </p:sp>
    </p:spTree>
    <p:extLst>
      <p:ext uri="{BB962C8B-B14F-4D97-AF65-F5344CB8AC3E}">
        <p14:creationId xmlns:p14="http://schemas.microsoft.com/office/powerpoint/2010/main" val="21031308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DD9D269-41D2-429C-9663-C1718D13B6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0BC83E9-38CF-43AC-A22C-04A8F65DB9E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담관 종양 고주파 열치료이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E779753-322B-4925-80FB-39E044C270F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담관 안의 종양 부위에 고주파 열을 가하는 보조 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DE30DBD-02A8-4F96-9180-6683CF835346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일부 환자의 보조 치료로 검토하며 근거·사용 조건과 배액 계획을 확인해요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87B385D-7950-453C-A34D-AC465AC87F8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92984581-7CD2-4546-8D5B-EDA917321D81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담관은 간에서 만든 담즙이 장으로 내려가는 길이에요.</a:t>
            </a:r>
          </a:p>
        </p:txBody>
      </p:sp>
      <p:sp>
        <p:nvSpPr>
          <p:cNvPr id="8" name="RAG_METADATA_PAGE_092" descr="{&quot;page&quot;: 92, &quot;text_data&quot;: &quot;담관 종양 고주파 열치료이 뭔가요?\n담관 안의 종양 부위에 고주파 열을 가하는 보조 치료예요\n일부 환자의 보조 치료로 검토하며 근거·사용 조건과 배액 계획을 확인해요\n담관은 간에서 만든 담즙이 장으로 내려가는 길이에요.\n[핵심 설명] 담관의 종양 / 가는 전극 / 국소 열치료&quot;, &quot;header1&quot;: &quot;암 진단·치료&quot;, &quot;header2&quot;: &quot;암 수술·국소치료&quot;, &quot;header3&quot;: &quot;담관 종양 고주파치료&quot;, &quot;keywords&quot;: [&quot;암통합치료비&quot;, &quot;담관암&quot;, &quot;담도암&quot;, &quot;고주파치료&quot;]}">
            <a:extLst>
              <a:ext uri="{FF2B5EF4-FFF2-40B4-BE49-F238E27FC236}">
                <a16:creationId xmlns:a16="http://schemas.microsoft.com/office/drawing/2014/main" id="{D9F4194C-61CE-4519-B7DD-DEBAEC8A097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092  헤더1: 암 진단·치료  헤더2: 암 수술·국소치료  헤더3: 담관 종양 고주파치료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담관암, 담도암, 고주파치료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담관 종양 고주파 열치료이 뭔가요? 담관 안의 종양 부위에 고주파 열을 가하는 보조 치료예요 일부 환자의 보조 치료로 검토하며 근거·사용 조건과 배액 계획을 확인해요 담관은 간에서 만든 담즙이 장으로 내려가는 길이에요. [핵심 설명] 담관의 종양 / 가는 전극 / 국소 열치료</a:t>
            </a:r>
          </a:p>
        </p:txBody>
      </p:sp>
    </p:spTree>
    <p:extLst>
      <p:ext uri="{BB962C8B-B14F-4D97-AF65-F5344CB8AC3E}">
        <p14:creationId xmlns:p14="http://schemas.microsoft.com/office/powerpoint/2010/main" val="6804909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3C23E28-5011-472A-8BF1-AE66052EA25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01697A0-226B-47D0-8A15-E7635A2EDB2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뼈 종양 고주파 열치료이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BE9702F-EB47-4846-8A69-E18030DC50E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뼈의 종양에 바늘 전극을 넣어 고주파 열로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F9A4023C-8F46-4CFA-9CBF-192CE8486599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양성·악성 종양의 일부에서 종양 종류와 위치에 맞춰 선택해요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ED783BD-E7D1-484C-BFE9-BF6F6DAC85D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67ED1A4F-921E-4181-9130-9670CDF29C90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‘국소 치료’는 병변이 있는 특정 부위를 집중해서 치료하는 방법이에요.</a:t>
            </a:r>
          </a:p>
        </p:txBody>
      </p:sp>
      <p:sp>
        <p:nvSpPr>
          <p:cNvPr id="8" name="RAG_METADATA_PAGE_093" descr="{&quot;page&quot;: 93, &quot;text_data&quot;: &quot;뼈 종양 고주파 열치료이 뭔가요?\n뼈의 종양에 바늘 전극을 넣어 고주파 열로 치료해요\n양성·악성 종양의 일부에서 종양 종류와 위치에 맞춰 선택해요\n‘국소 치료’는 병변이 있는 특정 부위를 집중해서 치료하는 방법이에요.\n[핵심 설명] 뼈의 종양 / 바늘 전극 / 국소 열치료&quot;, &quot;header1&quot;: &quot;암 진단·치료&quot;, &quot;header2&quot;: &quot;암 수술·국소치료&quot;, &quot;header3&quot;: &quot;뼈 종양 고주파치료&quot;, &quot;keywords&quot;: [&quot;암통합치료비&quot;, &quot;골종양&quot;, &quot;뼈전이&quot;, &quot;고주파치료&quot;, &quot;종수술비&quot;]}">
            <a:extLst>
              <a:ext uri="{FF2B5EF4-FFF2-40B4-BE49-F238E27FC236}">
                <a16:creationId xmlns:a16="http://schemas.microsoft.com/office/drawing/2014/main" id="{D1B3E463-DD15-4FC8-84E3-AAE1A7CFDC7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093  헤더1: 암 진단·치료  헤더2: 암 수술·국소치료  헤더3: 뼈 종양 고주파치료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골종양, 뼈전이, 고주파치료,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뼈 종양 고주파 열치료이 뭔가요? 뼈의 종양에 바늘 전극을 넣어 고주파 열로 치료해요 양성·악성 종양의 일부에서 종양 종류와 위치에 맞춰 선택해요 ‘국소 치료’는 병변이 있는 특정 부위를 집중해서 치료하는 방법이에요. [핵심 설명] 뼈의 종양 / 바늘 전극 / 국소 열치료</a:t>
            </a:r>
          </a:p>
        </p:txBody>
      </p:sp>
    </p:spTree>
    <p:extLst>
      <p:ext uri="{BB962C8B-B14F-4D97-AF65-F5344CB8AC3E}">
        <p14:creationId xmlns:p14="http://schemas.microsoft.com/office/powerpoint/2010/main" val="11833446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3E266F-BEEA-460E-B082-ECA5B5F64E8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E972F48-C2D8-48D3-8782-3696E055526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개봉선원 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8B21214-4163-45E9-9E15-836FA4F35AD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밀봉되지 않은 방사성 의약품을 몸 안에 투여해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7C829764-8FE5-46AE-B7CC-C715FFFA6FA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먹거나 주사하는 방식 등이 있으며 약에 따라 모이는 표적이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6D7A4E7-6FB6-4C56-8924-1CDF2BD1F49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94" descr="{&quot;page&quot;: 94, &quot;text_data&quot;: &quot;개봉선원 치료가 뭔가요?\n밀봉되지 않은 방사성 의약품을 몸 안에 투여해 치료해요\n먹거나 주사하는 방식 등이 있으며 약에 따라 모이는 표적이 달라요\n[핵심 설명] 방사성 의약품 / 몸 안에 투여 / 표적 가까이 방사선&quot;, &quot;header1&quot;: &quot;암 진단·치료&quot;, &quot;header2&quot;: &quot;방사선치료&quot;, &quot;header3&quot;: &quot;개봉선원 치료&quot;, &quot;keywords&quot;: [&quot;암통합치료비&quot;, &quot;방사성의약품&quot;, &quot;항암방사선치료비&quot;, &quot;방사성요오드&quot;]}">
            <a:extLst>
              <a:ext uri="{FF2B5EF4-FFF2-40B4-BE49-F238E27FC236}">
                <a16:creationId xmlns:a16="http://schemas.microsoft.com/office/drawing/2014/main" id="{322356F0-E8F5-40F1-8514-89BC4B77E73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094  헤더1: 암 진단·치료  헤더2: 방사선치료  헤더3: 개봉선원 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방사성의약품, 항암방사선치료비, 방사성요오드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개봉선원 치료가 뭔가요? 밀봉되지 않은 방사성 의약품을 몸 안에 투여해 치료해요 먹거나 주사하는 방식 등이 있으며 약에 따라 모이는 표적이 달라요 [핵심 설명] 방사성 의약품 / 몸 안에 투여 / 표적 가까이 방사선</a:t>
            </a:r>
          </a:p>
        </p:txBody>
      </p:sp>
    </p:spTree>
    <p:extLst>
      <p:ext uri="{BB962C8B-B14F-4D97-AF65-F5344CB8AC3E}">
        <p14:creationId xmlns:p14="http://schemas.microsoft.com/office/powerpoint/2010/main" val="124201581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96EA964-921A-4602-8602-B2A1C875CD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73460B2-42EB-490A-B8DB-DCEE2EA2F15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심장 치료 한눈에 보기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8059050-F241-4141-9642-6DCDE857336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심장의 어디가 고장 났는지에 따라 치료가 달라져요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9418FF4-2187-4869-B8A1-D38209C5600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스텐트, 절제술, 판막 치료, 대동맥 치료로 나뉘어요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343F4EE-955A-4718-86B2-BA2F536BE37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95" descr="{&quot;page&quot;: 95, &quot;text_data&quot;: &quot;심장 치료 한눈에 보기\n심장의 어디가 고장 났는지에 따라 치료가 달라져요\n스텐트, 절제술, 판막 치료, 대동맥 치료로 나뉘어요\n[핵심 설명] ①혈관이 막히면 넓혀요 / ②박자가 틀리면 바로잡아요 / ③문(판막) ④큰 혈관&quot;, &quot;header1&quot;: &quot;심장·혈관&quot;, &quot;header2&quot;: &quot;심장 치료 개요&quot;, &quot;header3&quot;: &quot;심장 치료 분류&quot;, &quot;keywords&quot;: [&quot;순환계치료비&quot;, &quot;허혈성심장질환&quot;, &quot;심근경색&quot;, &quot;협심증&quot;, &quot;심장수술비&quot;]}">
            <a:extLst>
              <a:ext uri="{FF2B5EF4-FFF2-40B4-BE49-F238E27FC236}">
                <a16:creationId xmlns:a16="http://schemas.microsoft.com/office/drawing/2014/main" id="{F94874D6-3114-4BCA-8B71-AEFF542797A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095  헤더1: 심장·혈관  헤더2: 심장 치료 개요  헤더3: 심장 치료 분류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허혈성심장질환, 심근경색, 협심증, 심장수술비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심장 치료 한눈에 보기 심장의 어디가 고장 났는지에 따라 치료가 달라져요 스텐트, 절제술, 판막 치료, 대동맥 치료로 나뉘어요 [핵심 설명] ①혈관이 막히면 넓혀요 / ②박자가 틀리면 바로잡아요 / ③문(판막) ④큰 혈관</a:t>
            </a:r>
          </a:p>
        </p:txBody>
      </p:sp>
    </p:spTree>
    <p:extLst>
      <p:ext uri="{BB962C8B-B14F-4D97-AF65-F5344CB8AC3E}">
        <p14:creationId xmlns:p14="http://schemas.microsoft.com/office/powerpoint/2010/main" val="91916376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744FF1C-17B2-4ABA-8883-2AE15745E83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955D7DD-5627-4CCD-8BE7-4D6D0F710E2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관상동맥 조영술이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E8E69DE-92D6-4CAF-BFE6-6953E0D8DF0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심장 혈관에 조영제를 넣어 좁아진 곳을 찍는 검사예요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FB05F85-1B05-4BFC-8779-FB8CC481E0D4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좁아진 곳이 보이면 바로 시술로 이어지기도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B5A3E3C-B694-4450-A766-B773032E9DB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ACBE434B-C1CA-47D1-AA61-8EBD9849C4EB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조영제는 혈관이 X선 영상에서 더 잘 보이도록 돕는 약이에요.</a:t>
            </a:r>
          </a:p>
        </p:txBody>
      </p:sp>
      <p:sp>
        <p:nvSpPr>
          <p:cNvPr id="8" name="RAG_METADATA_PAGE_096" descr="{&quot;page&quot;: 96, &quot;text_data&quot;: &quot;관상동맥 조영술이 뭔가요?\n심장 혈관에 조영제를 넣어 좁아진 곳을 찍는 검사예요\n좁아진 곳이 보이면 바로 시술로 이어지기도 해요\n조영제는 혈관이 X선 영상에서 더 잘 보이도록 돕는 약이에요.\n[핵심 설명] 손목·사타구니로 관 삽입 / 조영제를 넣어요 / X선으로 혈관을 찍어요&quot;, &quot;header1&quot;: &quot;심장·혈관&quot;, &quot;header2&quot;: &quot;관상동맥&quot;, &quot;header3&quot;: &quot;관상동맥 조영술&quot;, &quot;keywords&quot;: [&quot;순환계치료비&quot;, &quot;관상동맥조영술&quot;, &quot;심장혈관검사&quot;, &quot;협심증&quot;, &quot;심근경색&quot;]}">
            <a:extLst>
              <a:ext uri="{FF2B5EF4-FFF2-40B4-BE49-F238E27FC236}">
                <a16:creationId xmlns:a16="http://schemas.microsoft.com/office/drawing/2014/main" id="{02832868-D610-4BFE-93F3-5A47888FFCC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096  헤더1: 심장·혈관  헤더2: 관상동맥  헤더3: 관상동맥 조영술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관상동맥조영술, 심장혈관검사, 협심증, 심근경색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관상동맥 조영술이 뭔가요? 심장 혈관에 조영제를 넣어 좁아진 곳을 찍는 검사예요 좁아진 곳이 보이면 바로 시술로 이어지기도 해요 조영제는 혈관이 X선 영상에서 더 잘 보이도록 돕는 약이에요. [핵심 설명] 손목·사타구니로 관 삽입 / 조영제를 넣어요 / X선으로 혈관을 찍어요</a:t>
            </a:r>
          </a:p>
        </p:txBody>
      </p:sp>
    </p:spTree>
    <p:extLst>
      <p:ext uri="{BB962C8B-B14F-4D97-AF65-F5344CB8AC3E}">
        <p14:creationId xmlns:p14="http://schemas.microsoft.com/office/powerpoint/2010/main" val="165264978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04D4B30-49C9-49E4-8A8A-53CE93943E4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4D2488F2-305A-469B-9D91-A9CAEC6B9C2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스텐트 삽입술이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A671127-1E97-4B75-A369-E678C9AD280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좁아진 혈관을 풍선으로 넓히고 그물망을 넣어 둬요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9050719-5823-47B9-8F0E-A5CC379AD47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시술 뒤에도 약 복용과 관리가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418BAB2-F56B-406D-93B8-23AEAA32B09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83DC533A-DEF8-4283-84D4-C0404E8038C3}"/>
              </a:ext>
            </a:extLst>
          </p:cNvPr>
          <p:cNvSpPr>
            <a:spLocks noGrp="1"/>
          </p:cNvSpPr>
          <p:nvPr/>
        </p:nvSpPr>
        <p:spPr>
          <a:xfrm>
            <a:off x="552450" y="5429250"/>
            <a:ext cx="1108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스텐트는 넓힌 혈관이 오므라들지 않도록 안에서 받쳐 줘요.</a:t>
            </a:r>
          </a:p>
        </p:txBody>
      </p:sp>
      <p:sp>
        <p:nvSpPr>
          <p:cNvPr id="8" name="RAG_METADATA_PAGE_097" descr="{&quot;page&quot;: 97, &quot;text_data&quot;: &quot;스텐트 삽입술이 뭔가요?\n좁아진 혈관을 풍선으로 넓히고 그물망을 넣어 둬요\n스텐트는 넓힌 혈관이 오므라들지 않도록 안에서 받쳐 줘요.\n시술 뒤에도 약 복용과 관리가 필요해요\n[핵심 설명] 혈관에 가는 관을 넣어요 / 풍선으로 넓혀요 / 그물망을 펼쳐 둬요&quot;, &quot;header1&quot;: &quot;심장·혈관&quot;, &quot;header2&quot;: &quot;관상동맥&quot;, &quot;header3&quot;: &quot;스텐트 삽입술&quot;, &quot;keywords&quot;: [&quot;순환계치료비&quot;, &quot;스텐트&quot;, &quot;심근경색&quot;, &quot;협심증&quot;, &quot;허혈성심장질환수술비&quot;, &quot;종수술비&quot;]}">
            <a:extLst>
              <a:ext uri="{FF2B5EF4-FFF2-40B4-BE49-F238E27FC236}">
                <a16:creationId xmlns:a16="http://schemas.microsoft.com/office/drawing/2014/main" id="{62F246D3-F54B-425C-ADD4-7F4A34F52C0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097  헤더1: 심장·혈관  헤더2: 관상동맥  헤더3: 스텐트 삽입술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스텐트, 심근경색, 협심증, 허혈성심장질환수술비,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스텐트 삽입술이 뭔가요? 좁아진 혈관을 풍선으로 넓히고 그물망을 넣어 둬요 스텐트는 넓힌 혈관이 오므라들지 않도록 안에서 받쳐 줘요. 시술 뒤에도 약 복용과 관리가 필요해요 [핵심 설명] 혈관에 가는 관을 넣어요 / 풍선으로 넓혀요 / 그물망을 펼쳐 둬요</a:t>
            </a:r>
          </a:p>
        </p:txBody>
      </p:sp>
    </p:spTree>
    <p:extLst>
      <p:ext uri="{BB962C8B-B14F-4D97-AF65-F5344CB8AC3E}">
        <p14:creationId xmlns:p14="http://schemas.microsoft.com/office/powerpoint/2010/main" val="40607580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7D506FB-A58A-4756-88C4-F23EF3A31C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0DEF59BE-B79A-4633-84F5-27CA0332424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관상동맥 우회술이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5809EFD-8131-4C13-8C31-FE7D315D44E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막힌 곳을 건너뛰도록 다른 혈관으로 새 길을 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7C5AD906-FA4F-49A6-A2CF-90DDA5A3B576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여러 곳이 막혔을 때 고려하는 수술이에요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F98174E-813D-4951-A5A4-361ABEE9C70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98" descr="{&quot;page&quot;: 98, &quot;text_data&quot;: &quot;관상동맥 우회술이 뭔가요?\n막힌 곳을 건너뛰도록 다른 혈관으로 새 길을 내요\n여러 곳이 막혔을 때 고려하는 수술이에요\n[핵심 설명] 가슴을 열어요 / 다른 혈관으로 우회로 준비 / 막힌 곳을 건너 이어요&quot;, &quot;header1&quot;: &quot;심장·혈관&quot;, &quot;header2&quot;: &quot;관상동맥&quot;, &quot;header3&quot;: &quot;관상동맥 우회술&quot;, &quot;keywords&quot;: [&quot;순환계치료비&quot;, &quot;관상동맥우회술&quot;, &quot;협심증&quot;, &quot;심근경색&quot;, &quot;허혈성심장질환수술비&quot;, &quot;종수술비&quot;]}">
            <a:extLst>
              <a:ext uri="{FF2B5EF4-FFF2-40B4-BE49-F238E27FC236}">
                <a16:creationId xmlns:a16="http://schemas.microsoft.com/office/drawing/2014/main" id="{01C145CE-1EB6-49A3-87B0-BCFB0F3D8DA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098  헤더1: 심장·혈관  헤더2: 관상동맥  헤더3: 관상동맥 우회술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관상동맥우회술, 협심증, 심근경색, 허혈성심장질환수술비,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관상동맥 우회술이 뭔가요? 막힌 곳을 건너뛰도록 다른 혈관으로 새 길을 내요 여러 곳이 막혔을 때 고려하는 수술이에요 [핵심 설명] 가슴을 열어요 / 다른 혈관으로 우회로 준비 / 막힌 곳을 건너 이어요</a:t>
            </a:r>
          </a:p>
        </p:txBody>
      </p:sp>
    </p:spTree>
    <p:extLst>
      <p:ext uri="{BB962C8B-B14F-4D97-AF65-F5344CB8AC3E}">
        <p14:creationId xmlns:p14="http://schemas.microsoft.com/office/powerpoint/2010/main" val="120660569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8876BA3-8035-4C97-A1FD-25E1A2D3C8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58D63C7-0EA7-40C5-98BF-F2D9222FE01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고주파 전극도자절제술이란?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F2F8CEC-3093-46FA-9DE3-01EE64460A9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박자를 틀리게 하는 심장 조직을 열로 지져요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5DD0C79D-C060-4B51-9224-D4643CF2E1E4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부정맥(심방세동 등) 치료에 써요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77C6283-EA98-4CE7-8EE9-84221DC8BC0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099" descr="{&quot;page&quot;: 99, &quot;text_data&quot;: &quot;고주파 전극도자절제술이란?\n박자를 틀리게 하는 심장 조직을 열로 지져요\n부정맥(심방세동 등) 치료에 써요\n[핵심 설명] 다리 혈관으로 관을 넣어요 / 이상 부위를 찾아요 / 열로 지져요&quot;, &quot;header1&quot;: &quot;심장·혈관&quot;, &quot;header2&quot;: &quot;부정맥&quot;, &quot;header3&quot;: &quot;고주파 전극도자절제술&quot;, &quot;keywords&quot;: [&quot;순환계치료비&quot;, &quot;부정맥&quot;, &quot;전극도자절제술&quot;, &quot;질병수술비&quot;, &quot;종수술비&quot;]}">
            <a:extLst>
              <a:ext uri="{FF2B5EF4-FFF2-40B4-BE49-F238E27FC236}">
                <a16:creationId xmlns:a16="http://schemas.microsoft.com/office/drawing/2014/main" id="{76D4E957-4FD7-45EB-AB05-5D5EACDAC38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099  헤더1: 심장·혈관  헤더2: 부정맥  헤더3: 고주파 전극도자절제술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부정맥, 전극도자절제술,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고주파 전극도자절제술이란? 박자를 틀리게 하는 심장 조직을 열로 지져요 부정맥(심방세동 등) 치료에 써요 [핵심 설명] 다리 혈관으로 관을 넣어요 / 이상 부위를 찾아요 / 열로 지져요</a:t>
            </a:r>
          </a:p>
        </p:txBody>
      </p:sp>
    </p:spTree>
    <p:extLst>
      <p:ext uri="{BB962C8B-B14F-4D97-AF65-F5344CB8AC3E}">
        <p14:creationId xmlns:p14="http://schemas.microsoft.com/office/powerpoint/2010/main" val="31283599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A7423BA-71A4-4FAA-8764-8E10FAD2E72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58A06A0-BFEE-471C-B2FB-152DCA08FD5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냉각풍선절제술이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2B7513C-C4F4-4D80-9A6B-B8AAB71D0C9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풍선을 대고 얼려서 잘못된 전기 신호를 막아요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CD82B6C-5E60-4A16-99EE-609B00D7556A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심방세동 치료의 한 가지 방법이에요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E886C2B-9347-4EEF-B9B5-28F55E27001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00" descr="{&quot;page&quot;: 100, &quot;text_data&quot;: &quot;냉각풍선절제술이 뭔가요?\n풍선을 대고 얼려서 잘못된 전기 신호를 막아요\n심방세동 치료의 한 가지 방법이에요\n[핵심 설명] 다리 혈관으로 관을 넣어요 / 풍선을 밀착시켜요 / 얼려서 차단해요&quot;, &quot;header1&quot;: &quot;심장·혈관&quot;, &quot;header2&quot;: &quot;부정맥&quot;, &quot;header3&quot;: &quot;냉각풍선절제술&quot;, &quot;keywords&quot;: [&quot;순환계치료비&quot;, &quot;부정맥&quot;, &quot;심방세동&quot;, &quot;냉각풍선절제술&quot;, &quot;종수술비&quot;]}">
            <a:extLst>
              <a:ext uri="{FF2B5EF4-FFF2-40B4-BE49-F238E27FC236}">
                <a16:creationId xmlns:a16="http://schemas.microsoft.com/office/drawing/2014/main" id="{94B1E17F-810B-4F73-81D5-951BC495EE0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100  헤더1: 심장·혈관  헤더2: 부정맥  헤더3: 냉각풍선절제술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부정맥, 심방세동, 냉각풍선절제술,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냉각풍선절제술이 뭔가요? 풍선을 대고 얼려서 잘못된 전기 신호를 막아요 심방세동 치료의 한 가지 방법이에요 [핵심 설명] 다리 혈관으로 관을 넣어요 / 풍선을 밀착시켜요 / 얼려서 차단해요</a:t>
            </a:r>
          </a:p>
        </p:txBody>
      </p:sp>
    </p:spTree>
    <p:extLst>
      <p:ext uri="{BB962C8B-B14F-4D97-AF65-F5344CB8AC3E}">
        <p14:creationId xmlns:p14="http://schemas.microsoft.com/office/powerpoint/2010/main" val="193534343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F47DE86-0239-45EF-8673-EDDDF6079E0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9EDCCD6D-07A2-4AF5-BB4D-12FC84E03A0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펄스장절제술이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C2621CF2-19D4-41DA-8502-3C918C2AD97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열 대신 짧은 전기 펄스로 심장 조직을 골라 없애요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C66FB814-57BD-4F28-8CE6-EB1A4586108C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새로 도입된 심방세동 치료 방법이에요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901E8E5-9153-4D38-93E3-F4A6912852E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01" descr="{&quot;page&quot;: 101, &quot;text_data&quot;: &quot;펄스장절제술이 뭔가요?\n열 대신 짧은 전기 펄스로 심장 조직을 골라 없애요\n새로 도입된 심방세동 치료 방법이에요\n[핵심 설명] 다리 혈관으로 관을 넣어요 / 관 끝을 펼쳐 대요 / 전기 펄스를 줘요&quot;, &quot;header1&quot;: &quot;심장·혈관&quot;, &quot;header2&quot;: &quot;부정맥&quot;, &quot;header3&quot;: &quot;펄스장절제술&quot;, &quot;keywords&quot;: [&quot;순환계치료비&quot;, &quot;부정맥&quot;, &quot;심방세동&quot;, &quot;펄스장절제술&quot;, &quot;종수술비&quot;]}">
            <a:extLst>
              <a:ext uri="{FF2B5EF4-FFF2-40B4-BE49-F238E27FC236}">
                <a16:creationId xmlns:a16="http://schemas.microsoft.com/office/drawing/2014/main" id="{723D444F-FA51-4267-BA4D-00ED91652E2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101  헤더1: 심장·혈관  헤더2: 부정맥  헤더3: 펄스장절제술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부정맥, 심방세동, 펄스장절제술,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펄스장절제술이 뭔가요? 열 대신 짧은 전기 펄스로 심장 조직을 골라 없애요 새로 도입된 심방세동 치료 방법이에요 [핵심 설명] 다리 혈관으로 관을 넣어요 / 관 끝을 펼쳐 대요 / 전기 펄스를 줘요</a:t>
            </a:r>
          </a:p>
        </p:txBody>
      </p:sp>
    </p:spTree>
    <p:extLst>
      <p:ext uri="{BB962C8B-B14F-4D97-AF65-F5344CB8AC3E}">
        <p14:creationId xmlns:p14="http://schemas.microsoft.com/office/powerpoint/2010/main" val="18979965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9E36632-3285-4E7C-A679-A8FEC880355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786F487-B9D2-499C-B139-7C087158836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인공심박동기가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5E2B83A-9494-4597-B370-13E02A0A678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심장이 느리게 뛸 때 전기 자극으로 박자를 맞춰 줘요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709FD32-170E-42C2-9B73-58F7CF755CC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전선 없는 종류도 있어요. 배터리는 추후 교체해요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90D432B-299A-4C86-888E-9F8213199FD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02" descr="{&quot;page&quot;: 102, &quot;text_data&quot;: &quot;인공심박동기가 뭔가요?\n심장이 느리게 뛸 때 전기 자극으로 박자를 맞춰 줘요\n전선 없는 종류도 있어요. 배터리는 추후 교체해요\n[핵심 설명] 쇄골 아래 피부 밑에 심어요 / 전깃줄을 심장에 연결 / 느려지면 자극을 줘요&quot;, &quot;header1&quot;: &quot;심장·혈관&quot;, &quot;header2&quot;: &quot;부정맥&quot;, &quot;header3&quot;: &quot;인공심박동기&quot;, &quot;keywords&quot;: [&quot;순환계치료비&quot;, &quot;부정맥&quot;, &quot;심박동기&quot;, &quot;서맥&quot;, &quot;질병수술비&quot;, &quot;종수술비&quot;]}">
            <a:extLst>
              <a:ext uri="{FF2B5EF4-FFF2-40B4-BE49-F238E27FC236}">
                <a16:creationId xmlns:a16="http://schemas.microsoft.com/office/drawing/2014/main" id="{2132D86B-A523-4929-9B8B-0EB878A90C3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102  헤더1: 심장·혈관  헤더2: 부정맥  헤더3: 인공심박동기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부정맥, 심박동기, 서맥,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인공심박동기가 뭔가요? 심장이 느리게 뛸 때 전기 자극으로 박자를 맞춰 줘요 전선 없는 종류도 있어요. 배터리는 추후 교체해요 [핵심 설명] 쇄골 아래 피부 밑에 심어요 / 전깃줄을 심장에 연결 / 느려지면 자극을 줘요</a:t>
            </a:r>
          </a:p>
        </p:txBody>
      </p:sp>
    </p:spTree>
    <p:extLst>
      <p:ext uri="{BB962C8B-B14F-4D97-AF65-F5344CB8AC3E}">
        <p14:creationId xmlns:p14="http://schemas.microsoft.com/office/powerpoint/2010/main" val="103681343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B2CC1C9-1BD6-4895-BE29-5E876FA1701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68ADCCB-3DFB-4CE0-80BC-1D6274EB1B6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인공판막 치환술이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5B6F7CE-9C04-4A0C-BF52-57C6805B9F4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고장 난 심장 판막을 인공판막으로 바꾸는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728192D-6A1D-4164-BF11-DA347E4CCF61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판막은 피가 한쪽으로만 흐르게 하는 문이에요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21B197D5-7ABB-4955-9EBB-D9B69DC718F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A67DCC36-FFB0-47AE-B1F8-CC70486A736E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기계판막과 조직판막은 재료와 이후 관리 방법이 달라요.</a:t>
            </a:r>
          </a:p>
        </p:txBody>
      </p:sp>
      <p:sp>
        <p:nvSpPr>
          <p:cNvPr id="8" name="RAG_METADATA_PAGE_103" descr="{&quot;page&quot;: 103, &quot;text_data&quot;: &quot;인공판막 치환술이 뭔가요?\n고장 난 심장 판막을 인공판막으로 바꾸는 수술이에요\n판막은 피가 한쪽으로만 흐르게 하는 문이에요\n기계판막과 조직판막은 재료와 이후 관리 방법이 달라요.\n[핵심 설명] 가슴을 열어요 / 고장 난 판막을 떼어요 / 인공판막을 꿰매 넣어요&quot;, &quot;header1&quot;: &quot;심장·혈관&quot;, &quot;header2&quot;: &quot;심장 판막&quot;, &quot;header3&quot;: &quot;인공판막 치환술&quot;, &quot;keywords&quot;: [&quot;순환계치료비&quot;, &quot;심장판막질환&quot;, &quot;인공판막&quot;, &quot;심장수술비&quot;, &quot;종수술비&quot;]}">
            <a:extLst>
              <a:ext uri="{FF2B5EF4-FFF2-40B4-BE49-F238E27FC236}">
                <a16:creationId xmlns:a16="http://schemas.microsoft.com/office/drawing/2014/main" id="{FD3905F3-2DD1-423F-8547-E802AA8AB3A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103  헤더1: 심장·혈관  헤더2: 심장 판막  헤더3: 인공판막 치환술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심장판막질환, 인공판막, 심장수술비,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인공판막 치환술이 뭔가요? 고장 난 심장 판막을 인공판막으로 바꾸는 수술이에요 판막은 피가 한쪽으로만 흐르게 하는 문이에요 기계판막과 조직판막은 재료와 이후 관리 방법이 달라요. [핵심 설명] 가슴을 열어요 / 고장 난 판막을 떼어요 / 인공판막을 꿰매 넣어요</a:t>
            </a:r>
          </a:p>
        </p:txBody>
      </p:sp>
    </p:spTree>
    <p:extLst>
      <p:ext uri="{BB962C8B-B14F-4D97-AF65-F5344CB8AC3E}">
        <p14:creationId xmlns:p14="http://schemas.microsoft.com/office/powerpoint/2010/main" val="172955656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86DA90A-FDC1-4940-9A8C-C1AF8DA350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EBD6405A-7DEC-42EC-A7F5-0F7DCA3A5EFC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TAVI(타비)가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1BBCD5E-4234-46CD-B2D7-A2A5FC88651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가슴을 열지 않고 혈관으로 인공판막을 넣는 시술이에요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E054310-EB5C-4BCE-9014-F1E3FF3449D8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대동맥판막이 좁아졌을 때 하는 시술이에요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0331386-EA52-4B4C-A0D6-08C614DDBF2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04" descr="{&quot;page&quot;: 104, &quot;text_data&quot;: &quot;TAVI(타비)가 뭔가요?\n가슴을 열지 않고 혈관으로 인공판막을 넣는 시술이에요\n대동맥판막이 좁아졌을 때 하는 시술이에요\n[핵심 설명] 사타구니 혈관으로 접근 / 접힌 판막을 보내요 / 제자리에서 펼쳐요&quot;, &quot;header1&quot;: &quot;심장·혈관&quot;, &quot;header2&quot;: &quot;심장 판막&quot;, &quot;header3&quot;: &quot;경피적 대동맥판막 삽입술&quot;, &quot;keywords&quot;: [&quot;순환계치료비&quot;, &quot;대동맥판막협착증&quot;, &quot;타비&quot;, &quot;TAVI&quot;, &quot;종수술비&quot;]}">
            <a:extLst>
              <a:ext uri="{FF2B5EF4-FFF2-40B4-BE49-F238E27FC236}">
                <a16:creationId xmlns:a16="http://schemas.microsoft.com/office/drawing/2014/main" id="{B26F23F1-91FC-4BC5-8970-D0CB56AD9C92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104  헤더1: 심장·혈관  헤더2: 심장 판막  헤더3: 경피적 대동맥판막 삽입술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대동맥판막협착증, 타비, TAVI,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TAVI(타비)가 뭔가요? 가슴을 열지 않고 혈관으로 인공판막을 넣는 시술이에요 대동맥판막이 좁아졌을 때 하는 시술이에요 [핵심 설명] 사타구니 혈관으로 접근 / 접힌 판막을 보내요 / 제자리에서 펼쳐요</a:t>
            </a:r>
          </a:p>
        </p:txBody>
      </p:sp>
    </p:spTree>
    <p:extLst>
      <p:ext uri="{BB962C8B-B14F-4D97-AF65-F5344CB8AC3E}">
        <p14:creationId xmlns:p14="http://schemas.microsoft.com/office/powerpoint/2010/main" val="158236468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DAF17B8-B04E-4E7E-A821-AB1DF331B82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8F904CC9-1CE2-45EC-8F68-0E74D368681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대동맥 스텐트그라프트란?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1E62E23-FD7E-4C5D-A5D2-5B4A4CE88F3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부풀어 오른 큰 혈관 안쪽에 인조혈관을 덧대요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613AB4E-9E7C-4671-8628-E08D8B9D02B8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시술 뒤 정기적으로 CT로 확인해요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46D3B89-D0AE-4A2C-88CE-06C09C7E7EE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05" descr="{&quot;page&quot;: 105, &quot;text_data&quot;: &quot;대동맥 스텐트그라프트란?\n부풀어 오른 큰 혈관 안쪽에 인조혈관을 덧대요\n시술 뒤 정기적으로 CT로 확인해요\n[핵심 설명] 사타구니 혈관으로 접근 / 부푼 곳에 관을 펼쳐요 / 피가 관 안으로 흘러요&quot;, &quot;header1&quot;: &quot;심장·혈관&quot;, &quot;header2&quot;: &quot;대동맥&quot;, &quot;header3&quot;: &quot;대동맥 스텐트그라프트&quot;, &quot;keywords&quot;: [&quot;순환계치료비&quot;, &quot;대동맥류&quot;, &quot;스텐트&quot;, &quot;질병수술비&quot;, &quot;종수술비&quot;]}">
            <a:extLst>
              <a:ext uri="{FF2B5EF4-FFF2-40B4-BE49-F238E27FC236}">
                <a16:creationId xmlns:a16="http://schemas.microsoft.com/office/drawing/2014/main" id="{EE63A7A9-1309-42EA-9E65-8C7F4EFC9D8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105  헤더1: 심장·혈관  헤더2: 대동맥  헤더3: 대동맥 스텐트그라프트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대동맥류, 스텐트,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대동맥 스텐트그라프트란? 부풀어 오른 큰 혈관 안쪽에 인조혈관을 덧대요 시술 뒤 정기적으로 CT로 확인해요 [핵심 설명] 사타구니 혈관으로 접근 / 부푼 곳에 관을 펼쳐요 / 피가 관 안으로 흘러요</a:t>
            </a:r>
          </a:p>
        </p:txBody>
      </p:sp>
    </p:spTree>
    <p:extLst>
      <p:ext uri="{BB962C8B-B14F-4D97-AF65-F5344CB8AC3E}">
        <p14:creationId xmlns:p14="http://schemas.microsoft.com/office/powerpoint/2010/main" val="29659220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B4E07C9-9CE4-4121-B1D6-1BBE9A995D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B484A4E-CDCC-4673-80BA-716870AD27A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인조혈관 치환술이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58E8D656-BE76-4287-80B1-5E671D0E517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부푼 대동맥을 잘라내고 인조혈관으로 바꾸는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9CDC700-5259-49E2-A804-1474E7BFADFD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대동맥류, 대동맥박리에서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73CE2CA-DE1E-49B5-B8A5-F07D1A903B28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06" descr="{&quot;page&quot;: 106, &quot;text_data&quot;: &quot;인조혈관 치환술이 뭔가요?\n부푼 대동맥을 잘라내고 인조혈관으로 바꾸는 수술이에요\n대동맥류, 대동맥박리에서 해요\n[핵심 설명] 가슴이나 배를 열어요 / 부푼 혈관을 잘라내요 / 인조혈관으로 이어요&quot;, &quot;header1&quot;: &quot;심장·혈관&quot;, &quot;header2&quot;: &quot;대동맥&quot;, &quot;header3&quot;: &quot;인조혈관 치환술&quot;, &quot;keywords&quot;: [&quot;순환계치료비&quot;, &quot;대동맥박리&quot;, &quot;인조혈관&quot;, &quot;질병수술비&quot;, &quot;종수술비&quot;]}">
            <a:extLst>
              <a:ext uri="{FF2B5EF4-FFF2-40B4-BE49-F238E27FC236}">
                <a16:creationId xmlns:a16="http://schemas.microsoft.com/office/drawing/2014/main" id="{C0F57E68-FB06-45B0-86F9-1DAE21E2342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106  헤더1: 심장·혈관  헤더2: 대동맥  헤더3: 인조혈관 치환술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대동맥박리, 인조혈관,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인조혈관 치환술이 뭔가요? 부푼 대동맥을 잘라내고 인조혈관으로 바꾸는 수술이에요 대동맥류, 대동맥박리에서 해요 [핵심 설명] 가슴이나 배를 열어요 / 부푼 혈관을 잘라내요 / 인조혈관으로 이어요</a:t>
            </a:r>
          </a:p>
        </p:txBody>
      </p:sp>
    </p:spTree>
    <p:extLst>
      <p:ext uri="{BB962C8B-B14F-4D97-AF65-F5344CB8AC3E}">
        <p14:creationId xmlns:p14="http://schemas.microsoft.com/office/powerpoint/2010/main" val="51054761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1F9B70A-2803-4175-B70C-ED79699BA5B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EE30B17-E837-43D6-8522-AAD4A1CCC93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에크모(ECMO)가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45B7176-EEE1-476F-BDED-5AD7FA8EA8A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몸 밖에서 피에 산소를 넣어 심장·폐 기능을 도와요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4625B30-6A29-482D-83E9-81BBCD68A7AA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종류에 따라 심장·폐 지원 기능이 달라요. 수술용 인공심폐와 목적·운용이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045FC72-E795-4171-86A3-B5327BA38CE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07" descr="{&quot;page&quot;: 107, &quot;text_data&quot;: &quot;에크모(ECMO)가 뭔가요?\n몸 밖에서 피에 산소를 넣어 심장·폐 기능을 도와요\n종류에 따라 심장·폐 지원 기능이 달라요. 수술용 인공심폐와 목적·운용이 달라요\n[핵심 설명] 큰 혈관에 관을 연결해요 / 피를 몸 밖으로 빼요 / 산소를 넣어 돌려보내요&quot;, &quot;header1&quot;: &quot;심장·혈관&quot;, &quot;header2&quot;: &quot;심장·폐 기능 보조&quot;, &quot;header3&quot;: &quot;에크모&quot;, &quot;keywords&quot;: [&quot;순환계치료비&quot;, &quot;에크모&quot;, &quot;ECMO&quot;, &quot;부분체외순환치료비&quot;, &quot;심정지&quot;]}">
            <a:extLst>
              <a:ext uri="{FF2B5EF4-FFF2-40B4-BE49-F238E27FC236}">
                <a16:creationId xmlns:a16="http://schemas.microsoft.com/office/drawing/2014/main" id="{392F71B8-885F-42C1-8E49-B49D86BB1DD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107  헤더1: 심장·혈관  헤더2: 심장·폐 기능 보조  헤더3: 에크모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에크모, ECMO, 부분체외순환치료비, 심정지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에크모(ECMO)가 뭔가요? 몸 밖에서 피에 산소를 넣어 심장·폐 기능을 도와요 종류에 따라 심장·폐 지원 기능이 달라요. 수술용 인공심폐와 목적·운용이 달라요 [핵심 설명] 큰 혈관에 관을 연결해요 / 피를 몸 밖으로 빼요 / 산소를 넣어 돌려보내요</a:t>
            </a:r>
          </a:p>
        </p:txBody>
      </p:sp>
    </p:spTree>
    <p:extLst>
      <p:ext uri="{BB962C8B-B14F-4D97-AF65-F5344CB8AC3E}">
        <p14:creationId xmlns:p14="http://schemas.microsoft.com/office/powerpoint/2010/main" val="54533334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AEFB107-7C14-4956-A742-490F1F0D7BD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6B91310-9D34-4C54-A96C-D7BC908F7AB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하지정맥류 발거술이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855CAB1-94AB-422A-93A7-CB42051CE0B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늘어나 망가진 다리 정맥을 빼내는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D9D51BC-3541-45D3-BB2A-302DE8AD606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피는 다른 건강한 정맥으로 돌아서 흘러요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3BFD2D4-8D00-4FB5-8399-02455DBA6AF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08" descr="{&quot;page&quot;: 108, &quot;text_data&quot;: &quot;하지정맥류 발거술이 뭔가요?\n늘어나 망가진 다리 정맥을 빼내는 수술이에요\n피는 다른 건강한 정맥으로 돌아서 흘러요\n[핵심 설명] 피부를 작게 열어요 / 망가진 정맥을 묶어요 / 정맥을 빼내요&quot;, &quot;header1&quot;: &quot;심장·혈관&quot;, &quot;header2&quot;: &quot;하지정맥류&quot;, &quot;header3&quot;: &quot;정맥 발거술&quot;, &quot;keywords&quot;: [&quot;하지정맥류&quot;, &quot;정맥류수술&quot;, &quot;질병수술비&quot;, &quot;종수술비&quot;]}">
            <a:extLst>
              <a:ext uri="{FF2B5EF4-FFF2-40B4-BE49-F238E27FC236}">
                <a16:creationId xmlns:a16="http://schemas.microsoft.com/office/drawing/2014/main" id="{2F4CD37F-2DC8-451F-817F-D26E04D89734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108  헤더1: 심장·혈관  헤더2: 하지정맥류  헤더3: 정맥 발거술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하지정맥류, 정맥류수술,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하지정맥류 발거술이 뭔가요? 늘어나 망가진 다리 정맥을 빼내는 수술이에요 피는 다른 건강한 정맥으로 돌아서 흘러요 [핵심 설명] 피부를 작게 열어요 / 망가진 정맥을 묶어요 / 정맥을 빼내요</a:t>
            </a:r>
          </a:p>
        </p:txBody>
      </p:sp>
    </p:spTree>
    <p:extLst>
      <p:ext uri="{BB962C8B-B14F-4D97-AF65-F5344CB8AC3E}">
        <p14:creationId xmlns:p14="http://schemas.microsoft.com/office/powerpoint/2010/main" val="42572731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3C47248-8FF4-46EE-8CC8-6579BE6F825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73F0BA0-E0BE-4B2F-8F44-879B4ECEB56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정맥 레이저·고주파 폐쇄술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5D3187D-65B6-4382-B751-ED03FA28B3A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혈관 속에 관을 넣어 열로 망가진 정맥을 막아요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7306633B-E418-4B34-B8E5-0094288C564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절개가 작아 회복이 빠른 편이에요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4ECC837-DBC0-4BD4-AA3B-7726ECD3EB7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09" descr="{&quot;page&quot;: 109, &quot;text_data&quot;: &quot;정맥 레이저·고주파 폐쇄술\n혈관 속에 관을 넣어 열로 망가진 정맥을 막아요\n절개가 작아 회복이 빠른 편이에요\n[핵심 설명] 정맥에 가는 관을 넣어요 / 열을 내요 / 혈관이 붙어서 막혀요&quot;, &quot;header1&quot;: &quot;심장·혈관&quot;, &quot;header2&quot;: &quot;하지정맥류&quot;, &quot;header3&quot;: &quot;정맥 레이저·고주파 폐쇄술&quot;, &quot;keywords&quot;: [&quot;하지정맥류&quot;, &quot;레이저치료&quot;, &quot;고주파치료&quot;, &quot;질병수술비&quot;, &quot;종수술비&quot;]}">
            <a:extLst>
              <a:ext uri="{FF2B5EF4-FFF2-40B4-BE49-F238E27FC236}">
                <a16:creationId xmlns:a16="http://schemas.microsoft.com/office/drawing/2014/main" id="{14723506-40A9-4E78-80A7-117DA970C22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109  헤더1: 심장·혈관  헤더2: 하지정맥류  헤더3: 정맥 레이저·고주파 폐쇄술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하지정맥류, 레이저치료, 고주파치료,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정맥 레이저·고주파 폐쇄술 혈관 속에 관을 넣어 열로 망가진 정맥을 막아요 절개가 작아 회복이 빠른 편이에요 [핵심 설명] 정맥에 가는 관을 넣어요 / 열을 내요 / 혈관이 붙어서 막혀요</a:t>
            </a:r>
          </a:p>
        </p:txBody>
      </p:sp>
    </p:spTree>
    <p:extLst>
      <p:ext uri="{BB962C8B-B14F-4D97-AF65-F5344CB8AC3E}">
        <p14:creationId xmlns:p14="http://schemas.microsoft.com/office/powerpoint/2010/main" val="93649205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AA0B95C-7428-4D09-8957-197903B83E0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0950356C-57CC-413F-8605-0DDE09D7EC3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정맥 접착 폐쇄술이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2C07150-5F8B-4DEB-AEFD-46C20A8878F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의료용 접착제로 망가진 다리 정맥을 붙여 막아요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83603FA-5E06-495F-8980-BC16A6543805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열을 쓰지 않는 방법이에요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DF0302B6-D072-4BCA-A2C6-45DB180181C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CAE1848F-39D4-497F-90DB-01D72F4EDA13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치료한 정맥을 닫아 혈액이 다른 건강한 정맥으로 흐르도록 해요.</a:t>
            </a:r>
          </a:p>
        </p:txBody>
      </p:sp>
      <p:sp>
        <p:nvSpPr>
          <p:cNvPr id="8" name="RAG_METADATA_PAGE_110" descr="{&quot;page&quot;: 110, &quot;text_data&quot;: &quot;정맥 접착 폐쇄술이 뭔가요?\n의료용 접착제로 망가진 다리 정맥을 붙여 막아요\n열을 쓰지 않는 방법이에요\n치료한 정맥을 닫아 혈액이 다른 건강한 정맥으로 흐르도록 해요.\n[핵심 설명] 정맥에 가는 관을 넣어요 / 접착제를 넣어요 / 눌러서 붙여요&quot;, &quot;header1&quot;: &quot;심장·혈관&quot;, &quot;header2&quot;: &quot;하지정맥류&quot;, &quot;header3&quot;: &quot;정맥 접착 폐쇄술&quot;, &quot;keywords&quot;: [&quot;하지정맥류&quot;, &quot;정맥접착술&quot;, &quot;질병수술비&quot;, &quot;종수술비&quot;]}">
            <a:extLst>
              <a:ext uri="{FF2B5EF4-FFF2-40B4-BE49-F238E27FC236}">
                <a16:creationId xmlns:a16="http://schemas.microsoft.com/office/drawing/2014/main" id="{855BF8C8-00E7-460E-AA48-E9779CDBD99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110  헤더1: 심장·혈관  헤더2: 하지정맥류  헤더3: 정맥 접착 폐쇄술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하지정맥류, 정맥접착술,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정맥 접착 폐쇄술이 뭔가요? 의료용 접착제로 망가진 다리 정맥을 붙여 막아요 열을 쓰지 않는 방법이에요 치료한 정맥을 닫아 혈액이 다른 건강한 정맥으로 흐르도록 해요. [핵심 설명] 정맥에 가는 관을 넣어요 / 접착제를 넣어요 / 눌러서 붙여요</a:t>
            </a:r>
          </a:p>
        </p:txBody>
      </p:sp>
    </p:spTree>
    <p:extLst>
      <p:ext uri="{BB962C8B-B14F-4D97-AF65-F5344CB8AC3E}">
        <p14:creationId xmlns:p14="http://schemas.microsoft.com/office/powerpoint/2010/main" val="103636202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5BB12D5-1B0C-46E1-B95B-4849F079639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B808B51-4822-4F99-A625-47E4A24778A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심전도 검사가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03F4498B-66A1-4B7A-A38F-46478E5D560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피부에 전극을 붙여 심장의 전기 신호를 기록하는 검사예요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FA020DE1-ADB4-4F36-A6D9-000B2119D05B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짧은 검사에서 잡히지 않는 부정맥은 장기 기록이 필요할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36CEC35-782B-420A-8F9A-EBB5F0E0A01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8484AA57-755A-4707-8F30-DF9EDF857AFE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심전도는 심장의 모양보다 박동을 만드는 전기 활동을 살펴봐요.</a:t>
            </a:r>
          </a:p>
        </p:txBody>
      </p:sp>
      <p:sp>
        <p:nvSpPr>
          <p:cNvPr id="8" name="RAG_METADATA_PAGE_111" descr="{&quot;page&quot;: 111, &quot;text_data&quot;: &quot;심전도 검사가 뭔가요?\n피부에 전극을 붙여 심장의 전기 신호를 기록하는 검사예요\n짧은 검사에서 잡히지 않는 부정맥은 장기 기록이 필요할 수 있어요\n심전도는 심장의 모양보다 박동을 만드는 전기 활동을 살펴봐요.\n[핵심 설명] 가슴·팔다리 전극 / 전기 신호 기록 / 심전도 파형&quot;, &quot;header1&quot;: &quot;심장·혈관&quot;, &quot;header2&quot;: &quot;심장 검사&quot;, &quot;header3&quot;: &quot;심전도 검사&quot;, &quot;keywords&quot;: [&quot;부정맥&quot;, &quot;심전도&quot;, &quot;심장검사&quot;, &quot;순환계치료비&quot;]}">
            <a:extLst>
              <a:ext uri="{FF2B5EF4-FFF2-40B4-BE49-F238E27FC236}">
                <a16:creationId xmlns:a16="http://schemas.microsoft.com/office/drawing/2014/main" id="{72397E50-0B9C-4F0D-AE1D-68F22D53436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111  헤더1: 심장·혈관  헤더2: 심장 검사  헤더3: 심전도 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부정맥, 심전도, 심장검사,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심전도 검사가 뭔가요? 피부에 전극을 붙여 심장의 전기 신호를 기록하는 검사예요 짧은 검사에서 잡히지 않는 부정맥은 장기 기록이 필요할 수 있어요 심전도는 심장의 모양보다 박동을 만드는 전기 활동을 살펴봐요. [핵심 설명] 가슴·팔다리 전극 / 전기 신호 기록 / 심전도 파형</a:t>
            </a:r>
          </a:p>
        </p:txBody>
      </p:sp>
    </p:spTree>
    <p:extLst>
      <p:ext uri="{BB962C8B-B14F-4D97-AF65-F5344CB8AC3E}">
        <p14:creationId xmlns:p14="http://schemas.microsoft.com/office/powerpoint/2010/main" val="34877676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43FCEC7-35A7-4036-8C7E-4EC87C7280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6F01DE2-59D0-488C-A663-60198E8CAF8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홀터 검사가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3E9717D-B0DA-4B37-B007-51291ACE8D2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휴대 기록기로 생활 중 심전도를 오랫동안 살펴요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EDF2E55C-990F-464A-9420-B644A5F54317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기록 기간과 기기 종류는 증상 빈도에 맞춰 선택해요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A389619-6417-4E15-8710-80E85E3A011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12" descr="{&quot;page&quot;: 112, &quot;text_data&quot;: &quot;홀터 검사가 뭔가요?\n휴대 기록기로 생활 중 심전도를 오랫동안 살펴요\n기록 기간과 기기 종류는 증상 빈도에 맞춰 선택해요\n[핵심 설명] 가슴 전극 / 휴대 기록기 / 생활 중 기록&quot;, &quot;header1&quot;: &quot;심장·혈관&quot;, &quot;header2&quot;: &quot;심장 검사&quot;, &quot;header3&quot;: &quot;홀터 검사&quot;, &quot;keywords&quot;: [&quot;부정맥&quot;, &quot;홀터검사&quot;, &quot;심전도&quot;, &quot;순환계치료비&quot;]}">
            <a:extLst>
              <a:ext uri="{FF2B5EF4-FFF2-40B4-BE49-F238E27FC236}">
                <a16:creationId xmlns:a16="http://schemas.microsoft.com/office/drawing/2014/main" id="{D5B8AD40-034D-4B3F-A636-77CDF4DFEDA6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112  헤더1: 심장·혈관  헤더2: 심장 검사  헤더3: 홀터 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부정맥, 홀터검사, 심전도,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홀터 검사가 뭔가요? 휴대 기록기로 생활 중 심전도를 오랫동안 살펴요 기록 기간과 기기 종류는 증상 빈도에 맞춰 선택해요 [핵심 설명] 가슴 전극 / 휴대 기록기 / 생활 중 기록</a:t>
            </a:r>
          </a:p>
        </p:txBody>
      </p:sp>
    </p:spTree>
    <p:extLst>
      <p:ext uri="{BB962C8B-B14F-4D97-AF65-F5344CB8AC3E}">
        <p14:creationId xmlns:p14="http://schemas.microsoft.com/office/powerpoint/2010/main" val="185314753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9EF86F1-1F09-41C4-B465-E01E1176CE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E8264F7-9F15-4B45-B667-8B914D2DA81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운동부하 검사가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5669B11-1CF4-4531-99F3-213559F90B8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운동하면서 심전도·혈압·증상 변화를 살피는 검사예요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FB5F4289-5482-476F-B80E-330EA3999565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운동이 어려운 경우 다른 방식의 부하 검사를 선택할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FFCA6C2-8C7D-4E5A-8227-8F181342319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13" descr="{&quot;page&quot;: 113, &quot;text_data&quot;: &quot;운동부하 검사가 뭔가요?\n운동하면서 심전도·혈압·증상 변화를 살피는 검사예요\n운동이 어려운 경우 다른 방식의 부하 검사를 선택할 수 있어요\n[핵심 설명] 러닝머신 운동 / 전극과 혈압계 / 변화 관찰&quot;, &quot;header1&quot;: &quot;심장·혈관&quot;, &quot;header2&quot;: &quot;심장 검사&quot;, &quot;header3&quot;: &quot;운동부하 검사&quot;, &quot;keywords&quot;: [&quot;협심증&quot;, &quot;허혈성심장질환&quot;, &quot;운동부하검사&quot;, &quot;심전도&quot;, &quot;순환계치료비&quot;]}">
            <a:extLst>
              <a:ext uri="{FF2B5EF4-FFF2-40B4-BE49-F238E27FC236}">
                <a16:creationId xmlns:a16="http://schemas.microsoft.com/office/drawing/2014/main" id="{1933CD4A-EE07-46CA-BBC4-AB5D00F2908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113  헤더1: 심장·혈관  헤더2: 심장 검사  헤더3: 운동부하 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협심증, 허혈성심장질환, 운동부하검사, 심전도,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운동부하 검사가 뭔가요? 운동하면서 심전도·혈압·증상 변화를 살피는 검사예요 운동이 어려운 경우 다른 방식의 부하 검사를 선택할 수 있어요 [핵심 설명] 러닝머신 운동 / 전극과 혈압계 / 변화 관찰</a:t>
            </a:r>
          </a:p>
        </p:txBody>
      </p:sp>
    </p:spTree>
    <p:extLst>
      <p:ext uri="{BB962C8B-B14F-4D97-AF65-F5344CB8AC3E}">
        <p14:creationId xmlns:p14="http://schemas.microsoft.com/office/powerpoint/2010/main" val="147889286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E59CB04-37B1-45B6-9BFF-C3ED4D8005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26FECDF-06BD-4BC3-BA0A-E2665C90540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전기생리학 검사가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F114260-5322-4B00-88E7-C56FE2C4B58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심장 안 전극 관으로 전기 신호와 부정맥의 원인을 살펴요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739775EF-6A75-4CC4-B9A9-5CAA476D618C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필요하면 같은 과정에서 카테터 절제술을 이어 시행해요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AE91364-23E9-4C86-B05C-3501B3550D1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14" descr="{&quot;page&quot;: 114, &quot;text_data&quot;: &quot;전기생리학 검사가 뭔가요?\n심장 안 전극 관으로 전기 신호와 부정맥의 원인을 살펴요\n필요하면 같은 과정에서 카테터 절제술을 이어 시행해요\n[핵심 설명] 심장 안 전극 / 전기 신호 측정 / 부정맥 원인 찾기&quot;, &quot;header1&quot;: &quot;심장·혈관&quot;, &quot;header2&quot;: &quot;심장 검사&quot;, &quot;header3&quot;: &quot;전기생리학 검사&quot;, &quot;keywords&quot;: [&quot;부정맥&quot;, &quot;전기생리검사&quot;, &quot;심장검사&quot;, &quot;순환계치료비&quot;]}">
            <a:extLst>
              <a:ext uri="{FF2B5EF4-FFF2-40B4-BE49-F238E27FC236}">
                <a16:creationId xmlns:a16="http://schemas.microsoft.com/office/drawing/2014/main" id="{AC267F32-A659-4A02-B37E-71AB503ACFC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114  헤더1: 심장·혈관  헤더2: 심장 검사  헤더3: 전기생리학 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부정맥, 전기생리검사, 심장검사,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전기생리학 검사가 뭔가요? 심장 안 전극 관으로 전기 신호와 부정맥의 원인을 살펴요 필요하면 같은 과정에서 카테터 절제술을 이어 시행해요 [핵심 설명] 심장 안 전극 / 전기 신호 측정 / 부정맥 원인 찾기</a:t>
            </a:r>
          </a:p>
        </p:txBody>
      </p:sp>
    </p:spTree>
    <p:extLst>
      <p:ext uri="{BB962C8B-B14F-4D97-AF65-F5344CB8AC3E}">
        <p14:creationId xmlns:p14="http://schemas.microsoft.com/office/powerpoint/2010/main" val="160374088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22DA7EE-886C-4459-8EAA-3510116DE2B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84D0508A-0BA6-4187-8C2E-050B655D8A6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이식형 사건기록기가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70B6A12-0567-4091-B321-39556C16561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가슴 피부 밑의 작은 기기가 심장 박자를 장기간 기록해요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47CCF642-FD80-4882-B65F-9AB96252E26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드물게 생기는 실신·두근거림 등의 원인을 찾는 데 사용해요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4CA16EDA-9F29-4AF3-9765-9697BE71E40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15" descr="{&quot;page&quot;: 115, &quot;text_data&quot;: &quot;이식형 사건기록기가 뭔가요?\n가슴 피부 밑의 작은 기기가 심장 박자를 장기간 기록해요\n드물게 생기는 실신·두근거림 등의 원인을 찾는 데 사용해요\n[핵심 설명] 피부 아래 기록기 / 박자 기록 / 원인 확인&quot;, &quot;header1&quot;: &quot;심장·혈관&quot;, &quot;header2&quot;: &quot;심장 검사&quot;, &quot;header3&quot;: &quot;이식형 사건기록기&quot;, &quot;keywords&quot;: [&quot;부정맥&quot;, &quot;실신&quot;, &quot;심장검사&quot;, &quot;루프기록기&quot;, &quot;순환계치료비&quot;]}">
            <a:extLst>
              <a:ext uri="{FF2B5EF4-FFF2-40B4-BE49-F238E27FC236}">
                <a16:creationId xmlns:a16="http://schemas.microsoft.com/office/drawing/2014/main" id="{A64A78E1-10F3-4605-8612-F665705F4A7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115  헤더1: 심장·혈관  헤더2: 심장 검사  헤더3: 이식형 사건기록기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부정맥, 실신, 심장검사, 루프기록기,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이식형 사건기록기가 뭔가요? 가슴 피부 밑의 작은 기기가 심장 박자를 장기간 기록해요 드물게 생기는 실신·두근거림 등의 원인을 찾는 데 사용해요 [핵심 설명] 피부 아래 기록기 / 박자 기록 / 원인 확인</a:t>
            </a:r>
          </a:p>
        </p:txBody>
      </p:sp>
    </p:spTree>
    <p:extLst>
      <p:ext uri="{BB962C8B-B14F-4D97-AF65-F5344CB8AC3E}">
        <p14:creationId xmlns:p14="http://schemas.microsoft.com/office/powerpoint/2010/main" val="35097885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7D0FC5D-A181-4BDC-B7B9-F984FB9278E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FC14F8C-C5E0-46F0-814D-1554E3AE476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이식형 제세동기(ICD)가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AA22AD1-EB06-44E8-99DE-A31F35906A7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위험한 빠른 부정맥을 감지해 전기 자극이나 충격으로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A472625-B491-4E23-B4A5-B1F6752AD8AF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심박동기 기능이 함께 있는 종류도 있으며 적용 대상은 따로 판단해요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9153871D-8FDD-4A37-9471-4474EB09A4B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16" descr="{&quot;page&quot;: 116, &quot;text_data&quot;: &quot;이식형 제세동기(ICD)가 뭔가요?\n위험한 빠른 부정맥을 감지해 전기 자극이나 충격으로 치료해요\n심박동기 기능이 함께 있는 종류도 있으며 적용 대상은 따로 판단해요\n[핵심 설명] 피부 아래 기기 / 심장과 연결 / 위험한 박자 치료&quot;, &quot;header1&quot;: &quot;심장·혈관&quot;, &quot;header2&quot;: &quot;부정맥&quot;, &quot;header3&quot;: &quot;이식형 제세동기&quot;, &quot;keywords&quot;: [&quot;순환계치료비&quot;, &quot;부정맥&quot;, &quot;제세동기&quot;, &quot;ICD&quot;, &quot;심정지&quot;, &quot;종수술비&quot;]}">
            <a:extLst>
              <a:ext uri="{FF2B5EF4-FFF2-40B4-BE49-F238E27FC236}">
                <a16:creationId xmlns:a16="http://schemas.microsoft.com/office/drawing/2014/main" id="{BEA42C80-3230-45C8-AEF3-33C90F8D444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116  헤더1: 심장·혈관  헤더2: 부정맥  헤더3: 이식형 제세동기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부정맥, 제세동기, ICD, 심정지,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이식형 제세동기(ICD)가 뭔가요? 위험한 빠른 부정맥을 감지해 전기 자극이나 충격으로 치료해요 심박동기 기능이 함께 있는 종류도 있으며 적용 대상은 따로 판단해요 [핵심 설명] 피부 아래 기기 / 심장과 연결 / 위험한 박자 치료</a:t>
            </a:r>
          </a:p>
        </p:txBody>
      </p:sp>
    </p:spTree>
    <p:extLst>
      <p:ext uri="{BB962C8B-B14F-4D97-AF65-F5344CB8AC3E}">
        <p14:creationId xmlns:p14="http://schemas.microsoft.com/office/powerpoint/2010/main" val="98464253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6DC4951-F8A2-4548-A498-832D5A694D7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5F42F31-3A41-41D5-92A0-ADADA9CF468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심실보조장치가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6DB1CAD-3B83-45FF-A36E-CE6DF3B87AC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펌프가 약해진 심실에서 피를 받아 동맥으로 보내도록 도와요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02E63DB-99CF-42DF-8277-548CDE7169DF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심장 이식을 기다리거나 장기간 심장 기능을 보조하는 데 사용해요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D461FE3-6C35-4ECD-8BB5-581EF4CEC652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17" descr="{&quot;page&quot;: 117, &quot;text_data&quot;: &quot;심실보조장치가 뭔가요?\n펌프가 약해진 심실에서 피를 받아 동맥으로 보내도록 도와요\n심장 이식을 기다리거나 장기간 심장 기능을 보조하는 데 사용해요\n[핵심 설명] 심실의 피 / 보조 펌프 / 대동맥으로 전달&quot;, &quot;header1&quot;: &quot;심장·혈관&quot;, &quot;header2&quot;: &quot;심장·폐 기능 보조&quot;, &quot;header3&quot;: &quot;심실보조장치&quot;, &quot;keywords&quot;: [&quot;순환계치료비&quot;, &quot;심부전&quot;, &quot;심실보조장치&quot;, &quot;심장이식&quot;, &quot;종수술비&quot;]}">
            <a:extLst>
              <a:ext uri="{FF2B5EF4-FFF2-40B4-BE49-F238E27FC236}">
                <a16:creationId xmlns:a16="http://schemas.microsoft.com/office/drawing/2014/main" id="{F6CED594-8C11-42DF-B55B-D90A5D560ED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117  헤더1: 심장·혈관  헤더2: 심장·폐 기능 보조  헤더3: 심실보조장치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심부전, 심실보조장치, 심장이식,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심실보조장치가 뭔가요? 펌프가 약해진 심실에서 피를 받아 동맥으로 보내도록 도와요 심장 이식을 기다리거나 장기간 심장 기능을 보조하는 데 사용해요 [핵심 설명] 심실의 피 / 보조 펌프 / 대동맥으로 전달</a:t>
            </a:r>
          </a:p>
        </p:txBody>
      </p:sp>
    </p:spTree>
    <p:extLst>
      <p:ext uri="{BB962C8B-B14F-4D97-AF65-F5344CB8AC3E}">
        <p14:creationId xmlns:p14="http://schemas.microsoft.com/office/powerpoint/2010/main" val="114730414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26539ED-0CB2-4F29-AAE1-0C0833EE3A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005DAF2A-405C-449D-A60B-0E6E963B940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풍선 판막 성형술이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7567AFA-AA48-4898-B014-5418E36320B8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카테터의 풍선으로 좁아진 심장 판막을 넓히는 시술이에요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C73BFDC5-5D2A-49D4-8DC5-0015C9F956D3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판막 종류와 상태에 따라 적합성을 판단하며 다시 좁아질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8DDA063-EC04-4A0E-B611-A13D295F03A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81333D67-25FF-49A8-BB4F-BFED6372D729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풍선은 좁아진 판막을 벌린 뒤 시술 기구와 함께 빼내요.</a:t>
            </a:r>
          </a:p>
        </p:txBody>
      </p:sp>
      <p:sp>
        <p:nvSpPr>
          <p:cNvPr id="8" name="RAG_METADATA_PAGE_118" descr="{&quot;page&quot;: 118, &quot;text_data&quot;: &quot;풍선 판막 성형술이 뭔가요?\n카테터의 풍선으로 좁아진 심장 판막을 넓히는 시술이에요\n판막 종류와 상태에 따라 적합성을 판단하며 다시 좁아질 수 있어요\n풍선은 좁아진 판막을 벌린 뒤 시술 기구와 함께 빼내요.\n[핵심 설명] 좁은 판막 / 풍선으로 확장 / 통로를 넓혀요&quot;, &quot;header1&quot;: &quot;심장·혈관&quot;, &quot;header2&quot;: &quot;심장 판막&quot;, &quot;header3&quot;: &quot;풍선 판막 성형술&quot;, &quot;keywords&quot;: [&quot;순환계치료비&quot;, &quot;판막협착증&quot;, &quot;풍선판막성형술&quot;, &quot;질병수술비&quot;, &quot;종수술비&quot;]}">
            <a:extLst>
              <a:ext uri="{FF2B5EF4-FFF2-40B4-BE49-F238E27FC236}">
                <a16:creationId xmlns:a16="http://schemas.microsoft.com/office/drawing/2014/main" id="{5CDDAA41-88FE-4A8E-B084-11B54251655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118  헤더1: 심장·혈관  헤더2: 심장 판막  헤더3: 풍선 판막 성형술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판막협착증, 풍선판막성형술,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풍선 판막 성형술이 뭔가요? 카테터의 풍선으로 좁아진 심장 판막을 넓히는 시술이에요 판막 종류와 상태에 따라 적합성을 판단하며 다시 좁아질 수 있어요 풍선은 좁아진 판막을 벌린 뒤 시술 기구와 함께 빼내요. [핵심 설명] 좁은 판막 / 풍선으로 확장 / 통로를 넓혀요</a:t>
            </a:r>
          </a:p>
        </p:txBody>
      </p:sp>
    </p:spTree>
    <p:extLst>
      <p:ext uri="{BB962C8B-B14F-4D97-AF65-F5344CB8AC3E}">
        <p14:creationId xmlns:p14="http://schemas.microsoft.com/office/powerpoint/2010/main" val="171991198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E4B058D-888D-41CF-BD66-F0B4761263C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78BD158-2FC8-434D-95A4-C90A4EAD50A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승모판 클립 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03936823-6DAC-4A9F-A089-7A59F39BBC6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승모판의 일부를 클립으로 연결해 혈액 역류를 줄여요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E322215-2DE0-4AD7-8812-014AABC8115C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선택된 승모판 역류 환자에게 시행하는 카테터 치료의 한 방법이에요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45BCA814-2DBB-4E3E-8C09-7FA27DD3223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31C4E361-D860-45A6-A8B5-2AED4DE58786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판막이 제대로 닫히지 않아 피가 뒤로 새는 것을 ‘역류’라고 해요.</a:t>
            </a:r>
          </a:p>
        </p:txBody>
      </p:sp>
      <p:sp>
        <p:nvSpPr>
          <p:cNvPr id="8" name="RAG_METADATA_PAGE_119" descr="{&quot;page&quot;: 119, &quot;text_data&quot;: &quot;승모판 클립 시술이 뭔가요?\n승모판의 일부를 클립으로 연결해 혈액 역류를 줄여요\n선택된 승모판 역류 환자에게 시행하는 카테터 치료의 한 방법이에요\n판막이 제대로 닫히지 않아 피가 뒤로 새는 것을 ‘역류’라고 해요.\n[핵심 설명] 덜 닫히는 승모판 / 판막을 집는 클립 / 역류를 줄여요&quot;, &quot;header1&quot;: &quot;심장·혈관&quot;, &quot;header2&quot;: &quot;심장 판막&quot;, &quot;header3&quot;: &quot;승모판 클립 시술&quot;, &quot;keywords&quot;: [&quot;순환계치료비&quot;, &quot;승모판역류증&quot;, &quot;마이트라클립&quot;, &quot;판막시술&quot;, &quot;종수술비&quot;]}">
            <a:extLst>
              <a:ext uri="{FF2B5EF4-FFF2-40B4-BE49-F238E27FC236}">
                <a16:creationId xmlns:a16="http://schemas.microsoft.com/office/drawing/2014/main" id="{605C6364-662A-418F-9235-C59D288B2BA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119  헤더1: 심장·혈관  헤더2: 심장 판막  헤더3: 승모판 클립 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승모판역류증, 마이트라클립, 판막시술,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승모판 클립 시술이 뭔가요? 승모판의 일부를 클립으로 연결해 혈액 역류를 줄여요 선택된 승모판 역류 환자에게 시행하는 카테터 치료의 한 방법이에요 판막이 제대로 닫히지 않아 피가 뒤로 새는 것을 ‘역류’라고 해요. [핵심 설명] 덜 닫히는 승모판 / 판막을 집는 클립 / 역류를 줄여요</a:t>
            </a:r>
          </a:p>
        </p:txBody>
      </p:sp>
    </p:spTree>
    <p:extLst>
      <p:ext uri="{BB962C8B-B14F-4D97-AF65-F5344CB8AC3E}">
        <p14:creationId xmlns:p14="http://schemas.microsoft.com/office/powerpoint/2010/main" val="35862769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0C53C41-AF3B-446D-BC6D-0F43E74D7DA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30E36C8-FC3E-4F15-88AA-B4B74351A4B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심방중격결손 폐쇄술이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058FE6E3-24AD-4A5C-BD1C-147272AF5BA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양쪽 심방 사이의 구멍을 카테터로 넣은 기구로 막아요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3C703B5-B0E0-46DA-8EB1-79E2D5F2AD7D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구멍의 모양·크기에 따라 기구 시술이나 수술을 선택해요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5F75FE5-70BF-41E0-B62F-3250ED50A1A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973AC3BF-B4E8-458C-BF54-76D05117A761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심방중격은 심장의 위쪽 두 방 사이를 나누는 벽이에요.</a:t>
            </a:r>
          </a:p>
        </p:txBody>
      </p:sp>
      <p:sp>
        <p:nvSpPr>
          <p:cNvPr id="8" name="RAG_METADATA_PAGE_120" descr="{&quot;page&quot;: 120, &quot;text_data&quot;: &quot;심방중격결손 폐쇄술이 뭔가요?\n양쪽 심방 사이의 구멍을 카테터로 넣은 기구로 막아요\n구멍의 모양·크기에 따라 기구 시술이나 수술을 선택해요\n심방중격은 심장의 위쪽 두 방 사이를 나누는 벽이에요.\n[핵심 설명] 심방 사이 구멍 / 양쪽으로 펼친 기구 / 구멍 폐쇄&quot;, &quot;header1&quot;: &quot;심장·혈관&quot;, &quot;header2&quot;: &quot;선천성 심장질환&quot;, &quot;header3&quot;: &quot;심방중격결손 폐쇄술&quot;, &quot;keywords&quot;: [&quot;심방중격결손&quot;, &quot;선천성심장질환&quot;, &quot;심장시술&quot;, &quot;질병수술비&quot;, &quot;종수술비&quot;]}">
            <a:extLst>
              <a:ext uri="{FF2B5EF4-FFF2-40B4-BE49-F238E27FC236}">
                <a16:creationId xmlns:a16="http://schemas.microsoft.com/office/drawing/2014/main" id="{9E81D40C-17BE-4D5A-B460-0CC46358A4B2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120  헤더1: 심장·혈관  헤더2: 선천성 심장질환  헤더3: 심방중격결손 폐쇄술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심방중격결손, 선천성심장질환, 심장시술,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심방중격결손 폐쇄술이 뭔가요? 양쪽 심방 사이의 구멍을 카테터로 넣은 기구로 막아요 구멍의 모양·크기에 따라 기구 시술이나 수술을 선택해요 심방중격은 심장의 위쪽 두 방 사이를 나누는 벽이에요. [핵심 설명] 심방 사이 구멍 / 양쪽으로 펼친 기구 / 구멍 폐쇄</a:t>
            </a:r>
          </a:p>
        </p:txBody>
      </p:sp>
    </p:spTree>
    <p:extLst>
      <p:ext uri="{BB962C8B-B14F-4D97-AF65-F5344CB8AC3E}">
        <p14:creationId xmlns:p14="http://schemas.microsoft.com/office/powerpoint/2010/main" val="48836194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A1AC7E5-6F64-4316-A19C-EAF16DD7B4F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41705AB7-27D2-49C3-976E-ACD107E2A30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죽종 제거술이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13550AE-E97E-4251-88BC-3442193684D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카테터 기구로 혈관 안의 단단한 죽종을 줄이는 시술이에요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87EE4C1D-E5FA-4509-A95C-1AD05472E38B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모든 협착에 쓰는 것은 아니며 다른 혈관 치료와 병행할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BE42CD3-6C7F-4FF2-A1C0-B81532B34EB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72D07D5C-4ABE-4E05-A5AB-CDC2D7DBCD87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죽종은 혈관 안쪽 벽에 쌓인 지방 성분 등의 덩어리예요.</a:t>
            </a:r>
          </a:p>
        </p:txBody>
      </p:sp>
      <p:sp>
        <p:nvSpPr>
          <p:cNvPr id="8" name="RAG_METADATA_PAGE_121" descr="{&quot;page&quot;: 121, &quot;text_data&quot;: &quot;죽종 제거술이 뭔가요?\n카테터 기구로 혈관 안의 단단한 죽종을 줄이는 시술이에요\n모든 협착에 쓰는 것은 아니며 다른 혈관 치료와 병행할 수 있어요\n죽종은 혈관 안쪽 벽에 쌓인 지방 성분 등의 덩어리예요.\n[핵심 설명] 벽의 죽종 / 혈관 속 기구 / 죽종을 줄여요&quot;, &quot;header1&quot;: &quot;심장·혈관&quot;, &quot;header2&quot;: &quot;혈관 협착&quot;, &quot;header3&quot;: &quot;죽종 제거술&quot;, &quot;keywords&quot;: [&quot;순환계치료비&quot;, &quot;동맥경화&quot;, &quot;죽종제거술&quot;, &quot;혈관시술&quot;, &quot;질병수술비&quot;]}">
            <a:extLst>
              <a:ext uri="{FF2B5EF4-FFF2-40B4-BE49-F238E27FC236}">
                <a16:creationId xmlns:a16="http://schemas.microsoft.com/office/drawing/2014/main" id="{ED20A800-DD77-48D2-B80F-7C85DB68AA9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121  헤더1: 심장·혈관  헤더2: 혈관 협착  헤더3: 죽종 제거술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동맥경화, 죽종제거술, 혈관시술, 질병수술비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죽종 제거술이 뭔가요? 카테터 기구로 혈관 안의 단단한 죽종을 줄이는 시술이에요 모든 협착에 쓰는 것은 아니며 다른 혈관 치료와 병행할 수 있어요 죽종은 혈관 안쪽 벽에 쌓인 지방 성분 등의 덩어리예요. [핵심 설명] 벽의 죽종 / 혈관 속 기구 / 죽종을 줄여요</a:t>
            </a:r>
          </a:p>
        </p:txBody>
      </p:sp>
    </p:spTree>
    <p:extLst>
      <p:ext uri="{BB962C8B-B14F-4D97-AF65-F5344CB8AC3E}">
        <p14:creationId xmlns:p14="http://schemas.microsoft.com/office/powerpoint/2010/main" val="191601637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24FD665-6A93-4AB3-B1A6-8EFFA117C2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FCC4CD7-3366-441F-8DD0-E27B46ACE02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뇌동정맥기형 치료이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D082288-43E8-43DC-98C7-402664541EF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뇌의 비정상 동맥·정맥 연결을 수술·색전·방사선 등으로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D0AA88D-74B5-4A26-BEA8-4D0147A5955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위치·크기·출혈 위험에 맞춰 치료나 관찰을 선택해요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A5B57DE-5B71-47E0-82E5-FBFD750324A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22" descr="{&quot;page&quot;: 122, &quot;text_data&quot;: &quot;뇌동정맥기형 치료이 뭔가요?\n뇌의 비정상 동맥·정맥 연결을 수술·색전·방사선 등으로 치료해요\n위치·크기·출혈 위험에 맞춰 치료나 관찰을 선택해요\n[핵심 설명] 들어오는 동맥 / 비정상 혈관 연결 / 나가는 정맥&quot;, &quot;header1&quot;: &quot;심장·혈관&quot;, &quot;header2&quot;: &quot;뇌혈관기형&quot;, &quot;header3&quot;: &quot;뇌동정맥기형 치료&quot;, &quot;keywords&quot;: [&quot;뇌동정맥기형&quot;, &quot;뇌혈관기형&quot;, &quot;색전술&quot;, &quot;감마나이프&quot;, &quot;질병수술비&quot;, &quot;종수술비&quot;]}">
            <a:extLst>
              <a:ext uri="{FF2B5EF4-FFF2-40B4-BE49-F238E27FC236}">
                <a16:creationId xmlns:a16="http://schemas.microsoft.com/office/drawing/2014/main" id="{A6FE247E-953C-4F1B-A4D3-3D318871C4B8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122  헤더1: 심장·혈관  헤더2: 뇌혈관기형  헤더3: 뇌동정맥기형 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뇌동정맥기형, 뇌혈관기형, 색전술, 감마나이프,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뇌동정맥기형 치료이 뭔가요? 뇌의 비정상 동맥·정맥 연결을 수술·색전·방사선 등으로 치료해요 위치·크기·출혈 위험에 맞춰 치료나 관찰을 선택해요 [핵심 설명] 들어오는 동맥 / 비정상 혈관 연결 / 나가는 정맥</a:t>
            </a:r>
          </a:p>
        </p:txBody>
      </p:sp>
    </p:spTree>
    <p:extLst>
      <p:ext uri="{BB962C8B-B14F-4D97-AF65-F5344CB8AC3E}">
        <p14:creationId xmlns:p14="http://schemas.microsoft.com/office/powerpoint/2010/main" val="38177432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325359C-0500-4630-B9E9-03DCBD28513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4B13EBD-AF99-4DD3-9833-1CBACA71501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광투시 정맥 제거술이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32B80A0-F54C-49F0-A06E-2464325323E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빛으로 피부 밑 정맥을 보며 일부 늘어난 정맥을 제거해요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74EC141-2EBC-4AFA-98E7-04B25E52E35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하지정맥류 치료법 중 하나로 정맥의 상태에 따라 선택해요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E5095D4-57B0-43C7-A025-8A22C8548B8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23" descr="{&quot;page&quot;: 123, &quot;text_data&quot;: &quot;광투시 정맥 제거술이 뭔가요?\n빛으로 피부 밑 정맥을 보며 일부 늘어난 정맥을 제거해요\n하지정맥류 치료법 중 하나로 정맥의 상태에 따라 선택해요\n[핵심 설명] 피부 밑 정맥 / 빛으로 확인 / 정맥 제거&quot;, &quot;header1&quot;: &quot;심장·혈관&quot;, &quot;header2&quot;: &quot;하지정맥류&quot;, &quot;header3&quot;: &quot;광투시 정맥 제거술&quot;, &quot;keywords&quot;: [&quot;하지정맥류&quot;, &quot;정맥류수술&quot;, &quot;정맥제거술&quot;, &quot;질병수술비&quot;, &quot;종수술비&quot;]}">
            <a:extLst>
              <a:ext uri="{FF2B5EF4-FFF2-40B4-BE49-F238E27FC236}">
                <a16:creationId xmlns:a16="http://schemas.microsoft.com/office/drawing/2014/main" id="{79005613-5102-4396-8138-C98FA9A8A87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123  헤더1: 심장·혈관  헤더2: 하지정맥류  헤더3: 광투시 정맥 제거술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하지정맥류, 정맥류수술, 정맥제거술,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광투시 정맥 제거술이 뭔가요? 빛으로 피부 밑 정맥을 보며 일부 늘어난 정맥을 제거해요 하지정맥류 치료법 중 하나로 정맥의 상태에 따라 선택해요 [핵심 설명] 피부 밑 정맥 / 빛으로 확인 / 정맥 제거</a:t>
            </a:r>
          </a:p>
        </p:txBody>
      </p:sp>
    </p:spTree>
    <p:extLst>
      <p:ext uri="{BB962C8B-B14F-4D97-AF65-F5344CB8AC3E}">
        <p14:creationId xmlns:p14="http://schemas.microsoft.com/office/powerpoint/2010/main" val="154215974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FE3AFB4-FCF2-4E3E-ABC3-B5F6FB69428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E7184B5C-6E4A-48AC-B480-920A05AC0DFA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히스속·방실접합부 절제술이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EF02E9C-8F7A-4FC6-836A-F4D21FC83C4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심장 전기 전달의 길목을 차단해 심실의 빠른 박자를 조절해요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9F91308-67F5-4340-9CEA-8F93AE8D4BDB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방실접합부 절제 뒤 심박동기가 박자를 유지하며 심방세동 자체를 없애지는 않아요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537BDA0-D930-4929-9CA4-912C2670E36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24" descr="{&quot;page&quot;: 124, &quot;text_data&quot;: &quot;히스속·방실접합부 절제술이 뭔가요?\n심장 전기 전달의 길목을 차단해 심실의 빠른 박자를 조절해요\n방실접합부 절제 뒤 심박동기가 박자를 유지하며 심방세동 자체를 없애지는 않아요\n[핵심 설명] 전기 전달 길목 / 카테터로 차단 / 심박동기가 보조&quot;, &quot;header1&quot;: &quot;심장·혈관&quot;, &quot;header2&quot;: &quot;부정맥&quot;, &quot;header3&quot;: &quot;히스속·방실접합부 절제술&quot;, &quot;keywords&quot;: [&quot;순환계치료비&quot;, &quot;부정맥&quot;, &quot;심방세동&quot;, &quot;절제술&quot;, &quot;종수술비&quot;]}">
            <a:extLst>
              <a:ext uri="{FF2B5EF4-FFF2-40B4-BE49-F238E27FC236}">
                <a16:creationId xmlns:a16="http://schemas.microsoft.com/office/drawing/2014/main" id="{105BF3BC-92B2-4E65-8D74-C5793F93752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124  헤더1: 심장·혈관  헤더2: 부정맥  헤더3: 히스속·방실접합부 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부정맥, 심방세동, 절제술,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히스속·방실접합부 절제술이 뭔가요? 심장 전기 전달의 길목을 차단해 심실의 빠른 박자를 조절해요 방실접합부 절제 뒤 심박동기가 박자를 유지하며 심방세동 자체를 없애지는 않아요 [핵심 설명] 전기 전달 길목 / 카테터로 차단 / 심박동기가 보조</a:t>
            </a:r>
          </a:p>
        </p:txBody>
      </p:sp>
    </p:spTree>
    <p:extLst>
      <p:ext uri="{BB962C8B-B14F-4D97-AF65-F5344CB8AC3E}">
        <p14:creationId xmlns:p14="http://schemas.microsoft.com/office/powerpoint/2010/main" val="198482571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1295B11-543A-4D7D-9763-A0CACE2D433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AABE24D-ED23-4486-A6CF-C665B38E304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뇌졸중: 뇌경색과 뇌출혈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B6948D2-E221-4293-BC3F-E61AE8F4A18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막힌 것과 터진 것, 치료가 서로 달라요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22117495-D4CB-4FF0-8122-DF6D7FA0882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어느 쪽인지 빨리 가리는 것이 가장 중요해요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481986ED-1067-4BF1-8297-A43D3EE04F0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25" descr="{&quot;page&quot;: 125, &quot;text_data&quot;: &quot;뇌졸중: 뇌경색과 뇌출혈\n막힌 것과 터진 것, 치료가 서로 달라요\n어느 쪽인지 빨리 가리는 것이 가장 중요해요\n[핵심 설명] 뇌경색: 혈관이 막힘 / 뇌출혈: 혈관이 터짐 / 둘을 합쳐 뇌졸중&quot;, &quot;header1&quot;: &quot;뇌·신경&quot;, &quot;header2&quot;: &quot;뇌졸중·뇌혈관&quot;, &quot;header3&quot;: &quot;뇌경색·뇌출혈 비교&quot;, &quot;keywords&quot;: [&quot;순환계치료비&quot;, &quot;뇌경색&quot;, &quot;뇌출혈&quot;, &quot;뇌졸중&quot;, &quot;뇌혈관질환진단비&quot;]}">
            <a:extLst>
              <a:ext uri="{FF2B5EF4-FFF2-40B4-BE49-F238E27FC236}">
                <a16:creationId xmlns:a16="http://schemas.microsoft.com/office/drawing/2014/main" id="{D66A8D16-8BDE-4253-B52B-456D266ACEC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125  헤더1: 뇌·신경  헤더2: 뇌졸중·뇌혈관  헤더3: 뇌경색·뇌출혈 비교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뇌경색, 뇌출혈, 뇌졸중, 뇌혈관질환진단비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뇌졸중: 뇌경색과 뇌출혈 막힌 것과 터진 것, 치료가 서로 달라요 어느 쪽인지 빨리 가리는 것이 가장 중요해요 [핵심 설명] 뇌경색: 혈관이 막힘 / 뇌출혈: 혈관이 터짐 / 둘을 합쳐 뇌졸중</a:t>
            </a:r>
          </a:p>
        </p:txBody>
      </p:sp>
    </p:spTree>
    <p:extLst>
      <p:ext uri="{BB962C8B-B14F-4D97-AF65-F5344CB8AC3E}">
        <p14:creationId xmlns:p14="http://schemas.microsoft.com/office/powerpoint/2010/main" val="48111446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AAB7B84-B844-4E9A-BBE7-662CCB00DD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C920BA6-9F70-4187-8C39-B4F521CD8DD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혈전용해술이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4C77299-CD1F-481E-9F6F-AD5C6FD5D6B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뇌경색에서 약으로 혈전을 녹이는 응급치료예요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27EC04E-03B1-4583-BE9B-7BB3158B27C1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보통 4.5시간 내에 고려해요. 일부는 영상검사로 범위를 판단해요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B64815F-20C0-4722-B86D-0CB76C80F8F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BD7FF7F8-185B-4AB3-A7D3-1AEE42098495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혈전은 혈관 안에서 피가 굳어 생긴 덩어리예요.</a:t>
            </a:r>
          </a:p>
        </p:txBody>
      </p:sp>
      <p:sp>
        <p:nvSpPr>
          <p:cNvPr id="8" name="RAG_METADATA_PAGE_126" descr="{&quot;page&quot;: 126, &quot;text_data&quot;: &quot;혈전용해술이 뭔가요?\n뇌경색에서 약으로 혈전을 녹이는 응급치료예요\n보통 4.5시간 내에 고려해요. 일부는 영상검사로 범위를 판단해요\n혈전은 혈관 안에서 피가 굳어 생긴 덩어리예요.\n[핵심 설명] CT로 뇌출혈이 아닌지 확인 / 정맥에 약을 주사해요 / 혈전을 녹여 혈류 회복을 도와요&quot;, &quot;header1&quot;: &quot;뇌·신경&quot;, &quot;header2&quot;: &quot;뇌졸중·뇌혈관&quot;, &quot;header3&quot;: &quot;혈전용해술&quot;, &quot;keywords&quot;: [&quot;순환계치료비&quot;, &quot;뇌경색&quot;, &quot;혈전용해치료비&quot;, &quot;뇌졸중&quot;, &quot;혈전용해술&quot;]}">
            <a:extLst>
              <a:ext uri="{FF2B5EF4-FFF2-40B4-BE49-F238E27FC236}">
                <a16:creationId xmlns:a16="http://schemas.microsoft.com/office/drawing/2014/main" id="{D5795332-5477-4152-9BD3-5C9C4FD74A4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126  헤더1: 뇌·신경  헤더2: 뇌졸중·뇌혈관  헤더3: 혈전용해술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뇌경색, 혈전용해치료비, 뇌졸중, 혈전용해술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혈전용해술이 뭔가요? 뇌경색에서 약으로 혈전을 녹이는 응급치료예요 보통 4.5시간 내에 고려해요. 일부는 영상검사로 범위를 판단해요 혈전은 혈관 안에서 피가 굳어 생긴 덩어리예요. [핵심 설명] CT로 뇌출혈이 아닌지 확인 / 정맥에 약을 주사해요 / 혈전을 녹여 혈류 회복을 도와요</a:t>
            </a:r>
          </a:p>
        </p:txBody>
      </p:sp>
    </p:spTree>
    <p:extLst>
      <p:ext uri="{BB962C8B-B14F-4D97-AF65-F5344CB8AC3E}">
        <p14:creationId xmlns:p14="http://schemas.microsoft.com/office/powerpoint/2010/main" val="183468699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5825B5B-7E89-43F1-A59C-83A9633BD61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0D68A3C-78B3-42CC-941E-58E80DFB049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혈전제거술이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3E29140-E47D-45D9-AC33-CA3D7AF3324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가는 관을 뇌혈관까지 넣어 혈전을 직접 꺼내요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EBFF644-41BA-4108-865F-88BCAE77CD6C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큰 혈관이 막혔을 때 해요. 빠를수록 좋아요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41CC818D-7BFC-4FDA-802D-12A1F6CCC10F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27" descr="{&quot;page&quot;: 127, &quot;text_data&quot;: &quot;혈전제거술이 뭔가요?\n가는 관을 뇌혈관까지 넣어 혈전을 직접 꺼내요\n큰 혈관이 막혔을 때 해요. 빠를수록 좋아요\n[핵심 설명] 사타구니 혈관으로 접근 / 그물·흡인으로 혈전 제거 / 밖으로 꺼내요&quot;, &quot;header1&quot;: &quot;뇌·신경&quot;, &quot;header2&quot;: &quot;뇌졸중·뇌혈관&quot;, &quot;header3&quot;: &quot;혈전제거술&quot;, &quot;keywords&quot;: [&quot;순환계치료비&quot;, &quot;뇌경색&quot;, &quot;혈전제거술&quot;, &quot;혈전제거술치료비&quot;, &quot;종수술비&quot;]}">
            <a:extLst>
              <a:ext uri="{FF2B5EF4-FFF2-40B4-BE49-F238E27FC236}">
                <a16:creationId xmlns:a16="http://schemas.microsoft.com/office/drawing/2014/main" id="{10C7F95A-2ACE-4A68-BD85-9422FEED330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127  헤더1: 뇌·신경  헤더2: 뇌졸중·뇌혈관  헤더3: 혈전제거술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뇌경색, 혈전제거술, 혈전제거술치료비,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혈전제거술이 뭔가요? 가는 관을 뇌혈관까지 넣어 혈전을 직접 꺼내요 큰 혈관이 막혔을 때 해요. 빠를수록 좋아요 [핵심 설명] 사타구니 혈관으로 접근 / 그물·흡인으로 혈전 제거 / 밖으로 꺼내요</a:t>
            </a:r>
          </a:p>
        </p:txBody>
      </p:sp>
    </p:spTree>
    <p:extLst>
      <p:ext uri="{BB962C8B-B14F-4D97-AF65-F5344CB8AC3E}">
        <p14:creationId xmlns:p14="http://schemas.microsoft.com/office/powerpoint/2010/main" val="141861665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D819317-5A46-478E-86A5-3B21F78CA76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4974C889-CDA6-4323-9F30-560A19520F8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코일색전술이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3864297-E733-4E34-AD6D-392D072E503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뇌동맥류 안에 코일을 채워 피 흐름을 막는 시술이에요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CDBCF9B9-29B2-42E9-9D12-7B32EEEA65E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머리를 열지 않아요. 뇌동맥류 치료 방법이에요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416240C-4839-4584-B2AB-AF9AD4FD8E22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04B51701-0084-41A2-9734-DFB50C8235A1}"/>
              </a:ext>
            </a:extLst>
          </p:cNvPr>
          <p:cNvSpPr>
            <a:spLocks noGrp="1"/>
          </p:cNvSpPr>
          <p:nvPr/>
        </p:nvSpPr>
        <p:spPr>
          <a:xfrm>
            <a:off x="552450" y="5429250"/>
            <a:ext cx="1108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코일은 동맥류 안에 넣어 그 안에서 피가 굳도록 도와요.</a:t>
            </a:r>
          </a:p>
        </p:txBody>
      </p:sp>
      <p:sp>
        <p:nvSpPr>
          <p:cNvPr id="8" name="RAG_METADATA_PAGE_128" descr="{&quot;page&quot;: 128, &quot;text_data&quot;: &quot;코일색전술이 뭔가요?\n뇌동맥류 안에 코일을 채워 피 흐름을 막는 시술이에요\n코일은 동맥류 안에 넣어 그 안에서 피가 굳도록 도와요.\n머리를 열지 않아요. 뇌동맥류 치료 방법이에요\n[핵심 설명] 사타구니 혈관으로 접근 / 꽈리 안에 관을 넣어요 / 코일을 채워요&quot;, &quot;header1&quot;: &quot;뇌·신경&quot;, &quot;header2&quot;: &quot;뇌졸중·뇌혈관&quot;, &quot;header3&quot;: &quot;코일색전술&quot;, &quot;keywords&quot;: [&quot;순환계치료비&quot;, &quot;뇌동맥류&quot;, &quot;코일색전술&quot;, &quot;뇌혈관질환수술비&quot;, &quot;종수술비&quot;]}">
            <a:extLst>
              <a:ext uri="{FF2B5EF4-FFF2-40B4-BE49-F238E27FC236}">
                <a16:creationId xmlns:a16="http://schemas.microsoft.com/office/drawing/2014/main" id="{EE901B97-1C0B-4550-9D46-39C684CAB428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128  헤더1: 뇌·신경  헤더2: 뇌졸중·뇌혈관  헤더3: 코일색전술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뇌동맥류, 코일색전술, 뇌혈관질환수술비,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코일색전술이 뭔가요? 뇌동맥류 안에 코일을 채워 피 흐름을 막는 시술이에요 코일은 동맥류 안에 넣어 그 안에서 피가 굳도록 도와요. 머리를 열지 않아요. 뇌동맥류 치료 방법이에요 [핵심 설명] 사타구니 혈관으로 접근 / 꽈리 안에 관을 넣어요 / 코일을 채워요</a:t>
            </a:r>
          </a:p>
        </p:txBody>
      </p:sp>
    </p:spTree>
    <p:extLst>
      <p:ext uri="{BB962C8B-B14F-4D97-AF65-F5344CB8AC3E}">
        <p14:creationId xmlns:p14="http://schemas.microsoft.com/office/powerpoint/2010/main" val="8224959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9462465-2B4F-4C71-AFC4-22CAC8FC06B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78AC92C-2D00-4F79-8D71-3BE5C07688C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클립결찰술이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5745DC9F-E8C2-45E4-96C1-563B16620DE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머리를 열고 뇌혈관 꽈리의 목을 클립으로 집어요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1B1042B-DA5C-43AD-98D3-2F42377341CD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꽈리의 모양과 위치에 따라 코일과 클립 중 골라요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965AC056-7F83-4246-817A-8FEB56032CF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29" descr="{&quot;page&quot;: 129, &quot;text_data&quot;: &quot;클립결찰술이 뭔가요?\n머리를 열고 뇌혈관 꽈리의 목을 클립으로 집어요\n꽈리의 모양과 위치에 따라 코일과 클립 중 골라요\n[핵심 설명] 머리뼈를 열어요 / 현미경으로 꽈리를 찾아요 / 클립으로 목을 집어요&quot;, &quot;header1&quot;: &quot;뇌·신경&quot;, &quot;header2&quot;: &quot;뇌졸중·뇌혈관&quot;, &quot;header3&quot;: &quot;클립결찰술&quot;, &quot;keywords&quot;: [&quot;순환계치료비&quot;, &quot;뇌동맥류&quot;, &quot;클립결찰술&quot;, &quot;뇌혈관질환수술비&quot;, &quot;종수술비&quot;]}">
            <a:extLst>
              <a:ext uri="{FF2B5EF4-FFF2-40B4-BE49-F238E27FC236}">
                <a16:creationId xmlns:a16="http://schemas.microsoft.com/office/drawing/2014/main" id="{031DAC35-85C2-427B-A477-11530CBB94E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129  헤더1: 뇌·신경  헤더2: 뇌졸중·뇌혈관  헤더3: 클립결찰술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뇌동맥류, 클립결찰술, 뇌혈관질환수술비,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클립결찰술이 뭔가요? 머리를 열고 뇌혈관 꽈리의 목을 클립으로 집어요 꽈리의 모양과 위치에 따라 코일과 클립 중 골라요 [핵심 설명] 머리뼈를 열어요 / 현미경으로 꽈리를 찾아요 / 클립으로 목을 집어요</a:t>
            </a:r>
          </a:p>
        </p:txBody>
      </p:sp>
    </p:spTree>
    <p:extLst>
      <p:ext uri="{BB962C8B-B14F-4D97-AF65-F5344CB8AC3E}">
        <p14:creationId xmlns:p14="http://schemas.microsoft.com/office/powerpoint/2010/main" val="6992989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98F3106-B290-42E4-B996-36104FD9A4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782E1EC3-0EEA-4587-84E0-DC99A3DD334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개두 혈종제거술이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B081B7A-6242-448B-8F78-A64B7FFD399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머리뼈를 열고 뇌에 고인 피를 빼내는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BBE348B-0607-4077-BEB1-64616A22D31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피가 많이 고여 뇌를 누를 때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F0ACDF0-234B-43ED-BCE7-3759BC9583C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30" descr="{&quot;page&quot;: 130, &quot;text_data&quot;: &quot;개두 혈종제거술이 뭔가요?\n머리뼈를 열고 뇌에 고인 피를 빼내는 수술이에요\n피가 많이 고여 뇌를 누를 때 해요\n[핵심 설명] 머리뼈 일부를 열어요 / 고인 피를 빼내요 / 피 나는 곳을 막아요&quot;, &quot;header1&quot;: &quot;뇌·신경&quot;, &quot;header2&quot;: &quot;뇌졸중·뇌혈관&quot;, &quot;header3&quot;: &quot;개두 혈종제거술&quot;, &quot;keywords&quot;: [&quot;순환계치료비&quot;, &quot;뇌출혈&quot;, &quot;혈종제거술&quot;, &quot;뇌혈관질환수술비&quot;, &quot;종수술비&quot;]}">
            <a:extLst>
              <a:ext uri="{FF2B5EF4-FFF2-40B4-BE49-F238E27FC236}">
                <a16:creationId xmlns:a16="http://schemas.microsoft.com/office/drawing/2014/main" id="{6339EA87-EC80-4E54-94B0-ABFDBFC9329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130  헤더1: 뇌·신경  헤더2: 뇌졸중·뇌혈관  헤더3: 개두 혈종제거술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뇌출혈, 혈종제거술, 뇌혈관질환수술비,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개두 혈종제거술이 뭔가요? 머리뼈를 열고 뇌에 고인 피를 빼내는 수술이에요 피가 많이 고여 뇌를 누를 때 해요 [핵심 설명] 머리뼈 일부를 열어요 / 고인 피를 빼내요 / 피 나는 곳을 막아요</a:t>
            </a:r>
          </a:p>
        </p:txBody>
      </p:sp>
    </p:spTree>
    <p:extLst>
      <p:ext uri="{BB962C8B-B14F-4D97-AF65-F5344CB8AC3E}">
        <p14:creationId xmlns:p14="http://schemas.microsoft.com/office/powerpoint/2010/main" val="180913915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13C768A-0BB8-4AAB-8F5D-D6DDB6BA8A3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006AE520-F107-4CAC-A7F9-756680E27D4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뇌실배액술이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B96F0B4-79FC-4904-8B9E-3A4B9A4F9A1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뇌 속 공간에 관을 넣어 물과 피를 빼 압력을 낮춰요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B4431B1-F3B2-4355-9571-F03668F0035B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뇌압이 높아졌을 때 하는 처치예요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67B6706-C352-4E63-B9DD-7F720FAEDED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31" descr="{&quot;page&quot;: 131, &quot;text_data&quot;: &quot;뇌실배액술이 뭔가요?\n뇌 속 공간에 관을 넣어 물과 피를 빼 압력을 낮춰요\n뇌압이 높아졌을 때 하는 처치예요\n[핵심 설명] 머리뼈에 작은 구멍을 내요 / 뇌실에 관을 넣어요 / 밖으로 빼내요&quot;, &quot;header1&quot;: &quot;뇌·신경&quot;, &quot;header2&quot;: &quot;뇌척수액·뇌압&quot;, &quot;header3&quot;: &quot;뇌실배액술&quot;, &quot;keywords&quot;: [&quot;흡인&quot;, &quot;천자&quot;, &quot;배액&quot;, &quot;뇌출혈&quot;, &quot;순환계치료비&quot;, &quot;특정급여시술치료비&quot;]}">
            <a:extLst>
              <a:ext uri="{FF2B5EF4-FFF2-40B4-BE49-F238E27FC236}">
                <a16:creationId xmlns:a16="http://schemas.microsoft.com/office/drawing/2014/main" id="{0720DCEE-27B0-4EAF-AAA3-F345966C471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131  헤더1: 뇌·신경  헤더2: 뇌척수액·뇌압  헤더3: 뇌실배액술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배액, 뇌출혈, 순환계치료비,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뇌실배액술이 뭔가요? 뇌 속 공간에 관을 넣어 물과 피를 빼 압력을 낮춰요 뇌압이 높아졌을 때 하는 처치예요 [핵심 설명] 머리뼈에 작은 구멍을 내요 / 뇌실에 관을 넣어요 / 밖으로 빼내요</a:t>
            </a:r>
          </a:p>
        </p:txBody>
      </p:sp>
    </p:spTree>
    <p:extLst>
      <p:ext uri="{BB962C8B-B14F-4D97-AF65-F5344CB8AC3E}">
        <p14:creationId xmlns:p14="http://schemas.microsoft.com/office/powerpoint/2010/main" val="201288222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0600AD1-66C5-44D8-B1A0-D7FA8149C12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07E476FB-8529-4110-98D1-FB8803A280B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경동맥 스텐트·내막절제술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002097C6-9641-4935-8D12-4D88D71AEE6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뇌경색 위험을 줄이도록 좁아진 목 혈관을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51C9E691-D6C0-4C4D-9A74-6B808EF02217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뇌경색을 예방하려는 치료예요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FB9AAD1-65CB-4C04-9192-B9216CF7629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376D9F63-0B39-4B32-8F08-EE84074CAF1D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경동맥은 목을 지나 뇌로 혈액을 보내는 주요 혈관이에요.</a:t>
            </a:r>
          </a:p>
        </p:txBody>
      </p:sp>
      <p:sp>
        <p:nvSpPr>
          <p:cNvPr id="8" name="RAG_METADATA_PAGE_132" descr="{&quot;page&quot;: 132, &quot;text_data&quot;: &quot;경동맥 스텐트·내막절제술\n뇌경색 위험을 줄이도록 좁아진 목 혈관을 치료해요\n뇌경색을 예방하려는 치료예요\n경동맥은 목을 지나 뇌로 혈액을 보내는 주요 혈관이에요.\n[핵심 설명] 스텐트: 관으로 넓혀요 / 내막절제: 죽상반을 제거 / 뇌로 가는 길을 넓혀요&quot;, &quot;header1&quot;: &quot;뇌·신경&quot;, &quot;header2&quot;: &quot;뇌졸중·뇌혈관&quot;, &quot;header3&quot;: &quot;경동맥 스텐트·내막절제술&quot;, &quot;keywords&quot;: [&quot;순환계치료비&quot;, &quot;경동맥협착증&quot;, &quot;스텐트&quot;, &quot;뇌혈관질환수술비&quot;, &quot;종수술비&quot;]}">
            <a:extLst>
              <a:ext uri="{FF2B5EF4-FFF2-40B4-BE49-F238E27FC236}">
                <a16:creationId xmlns:a16="http://schemas.microsoft.com/office/drawing/2014/main" id="{D42EB05B-7CB1-4290-B8E1-D8DD15D272E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132  헤더1: 뇌·신경  헤더2: 뇌졸중·뇌혈관  헤더3: 경동맥 스텐트·내막절제술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순환계치료비, 경동맥협착증, 스텐트, 뇌혈관질환수술비,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경동맥 스텐트·내막절제술 뇌경색 위험을 줄이도록 좁아진 목 혈관을 치료해요 뇌경색을 예방하려는 치료예요 경동맥은 목을 지나 뇌로 혈액을 보내는 주요 혈관이에요. [핵심 설명] 스텐트: 관으로 넓혀요 / 내막절제: 죽상반을 제거 / 뇌로 가는 길을 넓혀요</a:t>
            </a:r>
          </a:p>
        </p:txBody>
      </p:sp>
    </p:spTree>
    <p:extLst>
      <p:ext uri="{BB962C8B-B14F-4D97-AF65-F5344CB8AC3E}">
        <p14:creationId xmlns:p14="http://schemas.microsoft.com/office/powerpoint/2010/main" val="139618012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7AA737D-DBEC-4FD8-8A34-EC8583FE011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7F1BF5D4-BDC2-4ADF-B3AE-C525CD65658A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뇌졸중의 대표적인 세 신호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EDF0DE2-E7E3-47E2-999D-E4894F40BC6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갑자기 나타나면 지체하지 말고 119에 연락하세요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CA97C8E9-3D13-4362-BF6E-08C51CA04428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갑작스런 시야·균형 이상도 응급 신호예요. 증상이 사라져도 진료가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D4B0438-0FA0-470A-9DA6-463FF824C30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33" descr="{&quot;page&quot;: 133, &quot;text_data&quot;: &quot;뇌졸중의 대표적인 세 신호\n갑자기 나타나면 지체하지 말고 119에 연락하세요\n갑작스런 시야·균형 이상도 응급 신호예요. 증상이 사라져도 진료가 필요해요\n[핵심 설명] 얼굴 한쪽이 처져요 / 팔 한쪽에 힘이 빠져요 / 말이 어눌해져요&quot;, &quot;header1&quot;: &quot;뇌·신경&quot;, &quot;header2&quot;: &quot;뇌졸중·뇌혈관&quot;, &quot;header3&quot;: &quot;뇌졸중 응급 신호&quot;, &quot;keywords&quot;: [&quot;뇌졸중&quot;, &quot;뇌경색&quot;, &quot;뇌출혈&quot;, &quot;뇌혈관질환진단비&quot;, &quot;순환계치료비&quot;]}">
            <a:extLst>
              <a:ext uri="{FF2B5EF4-FFF2-40B4-BE49-F238E27FC236}">
                <a16:creationId xmlns:a16="http://schemas.microsoft.com/office/drawing/2014/main" id="{CECF17BE-3DC9-4285-84C2-C634E375F0E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133  헤더1: 뇌·신경  헤더2: 뇌졸중·뇌혈관  헤더3: 뇌졸중 응급 신호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뇌졸중, 뇌경색, 뇌출혈, 뇌혈관질환진단비,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뇌졸중의 대표적인 세 신호 갑자기 나타나면 지체하지 말고 119에 연락하세요 갑작스런 시야·균형 이상도 응급 신호예요. 증상이 사라져도 진료가 필요해요 [핵심 설명] 얼굴 한쪽이 처져요 / 팔 한쪽에 힘이 빠져요 / 말이 어눌해져요</a:t>
            </a:r>
          </a:p>
        </p:txBody>
      </p:sp>
    </p:spTree>
    <p:extLst>
      <p:ext uri="{BB962C8B-B14F-4D97-AF65-F5344CB8AC3E}">
        <p14:creationId xmlns:p14="http://schemas.microsoft.com/office/powerpoint/2010/main" val="31018686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46FB248-D820-436F-B9F8-7D8A9A88665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FB37906-08D8-4702-AD02-FDD0076C546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뇌혈관 조영술이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F6B6558-D04E-4959-B136-603502237E0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카테터로 조영제를 넣고 뇌혈관을 자세히 살피는 검사예요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B81DF53-A90F-47E5-81A5-444EF294DCDC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필요성과 혈관 상태를 판단한 뒤 시행하며 바로 시술로 이어질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6FCDE46-C742-485F-B8E8-CE82570A926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34" descr="{&quot;page&quot;: 134, &quot;text_data&quot;: &quot;뇌혈관 조영술이 뭔가요?\n카테터로 조영제를 넣고 뇌혈관을 자세히 살피는 검사예요\n필요성과 혈관 상태를 판단한 뒤 시행하며 바로 시술로 이어질 수 있어요\n[핵심 설명] 뇌혈관 / 조영제 주입 / 혈관 모양 확인&quot;, &quot;header1&quot;: &quot;뇌·신경&quot;, &quot;header2&quot;: &quot;뇌졸중·뇌혈관&quot;, &quot;header3&quot;: &quot;뇌혈관 조영술&quot;, &quot;keywords&quot;: [&quot;뇌혈관조영술&quot;, &quot;뇌동맥류&quot;, &quot;뇌혈관질환진단비&quot;, &quot;순환계치료비&quot;]}">
            <a:extLst>
              <a:ext uri="{FF2B5EF4-FFF2-40B4-BE49-F238E27FC236}">
                <a16:creationId xmlns:a16="http://schemas.microsoft.com/office/drawing/2014/main" id="{81127361-84BD-446B-A585-83E717DB7D7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134  헤더1: 뇌·신경  헤더2: 뇌졸중·뇌혈관  헤더3: 뇌혈관 조영술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뇌혈관조영술, 뇌동맥류, 뇌혈관질환진단비,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뇌혈관 조영술이 뭔가요? 카테터로 조영제를 넣고 뇌혈관을 자세히 살피는 검사예요 필요성과 혈관 상태를 판단한 뒤 시행하며 바로 시술로 이어질 수 있어요 [핵심 설명] 뇌혈관 / 조영제 주입 / 혈관 모양 확인</a:t>
            </a:r>
          </a:p>
        </p:txBody>
      </p:sp>
    </p:spTree>
    <p:extLst>
      <p:ext uri="{BB962C8B-B14F-4D97-AF65-F5344CB8AC3E}">
        <p14:creationId xmlns:p14="http://schemas.microsoft.com/office/powerpoint/2010/main" val="36693060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6E866D1-BDF6-4BC2-832F-38535A7474E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4393780-1DBE-4AB5-A8D2-CC91B9CE980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단락술(션트)이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DFEC966-0502-4472-B636-1D8980DC2A2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뇌실의 뇌척수액을 다른 공간으로 흘려보내는 관을 심어요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C808750B-60F3-4B6A-B937-D4D81590658F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뇌실에서 복강으로 잇는 방식이 흔하며 관의 기능을 계속 확인해요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B3F5AD4-331F-4B43-A9D8-C1CB38D48DC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35" descr="{&quot;page&quot;: 135, &quot;text_data&quot;: &quot;단락술(션트)이 뭔가요?\n뇌실의 뇌척수액을 다른 공간으로 흘려보내는 관을 심어요\n뇌실에서 복강으로 잇는 방식이 흔하며 관의 기능을 계속 확인해요\n[핵심 설명] 뇌실의 관 / 피부 아래 통로 / 복강으로 배액&quot;, &quot;header1&quot;: &quot;뇌·신경&quot;, &quot;header2&quot;: &quot;뇌척수액·뇌압&quot;, &quot;header3&quot;: &quot;단락술·션트&quot;, &quot;keywords&quot;: [&quot;수두증&quot;, &quot;션트수술&quot;, &quot;배액&quot;, &quot;질병수술비&quot;, &quot;종수술비&quot;]}">
            <a:extLst>
              <a:ext uri="{FF2B5EF4-FFF2-40B4-BE49-F238E27FC236}">
                <a16:creationId xmlns:a16="http://schemas.microsoft.com/office/drawing/2014/main" id="{5C159635-3789-47EA-B072-47EA04DDDB9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135  헤더1: 뇌·신경  헤더2: 뇌척수액·뇌압  헤더3: 단락술·션트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수두증, 션트수술, 배액,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단락술(션트)이 뭔가요? 뇌실의 뇌척수액을 다른 공간으로 흘려보내는 관을 심어요 뇌실에서 복강으로 잇는 방식이 흔하며 관의 기능을 계속 확인해요 [핵심 설명] 뇌실의 관 / 피부 아래 통로 / 복강으로 배액</a:t>
            </a:r>
          </a:p>
        </p:txBody>
      </p:sp>
    </p:spTree>
    <p:extLst>
      <p:ext uri="{BB962C8B-B14F-4D97-AF65-F5344CB8AC3E}">
        <p14:creationId xmlns:p14="http://schemas.microsoft.com/office/powerpoint/2010/main" val="40778092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69BD74A-BEB0-454B-A1BE-5FAE239DC1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2BE3B45-D507-4F49-9296-F0DC9491203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치매 검사는 어떻게 하나요?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0D4DA77-49AA-4060-8EFA-FF05289674C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인지 기능·생활 변화·검사 결과를 함께 보아 원인을 찾아요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299DAB23-71B3-4C8C-AC66-2282DD427812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 영상과 아밀로이드 등의 검사는 필요에 따라 선택해요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98250B80-9C04-49C4-9500-0C2CA6644DF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9B862D3B-D547-46E8-A8F6-6B5C4C244281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인지검사는 기억력·언어·집중력 등 여러 기능을 함께 살펴봐요.</a:t>
            </a:r>
          </a:p>
        </p:txBody>
      </p:sp>
      <p:sp>
        <p:nvSpPr>
          <p:cNvPr id="8" name="RAG_METADATA_PAGE_136" descr="{&quot;page&quot;: 136, &quot;text_data&quot;: &quot;치매 검사는 어떻게 하나요?\n인지 기능·생활 변화·검사 결과를 함께 보아 원인을 찾아요\n뇌 영상과 아밀로이드 등의 검사는 필요에 따라 선택해요\n인지검사는 기억력·언어·집중력 등 여러 기능을 함께 살펴봐요.\n[핵심 설명] 인지 기능 검사 / 뇌 영상 / 필요하면 단백질 검사&quot;, &quot;header1&quot;: &quot;뇌·신경&quot;, &quot;header2&quot;: &quot;치매·알츠하이머&quot;, &quot;header3&quot;: &quot;치매 검사&quot;, &quot;keywords&quot;: [&quot;치매&quot;, &quot;알츠하이머&quot;, &quot;치매검사&quot;, &quot;MRI&quot;, &quot;PET&quot;]}">
            <a:extLst>
              <a:ext uri="{FF2B5EF4-FFF2-40B4-BE49-F238E27FC236}">
                <a16:creationId xmlns:a16="http://schemas.microsoft.com/office/drawing/2014/main" id="{3259B612-9E43-467A-A9F5-ACB4A84B752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136  헤더1: 뇌·신경  헤더2: 치매·알츠하이머  헤더3: 치매 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치매, 알츠하이머, 치매검사, MRI, PET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치매 검사는 어떻게 하나요? 인지 기능·생활 변화·검사 결과를 함께 보아 원인을 찾아요 뇌 영상과 아밀로이드 등의 검사는 필요에 따라 선택해요 인지검사는 기억력·언어·집중력 등 여러 기능을 함께 살펴봐요. [핵심 설명] 인지 기능 검사 / 뇌 영상 / 필요하면 단백질 검사</a:t>
            </a:r>
          </a:p>
        </p:txBody>
      </p:sp>
    </p:spTree>
    <p:extLst>
      <p:ext uri="{BB962C8B-B14F-4D97-AF65-F5344CB8AC3E}">
        <p14:creationId xmlns:p14="http://schemas.microsoft.com/office/powerpoint/2010/main" val="96113316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0B73053-22B5-499F-A219-7ACD22FF4F9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0AF1DB8-1E4D-416C-952A-F0F18B8D1AA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알츠하이머 표적 치료제가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0F8D530-750B-4F39-A2BF-981CD092203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아밀로이드를 겨냥해 초기 알츠하이머병의 진행을 늦추는 약이에요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5A4CB420-F82C-4BCF-81A9-31CF6B0C6B06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일부 초기 환자에게 사용하며 뇌부종·미세출혈 등을 MRI로 살펴요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ACFA6483-12A7-4E80-91FE-AEEA4E24832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37" descr="{&quot;page&quot;: 137, &quot;text_data&quot;: &quot;알츠하이머 표적 치료제가 뭔가요?\n아밀로이드를 겨냥해 초기 알츠하이머병의 진행을 늦추는 약이에요\n일부 초기 환자에게 사용하며 뇌부종·미세출혈 등을 MRI로 살펴요\n[핵심 설명] 아밀로이드 / 표적 항체 / 진행을 늦추는 치료&quot;, &quot;header1&quot;: &quot;뇌·신경&quot;, &quot;header2&quot;: &quot;치매·알츠하이머&quot;, &quot;header3&quot;: &quot;알츠하이머 표적 치료제&quot;, &quot;keywords&quot;: [&quot;치매&quot;, &quot;알츠하이머&quot;, &quot;치매치료제&quot;, &quot;치매신약&quot;]}">
            <a:extLst>
              <a:ext uri="{FF2B5EF4-FFF2-40B4-BE49-F238E27FC236}">
                <a16:creationId xmlns:a16="http://schemas.microsoft.com/office/drawing/2014/main" id="{2AE3E26C-9E25-4AFC-9C96-46006C527AB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137  헤더1: 뇌·신경  헤더2: 치매·알츠하이머  헤더3: 알츠하이머 표적 치료제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치매, 알츠하이머, 치매치료제, 치매신약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알츠하이머 표적 치료제가 뭔가요? 아밀로이드를 겨냥해 초기 알츠하이머병의 진행을 늦추는 약이에요 일부 초기 환자에게 사용하며 뇌부종·미세출혈 등을 MRI로 살펴요 [핵심 설명] 아밀로이드 / 표적 항체 / 진행을 늦추는 치료</a:t>
            </a:r>
          </a:p>
        </p:txBody>
      </p:sp>
    </p:spTree>
    <p:extLst>
      <p:ext uri="{BB962C8B-B14F-4D97-AF65-F5344CB8AC3E}">
        <p14:creationId xmlns:p14="http://schemas.microsoft.com/office/powerpoint/2010/main" val="45830795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C3BFA9A-703D-4947-BD9E-8B43B52B6AD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54EF525-5B5E-41BC-9D4E-5BE2F2AD25C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 초음파 집속술이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065916A-ACB5-4998-AAEA-392B5F0AE84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초음파를 뇌의 작은 표적에 모아 일부 떨림 등을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E29527D0-D3E8-4D5C-92A5-62788BA44118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모든 떨림에 적합하지 않으며 영상으로 표적을 확인하며 시행해요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6401427-D777-4D58-92B3-480C27648338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38" descr="{&quot;page&quot;: 138, &quot;text_data&quot;: &quot;뇌 초음파 집속술이 뭔가요?\n초음파를 뇌의 작은 표적에 모아 일부 떨림 등을 치료해요\n모든 떨림에 적합하지 않으며 영상으로 표적을 확인하며 시행해요\n[핵심 설명] 여러 초음파 / 뇌 속 표적 / 한 점에 집중&quot;, &quot;header1&quot;: &quot;뇌·신경&quot;, &quot;header2&quot;: &quot;운동장애 치료&quot;, &quot;header3&quot;: &quot;뇌 초음파 집속술&quot;, &quot;keywords&quot;: [&quot;손떨림&quot;, &quot;본태성떨림&quot;, &quot;집속초음파&quot;, &quot;질병수술비&quot;, &quot;종수술비&quot;]}">
            <a:extLst>
              <a:ext uri="{FF2B5EF4-FFF2-40B4-BE49-F238E27FC236}">
                <a16:creationId xmlns:a16="http://schemas.microsoft.com/office/drawing/2014/main" id="{6C1B0AAE-44DC-4CB9-BBAF-4274CFB32CC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138  헤더1: 뇌·신경  헤더2: 운동장애 치료  헤더3: 뇌 초음파 집속술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손떨림, 본태성떨림, 집속초음파,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뇌 초음파 집속술이 뭔가요? 초음파를 뇌의 작은 표적에 모아 일부 떨림 등을 치료해요 모든 떨림에 적합하지 않으며 영상으로 표적을 확인하며 시행해요 [핵심 설명] 여러 초음파 / 뇌 속 표적 / 한 점에 집중</a:t>
            </a:r>
          </a:p>
        </p:txBody>
      </p:sp>
    </p:spTree>
    <p:extLst>
      <p:ext uri="{BB962C8B-B14F-4D97-AF65-F5344CB8AC3E}">
        <p14:creationId xmlns:p14="http://schemas.microsoft.com/office/powerpoint/2010/main" val="3295367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5946DC4-33E8-4435-A4BE-A34BC079507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4F90DE2F-0F80-4018-BFD1-7A3E26AAF03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뇌심부 자극술이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D3BFFE3-873E-4E8D-BAA7-D9DFBF78A88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뇌 깊은 곳의 전극으로 신경 신호를 조절해 증상을 줄여요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48EE630-DE55-48DB-A157-4D6BBF20DD2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파킨슨병·일부 떨림 등에서 선택하며 원래 질환을 완치하는 방법은 아니에요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397F6EC-6AD8-459A-943A-BE1EF3C9D88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39" descr="{&quot;page&quot;: 139, &quot;text_data&quot;: &quot;뇌심부 자극술이 뭔가요?\n뇌 깊은 곳의 전극으로 신경 신호를 조절해 증상을 줄여요\n파킨슨병·일부 떨림 등에서 선택하며 원래 질환을 완치하는 방법은 아니에요\n[핵심 설명] 뇌 속 전극 / 피부 아래 연결선 / 가슴의 배터리&quot;, &quot;header1&quot;: &quot;뇌·신경&quot;, &quot;header2&quot;: &quot;운동장애 치료&quot;, &quot;header3&quot;: &quot;뇌심부 자극술&quot;, &quot;keywords&quot;: [&quot;파킨슨병&quot;, &quot;뇌심부자극술&quot;, &quot;DBS&quot;, &quot;질병수술비&quot;, &quot;종수술비&quot;]}">
            <a:extLst>
              <a:ext uri="{FF2B5EF4-FFF2-40B4-BE49-F238E27FC236}">
                <a16:creationId xmlns:a16="http://schemas.microsoft.com/office/drawing/2014/main" id="{8D38AB3E-2279-43F1-905D-0B797F9080D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139  헤더1: 뇌·신경  헤더2: 운동장애 치료  헤더3: 뇌심부 자극술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파킨슨병, 뇌심부자극술, DBS,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뇌심부 자극술이 뭔가요? 뇌 깊은 곳의 전극으로 신경 신호를 조절해 증상을 줄여요 파킨슨병·일부 떨림 등에서 선택하며 원래 질환을 완치하는 방법은 아니에요 [핵심 설명] 뇌 속 전극 / 피부 아래 연결선 / 가슴의 배터리</a:t>
            </a:r>
          </a:p>
        </p:txBody>
      </p:sp>
    </p:spTree>
    <p:extLst>
      <p:ext uri="{BB962C8B-B14F-4D97-AF65-F5344CB8AC3E}">
        <p14:creationId xmlns:p14="http://schemas.microsoft.com/office/powerpoint/2010/main" val="51586074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C90F6AB-6B49-44BB-93F4-86E35E4CB1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F4AAA91-86A7-47D9-9704-482F74B31E5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SPECT 검사가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A59B243-7E3A-4F0A-BA7A-81B049DF44A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방사성 검사약의 분포를 감마카메라로 찍는 검사예요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665BB70-AB23-460E-8129-EE542042A0D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뇌·심장 등 검사 목적에 따라 약과 촬영 방식이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7A1781C-F172-4C04-83F8-234DF1EA0A1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40" descr="{&quot;page&quot;: 140, &quot;text_data&quot;: &quot;SPECT 검사가 뭔가요?\n방사성 검사약의 분포를 감마카메라로 찍는 검사예요\n뇌·심장 등 검사 목적에 따라 약과 촬영 방식이 달라요\n[핵심 설명] 검사약 투여 / 회전하는 감마카메라 / 분포 영상&quot;, &quot;header1&quot;: &quot;뇌·신경&quot;, &quot;header2&quot;: &quot;핵의학 검사&quot;, &quot;header3&quot;: &quot;SPECT 검사&quot;, &quot;keywords&quot;: [&quot;스펙트검사&quot;, &quot;SPECT&quot;, &quot;뇌검사&quot;, &quot;핵의학검사&quot;]}">
            <a:extLst>
              <a:ext uri="{FF2B5EF4-FFF2-40B4-BE49-F238E27FC236}">
                <a16:creationId xmlns:a16="http://schemas.microsoft.com/office/drawing/2014/main" id="{D8DFFCEE-3F90-41D8-9729-66F31B56D9A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140  헤더1: 뇌·신경  헤더2: 핵의학 검사  헤더3: SPECT 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스펙트검사, SPECT, 뇌검사, 핵의학검사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SPECT 검사가 뭔가요? 방사성 검사약의 분포를 감마카메라로 찍는 검사예요 뇌·심장 등 검사 목적에 따라 약과 촬영 방식이 달라요 [핵심 설명] 검사약 투여 / 회전하는 감마카메라 / 분포 영상</a:t>
            </a:r>
          </a:p>
        </p:txBody>
      </p:sp>
    </p:spTree>
    <p:extLst>
      <p:ext uri="{BB962C8B-B14F-4D97-AF65-F5344CB8AC3E}">
        <p14:creationId xmlns:p14="http://schemas.microsoft.com/office/powerpoint/2010/main" val="199183022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366BC06-7137-4154-B5AA-29967F6CD3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524000" y="782417"/>
            <a:ext cx="9144000" cy="5140766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EDB52D9-A4D2-4A39-B140-0559EF2BD41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허리·관절의 주사·시술·수술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521ED5B3-B4D9-4AD0-8B29-1294726A7DE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몸에 접근하는 방법이 달라요. 상태에 맞춰 선택해요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4DA97D0-FB2D-4F06-9427-9DB1C1587C04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약·운동 같은 보존치료도 해요. 같은 순서로 진행하진 않아요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D1561C0-AD7C-4E67-81A8-21B6D692E80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41" descr="{&quot;page&quot;: 141, &quot;text_data&quot;: &quot;허리·관절의 주사·시술·수술\n몸에 접근하는 방법이 달라요. 상태에 맞춰 선택해요\n약·운동 같은 보존치료도 해요. 같은 순서로 진행하진 않아요\n[핵심 설명] 주사: 바늘로 약 주입 / 시술: 관·내시경 사용 / 수술: 열거나 고정&quot;, &quot;header1&quot;: &quot;척추·관절&quot;, &quot;header2&quot;: &quot;치료 방법 비교&quot;, &quot;header3&quot;: &quot;주사·시술·수술 비교&quot;, &quot;keywords&quot;: [&quot;허리디스크&quot;, &quot;척추관협착증&quot;, &quot;허리수술&quot;, &quot;질병수술비&quot;, &quot;종수술비&quot;, &quot;특정급여시술치료비&quot;]}">
            <a:extLst>
              <a:ext uri="{FF2B5EF4-FFF2-40B4-BE49-F238E27FC236}">
                <a16:creationId xmlns:a16="http://schemas.microsoft.com/office/drawing/2014/main" id="{BBC2F0CB-CAFC-4985-BA42-E9A78C09E568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141  헤더1: 척추·관절  헤더2: 치료 방법 비교  헤더3: 주사·시술·수술 비교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허리디스크, 척추관협착증, 허리수술, 질병수술비, 종수술비,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허리·관절의 주사·시술·수술 몸에 접근하는 방법이 달라요. 상태에 맞춰 선택해요 약·운동 같은 보존치료도 해요. 같은 순서로 진행하진 않아요 [핵심 설명] 주사: 바늘로 약 주입 / 시술: 관·내시경 사용 / 수술: 열거나 고정</a:t>
            </a:r>
          </a:p>
        </p:txBody>
      </p:sp>
    </p:spTree>
    <p:extLst>
      <p:ext uri="{BB962C8B-B14F-4D97-AF65-F5344CB8AC3E}">
        <p14:creationId xmlns:p14="http://schemas.microsoft.com/office/powerpoint/2010/main" val="95627126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EF9153F-D1D4-403F-A6EE-4F25668CBCF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F5280B3-0F27-44C0-9526-4161065F08A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신경성형술이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2723B91-A158-463A-8DE2-B32ADA75251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꼬리뼈 쪽으로 관을 넣어 신경 주변 유착을 풀고 약을 넣어요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3AA2FFE-26F2-40DE-82BD-2AB03769BBA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바늘만 쓰는 신경차단술과 달리 관을 써요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F471D8D-5391-4ECF-9733-D665E69B68B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42" descr="{&quot;page&quot;: 142, &quot;text_data&quot;: &quot;신경성형술이 뭔가요?\n꼬리뼈 쪽으로 관을 넣어 신경 주변 유착을 풀고 약을 넣어요\n바늘만 쓰는 신경차단술과 달리 관을 써요\n[핵심 설명] 꼬리뼈 쪽을 마취해요 / 가는 관을 넣어요 / 유착을 풀고 약 주입&quot;, &quot;header1&quot;: &quot;척추·관절&quot;, &quot;header2&quot;: &quot;척추·디스크&quot;, &quot;header3&quot;: &quot;신경성형술&quot;, &quot;keywords&quot;: [&quot;허리디스크&quot;, &quot;척추관협착증&quot;, &quot;신경성형술&quot;, &quot;신경차단&quot;, &quot;특정급여시술치료비&quot;]}">
            <a:extLst>
              <a:ext uri="{FF2B5EF4-FFF2-40B4-BE49-F238E27FC236}">
                <a16:creationId xmlns:a16="http://schemas.microsoft.com/office/drawing/2014/main" id="{FBF1251C-0FA9-493B-81E6-3B1AECE1BDB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142  헤더1: 척추·관절  헤더2: 척추·디스크  헤더3: 신경성형술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허리디스크, 척추관협착증, 신경성형술, 신경차단,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신경성형술이 뭔가요? 꼬리뼈 쪽으로 관을 넣어 신경 주변 유착을 풀고 약을 넣어요 바늘만 쓰는 신경차단술과 달리 관을 써요 [핵심 설명] 꼬리뼈 쪽을 마취해요 / 가는 관을 넣어요 / 유착을 풀고 약 주입</a:t>
            </a:r>
          </a:p>
        </p:txBody>
      </p:sp>
    </p:spTree>
    <p:extLst>
      <p:ext uri="{BB962C8B-B14F-4D97-AF65-F5344CB8AC3E}">
        <p14:creationId xmlns:p14="http://schemas.microsoft.com/office/powerpoint/2010/main" val="40004139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4997372-2FDC-4C2E-864C-CC5D5BB27C9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4BA472D3-A29A-410D-B08C-BF561633396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내시경 디스크 제거술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51768FF5-A236-4E4C-94F0-2466D0CAF49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작은 구멍으로 내시경을 넣어 튀어나온 디스크를 꺼내요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E8973D1A-E23E-4657-8FAF-72BDC252220B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모든 디스크에 가능한 것은 아니에요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A604F88-57C9-4BBF-9841-A922C2B69CF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43" descr="{&quot;page&quot;: 143, &quot;text_data&quot;: &quot;내시경 디스크 제거술\n작은 구멍으로 내시경을 넣어 튀어나온 디스크를 꺼내요\n모든 디스크에 가능한 것은 아니에요\n[핵심 설명] 1cm 안팎 구멍을 내요 / 내시경으로 신경을 봐요 / 튀어나온 조각을 꺼내요&quot;, &quot;header1&quot;: &quot;척추·관절&quot;, &quot;header2&quot;: &quot;척추·디스크&quot;, &quot;header3&quot;: &quot;내시경 디스크 제거술&quot;, &quot;keywords&quot;: [&quot;허리디스크&quot;, &quot;내시경수술&quot;, &quot;추간판수술비&quot;, &quot;질병수술비&quot;, &quot;종수술비&quot;]}">
            <a:extLst>
              <a:ext uri="{FF2B5EF4-FFF2-40B4-BE49-F238E27FC236}">
                <a16:creationId xmlns:a16="http://schemas.microsoft.com/office/drawing/2014/main" id="{CE20DB40-8481-4549-9B3F-E0641EDD7B7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143  헤더1: 척추·관절  헤더2: 척추·디스크  헤더3: 내시경 디스크 제거술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허리디스크, 내시경수술, 추간판수술비,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내시경 디스크 제거술 작은 구멍으로 내시경을 넣어 튀어나온 디스크를 꺼내요 모든 디스크에 가능한 것은 아니에요 [핵심 설명] 1cm 안팎 구멍을 내요 / 내시경으로 신경을 봐요 / 튀어나온 조각을 꺼내요</a:t>
            </a:r>
          </a:p>
        </p:txBody>
      </p:sp>
    </p:spTree>
    <p:extLst>
      <p:ext uri="{BB962C8B-B14F-4D97-AF65-F5344CB8AC3E}">
        <p14:creationId xmlns:p14="http://schemas.microsoft.com/office/powerpoint/2010/main" val="185463667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CC5DEC4-BD2E-43E0-ADC1-F8300156961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81B722AB-A3AA-4179-9D74-92317610A66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척추유합술이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00B0018-EACE-4D16-9DC7-0040944A2BD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척추뼈가 붙도록 연결해 마디의 움직임을 줄이는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30BC399-B7F7-47CE-BD12-5F578F48BAE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뼈가 붙는 동안 회복과 관리가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9A07DABE-E410-477A-82CD-4D6E7AA024D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44" descr="{&quot;page&quot;: 144, &quot;text_data&quot;: &quot;척추유합술이 뭔가요?\n척추뼈가 붙도록 연결해 마디의 움직임을 줄이는 수술이에요\n뼈가 붙는 동안 회복과 관리가 필요해요\n[핵심 설명] 뼈가 붙을 자리를 준비 / 뼈 이식재 등을 넣어요 / 필요하면 나사로 고정&quot;, &quot;header1&quot;: &quot;척추·관절&quot;, &quot;header2&quot;: &quot;척추·디스크&quot;, &quot;header3&quot;: &quot;척추유합술&quot;, &quot;keywords&quot;: [&quot;척추관협착증&quot;, &quot;허리수술&quot;, &quot;척추유합술&quot;, &quot;질병수술비&quot;, &quot;종수술비&quot;]}">
            <a:extLst>
              <a:ext uri="{FF2B5EF4-FFF2-40B4-BE49-F238E27FC236}">
                <a16:creationId xmlns:a16="http://schemas.microsoft.com/office/drawing/2014/main" id="{C2B9E19E-7290-4714-B08E-35BE72AFA68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144  헤더1: 척추·관절  헤더2: 척추·디스크  헤더3: 척추유합술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척추관협착증, 허리수술, 척추유합술,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척추유합술이 뭔가요? 척추뼈가 붙도록 연결해 마디의 움직임을 줄이는 수술이에요 뼈가 붙는 동안 회복과 관리가 필요해요 [핵심 설명] 뼈가 붙을 자리를 준비 / 뼈 이식재 등을 넣어요 / 필요하면 나사로 고정</a:t>
            </a:r>
          </a:p>
        </p:txBody>
      </p:sp>
    </p:spTree>
    <p:extLst>
      <p:ext uri="{BB962C8B-B14F-4D97-AF65-F5344CB8AC3E}">
        <p14:creationId xmlns:p14="http://schemas.microsoft.com/office/powerpoint/2010/main" val="27789192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94A8201-3E1E-4CC4-B38C-4293CB3AD5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358D8BC-3279-423F-99FB-F73BFCA817F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관절경 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54A254B-E124-49F3-B8BE-B0ED377E092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관절에 작은 구멍을 내고 카메라를 넣어 수술해요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486CF581-1174-4265-8855-683AEDE40355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반월상 연골, 회전근개 수술에 많이 써요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E89DF99-7AC9-48F1-BF24-D35AE0243E4F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45" descr="{&quot;page&quot;: 145, &quot;text_data&quot;: &quot;관절경 수술이 뭔가요?\n관절에 작은 구멍을 내고 카메라를 넣어 수술해요\n반월상 연골, 회전근개 수술에 많이 써요\n[핵심 설명] 구멍 2~3개를 내요 / 카메라로 속을 봐요 / 찢어진 곳을 다듬어요&quot;, &quot;header1&quot;: &quot;척추·관절&quot;, &quot;header2&quot;: &quot;관절·인공관절&quot;, &quot;header3&quot;: &quot;관절경 수술&quot;, &quot;keywords&quot;: [&quot;관절경&quot;, &quot;무릎수술&quot;, &quot;어깨수술&quot;, &quot;질병수술비&quot;, &quot;상해수술비&quot;, &quot;종수술비&quot;]}">
            <a:extLst>
              <a:ext uri="{FF2B5EF4-FFF2-40B4-BE49-F238E27FC236}">
                <a16:creationId xmlns:a16="http://schemas.microsoft.com/office/drawing/2014/main" id="{508B7EAE-031F-4710-92DE-8B068E60C3C8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145  헤더1: 척추·관절  헤더2: 관절·인공관절  헤더3: 관절경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관절경, 무릎수술, 어깨수술, 질병수술비, 상해수술비,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관절경 수술이 뭔가요? 관절에 작은 구멍을 내고 카메라를 넣어 수술해요 반월상 연골, 회전근개 수술에 많이 써요 [핵심 설명] 구멍 2~3개를 내요 / 카메라로 속을 봐요 / 찢어진 곳을 다듬어요</a:t>
            </a:r>
          </a:p>
        </p:txBody>
      </p:sp>
    </p:spTree>
    <p:extLst>
      <p:ext uri="{BB962C8B-B14F-4D97-AF65-F5344CB8AC3E}">
        <p14:creationId xmlns:p14="http://schemas.microsoft.com/office/powerpoint/2010/main" val="52957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6984E99-B18E-4C3D-B48C-AAB483C5DB5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0224FA0-7261-4CCF-B3BD-E1023126400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인공관절 치환술이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BB0BE4F-42DE-4A4F-8DF8-883FB80EF86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닳은 관절면을 깎고 인공관절로 바꾸는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33C714D-B41C-4060-8FB6-3C7BE2005C7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인공관절에도 수명이 있어 시기를 의사와 정해요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119D541-09BC-46CD-9127-68A70942CFF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46" descr="{&quot;page&quot;: 146, &quot;text_data&quot;: &quot;인공관절 치환술이 뭔가요?\n닳은 관절면을 깎고 인공관절로 바꾸는 수술이에요\n인공관절에도 수명이 있어 시기를 의사와 정해요\n[핵심 설명] 닳은 관절면을 깎아요 / 금속·플라스틱 관절 삽입 / 재활 운동을 해요&quot;, &quot;header1&quot;: &quot;척추·관절&quot;, &quot;header2&quot;: &quot;관절·인공관절&quot;, &quot;header3&quot;: &quot;인공관절 치환술&quot;, &quot;keywords&quot;: [&quot;인공관절&quot;, &quot;퇴행성관절염&quot;, &quot;인공관절수술비&quot;, &quot;질병수술비&quot;, &quot;종수술비&quot;]}">
            <a:extLst>
              <a:ext uri="{FF2B5EF4-FFF2-40B4-BE49-F238E27FC236}">
                <a16:creationId xmlns:a16="http://schemas.microsoft.com/office/drawing/2014/main" id="{394BF7D5-AFA1-4407-AB30-9347E43355A4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146  헤더1: 척추·관절  헤더2: 관절·인공관절  헤더3: 인공관절 치환술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인공관절, 퇴행성관절염, 인공관절수술비,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인공관절 치환술이 뭔가요? 닳은 관절면을 깎고 인공관절로 바꾸는 수술이에요 인공관절에도 수명이 있어 시기를 의사와 정해요 [핵심 설명] 닳은 관절면을 깎아요 / 금속·플라스틱 관절 삽입 / 재활 운동을 해요</a:t>
            </a:r>
          </a:p>
        </p:txBody>
      </p:sp>
    </p:spTree>
    <p:extLst>
      <p:ext uri="{BB962C8B-B14F-4D97-AF65-F5344CB8AC3E}">
        <p14:creationId xmlns:p14="http://schemas.microsoft.com/office/powerpoint/2010/main" val="48284444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E94220C-77A1-4138-B932-2ECDFA47F4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E836EEF8-DCE0-4C70-AE31-D9045DEAF08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무릎 골수 흡인 농축물 주사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C2FFB745-C85F-4DD4-BE4C-64F967A4FB0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내 골반뼈에서 뽑은 골수를 농축해 무릎에 주사해요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D0305FD-10F1-4787-9E03-BA47E4310216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통증·기능 개선이 목적이에요. 대상 기준은 최신 고시로 확인해요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804E6BF-548C-49AE-BD07-ED8C1FDE33E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EB659147-6EA9-44B8-9B43-459F070E2610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골수는 뼈 안의 부드러운 조직으로, 혈액세포를 만드는 일을 해요.</a:t>
            </a:r>
          </a:p>
        </p:txBody>
      </p:sp>
      <p:sp>
        <p:nvSpPr>
          <p:cNvPr id="8" name="RAG_METADATA_PAGE_147" descr="{&quot;page&quot;: 147, &quot;text_data&quot;: &quot;무릎 골수 흡인 농축물 주사\n내 골반뼈에서 뽑은 골수를 농축해 무릎에 주사해요\n통증·기능 개선이 목적이에요. 대상 기준은 최신 고시로 확인해요\n골수는 뼈 안의 부드러운 조직으로, 혈액세포를 만드는 일을 해요.\n[핵심 설명] 골반뼈에서 골수 채취 / 원심분리로 농축해요 / 무릎에 주사해요&quot;, &quot;header1&quot;: &quot;척추·관절&quot;, &quot;header2&quot;: &quot;연골·세포치료&quot;, &quot;header3&quot;: &quot;무릎 골수 흡인 농축물 주사&quot;, &quot;keywords&quot;: [&quot;무릎주사&quot;, &quot;골수줄기세포&quot;, &quot;BMAC&quot;, &quot;무릎관절염&quot;, &quot;신의료기술&quot;]}">
            <a:extLst>
              <a:ext uri="{FF2B5EF4-FFF2-40B4-BE49-F238E27FC236}">
                <a16:creationId xmlns:a16="http://schemas.microsoft.com/office/drawing/2014/main" id="{CD1B0396-A589-46BA-8263-D908F8130D7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147  헤더1: 척추·관절  헤더2: 연골·세포치료  헤더3: 무릎 골수 흡인 농축물 주사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무릎주사, 골수줄기세포, BMAC, 무릎관절염, 신의료기술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무릎 골수 흡인 농축물 주사 내 골반뼈에서 뽑은 골수를 농축해 무릎에 주사해요 통증·기능 개선이 목적이에요. 대상 기준은 최신 고시로 확인해요 골수는 뼈 안의 부드러운 조직으로, 혈액세포를 만드는 일을 해요. [핵심 설명] 골반뼈에서 골수 채취 / 원심분리로 농축해요 / 무릎에 주사해요</a:t>
            </a:r>
          </a:p>
        </p:txBody>
      </p:sp>
    </p:spTree>
    <p:extLst>
      <p:ext uri="{BB962C8B-B14F-4D97-AF65-F5344CB8AC3E}">
        <p14:creationId xmlns:p14="http://schemas.microsoft.com/office/powerpoint/2010/main" val="159104473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D12BBC3-1217-4660-A8C5-538C2F333F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954037F6-EFB5-4905-B770-AF9F4BA3BCA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무릎 연골 줄기세포 수술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103A1FF-1A9C-42A8-A800-DAC378D6B84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연골이 패인 곳에 줄기세포 치료제를 채워 넣는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1F02E6E-2D07-4BE5-860B-67EE8E166710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치료제별 대상 기준을 확인하고 회복·재활 기간을 고려해요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7EF57B3-A1BA-4C69-B0B8-D0ECBDC2A46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3D26BDDE-3F72-4A83-9BD0-4D153AC24B4C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연골은 관절에서 뼈끼리 닿는 면을 덮는 매끈한 조직이에요.</a:t>
            </a:r>
          </a:p>
        </p:txBody>
      </p:sp>
      <p:sp>
        <p:nvSpPr>
          <p:cNvPr id="8" name="RAG_METADATA_PAGE_148" descr="{&quot;page&quot;: 148, &quot;text_data&quot;: &quot;무릎 연골 줄기세포 수술\n연골이 패인 곳에 줄기세포 치료제를 채워 넣는 수술이에요\n치료제별 대상 기준을 확인하고 회복·재활 기간을 고려해요\n연골은 관절에서 뼈끼리 닿는 면을 덮는 매끈한 조직이에요.\n[핵심 설명] 연골이 패인 곳을 다듬어요 / 작은 구멍을 내요 / 치료제를 채워요&quot;, &quot;header1&quot;: &quot;척추·관절&quot;, &quot;header2&quot;: &quot;연골·세포치료&quot;, &quot;header3&quot;: &quot;무릎 연골 줄기세포 수술&quot;, &quot;keywords&quot;: [&quot;줄기세포치료&quot;, &quot;연골재생&quot;, &quot;무릎관절염&quot;, &quot;질병수술비&quot;, &quot;종수술비&quot;]}">
            <a:extLst>
              <a:ext uri="{FF2B5EF4-FFF2-40B4-BE49-F238E27FC236}">
                <a16:creationId xmlns:a16="http://schemas.microsoft.com/office/drawing/2014/main" id="{BC142A27-94F1-4EB2-A258-1B0F1CA79C7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148  헤더1: 척추·관절  헤더2: 연골·세포치료  헤더3: 무릎 연골 줄기세포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줄기세포치료, 연골재생, 무릎관절염,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무릎 연골 줄기세포 수술 연골이 패인 곳에 줄기세포 치료제를 채워 넣는 수술이에요 치료제별 대상 기준을 확인하고 회복·재활 기간을 고려해요 연골은 관절에서 뼈끼리 닿는 면을 덮는 매끈한 조직이에요. [핵심 설명] 연골이 패인 곳을 다듬어요 / 작은 구멍을 내요 / 치료제를 채워요</a:t>
            </a:r>
          </a:p>
        </p:txBody>
      </p:sp>
    </p:spTree>
    <p:extLst>
      <p:ext uri="{BB962C8B-B14F-4D97-AF65-F5344CB8AC3E}">
        <p14:creationId xmlns:p14="http://schemas.microsoft.com/office/powerpoint/2010/main" val="49242079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184C8C3-051C-4F9E-A2EE-0C685509D67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CF11C84-B12F-44AF-8758-BD776FF9F1A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도수치료가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1D0FAAC-411A-4549-82FB-97946BC8D30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치료사가 손으로 관절과 근육을 풀어 주는 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5BE144A-941E-4311-B64C-7BEDB25C0AED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2026년 7월부터 건강보험 관리 대상이 됐어요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904DF780-0899-4688-91CD-67789F7AF73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6" name="기준일">
            <a:extLst>
              <a:ext uri="{FF2B5EF4-FFF2-40B4-BE49-F238E27FC236}">
                <a16:creationId xmlns:a16="http://schemas.microsoft.com/office/drawing/2014/main" id="{012FC051-866C-4717-82BA-7B43DD504D9E}"/>
              </a:ext>
            </a:extLst>
          </p:cNvPr>
          <p:cNvSpPr>
            <a:spLocks noGrp="1"/>
          </p:cNvSpPr>
          <p:nvPr/>
        </p:nvSpPr>
        <p:spPr>
          <a:xfrm>
            <a:off x="9620250" y="6553200"/>
            <a:ext cx="2019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2026.10 기준</a:t>
            </a:r>
          </a:p>
        </p:txBody>
      </p:sp>
      <p:sp>
        <p:nvSpPr>
          <p:cNvPr id="8" name="RAG_METADATA_PAGE_149" descr="{&quot;page&quot;: 149, &quot;text_data&quot;: &quot;도수치료가 뭔가요?\n치료사가 손으로 관절과 근육을 풀어 주는 치료예요\n2026년 7월부터 건강보험 관리 대상이 됐어요\n[핵심 설명] 자세와 움직임을 살펴요 / 손으로 교정해요 / 여러 번 나눠 받아요&quot;, &quot;header1&quot;: &quot;척추·관절&quot;, &quot;header2&quot;: &quot;비수술 통증치료&quot;, &quot;header3&quot;: &quot;도수치료&quot;, &quot;keywords&quot;: [&quot;도수치료&quot;, &quot;실손의료비&quot;, &quot;실손보험&quot;, &quot;비급여&quot;, &quot;허리통증&quot;]}">
            <a:extLst>
              <a:ext uri="{FF2B5EF4-FFF2-40B4-BE49-F238E27FC236}">
                <a16:creationId xmlns:a16="http://schemas.microsoft.com/office/drawing/2014/main" id="{38AC9F28-0161-453E-A24F-CDBBF52283F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5143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149  헤더1: 척추·관절  헤더2: 비수술 통증치료  헤더3: 도수치료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도수치료, 실손의료비, 실손보험, 비급여, 허리통증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도수치료가 뭔가요? 치료사가 손으로 관절과 근육을 풀어 주는 치료예요 2026년 7월부터 건강보험 관리 대상이 됐어요 [핵심 설명] 자세와 움직임을 살펴요 / 손으로 교정해요 / 여러 번 나눠 받아요</a:t>
            </a:r>
          </a:p>
        </p:txBody>
      </p:sp>
    </p:spTree>
    <p:extLst>
      <p:ext uri="{BB962C8B-B14F-4D97-AF65-F5344CB8AC3E}">
        <p14:creationId xmlns:p14="http://schemas.microsoft.com/office/powerpoint/2010/main" val="29979280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49E0FE6-049D-4881-BFF8-A90056ADBC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E532EF4-C7B2-4565-970B-C3BBB3B914B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체외충격파치료가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7D8FB21-11DE-4C84-97C1-482738A5A1D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몸 밖에서 충격파를 쏘아 힘줄·근막 통증을 줄여요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2235D9CC-6F49-41A6-BE59-D68F5E97514B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쇄석술도 충격파를 쓰지만 대상과 에너지 설정이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A46FB9B9-11A4-4C72-9B07-5A6FF52B2A8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2E0ABE15-59A7-4788-BD3E-ADEC891E0518}"/>
              </a:ext>
            </a:extLst>
          </p:cNvPr>
          <p:cNvSpPr>
            <a:spLocks noGrp="1"/>
          </p:cNvSpPr>
          <p:nvPr/>
        </p:nvSpPr>
        <p:spPr>
          <a:xfrm>
            <a:off x="552450" y="5429250"/>
            <a:ext cx="1108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충격파는 전기 충격이 아니라 기계적인 압력 파동을 이용해요.</a:t>
            </a:r>
          </a:p>
        </p:txBody>
      </p:sp>
      <p:sp>
        <p:nvSpPr>
          <p:cNvPr id="8" name="RAG_METADATA_PAGE_150" descr="{&quot;page&quot;: 150, &quot;text_data&quot;: &quot;체외충격파치료가 뭔가요?\n몸 밖에서 충격파를 쏘아 힘줄·근막 통증을 줄여요\n충격파는 전기 충격이 아니라 기계적인 압력 파동을 이용해요.\n쇄석술도 충격파를 쓰지만 대상과 에너지 설정이 달라요\n[핵심 설명] 아픈 곳에 기구를 대요 / 충격파를 쏴요 / 여러 번 나눠 받아요&quot;, &quot;header1&quot;: &quot;척추·관절&quot;, &quot;header2&quot;: &quot;비수술 통증치료&quot;, &quot;header3&quot;: &quot;체외충격파치료&quot;, &quot;keywords&quot;: [&quot;체외충격파&quot;, &quot;실손의료비&quot;, &quot;실손보험&quot;, &quot;비급여&quot;, &quot;어깨통증&quot;]}">
            <a:extLst>
              <a:ext uri="{FF2B5EF4-FFF2-40B4-BE49-F238E27FC236}">
                <a16:creationId xmlns:a16="http://schemas.microsoft.com/office/drawing/2014/main" id="{31851431-E32A-48EE-9B9D-DD2B27741CD4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150  헤더1: 척추·관절  헤더2: 비수술 통증치료  헤더3: 체외충격파치료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체외충격파, 실손의료비, 실손보험, 비급여, 어깨통증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체외충격파치료가 뭔가요? 몸 밖에서 충격파를 쏘아 힘줄·근막 통증을 줄여요 충격파는 전기 충격이 아니라 기계적인 압력 파동을 이용해요. 쇄석술도 충격파를 쓰지만 대상과 에너지 설정이 달라요 [핵심 설명] 아픈 곳에 기구를 대요 / 충격파를 쏴요 / 여러 번 나눠 받아요</a:t>
            </a:r>
          </a:p>
        </p:txBody>
      </p:sp>
    </p:spTree>
    <p:extLst>
      <p:ext uri="{BB962C8B-B14F-4D97-AF65-F5344CB8AC3E}">
        <p14:creationId xmlns:p14="http://schemas.microsoft.com/office/powerpoint/2010/main" val="103107773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1F4D2CC-F5B1-4B11-AA14-18FCCC25DD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1C6CCA8-0AEF-4105-AE34-3236E72CC44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추간판 내 고주파 열치료이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95AC636-11E9-402A-8A99-3873C422E278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디스크 안 전극으로 열을 가하는 통증 치료의 한 방법이에요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E9F58B15-9E4C-4332-AC74-184F766791B3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일부 디스크성 통증에서 고려하며 효과·근거와 적합성을 함께 살펴요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D74414E-2810-4CC8-9F62-5F28A568CC8F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9AF15DC8-E637-43AE-B723-25643732F128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‘추간판’은 척추뼈 사이에서 충격을 덜어 주는 디스크를 말해요.</a:t>
            </a:r>
          </a:p>
        </p:txBody>
      </p:sp>
      <p:sp>
        <p:nvSpPr>
          <p:cNvPr id="8" name="RAG_METADATA_PAGE_151" descr="{&quot;page&quot;: 151, &quot;text_data&quot;: &quot;추간판 내 고주파 열치료이 뭔가요?\n디스크 안 전극으로 열을 가하는 통증 치료의 한 방법이에요\n일부 디스크성 통증에서 고려하며 효과·근거와 적합성을 함께 살펴요\n‘추간판’은 척추뼈 사이에서 충격을 덜어 주는 디스크를 말해요.\n[핵심 설명] 디스크 / 가는 전극 / 디스크 안 열치료&quot;, &quot;header1&quot;: &quot;척추·관절&quot;, &quot;header2&quot;: &quot;척추·디스크&quot;, &quot;header3&quot;: &quot;추간판 내 고주파 열치료&quot;, &quot;keywords&quot;: [&quot;허리디스크&quot;, &quot;고주파열치료&quot;, &quot;고주파치료&quot;, &quot;질병수술비&quot;, &quot;종수술비&quot;]}">
            <a:extLst>
              <a:ext uri="{FF2B5EF4-FFF2-40B4-BE49-F238E27FC236}">
                <a16:creationId xmlns:a16="http://schemas.microsoft.com/office/drawing/2014/main" id="{B38636EA-15D6-4D58-B14E-107C3C1A723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151  헤더1: 척추·관절  헤더2: 척추·디스크  헤더3: 추간판 내 고주파 열치료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허리디스크, 고주파열치료, 고주파치료,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추간판 내 고주파 열치료이 뭔가요? 디스크 안 전극으로 열을 가하는 통증 치료의 한 방법이에요 일부 디스크성 통증에서 고려하며 효과·근거와 적합성을 함께 살펴요 ‘추간판’은 척추뼈 사이에서 충격을 덜어 주는 디스크를 말해요. [핵심 설명] 디스크 / 가는 전극 / 디스크 안 열치료</a:t>
            </a:r>
          </a:p>
        </p:txBody>
      </p:sp>
    </p:spTree>
    <p:extLst>
      <p:ext uri="{BB962C8B-B14F-4D97-AF65-F5344CB8AC3E}">
        <p14:creationId xmlns:p14="http://schemas.microsoft.com/office/powerpoint/2010/main" val="23968826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E590CE5-171C-4204-81CB-285D5E63D1F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90723685-897A-4E54-9075-7F26C8DA781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수핵 성형술·수핵 용해술이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4ABCAF38-B21B-4FF7-B094-1FAB557CBB6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디스크 속 수핵을 줄여 신경에 가해지는 압력을 낮추려는 시술이에요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6958C697-0842-48F6-A3D2-C3C5F013452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약물·기구 등 방식이 다르며 모든 디스크 탈출증에 적합하지 않아요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92800B48-1417-40AD-9AD9-E2256C2ED54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52" descr="{&quot;page&quot;: 152, &quot;text_data&quot;: &quot;수핵 성형술·수핵 용해술이 뭔가요?\n디스크 속 수핵을 줄여 신경에 가해지는 압력을 낮추려는 시술이에요\n약물·기구 등 방식이 다르며 모든 디스크 탈출증에 적합하지 않아요\n[핵심 설명] 수핵 / 바늘·기구 / 압력을 줄여요&quot;, &quot;header1&quot;: &quot;척추·관절&quot;, &quot;header2&quot;: &quot;척추·디스크&quot;, &quot;header3&quot;: &quot;수핵 성형술·용해술&quot;, &quot;keywords&quot;: [&quot;허리디스크&quot;, &quot;수핵성형술&quot;, &quot;추간판수술비&quot;, &quot;질병수술비&quot;, &quot;종수술비&quot;]}">
            <a:extLst>
              <a:ext uri="{FF2B5EF4-FFF2-40B4-BE49-F238E27FC236}">
                <a16:creationId xmlns:a16="http://schemas.microsoft.com/office/drawing/2014/main" id="{9D21C343-B753-49A9-AC4B-24F6FF31CFC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152  헤더1: 척추·관절  헤더2: 척추·디스크  헤더3: 수핵 성형술·용해술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허리디스크, 수핵성형술, 추간판수술비,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수핵 성형술·수핵 용해술이 뭔가요? 디스크 속 수핵을 줄여 신경에 가해지는 압력을 낮추려는 시술이에요 약물·기구 등 방식이 다르며 모든 디스크 탈출증에 적합하지 않아요 [핵심 설명] 수핵 / 바늘·기구 / 압력을 줄여요</a:t>
            </a:r>
          </a:p>
        </p:txBody>
      </p:sp>
    </p:spTree>
    <p:extLst>
      <p:ext uri="{BB962C8B-B14F-4D97-AF65-F5344CB8AC3E}">
        <p14:creationId xmlns:p14="http://schemas.microsoft.com/office/powerpoint/2010/main" val="140947809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068BB8A-F181-4ED4-B0D7-64DF872F6A6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AFA5697-9D3A-45EB-8FCB-DC1CEF82F9F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자가 연골세포 이식술이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0FE3D44-D6E7-4CD4-B458-47AF7C47E8E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자기 연골세포를 배양해 국소 연골 결손 부위에 이식해요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2BB4E0AC-4C77-42FF-A79B-2274C2A2EFA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넓게 닳은 모든 관절에 쓰는 것은 아니며 이식 뒤 재활이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F8C9088-DDCC-4018-AAEA-050F527DF90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53" descr="{&quot;page&quot;: 153, &quot;text_data&quot;: &quot;자가 연골세포 이식술이 뭔가요?\n자기 연골세포를 배양해 국소 연골 결손 부위에 이식해요\n넓게 닳은 모든 관절에 쓰는 것은 아니며 이식 뒤 재활이 필요해요\n[핵심 설명] 연골세포 채취 / 세포 배양 / 결손 부위 이식&quot;, &quot;header1&quot;: &quot;척추·관절&quot;, &quot;header2&quot;: &quot;연골·세포치료&quot;, &quot;header3&quot;: &quot;자가 연골세포 이식술&quot;, &quot;keywords&quot;: [&quot;연골이식&quot;, &quot;무릎관절염&quot;, &quot;질병수술비&quot;, &quot;종수술비&quot;]}">
            <a:extLst>
              <a:ext uri="{FF2B5EF4-FFF2-40B4-BE49-F238E27FC236}">
                <a16:creationId xmlns:a16="http://schemas.microsoft.com/office/drawing/2014/main" id="{925D3F2D-DA9C-4C0F-A0D9-F26A8C23E80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153  헤더1: 척추·관절  헤더2: 연골·세포치료  헤더3: 자가 연골세포 이식술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연골이식, 무릎관절염,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자가 연골세포 이식술이 뭔가요? 자기 연골세포를 배양해 국소 연골 결손 부위에 이식해요 넓게 닳은 모든 관절에 쓰는 것은 아니며 이식 뒤 재활이 필요해요 [핵심 설명] 연골세포 채취 / 세포 배양 / 결손 부위 이식</a:t>
            </a:r>
          </a:p>
        </p:txBody>
      </p:sp>
    </p:spTree>
    <p:extLst>
      <p:ext uri="{BB962C8B-B14F-4D97-AF65-F5344CB8AC3E}">
        <p14:creationId xmlns:p14="http://schemas.microsoft.com/office/powerpoint/2010/main" val="166601176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79BA552-1BD1-400A-877B-B26A6F5272A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6EF96F9-5C6E-445B-B497-5072C985E24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회전근개 봉합술이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CDD38AA-C01D-4F62-9991-9F95890BFF0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찢어진 어깨 힘줄을 뼈에 다시 붙여 고정하는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726A862-E13A-4A6F-BAEC-BCDD954B0DF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손상 크기와 상태에 맞춰 치료하며 회복·재활 시간이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E5F3C5E-E7F7-4C8C-AC46-2A6B4F510CA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54" descr="{&quot;page&quot;: 154, &quot;text_data&quot;: &quot;회전근개 봉합술이 뭔가요?\n찢어진 어깨 힘줄을 뼈에 다시 붙여 고정하는 수술이에요\n손상 크기와 상태에 맞춰 치료하며 회복·재활 시간이 필요해요\n[핵심 설명] 찢어진 힘줄 / 뼈의 고정점 / 실로 다시 붙여요&quot;, &quot;header1&quot;: &quot;척추·관절&quot;, &quot;header2&quot;: &quot;힘줄·인대&quot;, &quot;header3&quot;: &quot;회전근개 봉합술&quot;, &quot;keywords&quot;: [&quot;회전근개파열&quot;, &quot;어깨수술&quot;, &quot;상해수술비&quot;, &quot;질병수술비&quot;, &quot;종수술비&quot;]}">
            <a:extLst>
              <a:ext uri="{FF2B5EF4-FFF2-40B4-BE49-F238E27FC236}">
                <a16:creationId xmlns:a16="http://schemas.microsoft.com/office/drawing/2014/main" id="{2F612817-076A-46EA-8D5C-428BF266348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154  헤더1: 척추·관절  헤더2: 힘줄·인대  헤더3: 회전근개 봉합술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회전근개파열, 어깨수술, 상해수술비,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회전근개 봉합술이 뭔가요? 찢어진 어깨 힘줄을 뼈에 다시 붙여 고정하는 수술이에요 손상 크기와 상태에 맞춰 치료하며 회복·재활 시간이 필요해요 [핵심 설명] 찢어진 힘줄 / 뼈의 고정점 / 실로 다시 붙여요</a:t>
            </a:r>
          </a:p>
        </p:txBody>
      </p:sp>
    </p:spTree>
    <p:extLst>
      <p:ext uri="{BB962C8B-B14F-4D97-AF65-F5344CB8AC3E}">
        <p14:creationId xmlns:p14="http://schemas.microsoft.com/office/powerpoint/2010/main" val="56515562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07FD1AA-63F3-4C05-B7E7-F18BC118643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8130E1E-34E5-4B17-B292-E43D44E6238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십자인대 재건술이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55F817E-9B6D-49CB-8496-854DBA2C794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끊어진 무릎 인대의 역할을 다른 힘줄 이식편으로 대신해요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E3A14E6F-1B18-4982-B1AA-6CA2A0D92BB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새 인대를 고정한 뒤 재활로 움직임과 안정성을 회복해요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AB7DC822-47C0-4D2E-8A4D-29CF2361657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55" descr="{&quot;page&quot;: 155, &quot;text_data&quot;: &quot;십자인대 재건술이 뭔가요?\n끊어진 무릎 인대의 역할을 다른 힘줄 이식편으로 대신해요\n새 인대를 고정한 뒤 재활로 움직임과 안정성을 회복해요\n[핵심 설명] 끊어진 인대 / 힘줄 이식편 / 뼈 터널에 고정&quot;, &quot;header1&quot;: &quot;척추·관절&quot;, &quot;header2&quot;: &quot;힘줄·인대&quot;, &quot;header3&quot;: &quot;십자인대 재건술&quot;, &quot;keywords&quot;: [&quot;십자인대파열&quot;, &quot;무릎수술&quot;, &quot;상해수술비&quot;, &quot;종수술비&quot;]}">
            <a:extLst>
              <a:ext uri="{FF2B5EF4-FFF2-40B4-BE49-F238E27FC236}">
                <a16:creationId xmlns:a16="http://schemas.microsoft.com/office/drawing/2014/main" id="{06EEAC88-10CD-4822-B70A-D8ABB52BE914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155  헤더1: 척추·관절  헤더2: 힘줄·인대  헤더3: 십자인대 재건술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십자인대파열, 무릎수술, 상해수술비,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십자인대 재건술이 뭔가요? 끊어진 무릎 인대의 역할을 다른 힘줄 이식편으로 대신해요 새 인대를 고정한 뒤 재활로 움직임과 안정성을 회복해요 [핵심 설명] 끊어진 인대 / 힘줄 이식편 / 뼈 터널에 고정</a:t>
            </a:r>
          </a:p>
        </p:txBody>
      </p:sp>
    </p:spTree>
    <p:extLst>
      <p:ext uri="{BB962C8B-B14F-4D97-AF65-F5344CB8AC3E}">
        <p14:creationId xmlns:p14="http://schemas.microsoft.com/office/powerpoint/2010/main" val="17100916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958B3C9-21EA-4EAD-9C2C-C2D411D00D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648DD40-BE48-461C-B9B2-D9069728820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골이식술이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325F6A8-DDE7-4FEC-A4AE-6607F85D745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뼈가 모자라거나 잘 붙지 않는 곳에 뼈나 대체 재료를 보태요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898BF029-7B57-4F44-8411-ABABDF9FA347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자기 뼈·기증 뼈·인공 재료 등은 목적에 따라 선택해요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2A6B4BCD-3103-48D7-A26A-95100EA0296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56" descr="{&quot;page&quot;: 156, &quot;text_data&quot;: &quot;골이식술이 뭔가요?\n뼈가 모자라거나 잘 붙지 않는 곳에 뼈나 대체 재료를 보태요\n자기 뼈·기증 뼈·인공 재료 등은 목적에 따라 선택해요\n[핵심 설명] 뼈의 결손 / 이식 재료 / 뼈가 붙도록 보조&quot;, &quot;header1&quot;: &quot;척추·관절&quot;, &quot;header2&quot;: &quot;뼈·골절&quot;, &quot;header3&quot;: &quot;골이식술&quot;, &quot;keywords&quot;: [&quot;골이식&quot;, &quot;골절&quot;, &quot;상해수술비&quot;, &quot;질병수술비&quot;, &quot;종수술비&quot;]}">
            <a:extLst>
              <a:ext uri="{FF2B5EF4-FFF2-40B4-BE49-F238E27FC236}">
                <a16:creationId xmlns:a16="http://schemas.microsoft.com/office/drawing/2014/main" id="{4839F7F1-BBF8-432D-B469-097AD2FB409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156  헤더1: 척추·관절  헤더2: 뼈·골절  헤더3: 골이식술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골이식, 골절, 상해수술비,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골이식술이 뭔가요? 뼈가 모자라거나 잘 붙지 않는 곳에 뼈나 대체 재료를 보태요 자기 뼈·기증 뼈·인공 재료 등은 목적에 따라 선택해요 [핵심 설명] 뼈의 결손 / 이식 재료 / 뼈가 붙도록 보조</a:t>
            </a:r>
          </a:p>
        </p:txBody>
      </p:sp>
    </p:spTree>
    <p:extLst>
      <p:ext uri="{BB962C8B-B14F-4D97-AF65-F5344CB8AC3E}">
        <p14:creationId xmlns:p14="http://schemas.microsoft.com/office/powerpoint/2010/main" val="63181750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E265C92-A021-4B91-B6E3-A04F3F9B923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A64833E-247F-4030-BD9E-C051821E1EE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내고정물 제거술이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23D01BA-25FE-4951-B0D5-0AFA0045639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필요한 경우 뼈에 넣어 두었던 금속판·나사 등을 제거해요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F76B88ED-354B-4696-BD5B-8E018168189A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뼈가 붙었다고 항상 빼지는 않으며 불편·위험 등을 살펴 결정해요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DB83462-469A-4D03-81CC-ABC42D17D882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57" descr="{&quot;page&quot;: 157, &quot;text_data&quot;: &quot;내고정물 제거술이 뭔가요?\n필요한 경우 뼈에 넣어 두었던 금속판·나사 등을 제거해요\n뼈가 붙었다고 항상 빼지는 않으며 불편·위험 등을 살펴 결정해요\n[핵심 설명] 붙은 뼈 / 금속판·나사 / 필요하면 제거&quot;, &quot;header1&quot;: &quot;척추·관절&quot;, &quot;header2&quot;: &quot;뼈·골절&quot;, &quot;header3&quot;: &quot;내고정물 제거술&quot;, &quot;keywords&quot;: [&quot;핀제거&quot;, &quot;철심제거&quot;, &quot;골절수술비&quot;, &quot;상해수술비&quot;, &quot;종수술비&quot;]}">
            <a:extLst>
              <a:ext uri="{FF2B5EF4-FFF2-40B4-BE49-F238E27FC236}">
                <a16:creationId xmlns:a16="http://schemas.microsoft.com/office/drawing/2014/main" id="{AF0E805E-F451-4E21-B63C-0C546D0057D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157  헤더1: 척추·관절  헤더2: 뼈·골절  헤더3: 내고정물 제거술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핀제거, 철심제거, 골절수술비, 상해수술비,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내고정물 제거술이 뭔가요? 필요한 경우 뼈에 넣어 두었던 금속판·나사 등을 제거해요 뼈가 붙었다고 항상 빼지는 않으며 불편·위험 등을 살펴 결정해요 [핵심 설명] 붙은 뼈 / 금속판·나사 / 필요하면 제거</a:t>
            </a:r>
          </a:p>
        </p:txBody>
      </p:sp>
    </p:spTree>
    <p:extLst>
      <p:ext uri="{BB962C8B-B14F-4D97-AF65-F5344CB8AC3E}">
        <p14:creationId xmlns:p14="http://schemas.microsoft.com/office/powerpoint/2010/main" val="94658539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91DC70C-805B-46EB-93B3-06CE0849B4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93F4EB06-411F-4297-A2D2-B53506135D2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다리 길이 연장술이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0F71FD11-5A5B-490B-892E-D472A64D3B8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뼈 사이를 조금씩 벌리며 새 뼈가 생기게 해 길이를 늘려요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FDCCB85F-6F7C-4FCF-BF68-63308113E355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몸 안 막대나 외부 고정 장치를 쓰며 오랜 관리·재활이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41D4E552-1E5F-4EF5-A3FD-E5ED64944A4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58" descr="{&quot;page&quot;: 158, &quot;text_data&quot;: &quot;다리 길이 연장술이 뭔가요?\n뼈 사이를 조금씩 벌리며 새 뼈가 생기게 해 길이를 늘려요\n몸 안 막대나 외부 고정 장치를 쓰며 오랜 관리·재활이 필요해요\n[핵심 설명] 뼈 사이 틈 / 서서히 늘리기 / 새 뼈 형성&quot;, &quot;header1&quot;: &quot;척추·관절&quot;, &quot;header2&quot;: &quot;뼈·골절&quot;, &quot;header3&quot;: &quot;다리 길이 연장술&quot;, &quot;keywords&quot;: [&quot;사지연장술&quot;, &quot;다리수술&quot;, &quot;질병수술비&quot;, &quot;종수술비&quot;]}">
            <a:extLst>
              <a:ext uri="{FF2B5EF4-FFF2-40B4-BE49-F238E27FC236}">
                <a16:creationId xmlns:a16="http://schemas.microsoft.com/office/drawing/2014/main" id="{FF1CEB50-F1D3-4471-AB63-5D2FE6B564A2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158  헤더1: 척추·관절  헤더2: 뼈·골절  헤더3: 다리 길이 연장술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사지연장술, 다리수술,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다리 길이 연장술이 뭔가요? 뼈 사이를 조금씩 벌리며 새 뼈가 생기게 해 길이를 늘려요 몸 안 막대나 외부 고정 장치를 쓰며 오랜 관리·재활이 필요해요 [핵심 설명] 뼈 사이 틈 / 서서히 늘리기 / 새 뼈 형성</a:t>
            </a:r>
          </a:p>
        </p:txBody>
      </p:sp>
    </p:spTree>
    <p:extLst>
      <p:ext uri="{BB962C8B-B14F-4D97-AF65-F5344CB8AC3E}">
        <p14:creationId xmlns:p14="http://schemas.microsoft.com/office/powerpoint/2010/main" val="1723551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640308D-0800-4E66-B82B-ED1F79BF40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1AB191B-8920-4908-B002-28C69FBB377A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갑상선 양성결절 고주파치료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314E692-EFF1-4820-A680-5115F813DFD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갑상선의 양성 혹에 바늘을 꽂아 열로 줄여요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1C5D1B1-7EB5-4A6C-97A7-9D197AD83CE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혹을 없애기보다 줄여요. 양성으로 확인된 혹에만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5E58BD3-571F-4A47-AB67-37F95B5B2E3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59" descr="{&quot;page&quot;: 159, &quot;text_data&quot;: &quot;갑상선 양성결절 고주파치료\n갑상선의 양성 혹에 바늘을 꽂아 열로 줄여요\n혹을 없애기보다 줄여요. 양성으로 확인된 혹에만 해요\n[핵심 설명] 초음파로 혹을 봐요 / 바늘 전극을 넣어요 / 열로 혹을 줄여요&quot;, &quot;header1&quot;: &quot;장기별 수술·시술&quot;, &quot;header2&quot;: &quot;갑상선·유방&quot;, &quot;header3&quot;: &quot;갑상선 양성결절 고주파치료&quot;, &quot;keywords&quot;: [&quot;갑상선결절&quot;, &quot;갑상선고주파&quot;, &quot;암전후통합치료비&quot;, &quot;질병수술비&quot;, &quot;종수술비&quot;]}">
            <a:extLst>
              <a:ext uri="{FF2B5EF4-FFF2-40B4-BE49-F238E27FC236}">
                <a16:creationId xmlns:a16="http://schemas.microsoft.com/office/drawing/2014/main" id="{D8C1818A-4975-474B-ADDA-834CA6572C6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159  헤더1: 장기별 수술·시술  헤더2: 갑상선·유방  헤더3: 갑상선 양성결절 고주파치료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갑상선결절, 갑상선고주파, 암전후통합치료비,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갑상선 양성결절 고주파치료 갑상선의 양성 혹에 바늘을 꽂아 열로 줄여요 혹을 없애기보다 줄여요. 양성으로 확인된 혹에만 해요 [핵심 설명] 초음파로 혹을 봐요 / 바늘 전극을 넣어요 / 열로 혹을 줄여요</a:t>
            </a:r>
          </a:p>
        </p:txBody>
      </p:sp>
    </p:spTree>
    <p:extLst>
      <p:ext uri="{BB962C8B-B14F-4D97-AF65-F5344CB8AC3E}">
        <p14:creationId xmlns:p14="http://schemas.microsoft.com/office/powerpoint/2010/main" val="153760813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CF5FC94-3FCF-40B4-AD16-A8483D7F27F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38ABEE3-B0DA-40A7-8320-2E85835A605C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유방 진공보조절제술이란?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47BEB9B-DC44-4479-AF7C-7684C69BCA9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진공으로 조직을 당겨 잘라내는 유방 검사·치료 방법이에요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5AD49EE9-07C9-4A0F-888B-380717CC6344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조직검사 목적으로도 써요. 모든 양성 혹을 떼지는 않아요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CD3F387-F5DF-4DA6-BDE5-4E2AA7D8B57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60" descr="{&quot;page&quot;: 160, &quot;text_data&quot;: &quot;유방 진공보조절제술이란?\n진공으로 조직을 당겨 잘라내는 유방 검사·치료 방법이에요\n조직검사 목적으로도 써요. 모든 양성 혹을 떼지는 않아요\n[핵심 설명] 초음파로 혹을 봐요 / 바늘을 혹에 넣어요 / 조직을 채취·제거해요&quot;, &quot;header1&quot;: &quot;장기별 수술·시술&quot;, &quot;header2&quot;: &quot;갑상선·유방&quot;, &quot;header3&quot;: &quot;유방 진공보조절제술&quot;, &quot;keywords&quot;: [&quot;맘모톰&quot;, &quot;유방혹&quot;, &quot;유방양성종양&quot;, &quot;암전후통합치료비&quot;, &quot;질병수술비&quot;, &quot;종수술비&quot;]}">
            <a:extLst>
              <a:ext uri="{FF2B5EF4-FFF2-40B4-BE49-F238E27FC236}">
                <a16:creationId xmlns:a16="http://schemas.microsoft.com/office/drawing/2014/main" id="{63CC2C65-40D9-4C3B-8892-31276144F26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160  헤더1: 장기별 수술·시술  헤더2: 갑상선·유방  헤더3: 유방 진공보조절제술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맘모톰, 유방혹, 유방양성종양, 암전후통합치료비,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유방 진공보조절제술이란? 진공으로 조직을 당겨 잘라내는 유방 검사·치료 방법이에요 조직검사 목적으로도 써요. 모든 양성 혹을 떼지는 않아요 [핵심 설명] 초음파로 혹을 봐요 / 바늘을 혹에 넣어요 / 조직을 채취·제거해요</a:t>
            </a:r>
          </a:p>
        </p:txBody>
      </p:sp>
    </p:spTree>
    <p:extLst>
      <p:ext uri="{BB962C8B-B14F-4D97-AF65-F5344CB8AC3E}">
        <p14:creationId xmlns:p14="http://schemas.microsoft.com/office/powerpoint/2010/main" val="14704938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A92265F-7EB0-4FFF-AE3F-BF3C83DCA6D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C95B1CE-1515-471C-BF8E-D727E19213CA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자궁근종 치료 네 가지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1FACD2C9-4BF1-499F-904E-FB5B46797BE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근종의 크기와 위치, 임신 계획에 따라 방법이 달라요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AE6EFDA-6DD3-45B3-B2A5-8B1962EE9FB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증상이 없으면 지켜보기도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322ADF3-54F7-45DC-8AF4-5B8266E960E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0C1342A0-281D-430F-A616-56A1F316A17B}"/>
              </a:ext>
            </a:extLst>
          </p:cNvPr>
          <p:cNvSpPr>
            <a:spLocks noGrp="1"/>
          </p:cNvSpPr>
          <p:nvPr/>
        </p:nvSpPr>
        <p:spPr>
          <a:xfrm>
            <a:off x="552450" y="5429250"/>
            <a:ext cx="1108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근종은 자궁 근육층에 생기는 양성 종양이에요.</a:t>
            </a:r>
          </a:p>
        </p:txBody>
      </p:sp>
      <p:sp>
        <p:nvSpPr>
          <p:cNvPr id="8" name="RAG_METADATA_PAGE_161" descr="{&quot;page&quot;: 161, &quot;text_data&quot;: &quot;자궁근종 치료 네 가지\n근종의 크기와 위치, 임신 계획에 따라 방법이 달라요\n근종은 자궁 근육층에 생기는 양성 종양이에요.\n증상이 없으면 지켜보기도 해요\n[핵심 설명] 하이푸·색전술: 줄이기 / 근종절제: 혹만 떼기 / 자궁적출: 자궁 들어내기&quot;, &quot;header1&quot;: &quot;장기별 수술·시술&quot;, &quot;header2&quot;: &quot;산부인과&quot;, &quot;header3&quot;: &quot;자궁근종 치료 비교&quot;, &quot;keywords&quot;: [&quot;자궁근종&quot;, &quot;자궁적출&quot;, &quot;하이푸&quot;, &quot;질병수술비&quot;, &quot;종수술비&quot;]}">
            <a:extLst>
              <a:ext uri="{FF2B5EF4-FFF2-40B4-BE49-F238E27FC236}">
                <a16:creationId xmlns:a16="http://schemas.microsoft.com/office/drawing/2014/main" id="{9AD061FD-CB5D-4B5A-8F5E-874DD69CF30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161  헤더1: 장기별 수술·시술  헤더2: 산부인과  헤더3: 자궁근종 치료 비교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자궁근종, 자궁적출, 하이푸,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자궁근종 치료 네 가지 근종의 크기와 위치, 임신 계획에 따라 방법이 달라요 근종은 자궁 근육층에 생기는 양성 종양이에요. 증상이 없으면 지켜보기도 해요 [핵심 설명] 하이푸·색전술: 줄이기 / 근종절제: 혹만 떼기 / 자궁적출: 자궁 들어내기</a:t>
            </a:r>
          </a:p>
        </p:txBody>
      </p:sp>
    </p:spTree>
    <p:extLst>
      <p:ext uri="{BB962C8B-B14F-4D97-AF65-F5344CB8AC3E}">
        <p14:creationId xmlns:p14="http://schemas.microsoft.com/office/powerpoint/2010/main" val="25097106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314C345-4536-44D3-9473-4B4446ABB57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84CC2D4-9DFB-40FC-870C-265E0F246C6A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대장 용종절제술이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44A68D6-D23E-4CAD-8D2E-6BE907A7C15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대장내시경 중 발견한 혹을 올가미로 잘라내요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4DDF8CBA-3596-49E8-A125-69269BA921C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떼어낸 용종은 조직검사로 보내요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D2DC8ABF-6C73-4961-9CED-F63DFB6A001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62" descr="{&quot;page&quot;: 162, &quot;text_data&quot;: &quot;대장 용종절제술이 뭔가요?\n대장내시경 중 발견한 혹을 올가미로 잘라내요\n떼어낸 용종은 조직검사로 보내요\n[핵심 설명] 내시경으로 용종을 확인 / 올가미 등으로 잘라내요 / 제거한 조직을 검사해요&quot;, &quot;header1&quot;: &quot;장기별 수술·시술&quot;, &quot;header2&quot;: &quot;소화기&quot;, &quot;header3&quot;: &quot;대장 용종절제술&quot;, &quot;keywords&quot;: [&quot;대장용종&quot;, &quot;용종절제&quot;, &quot;암전후통합치료비&quot;, &quot;질병수술비&quot;, &quot;종수술비&quot;]}">
            <a:extLst>
              <a:ext uri="{FF2B5EF4-FFF2-40B4-BE49-F238E27FC236}">
                <a16:creationId xmlns:a16="http://schemas.microsoft.com/office/drawing/2014/main" id="{D1845DD3-654F-4634-A6D0-D23847BA782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162  헤더1: 장기별 수술·시술  헤더2: 소화기  헤더3: 대장 용종절제술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대장용종, 용종절제, 암전후통합치료비,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대장 용종절제술이 뭔가요? 대장내시경 중 발견한 혹을 올가미로 잘라내요 떼어낸 용종은 조직검사로 보내요 [핵심 설명] 내시경으로 용종을 확인 / 올가미 등으로 잘라내요 / 제거한 조직을 검사해요</a:t>
            </a:r>
          </a:p>
        </p:txBody>
      </p:sp>
    </p:spTree>
    <p:extLst>
      <p:ext uri="{BB962C8B-B14F-4D97-AF65-F5344CB8AC3E}">
        <p14:creationId xmlns:p14="http://schemas.microsoft.com/office/powerpoint/2010/main" val="180436271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5D875AA-4F5E-4785-B7BC-11E1939645C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A437F76-B1AE-4ACA-B54B-70907638650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복강경 담낭절제술이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E97575D-ECAD-4476-B81D-45896CB7294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작은 구멍으로 쓸개(담낭)를 떼어내는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55284EC-2A32-4B07-8251-F0ED3DE6314B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담석증, 담낭염에서 가장 흔한 수술이에요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289382A-BEE9-4DA6-AED9-4C292F5FCB6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2B357E56-2BC7-451C-BF62-4EDA4BE5FE1E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담낭은 간에서 만든 담즙을 저장하는 작은 주머니예요.</a:t>
            </a:r>
          </a:p>
        </p:txBody>
      </p:sp>
      <p:sp>
        <p:nvSpPr>
          <p:cNvPr id="8" name="RAG_METADATA_PAGE_163" descr="{&quot;page&quot;: 163, &quot;text_data&quot;: &quot;복강경 담낭절제술이 뭔가요?\n작은 구멍으로 쓸개(담낭)를 떼어내는 수술이에요\n담석증, 담낭염에서 가장 흔한 수술이에요\n담낭은 간에서 만든 담즙을 저장하는 작은 주머니예요.\n[핵심 설명] 배에 작은 구멍을 내요 / 담낭을 간에서 떼어요 / 구멍으로 꺼내요&quot;, &quot;header1&quot;: &quot;장기별 수술·시술&quot;, &quot;header2&quot;: &quot;소화기&quot;, &quot;header3&quot;: &quot;복강경 담낭절제술&quot;, &quot;keywords&quot;: [&quot;담석&quot;, &quot;담낭절제술&quot;, &quot;복강경&quot;, &quot;질병수술비&quot;, &quot;종수술비&quot;]}">
            <a:extLst>
              <a:ext uri="{FF2B5EF4-FFF2-40B4-BE49-F238E27FC236}">
                <a16:creationId xmlns:a16="http://schemas.microsoft.com/office/drawing/2014/main" id="{2ED9CF1B-51B3-4D38-AEC1-0DF248A3334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163  헤더1: 장기별 수술·시술  헤더2: 소화기  헤더3: 복강경 담낭절제술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담석, 담낭절제술, 복강경,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복강경 담낭절제술이 뭔가요? 작은 구멍으로 쓸개(담낭)를 떼어내는 수술이에요 담석증, 담낭염에서 가장 흔한 수술이에요 담낭은 간에서 만든 담즙을 저장하는 작은 주머니예요. [핵심 설명] 배에 작은 구멍을 내요 / 담낭을 간에서 떼어요 / 구멍으로 꺼내요</a:t>
            </a:r>
          </a:p>
        </p:txBody>
      </p:sp>
    </p:spTree>
    <p:extLst>
      <p:ext uri="{BB962C8B-B14F-4D97-AF65-F5344CB8AC3E}">
        <p14:creationId xmlns:p14="http://schemas.microsoft.com/office/powerpoint/2010/main" val="72778946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545FFF2-8FAC-43A4-9C4D-57AD995467E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7B6C86A8-7CFD-40B4-8D6A-CB405759AC5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충수절제술이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B2F41F3-3402-40B2-9105-AD650041E1A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염증이 생긴 충수(맹장 끝)를 떼어내는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C0DAFDC-E42B-4F21-8498-8B4685F8AC15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흔히 ‘맹장 수술’이라고 불러요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491B59E-0D67-43B8-8D0B-531DE9D8EE9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D8C0B828-7A46-48C3-B6D5-0860B3DB4893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충수는 대장이 시작되는 부위에 달린 작은 관 모양 조직이에요.</a:t>
            </a:r>
          </a:p>
        </p:txBody>
      </p:sp>
      <p:sp>
        <p:nvSpPr>
          <p:cNvPr id="8" name="RAG_METADATA_PAGE_164" descr="{&quot;page&quot;: 164, &quot;text_data&quot;: &quot;충수절제술이 뭔가요?\n염증이 생긴 충수(맹장 끝)를 떼어내는 수술이에요\n흔히 ‘맹장 수술’이라고 불러요\n충수는 대장이 시작되는 부위에 달린 작은 관 모양 조직이에요.\n[핵심 설명] 배에 작은 구멍을 내요 / 충수를 묶고 잘라요 / 구멍으로 꺼내요&quot;, &quot;header1&quot;: &quot;장기별 수술·시술&quot;, &quot;header2&quot;: &quot;소화기&quot;, &quot;header3&quot;: &quot;충수절제술&quot;, &quot;keywords&quot;: [&quot;맹장수술&quot;, &quot;충수염&quot;, &quot;충수염수술비&quot;, &quot;질병수술비&quot;, &quot;종수술비&quot;]}">
            <a:extLst>
              <a:ext uri="{FF2B5EF4-FFF2-40B4-BE49-F238E27FC236}">
                <a16:creationId xmlns:a16="http://schemas.microsoft.com/office/drawing/2014/main" id="{BCBC7E4A-BF59-4B3E-8982-854C9C50830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164  헤더1: 장기별 수술·시술  헤더2: 소화기  헤더3: 충수절제술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맹장수술, 충수염, 충수염수술비,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충수절제술이 뭔가요? 염증이 생긴 충수(맹장 끝)를 떼어내는 수술이에요 흔히 ‘맹장 수술’이라고 불러요 충수는 대장이 시작되는 부위에 달린 작은 관 모양 조직이에요. [핵심 설명] 배에 작은 구멍을 내요 / 충수를 묶고 잘라요 / 구멍으로 꺼내요</a:t>
            </a:r>
          </a:p>
        </p:txBody>
      </p:sp>
    </p:spTree>
    <p:extLst>
      <p:ext uri="{BB962C8B-B14F-4D97-AF65-F5344CB8AC3E}">
        <p14:creationId xmlns:p14="http://schemas.microsoft.com/office/powerpoint/2010/main" val="4971379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9C0C04E-11A3-429D-86BB-F3D470ACF18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89CFFAB2-3B5C-4574-AC10-86F5D3DFB64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항역류 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6FEA3AC-1161-4A03-955E-76666839417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위 윗부분으로 식도 아래를 감싸 위산 역류를 막아요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CB2B5858-EB88-49CC-94D9-133995E44177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약으로 조절이 안 되는 역류질환에서 고려해요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356F1DE-0E9F-4022-A915-C7F858C3809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0A7BE7CB-17EF-43FB-8782-F8246247AD48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위산이 위에서 식도로 거꾸로 올라오는 것을 ‘역류’라고 해요.</a:t>
            </a:r>
          </a:p>
        </p:txBody>
      </p:sp>
      <p:sp>
        <p:nvSpPr>
          <p:cNvPr id="8" name="RAG_METADATA_PAGE_165" descr="{&quot;page&quot;: 165, &quot;text_data&quot;: &quot;항역류 수술이 뭔가요?\n위 윗부분으로 식도 아래를 감싸 위산 역류를 막아요\n약으로 조절이 안 되는 역류질환에서 고려해요\n위산이 위에서 식도로 거꾸로 올라오는 것을 ‘역류’라고 해요.\n[핵심 설명] 배에 작은 구멍을 내요 / 위로 식도를 감싸요 / 조이는 힘을 보강해요&quot;, &quot;header1&quot;: &quot;장기별 수술·시술&quot;, &quot;header2&quot;: &quot;소화기&quot;, &quot;header3&quot;: &quot;항역류 수술&quot;, &quot;keywords&quot;: [&quot;역류성식도염&quot;, &quot;위식도역류&quot;, &quot;질병수술비&quot;, &quot;종수술비&quot;]}">
            <a:extLst>
              <a:ext uri="{FF2B5EF4-FFF2-40B4-BE49-F238E27FC236}">
                <a16:creationId xmlns:a16="http://schemas.microsoft.com/office/drawing/2014/main" id="{CEDA2A9A-360A-4A9E-ADB7-605F11CB1C8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165  헤더1: 장기별 수술·시술  헤더2: 소화기  헤더3: 항역류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역류성식도염, 위식도역류,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항역류 수술이 뭔가요? 위 윗부분으로 식도 아래를 감싸 위산 역류를 막아요 약으로 조절이 안 되는 역류질환에서 고려해요 위산이 위에서 식도로 거꾸로 올라오는 것을 ‘역류’라고 해요. [핵심 설명] 배에 작은 구멍을 내요 / 위로 식도를 감싸요 / 조이는 힘을 보강해요</a:t>
            </a:r>
          </a:p>
        </p:txBody>
      </p:sp>
    </p:spTree>
    <p:extLst>
      <p:ext uri="{BB962C8B-B14F-4D97-AF65-F5344CB8AC3E}">
        <p14:creationId xmlns:p14="http://schemas.microsoft.com/office/powerpoint/2010/main" val="199987526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5D537B2-E74C-425E-86BF-857D6D54E26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462325A1-2F0D-47BA-A7E8-707F418B34D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전립선비대증 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0353A60-BEF0-4C4A-A0FC-07C860C5472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커진 전립선이 누르는 소변 길을 넓혀 주는 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C2214C4-239C-4D6B-AE41-B7477EC4C54A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방법이 여러 가지라 크기에 맞게 골라요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BF83DA8-3934-4D6D-A9FE-B66145F4A80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7EA478C6-9E79-4849-B385-907B1B95A8D3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전립선은 방광 아래에서 소변이 나가는 요도를 둘러싸고 있어요.</a:t>
            </a:r>
          </a:p>
        </p:txBody>
      </p:sp>
      <p:sp>
        <p:nvSpPr>
          <p:cNvPr id="8" name="RAG_METADATA_PAGE_166" descr="{&quot;page&quot;: 166, &quot;text_data&quot;: &quot;전립선비대증 시술이 뭔가요?\n커진 전립선이 누르는 소변 길을 넓혀 주는 치료예요\n방법이 여러 가지라 크기에 맞게 골라요\n전립선은 방광 아래에서 소변이 나가는 요도를 둘러싸고 있어요.\n[핵심 설명] 요도로 기구를 넣어요 / 깎거나 묶거나 줄여요 / 소변 길이 넓어져요&quot;, &quot;header1&quot;: &quot;장기별 수술·시술&quot;, &quot;header2&quot;: &quot;비뇨기&quot;, &quot;header3&quot;: &quot;전립선비대증 시술&quot;, &quot;keywords&quot;: [&quot;전립선비대증&quot;, &quot;전립선수술&quot;, &quot;전립선시술&quot;, &quot;질병수술비&quot;, &quot;종수술비&quot;]}">
            <a:extLst>
              <a:ext uri="{FF2B5EF4-FFF2-40B4-BE49-F238E27FC236}">
                <a16:creationId xmlns:a16="http://schemas.microsoft.com/office/drawing/2014/main" id="{9C107BDC-90D5-4B5E-BCFF-0FD8210C9F8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166  헤더1: 장기별 수술·시술  헤더2: 비뇨기  헤더3: 전립선비대증 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전립선비대증, 전립선수술, 전립선시술,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전립선비대증 시술이 뭔가요? 커진 전립선이 누르는 소변 길을 넓혀 주는 치료예요 방법이 여러 가지라 크기에 맞게 골라요 전립선은 방광 아래에서 소변이 나가는 요도를 둘러싸고 있어요. [핵심 설명] 요도로 기구를 넣어요 / 깎거나 묶거나 줄여요 / 소변 길이 넓어져요</a:t>
            </a:r>
          </a:p>
        </p:txBody>
      </p:sp>
    </p:spTree>
    <p:extLst>
      <p:ext uri="{BB962C8B-B14F-4D97-AF65-F5344CB8AC3E}">
        <p14:creationId xmlns:p14="http://schemas.microsoft.com/office/powerpoint/2010/main" val="194166657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1863314-9EEC-4C3B-955F-9F88598145C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A95878D-5381-4291-B706-97AECB49489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체외충격파 쇄석술이란?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263CEE64-44D2-4EE7-8E2F-6A73FB20648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몸 밖에서 충격파를 쏘아 요로결석을 잘게 부숴요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89B081D4-B04B-4608-9D3A-331DF819F8C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돌 크기와 위치에 따라 내시경으로 꺼내기도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08D4FBF-013E-481C-B200-4002ADEF3ED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67" descr="{&quot;page&quot;: 167, &quot;text_data&quot;: &quot;체외충격파 쇄석술이란?\n몸 밖에서 충격파를 쏘아 요로결석을 잘게 부숴요\n돌 크기와 위치에 따라 내시경으로 꺼내기도 해요\n[핵심 설명] 누워서 결석 위치를 맞춰요 / 충격파를 여러 번 쏴요 / 조각이 소변으로 나와요&quot;, &quot;header1&quot;: &quot;장기별 수술·시술&quot;, &quot;header2&quot;: &quot;비뇨기&quot;, &quot;header3&quot;: &quot;체외충격파 쇄석술&quot;, &quot;keywords&quot;: [&quot;요로결석&quot;, &quot;쇄석술&quot;, &quot;질병수술비&quot;, &quot;종수술비&quot;]}">
            <a:extLst>
              <a:ext uri="{FF2B5EF4-FFF2-40B4-BE49-F238E27FC236}">
                <a16:creationId xmlns:a16="http://schemas.microsoft.com/office/drawing/2014/main" id="{97507644-B2A6-4F58-BF01-5AA22E06135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167  헤더1: 장기별 수술·시술  헤더2: 비뇨기  헤더3: 체외충격파 쇄석술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요로결석, 쇄석술,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체외충격파 쇄석술이란? 몸 밖에서 충격파를 쏘아 요로결석을 잘게 부숴요 돌 크기와 위치에 따라 내시경으로 꺼내기도 해요 [핵심 설명] 누워서 결석 위치를 맞춰요 / 충격파를 여러 번 쏴요 / 조각이 소변으로 나와요</a:t>
            </a:r>
          </a:p>
        </p:txBody>
      </p:sp>
    </p:spTree>
    <p:extLst>
      <p:ext uri="{BB962C8B-B14F-4D97-AF65-F5344CB8AC3E}">
        <p14:creationId xmlns:p14="http://schemas.microsoft.com/office/powerpoint/2010/main" val="88407920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111BF1C-2705-4A99-AE86-22507ED4CF3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8362257B-6064-4B0D-946F-9E3A7527F3C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백내장 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FF4A014-39FC-46C6-B238-8CEA397B4BF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흐려진 수정체를 빼내고 인공수정체를 넣는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8BBFD4C-45D2-45C5-B4C4-777E6D0E277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인공수정체 종류는 의사와 상의해 골라요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9BC739E-C699-403F-8501-B9B7B42085A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41FBD3C9-0BAD-4C04-AB64-2DC8F19B8486}"/>
              </a:ext>
            </a:extLst>
          </p:cNvPr>
          <p:cNvSpPr>
            <a:spLocks noGrp="1"/>
          </p:cNvSpPr>
          <p:nvPr/>
        </p:nvSpPr>
        <p:spPr>
          <a:xfrm>
            <a:off x="552450" y="5429250"/>
            <a:ext cx="1108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백내장은 눈 속 수정체가 흐려져 빛이 잘 통과하지 못하는 상태예요.</a:t>
            </a:r>
          </a:p>
        </p:txBody>
      </p:sp>
      <p:sp>
        <p:nvSpPr>
          <p:cNvPr id="8" name="RAG_METADATA_PAGE_168" descr="{&quot;page&quot;: 168, &quot;text_data&quot;: &quot;백내장 수술이 뭔가요?\n흐려진 수정체를 빼내고 인공수정체를 넣는 수술이에요\n백내장은 눈 속 수정체가 흐려져 빛이 잘 통과하지 못하는 상태예요.\n인공수정체 종류는 의사와 상의해 골라요\n[핵심 설명] 2~3mm로 작게 열어요 / 초음파로 부숴 빼내요 / 인공수정체를 넣어요&quot;, &quot;header1&quot;: &quot;장기별 수술·시술&quot;, &quot;header2&quot;: &quot;안과&quot;, &quot;header3&quot;: &quot;백내장 수술&quot;, &quot;keywords&quot;: [&quot;백내장&quot;, &quot;인공수정체&quot;, &quot;질병수술비&quot;, &quot;종수술비&quot;]}">
            <a:extLst>
              <a:ext uri="{FF2B5EF4-FFF2-40B4-BE49-F238E27FC236}">
                <a16:creationId xmlns:a16="http://schemas.microsoft.com/office/drawing/2014/main" id="{3811A1E8-0211-4A0D-B604-4FB80E968A7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168  헤더1: 장기별 수술·시술  헤더2: 안과  헤더3: 백내장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백내장, 인공수정체,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백내장 수술이 뭔가요? 흐려진 수정체를 빼내고 인공수정체를 넣는 수술이에요 백내장은 눈 속 수정체가 흐려져 빛이 잘 통과하지 못하는 상태예요. 인공수정체 종류는 의사와 상의해 골라요 [핵심 설명] 2~3mm로 작게 열어요 / 초음파로 부숴 빼내요 / 인공수정체를 넣어요</a:t>
            </a:r>
          </a:p>
        </p:txBody>
      </p:sp>
    </p:spTree>
    <p:extLst>
      <p:ext uri="{BB962C8B-B14F-4D97-AF65-F5344CB8AC3E}">
        <p14:creationId xmlns:p14="http://schemas.microsoft.com/office/powerpoint/2010/main" val="751195351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F67D256-0369-4198-93FD-FC6826EA341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881FD686-F8E1-43D6-9DDC-D41E34768FF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망막 레이저와 눈 속 주사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553FE9F-E40B-4B1E-9DB6-803AA497611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망막질환에 따라 레이저나 눈 속 약물주사를 사용해요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56C46BCC-7C57-4734-A1CE-89E317ED6AD8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질환의 종류와 상태에 따라 치료 방법을 골라요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8256A8A-BFDE-419B-9832-ADC4EC950A48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83FBCF07-A55F-4FF8-9058-C9FCEA985B91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망막은 눈 안쪽에서 빛을 받아들이는 얇은 신경 조직이에요.</a:t>
            </a:r>
          </a:p>
        </p:txBody>
      </p:sp>
      <p:sp>
        <p:nvSpPr>
          <p:cNvPr id="8" name="RAG_METADATA_PAGE_169" descr="{&quot;page&quot;: 169, &quot;text_data&quot;: &quot;망막 레이저와 눈 속 주사\n망막질환에 따라 레이저나 눈 속 약물주사를 사용해요\n질환의 종류와 상태에 따라 치료 방법을 골라요\n망막은 눈 안쪽에서 빛을 받아들이는 얇은 신경 조직이에요.\n[핵심 설명] 눈에 마취약을 넣어요 / 레이저를 쬐거나 / 눈 속에 약을 주사해요&quot;, &quot;header1&quot;: &quot;장기별 수술·시술&quot;, &quot;header2&quot;: &quot;안과&quot;, &quot;header3&quot;: &quot;망막 레이저·눈 속 주사&quot;, &quot;keywords&quot;: [&quot;망막질환&quot;, &quot;황반변성&quot;, &quot;당뇨망막병증&quot;, &quot;안구주사&quot;, &quot;레이저치료&quot;, &quot;실손의료비&quot;]}">
            <a:extLst>
              <a:ext uri="{FF2B5EF4-FFF2-40B4-BE49-F238E27FC236}">
                <a16:creationId xmlns:a16="http://schemas.microsoft.com/office/drawing/2014/main" id="{8F8196E7-B5FD-4756-8596-EAB64D8DAE5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169  헤더1: 장기별 수술·시술  헤더2: 안과  헤더3: 망막 레이저·눈 속 주사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망막질환, 황반변성, 당뇨망막병증, 안구주사, 레이저치료, 실손의료비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망막 레이저와 눈 속 주사 망막질환에 따라 레이저나 눈 속 약물주사를 사용해요 질환의 종류와 상태에 따라 치료 방법을 골라요 망막은 눈 안쪽에서 빛을 받아들이는 얇은 신경 조직이에요. [핵심 설명] 눈에 마취약을 넣어요 / 레이저를 쬐거나 / 눈 속에 약을 주사해요</a:t>
            </a:r>
          </a:p>
        </p:txBody>
      </p:sp>
    </p:spTree>
    <p:extLst>
      <p:ext uri="{BB962C8B-B14F-4D97-AF65-F5344CB8AC3E}">
        <p14:creationId xmlns:p14="http://schemas.microsoft.com/office/powerpoint/2010/main" val="72058890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1065284-69CD-4AFF-BBFC-FB119244463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EB52611-061B-4659-A244-0A097AB9F05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혈액투석이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60D73BA-E2F1-4881-91B7-111A85DE5F4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신장 대신 기계로 피 속 노폐물을 걸러내는 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ED95D359-C5DE-4512-A6F4-DE2575DCCC1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일정은 상태에 맞춰 정하며, 중환자는 천천히 계속하는 신대체요법을 쓰기도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47ECA433-CADE-4D49-878E-103DFBFAA92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70" descr="{&quot;page&quot;: 170, &quot;text_data&quot;: &quot;혈액투석이 뭔가요?\n신장 대신 기계로 피 속 노폐물을 걸러내는 치료예요\n일정은 상태에 맞춰 정하며, 중환자는 천천히 계속하는 신대체요법을 쓰기도 해요\n[핵심 설명] 혈관 통로에 연결해요 / 피를 기계로 보내 걸러요 / 깨끗한 피를 돌려보내요&quot;, &quot;header1&quot;: &quot;장기별 수술·시술&quot;, &quot;header2&quot;: &quot;신장·투석&quot;, &quot;header3&quot;: &quot;혈액투석&quot;, &quot;keywords&quot;: [&quot;만성신부전&quot;, &quot;혈액투석&quot;, &quot;신장투석&quot;, &quot;투석치료&quot;, &quot;종수술비&quot;]}">
            <a:extLst>
              <a:ext uri="{FF2B5EF4-FFF2-40B4-BE49-F238E27FC236}">
                <a16:creationId xmlns:a16="http://schemas.microsoft.com/office/drawing/2014/main" id="{84F086A9-F760-419A-AC89-5C8DCFD41FD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170  헤더1: 장기별 수술·시술  헤더2: 신장·투석  헤더3: 혈액투석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만성신부전, 혈액투석, 신장투석, 투석치료,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혈액투석이 뭔가요? 신장 대신 기계로 피 속 노폐물을 걸러내는 치료예요 일정은 상태에 맞춰 정하며, 중환자는 천천히 계속하는 신대체요법을 쓰기도 해요 [핵심 설명] 혈관 통로에 연결해요 / 피를 기계로 보내 걸러요 / 깨끗한 피를 돌려보내요</a:t>
            </a:r>
          </a:p>
        </p:txBody>
      </p:sp>
    </p:spTree>
    <p:extLst>
      <p:ext uri="{BB962C8B-B14F-4D97-AF65-F5344CB8AC3E}">
        <p14:creationId xmlns:p14="http://schemas.microsoft.com/office/powerpoint/2010/main" val="1818747347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68A3B3B-52FE-4667-9336-F94AC121B4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82BC8F8-8D94-4293-92D8-FD27F137D5C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복막투석이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E99B784-D3B4-4323-BDDB-9350310E03F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배 안의 막을 이용해 노폐물을 걸러내는 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AD42F111-49BE-4F88-AC34-0A5BF9CCB48C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집에서 직접 할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96CF050-FADD-4250-B443-B7D29978CCC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71" descr="{&quot;page&quot;: 171, &quot;text_data&quot;: &quot;복막투석이 뭔가요?\n배 안의 막을 이용해 노폐물을 걸러내는 치료예요\n집에서 직접 할 수 있어요\n[핵심 설명] 배에 관을 심어 둬요 / 투석액을 넣어요 / 몇 시간 뒤 빼내요&quot;, &quot;header1&quot;: &quot;장기별 수술·시술&quot;, &quot;header2&quot;: &quot;신장·투석&quot;, &quot;header3&quot;: &quot;복막투석&quot;, &quot;keywords&quot;: [&quot;만성신부전&quot;, &quot;복막투석&quot;, &quot;신장투석&quot;, &quot;투석치료&quot;, &quot;종수술비&quot;]}">
            <a:extLst>
              <a:ext uri="{FF2B5EF4-FFF2-40B4-BE49-F238E27FC236}">
                <a16:creationId xmlns:a16="http://schemas.microsoft.com/office/drawing/2014/main" id="{33EB5032-BE81-4928-B49C-D343C22E34F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171  헤더1: 장기별 수술·시술  헤더2: 신장·투석  헤더3: 복막투석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만성신부전, 복막투석, 신장투석, 투석치료,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복막투석이 뭔가요? 배 안의 막을 이용해 노폐물을 걸러내는 치료예요 집에서 직접 할 수 있어요 [핵심 설명] 배에 관을 심어 둬요 / 투석액을 넣어요 / 몇 시간 뒤 빼내요</a:t>
            </a:r>
          </a:p>
        </p:txBody>
      </p:sp>
    </p:spTree>
    <p:extLst>
      <p:ext uri="{BB962C8B-B14F-4D97-AF65-F5344CB8AC3E}">
        <p14:creationId xmlns:p14="http://schemas.microsoft.com/office/powerpoint/2010/main" val="2117108336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둥근 표 배경 1-1">
            <a:extLst>
              <a:ext uri="{FF2B5EF4-FFF2-40B4-BE49-F238E27FC236}">
                <a16:creationId xmlns:a16="http://schemas.microsoft.com/office/drawing/2014/main" id="{53FA22ED-421E-4840-BB26-34516A7DD1FF}"/>
              </a:ext>
            </a:extLst>
          </p:cNvPr>
          <p:cNvSpPr>
            <a:spLocks noGrp="1"/>
          </p:cNvSpPr>
          <p:nvPr/>
        </p:nvSpPr>
        <p:spPr>
          <a:xfrm>
            <a:off x="838200" y="24098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CDEBFF"/>
          </a:solidFill>
          <a:ln w="0">
            <a:noFill/>
            <a:prstDash val="solid"/>
          </a:ln>
        </p:spPr>
      </p:sp>
      <p:sp>
        <p:nvSpPr>
          <p:cNvPr id="9" name="둥근 표 배경 1-2">
            <a:extLst>
              <a:ext uri="{FF2B5EF4-FFF2-40B4-BE49-F238E27FC236}">
                <a16:creationId xmlns:a16="http://schemas.microsoft.com/office/drawing/2014/main" id="{951F71B9-3472-4628-83E8-5995A1ABDFB3}"/>
              </a:ext>
            </a:extLst>
          </p:cNvPr>
          <p:cNvSpPr>
            <a:spLocks noGrp="1"/>
          </p:cNvSpPr>
          <p:nvPr/>
        </p:nvSpPr>
        <p:spPr>
          <a:xfrm>
            <a:off x="4394200" y="24098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DFD8FF"/>
          </a:solidFill>
          <a:ln w="0">
            <a:noFill/>
            <a:prstDash val="solid"/>
          </a:ln>
        </p:spPr>
      </p:sp>
      <p:sp>
        <p:nvSpPr>
          <p:cNvPr id="10" name="둥근 표 배경 1-3">
            <a:extLst>
              <a:ext uri="{FF2B5EF4-FFF2-40B4-BE49-F238E27FC236}">
                <a16:creationId xmlns:a16="http://schemas.microsoft.com/office/drawing/2014/main" id="{251AD09A-B3A1-438B-8A33-76B56A611475}"/>
              </a:ext>
            </a:extLst>
          </p:cNvPr>
          <p:cNvSpPr>
            <a:spLocks noGrp="1"/>
          </p:cNvSpPr>
          <p:nvPr/>
        </p:nvSpPr>
        <p:spPr>
          <a:xfrm>
            <a:off x="7950200" y="24098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FFD8CC"/>
          </a:solidFill>
          <a:ln w="0">
            <a:noFill/>
            <a:prstDash val="solid"/>
          </a:ln>
        </p:spPr>
      </p:sp>
      <p:sp>
        <p:nvSpPr>
          <p:cNvPr id="11" name="둥근 표 배경 2-1">
            <a:extLst>
              <a:ext uri="{FF2B5EF4-FFF2-40B4-BE49-F238E27FC236}">
                <a16:creationId xmlns:a16="http://schemas.microsoft.com/office/drawing/2014/main" id="{6F900EAA-11AE-4EDD-B7B3-140281342EA4}"/>
              </a:ext>
            </a:extLst>
          </p:cNvPr>
          <p:cNvSpPr>
            <a:spLocks noGrp="1"/>
          </p:cNvSpPr>
          <p:nvPr/>
        </p:nvSpPr>
        <p:spPr>
          <a:xfrm>
            <a:off x="838200" y="37433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EDF7FF"/>
          </a:solidFill>
          <a:ln w="0">
            <a:noFill/>
            <a:prstDash val="solid"/>
          </a:ln>
        </p:spPr>
      </p:sp>
      <p:sp>
        <p:nvSpPr>
          <p:cNvPr id="12" name="둥근 표 배경 2-2">
            <a:extLst>
              <a:ext uri="{FF2B5EF4-FFF2-40B4-BE49-F238E27FC236}">
                <a16:creationId xmlns:a16="http://schemas.microsoft.com/office/drawing/2014/main" id="{E25483D9-FAA6-4F77-B670-D7BCFDF686B3}"/>
              </a:ext>
            </a:extLst>
          </p:cNvPr>
          <p:cNvSpPr>
            <a:spLocks noGrp="1"/>
          </p:cNvSpPr>
          <p:nvPr/>
        </p:nvSpPr>
        <p:spPr>
          <a:xfrm>
            <a:off x="4394200" y="37433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F4F0FF"/>
          </a:solidFill>
          <a:ln w="0">
            <a:noFill/>
            <a:prstDash val="solid"/>
          </a:ln>
        </p:spPr>
      </p:sp>
      <p:sp>
        <p:nvSpPr>
          <p:cNvPr id="13" name="둥근 표 배경 2-3">
            <a:extLst>
              <a:ext uri="{FF2B5EF4-FFF2-40B4-BE49-F238E27FC236}">
                <a16:creationId xmlns:a16="http://schemas.microsoft.com/office/drawing/2014/main" id="{4EAAFB33-E8E4-4C20-BEFB-970EAE6AB544}"/>
              </a:ext>
            </a:extLst>
          </p:cNvPr>
          <p:cNvSpPr>
            <a:spLocks noGrp="1"/>
          </p:cNvSpPr>
          <p:nvPr/>
        </p:nvSpPr>
        <p:spPr>
          <a:xfrm>
            <a:off x="7950200" y="37433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FFF1EA"/>
          </a:solidFill>
          <a:ln w="0">
            <a:noFill/>
            <a:prstDash val="solid"/>
          </a:ln>
        </p:spPr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B8BCB9F-A97C-44C6-8002-F38B1B77E76B}"/>
              </a:ext>
            </a:extLst>
          </p:cNvPr>
          <p:cNvGraphicFramePr/>
          <p:nvPr/>
        </p:nvGraphicFramePr>
        <p:xfrm>
          <a:off x="762000" y="2333625"/>
          <a:ext cx="10668000" cy="2667000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0"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안전성</a:t>
                      </a: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유효성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 대상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위험이 수용</a:t>
                      </a:r>
                    </a:p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가능한가요?</a:t>
                      </a: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치료 효과의</a:t>
                      </a:r>
                    </a:p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근거가 있나요?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어떤 사람에게</a:t>
                      </a:r>
                    </a:p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사용하나요?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제목">
            <a:extLst>
              <a:ext uri="{FF2B5EF4-FFF2-40B4-BE49-F238E27FC236}">
                <a16:creationId xmlns:a16="http://schemas.microsoft.com/office/drawing/2014/main" id="{2E427B47-4DE2-4B83-A2D0-790A50EECB0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신의료기술평가가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87156DD-77C1-4DF3-B0F8-EBD37AE9A04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새로 나온 의료기술의 안전성과 효과를 나라에서 평가하는 제도예요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4FAF115A-5092-4959-B31E-F612716D175F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평가 결과와 허가 범위 등에 따라 적용 조건이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414D9EB-4104-4CDF-9BF1-12DF0FA2506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6" name="기준일">
            <a:extLst>
              <a:ext uri="{FF2B5EF4-FFF2-40B4-BE49-F238E27FC236}">
                <a16:creationId xmlns:a16="http://schemas.microsoft.com/office/drawing/2014/main" id="{6271260C-3E23-459E-97C7-8F5B57925EF7}"/>
              </a:ext>
            </a:extLst>
          </p:cNvPr>
          <p:cNvSpPr>
            <a:spLocks noGrp="1"/>
          </p:cNvSpPr>
          <p:nvPr/>
        </p:nvSpPr>
        <p:spPr>
          <a:xfrm>
            <a:off x="9620250" y="6553200"/>
            <a:ext cx="2019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2026.10 기준</a:t>
            </a:r>
          </a:p>
        </p:txBody>
      </p:sp>
      <p:sp>
        <p:nvSpPr>
          <p:cNvPr id="14" name="RAG_METADATA_PAGE_172" descr="{&quot;page&quot;: 172, &quot;text_data&quot;: &quot;신의료기술평가가 뭔가요?\n새로 나온 의료기술의 안전성과 효과를 나라에서 평가하는 제도예요\n평가 결과와 허가 범위 등에 따라 적용 조건이 달라요\n[핵심 설명] 새 기술이 개발돼요 / 안전성·효과를 평가해요 / 정해진 대상에 써요\n[표] 안전성: 위험이 수용 가능한가요? / 유효성: 치료 효과의 근거가 있나요? / 사용 대상: 어떤 사람에게 사용하나요?\n[기준] 2026.10&quot;, &quot;header1&quot;: &quot;의료제도·진료기준&quot;, &quot;header2&quot;: &quot;의료기술 평가&quot;, &quot;header3&quot;: &quot;신의료기술평가&quot;, &quot;keywords&quot;: [&quot;신의료기술&quot;, &quot;신의료기술평가&quot;, &quot;질병수술비&quot;, &quot;종수술비&quot;, &quot;수술의 정의&quot;]}">
            <a:extLst>
              <a:ext uri="{FF2B5EF4-FFF2-40B4-BE49-F238E27FC236}">
                <a16:creationId xmlns:a16="http://schemas.microsoft.com/office/drawing/2014/main" id="{B1FD0D83-32D4-48C4-89CD-BEDD484C5824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5143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172  헤더1: 의료제도·진료기준  헤더2: 의료기술 평가  헤더3: 신의료기술평가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신의료기술, 신의료기술평가, 질병수술비, 종수술비, 수술의 정의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신의료기술평가가 뭔가요? 새로 나온 의료기술의 안전성과 효과를 나라에서 평가하는 제도예요 평가 결과와 허가 범위 등에 따라 적용 조건이 달라요 [핵심 설명] 새 기술이 개발돼요 / 안전성·효과를 평가해요 / 정해진 대상에 써요 [표] 안전성: 위험이 수용 가능한가요? / 유효성: 치료 효과의 근거가 있나요? / 사용 대상: 어떤 사람에게 사용하나요? [기준] 2026.10</a:t>
            </a:r>
          </a:p>
        </p:txBody>
      </p:sp>
    </p:spTree>
    <p:extLst>
      <p:ext uri="{BB962C8B-B14F-4D97-AF65-F5344CB8AC3E}">
        <p14:creationId xmlns:p14="http://schemas.microsoft.com/office/powerpoint/2010/main" val="88749882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둥근 표 배경 1-1">
            <a:extLst>
              <a:ext uri="{FF2B5EF4-FFF2-40B4-BE49-F238E27FC236}">
                <a16:creationId xmlns:a16="http://schemas.microsoft.com/office/drawing/2014/main" id="{2807D512-8212-4F18-A004-FF7D1F98B2A4}"/>
              </a:ext>
            </a:extLst>
          </p:cNvPr>
          <p:cNvSpPr>
            <a:spLocks noGrp="1"/>
          </p:cNvSpPr>
          <p:nvPr/>
        </p:nvSpPr>
        <p:spPr>
          <a:xfrm>
            <a:off x="838200" y="2266950"/>
            <a:ext cx="5181600" cy="1323975"/>
          </a:xfrm>
          <a:prstGeom prst="roundRect">
            <a:avLst>
              <a:gd name="adj" fmla="val 12950"/>
            </a:avLst>
          </a:prstGeom>
          <a:solidFill>
            <a:srgbClr val="CDEBFF"/>
          </a:solidFill>
          <a:ln w="0">
            <a:noFill/>
            <a:prstDash val="solid"/>
          </a:ln>
        </p:spPr>
      </p:sp>
      <p:sp>
        <p:nvSpPr>
          <p:cNvPr id="8" name="둥근 표 배경 1-2">
            <a:extLst>
              <a:ext uri="{FF2B5EF4-FFF2-40B4-BE49-F238E27FC236}">
                <a16:creationId xmlns:a16="http://schemas.microsoft.com/office/drawing/2014/main" id="{E87D94D6-3BFD-4CC0-8B5B-BFC94B2E2EA2}"/>
              </a:ext>
            </a:extLst>
          </p:cNvPr>
          <p:cNvSpPr>
            <a:spLocks noGrp="1"/>
          </p:cNvSpPr>
          <p:nvPr/>
        </p:nvSpPr>
        <p:spPr>
          <a:xfrm>
            <a:off x="6172200" y="2266950"/>
            <a:ext cx="5181600" cy="1323975"/>
          </a:xfrm>
          <a:prstGeom prst="roundRect">
            <a:avLst>
              <a:gd name="adj" fmla="val 12950"/>
            </a:avLst>
          </a:prstGeom>
          <a:solidFill>
            <a:srgbClr val="DFD8FF"/>
          </a:solidFill>
          <a:ln w="0">
            <a:noFill/>
            <a:prstDash val="solid"/>
          </a:ln>
        </p:spPr>
      </p:sp>
      <p:sp>
        <p:nvSpPr>
          <p:cNvPr id="9" name="둥근 표 배경 2-1">
            <a:extLst>
              <a:ext uri="{FF2B5EF4-FFF2-40B4-BE49-F238E27FC236}">
                <a16:creationId xmlns:a16="http://schemas.microsoft.com/office/drawing/2014/main" id="{D5643168-D210-4921-84E0-1A33DEA97D8E}"/>
              </a:ext>
            </a:extLst>
          </p:cNvPr>
          <p:cNvSpPr>
            <a:spLocks noGrp="1"/>
          </p:cNvSpPr>
          <p:nvPr/>
        </p:nvSpPr>
        <p:spPr>
          <a:xfrm>
            <a:off x="838200" y="3743325"/>
            <a:ext cx="5181600" cy="1323975"/>
          </a:xfrm>
          <a:prstGeom prst="roundRect">
            <a:avLst>
              <a:gd name="adj" fmla="val 12950"/>
            </a:avLst>
          </a:prstGeom>
          <a:solidFill>
            <a:srgbClr val="EDF7FF"/>
          </a:solidFill>
          <a:ln w="0">
            <a:noFill/>
            <a:prstDash val="solid"/>
          </a:ln>
        </p:spPr>
      </p:sp>
      <p:sp>
        <p:nvSpPr>
          <p:cNvPr id="10" name="둥근 표 배경 2-2">
            <a:extLst>
              <a:ext uri="{FF2B5EF4-FFF2-40B4-BE49-F238E27FC236}">
                <a16:creationId xmlns:a16="http://schemas.microsoft.com/office/drawing/2014/main" id="{4EB75C40-FEA2-4DEA-B9BB-C19F57B32FA8}"/>
              </a:ext>
            </a:extLst>
          </p:cNvPr>
          <p:cNvSpPr>
            <a:spLocks noGrp="1"/>
          </p:cNvSpPr>
          <p:nvPr/>
        </p:nvSpPr>
        <p:spPr>
          <a:xfrm>
            <a:off x="6172200" y="3743325"/>
            <a:ext cx="5181600" cy="1323975"/>
          </a:xfrm>
          <a:prstGeom prst="roundRect">
            <a:avLst>
              <a:gd name="adj" fmla="val 12950"/>
            </a:avLst>
          </a:prstGeom>
          <a:solidFill>
            <a:srgbClr val="F4F0FF"/>
          </a:solidFill>
          <a:ln w="0">
            <a:noFill/>
            <a:prstDash val="solid"/>
          </a:ln>
        </p:spPr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17596E1-7B6E-4A03-83A8-03D41C5EC3F5}"/>
              </a:ext>
            </a:extLst>
          </p:cNvPr>
          <p:cNvGraphicFramePr/>
          <p:nvPr/>
        </p:nvGraphicFramePr>
        <p:xfrm>
          <a:off x="762000" y="2190750"/>
          <a:ext cx="10668000" cy="2952750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6375"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적응증</a:t>
                      </a: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금기증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63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치료의 목적과</a:t>
                      </a:r>
                    </a:p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대상에 맞는 경우</a:t>
                      </a: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때문에 피하거나</a:t>
                      </a:r>
                    </a:p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신중하게 고려하는 경우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제목">
            <a:extLst>
              <a:ext uri="{FF2B5EF4-FFF2-40B4-BE49-F238E27FC236}">
                <a16:creationId xmlns:a16="http://schemas.microsoft.com/office/drawing/2014/main" id="{2DD7249F-5379-4042-8416-3400BD7D55B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적응증과 금기증이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2432495-D5FE-44B9-9D2E-7974221630A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어떤 치료를 써도 되는 경우와 쓰면 안 되는 경우예요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C003585F-515D-4DE4-AC17-7372056B702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금기에는 절대·상대금기가 있어 의사가 치료 위험을 함께 살펴요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7CA9FA7-219D-47E3-8E7A-A0D58C6B40D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11" name="RAG_METADATA_PAGE_173" descr="{&quot;page&quot;: 173, &quot;text_data&quot;: &quot;적응증과 금기증이 뭔가요?\n어떤 치료를 써도 되는 경우와 쓰면 안 되는 경우예요\n금기에는 절대·상대금기가 있어 의사가 치료 위험을 함께 살펴요\n[핵심 설명] 적응증: 도움이 되는 경우 / 금기증: 쓰면 안 되는 경우 / 치료 전 의사가 확인\n[표] 적응증: 치료의 목적과 대상에 맞는 경우 / 금기증: 위험 때문에 피하거나 신중하게 고려하는 경우&quot;, &quot;header1&quot;: &quot;의료제도·진료기준&quot;, &quot;header2&quot;: &quot;치료 적용 기준&quot;, &quot;header3&quot;: &quot;적응증·금기증&quot;, &quot;keywords&quot;: [&quot;적응증&quot;, &quot;금기증&quot;, &quot;허가치료&quot;, &quot;치료대상&quot;]}">
            <a:extLst>
              <a:ext uri="{FF2B5EF4-FFF2-40B4-BE49-F238E27FC236}">
                <a16:creationId xmlns:a16="http://schemas.microsoft.com/office/drawing/2014/main" id="{CDD11A7B-8EF3-4AAE-B812-97F326A70898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173  헤더1: 의료제도·진료기준  헤더2: 치료 적용 기준  헤더3: 적응증·금기증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적응증, 금기증, 허가치료, 치료대상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적응증과 금기증이 뭔가요? 어떤 치료를 써도 되는 경우와 쓰면 안 되는 경우예요 금기에는 절대·상대금기가 있어 의사가 치료 위험을 함께 살펴요 [핵심 설명] 적응증: 도움이 되는 경우 / 금기증: 쓰면 안 되는 경우 / 치료 전 의사가 확인 [표] 적응증: 치료의 목적과 대상에 맞는 경우 / 금기증: 위험 때문에 피하거나 신중하게 고려하는 경우</a:t>
            </a:r>
          </a:p>
        </p:txBody>
      </p:sp>
    </p:spTree>
    <p:extLst>
      <p:ext uri="{BB962C8B-B14F-4D97-AF65-F5344CB8AC3E}">
        <p14:creationId xmlns:p14="http://schemas.microsoft.com/office/powerpoint/2010/main" val="25557773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둥근 표 배경 1-1">
            <a:extLst>
              <a:ext uri="{FF2B5EF4-FFF2-40B4-BE49-F238E27FC236}">
                <a16:creationId xmlns:a16="http://schemas.microsoft.com/office/drawing/2014/main" id="{F7CFB74C-AC08-4BC5-A77A-C7F0CEAF1253}"/>
              </a:ext>
            </a:extLst>
          </p:cNvPr>
          <p:cNvSpPr>
            <a:spLocks noGrp="1"/>
          </p:cNvSpPr>
          <p:nvPr/>
        </p:nvSpPr>
        <p:spPr>
          <a:xfrm>
            <a:off x="838200" y="24098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CDEBFF"/>
          </a:solidFill>
          <a:ln w="0">
            <a:noFill/>
            <a:prstDash val="solid"/>
          </a:ln>
        </p:spPr>
      </p:sp>
      <p:sp>
        <p:nvSpPr>
          <p:cNvPr id="9" name="둥근 표 배경 1-2">
            <a:extLst>
              <a:ext uri="{FF2B5EF4-FFF2-40B4-BE49-F238E27FC236}">
                <a16:creationId xmlns:a16="http://schemas.microsoft.com/office/drawing/2014/main" id="{357A2533-479F-4E3F-8CB8-B00D34FA0101}"/>
              </a:ext>
            </a:extLst>
          </p:cNvPr>
          <p:cNvSpPr>
            <a:spLocks noGrp="1"/>
          </p:cNvSpPr>
          <p:nvPr/>
        </p:nvSpPr>
        <p:spPr>
          <a:xfrm>
            <a:off x="4394200" y="24098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DFD8FF"/>
          </a:solidFill>
          <a:ln w="0">
            <a:noFill/>
            <a:prstDash val="solid"/>
          </a:ln>
        </p:spPr>
      </p:sp>
      <p:sp>
        <p:nvSpPr>
          <p:cNvPr id="10" name="둥근 표 배경 1-3">
            <a:extLst>
              <a:ext uri="{FF2B5EF4-FFF2-40B4-BE49-F238E27FC236}">
                <a16:creationId xmlns:a16="http://schemas.microsoft.com/office/drawing/2014/main" id="{0A81F15C-ABD2-454A-A5B8-9B904651199A}"/>
              </a:ext>
            </a:extLst>
          </p:cNvPr>
          <p:cNvSpPr>
            <a:spLocks noGrp="1"/>
          </p:cNvSpPr>
          <p:nvPr/>
        </p:nvSpPr>
        <p:spPr>
          <a:xfrm>
            <a:off x="7950200" y="24098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FFD8CC"/>
          </a:solidFill>
          <a:ln w="0">
            <a:noFill/>
            <a:prstDash val="solid"/>
          </a:ln>
        </p:spPr>
      </p:sp>
      <p:sp>
        <p:nvSpPr>
          <p:cNvPr id="11" name="둥근 표 배경 2-1">
            <a:extLst>
              <a:ext uri="{FF2B5EF4-FFF2-40B4-BE49-F238E27FC236}">
                <a16:creationId xmlns:a16="http://schemas.microsoft.com/office/drawing/2014/main" id="{2DF586CE-2CC2-4902-A97C-7CA6412FF77B}"/>
              </a:ext>
            </a:extLst>
          </p:cNvPr>
          <p:cNvSpPr>
            <a:spLocks noGrp="1"/>
          </p:cNvSpPr>
          <p:nvPr/>
        </p:nvSpPr>
        <p:spPr>
          <a:xfrm>
            <a:off x="838200" y="37433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EDF7FF"/>
          </a:solidFill>
          <a:ln w="0">
            <a:noFill/>
            <a:prstDash val="solid"/>
          </a:ln>
        </p:spPr>
      </p:sp>
      <p:sp>
        <p:nvSpPr>
          <p:cNvPr id="12" name="둥근 표 배경 2-2">
            <a:extLst>
              <a:ext uri="{FF2B5EF4-FFF2-40B4-BE49-F238E27FC236}">
                <a16:creationId xmlns:a16="http://schemas.microsoft.com/office/drawing/2014/main" id="{25129094-2EDB-4B43-81A7-CBC1F548D362}"/>
              </a:ext>
            </a:extLst>
          </p:cNvPr>
          <p:cNvSpPr>
            <a:spLocks noGrp="1"/>
          </p:cNvSpPr>
          <p:nvPr/>
        </p:nvSpPr>
        <p:spPr>
          <a:xfrm>
            <a:off x="4394200" y="37433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F4F0FF"/>
          </a:solidFill>
          <a:ln w="0">
            <a:noFill/>
            <a:prstDash val="solid"/>
          </a:ln>
        </p:spPr>
      </p:sp>
      <p:sp>
        <p:nvSpPr>
          <p:cNvPr id="13" name="둥근 표 배경 2-3">
            <a:extLst>
              <a:ext uri="{FF2B5EF4-FFF2-40B4-BE49-F238E27FC236}">
                <a16:creationId xmlns:a16="http://schemas.microsoft.com/office/drawing/2014/main" id="{998DC071-E3B1-4916-9C09-B5F1DD23EE17}"/>
              </a:ext>
            </a:extLst>
          </p:cNvPr>
          <p:cNvSpPr>
            <a:spLocks noGrp="1"/>
          </p:cNvSpPr>
          <p:nvPr/>
        </p:nvSpPr>
        <p:spPr>
          <a:xfrm>
            <a:off x="7950200" y="3743325"/>
            <a:ext cx="3403600" cy="1181100"/>
          </a:xfrm>
          <a:prstGeom prst="roundRect">
            <a:avLst>
              <a:gd name="adj" fmla="val 14516"/>
            </a:avLst>
          </a:prstGeom>
          <a:solidFill>
            <a:srgbClr val="FFF1EA"/>
          </a:solidFill>
          <a:ln w="0">
            <a:noFill/>
            <a:prstDash val="solid"/>
          </a:ln>
        </p:spPr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F7F7CAC-B670-417E-AD72-81538C2DD65C}"/>
              </a:ext>
            </a:extLst>
          </p:cNvPr>
          <p:cNvGraphicFramePr/>
          <p:nvPr/>
        </p:nvGraphicFramePr>
        <p:xfrm>
          <a:off x="762000" y="2333625"/>
          <a:ext cx="10668000" cy="2667000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0"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급여</a:t>
                      </a: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비급여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선별급여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건강보험 적용</a:t>
                      </a:r>
                    </a:p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보험과 본인이 부담</a:t>
                      </a: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건강보험 미적용</a:t>
                      </a:r>
                    </a:p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전액 본인부담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건강보험 적용</a:t>
                      </a:r>
                    </a:p>
                    <a:p>
                      <a:pPr algn="ctr"/>
                      <a:r>
                        <a:rPr sz="2175" b="0">
                          <a:solidFill>
                            <a:srgbClr val="2636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항목별 본인부담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제목">
            <a:extLst>
              <a:ext uri="{FF2B5EF4-FFF2-40B4-BE49-F238E27FC236}">
                <a16:creationId xmlns:a16="http://schemas.microsoft.com/office/drawing/2014/main" id="{E91016B4-F5AF-45DB-8B40-F3962A774C4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급여와 비급여가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11980ADE-A9E4-49BB-B123-C2864D1FB20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건강보험이 되는 진료와 안 되는 진료를 나누는 말이에요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7FE8B90D-3750-4D4F-ADF1-B92E3577E6A7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비급여는 병원마다 가격이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5B642DF-9BD8-4DC2-8762-CD20D6CCC378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6" name="기준일">
            <a:extLst>
              <a:ext uri="{FF2B5EF4-FFF2-40B4-BE49-F238E27FC236}">
                <a16:creationId xmlns:a16="http://schemas.microsoft.com/office/drawing/2014/main" id="{CA512800-CBC4-429C-BABB-9F48A2C088E6}"/>
              </a:ext>
            </a:extLst>
          </p:cNvPr>
          <p:cNvSpPr>
            <a:spLocks noGrp="1"/>
          </p:cNvSpPr>
          <p:nvPr/>
        </p:nvSpPr>
        <p:spPr>
          <a:xfrm>
            <a:off x="9620250" y="6553200"/>
            <a:ext cx="2019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2026.10 기준</a:t>
            </a:r>
          </a:p>
        </p:txBody>
      </p:sp>
      <p:sp>
        <p:nvSpPr>
          <p:cNvPr id="14" name="RAG_METADATA_PAGE_174" descr="{&quot;page&quot;: 174, &quot;text_data&quot;: &quot;급여와 비급여가 뭔가요?\n건강보험이 되는 진료와 안 되는 진료를 나누는 말이에요\n비급여는 병원마다 가격이 달라요\n[핵심 설명] 급여: 건강보험 적용 / 비급여: 전액 본인 부담 / 선별급여: 항목별 본인부담\n[표] 급여: 건강보험 적용 보험과 본인이 부담 / 비급여: 건강보험 미적용 전액 본인부담 / 선별급여: 건강보험 적용 항목별 본인부담\n[기준] 2026.10&quot;, &quot;header1&quot;: &quot;의료제도·진료기준&quot;, &quot;header2&quot;: &quot;건강보험&quot;, &quot;header3&quot;: &quot;급여·비급여·선별급여&quot;, &quot;keywords&quot;: [&quot;급여&quot;, &quot;비급여&quot;, &quot;선별급여&quot;, &quot;실손의료비&quot;, &quot;본인부담금&quot;, &quot;암통합치료비&quot;]}">
            <a:extLst>
              <a:ext uri="{FF2B5EF4-FFF2-40B4-BE49-F238E27FC236}">
                <a16:creationId xmlns:a16="http://schemas.microsoft.com/office/drawing/2014/main" id="{FFA15D5D-E832-479F-8981-16242C5A303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5143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174  헤더1: 의료제도·진료기준  헤더2: 건강보험  헤더3: 급여·비급여·선별급여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급여, 비급여, 선별급여, 실손의료비, 본인부담금, 암통합치료비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급여와 비급여가 뭔가요? 건강보험이 되는 진료와 안 되는 진료를 나누는 말이에요 비급여는 병원마다 가격이 달라요 [핵심 설명] 급여: 건강보험 적용 / 비급여: 전액 본인 부담 / 선별급여: 항목별 본인부담 [표] 급여: 건강보험 적용 보험과 본인이 부담 / 비급여: 건강보험 미적용 전액 본인부담 / 선별급여: 건강보험 적용 항목별 본인부담 [기준] 2026.10</a:t>
            </a:r>
          </a:p>
        </p:txBody>
      </p:sp>
    </p:spTree>
    <p:extLst>
      <p:ext uri="{BB962C8B-B14F-4D97-AF65-F5344CB8AC3E}">
        <p14:creationId xmlns:p14="http://schemas.microsoft.com/office/powerpoint/2010/main" val="82771432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">
            <a:extLst>
              <a:ext uri="{FF2B5EF4-FFF2-40B4-BE49-F238E27FC236}">
                <a16:creationId xmlns:a16="http://schemas.microsoft.com/office/drawing/2014/main" id="{444E2BC9-F3F3-4069-8A50-477F15DE377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 산정특례가 뭔가요?</a:t>
            </a:r>
          </a:p>
        </p:txBody>
      </p:sp>
      <p:sp>
        <p:nvSpPr>
          <p:cNvPr id="5" name="한 줄 설명">
            <a:extLst>
              <a:ext uri="{FF2B5EF4-FFF2-40B4-BE49-F238E27FC236}">
                <a16:creationId xmlns:a16="http://schemas.microsoft.com/office/drawing/2014/main" id="{CCA30319-14F7-4A31-85E6-8339C52E9CE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등록한 암 관련 급여 진료의 본인부담을 줄이는 제도예요</a:t>
            </a:r>
          </a:p>
        </p:txBody>
      </p:sp>
      <p:sp>
        <p:nvSpPr>
          <p:cNvPr id="6" name="알아둘 점">
            <a:extLst>
              <a:ext uri="{FF2B5EF4-FFF2-40B4-BE49-F238E27FC236}">
                <a16:creationId xmlns:a16="http://schemas.microsoft.com/office/drawing/2014/main" id="{62C87CD2-93FE-4BE0-AF0E-8D40242ACB17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비급여·선별급여·전액본인부담 등은 별도로 부담해요</a:t>
            </a:r>
          </a:p>
        </p:txBody>
      </p:sp>
      <p:sp>
        <p:nvSpPr>
          <p:cNvPr id="7" name="안내">
            <a:extLst>
              <a:ext uri="{FF2B5EF4-FFF2-40B4-BE49-F238E27FC236}">
                <a16:creationId xmlns:a16="http://schemas.microsoft.com/office/drawing/2014/main" id="{8991F792-3CB2-4B02-8D9A-E96BF4162BD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8" name="기준일">
            <a:extLst>
              <a:ext uri="{FF2B5EF4-FFF2-40B4-BE49-F238E27FC236}">
                <a16:creationId xmlns:a16="http://schemas.microsoft.com/office/drawing/2014/main" id="{7C2E4A11-6B7D-471D-9624-20E6E8EE8A59}"/>
              </a:ext>
            </a:extLst>
          </p:cNvPr>
          <p:cNvSpPr>
            <a:spLocks noGrp="1"/>
          </p:cNvSpPr>
          <p:nvPr/>
        </p:nvSpPr>
        <p:spPr>
          <a:xfrm>
            <a:off x="9620250" y="6553200"/>
            <a:ext cx="2019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2026.10 기준</a:t>
            </a:r>
          </a:p>
        </p:txBody>
      </p:sp>
      <p:sp>
        <p:nvSpPr>
          <p:cNvPr id="9" name="Covered treatment denominator"/>
          <p:cNvSpPr txBox="1"/>
          <p:nvPr/>
        </p:nvSpPr>
        <p:spPr>
          <a:xfrm>
            <a:off x="762000" y="1895475"/>
            <a:ext cx="106680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6364C"/>
                </a:solidFill>
                <a:latin typeface="Pretendard"/>
              </a:rPr>
              <a:t>산정특례 적용 대상 급여 진료비를 100으로 보면</a:t>
            </a:r>
          </a:p>
        </p:txBody>
      </p:sp>
      <p:sp>
        <p:nvSpPr>
          <p:cNvPr id="10" name="Cost tile 001 NHIS"/>
          <p:cNvSpPr/>
          <p:nvPr/>
        </p:nvSpPr>
        <p:spPr>
          <a:xfrm>
            <a:off x="7620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ost tile 002 NHIS"/>
          <p:cNvSpPr/>
          <p:nvPr/>
        </p:nvSpPr>
        <p:spPr>
          <a:xfrm>
            <a:off x="12192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st tile 003 NHIS"/>
          <p:cNvSpPr/>
          <p:nvPr/>
        </p:nvSpPr>
        <p:spPr>
          <a:xfrm>
            <a:off x="16764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ost tile 004 NHIS"/>
          <p:cNvSpPr/>
          <p:nvPr/>
        </p:nvSpPr>
        <p:spPr>
          <a:xfrm>
            <a:off x="21336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ost tile 005 NHIS"/>
          <p:cNvSpPr/>
          <p:nvPr/>
        </p:nvSpPr>
        <p:spPr>
          <a:xfrm>
            <a:off x="25908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ost tile 006 NHIS"/>
          <p:cNvSpPr/>
          <p:nvPr/>
        </p:nvSpPr>
        <p:spPr>
          <a:xfrm>
            <a:off x="30480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ost tile 007 NHIS"/>
          <p:cNvSpPr/>
          <p:nvPr/>
        </p:nvSpPr>
        <p:spPr>
          <a:xfrm>
            <a:off x="35052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ost tile 008 NHIS"/>
          <p:cNvSpPr/>
          <p:nvPr/>
        </p:nvSpPr>
        <p:spPr>
          <a:xfrm>
            <a:off x="39624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ost tile 009 NHIS"/>
          <p:cNvSpPr/>
          <p:nvPr/>
        </p:nvSpPr>
        <p:spPr>
          <a:xfrm>
            <a:off x="44196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ost tile 010 NHIS"/>
          <p:cNvSpPr/>
          <p:nvPr/>
        </p:nvSpPr>
        <p:spPr>
          <a:xfrm>
            <a:off x="48768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ost tile 011 NHIS"/>
          <p:cNvSpPr/>
          <p:nvPr/>
        </p:nvSpPr>
        <p:spPr>
          <a:xfrm>
            <a:off x="53340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st tile 012 NHIS"/>
          <p:cNvSpPr/>
          <p:nvPr/>
        </p:nvSpPr>
        <p:spPr>
          <a:xfrm>
            <a:off x="57912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ost tile 013 NHIS"/>
          <p:cNvSpPr/>
          <p:nvPr/>
        </p:nvSpPr>
        <p:spPr>
          <a:xfrm>
            <a:off x="62484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ost tile 014 NHIS"/>
          <p:cNvSpPr/>
          <p:nvPr/>
        </p:nvSpPr>
        <p:spPr>
          <a:xfrm>
            <a:off x="67056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ost tile 015 NHIS"/>
          <p:cNvSpPr/>
          <p:nvPr/>
        </p:nvSpPr>
        <p:spPr>
          <a:xfrm>
            <a:off x="71628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st tile 016 NHIS"/>
          <p:cNvSpPr/>
          <p:nvPr/>
        </p:nvSpPr>
        <p:spPr>
          <a:xfrm>
            <a:off x="76200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ost tile 017 NHIS"/>
          <p:cNvSpPr/>
          <p:nvPr/>
        </p:nvSpPr>
        <p:spPr>
          <a:xfrm>
            <a:off x="80772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ost tile 018 NHIS"/>
          <p:cNvSpPr/>
          <p:nvPr/>
        </p:nvSpPr>
        <p:spPr>
          <a:xfrm>
            <a:off x="85344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ost tile 019 NHIS"/>
          <p:cNvSpPr/>
          <p:nvPr/>
        </p:nvSpPr>
        <p:spPr>
          <a:xfrm>
            <a:off x="89916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ost tile 020 NHIS"/>
          <p:cNvSpPr/>
          <p:nvPr/>
        </p:nvSpPr>
        <p:spPr>
          <a:xfrm>
            <a:off x="9448800" y="25050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ost tile 021 NHIS"/>
          <p:cNvSpPr/>
          <p:nvPr/>
        </p:nvSpPr>
        <p:spPr>
          <a:xfrm>
            <a:off x="7620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ost tile 022 NHIS"/>
          <p:cNvSpPr/>
          <p:nvPr/>
        </p:nvSpPr>
        <p:spPr>
          <a:xfrm>
            <a:off x="12192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ost tile 023 NHIS"/>
          <p:cNvSpPr/>
          <p:nvPr/>
        </p:nvSpPr>
        <p:spPr>
          <a:xfrm>
            <a:off x="16764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ost tile 024 NHIS"/>
          <p:cNvSpPr/>
          <p:nvPr/>
        </p:nvSpPr>
        <p:spPr>
          <a:xfrm>
            <a:off x="21336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Cost tile 025 NHIS"/>
          <p:cNvSpPr/>
          <p:nvPr/>
        </p:nvSpPr>
        <p:spPr>
          <a:xfrm>
            <a:off x="25908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ost tile 026 NHIS"/>
          <p:cNvSpPr/>
          <p:nvPr/>
        </p:nvSpPr>
        <p:spPr>
          <a:xfrm>
            <a:off x="30480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ost tile 027 NHIS"/>
          <p:cNvSpPr/>
          <p:nvPr/>
        </p:nvSpPr>
        <p:spPr>
          <a:xfrm>
            <a:off x="35052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ost tile 028 NHIS"/>
          <p:cNvSpPr/>
          <p:nvPr/>
        </p:nvSpPr>
        <p:spPr>
          <a:xfrm>
            <a:off x="39624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Cost tile 029 NHIS"/>
          <p:cNvSpPr/>
          <p:nvPr/>
        </p:nvSpPr>
        <p:spPr>
          <a:xfrm>
            <a:off x="44196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ost tile 030 NHIS"/>
          <p:cNvSpPr/>
          <p:nvPr/>
        </p:nvSpPr>
        <p:spPr>
          <a:xfrm>
            <a:off x="48768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ost tile 031 NHIS"/>
          <p:cNvSpPr/>
          <p:nvPr/>
        </p:nvSpPr>
        <p:spPr>
          <a:xfrm>
            <a:off x="53340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ost tile 032 NHIS"/>
          <p:cNvSpPr/>
          <p:nvPr/>
        </p:nvSpPr>
        <p:spPr>
          <a:xfrm>
            <a:off x="57912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ost tile 033 NHIS"/>
          <p:cNvSpPr/>
          <p:nvPr/>
        </p:nvSpPr>
        <p:spPr>
          <a:xfrm>
            <a:off x="62484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Cost tile 034 NHIS"/>
          <p:cNvSpPr/>
          <p:nvPr/>
        </p:nvSpPr>
        <p:spPr>
          <a:xfrm>
            <a:off x="67056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Cost tile 035 NHIS"/>
          <p:cNvSpPr/>
          <p:nvPr/>
        </p:nvSpPr>
        <p:spPr>
          <a:xfrm>
            <a:off x="71628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ost tile 036 NHIS"/>
          <p:cNvSpPr/>
          <p:nvPr/>
        </p:nvSpPr>
        <p:spPr>
          <a:xfrm>
            <a:off x="76200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Cost tile 037 NHIS"/>
          <p:cNvSpPr/>
          <p:nvPr/>
        </p:nvSpPr>
        <p:spPr>
          <a:xfrm>
            <a:off x="80772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Cost tile 038 NHIS"/>
          <p:cNvSpPr/>
          <p:nvPr/>
        </p:nvSpPr>
        <p:spPr>
          <a:xfrm>
            <a:off x="85344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Cost tile 039 NHIS"/>
          <p:cNvSpPr/>
          <p:nvPr/>
        </p:nvSpPr>
        <p:spPr>
          <a:xfrm>
            <a:off x="89916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Cost tile 040 NHIS"/>
          <p:cNvSpPr/>
          <p:nvPr/>
        </p:nvSpPr>
        <p:spPr>
          <a:xfrm>
            <a:off x="9448800" y="29622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Cost tile 041 NHIS"/>
          <p:cNvSpPr/>
          <p:nvPr/>
        </p:nvSpPr>
        <p:spPr>
          <a:xfrm>
            <a:off x="7620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ost tile 042 NHIS"/>
          <p:cNvSpPr/>
          <p:nvPr/>
        </p:nvSpPr>
        <p:spPr>
          <a:xfrm>
            <a:off x="12192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ost tile 043 NHIS"/>
          <p:cNvSpPr/>
          <p:nvPr/>
        </p:nvSpPr>
        <p:spPr>
          <a:xfrm>
            <a:off x="16764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ost tile 044 NHIS"/>
          <p:cNvSpPr/>
          <p:nvPr/>
        </p:nvSpPr>
        <p:spPr>
          <a:xfrm>
            <a:off x="21336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ost tile 045 NHIS"/>
          <p:cNvSpPr/>
          <p:nvPr/>
        </p:nvSpPr>
        <p:spPr>
          <a:xfrm>
            <a:off x="25908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Cost tile 046 NHIS"/>
          <p:cNvSpPr/>
          <p:nvPr/>
        </p:nvSpPr>
        <p:spPr>
          <a:xfrm>
            <a:off x="30480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Cost tile 047 NHIS"/>
          <p:cNvSpPr/>
          <p:nvPr/>
        </p:nvSpPr>
        <p:spPr>
          <a:xfrm>
            <a:off x="35052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ost tile 048 NHIS"/>
          <p:cNvSpPr/>
          <p:nvPr/>
        </p:nvSpPr>
        <p:spPr>
          <a:xfrm>
            <a:off x="39624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Cost tile 049 NHIS"/>
          <p:cNvSpPr/>
          <p:nvPr/>
        </p:nvSpPr>
        <p:spPr>
          <a:xfrm>
            <a:off x="44196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Cost tile 050 NHIS"/>
          <p:cNvSpPr/>
          <p:nvPr/>
        </p:nvSpPr>
        <p:spPr>
          <a:xfrm>
            <a:off x="48768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Cost tile 051 NHIS"/>
          <p:cNvSpPr/>
          <p:nvPr/>
        </p:nvSpPr>
        <p:spPr>
          <a:xfrm>
            <a:off x="53340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Cost tile 052 NHIS"/>
          <p:cNvSpPr/>
          <p:nvPr/>
        </p:nvSpPr>
        <p:spPr>
          <a:xfrm>
            <a:off x="57912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ost tile 053 NHIS"/>
          <p:cNvSpPr/>
          <p:nvPr/>
        </p:nvSpPr>
        <p:spPr>
          <a:xfrm>
            <a:off x="62484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Cost tile 054 NHIS"/>
          <p:cNvSpPr/>
          <p:nvPr/>
        </p:nvSpPr>
        <p:spPr>
          <a:xfrm>
            <a:off x="67056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Cost tile 055 NHIS"/>
          <p:cNvSpPr/>
          <p:nvPr/>
        </p:nvSpPr>
        <p:spPr>
          <a:xfrm>
            <a:off x="71628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Cost tile 056 NHIS"/>
          <p:cNvSpPr/>
          <p:nvPr/>
        </p:nvSpPr>
        <p:spPr>
          <a:xfrm>
            <a:off x="76200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Cost tile 057 NHIS"/>
          <p:cNvSpPr/>
          <p:nvPr/>
        </p:nvSpPr>
        <p:spPr>
          <a:xfrm>
            <a:off x="80772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Cost tile 058 NHIS"/>
          <p:cNvSpPr/>
          <p:nvPr/>
        </p:nvSpPr>
        <p:spPr>
          <a:xfrm>
            <a:off x="85344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Cost tile 059 NHIS"/>
          <p:cNvSpPr/>
          <p:nvPr/>
        </p:nvSpPr>
        <p:spPr>
          <a:xfrm>
            <a:off x="89916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Cost tile 060 NHIS"/>
          <p:cNvSpPr/>
          <p:nvPr/>
        </p:nvSpPr>
        <p:spPr>
          <a:xfrm>
            <a:off x="9448800" y="34194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Cost tile 061 NHIS"/>
          <p:cNvSpPr/>
          <p:nvPr/>
        </p:nvSpPr>
        <p:spPr>
          <a:xfrm>
            <a:off x="7620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Cost tile 062 NHIS"/>
          <p:cNvSpPr/>
          <p:nvPr/>
        </p:nvSpPr>
        <p:spPr>
          <a:xfrm>
            <a:off x="12192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Cost tile 063 NHIS"/>
          <p:cNvSpPr/>
          <p:nvPr/>
        </p:nvSpPr>
        <p:spPr>
          <a:xfrm>
            <a:off x="16764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Cost tile 064 NHIS"/>
          <p:cNvSpPr/>
          <p:nvPr/>
        </p:nvSpPr>
        <p:spPr>
          <a:xfrm>
            <a:off x="21336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Cost tile 065 NHIS"/>
          <p:cNvSpPr/>
          <p:nvPr/>
        </p:nvSpPr>
        <p:spPr>
          <a:xfrm>
            <a:off x="25908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Cost tile 066 NHIS"/>
          <p:cNvSpPr/>
          <p:nvPr/>
        </p:nvSpPr>
        <p:spPr>
          <a:xfrm>
            <a:off x="30480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Cost tile 067 NHIS"/>
          <p:cNvSpPr/>
          <p:nvPr/>
        </p:nvSpPr>
        <p:spPr>
          <a:xfrm>
            <a:off x="35052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Cost tile 068 NHIS"/>
          <p:cNvSpPr/>
          <p:nvPr/>
        </p:nvSpPr>
        <p:spPr>
          <a:xfrm>
            <a:off x="39624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Cost tile 069 NHIS"/>
          <p:cNvSpPr/>
          <p:nvPr/>
        </p:nvSpPr>
        <p:spPr>
          <a:xfrm>
            <a:off x="44196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Cost tile 070 NHIS"/>
          <p:cNvSpPr/>
          <p:nvPr/>
        </p:nvSpPr>
        <p:spPr>
          <a:xfrm>
            <a:off x="48768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Cost tile 071 NHIS"/>
          <p:cNvSpPr/>
          <p:nvPr/>
        </p:nvSpPr>
        <p:spPr>
          <a:xfrm>
            <a:off x="53340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Cost tile 072 NHIS"/>
          <p:cNvSpPr/>
          <p:nvPr/>
        </p:nvSpPr>
        <p:spPr>
          <a:xfrm>
            <a:off x="57912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Cost tile 073 NHIS"/>
          <p:cNvSpPr/>
          <p:nvPr/>
        </p:nvSpPr>
        <p:spPr>
          <a:xfrm>
            <a:off x="62484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Cost tile 074 NHIS"/>
          <p:cNvSpPr/>
          <p:nvPr/>
        </p:nvSpPr>
        <p:spPr>
          <a:xfrm>
            <a:off x="67056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Cost tile 075 NHIS"/>
          <p:cNvSpPr/>
          <p:nvPr/>
        </p:nvSpPr>
        <p:spPr>
          <a:xfrm>
            <a:off x="71628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Cost tile 076 NHIS"/>
          <p:cNvSpPr/>
          <p:nvPr/>
        </p:nvSpPr>
        <p:spPr>
          <a:xfrm>
            <a:off x="76200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Cost tile 077 NHIS"/>
          <p:cNvSpPr/>
          <p:nvPr/>
        </p:nvSpPr>
        <p:spPr>
          <a:xfrm>
            <a:off x="80772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Cost tile 078 NHIS"/>
          <p:cNvSpPr/>
          <p:nvPr/>
        </p:nvSpPr>
        <p:spPr>
          <a:xfrm>
            <a:off x="85344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Cost tile 079 NHIS"/>
          <p:cNvSpPr/>
          <p:nvPr/>
        </p:nvSpPr>
        <p:spPr>
          <a:xfrm>
            <a:off x="89916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Cost tile 080 NHIS"/>
          <p:cNvSpPr/>
          <p:nvPr/>
        </p:nvSpPr>
        <p:spPr>
          <a:xfrm>
            <a:off x="9448800" y="38766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Cost tile 081 NHIS"/>
          <p:cNvSpPr/>
          <p:nvPr/>
        </p:nvSpPr>
        <p:spPr>
          <a:xfrm>
            <a:off x="7620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Cost tile 082 NHIS"/>
          <p:cNvSpPr/>
          <p:nvPr/>
        </p:nvSpPr>
        <p:spPr>
          <a:xfrm>
            <a:off x="12192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Cost tile 083 NHIS"/>
          <p:cNvSpPr/>
          <p:nvPr/>
        </p:nvSpPr>
        <p:spPr>
          <a:xfrm>
            <a:off x="16764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Cost tile 084 NHIS"/>
          <p:cNvSpPr/>
          <p:nvPr/>
        </p:nvSpPr>
        <p:spPr>
          <a:xfrm>
            <a:off x="21336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Cost tile 085 NHIS"/>
          <p:cNvSpPr/>
          <p:nvPr/>
        </p:nvSpPr>
        <p:spPr>
          <a:xfrm>
            <a:off x="25908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Cost tile 086 NHIS"/>
          <p:cNvSpPr/>
          <p:nvPr/>
        </p:nvSpPr>
        <p:spPr>
          <a:xfrm>
            <a:off x="30480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Cost tile 087 NHIS"/>
          <p:cNvSpPr/>
          <p:nvPr/>
        </p:nvSpPr>
        <p:spPr>
          <a:xfrm>
            <a:off x="35052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Cost tile 088 NHIS"/>
          <p:cNvSpPr/>
          <p:nvPr/>
        </p:nvSpPr>
        <p:spPr>
          <a:xfrm>
            <a:off x="39624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Cost tile 089 NHIS"/>
          <p:cNvSpPr/>
          <p:nvPr/>
        </p:nvSpPr>
        <p:spPr>
          <a:xfrm>
            <a:off x="44196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Cost tile 090 NHIS"/>
          <p:cNvSpPr/>
          <p:nvPr/>
        </p:nvSpPr>
        <p:spPr>
          <a:xfrm>
            <a:off x="48768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ost tile 091 NHIS"/>
          <p:cNvSpPr/>
          <p:nvPr/>
        </p:nvSpPr>
        <p:spPr>
          <a:xfrm>
            <a:off x="53340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ost tile 092 NHIS"/>
          <p:cNvSpPr/>
          <p:nvPr/>
        </p:nvSpPr>
        <p:spPr>
          <a:xfrm>
            <a:off x="57912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Cost tile 093 NHIS"/>
          <p:cNvSpPr/>
          <p:nvPr/>
        </p:nvSpPr>
        <p:spPr>
          <a:xfrm>
            <a:off x="62484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Cost tile 094 NHIS"/>
          <p:cNvSpPr/>
          <p:nvPr/>
        </p:nvSpPr>
        <p:spPr>
          <a:xfrm>
            <a:off x="67056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Cost tile 095 NHIS"/>
          <p:cNvSpPr/>
          <p:nvPr/>
        </p:nvSpPr>
        <p:spPr>
          <a:xfrm>
            <a:off x="7162800" y="4333875"/>
            <a:ext cx="381000" cy="381000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Cost tile 096 PATIENT"/>
          <p:cNvSpPr/>
          <p:nvPr/>
        </p:nvSpPr>
        <p:spPr>
          <a:xfrm>
            <a:off x="7620000" y="4333875"/>
            <a:ext cx="381000" cy="381000"/>
          </a:xfrm>
          <a:prstGeom prst="rect">
            <a:avLst/>
          </a:prstGeom>
          <a:solidFill>
            <a:srgbClr val="FF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Cost tile 097 PATIENT"/>
          <p:cNvSpPr/>
          <p:nvPr/>
        </p:nvSpPr>
        <p:spPr>
          <a:xfrm>
            <a:off x="8077200" y="4333875"/>
            <a:ext cx="381000" cy="381000"/>
          </a:xfrm>
          <a:prstGeom prst="rect">
            <a:avLst/>
          </a:prstGeom>
          <a:solidFill>
            <a:srgbClr val="FF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Cost tile 098 PATIENT"/>
          <p:cNvSpPr/>
          <p:nvPr/>
        </p:nvSpPr>
        <p:spPr>
          <a:xfrm>
            <a:off x="8534400" y="4333875"/>
            <a:ext cx="381000" cy="381000"/>
          </a:xfrm>
          <a:prstGeom prst="rect">
            <a:avLst/>
          </a:prstGeom>
          <a:solidFill>
            <a:srgbClr val="FF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Cost tile 099 PATIENT"/>
          <p:cNvSpPr/>
          <p:nvPr/>
        </p:nvSpPr>
        <p:spPr>
          <a:xfrm>
            <a:off x="8991600" y="4333875"/>
            <a:ext cx="381000" cy="381000"/>
          </a:xfrm>
          <a:prstGeom prst="rect">
            <a:avLst/>
          </a:prstGeom>
          <a:solidFill>
            <a:srgbClr val="FF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Cost tile 100 PATIENT"/>
          <p:cNvSpPr/>
          <p:nvPr/>
        </p:nvSpPr>
        <p:spPr>
          <a:xfrm>
            <a:off x="9448800" y="4333875"/>
            <a:ext cx="381000" cy="381000"/>
          </a:xfrm>
          <a:prstGeom prst="rect">
            <a:avLst/>
          </a:prstGeom>
          <a:solidFill>
            <a:srgbClr val="FF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Each tile"/>
          <p:cNvSpPr txBox="1"/>
          <p:nvPr/>
        </p:nvSpPr>
        <p:spPr>
          <a:xfrm>
            <a:off x="10144125" y="2943225"/>
            <a:ext cx="1285875" cy="952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6364C"/>
                </a:solidFill>
                <a:latin typeface="Pretendard"/>
              </a:rPr>
              <a:t>1칸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6364C"/>
                </a:solidFill>
                <a:latin typeface="Pretendard"/>
              </a:rPr>
              <a:t>= 1%</a:t>
            </a:r>
          </a:p>
        </p:txBody>
      </p:sp>
      <p:sp>
        <p:nvSpPr>
          <p:cNvPr id="111" name="NHIS legend background"/>
          <p:cNvSpPr/>
          <p:nvPr/>
        </p:nvSpPr>
        <p:spPr>
          <a:xfrm>
            <a:off x="762000" y="4943475"/>
            <a:ext cx="5143500" cy="676275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Patient legend background"/>
          <p:cNvSpPr/>
          <p:nvPr/>
        </p:nvSpPr>
        <p:spPr>
          <a:xfrm>
            <a:off x="6134100" y="4943475"/>
            <a:ext cx="5295900" cy="676275"/>
          </a:xfrm>
          <a:prstGeom prst="roundRect">
            <a:avLst>
              <a:gd name="adj" fmla="val 12000"/>
            </a:avLst>
          </a:prstGeom>
          <a:solidFill>
            <a:srgbClr val="FF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NHIS 95 percent"/>
          <p:cNvSpPr txBox="1"/>
          <p:nvPr/>
        </p:nvSpPr>
        <p:spPr>
          <a:xfrm>
            <a:off x="952500" y="5019675"/>
            <a:ext cx="13335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6364C"/>
                </a:solidFill>
                <a:latin typeface="Pretendard"/>
              </a:rPr>
              <a:t>95%</a:t>
            </a:r>
          </a:p>
        </p:txBody>
      </p:sp>
      <p:sp>
        <p:nvSpPr>
          <p:cNvPr id="114" name="NHIS label"/>
          <p:cNvSpPr txBox="1"/>
          <p:nvPr/>
        </p:nvSpPr>
        <p:spPr>
          <a:xfrm>
            <a:off x="2400300" y="5048250"/>
            <a:ext cx="31432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6364C"/>
                </a:solidFill>
                <a:latin typeface="Pretendard"/>
              </a:rPr>
              <a:t>공단 부담</a:t>
            </a:r>
          </a:p>
        </p:txBody>
      </p:sp>
      <p:sp>
        <p:nvSpPr>
          <p:cNvPr id="115" name="Patient 5 percent"/>
          <p:cNvSpPr txBox="1"/>
          <p:nvPr/>
        </p:nvSpPr>
        <p:spPr>
          <a:xfrm>
            <a:off x="6324600" y="5019675"/>
            <a:ext cx="104775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6364C"/>
                </a:solidFill>
                <a:latin typeface="Pretendard"/>
              </a:rPr>
              <a:t>5%</a:t>
            </a:r>
          </a:p>
        </p:txBody>
      </p:sp>
      <p:sp>
        <p:nvSpPr>
          <p:cNvPr id="116" name="Patient label"/>
          <p:cNvSpPr txBox="1"/>
          <p:nvPr/>
        </p:nvSpPr>
        <p:spPr>
          <a:xfrm>
            <a:off x="7562850" y="5048250"/>
            <a:ext cx="36195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6364C"/>
                </a:solidFill>
                <a:latin typeface="Pretendard"/>
              </a:rPr>
              <a:t>환자 본인부담</a:t>
            </a:r>
          </a:p>
        </p:txBody>
      </p:sp>
      <p:sp>
        <p:nvSpPr>
          <p:cNvPr id="117" name="Registration term"/>
          <p:cNvSpPr txBox="1"/>
          <p:nvPr/>
        </p:nvSpPr>
        <p:spPr>
          <a:xfrm>
            <a:off x="762000" y="5638800"/>
            <a:ext cx="1066800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279"/>
                </a:solidFill>
                <a:latin typeface="Pretendard"/>
              </a:rPr>
              <a:t>등록 후 통상 5년간 적용돼요</a:t>
            </a:r>
          </a:p>
        </p:txBody>
      </p:sp>
      <p:sp>
        <p:nvSpPr>
          <p:cNvPr id="118" name="RAG_METADATA_PAGE_175" descr="{&quot;page&quot;: 175, &quot;text_data&quot;: &quot;암 산정특례가 뭔가요?\n등록한 암 관련 급여 진료의 본인부담을 줄이는 제도예요.\n비급여·선별급여·전액본인부담 등은 별도로 부담해요.\n[핵심 설명] 적용 대상 급여 진료비를 100으로 보면 공단 부담 95%, 환자 본인부담 5%예요. 100개의 같은 크기 칸에서 1칸은 1%이고, 95칸과 5칸을 나눠 표시해요. 확진 뒤 등록을 신청하며 통상 5년간 적용돼요.\n[기준] 2026.10&quot;, &quot;header1&quot;: &quot;의료제도·진료기준&quot;, &quot;header2&quot;: &quot;건강보험&quot;, &quot;header3&quot;: &quot;암 산정특례&quot;, &quot;keywords&quot;: [&quot;산정특례&quot;, &quot;암통합치료비&quot;, &quot;암진단비&quot;, &quot;암주요치료비&quot;, &quot;본인부담금&quot;]}">
            <a:extLst>
              <a:ext uri="{FF2B5EF4-FFF2-40B4-BE49-F238E27FC236}">
                <a16:creationId xmlns:a16="http://schemas.microsoft.com/office/drawing/2014/main" id="{EA31653C-1D6C-4CB2-A1FE-FDB232D0749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5143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175  헤더1: 의료제도·진료기준  헤더2: 건강보험  헤더3: 암 산정특례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산정특례, 암통합치료비, 암진단비, 암주요치료비, 본인부담금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암 산정특례가 뭔가요? 등록한 암 관련 급여 진료의 본인부담을 줄이는 제도예요. 비급여·선별급여·전액본인부담 등은 별도로 부담해요. [핵심 설명] 적용 대상 급여 진료비를 100으로 보면 공단 부담 95%, 환자 본인부담 5%예요. 100개의 같은 크기 칸에서 1칸은 1%이고, 95칸과 5칸을 나눠 표시해요. 확진 뒤 등록을 신청하며 통상 5년간 적용돼요. [기준] 2026.10</a:t>
            </a:r>
          </a:p>
        </p:txBody>
      </p:sp>
    </p:spTree>
    <p:extLst>
      <p:ext uri="{BB962C8B-B14F-4D97-AF65-F5344CB8AC3E}">
        <p14:creationId xmlns:p14="http://schemas.microsoft.com/office/powerpoint/2010/main" val="438681416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2C8F15E-8D23-4FF1-8492-342BA816745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10C5E9B-21C4-44A8-9CE0-50C1E26298F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탈장 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18792D8A-6D70-419F-9D0E-50BD4B65042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배 벽의 약한 틈으로 나온 조직을 돌려놓고 틈을 보강해요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3CC0BF0-97A1-4CB6-A2A4-563047C42C8D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메시를 쓰는 경우가 많으며 위치·상태에 따라 방법을 선택해요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C4F44A5-B6A6-4CA1-9E51-811C856252A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76" descr="{&quot;page&quot;: 176, &quot;text_data&quot;: &quot;탈장 수술이 뭔가요?\n배 벽의 약한 틈으로 나온 조직을 돌려놓고 틈을 보강해요\n메시를 쓰는 경우가 많으며 위치·상태에 따라 방법을 선택해요\n[핵심 설명] 약한 배 벽 / 밀려 나온 장 / 틈을 보강해요&quot;, &quot;header1&quot;: &quot;장기별 수술·시술&quot;, &quot;header2&quot;: &quot;소화기&quot;, &quot;header3&quot;: &quot;탈장 수술&quot;, &quot;keywords&quot;: [&quot;탈장&quot;, &quot;탈장수술&quot;, &quot;질병수술비&quot;, &quot;종수술비&quot;]}">
            <a:extLst>
              <a:ext uri="{FF2B5EF4-FFF2-40B4-BE49-F238E27FC236}">
                <a16:creationId xmlns:a16="http://schemas.microsoft.com/office/drawing/2014/main" id="{C866325C-32D6-4D61-859D-8D2FC683D06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176  헤더1: 장기별 수술·시술  헤더2: 소화기  헤더3: 탈장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탈장, 탈장수술,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탈장 수술이 뭔가요? 배 벽의 약한 틈으로 나온 조직을 돌려놓고 틈을 보강해요 메시를 쓰는 경우가 많으며 위치·상태에 따라 방법을 선택해요 [핵심 설명] 약한 배 벽 / 밀려 나온 장 / 틈을 보강해요</a:t>
            </a:r>
          </a:p>
        </p:txBody>
      </p:sp>
    </p:spTree>
    <p:extLst>
      <p:ext uri="{BB962C8B-B14F-4D97-AF65-F5344CB8AC3E}">
        <p14:creationId xmlns:p14="http://schemas.microsoft.com/office/powerpoint/2010/main" val="57879630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83C9134-A606-4440-9225-3791DA048F6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E17E2CA-199C-4DB6-AD8E-8E57CAA4A78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치핵(치질) 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C36EE3D3-4763-4440-A267-0745FE7DE13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커진 치핵 조직을 묶거나 절제하는 등 상태에 맞게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2DE0C67-A925-4E0D-A90A-DE03E09E6EEB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고무밴드 결찰은 일부 내치핵에 쓰며 모든 치질에 같은 치료를 하지는 않아요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7D073A4-ED69-4088-8BEA-76F3D4029FD2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C4F49FEF-6EF6-4508-A9A0-BADEF24A63CA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치핵은 항문이나 직장 아래쪽의 혈관이 부풀고 늘어진 상태예요.</a:t>
            </a:r>
          </a:p>
        </p:txBody>
      </p:sp>
      <p:sp>
        <p:nvSpPr>
          <p:cNvPr id="8" name="RAG_METADATA_PAGE_177" descr="{&quot;page&quot;: 177, &quot;text_data&quot;: &quot;치핵(치질) 수술이 뭔가요?\n커진 치핵 조직을 묶거나 절제하는 등 상태에 맞게 치료해요\n고무밴드 결찰은 일부 내치핵에 쓰며 모든 치질에 같은 치료를 하지는 않아요\n치핵은 항문이나 직장 아래쪽의 혈관이 부풀고 늘어진 상태예요.\n[핵심 설명] 내치핵 / 고무밴드 결찰 / 상태에 맞는 절제&quot;, &quot;header1&quot;: &quot;장기별 수술·시술&quot;, &quot;header2&quot;: &quot;소화기&quot;, &quot;header3&quot;: &quot;치핵 수술&quot;, &quot;keywords&quot;: [&quot;치질&quot;, &quot;치핵&quot;, &quot;질병수술비&quot;, &quot;종수술비&quot;]}">
            <a:extLst>
              <a:ext uri="{FF2B5EF4-FFF2-40B4-BE49-F238E27FC236}">
                <a16:creationId xmlns:a16="http://schemas.microsoft.com/office/drawing/2014/main" id="{CE80A739-71F1-44C5-94B6-EFC9CA92092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177  헤더1: 장기별 수술·시술  헤더2: 소화기  헤더3: 치핵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치질, 치핵,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치핵(치질) 수술이 뭔가요? 커진 치핵 조직을 묶거나 절제하는 등 상태에 맞게 치료해요 고무밴드 결찰은 일부 내치핵에 쓰며 모든 치질에 같은 치료를 하지는 않아요 치핵은 항문이나 직장 아래쪽의 혈관이 부풀고 늘어진 상태예요. [핵심 설명] 내치핵 / 고무밴드 결찰 / 상태에 맞는 절제</a:t>
            </a:r>
          </a:p>
        </p:txBody>
      </p:sp>
    </p:spTree>
    <p:extLst>
      <p:ext uri="{BB962C8B-B14F-4D97-AF65-F5344CB8AC3E}">
        <p14:creationId xmlns:p14="http://schemas.microsoft.com/office/powerpoint/2010/main" val="153524218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52A5B9B-8790-4C25-B40B-46071C5D71B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F46C7C2-D498-4B94-A00F-8C3141128FE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편도 절제술이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EEE83A9-F5A1-4B18-9EB8-400661D5CEC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염증이나 숨길 막힘을 일으키는 편도를 제거하는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4B61567B-C70B-4C47-B8B3-8438C476DD5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수술 뒤 통증·출혈 위험이 있어 회복 과정의 관찰이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28BFE037-DD85-48DC-A6BA-D978772C3AB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78" descr="{&quot;page&quot;: 178, &quot;text_data&quot;: &quot;편도 절제술이 뭔가요?\n염증이나 숨길 막힘을 일으키는 편도를 제거하는 수술이에요\n수술 뒤 통증·출혈 위험이 있어 회복 과정의 관찰이 필요해요\n[핵심 설명] 목젖 / 양쪽 편도 / 편도 제거&quot;, &quot;header1&quot;: &quot;장기별 수술·시술&quot;, &quot;header2&quot;: &quot;이비인후과&quot;, &quot;header3&quot;: &quot;편도 절제술&quot;, &quot;keywords&quot;: [&quot;편도염&quot;, &quot;편도수술&quot;, &quot;질병수술비&quot;, &quot;종수술비&quot;]}">
            <a:extLst>
              <a:ext uri="{FF2B5EF4-FFF2-40B4-BE49-F238E27FC236}">
                <a16:creationId xmlns:a16="http://schemas.microsoft.com/office/drawing/2014/main" id="{02EEB60F-7BAC-4711-A9A7-4BCE25D7256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178  헤더1: 장기별 수술·시술  헤더2: 이비인후과  헤더3: 편도 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편도염, 편도수술,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편도 절제술이 뭔가요? 염증이나 숨길 막힘을 일으키는 편도를 제거하는 수술이에요 수술 뒤 통증·출혈 위험이 있어 회복 과정의 관찰이 필요해요 [핵심 설명] 목젖 / 양쪽 편도 / 편도 제거</a:t>
            </a:r>
          </a:p>
        </p:txBody>
      </p:sp>
    </p:spTree>
    <p:extLst>
      <p:ext uri="{BB962C8B-B14F-4D97-AF65-F5344CB8AC3E}">
        <p14:creationId xmlns:p14="http://schemas.microsoft.com/office/powerpoint/2010/main" val="82169640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EEFAF00-CC3D-4905-9301-158742C327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7D8CA83-34E0-4F00-88FF-D25A9E7AA3A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부비동 내시경 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CD81271F-A3F5-4E6E-8CD5-C643CE3696F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코 안 내시경으로 부비동의 배출 길을 넓혀요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7443AFC-53F4-4B21-96EC-65EA8696B515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점막을 관리하며 필요한 부위만 치료하고 수술 뒤 관리도 이어가요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9F12EDF4-98D1-417A-A1D6-2D177243497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79" descr="{&quot;page&quot;: 179, &quot;text_data&quot;: &quot;부비동 내시경 수술이 뭔가요?\n코 안 내시경으로 부비동의 배출 길을 넓혀요\n점막을 관리하며 필요한 부위만 치료하고 수술 뒤 관리도 이어가요\n[핵심 설명] 부비동 / 코로 들어간 내시경 / 배출 길을 넓혀요&quot;, &quot;header1&quot;: &quot;장기별 수술·시술&quot;, &quot;header2&quot;: &quot;이비인후과&quot;, &quot;header3&quot;: &quot;부비동 내시경 수술&quot;, &quot;keywords&quot;: [&quot;축농증&quot;, &quot;부비동염&quot;, &quot;내시경수술&quot;, &quot;질병수술비&quot;, &quot;종수술비&quot;]}">
            <a:extLst>
              <a:ext uri="{FF2B5EF4-FFF2-40B4-BE49-F238E27FC236}">
                <a16:creationId xmlns:a16="http://schemas.microsoft.com/office/drawing/2014/main" id="{2B44CAC3-3DFE-452D-A067-7C1229259D5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179  헤더1: 장기별 수술·시술  헤더2: 이비인후과  헤더3: 부비동 내시경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축농증, 부비동염, 내시경수술,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부비동 내시경 수술이 뭔가요? 코 안 내시경으로 부비동의 배출 길을 넓혀요 점막을 관리하며 필요한 부위만 치료하고 수술 뒤 관리도 이어가요 [핵심 설명] 부비동 / 코로 들어간 내시경 / 배출 길을 넓혀요</a:t>
            </a:r>
          </a:p>
        </p:txBody>
      </p:sp>
    </p:spTree>
    <p:extLst>
      <p:ext uri="{BB962C8B-B14F-4D97-AF65-F5344CB8AC3E}">
        <p14:creationId xmlns:p14="http://schemas.microsoft.com/office/powerpoint/2010/main" val="174327349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E011EEE-6ADE-44DF-9834-4917128E63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0103783-C06D-4C4A-BED6-053332AEA0C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중이 환기관 삽입술이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252AAA6E-1FAD-4EA8-B76A-B602CBACCE5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고막에 작은 관을 넣어 중이의 환기와 액체 배출을 도와요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85E40E9-A226-417E-A8C4-ABA8B9D81F37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관이 빠지거나 추가 관리가 필요할 수 있어 귀 상태를 확인해요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BC2ED48-2940-4447-9556-E85D09697FAF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80" descr="{&quot;page&quot;: 180, &quot;text_data&quot;: &quot;중이 환기관 삽입술이 뭔가요?\n고막에 작은 관을 넣어 중이의 환기와 액체 배출을 도와요\n관이 빠지거나 추가 관리가 필요할 수 있어 귀 상태를 확인해요\n[핵심 설명] 고막 / 작은 환기관 / 환기·액체 배출&quot;, &quot;header1&quot;: &quot;장기별 수술·시술&quot;, &quot;header2&quot;: &quot;이비인후과&quot;, &quot;header3&quot;: &quot;중이 환기관 삽입술&quot;, &quot;keywords&quot;: [&quot;중이염&quot;, &quot;고막튜브&quot;, &quot;질병수술비&quot;, &quot;종수술비&quot;]}">
            <a:extLst>
              <a:ext uri="{FF2B5EF4-FFF2-40B4-BE49-F238E27FC236}">
                <a16:creationId xmlns:a16="http://schemas.microsoft.com/office/drawing/2014/main" id="{678AEA8F-F8DA-4F83-AB7C-0CCA7DB7711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180  헤더1: 장기별 수술·시술  헤더2: 이비인후과  헤더3: 중이 환기관 삽입술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중이염, 고막튜브,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중이 환기관 삽입술이 뭔가요? 고막에 작은 관을 넣어 중이의 환기와 액체 배출을 도와요 관이 빠지거나 추가 관리가 필요할 수 있어 귀 상태를 확인해요 [핵심 설명] 고막 / 작은 환기관 / 환기·액체 배출</a:t>
            </a:r>
          </a:p>
        </p:txBody>
      </p:sp>
    </p:spTree>
    <p:extLst>
      <p:ext uri="{BB962C8B-B14F-4D97-AF65-F5344CB8AC3E}">
        <p14:creationId xmlns:p14="http://schemas.microsoft.com/office/powerpoint/2010/main" val="175237926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693ADC7-7369-4F31-A897-15BAB42E695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84DB73D-B7E9-4ED5-BED7-5EBF0EE0A29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고막 성형술이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0246FCE-5752-4710-8EEF-8466F70C988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구멍 난 고막을 조직으로 메우거나 재건하는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8CAD69D-C30C-4747-92AC-AEB584B436CD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청력과 중이 상태에 따라 다른 구조의 치료를 함께 하기도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3B44BE4-16C0-49C8-B6D6-E276096A6A8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6218829C-25AC-45EA-AF2A-CE2AB613E498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고막은 바깥 귀와 가운데 귀 사이에서 소리를 전달하는 얇은 막이에요.</a:t>
            </a:r>
          </a:p>
        </p:txBody>
      </p:sp>
      <p:sp>
        <p:nvSpPr>
          <p:cNvPr id="8" name="RAG_METADATA_PAGE_181" descr="{&quot;page&quot;: 181, &quot;text_data&quot;: &quot;고막 성형술이 뭔가요?\n구멍 난 고막을 조직으로 메우거나 재건하는 수술이에요\n청력과 중이 상태에 따라 다른 구조의 치료를 함께 하기도 해요\n고막은 바깥 귀와 가운데 귀 사이에서 소리를 전달하는 얇은 막이에요.\n[핵심 설명] 고막의 구멍 / 이식 조직 / 고막 재건&quot;, &quot;header1&quot;: &quot;장기별 수술·시술&quot;, &quot;header2&quot;: &quot;이비인후과&quot;, &quot;header3&quot;: &quot;고막 성형술&quot;, &quot;keywords&quot;: [&quot;고막천공&quot;, &quot;고막수술&quot;, &quot;질병수술비&quot;, &quot;종수술비&quot;]}">
            <a:extLst>
              <a:ext uri="{FF2B5EF4-FFF2-40B4-BE49-F238E27FC236}">
                <a16:creationId xmlns:a16="http://schemas.microsoft.com/office/drawing/2014/main" id="{D0D6010B-6621-4362-9079-F187BC56D1E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181  헤더1: 장기별 수술·시술  헤더2: 이비인후과  헤더3: 고막 성형술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고막천공, 고막수술,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고막 성형술이 뭔가요? 구멍 난 고막을 조직으로 메우거나 재건하는 수술이에요 청력과 중이 상태에 따라 다른 구조의 치료를 함께 하기도 해요 고막은 바깥 귀와 가운데 귀 사이에서 소리를 전달하는 얇은 막이에요. [핵심 설명] 고막의 구멍 / 이식 조직 / 고막 재건</a:t>
            </a:r>
          </a:p>
        </p:txBody>
      </p:sp>
    </p:spTree>
    <p:extLst>
      <p:ext uri="{BB962C8B-B14F-4D97-AF65-F5344CB8AC3E}">
        <p14:creationId xmlns:p14="http://schemas.microsoft.com/office/powerpoint/2010/main" val="164629756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F7DD3FB-901B-4802-9366-F644EFBC366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E2B9A9B-9217-4087-A23A-4F3A250794A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제왕절개가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A4EDC39-37C9-47B9-A9FA-370149804A4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배와 자궁을 열어 아기를 분만하는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518FD275-99D3-4EC5-A0F9-5B5A8EED50FB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산모와 아기의 상태를 보고 계획하거나 응급으로 시행해요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2AF3E9DB-0947-4CBA-B42E-411EFD9196B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82" descr="{&quot;page&quot;: 182, &quot;text_data&quot;: &quot;제왕절개가 뭔가요?\n배와 자궁을 열어 아기를 분만하는 수술이에요\n산모와 아기의 상태를 보고 계획하거나 응급으로 시행해요\n[핵심 설명] 배·자궁의 절개 / 자궁 안 아기 / 분만 수술&quot;, &quot;header1&quot;: &quot;장기별 수술·시술&quot;, &quot;header2&quot;: &quot;산부인과&quot;, &quot;header3&quot;: &quot;제왕절개&quot;, &quot;keywords&quot;: [&quot;제왕절개&quot;, &quot;임신&quot;, &quot;출산&quot;, &quot;분만&quot;]}">
            <a:extLst>
              <a:ext uri="{FF2B5EF4-FFF2-40B4-BE49-F238E27FC236}">
                <a16:creationId xmlns:a16="http://schemas.microsoft.com/office/drawing/2014/main" id="{B50FEA03-AF11-489E-9AA0-C5FE7279DE6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182  헤더1: 장기별 수술·시술  헤더2: 산부인과  헤더3: 제왕절개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제왕절개, 임신, 출산, 분만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제왕절개가 뭔가요? 배와 자궁을 열어 아기를 분만하는 수술이에요 산모와 아기의 상태를 보고 계획하거나 응급으로 시행해요 [핵심 설명] 배·자궁의 절개 / 자궁 안 아기 / 분만 수술</a:t>
            </a:r>
          </a:p>
        </p:txBody>
      </p:sp>
    </p:spTree>
    <p:extLst>
      <p:ext uri="{BB962C8B-B14F-4D97-AF65-F5344CB8AC3E}">
        <p14:creationId xmlns:p14="http://schemas.microsoft.com/office/powerpoint/2010/main" val="120028482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A17FB6F-4B77-49BD-A454-27755A33B94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EFE75982-BFC8-48DC-9013-E0ACD2EE09C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자궁 소파술이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4F804E4-0292-47C3-BA2D-0A1C12714E4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자궁 안의 조직을 흡인하거나 기구로 제거하는 처치예요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472D07AB-2728-4223-9889-83B4D231FD3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검사·잔여 조직 제거 등 목적에 따라 방법을 정해요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5CC9EFA-9F00-4503-8EC3-06E9B891365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83" descr="{&quot;page&quot;: 183, &quot;text_data&quot;: &quot;자궁 소파술이 뭔가요?\n자궁 안의 조직을 흡인하거나 기구로 제거하는 처치예요\n검사·잔여 조직 제거 등 목적에 따라 방법을 정해요\n[핵심 설명] 자궁 안 조직 / 자궁경부의 기구 / 조직 제거&quot;, &quot;header1&quot;: &quot;장기별 수술·시술&quot;, &quot;header2&quot;: &quot;산부인과&quot;, &quot;header3&quot;: &quot;자궁 소파술&quot;, &quot;keywords&quot;: [&quot;소파술&quot;, &quot;자궁내막&quot;, &quot;질병수술비&quot;, &quot;종수술비&quot;]}">
            <a:extLst>
              <a:ext uri="{FF2B5EF4-FFF2-40B4-BE49-F238E27FC236}">
                <a16:creationId xmlns:a16="http://schemas.microsoft.com/office/drawing/2014/main" id="{AF776EB5-7FC9-4F4D-B8BA-16D9091F82F7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183  헤더1: 장기별 수술·시술  헤더2: 산부인과  헤더3: 자궁 소파술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소파술, 자궁내막,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자궁 소파술이 뭔가요? 자궁 안의 조직을 흡인하거나 기구로 제거하는 처치예요 검사·잔여 조직 제거 등 목적에 따라 방법을 정해요 [핵심 설명] 자궁 안 조직 / 자궁경부의 기구 / 조직 제거</a:t>
            </a:r>
          </a:p>
        </p:txBody>
      </p:sp>
    </p:spTree>
    <p:extLst>
      <p:ext uri="{BB962C8B-B14F-4D97-AF65-F5344CB8AC3E}">
        <p14:creationId xmlns:p14="http://schemas.microsoft.com/office/powerpoint/2010/main" val="53122315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F7BA799-4D30-452D-95A5-8972754024D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239686B-007F-40D0-8B65-5C4E79FA12B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요실금 수술(요도 슬링)이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0434183-8D16-419E-932A-671CE510C95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요도 아래를 받쳐 복압성 요실금의 소변 새는 증상을 줄여요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2991F606-02EA-430B-8943-3A06BF4044E0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요도 슬링은 수술 방법 중 하나이며 다른 유형의 요실금 치료와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67E415A-A1FA-463D-925C-8567218B04F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84" descr="{&quot;page&quot;: 184, &quot;text_data&quot;: &quot;요실금 수술(요도 슬링)이 뭔가요?\n요도 아래를 받쳐 복압성 요실금의 소변 새는 증상을 줄여요\n요도 슬링은 수술 방법 중 하나이며 다른 유형의 요실금 치료와 달라요\n[핵심 설명] 방광 / 요도 아래 테이프 / 요도를 받쳐요&quot;, &quot;header1&quot;: &quot;장기별 수술·시술&quot;, &quot;header2&quot;: &quot;비뇨기&quot;, &quot;header3&quot;: &quot;요실금 수술·요도 슬링&quot;, &quot;keywords&quot;: [&quot;요실금&quot;, &quot;요실금수술&quot;, &quot;질병수술비&quot;, &quot;종수술비&quot;]}">
            <a:extLst>
              <a:ext uri="{FF2B5EF4-FFF2-40B4-BE49-F238E27FC236}">
                <a16:creationId xmlns:a16="http://schemas.microsoft.com/office/drawing/2014/main" id="{60C08F51-E380-4A84-9A00-F1BD3F83D80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184  헤더1: 장기별 수술·시술  헤더2: 비뇨기  헤더3: 요실금 수술·요도 슬링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요실금, 요실금수술,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요실금 수술(요도 슬링)이 뭔가요? 요도 아래를 받쳐 복압성 요실금의 소변 새는 증상을 줄여요 요도 슬링은 수술 방법 중 하나이며 다른 유형의 요실금 치료와 달라요 [핵심 설명] 방광 / 요도 아래 테이프 / 요도를 받쳐요</a:t>
            </a:r>
          </a:p>
        </p:txBody>
      </p:sp>
    </p:spTree>
    <p:extLst>
      <p:ext uri="{BB962C8B-B14F-4D97-AF65-F5344CB8AC3E}">
        <p14:creationId xmlns:p14="http://schemas.microsoft.com/office/powerpoint/2010/main" val="1181840444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C96C00A-EC3D-4259-AACD-6725DA2F8F9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EBA6A716-71F1-4F6A-B6BB-845023FCF92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갑상선 절제술이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74E6834-13BA-4E79-AE32-83A8D21322F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질환에 따라 갑상선 일부나 전체를 제거하는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4ECCFDB-B9FD-4B0E-8622-D17222E28531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수술 범위에 따라 호르몬 보충과 성대·칼슘 상태 확인 등이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858445E-118C-4446-9DDA-FEF7591A82B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E6447817-0404-4323-A177-E6542A1659C9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갑상선은 목 앞에서 몸의 대사를 조절하는 호르몬을 만드는 기관이에요.</a:t>
            </a:r>
          </a:p>
        </p:txBody>
      </p:sp>
      <p:sp>
        <p:nvSpPr>
          <p:cNvPr id="8" name="RAG_METADATA_PAGE_185" descr="{&quot;page&quot;: 185, &quot;text_data&quot;: &quot;갑상선 절제술이 뭔가요?\n질환에 따라 갑상선 일부나 전체를 제거하는 수술이에요\n수술 범위에 따라 호르몬 보충과 성대·칼슘 상태 확인 등이 필요해요\n갑상선은 목 앞에서 몸의 대사를 조절하는 호르몬을 만드는 기관이에요.\n[핵심 설명] 갑상선 / 부분 절제 / 전체 절제&quot;, &quot;header1&quot;: &quot;장기별 수술·시술&quot;, &quot;header2&quot;: &quot;갑상선·유방&quot;, &quot;header3&quot;: &quot;갑상선 절제술&quot;, &quot;keywords&quot;: [&quot;갑상선암&quot;, &quot;암통합치료비&quot;, &quot;유사암수술비&quot;, &quot;암수술비&quot;, &quot;종수술비&quot;]}">
            <a:extLst>
              <a:ext uri="{FF2B5EF4-FFF2-40B4-BE49-F238E27FC236}">
                <a16:creationId xmlns:a16="http://schemas.microsoft.com/office/drawing/2014/main" id="{84C1D8FE-E898-400B-BB77-363EB55C001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185  헤더1: 장기별 수술·시술  헤더2: 갑상선·유방  헤더3: 갑상선 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갑상선암, 암통합치료비, 유사암수술비, 암수술비,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갑상선 절제술이 뭔가요? 질환에 따라 갑상선 일부나 전체를 제거하는 수술이에요 수술 범위에 따라 호르몬 보충과 성대·칼슘 상태 확인 등이 필요해요 갑상선은 목 앞에서 몸의 대사를 조절하는 호르몬을 만드는 기관이에요. [핵심 설명] 갑상선 / 부분 절제 / 전체 절제</a:t>
            </a:r>
          </a:p>
        </p:txBody>
      </p:sp>
    </p:spTree>
    <p:extLst>
      <p:ext uri="{BB962C8B-B14F-4D97-AF65-F5344CB8AC3E}">
        <p14:creationId xmlns:p14="http://schemas.microsoft.com/office/powerpoint/2010/main" val="196787464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D39D8B5-2FC5-448B-B562-510E2C101B6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9045D86-8B5B-4FBD-958A-6D37A7DF5A1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유방 부분절제·전절제가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8559A05-0411-4C06-BA54-D84FA6D421E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암 주변 유방 조직만 또는 유방 전체를 제거하는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41C1BF7-0E2A-48FA-BB27-3D291B4D63CF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절제 범위와 재건·방사선 치료 등은 암의 상태에 맞춰 정해요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750F3F4-1373-4C2A-B440-13BF1649B16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86" descr="{&quot;page&quot;: 186, &quot;text_data&quot;: &quot;유방 부분절제·전절제가 뭔가요?\n암 주변 유방 조직만 또는 유방 전체를 제거하는 수술이에요\n절제 범위와 재건·방사선 치료 등은 암의 상태에 맞춰 정해요\n[핵심 설명] 암 주변 부분 절제 / 유방 전체 절제 / 범위를 정해요&quot;, &quot;header1&quot;: &quot;장기별 수술·시술&quot;, &quot;header2&quot;: &quot;갑상선·유방&quot;, &quot;header3&quot;: &quot;유방 부분절제·전절제&quot;, &quot;keywords&quot;: [&quot;유방암&quot;, &quot;암통합치료비&quot;, &quot;유방절제술&quot;, &quot;암수술비&quot;, &quot;종수술비&quot;]}">
            <a:extLst>
              <a:ext uri="{FF2B5EF4-FFF2-40B4-BE49-F238E27FC236}">
                <a16:creationId xmlns:a16="http://schemas.microsoft.com/office/drawing/2014/main" id="{56F828D2-A6AD-4527-B422-32E618BC9E8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186  헤더1: 장기별 수술·시술  헤더2: 갑상선·유방  헤더3: 유방 부분절제·전절제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유방암, 암통합치료비, 유방절제술, 암수술비,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유방 부분절제·전절제가 뭔가요? 암 주변 유방 조직만 또는 유방 전체를 제거하는 수술이에요 절제 범위와 재건·방사선 치료 등은 암의 상태에 맞춰 정해요 [핵심 설명] 암 주변 부분 절제 / 유방 전체 절제 / 범위를 정해요</a:t>
            </a:r>
          </a:p>
        </p:txBody>
      </p:sp>
    </p:spTree>
    <p:extLst>
      <p:ext uri="{BB962C8B-B14F-4D97-AF65-F5344CB8AC3E}">
        <p14:creationId xmlns:p14="http://schemas.microsoft.com/office/powerpoint/2010/main" val="124270104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BAF244A-6B25-429C-988D-67201514CEA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AB67347-7897-4D7B-956F-FC73258EEDE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위 절제술이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133DF47-301D-4A49-97F4-3534D4D2095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위의 일부나 전부를 제거하고 음식이 지나는 길을 다시 이어요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CC305B04-6328-4CEA-8136-F4C16A257A15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절제 범위·연결 방법에 따라 식사와 영양 관리가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8DDCB2E-ECF3-47BE-AE8B-36B9321EA712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87" descr="{&quot;page&quot;: 187, &quot;text_data&quot;: &quot;위 절제술이 뭔가요?\n위의 일부나 전부를 제거하고 음식이 지나는 길을 다시 이어요\n절제 범위·연결 방법에 따라 식사와 영양 관리가 달라요\n[핵심 설명] 위의 절제 범위 / 남은 위 / 장을 연결해요&quot;, &quot;header1&quot;: &quot;장기별 수술·시술&quot;, &quot;header2&quot;: &quot;소화기&quot;, &quot;header3&quot;: &quot;위 절제술&quot;, &quot;keywords&quot;: [&quot;위암&quot;, &quot;암통합치료비&quot;, &quot;위절제술&quot;, &quot;암수술비&quot;, &quot;종수술비&quot;]}">
            <a:extLst>
              <a:ext uri="{FF2B5EF4-FFF2-40B4-BE49-F238E27FC236}">
                <a16:creationId xmlns:a16="http://schemas.microsoft.com/office/drawing/2014/main" id="{68D9928A-EADD-4F87-92A5-92B45749FCE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187  헤더1: 장기별 수술·시술  헤더2: 소화기  헤더3: 위 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위암, 암통합치료비, 위절제술, 암수술비,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위 절제술이 뭔가요? 위의 일부나 전부를 제거하고 음식이 지나는 길을 다시 이어요 절제 범위·연결 방법에 따라 식사와 영양 관리가 달라요 [핵심 설명] 위의 절제 범위 / 남은 위 / 장을 연결해요</a:t>
            </a:r>
          </a:p>
        </p:txBody>
      </p:sp>
    </p:spTree>
    <p:extLst>
      <p:ext uri="{BB962C8B-B14F-4D97-AF65-F5344CB8AC3E}">
        <p14:creationId xmlns:p14="http://schemas.microsoft.com/office/powerpoint/2010/main" val="793738271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D566A83-9CED-40CF-B8FB-CB74C4FAF17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8B690E10-0F87-40B6-8DAF-4DF14D8F087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장루가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8A083CBB-8E4C-4931-9841-8E8CACCBB55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장 일부를 배의 피부로 내어 배설물이 주머니로 나오게 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81F2717-1F96-4674-9851-1CA61FA965C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소장·대장 장루가 있고 일시적이거나 계속 유지하는 경우가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8E07726-DB3C-4594-BD8F-7366AB860E7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88" descr="{&quot;page&quot;: 188, &quot;text_data&quot;: &quot;장루가 뭔가요?\n장 일부를 배의 피부로 내어 배설물이 주머니로 나오게 해요\n소장·대장 장루가 있고 일시적이거나 계속 유지하는 경우가 있어요\n[핵심 설명] 복부에 부착한 장루 주머니 / 피부 보호판 / 배설물 수집&quot;, &quot;header1&quot;: &quot;장기별 수술·시술&quot;, &quot;header2&quot;: &quot;소화기&quot;, &quot;header3&quot;: &quot;장루&quot;, &quot;keywords&quot;: [&quot;장루&quot;, &quot;인공항문&quot;, &quot;대장암&quot;, &quot;암통합치료비&quot;, &quot;암수술비&quot;, &quot;종수술비&quot;]}">
            <a:extLst>
              <a:ext uri="{FF2B5EF4-FFF2-40B4-BE49-F238E27FC236}">
                <a16:creationId xmlns:a16="http://schemas.microsoft.com/office/drawing/2014/main" id="{B7BE9F05-243C-4D9C-B1C3-6CE2F96DA44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188  헤더1: 장기별 수술·시술  헤더2: 소화기  헤더3: 장루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장루, 인공항문, 대장암, 암통합치료비, 암수술비,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장루가 뭔가요? 장 일부를 배의 피부로 내어 배설물이 주머니로 나오게 해요 소장·대장 장루가 있고 일시적이거나 계속 유지하는 경우가 있어요 [핵심 설명] 복부에 부착한 장루 주머니 / 피부 보호판 / 배설물 수집</a:t>
            </a:r>
          </a:p>
        </p:txBody>
      </p:sp>
    </p:spTree>
    <p:extLst>
      <p:ext uri="{BB962C8B-B14F-4D97-AF65-F5344CB8AC3E}">
        <p14:creationId xmlns:p14="http://schemas.microsoft.com/office/powerpoint/2010/main" val="183651892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9B911C7-C1C7-4ABF-A4F7-6A5785EEF2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042D83A-F6ED-4D4A-8A87-ADA6111EAAE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망막박리 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432A7B4-52A3-4F30-A5DD-D78CC85DA8B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떨어진 망막을 다시 붙이고 원인이 된 틈 등을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11A617E-36B7-4E84-884B-D3078A58F05E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박리 형태에 따라 유리체 수술·가스·공막 치료 등을 선택해요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C2AE519-F8D5-4A8F-9862-3F71F004AB6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58CECC8A-5736-4398-A76E-A09B29028882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망막이 안쪽 벽에서 떨어지면 빛의 신호를 전달하는 데 문제가 생겨요.</a:t>
            </a:r>
          </a:p>
        </p:txBody>
      </p:sp>
      <p:sp>
        <p:nvSpPr>
          <p:cNvPr id="8" name="RAG_METADATA_PAGE_189" descr="{&quot;page&quot;: 189, &quot;text_data&quot;: &quot;망막박리 수술이 뭔가요?\n떨어진 망막을 다시 붙이고 원인이 된 틈 등을 치료해요\n박리 형태에 따라 유리체 수술·가스·공막 치료 등을 선택해요\n망막이 안쪽 벽에서 떨어지면 빛의 신호를 전달하는 데 문제가 생겨요.\n[핵심 설명] 떨어진 망막 / 원인 부위 치료 / 망막을 붙여요&quot;, &quot;header1&quot;: &quot;장기별 수술·시술&quot;, &quot;header2&quot;: &quot;안과&quot;, &quot;header3&quot;: &quot;망막박리 수술&quot;, &quot;keywords&quot;: [&quot;망막박리&quot;, &quot;망막수술&quot;, &quot;질병수술비&quot;, &quot;종수술비&quot;]}">
            <a:extLst>
              <a:ext uri="{FF2B5EF4-FFF2-40B4-BE49-F238E27FC236}">
                <a16:creationId xmlns:a16="http://schemas.microsoft.com/office/drawing/2014/main" id="{4485F34A-F8A6-48CC-9079-2B26473A3752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189  헤더1: 장기별 수술·시술  헤더2: 안과  헤더3: 망막박리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망막박리, 망막수술,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망막박리 수술이 뭔가요? 떨어진 망막을 다시 붙이고 원인이 된 틈 등을 치료해요 박리 형태에 따라 유리체 수술·가스·공막 치료 등을 선택해요 망막이 안쪽 벽에서 떨어지면 빛의 신호를 전달하는 데 문제가 생겨요. [핵심 설명] 떨어진 망막 / 원인 부위 치료 / 망막을 붙여요</a:t>
            </a:r>
          </a:p>
        </p:txBody>
      </p:sp>
    </p:spTree>
    <p:extLst>
      <p:ext uri="{BB962C8B-B14F-4D97-AF65-F5344CB8AC3E}">
        <p14:creationId xmlns:p14="http://schemas.microsoft.com/office/powerpoint/2010/main" val="1883176547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88C1761-F1CC-4FB5-B8BE-C54CD5E7D03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3938B63-5C05-4F89-B215-05739883740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유리체 절제술이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1F7AD32B-D3FF-46A5-90D8-A73F429E7C2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눈 속 유리체를 제거하며 망막 등 필요한 부위를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E51A84DB-45BF-4832-B4C7-55EF2D4AF5E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흐림 제거뿐 아니라 망막박리·출혈 등의 치료에도 사용해요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0591F1C-D03C-435F-B5C4-4AE79A51EBB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90" descr="{&quot;page&quot;: 190, &quot;text_data&quot;: &quot;유리체 절제술이 뭔가요?\n눈 속 유리체를 제거하며 망막 등 필요한 부위를 치료해요\n흐림 제거뿐 아니라 망막박리·출혈 등의 치료에도 사용해요\n[핵심 설명] 흰자위의 작은 통로 / 유리체 제거 / 필요한 망막 치료&quot;, &quot;header1&quot;: &quot;장기별 수술·시술&quot;, &quot;header2&quot;: &quot;안과&quot;, &quot;header3&quot;: &quot;유리체 절제술&quot;, &quot;keywords&quot;: [&quot;유리체출혈&quot;, &quot;망막박리&quot;, &quot;당뇨망막병증&quot;, &quot;질병수술비&quot;, &quot;종수술비&quot;]}">
            <a:extLst>
              <a:ext uri="{FF2B5EF4-FFF2-40B4-BE49-F238E27FC236}">
                <a16:creationId xmlns:a16="http://schemas.microsoft.com/office/drawing/2014/main" id="{D1A0DFA8-A654-475D-8815-CAD2E8EC108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190  헤더1: 장기별 수술·시술  헤더2: 안과  헤더3: 유리체 절제술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유리체출혈, 망막박리, 당뇨망막병증,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유리체 절제술이 뭔가요? 눈 속 유리체를 제거하며 망막 등 필요한 부위를 치료해요 흐림 제거뿐 아니라 망막박리·출혈 등의 치료에도 사용해요 [핵심 설명] 흰자위의 작은 통로 / 유리체 제거 / 필요한 망막 치료</a:t>
            </a:r>
          </a:p>
        </p:txBody>
      </p:sp>
    </p:spTree>
    <p:extLst>
      <p:ext uri="{BB962C8B-B14F-4D97-AF65-F5344CB8AC3E}">
        <p14:creationId xmlns:p14="http://schemas.microsoft.com/office/powerpoint/2010/main" val="307438366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74B7C48-F031-4D52-B257-65D0C9503A2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3952205-C6EF-4BA3-9CFA-50D4BC28775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녹내장 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3B3F21B-1FE7-4B09-9C76-63651DDBFBF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눈 속 방수가 빠지는 길을 도와 안압을 낮추는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305ADF6-FF65-4CB4-B132-39A955EDC80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이미 생긴 시신경 손상을 되돌리기보다 추가 손상을 줄이는 목적이에요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2768E62A-AB0C-4CBC-BC40-290CF031312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91" descr="{&quot;page&quot;: 191, &quot;text_data&quot;: &quot;녹내장 수술이 뭔가요?\n눈 속 방수가 빠지는 길을 도와 안압을 낮추는 수술이에요\n이미 생긴 시신경 손상을 되돌리기보다 추가 손상을 줄이는 목적이에요\n[핵심 설명] 눈 속 방수 / 새 배출 통로 / 안압을 낮춰요&quot;, &quot;header1&quot;: &quot;장기별 수술·시술&quot;, &quot;header2&quot;: &quot;안과&quot;, &quot;header3&quot;: &quot;녹내장 수술&quot;, &quot;keywords&quot;: [&quot;녹내장&quot;, &quot;안압&quot;, &quot;질병수술비&quot;, &quot;종수술비&quot;]}">
            <a:extLst>
              <a:ext uri="{FF2B5EF4-FFF2-40B4-BE49-F238E27FC236}">
                <a16:creationId xmlns:a16="http://schemas.microsoft.com/office/drawing/2014/main" id="{392F24E4-587C-4D08-84AC-12F48AF3372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191  헤더1: 장기별 수술·시술  헤더2: 안과  헤더3: 녹내장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녹내장, 안압,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녹내장 수술이 뭔가요? 눈 속 방수가 빠지는 길을 도와 안압을 낮추는 수술이에요 이미 생긴 시신경 손상을 되돌리기보다 추가 손상을 줄이는 목적이에요 [핵심 설명] 눈 속 방수 / 새 배출 통로 / 안압을 낮춰요</a:t>
            </a:r>
          </a:p>
        </p:txBody>
      </p:sp>
    </p:spTree>
    <p:extLst>
      <p:ext uri="{BB962C8B-B14F-4D97-AF65-F5344CB8AC3E}">
        <p14:creationId xmlns:p14="http://schemas.microsoft.com/office/powerpoint/2010/main" val="1009552060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2638528-B5A5-4F3D-B7D7-0AEEE99A92C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3A12186-80FA-4508-9769-188369D2FF0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각막 이식이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8E1DAEA-F7F7-40D8-84AD-F7803349ED2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손상되거나 흐린 각막의 일부 또는 전체 층을 바꾸는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A2475B55-79D6-453A-BC89-3723F6C497D6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질환에 맞춰 이식할 층과 방법을 정하며 이후 관리가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9A95989-7208-476B-8071-7BF179ADC84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6C90DE7E-1DC7-4E9B-A056-91B88BB88E86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각막은 눈의 맨 앞에서 빛을 통과시키는 투명한 막이에요.</a:t>
            </a:r>
          </a:p>
        </p:txBody>
      </p:sp>
      <p:sp>
        <p:nvSpPr>
          <p:cNvPr id="8" name="RAG_METADATA_PAGE_192" descr="{&quot;page&quot;: 192, &quot;text_data&quot;: &quot;각막 이식이 뭔가요?\n손상되거나 흐린 각막의 일부 또는 전체 층을 바꾸는 수술이에요\n질환에 맞춰 이식할 층과 방법을 정하며 이후 관리가 필요해요\n각막은 눈의 맨 앞에서 빛을 통과시키는 투명한 막이에요.\n[핵심 설명] 손상된 각막 / 기증 각막 / 필요한 층 이식&quot;, &quot;header1&quot;: &quot;장기별 수술·시술&quot;, &quot;header2&quot;: &quot;안과&quot;, &quot;header3&quot;: &quot;각막 이식&quot;, &quot;keywords&quot;: [&quot;각막이식&quot;, &quot;각막이식수술비&quot;, &quot;질병수술비&quot;, &quot;종수술비&quot;]}">
            <a:extLst>
              <a:ext uri="{FF2B5EF4-FFF2-40B4-BE49-F238E27FC236}">
                <a16:creationId xmlns:a16="http://schemas.microsoft.com/office/drawing/2014/main" id="{39C30C75-E6FD-48BD-8356-D4787DB67870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192  헤더1: 장기별 수술·시술  헤더2: 안과  헤더3: 각막 이식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각막이식, 각막이식수술비,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각막 이식이 뭔가요? 손상되거나 흐린 각막의 일부 또는 전체 층을 바꾸는 수술이에요 질환에 맞춰 이식할 층과 방법을 정하며 이후 관리가 필요해요 각막은 눈의 맨 앞에서 빛을 통과시키는 투명한 막이에요. [핵심 설명] 손상된 각막 / 기증 각막 / 필요한 층 이식</a:t>
            </a:r>
          </a:p>
        </p:txBody>
      </p:sp>
    </p:spTree>
    <p:extLst>
      <p:ext uri="{BB962C8B-B14F-4D97-AF65-F5344CB8AC3E}">
        <p14:creationId xmlns:p14="http://schemas.microsoft.com/office/powerpoint/2010/main" val="33184575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9A9B606-4768-4210-B32D-8080111C851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7C158C8-C597-4357-BB66-1C8DB9F0FE9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절단 부위 재접합술이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A036CFD-9BC7-4C36-B459-E2A89C13C2A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절단된 부위의 뼈·힘줄·혈관·신경 등을 다시 잇는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7BA66044-1EF1-4905-94BF-17DB7A2B0C2F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손상 정도와 시간 등에 따라 가능 여부·회복 범위가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8CD8344-1BBE-4B84-B5ED-289E48E0A0A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93" descr="{&quot;page&quot;: 193, &quot;text_data&quot;: &quot;절단 부위 재접합술이 뭔가요?\n절단된 부위의 뼈·힘줄·혈관·신경 등을 다시 잇는 수술이에요\n손상 정도와 시간 등에 따라 가능 여부·회복 범위가 달라요\n[핵심 설명] 뼈·힘줄 연결 / 혈관 연결 / 신경 연결&quot;, &quot;header1&quot;: &quot;장기별 수술·시술&quot;, &quot;header2&quot;: &quot;재건·이식&quot;, &quot;header3&quot;: &quot;절단 부위 재접합술&quot;, &quot;keywords&quot;: [&quot;접합수술&quot;, &quot;손가락절단&quot;, &quot;상해수술비&quot;, &quot;종수술비&quot;, &quot;상해통합치료비&quot;]}">
            <a:extLst>
              <a:ext uri="{FF2B5EF4-FFF2-40B4-BE49-F238E27FC236}">
                <a16:creationId xmlns:a16="http://schemas.microsoft.com/office/drawing/2014/main" id="{909F625C-D02B-4F08-BC2F-8D1AA040ED2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193  헤더1: 장기별 수술·시술  헤더2: 재건·이식  헤더3: 절단 부위 재접합술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접합수술, 손가락절단, 상해수술비, 종수술비, 상해통합치료비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절단 부위 재접합술이 뭔가요? 절단된 부위의 뼈·힘줄·혈관·신경 등을 다시 잇는 수술이에요 손상 정도와 시간 등에 따라 가능 여부·회복 범위가 달라요 [핵심 설명] 뼈·힘줄 연결 / 혈관 연결 / 신경 연결</a:t>
            </a:r>
          </a:p>
        </p:txBody>
      </p:sp>
    </p:spTree>
    <p:extLst>
      <p:ext uri="{BB962C8B-B14F-4D97-AF65-F5344CB8AC3E}">
        <p14:creationId xmlns:p14="http://schemas.microsoft.com/office/powerpoint/2010/main" val="183336000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F6E1D2C-41C7-4DD5-A63B-4270C790AF3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6800" y="934954"/>
            <a:ext cx="10058400" cy="5654842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005E3C0D-9922-4D8B-9D55-95E17FCB14D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신장 이식이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E261757-99F7-4787-A990-436526614D9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기증받은 신장을 골반 쪽에 심어 혈관과 방광에 연결해요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8297B9FD-0BD9-43B3-AA98-265D4E3AF71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원래 신장은 대개 그대로 두며 이식 뒤 거부반응 예방 관리가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FF0F0F4-0087-4E0E-8E01-478DBB593C3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94" descr="{&quot;page&quot;: 194, &quot;text_data&quot;: &quot;신장 이식이 뭔가요?\n기증받은 신장을 골반 쪽에 심어 혈관과 방광에 연결해요\n원래 신장은 대개 그대로 두며 이식 뒤 거부반응 예방 관리가 필요해요\n[핵심 설명] 원래 신장 / 골반 쪽 새 신장 / 혈관·방광 연결&quot;, &quot;header1&quot;: &quot;장기별 수술·시술&quot;, &quot;header2&quot;: &quot;재건·이식&quot;, &quot;header3&quot;: &quot;신장 이식&quot;, &quot;keywords&quot;: [&quot;신장이식&quot;, &quot;만성신부전&quot;, &quot;5대장기이식수술비&quot;, &quot;질병수술비&quot;, &quot;종수술비&quot;]}">
            <a:extLst>
              <a:ext uri="{FF2B5EF4-FFF2-40B4-BE49-F238E27FC236}">
                <a16:creationId xmlns:a16="http://schemas.microsoft.com/office/drawing/2014/main" id="{7E5DC514-7CE6-4CFF-8C3C-52AD6F93C004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194  헤더1: 장기별 수술·시술  헤더2: 재건·이식  헤더3: 신장 이식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신장이식, 만성신부전, 5대장기이식수술비,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신장 이식이 뭔가요? 기증받은 신장을 골반 쪽에 심어 혈관과 방광에 연결해요 원래 신장은 대개 그대로 두며 이식 뒤 거부반응 예방 관리가 필요해요 [핵심 설명] 원래 신장 / 골반 쪽 새 신장 / 혈관·방광 연결</a:t>
            </a:r>
          </a:p>
        </p:txBody>
      </p:sp>
    </p:spTree>
    <p:extLst>
      <p:ext uri="{BB962C8B-B14F-4D97-AF65-F5344CB8AC3E}">
        <p14:creationId xmlns:p14="http://schemas.microsoft.com/office/powerpoint/2010/main" val="28946403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61BBBB7-8562-490E-83C0-FF22523CAFE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E2640243-3083-421B-80E0-6A8BC920072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간 이식이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10CED7E-174F-456A-B7A8-2858CFAE22C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병든 간을 제거하고 기증받은 간 전체나 일부로 바꾸는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84AF11BE-C468-47F4-8DFB-2505DDB237D9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혈관·담관을 연결하며 이식 뒤 거부반응과 감염 등을 관리해요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6C13847-65FE-4B2B-B683-1D5B4F0FCD7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95" descr="{&quot;page&quot;: 195, &quot;text_data&quot;: &quot;간 이식이 뭔가요?\n병든 간을 제거하고 기증받은 간 전체나 일부로 바꾸는 수술이에요\n혈관·담관을 연결하며 이식 뒤 거부반응과 감염 등을 관리해요\n[핵심 설명] 병든 간 제거 / 새 간 이식 / 혈관·담관 연결&quot;, &quot;header1&quot;: &quot;장기별 수술·시술&quot;, &quot;header2&quot;: &quot;재건·이식&quot;, &quot;header3&quot;: &quot;간 이식&quot;, &quot;keywords&quot;: [&quot;간이식&quot;, &quot;간경변&quot;, &quot;간암&quot;, &quot;5대장기이식수술비&quot;, &quot;질병수술비&quot;, &quot;종수술비&quot;]}">
            <a:extLst>
              <a:ext uri="{FF2B5EF4-FFF2-40B4-BE49-F238E27FC236}">
                <a16:creationId xmlns:a16="http://schemas.microsoft.com/office/drawing/2014/main" id="{5FE21B67-27B9-4A10-84C1-98761219E32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195  헤더1: 장기별 수술·시술  헤더2: 재건·이식  헤더3: 간 이식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간이식, 간경변, 간암, 5대장기이식수술비,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간 이식이 뭔가요? 병든 간을 제거하고 기증받은 간 전체나 일부로 바꾸는 수술이에요 혈관·담관을 연결하며 이식 뒤 거부반응과 감염 등을 관리해요 [핵심 설명] 병든 간 제거 / 새 간 이식 / 혈관·담관 연결</a:t>
            </a:r>
          </a:p>
        </p:txBody>
      </p:sp>
    </p:spTree>
    <p:extLst>
      <p:ext uri="{BB962C8B-B14F-4D97-AF65-F5344CB8AC3E}">
        <p14:creationId xmlns:p14="http://schemas.microsoft.com/office/powerpoint/2010/main" val="1766205993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BE94805-82EB-4D89-8CA1-4C07737A8BB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89588343-6A98-46E5-A12D-2128CC9A815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심장·폐 이식이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B7FE8F4-F2D9-4C80-A174-C0106B5B40F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병든 심장이나 폐를 기증받은 장기로 바꾸는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296409B7-4E8F-4B40-9DA7-C62AEA5DC59B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장기와 상태에 따라 이식 범위가 다르며 이후 계속 관리해요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DE258E12-7C24-438C-859E-D77F1A43403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96" descr="{&quot;page&quot;: 196, &quot;text_data&quot;: &quot;심장·폐 이식이 뭔가요?\n병든 심장이나 폐를 기증받은 장기로 바꾸는 수술이에요\n장기와 상태에 따라 이식 범위가 다르며 이후 계속 관리해요\n[핵심 설명] 심장 이식 / 폐 이식 / 필요한 장기 교체&quot;, &quot;header1&quot;: &quot;장기별 수술·시술&quot;, &quot;header2&quot;: &quot;재건·이식&quot;, &quot;header3&quot;: &quot;심장·폐 이식&quot;, &quot;keywords&quot;: [&quot;심장이식&quot;, &quot;폐이식&quot;, &quot;5대장기이식수술비&quot;, &quot;질병수술비&quot;, &quot;종수술비&quot;]}">
            <a:extLst>
              <a:ext uri="{FF2B5EF4-FFF2-40B4-BE49-F238E27FC236}">
                <a16:creationId xmlns:a16="http://schemas.microsoft.com/office/drawing/2014/main" id="{CCBBEC19-53B9-40C4-8059-300EDB1D7BD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196  헤더1: 장기별 수술·시술  헤더2: 재건·이식  헤더3: 심장·폐 이식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심장이식, 폐이식, 5대장기이식수술비,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심장·폐 이식이 뭔가요? 병든 심장이나 폐를 기증받은 장기로 바꾸는 수술이에요 장기와 상태에 따라 이식 범위가 다르며 이후 계속 관리해요 [핵심 설명] 심장 이식 / 폐 이식 / 필요한 장기 교체</a:t>
            </a:r>
          </a:p>
        </p:txBody>
      </p:sp>
    </p:spTree>
    <p:extLst>
      <p:ext uri="{BB962C8B-B14F-4D97-AF65-F5344CB8AC3E}">
        <p14:creationId xmlns:p14="http://schemas.microsoft.com/office/powerpoint/2010/main" val="75181610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2CC5CD1-7B3E-41BC-8EE0-D21998F5580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1CD1B93-4CC6-44A6-B91A-4B90977A554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ERCP(내시경 담췌관 시술)이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15282FBA-B8D3-498C-A4D8-C43916A87CD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내시경으로 담관·췌관 입구에 접근해 돌·좁아짐 등을 치료해요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F5A59C67-CE6F-4DBF-B488-EB46D43CD647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검사만을 위해서는 다른 영상검사를 선택하기도 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266C2C5D-9679-4AF8-8420-5522340B5788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97" descr="{&quot;page&quot;: 197, &quot;text_data&quot;: &quot;ERCP(내시경 담췌관 시술)이 뭔가요?\n내시경으로 담관·췌관 입구에 접근해 돌·좁아짐 등을 치료해요\n검사만을 위해서는 다른 영상검사를 선택하기도 해요\n[핵심 설명] 십이지장의 입구 / 담관 속 기구 / 돌 제거·배액&quot;, &quot;header1&quot;: &quot;장기별 수술·시술&quot;, &quot;header2&quot;: &quot;소화기&quot;, &quot;header3&quot;: &quot;내시경 담췌관 시술&quot;, &quot;keywords&quot;: [&quot;담석&quot;, &quot;담도결석&quot;, &quot;ERCP&quot;, &quot;질병수술비&quot;, &quot;종수술비&quot;]}">
            <a:extLst>
              <a:ext uri="{FF2B5EF4-FFF2-40B4-BE49-F238E27FC236}">
                <a16:creationId xmlns:a16="http://schemas.microsoft.com/office/drawing/2014/main" id="{887133A7-1A5B-4E0C-A324-182A21C4475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197  헤더1: 장기별 수술·시술  헤더2: 소화기  헤더3: 내시경 담췌관 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담석, 담도결석, ERCP,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ERCP(내시경 담췌관 시술)이 뭔가요? 내시경으로 담관·췌관 입구에 접근해 돌·좁아짐 등을 치료해요 검사만을 위해서는 다른 영상검사를 선택하기도 해요 [핵심 설명] 십이지장의 입구 / 담관 속 기구 / 돌 제거·배액</a:t>
            </a:r>
          </a:p>
        </p:txBody>
      </p:sp>
    </p:spTree>
    <p:extLst>
      <p:ext uri="{BB962C8B-B14F-4D97-AF65-F5344CB8AC3E}">
        <p14:creationId xmlns:p14="http://schemas.microsoft.com/office/powerpoint/2010/main" val="94411852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4CD6E70-3D11-41F8-884A-F090085FE07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6D693C5-143D-49CD-8E85-A8BAE906476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경피적 담즙배액술이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53D0332-92ED-40B2-8FFD-31FD862FB95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피부를 통해 담관에 관을 넣어 막힌 담즙을 배출해요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3BF0A40-EAB8-4D81-ABAB-D232D5F9D2AB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몸 밖으로 빼거나 장으로 흐르게 하는 방식 등이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FB7D703-0CFE-4025-85FC-C1A22A379D2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AC0E9E69-B738-4F60-BF12-695F13BE65F9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담즙은 간에서 만들어져 지방 소화를 돕는 액체예요.</a:t>
            </a:r>
          </a:p>
        </p:txBody>
      </p:sp>
      <p:sp>
        <p:nvSpPr>
          <p:cNvPr id="8" name="RAG_METADATA_PAGE_198" descr="{&quot;page&quot;: 198, &quot;text_data&quot;: &quot;경피적 담즙배액술이 뭔가요?\n피부를 통해 담관에 관을 넣어 막힌 담즙을 배출해요\n몸 밖으로 빼거나 장으로 흐르게 하는 방식 등이 있어요\n담즙은 간에서 만들어져 지방 소화를 돕는 액체예요.\n[핵심 설명] 간 속 담관 / 피부를 통과한 관 / 담즙 배출&quot;, &quot;header1&quot;: &quot;장기별 수술·시술&quot;, &quot;header2&quot;: &quot;소화기&quot;, &quot;header3&quot;: &quot;경피적 담즙배액술&quot;, &quot;keywords&quot;: [&quot;흡인&quot;, &quot;천자&quot;, &quot;배액&quot;, &quot;담도폐쇄&quot;, &quot;특정급여시술치료비&quot;, &quot;질병통합치료비&quot;]}">
            <a:extLst>
              <a:ext uri="{FF2B5EF4-FFF2-40B4-BE49-F238E27FC236}">
                <a16:creationId xmlns:a16="http://schemas.microsoft.com/office/drawing/2014/main" id="{B912EB45-DA40-47EC-A485-F4234CC2FA06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198  헤더1: 장기별 수술·시술  헤더2: 소화기  헤더3: 경피적 담즙배액술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배액, 담도폐쇄, 특정급여시술치료비, 질병통합치료비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경피적 담즙배액술이 뭔가요? 피부를 통해 담관에 관을 넣어 막힌 담즙을 배출해요 몸 밖으로 빼거나 장으로 흐르게 하는 방식 등이 있어요 담즙은 간에서 만들어져 지방 소화를 돕는 액체예요. [핵심 설명] 간 속 담관 / 피부를 통과한 관 / 담즙 배출</a:t>
            </a:r>
          </a:p>
        </p:txBody>
      </p:sp>
    </p:spTree>
    <p:extLst>
      <p:ext uri="{BB962C8B-B14F-4D97-AF65-F5344CB8AC3E}">
        <p14:creationId xmlns:p14="http://schemas.microsoft.com/office/powerpoint/2010/main" val="1348641417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3D66BBB-1999-44CF-9182-60B403DF287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ED1FEAA-8511-4E7E-86FF-A9E6E491493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간농양 배액술이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13105C96-6E64-4DF2-84B1-DF5399A587D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간의 고름집에 관을 넣어 고름을 빼내는 처치예요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DF919412-1813-469E-8D13-EC9E3A0BDFA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감염 원인 치료와 항생제 등을 함께 사용하며 경과를 확인해요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A7A734D-2C9F-4C68-97D8-42B3FA1C78C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199" descr="{&quot;page&quot;: 199, &quot;text_data&quot;: &quot;간농양 배액술이 뭔가요?\n간의 고름집에 관을 넣어 고름을 빼내는 처치예요\n감염 원인 치료와 항생제 등을 함께 사용하며 경과를 확인해요\n[핵심 설명] 간의 고름집 / 배액관 / 고름 배출&quot;, &quot;header1&quot;: &quot;장기별 수술·시술&quot;, &quot;header2&quot;: &quot;소화기&quot;, &quot;header3&quot;: &quot;간농양 배액술&quot;, &quot;keywords&quot;: [&quot;흡인&quot;, &quot;천자&quot;, &quot;배액&quot;, &quot;배농&quot;, &quot;간농양&quot;, &quot;특정급여시술치료비&quot;]}">
            <a:extLst>
              <a:ext uri="{FF2B5EF4-FFF2-40B4-BE49-F238E27FC236}">
                <a16:creationId xmlns:a16="http://schemas.microsoft.com/office/drawing/2014/main" id="{11EBE861-53C3-4EDA-83F9-0F06EE30980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199  헤더1: 장기별 수술·시술  헤더2: 소화기  헤더3: 간농양 배액술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배액, 배농, 간농양, 특정급여시술치료비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간농양 배액술이 뭔가요? 간의 고름집에 관을 넣어 고름을 빼내는 처치예요 감염 원인 치료와 항생제 등을 함께 사용하며 경과를 확인해요 [핵심 설명] 간의 고름집 / 배액관 / 고름 배출</a:t>
            </a:r>
          </a:p>
        </p:txBody>
      </p:sp>
    </p:spTree>
    <p:extLst>
      <p:ext uri="{BB962C8B-B14F-4D97-AF65-F5344CB8AC3E}">
        <p14:creationId xmlns:p14="http://schemas.microsoft.com/office/powerpoint/2010/main" val="1802765573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F0C2914-9F8A-47E7-9E17-592842BAF57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1E4B5ED7-BA2D-4A69-951E-9711BB3BD2C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경피적 신루 설치술이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A54915A-C3EC-44D6-863D-A889778E5AE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등 쪽 피부에서 신장 집합 공간으로 관을 넣어 소변을 빼내요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0F42286F-AC24-411A-8C45-69014695BA9C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막힌 소변 길을 우회하며 관과 배액 주머니를 관리해요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D64FA478-B4A2-4235-8D5C-DDAADCEB18E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00" descr="{&quot;page&quot;: 200, &quot;text_data&quot;: &quot;경피적 신루 설치술이 뭔가요?\n등 쪽 피부에서 신장 집합 공간으로 관을 넣어 소변을 빼내요\n막힌 소변 길을 우회하며 관과 배액 주머니를 관리해요\n[핵심 설명] 신장 집합 공간 / 등 쪽의 관 / 소변 배액&quot;, &quot;header1&quot;: &quot;장기별 수술·시술&quot;, &quot;header2&quot;: &quot;비뇨기&quot;, &quot;header3&quot;: &quot;경피적 신루 설치술&quot;, &quot;keywords&quot;: [&quot;흡인&quot;, &quot;천자&quot;, &quot;배액&quot;, &quot;수신증&quot;, &quot;특정급여시술치료비&quot;, &quot;질병통합치료비&quot;]}">
            <a:extLst>
              <a:ext uri="{FF2B5EF4-FFF2-40B4-BE49-F238E27FC236}">
                <a16:creationId xmlns:a16="http://schemas.microsoft.com/office/drawing/2014/main" id="{D8826674-CE8F-4ADB-B8A1-9C9E5A880D54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200  헤더1: 장기별 수술·시술  헤더2: 비뇨기  헤더3: 경피적 신루 설치술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흡인, 천자, 배액, 수신증, 특정급여시술치료비, 질병통합치료비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경피적 신루 설치술이 뭔가요? 등 쪽 피부에서 신장 집합 공간으로 관을 넣어 소변을 빼내요 막힌 소변 길을 우회하며 관과 배액 주머니를 관리해요 [핵심 설명] 신장 집합 공간 / 등 쪽의 관 / 소변 배액</a:t>
            </a:r>
          </a:p>
        </p:txBody>
      </p:sp>
    </p:spTree>
    <p:extLst>
      <p:ext uri="{BB962C8B-B14F-4D97-AF65-F5344CB8AC3E}">
        <p14:creationId xmlns:p14="http://schemas.microsoft.com/office/powerpoint/2010/main" val="1261595615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95D88FD-8B73-401E-BD51-D3248E2B380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AB940623-A2C5-4164-918C-46681EBE12C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요관 스텐트이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7B1A4F7-DA5B-4884-9E2D-E4E0D5AA3A8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요관 안에 가는 관을 두어 신장부터 방광까지 소변 길을 유지해요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E0581DD-3054-4837-8CAB-59AFC1B0739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일시적으로 두는 경우가 많으며 교환·제거 시기를 확인해요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F9321558-9BCF-493F-9F93-C6B163BEE318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01" descr="{&quot;page&quot;: 201, &quot;text_data&quot;: &quot;요관 스텐트이 뭔가요?\n요관 안에 가는 관을 두어 신장부터 방광까지 소변 길을 유지해요\n일시적으로 두는 경우가 많으며 교환·제거 시기를 확인해요\n[핵심 설명] 신장 쪽 끝 / 요관 안 스텐트 / 방광 쪽 끝&quot;, &quot;header1&quot;: &quot;장기별 수술·시술&quot;, &quot;header2&quot;: &quot;비뇨기&quot;, &quot;header3&quot;: &quot;요관 스텐트&quot;, &quot;keywords&quot;: [&quot;요관스텐트&quot;, &quot;요로결석&quot;, &quot;요관폐쇄&quot;, &quot;질병수술비&quot;, &quot;종수술비&quot;]}">
            <a:extLst>
              <a:ext uri="{FF2B5EF4-FFF2-40B4-BE49-F238E27FC236}">
                <a16:creationId xmlns:a16="http://schemas.microsoft.com/office/drawing/2014/main" id="{4A85DD9B-BE00-49D7-B081-08BEF7DAC9D4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201  헤더1: 장기별 수술·시술  헤더2: 비뇨기  헤더3: 요관 스텐트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요관스텐트, 요로결석, 요관폐쇄,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요관 스텐트이 뭔가요? 요관 안에 가는 관을 두어 신장부터 방광까지 소변 길을 유지해요 일시적으로 두는 경우가 많으며 교환·제거 시기를 확인해요 [핵심 설명] 신장 쪽 끝 / 요관 안 스텐트 / 방광 쪽 끝</a:t>
            </a:r>
          </a:p>
        </p:txBody>
      </p:sp>
    </p:spTree>
    <p:extLst>
      <p:ext uri="{BB962C8B-B14F-4D97-AF65-F5344CB8AC3E}">
        <p14:creationId xmlns:p14="http://schemas.microsoft.com/office/powerpoint/2010/main" val="1352867553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FFCDE0B-C489-40BA-8603-9CCCBE647EB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2936386-F60D-4F10-8E6B-5DC4FE2B59AA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기관절개술이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71A4B19E-5B86-4CCB-A17D-D8EE14D74FB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목 앞에서 기관으로 이어지는 통로를 만들고 호흡 관을 넣어요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E963ED61-A01A-4542-B801-0149D4F3DAB7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필요에 따라 호흡기 연결·가래 배출 등을 돕고 관을 관리해요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70A50A5-7925-4546-8C09-27830294BB9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02" descr="{&quot;page&quot;: 202, &quot;text_data&quot;: &quot;기관절개술이 뭔가요?\n목 앞에서 기관으로 이어지는 통로를 만들고 호흡 관을 넣어요\n필요에 따라 호흡기 연결·가래 배출 등을 돕고 관을 관리해요\n[핵심 설명] 목 앞 통로 / 기관 안의 관 / 호흡을 도와요&quot;, &quot;header1&quot;: &quot;장기별 수술·시술&quot;, &quot;header2&quot;: &quot;호흡기&quot;, &quot;header3&quot;: &quot;기관절개술&quot;, &quot;keywords&quot;: [&quot;기관절개&quot;, &quot;호흡곤란&quot;, &quot;질병수술비&quot;, &quot;상해수술비&quot;, &quot;종수술비&quot;]}">
            <a:extLst>
              <a:ext uri="{FF2B5EF4-FFF2-40B4-BE49-F238E27FC236}">
                <a16:creationId xmlns:a16="http://schemas.microsoft.com/office/drawing/2014/main" id="{EA14E8A5-F9DE-4ABE-9199-FC774A57161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202  헤더1: 장기별 수술·시술  헤더2: 호흡기  헤더3: 기관절개술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기관절개, 호흡곤란, 질병수술비, 상해수술비,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기관절개술이 뭔가요? 목 앞에서 기관으로 이어지는 통로를 만들고 호흡 관을 넣어요 필요에 따라 호흡기 연결·가래 배출 등을 돕고 관을 관리해요 [핵심 설명] 목 앞 통로 / 기관 안의 관 / 호흡을 도와요</a:t>
            </a:r>
          </a:p>
        </p:txBody>
      </p:sp>
    </p:spTree>
    <p:extLst>
      <p:ext uri="{BB962C8B-B14F-4D97-AF65-F5344CB8AC3E}">
        <p14:creationId xmlns:p14="http://schemas.microsoft.com/office/powerpoint/2010/main" val="1573428619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E419D16-8A70-4C09-8390-FCEB7D7027E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EFBDF5F-27DA-4875-8014-CDAB3B44E0C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갑상선 결절 레이저 치료이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B012B23B-DEDB-4E7E-A000-F66EA175D4F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갑상선 결절 안 광섬유로 레이저 열을 가해 크기를 줄여요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55C2F8D7-3298-449B-902F-930A5C2DB78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결절의 성격과 상태를 확인한 뒤 선택하는 치료의 한 방법이에요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D614C173-D458-4D41-8F3B-BF88A5244F2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03" descr="{&quot;page&quot;: 203, &quot;text_data&quot;: &quot;갑상선 결절 레이저 치료이 뭔가요?\n갑상선 결절 안 광섬유로 레이저 열을 가해 크기를 줄여요\n결절의 성격과 상태를 확인한 뒤 선택하는 치료의 한 방법이에요\n[핵심 설명] 갑상선 결절 / 가는 광섬유 / 레이저 열치료&quot;, &quot;header1&quot;: &quot;장기별 수술·시술&quot;, &quot;header2&quot;: &quot;갑상선·유방&quot;, &quot;header3&quot;: &quot;갑상선 결절 레이저 치료&quot;, &quot;keywords&quot;: [&quot;갑상선결절&quot;, &quot;레이저치료&quot;, &quot;암전후통합치료비&quot;, &quot;질병수술비&quot;, &quot;종수술비&quot;]}">
            <a:extLst>
              <a:ext uri="{FF2B5EF4-FFF2-40B4-BE49-F238E27FC236}">
                <a16:creationId xmlns:a16="http://schemas.microsoft.com/office/drawing/2014/main" id="{F2CCE42C-FD99-44B9-AEB4-CB695AD9BA0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203  헤더1: 장기별 수술·시술  헤더2: 갑상선·유방  헤더3: 갑상선 결절 레이저 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갑상선결절, 레이저치료, 암전후통합치료비,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갑상선 결절 레이저 치료이 뭔가요? 갑상선 결절 안 광섬유로 레이저 열을 가해 크기를 줄여요 결절의 성격과 상태를 확인한 뒤 선택하는 치료의 한 방법이에요 [핵심 설명] 갑상선 결절 / 가는 광섬유 / 레이저 열치료</a:t>
            </a:r>
          </a:p>
        </p:txBody>
      </p:sp>
    </p:spTree>
    <p:extLst>
      <p:ext uri="{BB962C8B-B14F-4D97-AF65-F5344CB8AC3E}">
        <p14:creationId xmlns:p14="http://schemas.microsoft.com/office/powerpoint/2010/main" val="2026356970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5B8AFF2-C4E7-48DC-B206-83C9700AB5D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3542274A-D444-4A9C-B96E-65DDA8694F4C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췌도 이식이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DDE71B4-018F-43D0-AD4E-9CA8BB5AC42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인슐린을 만드는 췌도 세포를 이식해 혈당 조절을 돕는 치료예요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7C98F53D-4B3D-47DF-B64B-048781F8C66F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주로 일부 1형 당뇨병 환자에게 전문적으로 고려하며 면역억제 등이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6270DEF9-FF4F-4CDB-9DE5-737AFEB35A48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10A3CE71-6FF1-4A31-A17E-5FE4C254BCD6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췌도는 혈당을 조절하는 호르몬을 만드는 세포들이 모인 부분이에요.</a:t>
            </a:r>
          </a:p>
        </p:txBody>
      </p:sp>
      <p:sp>
        <p:nvSpPr>
          <p:cNvPr id="8" name="RAG_METADATA_PAGE_204" descr="{&quot;page&quot;: 204, &quot;text_data&quot;: &quot;췌도 이식이 뭔가요?\n인슐린을 만드는 췌도 세포를 이식해 혈당 조절을 돕는 치료예요\n주로 일부 1형 당뇨병 환자에게 전문적으로 고려하며 면역억제 등이 필요해요\n췌도는 혈당을 조절하는 호르몬을 만드는 세포들이 모인 부분이에요.\n[핵심 설명] 췌도 세포 / 간의 문맥으로 / 세포 이식&quot;, &quot;header1&quot;: &quot;장기별 수술·시술&quot;, &quot;header2&quot;: &quot;재건·이식&quot;, &quot;header3&quot;: &quot;췌도 이식&quot;, &quot;keywords&quot;: [&quot;1형당뇨&quot;, &quot;췌도이식&quot;, &quot;당뇨병수술비&quot;, &quot;종수술비&quot;]}">
            <a:extLst>
              <a:ext uri="{FF2B5EF4-FFF2-40B4-BE49-F238E27FC236}">
                <a16:creationId xmlns:a16="http://schemas.microsoft.com/office/drawing/2014/main" id="{F24CB5EB-63A2-4CD2-B0A3-4A518DAFCA3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204  헤더1: 장기별 수술·시술  헤더2: 재건·이식  헤더3: 췌도 이식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1형당뇨, 췌도이식, 당뇨병수술비,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췌도 이식이 뭔가요? 인슐린을 만드는 췌도 세포를 이식해 혈당 조절을 돕는 치료예요 주로 일부 1형 당뇨병 환자에게 전문적으로 고려하며 면역억제 등이 필요해요 췌도는 혈당을 조절하는 호르몬을 만드는 세포들이 모인 부분이에요. [핵심 설명] 췌도 세포 / 간의 문맥으로 / 세포 이식</a:t>
            </a:r>
          </a:p>
        </p:txBody>
      </p:sp>
    </p:spTree>
    <p:extLst>
      <p:ext uri="{BB962C8B-B14F-4D97-AF65-F5344CB8AC3E}">
        <p14:creationId xmlns:p14="http://schemas.microsoft.com/office/powerpoint/2010/main" val="565651465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5C3352A-13A9-4EB7-9A25-202AFD9690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EA678696-ABF5-4164-A90A-03FEF1E4C27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각막 교차결합술이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FA2E81A1-6A7D-4659-9331-A9CB17A909E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약과 자외선으로 각막의 결합을 강화해 변형 진행을 줄여요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EC75288-3199-4A53-ACC8-9406C585AD4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원추각막 등의 진행 억제 목적이며 시력이 모두 회복되는 치료는 아니에요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1D9234D-8BBC-413C-8EFD-8079CF43501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05" descr="{&quot;page&quot;: 205, &quot;text_data&quot;: &quot;각막 교차결합술이 뭔가요?\n약과 자외선으로 각막의 결합을 강화해 변형 진행을 줄여요\n원추각막 등의 진행 억제 목적이며 시력이 모두 회복되는 치료는 아니에요\n[핵심 설명] 각막에 약 / 자외선 조사 / 결합 강화&quot;, &quot;header1&quot;: &quot;장기별 수술·시술&quot;, &quot;header2&quot;: &quot;안과&quot;, &quot;header3&quot;: &quot;각막 교차결합술&quot;, &quot;keywords&quot;: [&quot;원추각막&quot;, &quot;각막교차결합술&quot;, &quot;질병수술비&quot;, &quot;종수술비&quot;]}">
            <a:extLst>
              <a:ext uri="{FF2B5EF4-FFF2-40B4-BE49-F238E27FC236}">
                <a16:creationId xmlns:a16="http://schemas.microsoft.com/office/drawing/2014/main" id="{78DF225D-808A-4692-8296-ADB7CBC9FCBA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205  헤더1: 장기별 수술·시술  헤더2: 안과  헤더3: 각막 교차결합술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원추각막, 각막교차결합술,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각막 교차결합술이 뭔가요? 약과 자외선으로 각막의 결합을 강화해 변형 진행을 줄여요 원추각막 등의 진행 억제 목적이며 시력이 모두 회복되는 치료는 아니에요 [핵심 설명] 각막에 약 / 자외선 조사 / 결합 강화</a:t>
            </a:r>
          </a:p>
        </p:txBody>
      </p:sp>
    </p:spTree>
    <p:extLst>
      <p:ext uri="{BB962C8B-B14F-4D97-AF65-F5344CB8AC3E}">
        <p14:creationId xmlns:p14="http://schemas.microsoft.com/office/powerpoint/2010/main" val="1573828360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9D0184C-D5DC-4D1D-8A26-1733EB025BE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CCEA90A-0167-4679-B9B6-514BE8BE157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각막 내 링 삽입술이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26776234-C115-49D6-98AD-235048E8949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각막 층 안의 작은 링으로 각막 모양을 조절하는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AA8B1572-D8E2-4B9F-84F0-E1AC25AD96BF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원추각막 등의 일부에서 고려하며 시력 보정·추가 치료가 필요할 수 있어요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C80FA70-F674-4D40-B5EB-A19AB757B27F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EC5DCECE-00BD-4A20-89FC-F876F05B46BE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각막은 빛이 눈 안으로 들어올 때 처음 지나가는 투명한 부분이에요.</a:t>
            </a:r>
          </a:p>
        </p:txBody>
      </p:sp>
      <p:sp>
        <p:nvSpPr>
          <p:cNvPr id="8" name="RAG_METADATA_PAGE_206" descr="{&quot;page&quot;: 206, &quot;text_data&quot;: &quot;각막 내 링 삽입술이 뭔가요?\n각막 층 안의 작은 링으로 각막 모양을 조절하는 수술이에요\n원추각막 등의 일부에서 고려하며 시력 보정·추가 치료가 필요할 수 있어요\n각막은 빛이 눈 안으로 들어올 때 처음 지나가는 투명한 부분이에요.\n[핵심 설명] 각막 층 / 작은 링 / 모양 조절&quot;, &quot;header1&quot;: &quot;장기별 수술·시술&quot;, &quot;header2&quot;: &quot;안과&quot;, &quot;header3&quot;: &quot;각막 내 링 삽입술&quot;, &quot;keywords&quot;: [&quot;원추각막&quot;, &quot;각막링&quot;, &quot;질병수술비&quot;, &quot;종수술비&quot;]}">
            <a:extLst>
              <a:ext uri="{FF2B5EF4-FFF2-40B4-BE49-F238E27FC236}">
                <a16:creationId xmlns:a16="http://schemas.microsoft.com/office/drawing/2014/main" id="{512E8C36-F562-4F91-957F-A61193C10D0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206  헤더1: 장기별 수술·시술  헤더2: 안과  헤더3: 각막 내 링 삽입술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원추각막, 각막링,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각막 내 링 삽입술이 뭔가요? 각막 층 안의 작은 링으로 각막 모양을 조절하는 수술이에요 원추각막 등의 일부에서 고려하며 시력 보정·추가 치료가 필요할 수 있어요 각막은 빛이 눈 안으로 들어올 때 처음 지나가는 투명한 부분이에요. [핵심 설명] 각막 층 / 작은 링 / 모양 조절</a:t>
            </a:r>
          </a:p>
        </p:txBody>
      </p:sp>
    </p:spTree>
    <p:extLst>
      <p:ext uri="{BB962C8B-B14F-4D97-AF65-F5344CB8AC3E}">
        <p14:creationId xmlns:p14="http://schemas.microsoft.com/office/powerpoint/2010/main" val="988850572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B527E50-9A9A-40DF-B4E0-596597EE146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5E9F0AC9-DBC8-4D0E-A63F-2115CA0D8B3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코골이·수면무호흡 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1669980-A20A-4FE2-9837-2123C7AEFEE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막히는 위치에 맞춰 코·입천장·혀 등의 숨길을 넓히는 수술이에요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A2AD00C-D32E-4600-A6ED-284DE853C1D8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검사 결과를 보고 선택하며 모든 코골이·수면무호흡에 수술하지는 않아요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42B136D9-61D1-4780-9FF7-C599F01375B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2A5836CB-0C91-4BEC-AC26-6809F5640568}"/>
              </a:ext>
            </a:extLst>
          </p:cNvPr>
          <p:cNvSpPr>
            <a:spLocks noGrp="1"/>
          </p:cNvSpPr>
          <p:nvPr/>
        </p:nvSpPr>
        <p:spPr>
          <a:xfrm>
            <a:off x="552450" y="5429250"/>
            <a:ext cx="1108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수면무호흡은 자는 동안 숨쉬기가 반복해서 멈추거나 약해지는 상태예요.</a:t>
            </a:r>
          </a:p>
        </p:txBody>
      </p:sp>
      <p:sp>
        <p:nvSpPr>
          <p:cNvPr id="8" name="RAG_METADATA_PAGE_207" descr="{&quot;page&quot;: 207, &quot;text_data&quot;: &quot;코골이·수면무호흡 수술이 뭔가요?\n막히는 위치에 맞춰 코·입천장·혀 등의 숨길을 넓히는 수술이에요\n수면무호흡은 자는 동안 숨쉬기가 반복해서 멈추거나 약해지는 상태예요.\n검사 결과를 보고 선택하며 모든 코골이·수면무호흡에 수술하지는 않아요\n[핵심 설명] 좁은 숨길 / 막히는 위치 확인 / 숨길을 넓혀요&quot;, &quot;header1&quot;: &quot;장기별 수술·시술&quot;, &quot;header2&quot;: &quot;이비인후과&quot;, &quot;header3&quot;: &quot;코골이·수면무호흡 수술&quot;, &quot;keywords&quot;: [&quot;코골이&quot;, &quot;수면무호흡증&quot;, &quot;질병수술비&quot;, &quot;종수술비&quot;]}">
            <a:extLst>
              <a:ext uri="{FF2B5EF4-FFF2-40B4-BE49-F238E27FC236}">
                <a16:creationId xmlns:a16="http://schemas.microsoft.com/office/drawing/2014/main" id="{6448AE1C-606F-498D-8C88-EA9714B1BD36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207  헤더1: 장기별 수술·시술  헤더2: 이비인후과  헤더3: 코골이·수면무호흡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코골이, 수면무호흡증,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코골이·수면무호흡 수술이 뭔가요? 막히는 위치에 맞춰 코·입천장·혀 등의 숨길을 넓히는 수술이에요 수면무호흡은 자는 동안 숨쉬기가 반복해서 멈추거나 약해지는 상태예요. 검사 결과를 보고 선택하며 모든 코골이·수면무호흡에 수술하지는 않아요 [핵심 설명] 좁은 숨길 / 막히는 위치 확인 / 숨길을 넓혀요</a:t>
            </a:r>
          </a:p>
        </p:txBody>
      </p:sp>
    </p:spTree>
    <p:extLst>
      <p:ext uri="{BB962C8B-B14F-4D97-AF65-F5344CB8AC3E}">
        <p14:creationId xmlns:p14="http://schemas.microsoft.com/office/powerpoint/2010/main" val="863299240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796575A-D84F-464B-9060-9F76798FD5F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9C232F93-DA53-4F1E-A920-479CC945DAE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비밸브 재건술이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7DAB260-EE89-4F53-9381-242CA34AC2D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코 안의 좁거나 잘 무너지는 비밸브를 보강해 공기 흐름을 도와요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CCA0ADD8-1D3B-4A46-BCA8-3B861DBC90F4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코막힘 원인과 구조에 따라 연골 보강 등 방법을 선택해요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817BD466-929E-4502-AD03-BB25D03E60B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08" descr="{&quot;page&quot;: 208, &quot;text_data&quot;: &quot;비밸브 재건술이 뭔가요?\n코 안의 좁거나 잘 무너지는 비밸브를 보강해 공기 흐름을 도와요\n코막힘 원인과 구조에 따라 연골 보강 등 방법을 선택해요\n[핵심 설명] 비밸브의 좁아짐 / 구조 보강 / 공기 흐름 개선&quot;, &quot;header1&quot;: &quot;장기별 수술·시술&quot;, &quot;header2&quot;: &quot;이비인후과&quot;, &quot;header3&quot;: &quot;비밸브 재건술&quot;, &quot;keywords&quot;: [&quot;코막힘&quot;, &quot;비밸브재건술&quot;, &quot;질병수술비&quot;, &quot;종수술비&quot;]}">
            <a:extLst>
              <a:ext uri="{FF2B5EF4-FFF2-40B4-BE49-F238E27FC236}">
                <a16:creationId xmlns:a16="http://schemas.microsoft.com/office/drawing/2014/main" id="{81D97E24-8F05-4C10-A2B9-D12FC842AB9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208  헤더1: 장기별 수술·시술  헤더2: 이비인후과  헤더3: 비밸브 재건술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코막힘, 비밸브재건술,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비밸브 재건술이 뭔가요? 코 안의 좁거나 잘 무너지는 비밸브를 보강해 공기 흐름을 도와요 코막힘 원인과 구조에 따라 연골 보강 등 방법을 선택해요 [핵심 설명] 비밸브의 좁아짐 / 구조 보강 / 공기 흐름 개선</a:t>
            </a:r>
          </a:p>
        </p:txBody>
      </p:sp>
    </p:spTree>
    <p:extLst>
      <p:ext uri="{BB962C8B-B14F-4D97-AF65-F5344CB8AC3E}">
        <p14:creationId xmlns:p14="http://schemas.microsoft.com/office/powerpoint/2010/main" val="1317246695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73F3049-2834-4A7C-BE62-A4655412CC1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DB9B1EC-58F7-4443-A8AC-03A5EBCD1B9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액취증·다한증 수술이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3E43E8D8-6EF0-4601-BC98-4B66C01FDB8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땀샘을 줄이거나 신경을 조절하는 등 목적에 맞게 수술해요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8B382720-ACD0-425E-92A8-9276DC60407D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액취증과 다한증의 수술은 다르며 다한증 신경 수술은 보상성 발한을 고려해요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04E50ACA-31C7-4982-ADD3-1FB34BACD1D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69ABDF91-C739-4903-B324-0D5D66FFCCE4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액취증은 냄새, 다한증은 지나치게 많은 땀이 주된 문제예요.</a:t>
            </a:r>
          </a:p>
        </p:txBody>
      </p:sp>
      <p:sp>
        <p:nvSpPr>
          <p:cNvPr id="8" name="RAG_METADATA_PAGE_209" descr="{&quot;page&quot;: 209, &quot;text_data&quot;: &quot;액취증·다한증 수술이 뭔가요?\n땀샘을 줄이거나 신경을 조절하는 등 목적에 맞게 수술해요\n액취증과 다한증의 수술은 다르며 다한증 신경 수술은 보상성 발한을 고려해요\n액취증은 냄새, 다한증은 지나치게 많은 땀이 주된 문제예요.\n[핵심 설명] 액취증의 땀샘 치료 / 다한증의 신경 치료 / 목적에 맞게 선택&quot;, &quot;header1&quot;: &quot;장기별 수술·시술&quot;, &quot;header2&quot;: &quot;피부·땀샘&quot;, &quot;header3&quot;: &quot;액취증·다한증 수술&quot;, &quot;keywords&quot;: [&quot;액취증&quot;, &quot;다한증&quot;, &quot;질병수술비&quot;, &quot;종수술비&quot;]}">
            <a:extLst>
              <a:ext uri="{FF2B5EF4-FFF2-40B4-BE49-F238E27FC236}">
                <a16:creationId xmlns:a16="http://schemas.microsoft.com/office/drawing/2014/main" id="{9D6791E2-4012-45B6-8DEC-F3C064F0254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209  헤더1: 장기별 수술·시술  헤더2: 피부·땀샘  헤더3: 액취증·다한증 수술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액취증, 다한증,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액취증·다한증 수술이 뭔가요? 땀샘을 줄이거나 신경을 조절하는 등 목적에 맞게 수술해요 액취증과 다한증의 수술은 다르며 다한증 신경 수술은 보상성 발한을 고려해요 액취증은 냄새, 다한증은 지나치게 많은 땀이 주된 문제예요. [핵심 설명] 액취증의 땀샘 치료 / 다한증의 신경 치료 / 목적에 맞게 선택</a:t>
            </a:r>
          </a:p>
        </p:txBody>
      </p:sp>
    </p:spTree>
    <p:extLst>
      <p:ext uri="{BB962C8B-B14F-4D97-AF65-F5344CB8AC3E}">
        <p14:creationId xmlns:p14="http://schemas.microsoft.com/office/powerpoint/2010/main" val="102022792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2209F78-1E83-4C6E-8024-74E84B865B7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F4E7E81B-D2C2-4BC6-A7F2-64E0930F3A3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전신마취가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B1C7DAD-BD2B-44B6-BB3E-005E790B71B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약으로 의식과 통증 반응을 억제하며 수술 중 상태를 관리해요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9BAFF945-44F3-4639-B72D-62A2821FCA92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마취 중 호흡·혈압 등을 감시하며 회복까지 의료진이 살펴요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C8091CC6-54D5-479B-9B50-CA99E9F2FB4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10" descr="{&quot;page&quot;: 210, &quot;text_data&quot;: &quot;전신마취가 뭔가요?\n약으로 의식과 통증 반응을 억제하며 수술 중 상태를 관리해요\n마취 중 호흡·혈압 등을 감시하며 회복까지 의료진이 살펴요\n[핵심 설명] 의식·통증 억제 / 호흡 보조 / 계속 감시&quot;, &quot;header1&quot;: &quot;마취·중환자치료&quot;, &quot;header2&quot;: &quot;마취&quot;, &quot;header3&quot;: &quot;전신마취&quot;, &quot;keywords&quot;: [&quot;전신마취&quot;, &quot;전신마취치료비&quot;, &quot;질병통합치료비&quot;, &quot;상해통합치료비&quot;]}">
            <a:extLst>
              <a:ext uri="{FF2B5EF4-FFF2-40B4-BE49-F238E27FC236}">
                <a16:creationId xmlns:a16="http://schemas.microsoft.com/office/drawing/2014/main" id="{BFE355C2-D1F7-40C3-9424-D6AB73B52F13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210  헤더1: 마취·중환자치료  헤더2: 마취  헤더3: 전신마취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전신마취, 전신마취치료비, 질병통합치료비, 상해통합치료비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전신마취가 뭔가요? 약으로 의식과 통증 반응을 억제하며 수술 중 상태를 관리해요 마취 중 호흡·혈압 등을 감시하며 회복까지 의료진이 살펴요 [핵심 설명] 의식·통증 억제 / 호흡 보조 / 계속 감시</a:t>
            </a:r>
          </a:p>
        </p:txBody>
      </p:sp>
    </p:spTree>
    <p:extLst>
      <p:ext uri="{BB962C8B-B14F-4D97-AF65-F5344CB8AC3E}">
        <p14:creationId xmlns:p14="http://schemas.microsoft.com/office/powerpoint/2010/main" val="1758723135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9C49C4A-EC8B-40F6-A0C3-F48319B8D14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14C79FE-A341-4A88-BFCD-919B80CB160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중환자실이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CB2CB50-6BDE-4B2F-A182-AD1120C4984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중증 환자의 호흡·순환 등 중요한 기능을 집중해서 살펴요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1B6F97B5-FAD8-4DAA-8D4B-B6373F8CD7BB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필요한 기계와 치료는 환자 상태에 따라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3B1376A4-4013-43FE-A06E-D6B5244EDC3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55F1A581-DFD3-4A66-BA10-E750540BB833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중환자실의 기계는 상태를 관찰하거나 장기 기능을 보조해요.</a:t>
            </a:r>
          </a:p>
        </p:txBody>
      </p:sp>
      <p:sp>
        <p:nvSpPr>
          <p:cNvPr id="8" name="RAG_METADATA_PAGE_211" descr="{&quot;page&quot;: 211, &quot;text_data&quot;: &quot;중환자실이 뭔가요?\n중증 환자의 호흡·순환 등 중요한 기능을 집중해서 살펴요\n필요한 기계와 치료는 환자 상태에 따라 달라요\n중환자실의 기계는 상태를 관찰하거나 장기 기능을 보조해요.\n[핵심 설명] 지속 관찰 / 필요한 기능 보조 / 집중 치료&quot;, &quot;header1&quot;: &quot;마취·중환자치료&quot;, &quot;header2&quot;: &quot;중환자실&quot;, &quot;header3&quot;: &quot;중환자실 집중치료&quot;, &quot;keywords&quot;: [&quot;중환자실&quot;, &quot;중환자실입원일당&quot;, &quot;질병통합치료비&quot;, &quot;상해통합치료비&quot;, &quot;순환계치료비&quot;]}">
            <a:extLst>
              <a:ext uri="{FF2B5EF4-FFF2-40B4-BE49-F238E27FC236}">
                <a16:creationId xmlns:a16="http://schemas.microsoft.com/office/drawing/2014/main" id="{80BB33D5-AF15-4706-9AC3-C51DA98DBB0E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211  헤더1: 마취·중환자치료  헤더2: 중환자실  헤더3: 중환자실 집중치료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중환자실, 중환자실입원일당, 질병통합치료비, 상해통합치료비,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중환자실이 뭔가요? 중증 환자의 호흡·순환 등 중요한 기능을 집중해서 살펴요 필요한 기계와 치료는 환자 상태에 따라 달라요 중환자실의 기계는 상태를 관찰하거나 장기 기능을 보조해요. [핵심 설명] 지속 관찰 / 필요한 기능 보조 / 집중 치료</a:t>
            </a:r>
          </a:p>
        </p:txBody>
      </p:sp>
    </p:spTree>
    <p:extLst>
      <p:ext uri="{BB962C8B-B14F-4D97-AF65-F5344CB8AC3E}">
        <p14:creationId xmlns:p14="http://schemas.microsoft.com/office/powerpoint/2010/main" val="25527929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91A76CE-ED33-4961-A1F1-A64F1C2C64C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69472" y="933450"/>
            <a:ext cx="10053055" cy="565785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8CBEE199-D4EF-4FCC-8D5D-A7DF3DBF232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인공호흡기가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6F0B40B-6403-461D-9A94-258C3DDD4A8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호흡이 어려울 때 기계가 폐로 공기를 보내 호흡을 도와요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C794F297-D775-432F-934D-20A203AA7856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입·기관절개 관 또는 마스크 등 연결 방식은 상태에 따라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C1E203F-1FBA-4F52-959C-D9533C7676E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12" descr="{&quot;page&quot;: 212, &quot;text_data&quot;: &quot;인공호흡기가 뭔가요?\n호흡이 어려울 때 기계가 폐로 공기를 보내 호흡을 도와요\n입·기관절개 관 또는 마스크 등 연결 방식은 상태에 따라 달라요\n[핵심 설명] 기관 안의 관 / 공기 유입 / 기계가 보조&quot;, &quot;header1&quot;: &quot;마취·중환자치료&quot;, &quot;header2&quot;: &quot;호흡 보조&quot;, &quot;header3&quot;: &quot;인공호흡기&quot;, &quot;keywords&quot;: [&quot;인공호흡기&quot;, &quot;인공호흡기치료비&quot;, &quot;질병통합치료비&quot;, &quot;상해통합치료비&quot;, &quot;순환계치료비&quot;]}">
            <a:extLst>
              <a:ext uri="{FF2B5EF4-FFF2-40B4-BE49-F238E27FC236}">
                <a16:creationId xmlns:a16="http://schemas.microsoft.com/office/drawing/2014/main" id="{DD3E66A7-71E4-44E8-A136-35BE4896B3E2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212  헤더1: 마취·중환자치료  헤더2: 호흡 보조  헤더3: 인공호흡기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인공호흡기, 인공호흡기치료비, 질병통합치료비, 상해통합치료비,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인공호흡기가 뭔가요? 호흡이 어려울 때 기계가 폐로 공기를 보내 호흡을 도와요 입·기관절개 관 또는 마스크 등 연결 방식은 상태에 따라 달라요 [핵심 설명] 기관 안의 관 / 공기 유입 / 기계가 보조</a:t>
            </a:r>
          </a:p>
        </p:txBody>
      </p:sp>
    </p:spTree>
    <p:extLst>
      <p:ext uri="{BB962C8B-B14F-4D97-AF65-F5344CB8AC3E}">
        <p14:creationId xmlns:p14="http://schemas.microsoft.com/office/powerpoint/2010/main" val="50069194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21115D0-EB01-46C9-BCC9-5ACC5EC5706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9C91280F-76A4-4CAC-8FCA-7C01E99481A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저체온요법·목표체온관리가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570546D8-91B1-4BD7-8EFF-C27ED46FCE9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심정지 후 등의 상황에서 목표 체온을 관리하고 발열을 막아요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3E1D119-C46F-483D-B38C-E8052EEC962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모든 환자의 체온을 낮추는 것은 아니며 목표는 상태에 따라 정해요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AAD0D14E-86CB-4601-9A88-D69A9736148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13" descr="{&quot;page&quot;: 213, &quot;text_data&quot;: &quot;저체온요법·목표체온관리가 뭔가요?\n심정지 후 등의 상황에서 목표 체온을 관리하고 발열을 막아요\n모든 환자의 체온을 낮추는 것은 아니며 목표는 상태에 따라 정해요\n[핵심 설명] 냉각 패드 / 목표 체온 관리 / 발열 예방&quot;, &quot;header1&quot;: &quot;마취·중환자치료&quot;, &quot;header2&quot;: &quot;체온 관리&quot;, &quot;header3&quot;: &quot;저체온요법·목표체온관리&quot;, &quot;keywords&quot;: [&quot;심정지&quot;, &quot;저체온요법치료비&quot;, &quot;목표체온관리&quot;, &quot;순환계치료비&quot;]}">
            <a:extLst>
              <a:ext uri="{FF2B5EF4-FFF2-40B4-BE49-F238E27FC236}">
                <a16:creationId xmlns:a16="http://schemas.microsoft.com/office/drawing/2014/main" id="{65392472-FE7A-4A8E-B322-5ABCAF676DB9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213  헤더1: 마취·중환자치료  헤더2: 체온 관리  헤더3: 저체온요법·목표체온관리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심정지, 저체온요법치료비, 목표체온관리,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저체온요법·목표체온관리가 뭔가요? 심정지 후 등의 상황에서 목표 체온을 관리하고 발열을 막아요 모든 환자의 체온을 낮추는 것은 아니며 목표는 상태에 따라 정해요 [핵심 설명] 냉각 패드 / 목표 체온 관리 / 발열 예방</a:t>
            </a:r>
          </a:p>
        </p:txBody>
      </p:sp>
    </p:spTree>
    <p:extLst>
      <p:ext uri="{BB962C8B-B14F-4D97-AF65-F5344CB8AC3E}">
        <p14:creationId xmlns:p14="http://schemas.microsoft.com/office/powerpoint/2010/main" val="342349875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4BBFCB5-FFF7-4A7D-9D19-2C8A5456BC0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CDA8D575-3BB7-40FA-BDE5-734BA4BE40D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지속적 신대체요법(CRRT)이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1903EB9A-7CAC-48AD-B623-4CAD5AF2E38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중환자에서 혈액을 천천히 계속 걸러 수분·노폐물을 조절해요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72FD09B-E035-430E-9BCE-CC10984CA73C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일반 혈액투석과 달리 장시간 지속하며 상태에 맞춰 조절해요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5BFD982B-FE0B-4A37-B316-1DFFF629CB3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고객 설명 보강">
            <a:extLst>
              <a:ext uri="{FF2B5EF4-FFF2-40B4-BE49-F238E27FC236}">
                <a16:creationId xmlns:a16="http://schemas.microsoft.com/office/drawing/2014/main" id="{84ECBA42-71F5-4E77-9AC4-A3E797CF82EE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‘신대체’는 신장이 하던 일부 역할을 대신한다는 뜻이에요.</a:t>
            </a:r>
          </a:p>
        </p:txBody>
      </p:sp>
      <p:sp>
        <p:nvSpPr>
          <p:cNvPr id="8" name="RAG_METADATA_PAGE_214" descr="{&quot;page&quot;: 214, &quot;text_data&quot;: &quot;지속적 신대체요법(CRRT)이 뭔가요?\n중환자에서 혈액을 천천히 계속 걸러 수분·노폐물을 조절해요\n일반 혈액투석과 달리 장시간 지속하며 상태에 맞춰 조절해요\n‘신대체’는 신장이 하던 일부 역할을 대신한다는 뜻이에요.\n[핵심 설명] 정맥관 / 천천히 여과 / 수분·노폐물 조절&quot;, &quot;header1&quot;: &quot;마취·중환자치료&quot;, &quot;header2&quot;: &quot;신장 기능 보조&quot;, &quot;header3&quot;: &quot;지속적 신대체요법&quot;, &quot;keywords&quot;: [&quot;CRRT&quot;, &quot;지속적신대체요법치료비&quot;, &quot;급성신부전&quot;, &quot;투석&quot;, &quot;순환계치료비&quot;]}">
            <a:extLst>
              <a:ext uri="{FF2B5EF4-FFF2-40B4-BE49-F238E27FC236}">
                <a16:creationId xmlns:a16="http://schemas.microsoft.com/office/drawing/2014/main" id="{F97D9ACF-1652-40A5-9135-91AE88BB2A2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214  헤더1: 마취·중환자치료  헤더2: 신장 기능 보조  헤더3: 지속적 신대체요법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CRRT, 지속적신대체요법치료비, 급성신부전, 투석, 순환계치료비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지속적 신대체요법(CRRT)이 뭔가요? 중환자에서 혈액을 천천히 계속 걸러 수분·노폐물을 조절해요 일반 혈액투석과 달리 장시간 지속하며 상태에 맞춰 조절해요 ‘신대체’는 신장이 하던 일부 역할을 대신한다는 뜻이에요. [핵심 설명] 정맥관 / 천천히 여과 / 수분·노폐물 조절</a:t>
            </a:r>
          </a:p>
        </p:txBody>
      </p:sp>
    </p:spTree>
    <p:extLst>
      <p:ext uri="{BB962C8B-B14F-4D97-AF65-F5344CB8AC3E}">
        <p14:creationId xmlns:p14="http://schemas.microsoft.com/office/powerpoint/2010/main" val="840993609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80C3578-EDDB-437E-BECC-217E2B2B0E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1B7F0B6-0CB7-4451-9C52-1DA60E55447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중심정맥관이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658F3A82-6B06-487C-8264-3B2A604123A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큰 정맥에 연결한 관으로 약과 수액 등을 투여해요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4AC04791-359C-4956-A0C4-FE6651AD458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목·가슴·사타구니 또는 팔에서 넣으며 감염 관리가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E0437F42-9D1C-4882-89ED-9D195A560BD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15" descr="{&quot;page&quot;: 215, &quot;text_data&quot;: &quot;중심정맥관이 뭔가요?\n큰 정맥에 연결한 관으로 약과 수액 등을 투여해요\n목·가슴·사타구니 또는 팔에서 넣으며 감염 관리가 필요해요\n[핵심 설명] 큰 정맥 / 가는 관 / 약과 수액&quot;, &quot;header1&quot;: &quot;마취·중환자치료&quot;, &quot;header2&quot;: &quot;정맥 접근&quot;, &quot;header3&quot;: &quot;중심정맥관&quot;, &quot;keywords&quot;: [&quot;중심정맥관&quot;, &quot;카테터&quot;, &quot;항암치료&quot;, &quot;수액&quot;]}">
            <a:extLst>
              <a:ext uri="{FF2B5EF4-FFF2-40B4-BE49-F238E27FC236}">
                <a16:creationId xmlns:a16="http://schemas.microsoft.com/office/drawing/2014/main" id="{AE9F5E67-B3B2-4D1F-B609-74CB0E992485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215  헤더1: 마취·중환자치료  헤더2: 정맥 접근  헤더3: 중심정맥관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중심정맥관, 카테터, 항암치료, 수액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중심정맥관이 뭔가요? 큰 정맥에 연결한 관으로 약과 수액 등을 투여해요 목·가슴·사타구니 또는 팔에서 넣으며 감염 관리가 필요해요 [핵심 설명] 큰 정맥 / 가는 관 / 약과 수액</a:t>
            </a:r>
          </a:p>
        </p:txBody>
      </p:sp>
    </p:spTree>
    <p:extLst>
      <p:ext uri="{BB962C8B-B14F-4D97-AF65-F5344CB8AC3E}">
        <p14:creationId xmlns:p14="http://schemas.microsoft.com/office/powerpoint/2010/main" val="186237530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C440878-8C4B-474A-B667-1B8F62B16D1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87D2EDF2-0165-488A-A1F4-6110E03055F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인공심폐기(체외순환)가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9448D0E-49FD-49B2-AE8F-9439971DBFD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심장 수술 중 몸 밖에서 혈액 순환과 산소 공급을 도와요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468800C-96DF-472A-91CA-557626CD9F16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수술용 체외순환과 에크모는 사용 목적·회로·운용 방식이 달라요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47A27445-9DE0-4CD4-8798-31B4086566C8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16" descr="{&quot;page&quot;: 216, &quot;text_data&quot;: &quot;인공심폐기(체외순환)가 뭔가요?\n심장 수술 중 몸 밖에서 혈액 순환과 산소 공급을 도와요\n수술용 체외순환과 에크모는 사용 목적·회로·운용 방식이 달라요\n[핵심 설명] 정맥혈을 밖으로 / 산소 공급 / 동맥으로 반환&quot;, &quot;header1&quot;: &quot;마취·중환자치료&quot;, &quot;header2&quot;: &quot;체외순환&quot;, &quot;header3&quot;: &quot;인공심폐기&quot;, &quot;keywords&quot;: [&quot;인공심폐기&quot;, &quot;체외순환&quot;, &quot;심장수술&quot;, &quot;순환계치료비&quot;, &quot;종수술비&quot;]}">
            <a:extLst>
              <a:ext uri="{FF2B5EF4-FFF2-40B4-BE49-F238E27FC236}">
                <a16:creationId xmlns:a16="http://schemas.microsoft.com/office/drawing/2014/main" id="{BEA6A968-D9D2-435F-9759-82608B8972BD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216  헤더1: 마취·중환자치료  헤더2: 체외순환  헤더3: 인공심폐기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인공심폐기, 체외순환, 심장수술, 순환계치료비,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인공심폐기(체외순환)가 뭔가요? 심장 수술 중 몸 밖에서 혈액 순환과 산소 공급을 도와요 수술용 체외순환과 에크모는 사용 목적·회로·운용 방식이 달라요 [핵심 설명] 정맥혈을 밖으로 / 산소 공급 / 동맥으로 반환</a:t>
            </a:r>
          </a:p>
        </p:txBody>
      </p:sp>
    </p:spTree>
    <p:extLst>
      <p:ext uri="{BB962C8B-B14F-4D97-AF65-F5344CB8AC3E}">
        <p14:creationId xmlns:p14="http://schemas.microsoft.com/office/powerpoint/2010/main" val="353069656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78E45D6-1F20-4AFF-BE12-75DCC407D11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64C90AEE-A927-4E0C-8012-F667C77F8FF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신경파괴술이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820DAB0-A020-4B31-9664-AAE003966D0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약이나 열로 통증을 전달하는 신경의 기능을 오래 줄여요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A9AC23F8-A2FD-4395-BBF0-0B4B3890A9BE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효과·지속 기간과 부작용을 살펴 선택하며 모든 통증에 쓰지는 않아요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781B32EF-8374-40E7-A5BD-AE9291F8518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17" descr="{&quot;page&quot;: 217, &quot;text_data&quot;: &quot;신경파괴술이 뭔가요?\n약이나 열로 통증을 전달하는 신경의 기능을 오래 줄여요\n효과·지속 기간과 부작용을 살펴 선택하며 모든 통증에 쓰지는 않아요\n[핵심 설명] 통증 전달 신경 / 약 또는 열 / 신호를 줄여요&quot;, &quot;header1&quot;: &quot;통증·재활&quot;, &quot;header2&quot;: &quot;중재적 통증치료&quot;, &quot;header3&quot;: &quot;신경파괴술&quot;, &quot;keywords&quot;: [&quot;암통합치료비&quot;, &quot;암통증완화치료비&quot;, &quot;신경파괴술&quot;, &quot;신경차단&quot;, &quot;통증치료&quot;]}">
            <a:extLst>
              <a:ext uri="{FF2B5EF4-FFF2-40B4-BE49-F238E27FC236}">
                <a16:creationId xmlns:a16="http://schemas.microsoft.com/office/drawing/2014/main" id="{C7444A1E-0F02-42F0-A308-888E604A2FC4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217  헤더1: 통증·재활  헤더2: 중재적 통증치료  헤더3: 신경파괴술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암통증완화치료비, 신경파괴술, 신경차단, 통증치료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신경파괴술이 뭔가요? 약이나 열로 통증을 전달하는 신경의 기능을 오래 줄여요 효과·지속 기간과 부작용을 살펴 선택하며 모든 통증에 쓰지는 않아요 [핵심 설명] 통증 전달 신경 / 약 또는 열 / 신호를 줄여요</a:t>
            </a:r>
          </a:p>
        </p:txBody>
      </p:sp>
    </p:spTree>
    <p:extLst>
      <p:ext uri="{BB962C8B-B14F-4D97-AF65-F5344CB8AC3E}">
        <p14:creationId xmlns:p14="http://schemas.microsoft.com/office/powerpoint/2010/main" val="147797037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375E42F-68A5-4F04-8A65-064324F06D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48EFA8AE-390C-4EB6-9FE9-CAD56D0268B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마약성 진통제가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9150F846-CEF9-43EE-BEBB-EECE0E51876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심한 통증을 조절하는 데 쓰는 처방 진통제예요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C6D1EF6-A4FD-4A25-9058-5E6BE348D34B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변비·졸림·호흡 억제 등을 살피며 임의로 양을 바꾸지 않아요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710581B-4C79-4996-8D4E-4721162127A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18" descr="{&quot;page&quot;: 218, &quot;text_data&quot;: &quot;마약성 진통제가 뭔가요?\n심한 통증을 조절하는 데 쓰는 처방 진통제예요\n변비·졸림·호흡 억제 등을 살피며 임의로 양을 바꾸지 않아요\n[핵심 설명] 먹는 약 / 붙이는 약 / 주사&quot;, &quot;header1&quot;: &quot;통증·재활&quot;, &quot;header2&quot;: &quot;통증 약물치료&quot;, &quot;header3&quot;: &quot;마약성 진통제&quot;, &quot;keywords&quot;: [&quot;암통합치료비&quot;, &quot;암통증완화치료비&quot;, &quot;마약성진통제&quot;, &quot;진통제패치&quot;, &quot;암성통증&quot;]}">
            <a:extLst>
              <a:ext uri="{FF2B5EF4-FFF2-40B4-BE49-F238E27FC236}">
                <a16:creationId xmlns:a16="http://schemas.microsoft.com/office/drawing/2014/main" id="{D9A5006D-C35D-4AD7-89D8-B7465D69E0CB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218  헤더1: 통증·재활  헤더2: 통증 약물치료  헤더3: 마약성 진통제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암통합치료비, 암통증완화치료비, 마약성진통제, 진통제패치, 암성통증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마약성 진통제가 뭔가요? 심한 통증을 조절하는 데 쓰는 처방 진통제예요 변비·졸림·호흡 억제 등을 살피며 임의로 양을 바꾸지 않아요 [핵심 설명] 먹는 약 / 붙이는 약 / 주사</a:t>
            </a:r>
          </a:p>
        </p:txBody>
      </p:sp>
    </p:spTree>
    <p:extLst>
      <p:ext uri="{BB962C8B-B14F-4D97-AF65-F5344CB8AC3E}">
        <p14:creationId xmlns:p14="http://schemas.microsoft.com/office/powerpoint/2010/main" val="1446616983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FC97033-0D94-46CD-9064-5C0D3921211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C5C102C-0BE8-4D3E-815D-43B8C23C48A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약물주입펌프(척수강 내)가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A71A957A-074F-4508-8F7C-F56B9447531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피부 밑 펌프가 척수강의 액체 공간으로 약을 소량 전달해요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EFB0A2EB-ECD8-480A-946D-11C76805038F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통증이나 강직의 일부 환자에게 사용하며 정기 충전·관리가 필요해요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D4C62FB2-CE1F-40B0-94DA-11A25BEBCEE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19" descr="{&quot;page&quot;: 219, &quot;text_data&quot;: &quot;약물주입펌프(척수강 내)가 뭔가요?\n피부 밑 펌프가 척수강의 액체 공간으로 약을 소량 전달해요\n통증이나 강직의 일부 환자에게 사용하며 정기 충전·관리가 필요해요\n[핵심 설명] 피부 아래 펌프 / 척수강의 관 / 약을 소량 전달&quot;, &quot;header1&quot;: &quot;통증·재활&quot;, &quot;header2&quot;: &quot;삽입형 통증치료&quot;, &quot;header3&quot;: &quot;척수강 내 약물주입펌프&quot;, &quot;keywords&quot;: [&quot;통증펌프&quot;, &quot;척수강내약물주입&quot;, &quot;만성통증&quot;, &quot;질병수술비&quot;, &quot;종수술비&quot;]}">
            <a:extLst>
              <a:ext uri="{FF2B5EF4-FFF2-40B4-BE49-F238E27FC236}">
                <a16:creationId xmlns:a16="http://schemas.microsoft.com/office/drawing/2014/main" id="{6E82C44C-5091-4844-9EF6-2C19972C62FC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219  헤더1: 통증·재활  헤더2: 삽입형 통증치료  헤더3: 척수강 내 약물주입펌프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통증펌프, 척수강내약물주입, 만성통증,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약물주입펌프(척수강 내)가 뭔가요? 피부 밑 펌프가 척수강의 액체 공간으로 약을 소량 전달해요 통증이나 강직의 일부 환자에게 사용하며 정기 충전·관리가 필요해요 [핵심 설명] 피부 아래 펌프 / 척수강의 관 / 약을 소량 전달</a:t>
            </a:r>
          </a:p>
        </p:txBody>
      </p:sp>
    </p:spTree>
    <p:extLst>
      <p:ext uri="{BB962C8B-B14F-4D97-AF65-F5344CB8AC3E}">
        <p14:creationId xmlns:p14="http://schemas.microsoft.com/office/powerpoint/2010/main" val="1291845155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407805B-02A2-440A-85BC-FE1E47662E0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DC1ECE65-C146-45A3-981C-C3BBEC194F2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척수신경자극기가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2C8A9A68-0055-49B5-8442-46EC1D592F92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척수 근처의 전극으로 신경 신호를 조절해 통증 완화를 도와요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38E47CF-4329-4758-827E-761EE6EB5D71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대개 시험 자극으로 효과를 확인한 뒤 기기 삽입을 결정해요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B86EC72B-63FA-4236-95D0-7FAC886FA30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20" descr="{&quot;page&quot;: 220, &quot;text_data&quot;: &quot;척수신경자극기가 뭔가요?\n척수 근처의 전극으로 신경 신호를 조절해 통증 완화를 도와요\n대개 시험 자극으로 효과를 확인한 뒤 기기 삽입을 결정해요\n[핵심 설명] 피부 아래 배터리 / 경막외 전극 / 전기 자극&quot;, &quot;header1&quot;: &quot;통증·재활&quot;, &quot;header2&quot;: &quot;삽입형 통증치료&quot;, &quot;header3&quot;: &quot;척수신경자극기&quot;, &quot;keywords&quot;: [&quot;척수자극기&quot;, &quot;척수신경자극술&quot;, &quot;만성통증&quot;, &quot;질병수술비&quot;, &quot;종수술비&quot;]}">
            <a:extLst>
              <a:ext uri="{FF2B5EF4-FFF2-40B4-BE49-F238E27FC236}">
                <a16:creationId xmlns:a16="http://schemas.microsoft.com/office/drawing/2014/main" id="{3A225FCD-8706-450A-92F5-1E1AF802C7D6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220  헤더1: 통증·재활  헤더2: 삽입형 통증치료  헤더3: 척수신경자극기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척수자극기, 척수신경자극술, 만성통증, 질병수술비, 종수술비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척수신경자극기가 뭔가요? 척수 근처의 전극으로 신경 신호를 조절해 통증 완화를 도와요 대개 시험 자극으로 효과를 확인한 뒤 기기 삽입을 결정해요 [핵심 설명] 피부 아래 배터리 / 경막외 전극 / 전기 자극</a:t>
            </a:r>
          </a:p>
        </p:txBody>
      </p:sp>
    </p:spTree>
    <p:extLst>
      <p:ext uri="{BB962C8B-B14F-4D97-AF65-F5344CB8AC3E}">
        <p14:creationId xmlns:p14="http://schemas.microsoft.com/office/powerpoint/2010/main" val="473503245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07C4913-01DC-4E5E-9EEF-5C64566D6FA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B0A8FB5F-2B4D-49AF-A8B9-17CA3224459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재활치료가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D906850B-B735-498F-A5C9-9F14255942B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병이나 치료 뒤 움직임·의사소통·일상 기능을 회복하도록 도와요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3DA12590-82EC-4AD2-A431-7698949CF7BC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상태와 목표에 맞춰 운동·작업·언어·삼킴 치료 등을 조합해요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2CADCE70-6B24-4483-B835-F7BE7135841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21" descr="{&quot;page&quot;: 221, &quot;text_data&quot;: &quot;재활치료가 뭔가요?\n병이나 치료 뒤 움직임·의사소통·일상 기능을 회복하도록 도와요\n상태와 목표에 맞춰 운동·작업·언어·삼킴 치료 등을 조합해요\n[핵심 설명] 운동 치료 / 일상 동작 훈련 / 말·삼킴 훈련&quot;, &quot;header1&quot;: &quot;통증·재활&quot;, &quot;header2&quot;: &quot;기능 회복 재활&quot;, &quot;header3&quot;: &quot;재활치료&quot;, &quot;keywords&quot;: [&quot;재활치료&quot;, &quot;뇌졸중&quot;, &quot;후유장해&quot;, &quot;순환계치료비&quot;, &quot;상해통합치료비&quot;]}">
            <a:extLst>
              <a:ext uri="{FF2B5EF4-FFF2-40B4-BE49-F238E27FC236}">
                <a16:creationId xmlns:a16="http://schemas.microsoft.com/office/drawing/2014/main" id="{C1CACB93-36F6-47F6-96C5-FEAC90225078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221  헤더1: 통증·재활  헤더2: 기능 회복 재활  헤더3: 재활치료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재활치료, 뇌졸중, 후유장해, 순환계치료비, 상해통합치료비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재활치료가 뭔가요? 병이나 치료 뒤 움직임·의사소통·일상 기능을 회복하도록 도와요 상태와 목표에 맞춰 운동·작업·언어·삼킴 치료 등을 조합해요 [핵심 설명] 운동 치료 / 일상 동작 훈련 / 말·삼킴 훈련</a:t>
            </a:r>
          </a:p>
        </p:txBody>
      </p:sp>
    </p:spTree>
    <p:extLst>
      <p:ext uri="{BB962C8B-B14F-4D97-AF65-F5344CB8AC3E}">
        <p14:creationId xmlns:p14="http://schemas.microsoft.com/office/powerpoint/2010/main" val="970215889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DB19D47-60C4-4EE0-B24D-F8A60353591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2EF99F70-3A93-497F-8D38-35AC53C7E36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보행 재활이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0675FD4C-AE93-45FD-8F16-A7A910DCD01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서기와 균형부터 걸음까지 단계적으로 연습하는 재활이에요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ACB332BA-0765-44E7-BCA4-CD93356CB023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보조기구·체중 지지 장치 등은 필요에 맞춰 사용해요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5D6413D-90C6-461D-9886-CC0A69BD662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22" descr="{&quot;page&quot;: 222, &quot;text_data&quot;: &quot;보행 재활이 뭔가요?\n서기와 균형부터 걸음까지 단계적으로 연습하는 재활이에요\n보조기구·체중 지지 장치 등은 필요에 맞춰 사용해요\n[핵심 설명] 서기·균형 / 평행봉 걷기 / 보조기구&quot;, &quot;header1&quot;: &quot;통증·재활&quot;, &quot;header2&quot;: &quot;기능 회복 재활&quot;, &quot;header3&quot;: &quot;보행 재활&quot;, &quot;keywords&quot;: [&quot;보행재활&quot;, &quot;뇌졸중&quot;, &quot;후유장해&quot;, &quot;순환계치료비&quot;, &quot;상해통합치료비&quot;]}">
            <a:extLst>
              <a:ext uri="{FF2B5EF4-FFF2-40B4-BE49-F238E27FC236}">
                <a16:creationId xmlns:a16="http://schemas.microsoft.com/office/drawing/2014/main" id="{B338C39F-886A-46A9-A997-33707FF54CBF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222  헤더1: 통증·재활  헤더2: 기능 회복 재활  헤더3: 보행 재활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보행재활, 뇌졸중, 후유장해, 순환계치료비, 상해통합치료비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보행 재활이 뭔가요? 서기와 균형부터 걸음까지 단계적으로 연습하는 재활이에요 보조기구·체중 지지 장치 등은 필요에 맞춰 사용해요 [핵심 설명] 서기·균형 / 평행봉 걷기 / 보조기구</a:t>
            </a:r>
          </a:p>
        </p:txBody>
      </p:sp>
    </p:spTree>
    <p:extLst>
      <p:ext uri="{BB962C8B-B14F-4D97-AF65-F5344CB8AC3E}">
        <p14:creationId xmlns:p14="http://schemas.microsoft.com/office/powerpoint/2010/main" val="1662762381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87ECA0A-EF38-45CB-AC30-85F4E7B40D9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제목">
            <a:extLst>
              <a:ext uri="{FF2B5EF4-FFF2-40B4-BE49-F238E27FC236}">
                <a16:creationId xmlns:a16="http://schemas.microsoft.com/office/drawing/2014/main" id="{E7E3C24C-B226-48BF-A488-C1CD65919F3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암 재활이 뭔가요?</a:t>
            </a:r>
          </a:p>
        </p:txBody>
      </p:sp>
      <p:sp>
        <p:nvSpPr>
          <p:cNvPr id="3" name="한 줄 설명">
            <a:extLst>
              <a:ext uri="{FF2B5EF4-FFF2-40B4-BE49-F238E27FC236}">
                <a16:creationId xmlns:a16="http://schemas.microsoft.com/office/drawing/2014/main" id="{EE1E16F0-3C87-4183-ABDD-31A5804A090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87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526279"/>
                </a:solidFill>
                <a:latin typeface="Pretendard"/>
                <a:ea typeface="Pretendard"/>
                <a:cs typeface="Pretendard"/>
              </a:rPr>
              <a:t>암과 치료로 생긴 불편을 줄이고 일상 기능 회복을 도와요</a:t>
            </a:r>
          </a:p>
        </p:txBody>
      </p:sp>
      <p:sp>
        <p:nvSpPr>
          <p:cNvPr id="4" name="알아둘 점">
            <a:extLst>
              <a:ext uri="{FF2B5EF4-FFF2-40B4-BE49-F238E27FC236}">
                <a16:creationId xmlns:a16="http://schemas.microsoft.com/office/drawing/2014/main" id="{BDAD46A9-ECCC-4336-A6A3-99F4D13F76B4}"/>
              </a:ext>
            </a:extLst>
          </p:cNvPr>
          <p:cNvSpPr>
            <a:spLocks noGrp="1"/>
          </p:cNvSpPr>
          <p:nvPr/>
        </p:nvSpPr>
        <p:spPr>
          <a:xfrm>
            <a:off x="552450" y="5915025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defRPr>
            </a:pPr>
            <a:r>
              <a:rPr sz="1800" b="0" i="0">
                <a:solidFill>
                  <a:srgbClr val="26364C"/>
                </a:solidFill>
                <a:latin typeface="Pretendard"/>
                <a:ea typeface="Pretendard"/>
                <a:cs typeface="Pretendard"/>
              </a:rPr>
              <a:t>림프부종·피로·관절·삼킴 문제 등 목표에 맞춰 치료해요</a:t>
            </a:r>
          </a:p>
        </p:txBody>
      </p:sp>
      <p:sp>
        <p:nvSpPr>
          <p:cNvPr id="5" name="안내">
            <a:extLst>
              <a:ext uri="{FF2B5EF4-FFF2-40B4-BE49-F238E27FC236}">
                <a16:creationId xmlns:a16="http://schemas.microsoft.com/office/drawing/2014/main" id="{1902228F-4537-4479-AE2B-065A8EBC03E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953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8B95A1"/>
                </a:solidFill>
                <a:latin typeface="Pretendard"/>
                <a:ea typeface="Pretendard"/>
                <a:cs typeface="Pretendard"/>
              </a:rPr>
              <a:t>일반적인 의료 정보입니다. 실제 치료는 의료진과 상의하세요.</a:t>
            </a:r>
          </a:p>
        </p:txBody>
      </p:sp>
      <p:sp>
        <p:nvSpPr>
          <p:cNvPr id="7" name="RAG_METADATA_PAGE_223" descr="{&quot;page&quot;: 223, &quot;text_data&quot;: &quot;암 재활이 뭔가요?\n암과 치료로 생긴 불편을 줄이고 일상 기능 회복을 도와요\n림프부종·피로·관절·삼킴 문제 등 목표에 맞춰 치료해요\n[핵심 설명] 붓기 관리 / 체력 회복 / 일상 복귀 훈련&quot;, &quot;header1&quot;: &quot;통증·재활&quot;, &quot;header2&quot;: &quot;암 재활&quot;, &quot;header3&quot;: &quot;암 재활치료&quot;, &quot;keywords&quot;: [&quot;암재활치료비&quot;, &quot;암통합치료비&quot;, &quot;암재활&quot;, &quot;림프부종&quot;]}">
            <a:extLst>
              <a:ext uri="{FF2B5EF4-FFF2-40B4-BE49-F238E27FC236}">
                <a16:creationId xmlns:a16="http://schemas.microsoft.com/office/drawing/2014/main" id="{54EF0C71-1BD1-4FB9-BA64-D9086A35A5A1}"/>
              </a:ext>
            </a:extLst>
          </p:cNvPr>
          <p:cNvSpPr>
            <a:spLocks noGrp="1"/>
          </p:cNvSpPr>
          <p:nvPr/>
        </p:nvSpPr>
        <p:spPr>
          <a:xfrm>
            <a:off x="5619750" y="6486525"/>
            <a:ext cx="6191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>
            <a:def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Page: 223  헤더1: 통증·재활  헤더2: 암 재활  헤더3: 암 재활치료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keyword: 암재활치료비, 암통합치료비, 암재활, 림프부종</a:t>
            </a:r>
          </a:p>
          <a:p>
            <a:pPr algn="r">
              <a:lnSpc>
                <a:spcPts val="120"/>
              </a:lnSpc>
              <a:buNone/>
              <a:def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ln w="0">
                  <a:noFill/>
                  <a:prstDash val="solid"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 data: 암 재활이 뭔가요? 암과 치료로 생긴 불편을 줄이고 일상 기능 회복을 도와요 림프부종·피로·관절·삼킴 문제 등 목표에 맞춰 치료해요 [핵심 설명] 붓기 관리 / 체력 회복 / 일상 복귀 훈련</a:t>
            </a:r>
          </a:p>
        </p:txBody>
      </p:sp>
    </p:spTree>
    <p:extLst>
      <p:ext uri="{BB962C8B-B14F-4D97-AF65-F5344CB8AC3E}">
        <p14:creationId xmlns:p14="http://schemas.microsoft.com/office/powerpoint/2010/main" val="3534048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47535</Words>
  <Application>Microsoft Office PowerPoint</Application>
  <DocSecurity>0</DocSecurity>
  <PresentationFormat>와이드스크린</PresentationFormat>
  <Paragraphs>4400</Paragraphs>
  <Slides>223</Slides>
  <Notes>223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223</vt:i4>
      </vt:variant>
    </vt:vector>
  </HeadingPairs>
  <TitlesOfParts>
    <vt:vector size="225" baseType="lpstr">
      <vt:lpstr>Pretendard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3</cp:revision>
  <dcterms:created xsi:type="dcterms:W3CDTF">2026-10-13T17:25:50Z</dcterms:created>
  <dcterms:modified xsi:type="dcterms:W3CDTF">2026-10-23T09:43:32Z</dcterms:modified>
</cp:coreProperties>
</file>