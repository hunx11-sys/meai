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notesMasterIdLst>
    <p:notesMasterId r:id="rId7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구성비</c:v>
                </c:pt>
              </c:strCache>
            </c:strRef>
          </c:tx>
          <c:spPr>
            <a:solidFill>
              <a:srgbClr val="3182F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D4B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자살</c:v>
                  </c:pt>
                  <c:pt idx="1">
                    <c:v>뇌혈관질환</c:v>
                  </c:pt>
                  <c:pt idx="2">
                    <c:v>폐렴</c:v>
                  </c:pt>
                  <c:pt idx="3">
                    <c:v>심장질환</c:v>
                  </c:pt>
                  <c:pt idx="4">
                    <c:v>암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4.1</c:v>
                </c:pt>
                <c:pt idx="1">
                  <c:v>6.9</c:v>
                </c:pt>
                <c:pt idx="2">
                  <c:v>8.4</c:v>
                </c:pt>
                <c:pt idx="3">
                  <c:v>9.4</c:v>
                </c:pt>
                <c:pt idx="4">
                  <c:v>24.8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333D4B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E5968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기준금리</c:v>
                </c:pt>
              </c:strCache>
            </c:strRef>
          </c:tx>
          <c:spPr>
            <a:solidFill>
              <a:srgbClr val="3182F6"/>
            </a:solidFill>
            <a:ln w="38100" cap="flat">
              <a:solidFill>
                <a:srgbClr val="3182F6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3D4B"/>
                    </a:solidFill>
                    <a:latin typeface="맑은 고딕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3182F6"/>
              </a:solidFill>
              <a:ln w="9525" cap="flat">
                <a:solidFill>
                  <a:srgbClr val="31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21.8</c:v>
                  </c:pt>
                  <c:pt idx="1">
                    <c:v>22.1</c:v>
                  </c:pt>
                  <c:pt idx="2">
                    <c:v>22.7</c:v>
                  </c:pt>
                  <c:pt idx="3">
                    <c:v>23.1</c:v>
                  </c:pt>
                  <c:pt idx="4">
                    <c:v>24.10</c:v>
                  </c:pt>
                  <c:pt idx="5">
                    <c:v>25.2</c:v>
                  </c:pt>
                  <c:pt idx="6">
                    <c:v>25.5</c:v>
                  </c:pt>
                  <c:pt idx="7">
                    <c:v>26.7</c:v>
                  </c:pt>
                  <c:pt idx="8">
                    <c:v>26.8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0.75</c:v>
                </c:pt>
                <c:pt idx="1">
                  <c:v>1.25</c:v>
                </c:pt>
                <c:pt idx="2">
                  <c:v>2.25</c:v>
                </c:pt>
                <c:pt idx="3">
                  <c:v>3.5</c:v>
                </c:pt>
                <c:pt idx="4">
                  <c:v>3.25</c:v>
                </c:pt>
                <c:pt idx="5">
                  <c:v>2.75</c:v>
                </c:pt>
                <c:pt idx="6">
                  <c:v>2.5</c:v>
                </c:pt>
                <c:pt idx="7">
                  <c:v>2.75</c:v>
                </c:pt>
                <c:pt idx="8">
                  <c:v>3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950" u="none">
                  <a:solidFill>
                    <a:srgbClr val="333D4B"/>
                  </a:solidFill>
                  <a:latin typeface="맑은 고딕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684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이 교안은 2022년 TA워크샵 「생명보험 파헤치기」, 2020년 EM교육 「생명보험 증권 만나면」, 2023년 「생보 파훼법」 교안을 2026년 최신 통계·규제·시장 트렌드로 전면 개편한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도입부. 4가지 변화 요인을 짚고, 기존 교안이 왜 업데이트가 필요한지 공감대를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아이스브레이킹. 손을 들어보게 하세요. 대부분 왼쪽입니다. 2020년 EM교안의 오프닝을 계승했습니다.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2020년 「생보 vs 손보」 교안의 실제 사례. 교통재해사망특약(대중교통 이용 중 재해사망 시 고액)을 「사망 시 10억」으로 기억하는 고객 이야기입니다.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화법: "고객님, 83세까지 사는 건 확률이 아니라 기본값이에요. 문제는 그중 18년을 어떤 돈으로 버티느냐입니다."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2020년 EM교안 「터진다 &lt; 막힌다 &lt; 좁아진다」 화법의 근거 통계입니다. 심평원 최신(2024) 환자 수는 국민관심질병통계에서 갱신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2026.7.16 2.50→2.75%(3년 6개월 만의 인상), 8.27 3.00%(연속 인상). 6월 CPI 3.2%, 8월 3.1%. 금리 상승 = 대출이자 부담 상승 → 보험 해지 압력도 함께 커집니다(다음 슬라이드).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2022년 TA워크샵 「생명보험 상품 이해하기」의 상품 트리를 2026년 기준으로 갱신. 생보 건강보험(제3보험)을 보장성 가지에 추가했습니다.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2020년 EM교안 「생명보험 상품 어렵지 않아요」의 상품명 해부를 계승. 단어 하나=기능 하나=비용 하나라는 비유로 요약합니다.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2020년 「생보 vs 손보」 교안의 "주계약 5,000만원 가입 시 사망하면 5,000만원, 진단 후 사망하면 1,000만원" 사례를 이 구조와 함께 설명하세요.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적용 평균공시이율 2.50%(금감원 고시, 2025.12), 5대 은행 1년 정기예금 3.30~3.45%(2026.9). 회사별 공시이율은 생명보험협회 공시실에서 강의 시점 수치로 갱신하세요.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2022년 TA워크샵 「보증비용부과형 보험료 비교」의 D사·K사 사례 수치를 인용. 최신 상품설명서로 갱신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2022년 교안의 "STOP &amp; GO" 화법과 2023년 교안의 "입출금 통장처럼 빼서 쓴다고요? 이자 10% 현금서비스에요"를 결합했습니다.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2020년 EM교안 「특별계정 투입보험료(납입보험료×85~95%)」 도식을 계승. 달러종신은 2023년 교안 실패사례와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2022년 TA워크샵 「종신보험 변화(1~6세대)」를 7·8세대까지 확장. 연도는 시장에서 주류가 된 대략적 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IRR은 월 100만원×60회 납입, 120개월 시점 7,200만원 수령 가정으로 계산(약 2.6%/년). 2023년 「단기납종신 vs 저축」 부록을 확장.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2020년 EM교안 「연금전환 틀린 말은 아닙니다」 + 2025년 사망보험금 유동화 제도. 제도 세부는 Part 1 통계·규제 슬라이드 참고.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2020년 EM교안 「다트 던져보셨나요?」 + 2022년 TA워크샵 CI 세부 설명을 결합.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2022년 TA워크샵 CI 세부(중대한 암/뇌졸중/급성심근경색) 계승. 회사별 약관에 따라 CK-MB 외 트로포닌 인정 여부가 다르므로 해당 증권의 약관으로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2022년 TA워크샵 「통합보험 비교(생보 &amp; 손보)」 슬라이드 계승. "예시로 18가지 담보 중 하나를 보상받으면 나머지 17개 소멸".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2020년 EM교안 「늑대 피하려다 호랑이 만난 격」과 2022년 TA워크샵 GI 설명(뇌경색·협심증 부지급, 최초 1회한, 종신 대비 비싼 보험료)을 한 사람의 시나리오로 재구성. 진단비 3,000만·선지급 80%는 예시 설계.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부록 「재해」 섹션 계승. 재해분류표의 구체적 제외 항목은 해당 증권의 약관 별표를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부록 「보험료감액/감액완납/연장정기」 계승. 실제 처리는 해당 생보사 콜센터·앱에서 고객이 직접 신청.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2022년 TA워크샵 「3. 계약자, 피보험자를 확인해라」 계승. 세제 세부는 Part 1 규제 슬라이드와 최신 세법 참고.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2022년 TA워크샵·2023년 파훼법 교안의 4분면 매트릭스 계승. 2023년 교안 「필요하다고 느낀 보험에 동그라미」 워크를 포함.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생보 신상품 예: 한화 시그니처H통합건강(2026.1, 12대 질병 납면), 삼성 인터넷 뇌심건강(2025.7), 교보(2024.3). 고객이 보유한 옛 종신·CI·GI와 구분해서 말하세요.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2020년 EM교안 「생명보험 vs 메리츠화재 암 보장범위」 계승. "생보는 무조건 소액암"이 아니라 "소액암 구분 상품이 여전히 많다"가 정확한 표현입니다. 고객 증권의 암 분류표를 함께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보험료 수치는 시점·연령·회사별로 달라집니다. 강의 시 당사 전산 견적으로 갱신하고, 비교 대상 생보사 견적은 보험다모아(e-insmarket.or.kr)에서 조회하세요.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2020년 EM교안 「사망보장을 위해 가입하신 분이라면 — 정기보험·복층설계」와 「오늘 1억과 40년 후 1억의 가치」 계승. 물가 2%면 40년 뒤 1억의 실질가치는 약 4,500만원.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2020년 EM교안 「납입면제 비교」 계승(엠바스켓 11대 납면, 더좋은엠바 희귀난치 7대 포함). 현행 판매 상품의 납면 조건은 최신 상품설명서로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교안 「보험은 병원 가는 순서대로 가입하는 것」 + 「사망은 치료/입원/수술/간병 받지 않아 생깁니다」 계승. 간병일당 20만원 경쟁(2026.8 NH농협생명·현대해상, 금감원 예의주시) 참고.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교안 「고객의 마음과 생각을 알고 있으면? 영업은 오픈북 테스트, 네비게이션 킨 운전이 된다」 계승.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교안 「생명보험 MDRT의 영업 방식: 고객의 목표 설정」「고객은 종신보험을 기대하고 가입한게 아닙니다」 계승.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교안 「종신보험 가입 당시 고객 시점: 3단계 위험」 계승. 통계는 Part 1 슬라이드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교안 「실패사례: 의욕이 앞선 컨설팅」 대화 재현. 롤플레이로 읽어 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교안 「왜그그: 보험 상담의 기초 과정」 계승.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교안 「왜? = 가입 시점 있었던 일을 추리」 스크립트.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교안 「그 밖에 또? = 고객이 보험으로 기대한 점을 확실하게 파악」 + 「고객이 원했던 것, 실제 가입한 것 정리」 계승.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교안 「그래서! = 고객이 거절해도 고객의 시야로 컨설팅 접근」 계승.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교안 「보험에 대한 신뢰가 깨지면 보험은 의미 없어진다」「종신보험, 잘 사용하면 좋은 것 맞습니다. 그러나!」 계승. 2022년 TA워크샵 「종신보험도 좋은 보험이다 / 판매 방법이 잘못된 것이다」와 같은 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교안 「파훼법 1. 설계사 관리 리스크」 계승 + 2026 통계.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교안 「파훼법 2. 종신사망 무용론」 계승. 통계: 2024 사망원인통계, 2023 국가암등록통계, 건보공단 생애의료비(2025.12).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교안 「파훼법 3. 저축이 아닌 밑 빠진 독에 물붓기」 계승.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2020년 「생보 vs 손보」 교안(10억 버스, 최초 1회한)과 EM교안(다트판) 계승.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2022년 TA워크샵 「종신보험으로 절약한 보험료를 암·뇌·심혈관 치료와 소득상실 대비」 계승. 보험료는 예시이며 강의 전 당사 견적으로 갱신.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환급률→IRR 환산은 Part 2 「단기납 종신 착시」 슬라이드 참조. 환급률 수치: 보험저널(2026.9).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달러보험 판매 건수·소비자경보: 금감원(2026.1). 생보 신형 건강보험: 한화 시그니처H(2026.1), 삼성 뇌심(2025.7), 교보(2024.3).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2020년 EM교안 「나를 위한 보장은 생명보험보다 메리츠화재」 결론 계승. 현행 판매 상품명·담보는 강의 시점 상품설명서로 갱신.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2022년 TA워크샵 강의복기 「미션부여(보장분석 연계 활용): 영업포탈 시연을 통하여 직접 확인하고 활용하도록」 계승.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2022년 TA워크샵 강의복기 「POINT로 몰입시키기: 하나라도 그냥 꼭 기억시키자, 그리고 움직이게 만들자」 계승.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2022년 TA워크샵 강의복기 「미션부여」「선택과 집중 전략」 + 2020년 EM교안 「★미션★」 계승.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2020년 EM교안 「지금까지 배운 내용 총 정리」 3문장 구조 계승.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2022년 TA워크샵 마무리 「안된다 하지말고! 아니라 하지말고! 긍정적으로! 힘찬 하루 시작!」과 2023년 교안 「우리가 먼저 다가가야 합니다」를 결합한 클로징.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50631569-faa5-59b7-821a-dea1a7200ace/scratchpad/build/cache/grad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MeAI/50631569-faa5-59b7-821a-dea1a7200ace/scratchpad/build/cache/blob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-1371600"/>
            <a:ext cx="5943600" cy="5943600"/>
          </a:xfrm>
          <a:prstGeom prst="rect">
            <a:avLst/>
          </a:prstGeom>
        </p:spPr>
      </p:pic>
      <p:pic>
        <p:nvPicPr>
          <p:cNvPr id="4" name="Image 2" descr="/tmp/claude-0/-home-user-MeAI/50631569-faa5-59b7-821a-dea1a7200ace/scratchpad/build/cache/blob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71600" y="3200400"/>
            <a:ext cx="5029200" cy="50292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31520" y="731520"/>
            <a:ext cx="3388766" cy="352958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6" name="Text 1"/>
          <p:cNvSpPr txBox="1"/>
          <p:nvPr/>
        </p:nvSpPr>
        <p:spPr>
          <a:xfrm>
            <a:off x="731520" y="731520"/>
            <a:ext cx="338876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영업가족 컨설팅 교안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731520" y="1417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생명보험 파헤치기</a:t>
            </a:r>
            <a:endParaRPr lang="en-US" sz="5400" dirty="0"/>
          </a:p>
        </p:txBody>
      </p:sp>
      <p:sp>
        <p:nvSpPr>
          <p:cNvPr id="8" name="Text 3"/>
          <p:cNvSpPr txBox="1"/>
          <p:nvPr/>
        </p:nvSpPr>
        <p:spPr>
          <a:xfrm>
            <a:off x="73152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DC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종신보험 증권, 어떻게 읽고 어떻게 제안할까</a:t>
            </a:r>
            <a:endParaRPr lang="en-US" sz="2600" dirty="0"/>
          </a:p>
        </p:txBody>
      </p:sp>
      <p:sp>
        <p:nvSpPr>
          <p:cNvPr id="9" name="Text 4"/>
          <p:cNvSpPr txBox="1"/>
          <p:nvPr/>
        </p:nvSpPr>
        <p:spPr>
          <a:xfrm>
            <a:off x="731520" y="3337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8C7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최신 통계와 트렌드로 다시 쓴 「지피지기 백전백승」 편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731520" y="4572000"/>
            <a:ext cx="2148840" cy="1143000"/>
          </a:xfrm>
          <a:prstGeom prst="roundRect">
            <a:avLst>
              <a:gd name="adj" fmla="val 176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60120" y="4709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5212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최신 통계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3063240" y="4572000"/>
            <a:ext cx="2148840" cy="1143000"/>
          </a:xfrm>
          <a:prstGeom prst="roundRect">
            <a:avLst>
              <a:gd name="adj" fmla="val 176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3291840" y="4709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🧬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3291840" y="5212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해부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394960" y="4572000"/>
            <a:ext cx="2148840" cy="1143000"/>
          </a:xfrm>
          <a:prstGeom prst="roundRect">
            <a:avLst>
              <a:gd name="adj" fmla="val 176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623560" y="4709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5623560" y="5212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화법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726680" y="4572000"/>
            <a:ext cx="2148840" cy="1143000"/>
          </a:xfrm>
          <a:prstGeom prst="roundRect">
            <a:avLst>
              <a:gd name="adj" fmla="val 176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955280" y="4709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7955280" y="5212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 솔루션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8C7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세일즈혁신TF 이헌수 · 2026.09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78254" cy="31455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782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PROLOGUE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지금, 다시 생명보험을 배워야 할까요?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판이 바뀌었습니다. 생보의 무기가 바뀌었고, 고객의 지갑 사정도 바뀌었습니다.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440680" cy="1783080"/>
          </a:xfrm>
          <a:prstGeom prst="roundRect">
            <a:avLst>
              <a:gd name="adj" fmla="val 112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286000"/>
            <a:ext cx="822960" cy="822960"/>
          </a:xfrm>
          <a:prstGeom prst="ellipse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pic>
        <p:nvPicPr>
          <p:cNvPr id="10" name="Image 0" descr="/tmp/claude-0/-home-user-MeAI/50631569-faa5-59b7-821a-dea1a7200ace/scratchpad/build/cache/ic_fa6_FaArrowTrendUp_3182F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483510"/>
            <a:ext cx="427939" cy="42793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874520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금리가 다시 오릅니다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6974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8월 기준금리 3.00%, 정기예금 3.4%대. 생보의 「이자 붙는 보험」 화법이 되살아나는 시기입니다. 예금을 못 이기는 이유를 설명할 수 있어야 합니다.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1965960"/>
            <a:ext cx="5440680" cy="1783080"/>
          </a:xfrm>
          <a:prstGeom prst="roundRect">
            <a:avLst>
              <a:gd name="adj" fmla="val 112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6520" y="2286000"/>
            <a:ext cx="822960" cy="822960"/>
          </a:xfrm>
          <a:prstGeom prst="ellipse">
            <a:avLst/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pic>
        <p:nvPicPr>
          <p:cNvPr id="15" name="Image 1" descr="/tmp/claude-0/-home-user-MeAI/50631569-faa5-59b7-821a-dea1a7200ace/scratchpad/build/cache/ic_fa6_FaShieldHeart_F0445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030" y="2483510"/>
            <a:ext cx="427939" cy="42793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498080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생보사가 손보 영역으로 들어왔습니다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7498080" y="26974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종신보험이 안 팔리자 생보사들이 암·뇌·심장 「건강보험」을 주력으로 팝니다. 이제 경쟁 상대는 종신보험만이 아닙니다.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3977640"/>
            <a:ext cx="5440680" cy="1783080"/>
          </a:xfrm>
          <a:prstGeom prst="roundRect">
            <a:avLst>
              <a:gd name="adj" fmla="val 112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297680"/>
            <a:ext cx="822960" cy="82296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pic>
        <p:nvPicPr>
          <p:cNvPr id="20" name="Image 2" descr="/tmp/claude-0/-home-user-MeAI/50631569-faa5-59b7-821a-dea1a7200ace/scratchpad/build/cache/ic_fa6_FaHouseCrack_FF8A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4495190"/>
            <a:ext cx="427939" cy="42793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874520" y="4251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단기납 종신 열풍의 후폭풍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874520" y="47091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「10년 지나면 120% 돌려받는다」로 팔린 계약이 수백만 건. 이 고객들이 지금 보장분석 테이블에 올라옵니다.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172200" y="3977640"/>
            <a:ext cx="5440680" cy="1783080"/>
          </a:xfrm>
          <a:prstGeom prst="roundRect">
            <a:avLst>
              <a:gd name="adj" fmla="val 112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46520" y="4297680"/>
            <a:ext cx="822960" cy="822960"/>
          </a:xfrm>
          <a:prstGeom prst="ellipse">
            <a:avLst/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pic>
        <p:nvPicPr>
          <p:cNvPr id="25" name="Image 3" descr="/tmp/claude-0/-home-user-MeAI/50631569-faa5-59b7-821a-dea1a7200ace/scratchpad/build/cache/ic_fa6_FaUserClock_7C5CF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030" y="4495190"/>
            <a:ext cx="427939" cy="427939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98080" y="4251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초고령사회, 아픈 채로 사는 시간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7498080" y="47091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기대수명은 늘었지만 건강수명은 그대로. 「사망」보다 「생존 중 치료비」가 진짜 리스크가 되었습니다.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78254" cy="31455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782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여정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생명보험을 해부하고 → 고객의 마음을 읽고 → 메리츠로 다시 설계합니다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566160" cy="192024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2148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📈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판이 바뀌었다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시장 지형도 · 통계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1965960"/>
            <a:ext cx="3566160" cy="192024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7200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148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🔬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해부학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이름만 봐도 아는 생보 상품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1965960"/>
            <a:ext cx="3566160" cy="192024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32104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0698480" y="2148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⚖️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정면 비교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vs 메리츠화재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3566160" cy="192024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2960" y="4343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3200400" y="4297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마음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394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종신보험을 가입했나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97680" y="4114800"/>
            <a:ext cx="3566160" cy="192024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572000" y="4343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0C4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4297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🗝️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파훼법 5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5394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거절을 녹이는 실전 화법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46720" y="4114800"/>
            <a:ext cx="3566160" cy="192024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321040" y="4343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800" dirty="0"/>
          </a:p>
        </p:txBody>
      </p:sp>
      <p:sp>
        <p:nvSpPr>
          <p:cNvPr id="35" name="Text 33"/>
          <p:cNvSpPr txBox="1"/>
          <p:nvPr/>
        </p:nvSpPr>
        <p:spPr>
          <a:xfrm>
            <a:off x="10698480" y="4297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832104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 솔루션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8321040" y="5394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 → 제안 → 미션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78254" cy="31455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782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PROLOGUE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 중 생명보험 증권을 만나면, 어떤 기분이세요?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5641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031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😰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"생소한데… 어떻게 이야기하지?"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118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8120" indent="-198120">
              <a:lnSpc>
                <a:spcPct val="115000"/>
              </a:lnSpc>
              <a:spcAft>
                <a:spcPts val="585"/>
              </a:spcAft>
              <a:buSzPct val="100000"/>
              <a:buChar char="•"/>
            </a:pPr>
            <a:r>
              <a:rPr lang="en-US" sz="13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상품명이 외계어 같다 (변액·유니버셜·CI·달러…)</a:t>
            </a:r>
            <a:endParaRPr lang="en-US" sz="1300" dirty="0"/>
          </a:p>
          <a:p>
            <a:pPr algn="l" marL="198120" indent="-198120">
              <a:lnSpc>
                <a:spcPct val="115000"/>
              </a:lnSpc>
              <a:spcAft>
                <a:spcPts val="585"/>
              </a:spcAft>
              <a:buSzPct val="100000"/>
              <a:buChar char="•"/>
            </a:pPr>
            <a:r>
              <a:rPr lang="en-US" sz="13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설계사가 이미 「좋다」고 설득해 놓은 상태</a:t>
            </a:r>
            <a:endParaRPr lang="en-US" sz="1300" dirty="0"/>
          </a:p>
          <a:p>
            <a:pPr algn="l" marL="198120" indent="-198120">
              <a:lnSpc>
                <a:spcPct val="115000"/>
              </a:lnSpc>
              <a:spcAft>
                <a:spcPts val="585"/>
              </a:spcAft>
              <a:buSzPct val="100000"/>
              <a:buChar char="•"/>
            </a:pPr>
            <a:r>
              <a:rPr lang="en-US" sz="13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괜히 건드렸다가 고객 기분만 상할까 걱정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5394960" cy="3566160"/>
          </a:xfrm>
          <a:prstGeom prst="roundRect">
            <a:avLst>
              <a:gd name="adj" fmla="val 5641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21031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😎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"아싸! 잘 걸렸다!"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6118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8120" indent="-198120">
              <a:lnSpc>
                <a:spcPct val="115000"/>
              </a:lnSpc>
              <a:spcAft>
                <a:spcPts val="585"/>
              </a:spcAft>
              <a:buSzPct val="100000"/>
              <a:buChar char="•"/>
            </a:pPr>
            <a:r>
              <a:rPr lang="en-US" sz="13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이름만 봐도 구조와 약점이 보인다</a:t>
            </a:r>
            <a:endParaRPr lang="en-US" sz="1300" dirty="0"/>
          </a:p>
          <a:p>
            <a:pPr algn="l" marL="198120" indent="-198120">
              <a:lnSpc>
                <a:spcPct val="115000"/>
              </a:lnSpc>
              <a:spcAft>
                <a:spcPts val="585"/>
              </a:spcAft>
              <a:buSzPct val="100000"/>
              <a:buChar char="•"/>
            </a:pPr>
            <a:r>
              <a:rPr lang="en-US" sz="13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왜 가입했는지 3분 대화로 읽어낸다</a:t>
            </a:r>
            <a:endParaRPr lang="en-US" sz="1300" dirty="0"/>
          </a:p>
          <a:p>
            <a:pPr algn="l" marL="198120" indent="-198120">
              <a:lnSpc>
                <a:spcPct val="115000"/>
              </a:lnSpc>
              <a:spcAft>
                <a:spcPts val="585"/>
              </a:spcAft>
              <a:buSzPct val="100000"/>
              <a:buChar char="•"/>
            </a:pPr>
            <a:r>
              <a:rPr lang="en-US" sz="13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사망은 정기로, 생존은 메리츠로 — 제안이 저절로 나온다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교육이 끝나면 왼쪽 얼굴이 오른쪽 얼굴로 바뀝니다. 생보 증권은 「위기」가 아니라 「가장 좋은 대화 소재」입니다.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9835" cy="314554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983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WARM-UP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워밍업 퀴즈 — "저는 사망하면 10억 나와요"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기억하는 건 숫자 하나. 약관이 기억하는 건 단서 조항 전부.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88136" y="201168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271016" y="212140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FP님, 저는 옛날에 생보에서 가입해서요. 사망하면 10억 나옵니다. 더 필요 없어요.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240719" y="2624328"/>
            <a:ext cx="402336" cy="402336"/>
          </a:xfrm>
          <a:prstGeom prst="ellipse">
            <a:avLst/>
          </a:prstGeom>
          <a:solidFill>
            <a:srgbClr val="333D4B"/>
          </a:solidFill>
          <a:ln w="12700">
            <a:solidFill>
              <a:srgbClr val="333D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240719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22599" y="2624328"/>
            <a:ext cx="7680960" cy="713232"/>
          </a:xfrm>
          <a:prstGeom prst="roundRect">
            <a:avLst>
              <a:gd name="adj" fmla="val 20513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605479" y="2734056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오, 든든하시겠어요! 그런데 혹시 그 10억이 「언제, 어떤 상황」의 사망인지 증권에서 같이 확인해 볼까요?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83864"/>
            <a:ext cx="402336" cy="402336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483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88136" y="3483864"/>
            <a:ext cx="7680960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271016" y="359359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…확인해 보니 「평일에, 대중교통 버스를 이용하다가, 사고로」 사망하면 10억이네요. 일반 사망은 5천만원이고요.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16923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25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🚌  "사망하면 10억"과 "평일 대중교통 사고로 사망하면 10억"은 완전히 다른 보험입니다.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2578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보험의 정의는 단순합니다. 단서 조항이 적고, 명확하고, 보험금 받기 쉬운 보험. 오늘 우리는 생보 증권의 「단서 조항」을 읽는 법을 배웁니다.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50631569-faa5-59b7-821a-dea1a7200ace/scratchpad/build/cache/grad_div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MeAI/50631569-faa5-59b7-821a-dea1a7200ace/scratchpad/build/cache/blob_w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-1097280"/>
            <a:ext cx="5852160" cy="58521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1920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3063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판이 바뀌었다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0F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2026년, 숫자로 읽는 대한민국과 보험시장의 지형도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9052560" y="17373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📈</a:t>
            </a:r>
            <a:endParaRPr lang="en-US" sz="1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5094" cy="31455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50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판이 바뀌었다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5명 중 1명이 65세 이상 — 초고령사회는 이미 도착했습니다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12월 23일, 65세 이상 인구 비율 20%를 넘어 「초고령사회」 진입. 세계에서 가장 빠른 속도입니다.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651760" cy="173736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267712"/>
            <a:ext cx="2103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21.2%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089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65세 이상 인구 비율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(2025년 말 주민등록, 1,084만 명)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64992" y="2011680"/>
            <a:ext cx="2651760" cy="173736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39312" y="2267712"/>
            <a:ext cx="2103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30%↑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1089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2036년 고령인구 비율 전망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2050년에는 40%를 넘습니다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2011680"/>
            <a:ext cx="2651760" cy="173736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55664" y="2267712"/>
            <a:ext cx="2103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5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8,604명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31089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100세 이상 인구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(2025.11, 10년 전의 2.7배)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97696" y="2011680"/>
            <a:ext cx="2651760" cy="173736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72016" y="2267712"/>
            <a:ext cx="2103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37.8%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9272016" y="31089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고령자 가구 중 1인 가구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노인 3가구 중 1가구가 독거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6858000" cy="2148840"/>
          </a:xfrm>
          <a:prstGeom prst="roundRect">
            <a:avLst>
              <a:gd name="adj" fmla="val 93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41148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 이 숫자가 영업에 뜻하는 것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52628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5260" indent="-17526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「오래 사는 위험」이 「일찍 죽는 위험」보다 커졌습니다 → 사망보장 중심 설계의 시대가 저물고 있습니다</a:t>
            </a:r>
            <a:endParaRPr lang="en-US" sz="1150" dirty="0"/>
          </a:p>
          <a:p>
            <a:pPr algn="l" marL="175260" indent="-17526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독거 노인이 늘수록 간병·요양을 「돈으로 사야 하는」 사람이 늘어납니다</a:t>
            </a:r>
            <a:endParaRPr lang="en-US" sz="1150" dirty="0"/>
          </a:p>
          <a:p>
            <a:pPr algn="l" marL="175260" indent="-17526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부모 세대가 이미 이 통계 안에 있습니다. 「부모님 간병」은 40~50대 고객의 현실 걱정입니다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635240" y="3977640"/>
            <a:ext cx="4005072" cy="2148840"/>
          </a:xfrm>
          <a:prstGeom prst="roundRect">
            <a:avLst>
              <a:gd name="adj" fmla="val 9362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09560" y="4114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🚄 비유: 브레이크 없는 KTX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45262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고령사회(14%)에서 초고령사회(20%)까지 프랑스는 39년, 일본은 11년, 한국은 단 7년이 걸렸습니다. 사회가 준비할 시간이 없었다는 뜻이고, 그 준비는 결국 개인의 몫이 됩니다.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1996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행정안전부 주민등록 인구통계(2025.12), 통계청 장래인구추계(2023.12), 국가데이터처 2025 인구주택총조사(2026.8), 2025 고령자 통계(2025.9)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5094" cy="31455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50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판이 바뀌었다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83.7세까지 삽니다. 그런데 마지막 18년은 아픈 채로 삽니다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기대수명은 매년 늘지만 「건강수명」은 65.5세에 멈춰 있습니다. 보험이 일해야 하는 구간이 바로 이 18년입니다.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91672" cy="2103120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생명표 · 출생아 기준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606040"/>
            <a:ext cx="8229054" cy="640080"/>
          </a:xfrm>
          <a:prstGeom prst="rect">
            <a:avLst/>
          </a:prstGeom>
          <a:solidFill>
            <a:srgbClr val="00C471"/>
          </a:solidFill>
          <a:ln w="12700">
            <a:solidFill>
              <a:srgbClr val="00C4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014" y="2606040"/>
            <a:ext cx="2286546" cy="640080"/>
          </a:xfrm>
          <a:prstGeom prst="rect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606040"/>
            <a:ext cx="82290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건강수명 65.5세 — 건강하게 사는 시간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52014" y="2606040"/>
            <a:ext cx="22865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유병기간 18.2년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319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0세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137614" y="3319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65.5세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0" y="3319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83.7세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611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남자: 기대수명 80.8세 · 유병기간 16.2년  |  여자: 기대수명 86.6세 · 유병기간 20.2년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3566160" cy="1783080"/>
          </a:xfrm>
          <a:prstGeom prst="roundRect">
            <a:avLst>
              <a:gd name="adj" fmla="val 112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4480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19.5%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암으로 사망할 확률 (남 24.5%)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4343400"/>
            <a:ext cx="3566160" cy="1783080"/>
          </a:xfrm>
          <a:prstGeom prst="roundRect">
            <a:avLst>
              <a:gd name="adj" fmla="val 112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572000" y="4480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34.4%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40세 남성이 80세 전에 사망할 확률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3명 중 1명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4343400"/>
            <a:ext cx="3566160" cy="1783080"/>
          </a:xfrm>
          <a:prstGeom prst="roundRect">
            <a:avLst>
              <a:gd name="adj" fmla="val 112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321040" y="4480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44.2%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남성이 3대 사인(암·심장·폐렴)으로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사망할 확률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1996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국가데이터처 「2024년 생명표」(2025.12.3)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5094" cy="31455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50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판이 바뀌었다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사망의 92%는 병으로 옵니다 — 그리고 병은 「죽기 전에」 돈을 씁니다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7218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사망자 35만 8,569명. 사고사는 8.3%뿐, 나머지는 질병입니다. 사망보험금 앞에 치료비·간병비 구간이 먼저 옵니다.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6766560" cy="4114800"/>
          </a:xfrm>
          <a:prstGeom prst="roundRect">
            <a:avLst>
              <a:gd name="adj" fmla="val 4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10대 사망원인 구성비 (2024, %)</a:t>
            </a:r>
            <a:endParaRPr lang="en-US" sz="12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2514600"/>
          <a:ext cx="64008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7589520" y="2011680"/>
            <a:ext cx="4050792" cy="1920240"/>
          </a:xfrm>
          <a:prstGeom prst="roundRect">
            <a:avLst>
              <a:gd name="adj" fmla="val 10476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40대의 충격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5603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40대 사망원인 1위가 처음으로 「자살(26.0%)」이 됐습니다(암 24.5%). 50대는 암 34.5%. 경제활동 한가운데서 「갑자기」 무너지는 구조입니다.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589520" y="4160520"/>
            <a:ext cx="4050792" cy="1965960"/>
          </a:xfrm>
          <a:prstGeom prst="roundRect">
            <a:avLst>
              <a:gd name="adj" fmla="val 10233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863840" y="4297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D5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화법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466344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5E8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"우리나라 사람 대부분은 아파서 죽고, 그 다음이 힘들어서 죽습니다. 자살의 상당수는 돈 문제입니다. 사망보험금은 「죽고 나서」 나오지만, 병원비는 「살아 있는 동안」 나갑니다."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1996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통계청 「2024년 사망원인통계」(2025.9.25) · 2025년 통계는 2026년 9월 말 발표 예정, 발표 즉시 갱신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5094" cy="31455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50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판이 바뀌었다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암은 「죽는 병」에서 「살아서 비용을 치르는 병」이 됐습니다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남자 2명 중 1명, 여자 3명 중 1명이 암에 걸리고, 10명 중 7명이 5년 이상 삽니다. 살아남은 사람에게 청구서가 옵니다.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651760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267712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44.6%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7238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남성이 기대수명까지 살 때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암에 걸릴 확률 (여성 38.2%)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64992" y="2011680"/>
            <a:ext cx="2651760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39312" y="2267712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0C4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73.7%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07238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 5년 상대생존율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(2019~2023 진단자, 역대 최고)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2011680"/>
            <a:ext cx="2651760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55664" y="226771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273만 명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29992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 유병자 = 국민 19명 중 1명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환자 연 28만 8,613명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97696" y="2011680"/>
            <a:ext cx="2651760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72016" y="2267712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10.7조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9272016" y="307238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암 건강보험 진료비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항암제 청구액 3.1조(약품비 1위)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5394960" cy="2286000"/>
          </a:xfrm>
          <a:prstGeom prst="roundRect">
            <a:avLst>
              <a:gd name="adj" fmla="val 8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암종별 5년 생존율 — 격차가 곧 리스크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389120"/>
          <a:ext cx="48463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097280"/>
                <a:gridCol w="132588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생존율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생존율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D4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갑상선암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100.2%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대장암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75.6%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전립선암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96.9%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폐암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42.5%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유방암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94.7%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40.4%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78.6%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췌장암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17.0%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6263640" y="3840480"/>
            <a:ext cx="5394960" cy="2286000"/>
          </a:xfrm>
          <a:prstGeom prst="roundRect">
            <a:avLst>
              <a:gd name="adj" fmla="val 88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3796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25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🧾 살아남은 뒤의 청구서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43891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0020" indent="-16002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 진단 후 직업활동 중단 53% (국립암센터) → 소득 공백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건보 암 보장률 75% → 나머지 25% + 비급여 + 간병은 본인 몫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1인당 생애의료비 중 암 1,937만원 (5대 질환 중 최다)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남성 암 1위가 「전립선암」으로 바뀜(2023) → 생보 소액암 분류 주의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1996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보건복지부·중앙암등록본부 「2023년 국가암등록통계」(2026.1.20), 건강보험통계연보 2024(2025.11), 건보공단 생애의료비 연구(2025.12)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5094" cy="31455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50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판이 바뀌었다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뇌와 심장 — 「터지는」 병보다 「막히고 좁아지는」 병이 압도적입니다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5389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뇌졸중 연 11만 3천 건, 심근경색 연 3만 5천 건. 그런데 뇌졸중의 76%는 뇌출혈이 아니라 뇌경색입니다.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394960" cy="4114800"/>
          </a:xfrm>
          <a:prstGeom prst="roundRect">
            <a:avLst>
              <a:gd name="adj" fmla="val 4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 뇌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113,098건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606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 뇌졸중 발생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치명률 19.8% · 재발 25.3%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3383280"/>
            <a:ext cx="3683203" cy="502920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6163" y="3383280"/>
            <a:ext cx="1163117" cy="502920"/>
          </a:xfrm>
          <a:prstGeom prst="rect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383280"/>
            <a:ext cx="36832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뇌경색(막힘) 76%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06163" y="3383280"/>
            <a:ext cx="11631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뇌출혈 24%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0690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뇌혈관질환(I60~I69) 환자 117만 명(2022) vs 뇌출혈 환자 약 10만 명 → 「뇌출혈 진단비」만으로는 뇌혈관질환의 10%도 못 덮습니다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생존자 3명 중 1명은 영구 장애 (대한뇌졸중학회)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60세 이상이 환자의 약 80% — 부모 세대의 현실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2011680"/>
            <a:ext cx="5394960" cy="4114800"/>
          </a:xfrm>
          <a:prstGeom prst="roundRect">
            <a:avLst>
              <a:gd name="adj" fmla="val 4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37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❤️ 심장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34,768건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2606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 심근경색 발생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치명률 16.1% · 남성이 2.9배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37960" y="3383280"/>
            <a:ext cx="4119372" cy="50292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57332" y="3383280"/>
            <a:ext cx="726948" cy="502920"/>
          </a:xfrm>
          <a:prstGeom prst="rect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383280"/>
            <a:ext cx="4119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협심증 등 허혈성심장질환 (좁아짐) 66.8만 명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657332" y="3383280"/>
            <a:ext cx="7269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AMI 12만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40690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협심증 환자(66.8만)가 급성심근경색(12.1만)의 5배 이상(2020) → 「급성심근경색 진단비」만으론 심장질환 대부분이 빠집니다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급성심근경색 환자 최근 5년 +19.6%, 협심증 +6.0%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혈관질환은 반드시 「좁아지는」 전조 단계를 거칩니다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1996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질병관리청 「2023 심뇌혈관질환 발생통계」(2025.12.31), 건강보험심사평가원 뇌혈관질환(2022)·심장질환(2020) 진료현황, 질병관리청 출혈성뇌졸중 등록사업(2023)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5094" cy="31455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50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판이 바뀌었다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슬픈 대출은 치료비·간병비 대출입니다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노후의 진짜 적은 「사망」이 아니라 「돈 드는 생존」입니다. 국민연금 평균 68만원으로 간병비 월 400만원을 감당할 수 없습니다.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3566160" cy="1417320"/>
          </a:xfrm>
          <a:prstGeom prst="roundRect">
            <a:avLst>
              <a:gd name="adj" fmla="val 141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🛏️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1671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12~15만원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7249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간병인 일당 (2026, 종합병원 시세)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간병 월 300~450만원 · 사적 간병비 연 10조원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0" y="2011680"/>
            <a:ext cx="3566160" cy="1417320"/>
          </a:xfrm>
          <a:prstGeom prst="roundRect">
            <a:avLst>
              <a:gd name="adj" fmla="val 141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262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🏥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1671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551만원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7249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65세 이상 1인당 연간 진료비 (2024)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노인이 전체 건보 진료비의 44.9% 사용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0" y="2011680"/>
            <a:ext cx="3566160" cy="1417320"/>
          </a:xfrm>
          <a:prstGeom prst="roundRect">
            <a:avLst>
              <a:gd name="adj" fmla="val 141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753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💸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21671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1.85억 / 2.23억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7249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남·여 1인당 생애의료비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그중 52%를 65세 이후에 씁니다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566160" cy="1417320"/>
          </a:xfrm>
          <a:prstGeom prst="roundRect">
            <a:avLst>
              <a:gd name="adj" fmla="val 141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🧓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767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123.5만 명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3251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장기요양 인정자 (2025), 급여비 17.7조원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치매 환자 2026년 100만 명 돌파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97680" y="3611880"/>
            <a:ext cx="3566160" cy="1417320"/>
          </a:xfrm>
          <a:prstGeom prst="roundRect">
            <a:avLst>
              <a:gd name="adj" fmla="val 141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52628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🏦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3767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67~68만원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3251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국민연금 노령연금 평균 수령액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20년 이상 가입해도 월 113만원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46720" y="3611880"/>
            <a:ext cx="3566160" cy="1417320"/>
          </a:xfrm>
          <a:prstGeom prst="roundRect">
            <a:avLst>
              <a:gd name="adj" fmla="val 141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27532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📉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869680" y="3767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5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39.7%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43251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66세 이상 노인빈곤율 — OECD 1위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(OECD 평균 14.8%의 2.7배)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275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🏥 "대학병원·요양병원 지하에 뭐가 있는지 아세요? 은행 ATM과 대출 창구입니다." — 2023년 교안의 이 한 줄이 2026년엔 통계로 증명됩니다.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1996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건강보험통계연보 2024(2025.11.28), 건보공단 생애의료비 연구(2025.12), 2025 노인장기요양보험 통계연보(2026.6.30), 보건복지부 치매역학조사(2025.3), 국민연금공단(2025), OECD Pensions at a Glance 2025(2025.11.27), 국회입법조사처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5094" cy="31455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50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판이 바뀌었다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금리가 다시 오릅니다 — 「이자 붙는 보험」 화법이 되살아나는 계절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0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7·8월 연속 인상으로 기준금리 3.00%. 생보 설계사는 다시 「공시이율·환급률」을 꺼냅니다. 우리는 이렇게 답합니다.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6766560" cy="4114800"/>
          </a:xfrm>
          <a:prstGeom prst="roundRect">
            <a:avLst>
              <a:gd name="adj" fmla="val 4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한국은행 기준금리 추이 (%)</a:t>
            </a:r>
            <a:endParaRPr lang="en-US" sz="12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2514600"/>
          <a:ext cx="64008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7589520" y="2011680"/>
            <a:ext cx="4050792" cy="914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863840" y="21214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3.00%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기준금리 (2026.8.27)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589520" y="3063240"/>
            <a:ext cx="4050792" cy="914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863840" y="31729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0C4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3.30~3.45%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5대 은행 1년 정기예금 (2026.9)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589520" y="4114800"/>
            <a:ext cx="4050792" cy="914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863840" y="4224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2.50%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7863840" y="4663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평균공시이율 (금감원 고시)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589520" y="5166360"/>
            <a:ext cx="4050792" cy="960120"/>
          </a:xfrm>
          <a:prstGeom prst="roundRect">
            <a:avLst>
              <a:gd name="adj" fmla="val 20952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18120" y="516636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예금 3.4% vs 보험 공시이율 2.5%. 게다가 보험은 사업비를 뗀 나머지에만 이율이 붙습니다. 금리가 올라도 「보험으로 저축」은 예금을 못 이깁니다.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1996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한국은행 금융통화위원회(2026.7.16 / 8.27), 은행연합회 소비자포털·5대 은행 공시(2026.9), 금감원 2026년 평균공시이율 고시(2025.12)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5094" cy="31455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50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판이 바뀌었다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종신보험이 안 팔리자, 생보사가 우리 운동장으로 들어왔습니다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생보 신계약 −13%. 생보사 신계약의 주력은 이제 「암·뇌·심장 건강보험」입니다. 경쟁 상대가 바뀌었습니다.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651760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267712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−13%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7238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상반기 생보 신규계약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보장성 초회보험료 −27.3%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64992" y="2011680"/>
            <a:ext cx="2651760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39312" y="226771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200만 건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29992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종신보험 신계약 건수 (2025)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217만 건에서 감소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2011680"/>
            <a:ext cx="2651760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55664" y="2267712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+63.9%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307238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제3보험(건강) 초회보험료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7,582억원 (손보 9,291억)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97696" y="2011680"/>
            <a:ext cx="2651760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72016" y="2267712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85%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9272016" y="307238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삼성생명 신계약 CSM 중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건강보험 비중 (2025년 2분기)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5394960" cy="2286000"/>
          </a:xfrm>
          <a:prstGeom prst="roundRect">
            <a:avLst>
              <a:gd name="adj" fmla="val 8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일이 일어나고 있나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3891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IFRS17 이후 「CSM(미래이익)」이 실적 지표 → 건강보험이 종신보다 수익성 배율 2~4배 (한화 16.4배 vs 종신 4배)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GA 통합건강보험 시책률 2025.5 1,742% → 2026.9 최대 3,330%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한화 시그니처H(2026.1)·삼성 뇌심건강(2025.7)·교보(2024.3) 모두 뇌혈관·허혈성 특약 탑재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3840480"/>
            <a:ext cx="5394960" cy="2286000"/>
          </a:xfrm>
          <a:prstGeom prst="roundRect">
            <a:avLst>
              <a:gd name="adj" fmla="val 88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⚔️ 우리에게 뜻하는 것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43891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「생보는 뇌출혈만 판다」는 옛 화법은 위험합니다 — 신상품은 우리와 같은 담보를 팝니다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고객이 「이미 가진」 종신·CI·GI 증권은 여전히 옛 구조(선지급·최초1회·사망 필수)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포인트는 담보 이름이 아니라 「구조·납입면제·비갱신·보험료·관리」로 이동합니다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1996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보험연구원 「2026년 보험산업 전망」(2025.10.21), 서울경제(2026.8.3), 파이낸셜투데이(2026.8), 한국경제(2026.4.19), 디지털타임스·녹색경제(2026), 보험저널(2025~2026), 한국금융신문(2025.6.15)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5094" cy="31455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50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판이 바뀌었다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뉴스로 보는 「단기납 종신」 3년 — 136%에서 눈물까지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한 해 79만 8천 건이 팔렸습니다. 이 고객들이 지금 원금 도달 시점을 맞아 보장분석 테이블에 올라옵니다.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148840"/>
            <a:ext cx="45720" cy="3657600"/>
          </a:xfrm>
          <a:prstGeom prst="rect">
            <a:avLst/>
          </a:prstGeom>
          <a:solidFill>
            <a:srgbClr val="D1D6DB"/>
          </a:solidFill>
          <a:ln w="12700">
            <a:solidFill>
              <a:srgbClr val="D1D6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48840"/>
            <a:ext cx="310896" cy="310896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2024.1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환급률 136% · "130% 막차" 절판마케팅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679192"/>
            <a:ext cx="310896" cy="310896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2587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2024.2~3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587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금감원 현장점검 → 120% 초반으로 인하, 불완전판매 경고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209544"/>
            <a:ext cx="310896" cy="310896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80160" y="31181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2024.11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31181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보험개혁회의: 무·저해지 해지율 「로그-선형」 원칙모형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739896"/>
            <a:ext cx="310896" cy="310896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0160" y="36484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36484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무·저해지 보험료 7~10%↑ · 50% 무해지형 판매 중단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270248"/>
            <a:ext cx="310896" cy="310896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80160" y="4178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377440" y="41788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평균공시이율 2.50% → 5년납 120% · 7년납 117%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4800600"/>
            <a:ext cx="310896" cy="310896"/>
          </a:xfrm>
          <a:prstGeom prst="ellipse">
            <a:avLst/>
          </a:prstGeom>
          <a:solidFill>
            <a:srgbClr val="FF5C8D"/>
          </a:solidFill>
          <a:ln w="12700">
            <a:solidFill>
              <a:srgbClr val="FF5C8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80160" y="4709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5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377440" y="4709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"절판 막차 탔는데 코스피 폭등… 가입자 눈물"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5330952"/>
            <a:ext cx="310896" cy="310896"/>
          </a:xfrm>
          <a:prstGeom prst="ellipse">
            <a:avLst/>
          </a:prstGeom>
          <a:solidFill>
            <a:srgbClr val="4E5968"/>
          </a:solidFill>
          <a:ln w="12700">
            <a:solidFill>
              <a:srgbClr val="4E59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280160" y="52395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2026.9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377440" y="5239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"7년 지나자 계약 80%↑ 해지" · 금감원 원금도달 후 해지율 기준 마련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0" y="2011680"/>
            <a:ext cx="4325112" cy="1874520"/>
          </a:xfrm>
          <a:prstGeom prst="roundRect">
            <a:avLst>
              <a:gd name="adj" fmla="val 107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58952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9월 환급률 (10년 시점)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589520" y="2560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5년납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2834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121.0%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8887968" y="2560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7년납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887968" y="2834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117.6%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10186416" y="2560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10년납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186416" y="2834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113.5%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7589520" y="3429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2024년 초 136% → 절반 가까이 낮아진 매력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15200" y="4069080"/>
            <a:ext cx="4325112" cy="2057400"/>
          </a:xfrm>
          <a:prstGeom prst="roundRect">
            <a:avLst>
              <a:gd name="adj" fmla="val 9778"/>
            </a:avLst>
          </a:prstGeom>
          <a:solidFill>
            <a:srgbClr val="FFE9F0"/>
          </a:solidFill>
          <a:ln w="12700">
            <a:solidFill>
              <a:srgbClr val="FFE9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5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지금 만나는 고객 유형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457200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0020" indent="-16002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2023~24년 가입 5·7년납 → 원금 도달 전, 해지하면 손실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「10년 뒤 120%」만 기억, 사망보장은 관심 없음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트렌드 「700종신(7년 100%)」 가입자도 등장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1996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이데일리(2024.1), 머니투데이·한국경제(2024.3), 금융위 보험개혁회의(2024.11.4), 보험저널(2025.4/2026.1/2026.9), 파이낸셜뉴스(2026.5.29), 보험매일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5094" cy="31455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50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판이 바뀌었다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설계사 71만 명 시대, 그러나 1년 뒤 남는 사람은 절반도 안 됩니다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0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「평생 관리해 드릴게요」라는 약속의 유효기간을 통계로 확인합니다. 종신보험은 특히 「관리」가 생명인 상품입니다.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651760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267712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38.2%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7238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전속설계사 13월차 정착률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(손보 46.4%, 2025년)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64992" y="2011680"/>
            <a:ext cx="2651760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39312" y="2267712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73.8%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07238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보험계약 25회차 유지율 (2025)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4건 중 1건은 2년 안에 사라짐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2011680"/>
            <a:ext cx="2651760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55664" y="2267712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2.8배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307238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불완전판매율 0.039%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 손보 0.014% (2025)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97696" y="2011680"/>
            <a:ext cx="2651760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72016" y="2267712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9272016" y="307238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불완전판매 민원 중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종신보험이 최다 (금감원 2026.4)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5394960" cy="2286000"/>
          </a:xfrm>
          <a:prstGeom prst="roundRect">
            <a:avLst>
              <a:gd name="adj" fmla="val 8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📰 뉴스 사례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3891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생보사 설계사 1,729명 GA 이동 → 전후 3개월 내 1만 2,935건 해지 (머니투데이 2025.12)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 대형 GA 설계사 408명, 2,984건 부당승환 적발 (금감원 2025.7)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"보험료 낮춰주겠다"며 13건 해지·갈아타기 유도한 설계사 제재 (2026.2)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3840480"/>
            <a:ext cx="5394960" cy="2286000"/>
          </a:xfrm>
          <a:prstGeom prst="roundRect">
            <a:avLst>
              <a:gd name="adj" fmla="val 88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🚨 금감원 소비자경보 (2025.12.18)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43891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"종신보험은 저축·연금상품이 아닙니다." — 저축성보다 위험보험료·사업비 차감이 커 목돈 마련에 부적합, 조기 해지 시 원금 손실, 연금전환 시에도 일반 연금보다 수령액이 적을 수 있음.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우리 화법의 근거를 감독당국이 공식 문서로 써 준 셈입니다.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1996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금융감독원 「2025년 보험회사 판매채널 영업효율 및 감독방향」(2026.4.29), CEOSCORE(2026.7), 금감원 소비자경보(2025.12.18), 머니투데이(2025.12.23), 연합뉴스(2025.7.21 / 2026.2.3)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5094" cy="31455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50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판이 바뀌었다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먹고살기 힘들 때 가장 먼저 깨지는 보험 — 종신보험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가계부채 2,000조 돌파, 물가 3%대, 대출금리 상승. 2026년 상반기 생보 해약환급금은 36.5조원으로 역대 최대입니다.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3566160" cy="173736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267712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36.5조원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723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상반기 생보 해약환급금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전년 동기 25조 → +45%, 연간 사상 최대 전망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15968" y="2011680"/>
            <a:ext cx="3566160" cy="173736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90288" y="2267712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+32%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30723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효력상실환급금 9,634억원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보험료를 못 내서 「실효」된 계약의 증가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2011680"/>
            <a:ext cx="3566160" cy="173736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57616" y="22677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2,019.8조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29992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가계신용 잔액 (2026년 2분기, 사상 첫 2,000조)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소비자물가 2026.8 +3.1%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5394960" cy="2148840"/>
          </a:xfrm>
          <a:prstGeom prst="roundRect">
            <a:avLst>
              <a:gd name="adj" fmla="val 93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📰 헤드라인으로 보는 2026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262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0020" indent="-16002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"얇아진 지갑에 보험까지 깬다… 생보 해약환급금 급증"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"보험 깨고 주식으로 우르르… 코스피 7000에 생보사 끙끙" (2026.5)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"손해보고 도로 뺀 36조, 역대급" — 해지 많은 상품: 종신·암·연금 (2026.9)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보험계약대출 잔액 47.9조원(8개사, 2026.7) — 깨기 전에 빌리는 사람들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3977640"/>
            <a:ext cx="5394960" cy="2148840"/>
          </a:xfrm>
          <a:prstGeom prst="roundRect">
            <a:avLst>
              <a:gd name="adj" fmla="val 9362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25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🪣 밑 빠진 독 비유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5262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30만원 종신보험을 「저축」이라 믿고 5년 붓다가 생활비가 급해 깨면, 낸 돈 1,800만원 중 절반 이상이 사라집니다. 저축은 위기 때 꺼내 쓰라고 하는 건데, 종신보험은 위기 때 꺼내면 벌금을 내는 구조입니다. 이 고객이 지금 우리 앞에 앉아 있습니다.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1996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연합뉴스(2026.9.2), 서울신문(2026.5.11), 머니투데이(2026.5.7), 서울경제(2026.8.11), 한국은행 가계신용(2026.8.19), 국가데이터처 소비자물가(2026.9.2)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5094" cy="31455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50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판이 바뀌었다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정리 — 2026년 생보 컨설팅의 5가지 전제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다섯 문장을 외우면 어떤 생보 증권 앞에서도 대화의 방향이 잡힙니다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1091672" cy="713232"/>
          </a:xfrm>
          <a:prstGeom prst="roundRect">
            <a:avLst>
              <a:gd name="adj" fmla="val 282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121408"/>
            <a:ext cx="402336" cy="402336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0391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사망보다 생존이 비싸다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020824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기대수명 83.7세, 유병기간 18년, 간병비 월 400만원. 보험이 일할 곳은 「죽은 뒤」가 아니라 「아픈 동안」입니다.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11091672" cy="713232"/>
          </a:xfrm>
          <a:prstGeom prst="roundRect">
            <a:avLst>
              <a:gd name="adj" fmla="val 282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2944368"/>
            <a:ext cx="402336" cy="402336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8620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좁은 담보는 통계로 반박된다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843784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뇌졸중의 76%는 뇌경색, 심장질환 대부분은 협심증. 뇌출혈·급성심근경색만 보장하는 옛 증권은 확률의 절반 이상을 비웁니다.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11091672" cy="713232"/>
          </a:xfrm>
          <a:prstGeom prst="roundRect">
            <a:avLst>
              <a:gd name="adj" fmla="val 282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767328"/>
            <a:ext cx="402336" cy="402336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6850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금리가 올라도 보험은 예금을 못 이긴다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666744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예금 3.4% vs 공시이율 2.5%, 사업비 차감 후 적용. 「이자 붙는 보험」 화법엔 숫자로 답합니다.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11091672" cy="713232"/>
          </a:xfrm>
          <a:prstGeom prst="roundRect">
            <a:avLst>
              <a:gd name="adj" fmla="val 282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590288"/>
            <a:ext cx="402336" cy="402336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590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5079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생보의 무기가 바뀌었다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4489704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신상품은 우리와 같은 건강보험. 고객이 「이미 가진」 종신·CI·GI의 옛 구조를 짚고, 새 경쟁은 구조·납면·비갱신·관리로 승부합니다.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11091672" cy="713232"/>
          </a:xfrm>
          <a:prstGeom prst="roundRect">
            <a:avLst>
              <a:gd name="adj" fmla="val 282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5413248"/>
            <a:ext cx="402336" cy="402336"/>
          </a:xfrm>
          <a:prstGeom prst="ellipse">
            <a:avLst/>
          </a:prstGeom>
          <a:solidFill>
            <a:srgbClr val="00C471"/>
          </a:solidFill>
          <a:ln w="12700">
            <a:solidFill>
              <a:srgbClr val="00C47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413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53309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C4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리스크가 통계로 증명됐다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5312664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정착률 38%, 25회차 유지율 74%, 종신보험 민원 1위, 해약 36.5조. 「평생 관리」 약속의 유효기간은 짧습니다.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50631569-faa5-59b7-821a-dea1a7200ace/scratchpad/build/cache/grad_div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MeAI/50631569-faa5-59b7-821a-dea1a7200ace/scratchpad/build/cache/blob_w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-1097280"/>
            <a:ext cx="5852160" cy="58521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1920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3063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해부학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0F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이름만 봐도 구조와 약점이 보이는 생명보험 읽기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9052560" y="17373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🔬</a:t>
            </a:r>
            <a:endParaRPr lang="en-US" sz="1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상품 해부학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생명보험 상품 지도 — 크게 두 갈래, 그 아래 열 갈래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증권의 상품명을 이 지도 위에 올려놓는 것이 컨설팅의 첫걸음입니다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874520"/>
            <a:ext cx="2651760" cy="640080"/>
          </a:xfrm>
          <a:prstGeom prst="roundRect">
            <a:avLst>
              <a:gd name="adj" fmla="val 31429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5488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생명보험 상품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5394960" cy="594360"/>
          </a:xfrm>
          <a:prstGeom prst="roundRect">
            <a:avLst>
              <a:gd name="adj" fmla="val 33846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48640" y="27889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 저축성보험  ·  「돈을 불리는」 목적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2788920"/>
            <a:ext cx="5394960" cy="594360"/>
          </a:xfrm>
          <a:prstGeom prst="roundRect">
            <a:avLst>
              <a:gd name="adj" fmla="val 33846"/>
            </a:avLst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63640" y="27889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🛡️ 보장성보험  ·  「위험을 막는」 목적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005840" cy="1371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21792" y="37033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연금저축보험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" y="434340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세액공제형 연금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45920" y="3611880"/>
            <a:ext cx="1005840" cy="1371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719072" y="37033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연금보험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700784" y="434340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비과세형 연금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3611880"/>
            <a:ext cx="1005840" cy="1371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2816352" y="37033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저축보험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798064" y="434340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목돈·교육자금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0" y="3611880"/>
            <a:ext cx="1005840" cy="1371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913632" y="37033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변액연금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895344" y="434340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펀드 운용 연금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37760" y="3611880"/>
            <a:ext cx="1005840" cy="1371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010912" y="37033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변액유니버셜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992624" y="434340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펀드+자유입출금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63640" y="3611880"/>
            <a:ext cx="1005840" cy="1371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336792" y="37033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종신보험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318504" y="434340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평생 사망보장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360920" y="3611880"/>
            <a:ext cx="1005840" cy="1371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434072" y="37033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정기보험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415784" y="434340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 한정 사망보장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458200" y="3611880"/>
            <a:ext cx="1005840" cy="1371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531352" y="37033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CI·GI 종신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513064" y="434340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중대질병 시 선지급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555480" y="3611880"/>
            <a:ext cx="1005840" cy="1371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9628632" y="37033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변액종신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610344" y="434340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펀드 운용 종신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652760" y="3611880"/>
            <a:ext cx="1005840" cy="1371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10725912" y="37033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건강보험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0707624" y="4343400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암·뇌·심 진단 (신흥 주력)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23158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2960" y="52852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상품명에 붙는 「옵션」 단어들 — 금리연동형 / 변액 / 유니버셜 / 무·저해지 / 단기납 / 체증형 / 달러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822960" y="56052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옵션이 붙을수록 보험료·비용 구조가 복잡해집니다. 「유니버셜은 기능의 일부일 뿐」, 「보증비용 부과형은 보험료 ↑」 — 2022년 TA워크샵의 핵심 메모를 기억하세요.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상품 해부학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해부: 「무배당 통합 변액 유니버셜 CI 종신보험」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외계어 같은 이름도 단어별로 쪼개면 구조가 보입니다. 이름 = 설계도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566160" cy="1645920"/>
          </a:xfrm>
          <a:prstGeom prst="roundRect">
            <a:avLst>
              <a:gd name="adj" fmla="val 1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671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무배당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배당금을 주지 않는 상품. 현재 생·손보 거의 모든 상품이 무배당.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1965960"/>
            <a:ext cx="3566160" cy="1645920"/>
          </a:xfrm>
          <a:prstGeom prst="roundRect">
            <a:avLst>
              <a:gd name="adj" fmla="val 1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72000" y="21671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🧩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증권에 사망·진단·수술·입원 담보를 「주계약+특약」으로 묶음.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1965960"/>
            <a:ext cx="3566160" cy="1645920"/>
          </a:xfrm>
          <a:prstGeom prst="roundRect">
            <a:avLst>
              <a:gd name="adj" fmla="val 1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21040" y="21671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📈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변액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일부를 펀드(특별계정)에 투자. 수익률에 따라 보험금·환급금 변동.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3566160" cy="1645920"/>
          </a:xfrm>
          <a:prstGeom prst="roundRect">
            <a:avLst>
              <a:gd name="adj" fmla="val 1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39959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🔄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유니버셜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572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추가납입·중도인출·납입중지 기능. 「입출금 통장」처럼 들리지만 아님.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794760"/>
            <a:ext cx="3566160" cy="1645920"/>
          </a:xfrm>
          <a:prstGeom prst="roundRect">
            <a:avLst>
              <a:gd name="adj" fmla="val 1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572000" y="39959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🚨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572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중대한 질병·수술 시 사망보험금의 50~80%를 미리 지급(선지급).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0" y="3794760"/>
            <a:ext cx="3566160" cy="1645920"/>
          </a:xfrm>
          <a:prstGeom prst="roundRect">
            <a:avLst>
              <a:gd name="adj" fmla="val 1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321040" y="39959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♾️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896112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종신보험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4572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 시 지급, 보험기간은 피보험자가 죽을 때까지(종신).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36667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5669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고객에게: "고객님 상품 이름에 단어가 여섯 개나 있죠? 단어 하나마다 비용이 하나씩 붙어 있다고 보시면 됩니다."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상품 해부학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종신보험의 뼈대 — 주계약 하나에 특약이 매달린 구조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원하지 않아도 「사망」 주계약을 반드시 가져가야 합니다. 그래서 비쌉니다.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394960" cy="420624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통합종신보험의 구조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606040"/>
            <a:ext cx="4846320" cy="822960"/>
          </a:xfrm>
          <a:prstGeom prst="roundRect">
            <a:avLst>
              <a:gd name="adj" fmla="val 24444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26517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주계약: 사망보험금 (필수, 보험료의 대부분)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1억 · 종신 · 20년납 → 월 25~30만원대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611880"/>
            <a:ext cx="1536192" cy="475488"/>
          </a:xfrm>
          <a:prstGeom prst="roundRect">
            <a:avLst>
              <a:gd name="adj" fmla="val 423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1188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재해사망 특약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50592" y="3611880"/>
            <a:ext cx="1536192" cy="475488"/>
          </a:xfrm>
          <a:prstGeom prst="roundRect">
            <a:avLst>
              <a:gd name="adj" fmla="val 423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50592" y="361188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암진단 특약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78224" y="3611880"/>
            <a:ext cx="1536192" cy="475488"/>
          </a:xfrm>
          <a:prstGeom prst="roundRect">
            <a:avLst>
              <a:gd name="adj" fmla="val 423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78224" y="361188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뇌출혈 진단 특약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4178808"/>
            <a:ext cx="1536192" cy="475488"/>
          </a:xfrm>
          <a:prstGeom prst="roundRect">
            <a:avLst>
              <a:gd name="adj" fmla="val 423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17880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급성심근경색 특약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450592" y="4178808"/>
            <a:ext cx="1536192" cy="475488"/>
          </a:xfrm>
          <a:prstGeom prst="roundRect">
            <a:avLst>
              <a:gd name="adj" fmla="val 423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50592" y="417880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입원·수술 특약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078224" y="4178808"/>
            <a:ext cx="1536192" cy="475488"/>
          </a:xfrm>
          <a:prstGeom prst="roundRect">
            <a:avLst>
              <a:gd name="adj" fmla="val 423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78224" y="417880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납입면제 특약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8463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특약은 대부분 5년·10년 「갱신형」 → 나이 들수록 보험료 상승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주계약이 해지되면 특약도 함께 소멸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사망담보가 필요 없는 고객에게는 구조적으로 비쌈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1920240"/>
            <a:ext cx="5394960" cy="420624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37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한 장을 쪼개 보면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537960" y="2606040"/>
            <a:ext cx="1668780" cy="548640"/>
          </a:xfrm>
          <a:prstGeom prst="rect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37960" y="260604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위험보험료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34172" y="2606040"/>
            <a:ext cx="1911096" cy="548640"/>
          </a:xfrm>
          <a:prstGeom prst="rect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34172" y="2606040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저축보험료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172700" y="2606040"/>
            <a:ext cx="1184148" cy="54864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72700" y="2606040"/>
            <a:ext cx="1184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사업비(부가보험료)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3246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비율은 상품·연령별로 다른 개념도(실제 비율 아님)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537960" y="36118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5260" indent="-17526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영업보험료 = 순보험료(위험+저축) + 부가보험료(사업비)</a:t>
            </a:r>
            <a:endParaRPr lang="en-US" sz="1150" dirty="0"/>
          </a:p>
          <a:p>
            <a:pPr algn="l" marL="175260" indent="-17526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7~10년 사업비가 집중 차감 → 초기 해지환급금이 납입액보다 훨씬 적은 이유</a:t>
            </a:r>
            <a:endParaRPr lang="en-US" sz="1150" dirty="0"/>
          </a:p>
          <a:p>
            <a:pPr algn="l" marL="175260" indent="-17526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「저축」이라 불러도 저축보험료 부분만 적립. 100% 저축이 아닙니다</a:t>
            </a:r>
            <a:endParaRPr lang="en-US" sz="1150" dirty="0"/>
          </a:p>
          <a:p>
            <a:pPr algn="l" marL="175260" indent="-17526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무·저해지형은 이 저축보험료를 깎아 보험료를 낮춘 대신, 중도 해지 시 환급금 0~50%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상품 해부학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이율 3형제 — 공시이율 · 예정이율 · 최저보증이율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설계사의 「이자」 이야기는 대부분 이 세 단어에서 나옵니다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566160" cy="2331720"/>
          </a:xfrm>
          <a:prstGeom prst="roundRect">
            <a:avLst>
              <a:gd name="adj" fmla="val 86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🏦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공시이율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974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 예금금리처럼 시중금리에 연동해 매월 바뀌는 「적립 이자율」. 환급금이 이 이율로 불어납니다. 금리 하락기에는 함께 떨어집니다.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1920240"/>
            <a:ext cx="3566160" cy="2331720"/>
          </a:xfrm>
          <a:prstGeom prst="roundRect">
            <a:avLst>
              <a:gd name="adj" fmla="val 86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72000" y="2103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🧮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예정이율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6974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보험료를 계산할 때 회사가 「이 정도는 굴릴 수 있다」고 가정한 이율. 낮아지면 같은 보장의 보험료가 오릅니다.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566160" cy="2331720"/>
          </a:xfrm>
          <a:prstGeom prst="roundRect">
            <a:avLst>
              <a:gd name="adj" fmla="val 86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21040" y="2103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🛟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최저보증이율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6974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공시이율이 아무리 떨어져도 최소한 보장하는 이율. 요즘 상품은 대개 0.5~1%대(가입 후 기간별로 하락).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11091672" cy="1691640"/>
          </a:xfrm>
          <a:prstGeom prst="roundRect">
            <a:avLst>
              <a:gd name="adj" fmla="val 11892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868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D5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72의 법칙으로 감 잡기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572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8C7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공시이율 1.5%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892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48년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2022년 교안 당시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4572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8C7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평균공시이율 2.5%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892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29년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금감원 고시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326880" y="4572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8C7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정기예금 3.4%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4892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21년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9326880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2026.9 은행 (참고)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50292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원금 2배까지 걸리는 해 = 72 ÷ 이율(%).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금리가 올라도 보험 공시이율(2.5%)은 예금(3.4%)보다 낮고, 그마저 사업비를 뗀 뒤 적용됩니다.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상품 해부학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「보증」이라는 단어에 붙는 가격표 — 보증비용 부과형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 안에 또 하나의 유료 보험이 들어 있습니다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6949440" cy="914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최저사망보험금 보증비용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수익률이 나빠도 사망보험금을 지켜주는 대가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2560320" cy="288950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2240280"/>
            <a:ext cx="256032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계약자적립금의 약 0.1% / 매년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6949440" cy="914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246120"/>
            <a:ext cx="457200" cy="45720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최저해지환급금 보증비용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환급금 하한선을 지켜주는 대가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291840"/>
            <a:ext cx="2560320" cy="288950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3291840"/>
            <a:ext cx="256032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기본보험료의 약 3.5~4.0% / 매월 (납입기간 중)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069080"/>
            <a:ext cx="6949440" cy="914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206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최저연금적립액 보증비용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연금 재원 하한선을 지켜주는 대가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4343400"/>
            <a:ext cx="2560320" cy="288950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54880" y="4343400"/>
            <a:ext cx="256032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계약자적립금의 약 0.15~0.65% / 매년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72400" y="1965960"/>
            <a:ext cx="3886200" cy="3017520"/>
          </a:xfrm>
          <a:prstGeom prst="roundRect">
            <a:avLst>
              <a:gd name="adj" fmla="val 6667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4672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🍰 케이크 위의 보험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26517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변액상품은 펀드가 나빠지면 보험금도 줄 수 있어서, 「최소한 이만큼은 드립니다」라는 보증을 붙입니다. 그런데 그 보증은 공짜가 아닙니다.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매월 보험료의 3.5~4%가 「보증료」로 빠지면, 같은 보장의 미보증 상품보다 보험료가 비싸지고 환급금은 그만큼 덜 쌓입니다.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23158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증권에 「보증비용 부과형」이 보이면: "고객님, 이 상품은 매달 보험료의 약 4%를 보증료로 내고 계세요. 그 돈이면 암·뇌·심장 진단비 특약 하나가 들어갑니다."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상품 해부학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유니버셜 = 입출금 통장? 아니요, 「이자 붙는 현금서비스」입니다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0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기가 막힌 화법 세 가지와, 그 뒤에 숨은 조건 세 가지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1091672" cy="1051560"/>
          </a:xfrm>
          <a:prstGeom prst="roundRect">
            <a:avLst>
              <a:gd name="adj" fmla="val 191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94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➕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추가납입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"보험료를 더 내면 환급금이 더 쌓여요"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10312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기본보험료의 일정 배수 이내 등 한도 존재(상품별) · 추가납입에도 계약관리비용 부과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11091672" cy="1051560"/>
          </a:xfrm>
          <a:prstGeom prst="roundRect">
            <a:avLst>
              <a:gd name="adj" fmla="val 191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3383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➖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291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중도인출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"급전 필요하면 대출 없이 빼 쓰세요"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32918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1회 해지환급금의 50% 이내, 연 12회 등 제한 · 인출하면 적립금↓ 사망보험금·환급금↓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11091672" cy="1051560"/>
          </a:xfrm>
          <a:prstGeom prst="roundRect">
            <a:avLst>
              <a:gd name="adj" fmla="val 191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4572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⏸️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480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납입중지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892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"형편 어려우면 잠시 멈추셔도 돼요"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448056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의무납입기간(보통 2~10년) 이후만 가능 · 멈춘 동안 「월대체보험료」가 적립금에서 빠져나감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29333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68680" y="5577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🧾 월대체보험료 = 주계약 위험보험료 + 특약보험료 + 사업비. 납입을 멈춰도 「보험을 유지하는 비용」은 매달 적립금에서 계속 빠집니다. 적립금이 바닥나면 계약은 실효됩니다.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상품 해부학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변액보험 — 내 보험료의 85~95%만 펀드로 갑니다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수익률이 다르니 민원도 많습니다. 달러종신은 환율 리스크까지 얹힙니다.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2011680" cy="13716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납입보험료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78608" y="2514600"/>
            <a:ext cx="237744" cy="274320"/>
          </a:xfrm>
          <a:prstGeom prst="rightArrow">
            <a:avLst/>
          </a:prstGeom>
          <a:solidFill>
            <a:srgbClr val="D1D6DB"/>
          </a:solidFill>
          <a:ln w="12700">
            <a:solidFill>
              <a:srgbClr val="D1D6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1965960"/>
            <a:ext cx="2011680" cy="13716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01752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사업비·위험보험료 차감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-5~15%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864608" y="2514600"/>
            <a:ext cx="237744" cy="274320"/>
          </a:xfrm>
          <a:prstGeom prst="rightArrow">
            <a:avLst/>
          </a:prstGeom>
          <a:solidFill>
            <a:srgbClr val="D1D6DB"/>
          </a:solidFill>
          <a:ln w="12700">
            <a:solidFill>
              <a:srgbClr val="D1D6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1965960"/>
            <a:ext cx="2011680" cy="13716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0352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특별계정 투입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85~95%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150608" y="2514600"/>
            <a:ext cx="237744" cy="274320"/>
          </a:xfrm>
          <a:prstGeom prst="rightArrow">
            <a:avLst/>
          </a:prstGeom>
          <a:solidFill>
            <a:srgbClr val="D1D6DB"/>
          </a:solidFill>
          <a:ln w="12700">
            <a:solidFill>
              <a:srgbClr val="D1D6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1965960"/>
            <a:ext cx="2011680" cy="13716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58952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펀드 운용(주식·채권)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 ±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436608" y="2514600"/>
            <a:ext cx="237744" cy="274320"/>
          </a:xfrm>
          <a:prstGeom prst="rightArrow">
            <a:avLst/>
          </a:prstGeom>
          <a:solidFill>
            <a:srgbClr val="D1D6DB"/>
          </a:solidFill>
          <a:ln w="12700">
            <a:solidFill>
              <a:srgbClr val="D1D6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1965960"/>
            <a:ext cx="2011680" cy="13716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87552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보험금·환급금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변동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48640" y="3611880"/>
            <a:ext cx="5394960" cy="2606040"/>
          </a:xfrm>
          <a:prstGeom prst="roundRect">
            <a:avLst>
              <a:gd name="adj" fmla="val 77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22960" y="3794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민원이 많을까?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2062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5260" indent="-17526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「펀드 수익률 = 내 수익률」이 아님. 투입 전 차감분을 먼저 회복해야 원금</a:t>
            </a:r>
            <a:endParaRPr lang="en-US" sz="1150" dirty="0"/>
          </a:p>
          <a:p>
            <a:pPr algn="l" marL="175260" indent="-17526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펀드 변경·리밸런싱은 계약자가 직접 해야 하는데, 대부분 가입 후 한 번도 안 함</a:t>
            </a:r>
            <a:endParaRPr lang="en-US" sz="1150" dirty="0"/>
          </a:p>
          <a:p>
            <a:pPr algn="l" marL="175260" indent="-17526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설계사가 떠나면 관리 공백. 10년 뒤 수익률표를 보고 그제야 놀람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3611880"/>
            <a:ext cx="5394960" cy="2606040"/>
          </a:xfrm>
          <a:prstGeom prst="roundRect">
            <a:avLst>
              <a:gd name="adj" fmla="val 7719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37960" y="3794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25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💵 달러종신보험은?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42062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보험료도 달러, 보험금도 달러. 환율이 오르면 매달 내는 원화 보험료가 늘고, 내릴 때 보험금을 받으면 원화 가치가 줄어듭니다. 「환테크」로 팔렸지만, 고객이 통제할 수 없는 변수를 보험에 얹은 셈입니다. 2023년 교안의 실패사례 고객이 바로 「유니버셜 달러 종신」 가입자였습니다.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상품 해부학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종신보험 변천사 — 금리와 규제가 만든 8세대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「언제」 가입했는지 알면 「무엇」에 혹했는지 보입니다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035808"/>
            <a:ext cx="10607040" cy="54864"/>
          </a:xfrm>
          <a:prstGeom prst="rect">
            <a:avLst/>
          </a:prstGeom>
          <a:solidFill>
            <a:srgbClr val="D1D6DB"/>
          </a:solidFill>
          <a:ln w="12700">
            <a:solidFill>
              <a:srgbClr val="D1D6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926080"/>
            <a:ext cx="274320" cy="274320"/>
          </a:xfrm>
          <a:prstGeom prst="ellipse">
            <a:avLst/>
          </a:prstGeom>
          <a:solidFill>
            <a:srgbClr val="4E5968"/>
          </a:solidFill>
          <a:ln w="12700">
            <a:solidFill>
              <a:srgbClr val="4E59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74520"/>
            <a:ext cx="1325880" cy="960120"/>
          </a:xfrm>
          <a:prstGeom prst="roundRect">
            <a:avLst>
              <a:gd name="adj" fmla="val 209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" y="1929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1세대 · 1998~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18541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종신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41448" y="2926080"/>
            <a:ext cx="274320" cy="27432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38528" y="3383280"/>
            <a:ext cx="1325880" cy="960120"/>
          </a:xfrm>
          <a:prstGeom prst="roundRect">
            <a:avLst>
              <a:gd name="adj" fmla="val 209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011680" y="34381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2세대 · 2002~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36941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변액 종신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31336" y="2926080"/>
            <a:ext cx="274320" cy="27432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28416" y="1874520"/>
            <a:ext cx="1325880" cy="960120"/>
          </a:xfrm>
          <a:prstGeom prst="roundRect">
            <a:avLst>
              <a:gd name="adj" fmla="val 209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401568" y="1929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3세대 · 2005~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401568" y="218541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유니버셜 종신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21224" y="2926080"/>
            <a:ext cx="274320" cy="27432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18304" y="3383280"/>
            <a:ext cx="1325880" cy="960120"/>
          </a:xfrm>
          <a:prstGeom prst="roundRect">
            <a:avLst>
              <a:gd name="adj" fmla="val 209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791456" y="34381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4세대 · 2010~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791456" y="36941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전환형·CI/GI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11112" y="2926080"/>
            <a:ext cx="274320" cy="27432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08192" y="1874520"/>
            <a:ext cx="1325880" cy="960120"/>
          </a:xfrm>
          <a:prstGeom prst="roundRect">
            <a:avLst>
              <a:gd name="adj" fmla="val 209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181344" y="1929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5세대 · 2015~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181344" y="218541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최저보증·체증형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01000" y="2926080"/>
            <a:ext cx="274320" cy="274320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3383280"/>
            <a:ext cx="1325880" cy="960120"/>
          </a:xfrm>
          <a:prstGeom prst="roundRect">
            <a:avLst>
              <a:gd name="adj" fmla="val 209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571232" y="34381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6세대 · 2017~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571232" y="36941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무·저해지 종신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390888" y="2926080"/>
            <a:ext cx="274320" cy="274320"/>
          </a:xfrm>
          <a:prstGeom prst="ellipse">
            <a:avLst/>
          </a:prstGeom>
          <a:solidFill>
            <a:srgbClr val="FF5C8D"/>
          </a:solidFill>
          <a:ln w="12700">
            <a:solidFill>
              <a:srgbClr val="FF5C8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87968" y="1874520"/>
            <a:ext cx="1325880" cy="960120"/>
          </a:xfrm>
          <a:prstGeom prst="roundRect">
            <a:avLst>
              <a:gd name="adj" fmla="val 209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961120" y="1929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5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7세대 · 2021~24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961120" y="218541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단기납 종신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780776" y="2926080"/>
            <a:ext cx="274320" cy="274320"/>
          </a:xfrm>
          <a:prstGeom prst="ellipse">
            <a:avLst/>
          </a:prstGeom>
          <a:solidFill>
            <a:srgbClr val="00C471"/>
          </a:solidFill>
          <a:ln w="12700">
            <a:solidFill>
              <a:srgbClr val="00C47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77856" y="3383280"/>
            <a:ext cx="1325880" cy="960120"/>
          </a:xfrm>
          <a:prstGeom prst="roundRect">
            <a:avLst>
              <a:gd name="adj" fmla="val 209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10351008" y="34381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C4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8세대 · 2025~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0351008" y="36941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건강보험 결합·유동화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45720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만기 종신, 확정 사망보험금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984248" y="45720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예정이율, 수익률 따라 보험금↑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3374136" y="45720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 입출금, 연금전환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764024" y="45720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저축성 전환, 선지급형 확산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6153912" y="45720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금리 이슈 판매, 사망보험금 체증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7543800" y="45720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환급금 없애고 보험료↓, 납입 후 고환급률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8933688" y="45720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5·7년납 + 10년 시점 120~130% 환급률 경쟁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0323576" y="45720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건강보험 주력화, 사망보험금 생전 활용 제도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29333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68680" y="5532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🔎 증권의 「가입일」을 보세요. 2021~2024년 가입 = 단기납·환급률 화법 / 2015~2020년 = 무·저해지·최저보증 화법 / 2005~2014년 = 유니버셜·연금전환 화법일 가능성이 큽니다.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상품 해부학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단기납 종신 「10년 뒤 120%」의 착시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환급률은 「이자율」이 아닙니다. 연 수익률로 바꿔 보면 다른 그림이 나옵니다.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394960" cy="4297680"/>
          </a:xfrm>
          <a:prstGeom prst="roundRect">
            <a:avLst>
              <a:gd name="adj" fmla="val 46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예시: 5년납, 월 100만원, 10년 시점 환급률 120%</a:t>
            </a:r>
            <a:endParaRPr lang="en-US" sz="13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560320"/>
          <a:ext cx="48463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4688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D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납입액 (60개월)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6,000만원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10년 시점 해지환급금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7,200만원 (120%)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+1,200만원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환산 수익률(내부수익률)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2.6%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5년납 완료 직후 환급률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100% 안팎 (상품별 상이)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납입 중(1~4년차) 해지 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무해지형 0원 · 저해지형 50% 수준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822960" y="52578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2025년 이후 해지율 가정 강화로 신규 상품 환급률은 더 낮아진 추세. 강의 시 최신 상품설명서 수치로 교체.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63640" y="1920240"/>
            <a:ext cx="5394960" cy="4297680"/>
          </a:xfrm>
          <a:prstGeom prst="roundRect">
            <a:avLst>
              <a:gd name="adj" fmla="val 4681"/>
            </a:avLst>
          </a:prstGeom>
          <a:solidFill>
            <a:srgbClr val="FFE9F0"/>
          </a:solidFill>
          <a:ln w="12700">
            <a:solidFill>
              <a:srgbClr val="FFE9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5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🍯 꿀단지 비유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25603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꿀단지에 5년 동안 꿀을 붓고, 뚜껑을 5년 더 닫아 두면 20% 더 늘어난다고 합니다.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① 10년 안에 뚜껑을 열면 꿀이 절반 이하로 줄고 ② 10년 뒤 늘어난 20%는 연 2%대 이자와 같으며 ③ 그 사이 정말 필요한 「아플 때 꺼내 쓸 꿀(진단비·치료비)」은 단지 안에 없습니다.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종신보험은 사망보험금이 본질이고, 환급률은 「해지했을 때」 이야기입니다. 해지하면 보장은 사라집니다.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상품 해부학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"나중에 연금으로 쓰세요" — 연금전환의 진실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말은 아닙니다. 그러나 「무엇을 잃는지」는 말하지 않습니다.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566160" cy="155448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종신보험을 해지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해지환급금이 연금 재원이 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1965960"/>
            <a:ext cx="3566160" cy="155448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720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사망보장 소멸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주계약과 연계 특약도 함께 소멸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1965960"/>
            <a:ext cx="3566160" cy="155448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210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연금액 계산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보험료의 연금보험보다 적을 가능성 큼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5394960" cy="246888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3931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연금보험보다 적을까?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3434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5260" indent="-17526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종신보험은 위험보험료·사업비가 커서 납입액 전부가 연금에 투자되지 않음</a:t>
            </a:r>
            <a:endParaRPr lang="en-US" sz="1150" dirty="0"/>
          </a:p>
          <a:p>
            <a:pPr algn="l" marL="175260" indent="-17526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시점 해지환급금 = 납입액의 70~100% 수준인 경우가 많음</a:t>
            </a:r>
            <a:endParaRPr lang="en-US" sz="1150" dirty="0"/>
          </a:p>
          <a:p>
            <a:pPr algn="l" marL="175260" indent="-17526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후엔 「종신연금」이 아닌 확정기간형만 가능한 상품도 있음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3749040"/>
            <a:ext cx="5394960" cy="2468880"/>
          </a:xfrm>
          <a:prstGeom prst="roundRect">
            <a:avLst>
              <a:gd name="adj" fmla="val 8148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3931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🆕 2025~ 사망보험금 「생전 활용」 제도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43434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금융당국이 종신보험 사망보험금을 생전에 연금·요양 서비스로 바꿔 쓰는 「유동화」 제도를 도입했습니다. 그러나 이것 역시 「사망보험금을 깎아 쓰는」 구조입니다. 고객에게는 "결국 사망보장을 헐어서 생존자금을 만드는 거예요. 처음부터 생존보장을 따로 준비하는 게 맞습니다"라고 설명하세요.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상품 해부학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CI보험 해부 — 「중대한」이라는 두 글자의 무게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중대한 질병·수술 시 사망보험금의 50~80%를 미리 주는 종신보험. 단, 나열된 것 중 가장 먼저 걸린 하나만, 최초 1회.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6949440" cy="41605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중대한 질병 8 + 중대한 수술 5 = 13개 (상품별 상이)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2057400" cy="475488"/>
          </a:xfrm>
          <a:prstGeom prst="roundRect">
            <a:avLst>
              <a:gd name="adj" fmla="val 42308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65176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중대한 암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71800" y="2651760"/>
            <a:ext cx="2057400" cy="475488"/>
          </a:xfrm>
          <a:prstGeom prst="roundRect">
            <a:avLst>
              <a:gd name="adj" fmla="val 42308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71800" y="265176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중대한 뇌졸중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20640" y="2651760"/>
            <a:ext cx="2057400" cy="475488"/>
          </a:xfrm>
          <a:prstGeom prst="roundRect">
            <a:avLst>
              <a:gd name="adj" fmla="val 42308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265176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중대한 급성심근경색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3218688"/>
            <a:ext cx="2057400" cy="475488"/>
          </a:xfrm>
          <a:prstGeom prst="roundRect">
            <a:avLst>
              <a:gd name="adj" fmla="val 423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21868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말기 신부전증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71800" y="3218688"/>
            <a:ext cx="2057400" cy="475488"/>
          </a:xfrm>
          <a:prstGeom prst="roundRect">
            <a:avLst>
              <a:gd name="adj" fmla="val 423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71800" y="321868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말기 간질환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20640" y="3218688"/>
            <a:ext cx="2057400" cy="475488"/>
          </a:xfrm>
          <a:prstGeom prst="roundRect">
            <a:avLst>
              <a:gd name="adj" fmla="val 423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20640" y="321868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말기 만성폐질환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3785616"/>
            <a:ext cx="2057400" cy="475488"/>
          </a:xfrm>
          <a:prstGeom prst="roundRect">
            <a:avLst>
              <a:gd name="adj" fmla="val 423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378561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중증 재생불량성빈혈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71800" y="3785616"/>
            <a:ext cx="2057400" cy="475488"/>
          </a:xfrm>
          <a:prstGeom prst="roundRect">
            <a:avLst>
              <a:gd name="adj" fmla="val 423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71800" y="378561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루게릭병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20640" y="3785616"/>
            <a:ext cx="2057400" cy="475488"/>
          </a:xfrm>
          <a:prstGeom prst="roundRect">
            <a:avLst>
              <a:gd name="adj" fmla="val 423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0" y="378561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관상동맥우회술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" y="4352544"/>
            <a:ext cx="2057400" cy="475488"/>
          </a:xfrm>
          <a:prstGeom prst="roundRect">
            <a:avLst>
              <a:gd name="adj" fmla="val 423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35254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대동맥 인조혈관치환술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71800" y="4352544"/>
            <a:ext cx="2057400" cy="475488"/>
          </a:xfrm>
          <a:prstGeom prst="roundRect">
            <a:avLst>
              <a:gd name="adj" fmla="val 423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71800" y="435254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심장판막수술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20640" y="4352544"/>
            <a:ext cx="2057400" cy="475488"/>
          </a:xfrm>
          <a:prstGeom prst="roundRect">
            <a:avLst>
              <a:gd name="adj" fmla="val 423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20640" y="435254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5대 장기이식수술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2960" y="4919472"/>
            <a:ext cx="2057400" cy="475488"/>
          </a:xfrm>
          <a:prstGeom prst="roundRect">
            <a:avLst>
              <a:gd name="adj" fmla="val 4230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491947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중대한 화상·부식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5532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13개를 「전부 각각」 보장? 아닙니다. 가장 먼저 진단받는 하나에 대해 최초 1회만 지급, 이후 사망보험금은 선지급분만큼 줄어듭니다.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772400" y="2011680"/>
            <a:ext cx="3886200" cy="4160520"/>
          </a:xfrm>
          <a:prstGeom prst="roundRect">
            <a:avLst>
              <a:gd name="adj" fmla="val 5176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046720" y="2194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D5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다트판 비유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046720" y="274320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E8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다트판 정중앙(불스아이)에 맞춰야 보험금이 나옵니다.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E8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암에 걸려도 「침윤파괴적 증식」이어야 하고, 뇌졸중이 와도 「영구적 신경학적 결손 25% 이상」이어야 하고, 심근경색이 와도 「특정 효소 수치+심전도 변화+비가역적 괴사」가 동시에 확인돼야 합니다.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E8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병에 걸려도 「중대한」 문턱을 넘느냐로 0원과 수천만원이 갈립니다.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상품 해부학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중대한 암 · 중대한 뇌졸중 · 중대한 급성심근경색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문장을 그대로 읽어 드리는 것이 가장 강력한 화법입니다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566160" cy="38404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🎗️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중대한 암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9748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악성종양세포가 존재하고 주위 조직으로 「침윤파괴적 증식」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제외: 악성흑색종 중 침범 1.5mm 이하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제외: 초기 전립선암, 초기 갑상선암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제외: HIV 관련 악성종양, 흑색종 외 피부암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생보 일반 암특약도 생식기암은 소액암(10~20%)인 경우 다수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1965960"/>
            <a:ext cx="3566160" cy="38404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72000" y="2103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중대한 뇌졸중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69748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뇌경색·뇌출혈 진단명만으로는 부족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「영구적인 신경학적 결손」이 남아야 함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일상생활 기본동작에 25% 이상 장해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후 일정 기간(예: 60일) 지속 확인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후유장해가 남을 만큼 심각해야 지급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965960"/>
            <a:ext cx="3566160" cy="38404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21040" y="2103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❤️‍🩹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중대한 급성심근경색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69748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전형적 흉통 + 심전도의 새로운 변화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심근효소(CK-MB) 상승 동시 확인 — 트로포닌 제외 약관 다수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심근조직의 「비가역적 괴사」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급성기에 검사를 놓치면 확진돼도 부지급 가능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협심증·스텐트 시술은 해당 없음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943600"/>
            <a:ext cx="11091672" cy="411480"/>
          </a:xfrm>
          <a:prstGeom prst="roundRect">
            <a:avLst>
              <a:gd name="adj" fmla="val 48889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5943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📖 전통적 CI 약관은 「CK-MB 포함 심근효소 상승(단, 트로포닌 제외)」 문구를 씁니다. 회사·가입시점별 약관이 다르니 해당 증권 약관을 반드시 확인하세요.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상품 해부학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「최초 1회한」 vs 「각각 지급」 — 한 끗 차이, 천지 차이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통합 주계약은 18개 담보 중 하나를 받으면 나머지 17개가 사라집니다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394960" cy="420624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통합종신 주계약 (선지급형)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651760"/>
            <a:ext cx="566928" cy="566928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2651760"/>
            <a:ext cx="566928" cy="566928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651760"/>
            <a:ext cx="566928" cy="566928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651760"/>
            <a:ext cx="566928" cy="566928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2651760"/>
            <a:ext cx="566928" cy="566928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00600" y="2651760"/>
            <a:ext cx="566928" cy="566928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429000"/>
            <a:ext cx="566928" cy="566928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91640" y="3429000"/>
            <a:ext cx="566928" cy="566928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3429000"/>
            <a:ext cx="566928" cy="566928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3429000"/>
            <a:ext cx="566928" cy="566928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0" y="3429000"/>
            <a:ext cx="566928" cy="566928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429000"/>
            <a:ext cx="566928" cy="566928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206240"/>
            <a:ext cx="566928" cy="566928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91640" y="4206240"/>
            <a:ext cx="566928" cy="566928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8880" y="4206240"/>
            <a:ext cx="566928" cy="566928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4206240"/>
            <a:ext cx="566928" cy="566928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23360" y="4206240"/>
            <a:ext cx="566928" cy="566928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4206240"/>
            <a:ext cx="566928" cy="566928"/>
          </a:xfrm>
          <a:prstGeom prst="ellipse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029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 진단으로 1회 수령 → 이후 뇌졸중·심근경색이 와도 주계약에서는 추가 지급 없음. 사망보험금도 선지급분만큼 감소.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1965960"/>
            <a:ext cx="5394960" cy="420624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537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손보(메리츠) 통합건강보험 (특약 각각)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629400" y="2651760"/>
            <a:ext cx="566928" cy="566928"/>
          </a:xfrm>
          <a:prstGeom prst="ellipse">
            <a:avLst/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2651760"/>
            <a:ext cx="566928" cy="566928"/>
          </a:xfrm>
          <a:prstGeom prst="ellipse">
            <a:avLst/>
          </a:prstGeom>
          <a:solidFill>
            <a:srgbClr val="00C471"/>
          </a:solidFill>
          <a:ln w="12700">
            <a:solidFill>
              <a:srgbClr val="00C47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0664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83880" y="2651760"/>
            <a:ext cx="566928" cy="566928"/>
          </a:xfrm>
          <a:prstGeom prst="ellipse">
            <a:avLst/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2651760"/>
            <a:ext cx="566928" cy="566928"/>
          </a:xfrm>
          <a:prstGeom prst="ellipse">
            <a:avLst/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38360" y="2651760"/>
            <a:ext cx="566928" cy="566928"/>
          </a:xfrm>
          <a:prstGeom prst="ellipse">
            <a:avLst/>
          </a:prstGeom>
          <a:solidFill>
            <a:srgbClr val="00C471"/>
          </a:solidFill>
          <a:ln w="12700">
            <a:solidFill>
              <a:srgbClr val="00C47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3836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515600" y="2651760"/>
            <a:ext cx="566928" cy="566928"/>
          </a:xfrm>
          <a:prstGeom prst="ellipse">
            <a:avLst/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29400" y="3429000"/>
            <a:ext cx="566928" cy="566928"/>
          </a:xfrm>
          <a:prstGeom prst="ellipse">
            <a:avLst/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06640" y="3429000"/>
            <a:ext cx="566928" cy="566928"/>
          </a:xfrm>
          <a:prstGeom prst="ellipse">
            <a:avLst/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83880" y="3429000"/>
            <a:ext cx="566928" cy="566928"/>
          </a:xfrm>
          <a:prstGeom prst="ellipse">
            <a:avLst/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61120" y="3429000"/>
            <a:ext cx="566928" cy="566928"/>
          </a:xfrm>
          <a:prstGeom prst="ellipse">
            <a:avLst/>
          </a:prstGeom>
          <a:solidFill>
            <a:srgbClr val="00C471"/>
          </a:solidFill>
          <a:ln w="12700">
            <a:solidFill>
              <a:srgbClr val="00C47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961120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738360" y="3429000"/>
            <a:ext cx="566928" cy="566928"/>
          </a:xfrm>
          <a:prstGeom prst="ellipse">
            <a:avLst/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15600" y="3429000"/>
            <a:ext cx="566928" cy="566928"/>
          </a:xfrm>
          <a:prstGeom prst="ellipse">
            <a:avLst/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29400" y="4206240"/>
            <a:ext cx="566928" cy="566928"/>
          </a:xfrm>
          <a:prstGeom prst="ellipse">
            <a:avLst/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06640" y="4206240"/>
            <a:ext cx="566928" cy="566928"/>
          </a:xfrm>
          <a:prstGeom prst="ellipse">
            <a:avLst/>
          </a:prstGeom>
          <a:solidFill>
            <a:srgbClr val="00C471"/>
          </a:solidFill>
          <a:ln w="12700">
            <a:solidFill>
              <a:srgbClr val="00C47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40664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83880" y="4206240"/>
            <a:ext cx="566928" cy="566928"/>
          </a:xfrm>
          <a:prstGeom prst="ellipse">
            <a:avLst/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61120" y="4206240"/>
            <a:ext cx="566928" cy="566928"/>
          </a:xfrm>
          <a:prstGeom prst="ellipse">
            <a:avLst/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738360" y="4206240"/>
            <a:ext cx="566928" cy="566928"/>
          </a:xfrm>
          <a:prstGeom prst="ellipse">
            <a:avLst/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15600" y="4206240"/>
            <a:ext cx="566928" cy="566928"/>
          </a:xfrm>
          <a:prstGeom prst="ellipse">
            <a:avLst/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537960" y="5029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 진단비 → 뇌혈관 진단비 → 허혈성 진단비 → 수술비… 특약마다 독립 지급. 하나를 받아도 나머지는 그대로 살아 있음.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상품 해부학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GI보험 vs 메리츠 — 같은 사람이 같은 병에 걸리면 얼마를 받나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45세 남 · GI 종신 주계약 1억(선지급 80%) vs 메리츠 통합건강(암·뇌혈관·허혈성 각 3천 + 수술비) — 예시 시나리오</a:t>
            </a:r>
            <a:endParaRPr lang="en-US" sz="1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75895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834640"/>
                <a:gridCol w="283464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시점 · 사건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GI 종신보험 (주계약 1억)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메리츠 통합건강보험 (예시 설계)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D4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47세  협심증 → 스텐트 시술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220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220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(급성심근경색이 아니므로 GI 해당 없음)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B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허혈성심장질환 진단비 3,000만 + 수술비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B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이후 다른 담보 그대로 유지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50세  뇌경색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220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220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(뇌출혈만 해당, 뇌경색은 제외)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B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뇌혈관질환 진단비 3,000만 + 수술비·입원일당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B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뇌졸중 진단 → 이후 보험료 납입면제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55세  위암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8,000만 선지급 (최초 1회한)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사망보험금 1억 → 2,000만으로 감소, 이후 GI 추가 지급 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B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 진단비 3,000만 + 암 수술비 + 입원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B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담보(뇌·심장·수술)도 계속 살아 있음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 번 아픈 동안 받은 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220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8,000만 (한 번, 그것도 사망보험금 당겨 쓴 것)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B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9,000만 + 수술·입원 + 납입면제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8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보험료 (45세 기준 예시)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30만원대 (종신보다 약 40% 비쌈)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10만원대 (사망담보 제외 시)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0" y="1965960"/>
            <a:ext cx="3227832" cy="2286000"/>
          </a:xfrm>
          <a:prstGeom prst="roundRect">
            <a:avLst>
              <a:gd name="adj" fmla="val 88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64108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D5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화법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24688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8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"고객님, 협심증으로 스텐트 넣으면 이 보험은 0원이에요. 뇌경색도 0원. 암에 걸리면 8천만원 나오지만, 그건 고객님 사망보험금을 미리 당겨 쓰는 거라 유족은 2천만원만 받습니다."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412480" y="4389120"/>
            <a:ext cx="3227832" cy="960120"/>
          </a:xfrm>
          <a:prstGeom prst="roundRect">
            <a:avLst>
              <a:gd name="adj" fmla="val 20952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41080" y="44348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GI가 CI보다 나아진 점: 「중대한」 대신 진단코드로 지급, 뇌출혈은 진단만으로 OK.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남은 것: 뇌출혈·급성심근경색만, 최초 1회한, 선지급 후 사망보험금 감소.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29333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🔑 GI는 「나열된 병 중 첫 번째 하나」에만, 「내 사망보험금을 미리 당겨」 줍니다. 메리츠는 「걸릴 때마다, 각각, 사망보험금과 별개로」 줍니다. 세 번 아픈 사람에게 어느 쪽이 보험일까요?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1996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진단비·보험료는 이해를 돕기 위한 예시이며 실제 지급액·보험료는 가입 설계와 약관에 따릅니다. 강의 전 당사 견적으로 갱신하세요.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상품 해부학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「재해」와 「상해」는 같은 말이 아닙니다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재해사망 1억 = 「재해분류표」에 해당하는 사고만. 손보 상해 = 급격·우연·외래의 사고 전부.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394960" cy="310896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생보의 「재해」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1460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5260" indent="-17526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별표 「재해분류표」에 열거된 우발적 외래 사고만 인정 (S·T·V·W·X·Y 코드 기반)</a:t>
            </a:r>
            <a:endParaRPr lang="en-US" sz="1150" dirty="0"/>
          </a:p>
          <a:p>
            <a:pPr algn="l" marL="175260" indent="-17526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 예: 질병·체질적 요인이 있는 사람의 경미한 외부 요인, 과로·격렬한 운동으로 인한 사고, 식중독 일부 등</a:t>
            </a:r>
            <a:endParaRPr lang="en-US" sz="1150" dirty="0"/>
          </a:p>
          <a:p>
            <a:pPr algn="l" marL="175260" indent="-17526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재해 여부를 두고 분쟁이 잦음 — 「재해」인지 「질병」인지 의사 소견에 좌우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965960"/>
            <a:ext cx="5394960" cy="310896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37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손보의 「상해」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51460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5260" indent="-17526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「급격하고 우연한 외래의 사고」로 신체에 입은 상해 — 열거식이 아닌 포괄 정의</a:t>
            </a:r>
            <a:endParaRPr lang="en-US" sz="1150" dirty="0"/>
          </a:p>
          <a:p>
            <a:pPr algn="l" marL="175260" indent="-17526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등산 중 넘어짐, 운동 중 인대 파열, 넘어져 골절 등 일상 사고 폭넓게 인정</a:t>
            </a:r>
            <a:endParaRPr lang="en-US" sz="1150" dirty="0"/>
          </a:p>
          <a:p>
            <a:pPr algn="l" marL="175260" indent="-17526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상해 후유장해 3~100% 지급 등 생존 보장이 촘촘함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868680"/>
          </a:xfrm>
          <a:prstGeom prst="roundRect">
            <a:avLst>
              <a:gd name="adj" fmla="val 23158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303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🥾 사례: 마라톤 중 쓰러져 골절 — 생보는 「격렬한 운동」 제외 조항으로 다툼 소지, 손보는 급격·우연·외래 사고로 상해 인정 가능. 같은 사고, 다른 결과.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상품 해부학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해지 말고 이 카드부터 — 종신보험 유지 옵션 4가지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손해를 최소화하는 FP가 신뢰를 얻습니다. 「무조건 해지」는 하수입니다.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440680" cy="155448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94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📉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감액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6517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보험가입금액을 줄여 보험료를 낮춤. 줄인 부분은 해지 처리(해지환급금 지급).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440680" cy="155448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46520" y="2194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감액완납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6517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이상 납입하지 않고, 지금까지 쌓인 환급금으로 살 수 있는 만큼 보장을 줄여 유지.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440680" cy="155448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⏳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931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연장정기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3891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보장금액은 그대로 두고, 환급금으로 유지 가능한 「기간」까지만 정기보험처럼 유지.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703320"/>
            <a:ext cx="5440680" cy="155448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46520" y="3931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🔁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931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자동대출납입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3891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환급금 범위에서 대출로 보험료 대신 납입. 이자 발생, 환급금 소진 시 실효.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275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5486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 판단 기준: 사망보장이 「아직 필요한 시기(자녀 독립 전)」면 감액·연장정기로 유지하고 절약분을 생존보장에, 필요 없는 시기면 감액완납으로 부담 0원 만들기.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상품 해부학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내고, 누구 목숨에, 누가 받나 — 계약자·피보험자·수익자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40대 이상 고객이 「상속·증여 때문에 들었다」고 하면 반드시 이 세 칸을 확인하세요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1091672" cy="960120"/>
          </a:xfrm>
          <a:prstGeom prst="roundRect">
            <a:avLst>
              <a:gd name="adj" fmla="val 209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1031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계약자 = 부모 · 피보험자 = 부모 · 수익자 = 자녀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4688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사망보험금이 상속재산에 포함 → 상속세 과세 대상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03920" y="2258568"/>
            <a:ext cx="2834640" cy="301752"/>
          </a:xfrm>
          <a:prstGeom prst="roundRect">
            <a:avLst>
              <a:gd name="adj" fmla="val 500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225856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세금 발생 가능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11091672" cy="960120"/>
          </a:xfrm>
          <a:prstGeom prst="roundRect">
            <a:avLst>
              <a:gd name="adj" fmla="val 209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2004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계약자 = 자녀(소득 有) · 피보험자 = 부모 · 수익자 = 자녀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5661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자녀가 자기 돈으로 낸 보험 → 원칙적으로 상속세 비과세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0" y="3355848"/>
            <a:ext cx="2834640" cy="301752"/>
          </a:xfrm>
          <a:prstGeom prst="roundRect">
            <a:avLst>
              <a:gd name="adj" fmla="val 50000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0" y="335584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절세 구조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1091672" cy="960120"/>
          </a:xfrm>
          <a:prstGeom prst="roundRect">
            <a:avLst>
              <a:gd name="adj" fmla="val 209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2976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계약자 = 부모가 대신 납입 후 자녀 명의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6634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실질 납입자가 부모면 증여로 봄 → 과세 가능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453128"/>
            <a:ext cx="2834640" cy="301752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03920" y="445312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세금 발생 가능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5394960" cy="868680"/>
          </a:xfrm>
          <a:prstGeom prst="roundRect">
            <a:avLst>
              <a:gd name="adj" fmla="val 2315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3492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👶 15세 미만은 사망을 담보로 하는 보험 가입 자체가 무효(상법 제732조). 어린 자녀를 피보험자로 한 종신은 없습니다.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5349240"/>
            <a:ext cx="5394960" cy="868680"/>
          </a:xfrm>
          <a:prstGeom prst="roundRect">
            <a:avLst>
              <a:gd name="adj" fmla="val 23158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37960" y="53492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🏛️ 상속세는 2026년 개편 논의(유산취득세·공제 확대)가 진행 중입니다. 세금은 「최신 세법 + 세무사 확인」을 전제로 안내하세요.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50631569-faa5-59b7-821a-dea1a7200ace/scratchpad/build/cache/grad_div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MeAI/50631569-faa5-59b7-821a-dea1a7200ace/scratchpad/build/cache/blob_w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-1097280"/>
            <a:ext cx="5852160" cy="58521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1920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3063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정면 비교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0F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생명보험 vs 메리츠화재 — 같은 병, 다른 보험금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9052560" y="17373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⚖️</a:t>
            </a:r>
            <a:endParaRPr lang="en-US" sz="1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78254" cy="314554"/>
          </a:xfrm>
          <a:prstGeom prst="roundRect">
            <a:avLst>
              <a:gd name="adj" fmla="val 500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782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정면 비교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보험의 지도 — 4개의 방, 생보가 특화된 방은 하나뿐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「누가 받나(나·가족 / 남·타인)」 × 「언제 받나(살아서 / 사망 시)」로 나누면 보험이 한눈에 보입니다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보험금을 받는 대상: 나 / 가족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보험금을 받는 대상: 남 / 타인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42316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살아있을 때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받는 보상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062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 시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받는 보상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011680" y="2377440"/>
            <a:ext cx="4572000" cy="1737360"/>
          </a:xfrm>
          <a:prstGeom prst="roundRect">
            <a:avLst>
              <a:gd name="adj" fmla="val 11579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2514600"/>
            <a:ext cx="365760" cy="365760"/>
          </a:xfrm>
          <a:prstGeom prst="ellipse">
            <a:avLst/>
          </a:prstGeom>
          <a:solidFill>
            <a:srgbClr val="00C471"/>
          </a:solidFill>
          <a:ln w="12700">
            <a:solidFill>
              <a:srgbClr val="00C4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945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암·뇌·심 진단비 · 실손 · 수술비 · 입원일당 · 간병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28803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생존 보장의 핵심. 생보·손보 모두 팔지만 손보는 특약 각각 지급·비갱신 100세·넓은 담보(뇌혈관·허혈성)가 강점. 생보 종신·CI·GI는 「사망보험금 선지급」 구조.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0" y="2377440"/>
            <a:ext cx="4572000" cy="1737360"/>
          </a:xfrm>
          <a:prstGeom prst="roundRect">
            <a:avLst>
              <a:gd name="adj" fmla="val 11579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2514600"/>
            <a:ext cx="365760" cy="36576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일상생활배상 · 운전자 · 자동차 · 화재배상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8803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남에게 끼친 손해를 대신 물어주는 보험. 오직 손해보험만 가능. 생보 증권에는 이 방이 통째로 비어 있습니다.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011680" y="4206240"/>
            <a:ext cx="4572000" cy="1737360"/>
          </a:xfrm>
          <a:prstGeom prst="roundRect">
            <a:avLst>
              <a:gd name="adj" fmla="val 11579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4560" y="4343400"/>
            <a:ext cx="365760" cy="365760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9456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651760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사망보험 (종신·정기)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194560" y="4709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생명보험의 특화 영역. 그러나 「필요한 기간·필요한 금액」만 정기보험으로 준비하면 손보에서도 훨씬 싸게 가능. 종신은 이 한 방을 위해 가장 비싼 값을 치르는 상품.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0" y="4206240"/>
            <a:ext cx="4572000" cy="1737360"/>
          </a:xfrm>
          <a:prstGeom prst="roundRect">
            <a:avLst>
              <a:gd name="adj" fmla="val 11579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4343400"/>
            <a:ext cx="365760" cy="365760"/>
          </a:xfrm>
          <a:prstGeom prst="ellipse">
            <a:avLst/>
          </a:prstGeom>
          <a:solidFill>
            <a:srgbClr val="8B95A1"/>
          </a:solidFill>
          <a:ln w="12700">
            <a:solidFill>
              <a:srgbClr val="8B95A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4088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존재하지 않음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4709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죽어서 남이 받는 보험은 없습니다. (자동차·배상책임의 대인 사망은 「살아있을 때 내 책임」 영역)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6080760"/>
            <a:ext cx="11091672" cy="365760"/>
          </a:xfrm>
          <a:prstGeom prst="roundRect">
            <a:avLst>
              <a:gd name="adj" fmla="val 550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✍️ 고객 워크: "고객님이 필요하다고 느끼는 방에 동그라미 쳐 주세요." — 대부분 1번과 2번에 그립니다. 생보 증권은 3번 방만 채우고 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78254" cy="314554"/>
          </a:xfrm>
          <a:prstGeom prst="roundRect">
            <a:avLst>
              <a:gd name="adj" fmla="val 500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782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정면 비교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비교 — 담보 이름이 같아도 「설계도」가 다릅니다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생보 신상품이 뇌혈관·허혈성 특약을 팔기 시작했기에, 이제 승부는 담보명이 아니라 구조입니다</a:t>
            </a:r>
            <a:endParaRPr lang="en-US" sz="14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4165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항목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생보 종신·CI·GI (통합형)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메리츠 통합건강보험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D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사망담보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주계약 필수 — 원치 않아도 가져가야 함 (보험료의 대부분)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선택 — 필요한 기간·금액만 정기형으로, 또는 제외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진단비 지급 방식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사망보험금 선지급, 나열 질병 중 최초 1회한, 이후 사망보험금 감소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특약별 각각 지급 — 암 받아도 뇌·심장·수술비 그대로 살아있음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뇌·심장 범위 (기존 증권)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뇌출혈(I60~62) · 급성심근경색(I21~22) 중심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뇌혈관질환(I60~69) · 허혈성심장질환(I20~25)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 분류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소액암(유방·전립선·자궁·방광 등) 10~20% 지급 상품 다수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유사암(갑상선·기타피부·경계성·제자리) 외 100%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특약 갱신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5·10년 갱신형 다수 → 나이 들수록 보험료 상승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비갱신 100세 만기 선택 가능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납입면제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암·뇌출혈·급성심근경색·80% 장해 등 3~4개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암·뇌졸중·급성심근경색·말기질환·50%↑ 후유장해 등 광범위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해지 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환급금 매우 낮음 (무·저해지형은 0~50%)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보장성이므로 환급 기대 없음 — 대신 보험료가 낮음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회사·상품·가입시점별로 다릅니다. 고객 증권의 「약관·상품설명서」로 확인 후 안내하세요. 생보 신형 건강보험(2024~2026 출시)은 뇌혈관·허혈성 특약과 넓은 납입면제를 탑재한 경우가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78254" cy="314554"/>
          </a:xfrm>
          <a:prstGeom prst="roundRect">
            <a:avLst>
              <a:gd name="adj" fmla="val 500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782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정면 비교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암에 걸려도, 가입한 회사에 따라 보험금이 다릅니다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남성 암 발생 1위가 전립선암(2023)이 된 시대에, 전립선암을 「소액암 20%」로 분류하는 증권이라면?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394960" cy="32004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(소액암 구분 상품)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일반암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2898648"/>
            <a:ext cx="4846320" cy="320040"/>
          </a:xfrm>
          <a:prstGeom prst="rect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0" y="28986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383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소액암 (유방·자궁·전립선·방광 등)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675888"/>
            <a:ext cx="969264" cy="32004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83664" y="3675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10~20%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160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유사암 (갑상선·기타피부·경계성·제자리)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4453128"/>
            <a:ext cx="969264" cy="320040"/>
          </a:xfrm>
          <a:prstGeom prst="rect">
            <a:avLst/>
          </a:prstGeom>
          <a:solidFill>
            <a:srgbClr val="B0B8C1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83664" y="44531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10~20%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일반암 3,000만원 → 유방암 진단 시 300~600만원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2011680"/>
            <a:ext cx="5394960" cy="32004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37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일반암 (유방·자궁·전립선·방광 포함)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37960" y="2898648"/>
            <a:ext cx="4846320" cy="320040"/>
          </a:xfrm>
          <a:prstGeom prst="rect">
            <a:avLst/>
          </a:prstGeom>
          <a:solidFill>
            <a:srgbClr val="00C471"/>
          </a:solidFill>
          <a:ln w="12700">
            <a:solidFill>
              <a:srgbClr val="00C47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475720" y="28986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C4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3383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유사암 4종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37960" y="3675888"/>
            <a:ext cx="969264" cy="320040"/>
          </a:xfrm>
          <a:prstGeom prst="rect">
            <a:avLst/>
          </a:prstGeom>
          <a:solidFill>
            <a:srgbClr val="B0B8C1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98664" y="3675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20%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41605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일반암 3,000만원 → 유방암·전립선암 진단 시 3,000만원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감액기간 1년(50%) 이후 전액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25882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근거: 2023년 남성 암 1위 전립선암, 여성 암 1위 유방암, 유병자 상위 갑상선·위·유방·대장. 「가장 흔한 암」이 「소액암」이면 진단비는 반토막의 반토막입니다.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1996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2023년 국가암등록통계(2026.1.20), 생보 각사 암보험 상품 안내(2025~2026, 소액암 분류 존재), 손보 유사암 20% 이하 지급 관행(2022.10 금융당국 권고 이후)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78254" cy="314554"/>
          </a:xfrm>
          <a:prstGeom prst="roundRect">
            <a:avLst>
              <a:gd name="adj" fmla="val 500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782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정면 비교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뇌: 터진다 &lt; 막힌다 &lt; 좁아진다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증권의 「뇌출혈 진단비」는 뇌혈관질환의 가장 좁은 문입니다. 뇌졸중의 76%가 그 문 밖에 있습니다.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194560" cy="868680"/>
          </a:xfrm>
          <a:prstGeom prst="rect">
            <a:avLst/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뇌출혈 (I60~I62)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터진다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2103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24%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종신·CI·GI 주계약 및 옛 특약의 기준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5486400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뇌졸중 (I60~I63/I66)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터진다 + 막힌다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108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100%의 뇌졸중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1089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뇌경색 포함 — 뇌졸중 발생의 76%가 여기서 추가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10058400" cy="868680"/>
          </a:xfrm>
          <a:prstGeom prst="rect">
            <a:avLst/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C4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뇌혈관질환 (I60~I69)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좁아진다·기타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4114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C4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 117만 명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41148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 뇌혈관질환 진단비 특약 범위 (2022 환자 수 기준)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5394960" cy="1097280"/>
          </a:xfrm>
          <a:prstGeom prst="roundRect">
            <a:avLst>
              <a:gd name="adj" fmla="val 1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2960" y="5120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"혈관은 갑자기 터지기 전에 반드시 막히거나 좁아집니다. 막히거나 좁아지는 것과 갑자기 터지는 것, 어느 쪽이 많을까요?"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5120640"/>
            <a:ext cx="5394960" cy="1097280"/>
          </a:xfrm>
          <a:prstGeom prst="roundRect">
            <a:avLst>
              <a:gd name="adj" fmla="val 18333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37960" y="5120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2024~2026 생보 신형 건강보험은 뇌혈관질환 특약을 팝니다. 이 슬라이드는 「고객이 이미 가진 종신·CI·GI·구형 특약」에 적용하세요.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1996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질병관리청 출혈성뇌졸중 등록사업(2023, 허혈 76.3% : 출혈 23.7%), 심평원 뇌혈관질환 진료현황(2022, 117만 명)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78254" cy="314554"/>
          </a:xfrm>
          <a:prstGeom prst="roundRect">
            <a:avLst>
              <a:gd name="adj" fmla="val 500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782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정면 비교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심장: 막힌다 &lt; 좁아진다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급성심근경색 12만 명 vs 협심증 67만 명. 「급성심근경색 진단비」만 있는 증권은 심장질환의 5분의 4를 비워 둡니다.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743200" cy="1005840"/>
          </a:xfrm>
          <a:prstGeom prst="rect">
            <a:avLst/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21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급성심근경색 (I21~I22)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막힌다 · 심근 괴사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1214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12.1만 명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1214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종신·CI·GI 주계약 및 옛 특약의 기준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0058400" cy="1005840"/>
          </a:xfrm>
          <a:prstGeom prst="rect">
            <a:avLst/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310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C4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허혈성심장질환 (I20~I25)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좁아진다 (협심증 I20 포함)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33101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C4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66.8만 명 + 12.1만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31012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 허혈성심장질환 진단비 특약 범위 (2020 환자 수)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3566160" cy="1645920"/>
          </a:xfrm>
          <a:prstGeom prst="roundRect">
            <a:avLst>
              <a:gd name="adj" fmla="val 1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🩺 스텐트 시술의 함정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074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협심증으로 응급 스텐트를 넣어도 CK-MB가 정상이면 CI 「중대한 급성심근경색」 요건 미달 — 실제 분쟁 사례가 있습니다.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15968" y="4572000"/>
            <a:ext cx="3566160" cy="1645920"/>
          </a:xfrm>
          <a:prstGeom prst="roundRect">
            <a:avLst>
              <a:gd name="adj" fmla="val 1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590288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📈 추세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90288" y="5074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급성심근경색 환자 최근 5년 +19.6%, 협심증 +6.0%. 둘 다 늘지만 「좁아진」 환자가 압도적 다수입니다.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83296" y="4572000"/>
            <a:ext cx="3566160" cy="1645920"/>
          </a:xfrm>
          <a:prstGeom prst="roundRect">
            <a:avLst>
              <a:gd name="adj" fmla="val 12222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357616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D5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화법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357616" y="5074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8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"고객님 증권은 심장이 「완전히 막혀서 근육이 죽어야」 나옵니다. 병원에서 협심증이라고 하면 0원이에요."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1996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심평원 심장질환 진료현황(2020 기준 협심증 668,130명 · 급성심근경색 121,169명), 심평원(2024 발표) 5년 증가율, 한국보험신문 「중대한 문턱 높은 CI보험」(2026)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78254" cy="314554"/>
          </a:xfrm>
          <a:prstGeom prst="roundRect">
            <a:avLst>
              <a:gd name="adj" fmla="val 500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782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정면 비교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보장이 더 싸다 — 보험료로 보는 역설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「범위가 넓으면 비쌀 것」이라는 직관은 틀립니다. 특약 구조와 사망담보 유무가 가격을 결정합니다.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6766560" cy="2377440"/>
          </a:xfrm>
          <a:prstGeom prst="roundRect">
            <a:avLst>
              <a:gd name="adj" fmla="val 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뇌·심장 특약 월 보험료 예시 (2020년 교안 비교, 동일 조건)</a:t>
            </a:r>
            <a:endParaRPr lang="en-US" sz="125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560320"/>
          <a:ext cx="62179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담보 (가입금액)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생보 A사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메리츠화재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D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뇌혈관(생보: 뇌출혈) 진단 3,000만원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50,100원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39,630원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뇌혈관 수술 1,000만원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3,500원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3,010원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허혈성(생보: 급성심근경색) 진단 3,000만원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52,110원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20,520원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허혈성 수술 1,000만원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3,520원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4,030원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589520" y="2011680"/>
            <a:ext cx="4050792" cy="2377440"/>
          </a:xfrm>
          <a:prstGeom prst="roundRect">
            <a:avLst>
              <a:gd name="adj" fmla="val 8462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넓은데 더 쌀까?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5603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0020" indent="-16002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생보는 주계약(사망) 위에 얹는 특약 → 사업비 구조가 무거움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손보는 손해율 데이터 기반 특약 가격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사망담보를 빼면 총 보험료는 더 벌어짐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4617720"/>
            <a:ext cx="11091672" cy="1554480"/>
          </a:xfrm>
          <a:prstGeom prst="roundRect">
            <a:avLst>
              <a:gd name="adj" fmla="val 129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사망보장 자체도 — 40세 남 · 사망 1억 · 20년납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5166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종신보험 (생보)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440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약 26만원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5852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KB라이프 상품안내장 예시(2025~26)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4343400" y="5166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정기보험 60세 만기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343400" y="5440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약 2.6만원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343400" y="5852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2020년 교안 예시(손보 정기형) — 최신 견적으로 갱신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7863840" y="5166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복층설계 (60세 1억 + 80세 5천)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863840" y="5440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C4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약 7.6만원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863840" y="5852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2020년 교안 예시 — 최신 견적으로 갱신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1996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2020년 EM교안 「생보 vs 손보」 특약 보험료 비교(당시 견적), KB라이프 종신보험 상품안내장(40세 남 1억 20년납 월 26.2만원). 강의 전 당사 견적 시스템으로 최신 보험료를 넣어 사용하세요.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78254" cy="314554"/>
          </a:xfrm>
          <a:prstGeom prst="roundRect">
            <a:avLst>
              <a:gd name="adj" fmla="val 500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782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정면 비교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사망보장은 「평생」이 아니라 「책임기간」만큼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가장이 죽으면 곤란한 시기는 정해져 있습니다. 자녀가 독립하는 날까지. 그 뒤의 사망보험금은 상속이지 보장이 아닙니다.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91672" cy="2103120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34세 · 배우자 27세 · 첫째 1세 · 둘째 출생 예정 (2020년 EM교안 예시)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10515600" cy="73152"/>
          </a:xfrm>
          <a:prstGeom prst="rect">
            <a:avLst/>
          </a:prstGeom>
          <a:solidFill>
            <a:srgbClr val="D1D6DB"/>
          </a:solidFill>
          <a:ln w="12700">
            <a:solidFill>
              <a:srgbClr val="D1D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" y="2788920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34세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결혼·출산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0" y="2788920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77056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54세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877056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 대학입학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21808" y="2788920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18304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56세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718304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대학입학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897112" y="2788920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93608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69세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 결혼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738360" y="2788920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34856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71세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결혼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2960" y="3703320"/>
            <a:ext cx="8202168" cy="274320"/>
          </a:xfrm>
          <a:prstGeom prst="rect">
            <a:avLst/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3703320"/>
            <a:ext cx="8202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책임기간 ≈ 35년 (막내 독립까지)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25128" y="370332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이후엔 상속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3566160" cy="1783080"/>
          </a:xfrm>
          <a:prstGeom prst="roundRect">
            <a:avLst>
              <a:gd name="adj" fmla="val 112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22960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 1억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800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약 26만원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257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평생 1억. 70세 이후 1억은 「보장」이 아니라 「상속」. 40년 뒤 1억의 가치는?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97680" y="4343400"/>
            <a:ext cx="3566160" cy="1783080"/>
          </a:xfrm>
          <a:prstGeom prst="roundRect">
            <a:avLst>
              <a:gd name="adj" fmla="val 112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572000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 1억 (60세)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0" y="4800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약 2.6만원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0" y="5257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책임기간에 집중. 종신 대비 1/10 수준 보험료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46720" y="4343400"/>
            <a:ext cx="3566160" cy="1783080"/>
          </a:xfrm>
          <a:prstGeom prst="roundRect">
            <a:avLst>
              <a:gd name="adj" fmla="val 112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321040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복층 (60세 1억 + 80세 5천)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321040" y="4800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C4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약 7.6만원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8321040" y="5257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책임기간엔 두껍게, 이후엔 얇게. 절약분은 생존보장으로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78254" cy="314554"/>
          </a:xfrm>
          <a:prstGeom prst="roundRect">
            <a:avLst>
              <a:gd name="adj" fmla="val 500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782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정면 비교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납입면제 — 「아프면 보험료를 안 내도 되는」 조건의 넓이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보험료를 더 이상 내지 않고도 보장이 유지되는 납입면제. 어떤 병까지 인정하느냐가 회사마다 다릅니다.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394960" cy="374904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종신보험 (대표 사례)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4846320" cy="457200"/>
          </a:xfrm>
          <a:prstGeom prst="roundRect">
            <a:avLst>
              <a:gd name="adj" fmla="val 440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 (소액암·유사암 제외)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200400"/>
            <a:ext cx="4846320" cy="457200"/>
          </a:xfrm>
          <a:prstGeom prst="roundRect">
            <a:avLst>
              <a:gd name="adj" fmla="val 440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뇌출혈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749040"/>
            <a:ext cx="4846320" cy="457200"/>
          </a:xfrm>
          <a:prstGeom prst="roundRect">
            <a:avLst>
              <a:gd name="adj" fmla="val 440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급성심근경색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297680"/>
            <a:ext cx="4846320" cy="457200"/>
          </a:xfrm>
          <a:prstGeom prst="roundRect">
            <a:avLst>
              <a:gd name="adj" fmla="val 440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재해 80% 이상 후유장해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83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안팎. 뇌경색·협심증·말기질환·질병 후유장해는 계속 보험료를 내야 합니다.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011680"/>
            <a:ext cx="5394960" cy="374904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37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통합건강보험 (예시)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2651760"/>
            <a:ext cx="2377440" cy="457200"/>
          </a:xfrm>
          <a:prstGeom prst="roundRect">
            <a:avLst>
              <a:gd name="adj" fmla="val 44000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47688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 (유사암 제외)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006840" y="2651760"/>
            <a:ext cx="2377440" cy="457200"/>
          </a:xfrm>
          <a:prstGeom prst="roundRect">
            <a:avLst>
              <a:gd name="adj" fmla="val 44000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16568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뇌졸중 (뇌경색 포함)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37960" y="3200400"/>
            <a:ext cx="2377440" cy="457200"/>
          </a:xfrm>
          <a:prstGeom prst="roundRect">
            <a:avLst>
              <a:gd name="adj" fmla="val 44000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47688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급성심근경색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06840" y="3200400"/>
            <a:ext cx="2377440" cy="457200"/>
          </a:xfrm>
          <a:prstGeom prst="roundRect">
            <a:avLst>
              <a:gd name="adj" fmla="val 44000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16568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상해·질병 50%↑ 후유장해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37960" y="3749040"/>
            <a:ext cx="2377440" cy="457200"/>
          </a:xfrm>
          <a:prstGeom prst="roundRect">
            <a:avLst>
              <a:gd name="adj" fmla="val 44000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47688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말기 폐질환·간경화·신부전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006840" y="3749040"/>
            <a:ext cx="2377440" cy="457200"/>
          </a:xfrm>
          <a:prstGeom prst="roundRect">
            <a:avLst>
              <a:gd name="adj" fmla="val 44000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16568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양성뇌종양·중증 재생불량성빈혈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37960" y="4297680"/>
            <a:ext cx="2377440" cy="457200"/>
          </a:xfrm>
          <a:prstGeom prst="roundRect">
            <a:avLst>
              <a:gd name="adj" fmla="val 44000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47688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희귀난치성 7대 질환·만성당뇨합병증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06840" y="4297680"/>
            <a:ext cx="2377440" cy="457200"/>
          </a:xfrm>
          <a:prstGeom prst="roundRect">
            <a:avLst>
              <a:gd name="adj" fmla="val 44000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16568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(상품별) 3대질병 진단 시 납면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537960" y="4983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11대 안팎(엠바스켓·더좋은엠바 기준). 「50% 후유장해」와 「뇌졸중」 포함이 결정적 차이.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5897880"/>
            <a:ext cx="11091672" cy="411480"/>
          </a:xfrm>
          <a:prstGeom prst="roundRect">
            <a:avLst>
              <a:gd name="adj" fmla="val 48889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8680" y="5897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"보험료 더 이상 안 내는 납입면제라고 아세요? 고객님 증권은 뇌경색으로 쓰러져도 보험료는 계속 내셔야 해요."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78254" cy="314554"/>
          </a:xfrm>
          <a:prstGeom prst="roundRect">
            <a:avLst>
              <a:gd name="adj" fmla="val 500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782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정면 비교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"보험은 병원 가는 순서대로 가입하는 것입니다"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→ 수술 → 입원 → 간병 → 회복 → (사망). 生에서 死로 가는 길목마다 손보의 담보가 서 있습니다.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737360" cy="29260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🩺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154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암·뇌혈관·허혈성 진단비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886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즉시 목돈. 소득 공백 대비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67712" y="3246120"/>
            <a:ext cx="182880" cy="228600"/>
          </a:xfrm>
          <a:prstGeom prst="rightArrow">
            <a:avLst/>
          </a:prstGeom>
          <a:solidFill>
            <a:srgbClr val="D1D6DB"/>
          </a:solidFill>
          <a:ln w="12700">
            <a:solidFill>
              <a:srgbClr val="D1D6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14016" y="2011680"/>
            <a:ext cx="1737360" cy="29260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596896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🔪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2551176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수술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551176" y="3154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질병·상해 수술비 (1~5종)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551176" y="3886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횟수 제한 없이 수술마다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33088" y="3246120"/>
            <a:ext cx="182880" cy="228600"/>
          </a:xfrm>
          <a:prstGeom prst="rightArrow">
            <a:avLst/>
          </a:prstGeom>
          <a:solidFill>
            <a:srgbClr val="D1D6DB"/>
          </a:solidFill>
          <a:ln w="12700">
            <a:solidFill>
              <a:srgbClr val="D1D6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79392" y="2011680"/>
            <a:ext cx="1737360" cy="29260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462272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🛏️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4416552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입원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416552" y="3154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입원일당·간병인 사용일당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416552" y="3886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간병일당 15~20만원 경쟁 (2026)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98464" y="3246120"/>
            <a:ext cx="182880" cy="228600"/>
          </a:xfrm>
          <a:prstGeom prst="rightArrow">
            <a:avLst/>
          </a:prstGeom>
          <a:solidFill>
            <a:srgbClr val="D1D6DB"/>
          </a:solidFill>
          <a:ln w="12700">
            <a:solidFill>
              <a:srgbClr val="D1D6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44768" y="2011680"/>
            <a:ext cx="1737360" cy="29260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327648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🚶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6281928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회복·재활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281928" y="3154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통원·재활·치료비 특약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281928" y="3886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통합치료비 등 신담보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863840" y="3246120"/>
            <a:ext cx="182880" cy="228600"/>
          </a:xfrm>
          <a:prstGeom prst="rightArrow">
            <a:avLst/>
          </a:prstGeom>
          <a:solidFill>
            <a:srgbClr val="D1D6DB"/>
          </a:solidFill>
          <a:ln w="12700">
            <a:solidFill>
              <a:srgbClr val="D1D6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10144" y="2011680"/>
            <a:ext cx="1737360" cy="29260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193024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🚗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8147304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배상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147304" y="3154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일상생활배상·운전자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147304" y="3886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오직 손보만 — 남에게 끼친 손해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729216" y="3246120"/>
            <a:ext cx="182880" cy="228600"/>
          </a:xfrm>
          <a:prstGeom prst="rightArrow">
            <a:avLst/>
          </a:prstGeom>
          <a:solidFill>
            <a:srgbClr val="D1D6DB"/>
          </a:solidFill>
          <a:ln w="12700">
            <a:solidFill>
              <a:srgbClr val="D1D6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75520" y="2011680"/>
            <a:ext cx="1737360" cy="29260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1005840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🕊️</a:t>
            </a:r>
            <a:endParaRPr lang="en-US" sz="2600" dirty="0"/>
          </a:p>
        </p:txBody>
      </p:sp>
      <p:sp>
        <p:nvSpPr>
          <p:cNvPr id="40" name="Text 38"/>
          <p:cNvSpPr txBox="1"/>
          <p:nvPr/>
        </p:nvSpPr>
        <p:spPr>
          <a:xfrm>
            <a:off x="1001268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10012680" y="3154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정기·복층 사망담보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012680" y="3886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책임기간만큼 합리적으로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1913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868680" y="51663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 "사망은 치료·입원·수술·간병을 받지 않아서 생깁니다. 살아서 병원 가는 모든 단계에서 돈이 나오는 보험이 손해보험이고, 마지막 단계에서만 나오는 보험이 종신보험입니다. 어느 쪽을 먼저 채워야 할까요?"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50631569-faa5-59b7-821a-dea1a7200ace/scratchpad/build/cache/grad_div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MeAI/50631569-faa5-59b7-821a-dea1a7200ace/scratchpad/build/cache/blob_w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-1097280"/>
            <a:ext cx="5852160" cy="58521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1920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3063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마음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0F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종신보험을 가입했을까 — 오픈북 테스트로 만드는 컨설팅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9052560" y="17373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</a:t>
            </a:r>
            <a:endParaRPr lang="en-US" sz="1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고객의 마음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마음을 알면, 영업은 「오픈북 테스트」가 됩니다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왜 생보를 가입했는지, 생보 설계사가 어떻게 설명했는지 알면 — 네비게이션을 켜고 운전하는 것과 같습니다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440680" cy="2011680"/>
          </a:xfrm>
          <a:prstGeom prst="roundRect">
            <a:avLst>
              <a:gd name="adj" fmla="val 100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🗺️ 네비 없이 운전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974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지식만 들고 「이 상품 나빠요」로 시작. 고객은 방어 모드. 대화 3분 만에 "두고 가세요".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011680"/>
            <a:ext cx="5440680" cy="2011680"/>
          </a:xfrm>
          <a:prstGeom prst="roundRect">
            <a:avLst>
              <a:gd name="adj" fmla="val 10000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 네비 켜고 운전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974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가입한 「이유·시기·기대」를 먼저 듣고, 그 지도 위에서 메리츠를 제안. 고객이 스스로 결론을 냅니다.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091672" cy="192024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처음 종신보험을 가입한 이유는 단 하나: 「위험 보장」 — 나머지는 부수 옵션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46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고객이 말하는 「위험」과 우리가 말하는 「위험」이 다릅니다. 우리는 특정 질병·상해 담보를 위험보장이라 하지만, 고객이 생각한 위험보장은 「살면서 발생하는 변수」 — 남편의 조기 사망, 은퇴, 자녀 결혼, 간병 — 였습니다. 생보 설계사는 그 변수를 「종신보험 하나」로 다 막아준다고 그렸습니다. 우리가 할 일은 그 그림을 지우는 게 아니라, 그 그림을 「더 정확하게」 다시 그려 주는 것입니다.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고객의 마음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설계사는 무엇을 팔았나 — 「꿈 리스트」와 라이프사이클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MDRT의 공식: 고객의 비재무적 목표를 꺼내고 → 일생에 대입하고 → 종신보험 하나로 해결해 준다고 약속한다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3566160" cy="2103120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 리스트 작성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743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"자녀 유학, 부부 크루즈 여행, 은퇴 후 전원생활…" 고객의 비재무적 목표를 종이에 적게 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69080" y="2880360"/>
            <a:ext cx="274320" cy="320040"/>
          </a:xfrm>
          <a:prstGeom prst="rightArrow">
            <a:avLst/>
          </a:prstGeom>
          <a:solidFill>
            <a:srgbClr val="D1D6DB"/>
          </a:solidFill>
          <a:ln w="12700">
            <a:solidFill>
              <a:srgbClr val="D1D6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2011680"/>
            <a:ext cx="3566160" cy="2103120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7200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라이프사이클 대입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743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결혼·출산·대학·결혼·은퇴·간병 시점을 연표로 그리고 「돈 나갈 시점」을 표시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18120" y="2880360"/>
            <a:ext cx="274320" cy="320040"/>
          </a:xfrm>
          <a:prstGeom prst="rightArrow">
            <a:avLst/>
          </a:prstGeom>
          <a:solidFill>
            <a:srgbClr val="D1D6DB"/>
          </a:solidFill>
          <a:ln w="12700">
            <a:solidFill>
              <a:srgbClr val="D1D6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011680"/>
            <a:ext cx="3566160" cy="2103120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3210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종신보험으로 해결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743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하나로 사망도 막고, 중간에 빼서 자녀 결혼도 시키고, 남으면 연금으로" — 만능 뭉칫돈 이야기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11091672" cy="1828800"/>
          </a:xfrm>
          <a:prstGeom prst="roundRect">
            <a:avLst>
              <a:gd name="adj" fmla="val 11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25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🔑 핵심 통찰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892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고객은 「종신보험」을 기대하고 가입한 게 아닙니다. 「보험으로 평생 날 도와줄 전문가」를 기대하고 가입했습니다. 고객이 산 것은 상품이 아니라 「관리해 주겠다는 약속」이었습니다. 그 약속의 유효기간이 통계로 얼마나 짧은지(생보 13월차 정착률 38.2%)는 Part 1에서 봤습니다. 우리가 그 자리를 대신하면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고객의 마음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"아내에게 남편의 종신보험을 판다" — 생보가 그린 3단계 위험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수익자는 아내. 생보 설계사가 아내 앞에서 펼친 스토리를 그대로 재현합니다. 이걸 알아야 대화가 통합니다.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91672" cy="118872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⚰️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554480" y="2148840"/>
            <a:ext cx="1170889" cy="288950"/>
          </a:xfrm>
          <a:prstGeom prst="roundRect">
            <a:avLst>
              <a:gd name="adj" fmla="val 500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54480" y="2148840"/>
            <a:ext cx="1170889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위험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조기사망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12140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"자녀가 독립하기 전에 아빠 5명 중 1명은 떠납니다. 우리 남편이 그렇다면?" → 수익자를 아내로 한 종신보험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2194560"/>
            <a:ext cx="2377440" cy="822960"/>
          </a:xfrm>
          <a:prstGeom prst="roundRect">
            <a:avLst>
              <a:gd name="adj" fmla="val 24444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통계: 40세 남성의 34.4%가 80세 전 사망, 40대 사인 1위 자살·2위 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11091672" cy="118872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🏖️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1554480" y="3474720"/>
            <a:ext cx="1170889" cy="288950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54480" y="3474720"/>
            <a:ext cx="1170889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위험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은퇴 위험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344728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"살아남은 4명에게 옵니다. 남편 은퇴 몇 년 뒤죠? 그때 자녀는 몇 살? 결혼은 시켜야죠" → 종신 환급금으로 해결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52560" y="3520440"/>
            <a:ext cx="2377440" cy="822960"/>
          </a:xfrm>
          <a:prstGeom prst="roundRect">
            <a:avLst>
              <a:gd name="adj" fmla="val 24444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0" y="3520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통계: 국민연금 평균 월 68만원, 노인빈곤율 39.7%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11091672" cy="118872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🛏️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1554480" y="4800600"/>
            <a:ext cx="1170889" cy="288950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554480" y="4800600"/>
            <a:ext cx="1170889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위험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120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간병 파산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3931920" y="477316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"여성의 미래입니다. 자녀에게 짐 지울 건가요? 당당한 노후 보내야죠" → 종신보험 연금전환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52560" y="4846320"/>
            <a:ext cx="2377440" cy="822960"/>
          </a:xfrm>
          <a:prstGeom prst="roundRect">
            <a:avLst>
              <a:gd name="adj" fmla="val 24444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0" y="4846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통계: 간병비 월 300~450만원, 치매 100만 명, 유병기간 여성 20.2년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6035040"/>
            <a:ext cx="11091672" cy="320040"/>
          </a:xfrm>
          <a:prstGeom prst="roundRect">
            <a:avLst>
              <a:gd name="adj" fmla="val 62857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생보의 위험 인식 3가지는 모두 「맞는 걱정」입니다. 틀린 건 해결책(종신보험 하나)입니다. 걱정에 동의하고, 해결책만 바꾸세요.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고객의 마음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사례 — 의욕이 앞선 컨설팅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대로 열심히 설명했는데, 고객은 듣지도 않았습니다. 누구나 있는 흔한 경험담.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240719" y="1965960"/>
            <a:ext cx="402336" cy="402336"/>
          </a:xfrm>
          <a:prstGeom prst="ellipse">
            <a:avLst/>
          </a:prstGeom>
          <a:solidFill>
            <a:srgbClr val="333D4B"/>
          </a:solidFill>
          <a:ln w="12700">
            <a:solidFill>
              <a:srgbClr val="333D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240719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22599" y="196596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05479" y="207568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고객님이 가입한 [유니버셜 달러 종신보험], 완전 손해 보는 상품이에요.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88136" y="256032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271016" y="267004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(뭐지, 부담스럽게) 아… 그런가요? 그거 좋다고 가입했는데.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240719" y="3154680"/>
            <a:ext cx="402336" cy="402336"/>
          </a:xfrm>
          <a:prstGeom prst="ellipse">
            <a:avLst/>
          </a:prstGeom>
          <a:solidFill>
            <a:srgbClr val="333D4B"/>
          </a:solidFill>
          <a:ln w="12700">
            <a:solidFill>
              <a:srgbClr val="333D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0719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22599" y="315468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605479" y="326440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이게 유니버셜이 어쩌고 달러가 저쩌고 종신이 미주알 사업비가 고주알…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402336" cy="402336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88136" y="374904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271016" y="38587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죄송한데 무슨 말인지 모르겠어요. 저는 이거 쭉 낼 생각입니다.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240719" y="4343400"/>
            <a:ext cx="402336" cy="402336"/>
          </a:xfrm>
          <a:prstGeom prst="ellipse">
            <a:avLst/>
          </a:prstGeom>
          <a:solidFill>
            <a:srgbClr val="333D4B"/>
          </a:solidFill>
          <a:ln w="12700">
            <a:solidFill>
              <a:srgbClr val="333D4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240719" y="4343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22599" y="434340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3605479" y="445312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큰 돈 내고 계속 유지하시려고요? 제가 설계한 알뜰 플랜 보시면 암뇌심에 수술비까지…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937760"/>
            <a:ext cx="402336" cy="402336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937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88136" y="493776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1271016" y="504748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(지치게 하네…) 볼 테니 두고 가세요.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495544"/>
            <a:ext cx="11091672" cy="640080"/>
          </a:xfrm>
          <a:prstGeom prst="roundRect">
            <a:avLst>
              <a:gd name="adj" fmla="val 31429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549554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고객은 많은 고민 끝에 가입했고, 필요해서 유지 중입니다. 「상품 비판」으로 시작하면 고객은 「내 결정을 비판」당한다고 느낍니다.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고객의 마음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「왜그그」 — 고객의 마음을 녹이는 대화 순서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왜? → 그 밖에 또? → 그래서! 종신보험 컨설팅 전에 반드시 거치는 3단계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3566160" cy="329184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왜?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시점 상황 추리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4290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반응을 살피는 상황파악형 질문. 어떤 계기로(시기), 무엇에 혹해서(니즈), 무엇을 기대하고(솔루션) 가입했는지.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2148840"/>
            <a:ext cx="365760" cy="36576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2011680"/>
            <a:ext cx="3566160" cy="329184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5720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👂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밖에 또?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기대한 점을 확실하게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4290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즉각 반박하지 않고 더 듣기. 고객의 상황·견해·설계사와의 관계 등 중요 정보를 추가 획득. 타율을 높이는 과정.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2148840"/>
            <a:ext cx="365760" cy="36576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0" y="2011680"/>
            <a:ext cx="3566160" cy="3291840"/>
          </a:xfrm>
          <a:prstGeom prst="roundRect">
            <a:avLst>
              <a:gd name="adj" fmla="val 6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3210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0C4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그래서!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경청 후 논리적 정리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34290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"정리하자면 ○○ 때문에 가입하셨군요. 그래서 오늘 인사드린 겁니다." 고객의 시야로 정리하고 제안으로 연결.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1064240" y="2148840"/>
            <a:ext cx="365760" cy="365760"/>
          </a:xfrm>
          <a:prstGeom prst="ellipse">
            <a:avLst/>
          </a:prstGeom>
          <a:solidFill>
            <a:srgbClr val="00C471"/>
          </a:solidFill>
          <a:ln w="12700">
            <a:solidFill>
              <a:srgbClr val="00C47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0642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31429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🧊 원칙: 고객의 부담감을 줄이는 법 = 「왜?」를 통해 고객이 많이 말하게 하기. FP가 말하는 시간이 30%를 넘으면 실패합니다.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고객의 마음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왜? — 가입 시점에 있었던 일을 추리합니다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부담을 먼저 인정하고, 「어떤·무엇」으로 묻습니다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240719" y="1965960"/>
            <a:ext cx="402336" cy="402336"/>
          </a:xfrm>
          <a:prstGeom prst="ellipse">
            <a:avLst/>
          </a:prstGeom>
          <a:solidFill>
            <a:srgbClr val="333D4B"/>
          </a:solidFill>
          <a:ln w="12700">
            <a:solidFill>
              <a:srgbClr val="333D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240719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22599" y="196596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05479" y="207568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고객님, 제가 뵙자고 했을 때 혹시 걱정되거나 불편한 부분 있으셨어요?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88136" y="256032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271016" y="267004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 예… 뭐 조금 부담스럽긴 했어요. 잠깐이면 된다고 하셔서…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240719" y="3154680"/>
            <a:ext cx="402336" cy="402336"/>
          </a:xfrm>
          <a:prstGeom prst="ellipse">
            <a:avLst/>
          </a:prstGeom>
          <a:solidFill>
            <a:srgbClr val="333D4B"/>
          </a:solidFill>
          <a:ln w="12700">
            <a:solidFill>
              <a:srgbClr val="333D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0719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22599" y="315468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605479" y="326440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아! 혹시 무엇이 부담스러우셨어요?  [왜? → 어떤/무엇]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402336" cy="402336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88136" y="374904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271016" y="38587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보험 내는 것도 많은데 또 권유하실까 봐 걱정이 좀 되었어요…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240719" y="4343400"/>
            <a:ext cx="402336" cy="402336"/>
          </a:xfrm>
          <a:prstGeom prst="ellipse">
            <a:avLst/>
          </a:prstGeom>
          <a:solidFill>
            <a:srgbClr val="333D4B"/>
          </a:solidFill>
          <a:ln w="12700">
            <a:solidFill>
              <a:srgbClr val="333D4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240719" y="4343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22599" y="434340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3605479" y="445312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그럼에도 시간 내주셔서 감사합니다. 그때 이 보험은 어떤 말씀 듣고 가입 결정하셨어요?  [왜? → 계기]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11091672" cy="640080"/>
          </a:xfrm>
          <a:prstGeom prst="roundRect">
            <a:avLst>
              <a:gd name="adj" fmla="val 31429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B25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포인트: 부담을 「먼저」 꺼내 주면 고객이 방어를 풉니다. 질문은 「왜 가입했어요?」(추궁)가 아니라 「어떤 말씀 듣고?」(상황).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고객의 마음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 밖에 또? — 고객이 보험에 기대한 점을 확실하게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반박하고 싶은 순간을 참으면, 고객이 「후회하는 지점」을 스스로 말해 줍니다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240719" y="1965960"/>
            <a:ext cx="402336" cy="402336"/>
          </a:xfrm>
          <a:prstGeom prst="ellipse">
            <a:avLst/>
          </a:prstGeom>
          <a:solidFill>
            <a:srgbClr val="333D4B"/>
          </a:solidFill>
          <a:ln w="12700">
            <a:solidFill>
              <a:srgbClr val="333D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240719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22599" y="196596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05479" y="207568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밖에 또 어떤 부분을 듣고 가입해야겠다고 확신하셨어요?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88136" y="256032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271016" y="267004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음… 기억은 잘 안 나는데, 중간에 돈 안 내도 되고 빼서 쓸 수 있다고 했어요.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240719" y="3154680"/>
            <a:ext cx="402336" cy="402336"/>
          </a:xfrm>
          <a:prstGeom prst="ellipse">
            <a:avLst/>
          </a:prstGeom>
          <a:solidFill>
            <a:srgbClr val="333D4B"/>
          </a:solidFill>
          <a:ln w="12700">
            <a:solidFill>
              <a:srgbClr val="333D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0719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22599" y="315468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605479" y="326440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아, 그렇군요. 혹시 그 외에 달러 환율이나 이런 것도 좋다고 들으셨어요?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402336" cy="402336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88136" y="374904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271016" y="38587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아니요, 그건 못 들었어요. 요즘 가장 좋은 거고, 나중에 차 바꾸거나 이사할 때 돈 뺄 수 있다고 해서…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5394960" cy="1325880"/>
          </a:xfrm>
          <a:prstGeom prst="roundRect">
            <a:avLst>
              <a:gd name="adj" fmla="val 15172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57200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🎁 얻은 정보: 고객이 산 건 「보장」이 아니라 「차 바꿀 때·이사할 때 뺄 돈」. 달러의 의미는 모르고 가입. 설계사 관리 없음.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4572000"/>
            <a:ext cx="5394960" cy="1325880"/>
          </a:xfrm>
          <a:prstGeom prst="roundRect">
            <a:avLst>
              <a:gd name="adj" fmla="val 1517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57200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 워크시트: 고객이 원한 것(비재무적 목표)과 실제 가입한 옵션(변액·유니버셜·CI/GI/WI·달러)을 나란히 적어 보기 → 그 차이가 곧 컨설팅.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고객의 마음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그래서! — 고객이 거절해도 고객의 시야로 접근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거절은 「대화 종료」가 아니라 「정리의 시작」입니다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240719" y="1965960"/>
            <a:ext cx="402336" cy="402336"/>
          </a:xfrm>
          <a:prstGeom prst="ellipse">
            <a:avLst/>
          </a:prstGeom>
          <a:solidFill>
            <a:srgbClr val="333D4B"/>
          </a:solidFill>
          <a:ln w="12700">
            <a:solidFill>
              <a:srgbClr val="333D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240719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22599" y="196596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05479" y="207568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정리하자면, 보장도 되는데 돈 나갈 계획들을 종신보험 하나로 해결할 수 있다고 해서 가입하신 거군요.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88136" y="256032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271016" y="267004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네, 조금 부담스러워도 저축이거니 하고…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240719" y="3154680"/>
            <a:ext cx="402336" cy="402336"/>
          </a:xfrm>
          <a:prstGeom prst="ellipse">
            <a:avLst/>
          </a:prstGeom>
          <a:solidFill>
            <a:srgbClr val="333D4B"/>
          </a:solidFill>
          <a:ln w="12700">
            <a:solidFill>
              <a:srgbClr val="333D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0719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22599" y="315468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605479" y="326440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오늘 인사드린 겁니다. 부담스러운 보험을 부담스럽지 않도록요.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402336" cy="402336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88136" y="374904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271016" y="38587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근데 전 아까 말씀드렸지만 보험 더 가입은 부담스러워요.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240719" y="4343400"/>
            <a:ext cx="402336" cy="402336"/>
          </a:xfrm>
          <a:prstGeom prst="ellipse">
            <a:avLst/>
          </a:prstGeom>
          <a:solidFill>
            <a:srgbClr val="333D4B"/>
          </a:solidFill>
          <a:ln w="12700">
            <a:solidFill>
              <a:srgbClr val="333D4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240719" y="4343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22599" y="4343400"/>
            <a:ext cx="7680960" cy="713232"/>
          </a:xfrm>
          <a:prstGeom prst="roundRect">
            <a:avLst>
              <a:gd name="adj" fmla="val 20513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3605479" y="4453128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더 가입이 아니라, 지금 내시는 돈 안에서 「차 바꿀 돈은 차 바꿀 돈답게, 보장은 보장답게」 나누는 방법을 보여 드리려고요.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148072"/>
            <a:ext cx="11091672" cy="594360"/>
          </a:xfrm>
          <a:prstGeom prst="roundRect">
            <a:avLst>
              <a:gd name="adj" fmla="val 33846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14807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「그래서」 뒤에는 항상 고객의 말이 들어갑니다. 고객의 단어(차, 이사, 부담)로 제안하면 거절이 질문으로 바뀝니다.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6674" cy="314554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3667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고객의 마음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"고객님은 ○○○이 고민되어 가입하셨군요"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보험에 대한 신뢰가 깨지면 보험은 의미가 없어집니다. 우리는 「생보를 깨는 사람」이 아니라 「고민을 이어받는 사람」입니다.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91672" cy="1417320"/>
          </a:xfrm>
          <a:prstGeom prst="roundRect">
            <a:avLst>
              <a:gd name="adj" fmla="val 14194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이렇게 말하면 진다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 상품 완전 손해예요" / "생보 설계사가 잘못 판 거예요" / "지금 당장 해지하세요"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11091672" cy="1417320"/>
          </a:xfrm>
          <a:prstGeom prst="roundRect">
            <a:avLst>
              <a:gd name="adj" fmla="val 14194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749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이렇게 말하면 이긴다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160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"자녀 결혼자금이 고민이셨군요. 그 고민 그대로 두고, 방법만 더 효율적으로 바꿔 볼게요" / "종신보험도 좋은 보험입니다. 다만 저축·연금으로 쓰기엔 비효율적이라서요"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5349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💎 "다이아 원석은 그냥 돌입니다. 가공해야 보석이 되듯, 종신보험도 필요할 때마다 적절하게 가공해야 도움이 되는 보험입니다. 문제는 그 가공을 누가 해 주느냐입니다."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50631569-faa5-59b7-821a-dea1a7200ace/scratchpad/build/cache/grad_div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MeAI/50631569-faa5-59b7-821a-dea1a7200ace/scratchpad/build/cache/blob_w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-1097280"/>
            <a:ext cx="5852160" cy="58521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1920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3063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파훼법 5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0F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거절을 녹이는 실전 화법 — 통계와 비유로 무장한 다섯 가지 열쇠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9052560" y="17373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🗝️</a:t>
            </a:r>
            <a:endParaRPr lang="en-US" sz="1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61415" cy="314554"/>
          </a:xfrm>
          <a:prstGeom prst="roundRect">
            <a:avLst>
              <a:gd name="adj" fmla="val 50000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26141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파훼법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파훼법 5가지 한눈에 보기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설계사가 팔았던 「약속」 하나하나에 대응하는 열쇠입니다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91672" cy="694944"/>
          </a:xfrm>
          <a:prstGeom prst="roundRect">
            <a:avLst>
              <a:gd name="adj" fmla="val 289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157984"/>
            <a:ext cx="402336" cy="402336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0848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설계사 관리 리스크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20848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화법: "평생 관리해 드릴게요"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20848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무기: 정착률 38%, 유지율 74%, 승환 1.3만 건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16352"/>
            <a:ext cx="11091672" cy="694944"/>
          </a:xfrm>
          <a:prstGeom prst="roundRect">
            <a:avLst>
              <a:gd name="adj" fmla="val 289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2962656"/>
            <a:ext cx="402336" cy="402336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28895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종신사망 무용론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28895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화법: "사망보험금이 가족을 지켜요"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28895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무기: 사망의 92%는 질병, 유병기간 18년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21024"/>
            <a:ext cx="11091672" cy="694944"/>
          </a:xfrm>
          <a:prstGeom prst="roundRect">
            <a:avLst>
              <a:gd name="adj" fmla="val 289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767328"/>
            <a:ext cx="402336" cy="402336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69417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 빠진 독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389120" y="369417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화법: "저축이에요, 빼서 쓰세요"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36941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무기: 해약환급금 36.5조, 상조 비유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425696"/>
            <a:ext cx="11091672" cy="694944"/>
          </a:xfrm>
          <a:prstGeom prst="roundRect">
            <a:avLst>
              <a:gd name="adj" fmla="val 289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7240" y="4572000"/>
            <a:ext cx="402336" cy="402336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572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44988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단서조항 &amp; 최초 1회한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389120" y="44988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화법: "이 병 저 병 다 보장돼요"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772400" y="44988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무기: 10억 버스, 다트판, 18개 중 1개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230368"/>
            <a:ext cx="11091672" cy="694944"/>
          </a:xfrm>
          <a:prstGeom prst="roundRect">
            <a:avLst>
              <a:gd name="adj" fmla="val 289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7240" y="5376672"/>
            <a:ext cx="402336" cy="402336"/>
          </a:xfrm>
          <a:prstGeom prst="ellipse">
            <a:avLst/>
          </a:prstGeom>
          <a:solidFill>
            <a:srgbClr val="00C471"/>
          </a:solidFill>
          <a:ln w="12700">
            <a:solidFill>
              <a:srgbClr val="00C47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5376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371600" y="5303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C4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다이어트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389120" y="5303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화법: "이 정도는 내셔야죠"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772400" y="5303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무기: 종신 26만 → 정기 2.6만 + 생존보장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61415" cy="314554"/>
          </a:xfrm>
          <a:prstGeom prst="roundRect">
            <a:avLst>
              <a:gd name="adj" fmla="val 50000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26141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파훼법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파훼법 1. 설계사 관리 리스크 — "고객님 혼자 못 씁니다"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종신보험은 「보장」이 아니라 「기능」을 써야 하는 상품. 그 기능을 평생 대신 만져 줄 사람이 있습니까?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394960" cy="41605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스크립트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7640" indent="-16764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"생명보험 단어만 들어도 어렵죠? 고객님 혼자서는 못 쓰는 상품입니다."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"고객님이 필요한 타이밍에 맞춰 추가납입·인출·감액·연금전환을 적절하게 해야 하는데, 과연 그 설계사님이 고객님 평생을 관찰하는 게 가능할까요?"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"생보 설계사 10명 중 6명이 1년 안에 그만둡니다(13월차 정착률 38.2%). 부업형 설계사가 늘면서 「고아계약」이라는 말까지 생겼어요."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"유니버셜 하나만 해도 이자율·인출금·월대체보험료·대체가능 적립금을 봐야 하고, 연금전환은 사망보장 공백·특약 소멸·보증이율·과세를 봐야 합니다. 하나하나 제대로 알아보고 쓰실 수 있으세요?"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2011680"/>
            <a:ext cx="5394960" cy="192024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37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2026 근거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5603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0020" indent="-16002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전속 13월차 정착률 38.2% (금감원, 2026.4)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생보사 설계사 1,729명 이탈 → 1만 2,935건 해지</a:t>
            </a:r>
            <a:endParaRPr lang="en-US" sz="1050" dirty="0"/>
          </a:p>
          <a:p>
            <a:pPr algn="l" marL="160020" indent="-16002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 설계사 31.9만 명, 「고객 미아」 기사 다수(2026)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4160520"/>
            <a:ext cx="5394960" cy="2011680"/>
          </a:xfrm>
          <a:prstGeom prst="roundRect">
            <a:avLst>
              <a:gd name="adj" fmla="val 1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🔧 비유: 셀프 정비 스포츠카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70916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종신보험은 옵션이 잔뜩 붙은 스포츠카입니다. 잘 타면 멋지지만 정비를 계속 해야 합니다. 그런데 정비사가 1년 만에 사라지고, 매뉴얼은 외계어입니다. 고객님은 지금 그 차를 「그냥 세워 두고 할부만」 내고 계신 겁니다.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61415" cy="314554"/>
          </a:xfrm>
          <a:prstGeom prst="roundRect">
            <a:avLst>
              <a:gd name="adj" fmla="val 50000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26141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파훼법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파훼법 2. 종신사망 무용론 — "사망의 본질은 치료자금 부족입니다"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0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生에서 死로 가는 순서: 검사 → 진단 → 수술 → 입원 → 간병 → 사망. 사망보험금은 맨 마지막에만 나옵니다.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394960" cy="41605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스크립트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"우리나라 사람 92%는 병으로 죽습니다. 사고사는 8%뿐이에요."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"암은 이제 중대질환이 아니라 만성질환입니다. 10명 중 7명이 5년 넘게 살고, 돈은 그동안 계속 나가요. 진단 후 53%가 일을 그만둡니다."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"의학이 발달할수록 더 오래 살고 병원비는 더 많이 나갑니다. 평생 의료비 2억 중 절반이 65세 이후예요."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"대학병원·요양병원 지하에 뭐가 있는지 아세요? 가장 슬픈 대출은 치료비·요양비 대출입니다."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"사망보험금은 「죽고 나서」 나오지만, 병원비는 「살아 있는 동안」 나갑니다. 어느 쪽을 먼저 채워야 할까요?"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2011680"/>
            <a:ext cx="5394960" cy="41605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37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生 → 死 : 돈이 나가는 순서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2679192"/>
            <a:ext cx="365760" cy="365760"/>
          </a:xfrm>
          <a:prstGeom prst="ellipse">
            <a:avLst/>
          </a:prstGeom>
          <a:solidFill>
            <a:srgbClr val="00C471"/>
          </a:solidFill>
          <a:ln w="12700">
            <a:solidFill>
              <a:srgbClr val="00C4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606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검사·진단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2606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C4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진단비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99008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0" y="3246120"/>
            <a:ext cx="365760" cy="36576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3172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수술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31729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수술비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355701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0" y="3813048"/>
            <a:ext cx="365760" cy="36576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37398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입원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0" y="37398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입원일당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412394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83680" y="4379976"/>
            <a:ext cx="365760" cy="36576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0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32320" y="43068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간병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0" y="43068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간병일당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46908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583680" y="4946904"/>
            <a:ext cx="365760" cy="36576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0" y="4946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0" y="48737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회복·재발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0" y="48737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치료비·재진단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0" y="52578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83680" y="5513832"/>
            <a:ext cx="365760" cy="365760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83680" y="5513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132320" y="5440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144000" y="5440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사망보험금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537960" y="598932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종신보험은 6번에서만, 손보 통합건강은 1~5번에서 지급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61415" cy="314554"/>
          </a:xfrm>
          <a:prstGeom prst="roundRect">
            <a:avLst>
              <a:gd name="adj" fmla="val 50000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26141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파훼법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파훼법 3. 저축이 아닌 밑 빠진 독 — "적금 vs 상조, 뭐 드세요?"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종신보험으로 목돈 마련은 「상조로 재테크」와 같습니다. 옵션이 아무리 붙어도 상조는 상조입니다.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240719" y="1965960"/>
            <a:ext cx="402336" cy="402336"/>
          </a:xfrm>
          <a:prstGeom prst="ellipse">
            <a:avLst/>
          </a:prstGeom>
          <a:solidFill>
            <a:srgbClr val="333D4B"/>
          </a:solidFill>
          <a:ln w="12700">
            <a:solidFill>
              <a:srgbClr val="333D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240719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22599" y="196596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05479" y="207568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고객님, 목돈 마련하려고 하시면 적금이랑 상조 둘 중 어떤 걸 드세요?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88136" y="256032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271016" y="267004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당연히 적금 가입하죠. 왜 상조를 가입해요!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240719" y="3154680"/>
            <a:ext cx="402336" cy="402336"/>
          </a:xfrm>
          <a:prstGeom prst="ellipse">
            <a:avLst/>
          </a:prstGeom>
          <a:solidFill>
            <a:srgbClr val="333D4B"/>
          </a:solidFill>
          <a:ln w="12700">
            <a:solidFill>
              <a:srgbClr val="333D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0719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22599" y="315468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605479" y="326440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요즘 상조는 죽지 않아도 결혼자금·크루즈여행으로 전환된다는데도요?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402336" cy="402336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88136" y="3749040"/>
            <a:ext cx="7680960" cy="466344"/>
          </a:xfrm>
          <a:prstGeom prst="roundRect">
            <a:avLst>
              <a:gd name="adj" fmla="val 313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271016" y="38587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…그래도 상조는 상조죠.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240719" y="4343400"/>
            <a:ext cx="402336" cy="402336"/>
          </a:xfrm>
          <a:prstGeom prst="ellipse">
            <a:avLst/>
          </a:prstGeom>
          <a:solidFill>
            <a:srgbClr val="333D4B"/>
          </a:solidFill>
          <a:ln w="12700">
            <a:solidFill>
              <a:srgbClr val="333D4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240719" y="4343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22599" y="4343400"/>
            <a:ext cx="7680960" cy="713232"/>
          </a:xfrm>
          <a:prstGeom prst="roundRect">
            <a:avLst>
              <a:gd name="adj" fmla="val 20513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3605479" y="4453128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맞습니다. 아무리 옵션이 있어도 상조는 상조일 뿐이죠. 종신보험으로 목돈 마련은 바로 「상조로 재테크」하는 것과 같습니다. 입출금통장처럼 빼서 쓴다고요? 그건 이자 붙는 현금서비스예요.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148072"/>
            <a:ext cx="5394960" cy="1069848"/>
          </a:xfrm>
          <a:prstGeom prst="roundRect">
            <a:avLst>
              <a:gd name="adj" fmla="val 18803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148072"/>
            <a:ext cx="48463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25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2026: 생보 해약환급금 상반기 36.5조(+45%), 효력상실 +32%. "먹고살기 힘들 때 가장 취약한 보험 = 종신보험"이 숫자로 증명됐습니다.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5148072"/>
            <a:ext cx="5394960" cy="1069848"/>
          </a:xfrm>
          <a:prstGeom prst="roundRect">
            <a:avLst>
              <a:gd name="adj" fmla="val 1880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37960" y="5148072"/>
            <a:ext cx="48463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🚨 금감원 소비자경보(2025.12.18): "종신보험은 저축·연금상품이 아닙니다." 순수저축 목적으로는 부적합 — 감독당국의 공식 문장을 그대로 보여 주세요.</a:t>
            </a:r>
            <a:endParaRPr lang="en-US" sz="10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61415" cy="314554"/>
          </a:xfrm>
          <a:prstGeom prst="roundRect">
            <a:avLst>
              <a:gd name="adj" fmla="val 50000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26141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파훼법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파훼법 4. 단서조항 &amp; 최초 1회한 — "좋은 보험은 단서가 없는 보험"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7218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고객은 숫자 하나(10억, 5천만원)만 기억합니다. 약관은 조건 전부를 기억합니다.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3566160" cy="2331720"/>
          </a:xfrm>
          <a:prstGeom prst="roundRect">
            <a:avLst>
              <a:gd name="adj" fmla="val 86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🚌 10억 버스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517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"사망하면 10억"이 아니라 "평일 대중교통 사고로 사망하면 10억". 증권을 같이 펴고 「어떤 사망」인지 읽어 드리세요.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2011680"/>
            <a:ext cx="3566160" cy="2331720"/>
          </a:xfrm>
          <a:prstGeom prst="roundRect">
            <a:avLst>
              <a:gd name="adj" fmla="val 86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7200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다트판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517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CI의 「중대한」은 불스아이. 암도 침윤파괴적이어야, 뇌졸중도 25% 장해가 남아야, 심근경색도 CK-MB가 올라야. 같은 병, 다른 결과.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566160" cy="2331720"/>
          </a:xfrm>
          <a:prstGeom prst="roundRect">
            <a:avLst>
              <a:gd name="adj" fmla="val 86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2104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🔢 18개 중 1개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6517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주계약 18개 담보 중 하나 받으면 17개 소멸. "심장 아프면 3천만원 나오는 줄" 아는 고객이 정말 많습니다.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091672" cy="160020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스크립트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0749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"고객님, 증권 같이 볼까요? 여기 「중대한」이라는 글자가 보이시죠. 이 두 글자가 붙으면 병원에서 암이라고 해도 보험사는 「중대한 암」인지 다시 봅니다. 그리고 이 13개 중에 제일 먼저 걸리는 하나만, 딱 한 번 나옵니다. 저희는 이 두 글자가 없고, 각각 나옵니다. 어느 쪽이 받기 쉬울까요?"</a:t>
            </a:r>
            <a:endParaRPr lang="en-US" sz="11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61415" cy="314554"/>
          </a:xfrm>
          <a:prstGeom prst="roundRect">
            <a:avLst>
              <a:gd name="adj" fmla="val 50000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26141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파훼법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파훼법 5. 보험료 다이어트 — "더 내지 말고, 다시 나누세요"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"보험 더 가입은 부담스러워요"에 대한 유일한 정답: 지금 내는 돈 안에서 재배치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394960" cy="310896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— 40세 남, 월 30만원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606040"/>
            <a:ext cx="4846320" cy="548640"/>
          </a:xfrm>
          <a:prstGeom prst="rect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606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 사망 1억 (20년납) 약 26만원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200400"/>
            <a:ext cx="4846320" cy="4114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200400"/>
            <a:ext cx="726948" cy="411480"/>
          </a:xfrm>
          <a:prstGeom prst="rect">
            <a:avLst/>
          </a:prstGeom>
          <a:solidFill>
            <a:srgbClr val="D1D6DB"/>
          </a:solidFill>
          <a:ln w="12700">
            <a:solidFill>
              <a:srgbClr val="D1D6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200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갱신형 특약 몇 개 약 4만원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7947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70세 이후 사망보험금 = 상속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뇌출혈·급성심근경색만, 최초 1회한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해지하면 손해, 유지하면 부담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011680"/>
            <a:ext cx="5394960" cy="3108960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37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 — 같은 월 30만원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37960" y="2606040"/>
            <a:ext cx="4846320" cy="384048"/>
          </a:xfrm>
          <a:prstGeom prst="rect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2606040"/>
            <a:ext cx="1485900" cy="384048"/>
          </a:xfrm>
          <a:prstGeom prst="rect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2606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정기·복층 사망 (60세 1억 + 80세 5천)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0" y="2606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7.6만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37960" y="3063240"/>
            <a:ext cx="4846320" cy="384048"/>
          </a:xfrm>
          <a:prstGeom prst="rect">
            <a:avLst/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3063240"/>
            <a:ext cx="1873606" cy="384048"/>
          </a:xfrm>
          <a:prstGeom prst="rect">
            <a:avLst/>
          </a:prstGeom>
          <a:solidFill>
            <a:srgbClr val="00C471"/>
          </a:solidFill>
          <a:ln w="12700">
            <a:solidFill>
              <a:srgbClr val="00C47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9400" y="30632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암·뇌혈관·허혈성 진단비 각 3천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0332720" y="3063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10만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37960" y="3520440"/>
            <a:ext cx="4846320" cy="384048"/>
          </a:xfrm>
          <a:prstGeom prst="rect">
            <a:avLst/>
          </a:prstGeom>
          <a:solidFill>
            <a:srgbClr val="E0F7F5"/>
          </a:solidFill>
          <a:ln w="12700">
            <a:solidFill>
              <a:srgbClr val="E0F7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37960" y="3520440"/>
            <a:ext cx="1388974" cy="384048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29400" y="3520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수술비·입원일당·간병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0" y="35204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37960" y="3977640"/>
            <a:ext cx="4846320" cy="384048"/>
          </a:xfrm>
          <a:prstGeom prst="rect">
            <a:avLst/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7960" y="3977640"/>
            <a:ext cx="758952" cy="384048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29400" y="3977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배상책임·운전자·기타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0332720" y="39776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3만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37960" y="4434840"/>
            <a:ext cx="4846320" cy="38404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37960" y="4434840"/>
            <a:ext cx="710489" cy="384048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29400" y="4434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돈 → 진짜 저축·투자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0332720" y="4434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2.4만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537960" y="493776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예시 배분. 실제 설계는 당사 전산 견적으로.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68680" y="5349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"고객님 돈을 더 쓰시라는 게 아니에요. 같은 30만원을 「죽어야 나오는 돈」에서 「아플 때 나오는 돈」으로 옮기고, 남는 2~3만원은 진짜 적금에 넣으시라는 겁니다."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61415" cy="314554"/>
          </a:xfrm>
          <a:prstGeom prst="roundRect">
            <a:avLst>
              <a:gd name="adj" fmla="val 50000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26141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파훼법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상황별 대응 ① "해지하면 손해잖아요" / "10년만 지나면 120%예요"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7218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해지를 권하지 않아도 됩니다. 유지 옵션과 숫자로 답하세요.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394960" cy="41605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🙅 "해지하면 손해잖아요"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060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"맞습니다. 그래서 해지하시라는 게 아니에요." — 먼저 동의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기준: 사망보장이 아직 필요한 시기인가? (자녀 독립 전 = 필요)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필요하면 → 감액·연장정기로 유지 + 절약분을 생존보장에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없으면 → 감액완납으로 부담 0원, 남는 보험료 전액 재배치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무·저해지형 납입 중이면 → 환급금 0~50%이므로 「납입 완료 시점」과 「원금 도달 시점」을 표로 같이 보기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"고객님 손해를 제일 작게 만드는 게 제 일입니다"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2011680"/>
            <a:ext cx="5394960" cy="41605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37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⏳ "10년만 지나면 120%예요"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060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"네, 10년 지나 해지하면요. 그런데 해지하면 보장은 사라지죠?" — 환급률은 해지 이야기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120%를 연 수익률로 바꾸면 약 2.6%. 지금 정기예금이 3.4%입니다(2026.9)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신규는 5년납 121%·7년납 117.6%로 낮아졌고, 원금 도달 뒤 80% 이상이 해지한다는 기사(2026.9)를 보여 주기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비과세 요건(5년납·10년 유지·월 150만원 규정 등)과 중도해지 손실을 함께 설명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"10년 동안 아프면 어떻게 하죠? 그 사이 진단비는 이 보험에 없습니다"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61415" cy="314554"/>
          </a:xfrm>
          <a:prstGeom prst="roundRect">
            <a:avLst>
              <a:gd name="adj" fmla="val 50000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26141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파훼법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상황별 대응 ② "변액·달러라 수익 나요" / "저 생보에서 건강보험 들었어요"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 무기가 안 통하는 두 상황. 2026년형 답변입니다.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394960" cy="41605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💵 "변액·달러라 수익 나요"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060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"공시 수익률은 납입보험료가 아니라 「특별계정 투입금」 기준이에요. 사업비 뗀 85~95%가 먼저 수익을 내야 원금이죠"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달러종신: 2023년 1.2만 건 → 2025년 1~10월 9.5만 건 급증, 금감원 소비자경보(2026.1) — "환율 전망은 보장이 아닙니다"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"펀드 변경·리밸런싱, 마지막으로 언제 하셨어요?" (대부분 「한 번도」)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"수익이 나는 건 좋은 일이에요. 그 수익을 지키려면 보장은 따로 있어야 합니다. 아프면 이 계좌에서 돈이 빠져나가거든요"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2011680"/>
            <a:ext cx="5394960" cy="41605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37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🏥 "저 생보에서 건강보험 들었어요"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060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 화법 금지: "생보는 뇌출혈만" — 2024~26 생보 신형은 뇌혈관·허혈성 특약을 팝니다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것 ① 진단비가 「각각 지급」인지, 주계약 선지급형인지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것 ② 특약이 갱신형인지(5·10년 갱신 → 보험료 상승), 비갱신 100세인지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것 ③ 소액암 분류·감액기간·납입면제 범위·유사암 정의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것 ④ 배상책임·운전자·간병 등 손보 전용 담보의 공백</a:t>
            </a:r>
            <a:endParaRPr lang="en-US" sz="1100" dirty="0"/>
          </a:p>
          <a:p>
            <a:pPr algn="l" marL="167640" indent="-16764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"좋은 선택 하셨어요. 빈 방(배상·간병·수술)만 저희가 채워 드릴게요" — 보완 제안으로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50631569-faa5-59b7-821a-dea1a7200ace/scratchpad/build/cache/grad_div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MeAI/50631569-faa5-59b7-821a-dea1a7200ace/scratchpad/build/cache/blob_w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-1097280"/>
            <a:ext cx="5852160" cy="58521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1920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3063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 솔루션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0F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 → 제안 → 미션: 내일 아침 현장에서 바로 쓰는 실행 패키지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9052560" y="17373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</a:t>
            </a:r>
            <a:endParaRPr lang="en-US" sz="1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5094" cy="314554"/>
          </a:xfrm>
          <a:prstGeom prst="roundRect">
            <a:avLst>
              <a:gd name="adj" fmla="val 50000"/>
            </a:avLst>
          </a:prstGeom>
          <a:solidFill>
            <a:srgbClr val="E0F7F5"/>
          </a:solidFill>
          <a:ln w="12700">
            <a:solidFill>
              <a:srgbClr val="E0F7F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50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메리츠 솔루션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 제안 프레임 — 사망은 정기, 생존은 통합건강, 책임은 배상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0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「나를 위한 보장」은 생명보험보다 메리츠화재. 세 문장으로 요약되는 설계 원칙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3566160" cy="32004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🕊️ 사망보장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가장의 책임기간까지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정기·복층설계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6616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 1억 26만원 → 정기·복층 7.6만원. 70세 이후 1억은 상속이지 보장이 아닙니다.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011680"/>
            <a:ext cx="3566160" cy="32004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7200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C4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🛡️ 생존보장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진단비는 넓게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일반암·뇌혈관·허혈성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56616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지급 · 비갱신 100세 · 광범위 납입면제 · 수술비·입원·간병까지 病院 가는 순서대로.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011680"/>
            <a:ext cx="3566160" cy="32004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2104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🤝 책임보장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남에게 끼친 손해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배상책임·운전자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56616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증권에 통째로 비어 있는 방. 일상생활배상, 운전자(벌금·변호사비·형사합의금).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27500"/>
            </a:avLst>
          </a:prstGeom>
          <a:solidFill>
            <a:srgbClr val="E0F7F5"/>
          </a:solidFill>
          <a:ln w="12700">
            <a:solidFill>
              <a:srgbClr val="E0F7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🧩 당사 상품군 활용 예: 통합간편건강보험(유병자 3대질병 중심) · 케어프리보험 M-Basket(다담보 통합·간병) · 운전자상해종합보험(스쿨존 벌금 등) · 치아보험 — 정확한 담보·납면 조건은 현행 상품설명서 기준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5094" cy="314554"/>
          </a:xfrm>
          <a:prstGeom prst="roundRect">
            <a:avLst>
              <a:gd name="adj" fmla="val 50000"/>
            </a:avLst>
          </a:prstGeom>
          <a:solidFill>
            <a:srgbClr val="E0F7F5"/>
          </a:solidFill>
          <a:ln w="12700">
            <a:solidFill>
              <a:srgbClr val="E0F7F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50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메리츠 솔루션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증권 보장분석 4단계 — 증권을 받는 순간부터 제안까지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 보장분석과 연계해 「직접 확인하고 활용」하게 하세요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증권 수집 &amp; 가입일 확인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1031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연도로 세대 판별(단기납? 무저해지? 유니버셜?) · 계약자·피보험자·수익자 확인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44368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127248"/>
            <a:ext cx="457200" cy="45720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035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해부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035808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단어를 쪼개 옵션·비용 구조 파악 (변액·유니버셜·CI/GI·달러·보증비용)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059936"/>
            <a:ext cx="457200" cy="45720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96849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4분면 매핑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968496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사망/생존 × 나/남 4개 방에 담보를 배치 → 빈 방 찾기 (대부분 1·2번 방이 비어 있음)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809744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992624"/>
            <a:ext cx="457200" cy="457200"/>
          </a:xfrm>
          <a:prstGeom prst="ellipse">
            <a:avLst/>
          </a:prstGeom>
          <a:solidFill>
            <a:srgbClr val="00C471"/>
          </a:solidFill>
          <a:ln w="12700">
            <a:solidFill>
              <a:srgbClr val="00C47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992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90118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C4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갭 제안 &amp; 유지옵션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490118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다이어트표(BEFORE/AFTER) + 해지 대신 감액·감액완납·연장정기 안내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760720"/>
            <a:ext cx="11091672" cy="457200"/>
          </a:xfrm>
          <a:prstGeom prst="roundRect">
            <a:avLst>
              <a:gd name="adj" fmla="val 44000"/>
            </a:avLst>
          </a:prstGeom>
          <a:solidFill>
            <a:srgbClr val="E0F7F5"/>
          </a:solidFill>
          <a:ln w="12700">
            <a:solidFill>
              <a:srgbClr val="E0F7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7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체크리스트: □ 가입일  □ 계약자/피보험자/수익자  □ 주계약 유형  □ 특약 갱신 여부  □ 납입면제 조건  □ 암 분류표  □ 뇌·심 코드 범위  □ 해지환급금 표</a:t>
            </a:r>
            <a:endParaRPr lang="en-US" sz="10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5094" cy="314554"/>
          </a:xfrm>
          <a:prstGeom prst="roundRect">
            <a:avLst>
              <a:gd name="adj" fmla="val 50000"/>
            </a:avLst>
          </a:prstGeom>
          <a:solidFill>
            <a:srgbClr val="E0F7F5"/>
          </a:solidFill>
          <a:ln w="12700">
            <a:solidFill>
              <a:srgbClr val="E0F7F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50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메리츠 솔루션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30초 화법 카드 6장 — 외워서 나가는 한 줄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모든 걸 전달하기보다, 하나라도 꼭 기억시키고 움직이게 만드세요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3566160" cy="18288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240280"/>
            <a:ext cx="1517904" cy="301752"/>
          </a:xfrm>
          <a:prstGeom prst="roundRect">
            <a:avLst>
              <a:gd name="adj" fmla="val 50000"/>
            </a:avLst>
          </a:prstGeom>
          <a:solidFill>
            <a:srgbClr val="FFEEEE"/>
          </a:solidFill>
          <a:ln w="12700">
            <a:solidFill>
              <a:srgbClr val="FFEE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240280"/>
            <a:ext cx="1517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2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생존 vs 사망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51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"83세까지 사는 건 기본값이에요. 문제는 마지막 18년을 어떤 돈으로 버티느냐죠."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2011680"/>
            <a:ext cx="3566160" cy="18288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2240280"/>
            <a:ext cx="1065276" cy="301752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2240280"/>
            <a:ext cx="10652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C5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좁은 담보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651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"뇌졸중 4명 중 3명은 뇌출혈이 아니라 뇌경색이에요. 고객님 증권은 4명 중 1명만 봅니다."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2011680"/>
            <a:ext cx="3566160" cy="18288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240280"/>
            <a:ext cx="612648" cy="301752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2240280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6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금리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651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"예금이 3.4%인데 보험 공시이율은 2.5%예요. 그것도 사업비 떼고요. 저축은 저축답게 하세요."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566160" cy="18288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251960"/>
            <a:ext cx="1216152" cy="301752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251960"/>
            <a:ext cx="12161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최초 1회한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663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13개 중에 제일 먼저 걸리는 하나만, 딱 한 번 나와요. 저희는 각각 나옵니다."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4023360"/>
            <a:ext cx="3566160" cy="18288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251960"/>
            <a:ext cx="612648" cy="301752"/>
          </a:xfrm>
          <a:prstGeom prst="roundRect">
            <a:avLst>
              <a:gd name="adj" fmla="val 50000"/>
            </a:avLst>
          </a:prstGeom>
          <a:solidFill>
            <a:srgbClr val="E5F8EF"/>
          </a:solidFill>
          <a:ln w="12700">
            <a:solidFill>
              <a:srgbClr val="E5F8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251960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59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663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"생보 설계사 10명 중 6명이 1년 안에 그만둡니다. 이 복잡한 상품, 누가 대신 만져 주죠?"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0" y="4023360"/>
            <a:ext cx="3566160" cy="18288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21040" y="4251960"/>
            <a:ext cx="763524" cy="301752"/>
          </a:xfrm>
          <a:prstGeom prst="roundRect">
            <a:avLst>
              <a:gd name="adj" fmla="val 50000"/>
            </a:avLst>
          </a:prstGeom>
          <a:solidFill>
            <a:srgbClr val="E0F7F5"/>
          </a:solidFill>
          <a:ln w="12700">
            <a:solidFill>
              <a:srgbClr val="E0F7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21040" y="4251960"/>
            <a:ext cx="7635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재배치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4663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"더 내시라는 게 아니에요. 같은 30만원을 죽어야 나오는 돈에서 아플 때 나오는 돈으로 옮기는 거예요."</a:t>
            </a:r>
            <a:endParaRPr lang="en-US" sz="11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5094" cy="314554"/>
          </a:xfrm>
          <a:prstGeom prst="roundRect">
            <a:avLst>
              <a:gd name="adj" fmla="val 50000"/>
            </a:avLst>
          </a:prstGeom>
          <a:solidFill>
            <a:srgbClr val="E0F7F5"/>
          </a:solidFill>
          <a:ln w="12700">
            <a:solidFill>
              <a:srgbClr val="E0F7F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50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메리츠 솔루션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미션 ★ — 강의로 끝나면 그냥 「좋았던 교육」으로 끝납니다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것을 이번 주 안에 현장에서 한 번 쓰는 것이 이 교안의 목표입니다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440680" cy="1508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240280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24028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증권 1장 해부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743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생보 증권 1장을 가져와 상품명 해부 + 4분면 매핑 + 빈 방 3개 적기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011680"/>
            <a:ext cx="5440680" cy="1508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2240280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224028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 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왜그그 롤플레이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743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2인 1조. 「왜? → 그 밖에 또? → 그래서!」 5분 롤플레이, FP 발화 30% 이내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5440680" cy="1508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3931920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00C471"/>
          </a:solidFill>
          <a:ln w="12700">
            <a:solidFill>
              <a:srgbClr val="00C4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93192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 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3886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다이어트표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434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1명의 BEFORE/AFTER 재배치표 작성 (당사 전산 견적 활용)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3703320"/>
            <a:ext cx="5440680" cy="1508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6520" y="3931920"/>
            <a:ext cx="914400" cy="301752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393192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 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3886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30초 화법 녹음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434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6장 중 2장을 골라 30초 녹음, 조별 공유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29333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6868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🏁 「선택과 집중」: 움직임이 보이는 FP는 깊이 있게 서포트해 성공사례를 만들고, 본부 전체에 공유합니다. 문화는 사례에서 나옵니다.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5094" cy="314554"/>
          </a:xfrm>
          <a:prstGeom prst="roundRect">
            <a:avLst>
              <a:gd name="adj" fmla="val 50000"/>
            </a:avLst>
          </a:prstGeom>
          <a:solidFill>
            <a:srgbClr val="E0F7F5"/>
          </a:solidFill>
          <a:ln w="12700">
            <a:solidFill>
              <a:srgbClr val="E0F7F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50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메리츠 솔루션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 총정리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문장만 남기세요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91672" cy="118872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1488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생명보험은 이름만 보아도 상품 특징과 비용 구조를 알 수 있다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6060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무배당·통합·변액·유니버셜·CI·종신 = 단어 하나가 비용 하나. 「중대한」과 「최초 1회한」이 단서조항의 핵심.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1091672" cy="118872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4747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사망보장과 생존보장 중 무엇을 원하는지 「왜그그」로 물으면 고객에게 맞는 보장이 나온다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9319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사망은 책임기간만큼 정기·복층으로, 생존은 넓은 3대 진단비·수술·입원·간병으로, 책임은 배상·운전자로.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91672" cy="118872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rgbClr val="00C471"/>
          </a:solidFill>
          <a:ln w="12700">
            <a:solidFill>
              <a:srgbClr val="00C4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800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통계는 우리 편이다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2578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유병기간 18년, 뇌졸중 76% 뇌경색, 예금 3.4% vs 공시이율 2.5%, 생보 정착률 38%, 해약 36.5조 — 숫자로 말하면 설득이 아니라 확인이 된다.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6035040"/>
            <a:ext cx="11091672" cy="320040"/>
          </a:xfrm>
          <a:prstGeom prst="roundRect">
            <a:avLst>
              <a:gd name="adj" fmla="val 62857"/>
            </a:avLst>
          </a:prstGeom>
          <a:solidFill>
            <a:srgbClr val="E0F7F5"/>
          </a:solidFill>
          <a:ln w="12700">
            <a:solidFill>
              <a:srgbClr val="E0F7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🔁 통계는 매년 갱신됩니다: 사망원인통계(9월), 생명표(12월), 암등록통계(12~1월), 심뇌혈관 발생통계(12월), 금감원 판매채널 효율(4월). 출처 페이지를 기준으로 연 1회 업데이트하세요.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eAI/50631569-faa5-59b7-821a-dea1a7200ace/scratchpad/build/cache/grad_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MeAI/50631569-faa5-59b7-821a-dea1a7200ace/scratchpad/build/cache/blob_pink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-1371600"/>
            <a:ext cx="5486400" cy="54864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먼저 다가가야 합니다</a:t>
            </a:r>
            <a:endParaRPr lang="en-US" sz="44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30175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C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생보 증권은 「위기」가 아니라 「가장 좋은 대화 소재」입니다.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C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산 것은 상품이 아니라 「평생 도와줄 전문가」였습니다. 그 자리를 우리가 채웁니다.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822960" y="4572000"/>
            <a:ext cx="3383280" cy="822960"/>
          </a:xfrm>
          <a:prstGeom prst="roundRect">
            <a:avLst>
              <a:gd name="adj" fmla="val 2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45720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된다 하지 말고!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4389120" y="4572000"/>
            <a:ext cx="3383280" cy="822960"/>
          </a:xfrm>
          <a:prstGeom prst="roundRect">
            <a:avLst>
              <a:gd name="adj" fmla="val 2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389120" y="45720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아니라 하지 말고!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955280" y="4572000"/>
            <a:ext cx="3383280" cy="822960"/>
          </a:xfrm>
          <a:prstGeom prst="roundRect">
            <a:avLst>
              <a:gd name="adj" fmla="val 2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955280" y="45720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긍정적으로, 힘찬 하루 시작!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8C7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세일즈혁신TF 이헌수 · 생명보험 파헤치기 2026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78254" cy="31455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782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사내 교육용으로 고객 교부·배포 및 온라인 게시가 불가하며, 계약의 세부사항은 약관을 따릅니다.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통계 · 출처 (2026년 9월 17일 기준)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27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수치는 공식 발표 자료 기준이며, 언론 보도로 교차 확인했습니다. 강의 전 최신 발표분으로 갱신하세요.</a:t>
            </a:r>
            <a:endParaRPr lang="en-US" sz="14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949440"/>
                <a:gridCol w="231343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D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사망원인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통계청 「2024년 사망원인통계」 (2025년 자료는 2026.9 말 발표 예정)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2025.9.25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기대수명·건강수명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국가데이터처 「2024년 생명표」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2025.12.3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고령화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행정안전부 주민등록 인구통계 / 통계청 장래인구추계 / 2025 인구주택총조사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2026.1 / 2023.12 / 2026.8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보건복지부·중앙암등록본부 「2023년 국가암등록통계」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2026.1.20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뇌·심장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질병관리청 「2023 심뇌혈관질환 발생통계」 / 심평원 진료현황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2025.12.31 / 2022·2020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의료비·간병·요양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건강보험통계연보 2024 / 건보공단 생애의료비 연구 / 2025 장기요양 통계연보 / 국회입법조사처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2025.11 / 2025.12 / 2026.6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연금·빈곤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국민연금공단 / OECD Pensions at a Glance 2025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 / 2025.11.27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한국은행 금통위(2026.7.16 / 8.27) / 은행연합회 / 금감원 평균공시이율 고시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2026.8~9 / 2025.12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보험산업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보험연구원 「2026년 보험산업 전망」 / 금감원 「2025년 판매채널 영업효율」 / 금감원 소비자경보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2025.10.21 / 2026.4.29 / 2025.12.18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단기납·해약·제3보험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보험저널·연합뉴스·파이낸셜뉴스·머니투데이·한국경제·서울경제 등 2024~2026 보도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2024.1~2026.9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한국은행 가계신용(2026 2Q) / 국가데이터처 소비자물가(2026.8)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2026.8.19 / 2026.9.2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본 교안은 2022년 TA워크샵 「생명보험 파헤치기」, 2020년 EM교육 「생명보험 증권 만나면」, 2020년 「생보 vs 손보」, 2023년 「생보 파훼법·부록」 교안을 기반으로 2026년 통계·규제로 전면 개편했습니다.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생명보험 파헤치기 2026</dc:title>
  <dc:subject>PptxGenJS Presentation</dc:subject>
  <dc:creator>세일즈혁신TF 이헌수</dc:creator>
  <cp:lastModifiedBy>세일즈혁신TF 이헌수</cp:lastModifiedBy>
  <cp:revision>1</cp:revision>
  <dcterms:created xsi:type="dcterms:W3CDTF">2026-09-17T08:00:45Z</dcterms:created>
  <dcterms:modified xsi:type="dcterms:W3CDTF">2026-09-17T08:00:45Z</dcterms:modified>
</cp:coreProperties>
</file>