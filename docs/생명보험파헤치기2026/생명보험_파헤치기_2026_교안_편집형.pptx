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자살</c:v>
                  </c:pt>
                  <c:pt idx="1">
                    <c:v>뇌혈관질환</c:v>
                  </c:pt>
                  <c:pt idx="2">
                    <c:v>폐렴</c:v>
                  </c:pt>
                  <c:pt idx="3">
                    <c:v>심장질환</c:v>
                  </c:pt>
                  <c:pt idx="4">
                    <c:v>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6.9</c:v>
                </c:pt>
                <c:pt idx="2">
                  <c:v>8.4</c:v>
                </c:pt>
                <c:pt idx="3">
                  <c:v>9.4</c:v>
                </c:pt>
                <c:pt idx="4">
                  <c:v>24.8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9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기준금리</c:v>
                </c:pt>
              </c:strCache>
            </c:strRef>
          </c:tx>
          <c:spPr>
            <a:solidFill>
              <a:srgbClr val="3182F6"/>
            </a:solidFill>
            <a:ln w="38100" cap="flat">
              <a:solidFill>
                <a:srgbClr val="3182F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182F6"/>
              </a:solidFill>
              <a:ln w="9525" cap="flat">
                <a:solidFill>
                  <a:srgbClr val="31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21.8</c:v>
                  </c:pt>
                  <c:pt idx="1">
                    <c:v>22.1</c:v>
                  </c:pt>
                  <c:pt idx="2">
                    <c:v>22.7</c:v>
                  </c:pt>
                  <c:pt idx="3">
                    <c:v>23.1</c:v>
                  </c:pt>
                  <c:pt idx="4">
                    <c:v>24.10</c:v>
                  </c:pt>
                  <c:pt idx="5">
                    <c:v>25.2</c:v>
                  </c:pt>
                  <c:pt idx="6">
                    <c:v>25.5</c:v>
                  </c:pt>
                  <c:pt idx="7">
                    <c:v>26.7</c:v>
                  </c:pt>
                  <c:pt idx="8">
                    <c:v>26.8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0.75</c:v>
                </c:pt>
                <c:pt idx="1">
                  <c:v>1.25</c:v>
                </c:pt>
                <c:pt idx="2">
                  <c:v>2.25</c:v>
                </c:pt>
                <c:pt idx="3">
                  <c:v>3.5</c:v>
                </c:pt>
                <c:pt idx="4">
                  <c:v>3.25</c:v>
                </c:pt>
                <c:pt idx="5">
                  <c:v>2.75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68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2026년 최신 통계·규제·시장 트렌드로 구성한 생명보험 컨설팅 교안입니다.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도입부. 4가지 변화 요인을 짚고, 왜 지금 생명보험을 다시 배워야 하는지 공감대를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아이스브레이킹. 손을 들어보게 하세요. 대부분 왼쪽입니다.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실제 사례. 교통재해사망특약(대중교통 이용 중 재해사망 시 고액)을 「사망 시 10억」으로 기억하는 고객 이야기입니다.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"고객님, 83세까지 사는 건 확률이 아니라 기본값이에요. 문제는 그중 18년을 어떤 돈으로 버티느냐입니다."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「터진다 &lt; 막힌다 &lt; 좁아진다」 화법의 근거 통계입니다. 심평원 최신(2024) 환자 수는 국민관심질병통계에서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2026.7.16 2.50→2.75%(3년 6개월 만의 인상), 8.27 3.00%(연속 인상). 6월 CPI 3.2%, 8월 3.1%. 금리 상승 = 대출이자 부담 상승 → 보험 해지 압력도 함께 커집니다(다음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상품 트리를 2026년 기준으로 정리. 생보 건강보험(제3보험)을 보장성 가지에 포함했습니다.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단어 하나=기능 하나=비용 하나라는 비유로 요약합니다.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"주계약 5,000만원 가입 시 사망하면 5,000만원, 진단 후 사망하면 1,000만원" 사례를 이 구조와 함께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적용 평균공시이율 2.50%(금감원 고시, 2025.12), 5대 은행 1년 정기예금 3.30~3.45%(2026.9). 회사별 공시이율은 생명보험협회 공시실에서 강의 시점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D사·K사 보증비용 사례 수치 인용. 최신 상품설명서로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"STOP &amp; GO" 화법과 "입출금 통장처럼 빼서 쓴다고요? 이자 10% 현금서비스에요"를 함께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특별계정 투입보험료(납입보험료×85~95%) 도식. 달러종신은 Part 4 실패사례와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연도는 시장에서 주류가 된 대략적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IRR은 월 100만원×60회 납입, 120개월 시점 7,200만원 수령 가정으로 계산(약 2.6%/년).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연금전환 구조 + 2025년 사망보험금 유동화 제도. 제도 세부는 Part 1 통계·규제 슬라이드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다트판 비유로 「중대한」 요건의 문턱을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회사별 약관에 따라 CK-MB 외 트로포닌 인정 여부가 다르므로 해당 증권의 약관으로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"예시로 18가지 담보 중 하나를 보상받으면 나머지 17개 소멸" — 이 한 문장을 고객에게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 설명(뇌경색·협심증 부지급, 최초 1회한, 종신 대비 비싼 보험료)을 한 사람의 시나리오로 재구성. 진단비 3,000만·선지급 80%는 예시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재해분류표의 구체적 제외 항목은 해당 증권의 약관 별표를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처리는 해당 생보사 콜센터·앱에서 고객이 직접 신청.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세제 세부는 Part 1 규제 슬라이드와 최신 세법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「필요하다고 느낀 보험에 동그라미」 워크를 포함하세요.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신상품 예: 한화 시그니처H통합건강(2026.1, 12대 질병 납면), 삼성 인터넷 뇌심건강(2025.7), 교보(2024.3). 고객이 보유한 옛 종신·CI·GI와 구분해서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"생보는 무조건 소액암"이 아니라 "소액암 구분 상품이 여전히 많다"가 정확한 표현입니다. 고객 증권의 암 분류표를 함께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 수치는 시점·연령·회사별로 달라집니다. 강의 시 당사 전산 견적으로 갱신하고, 비교 대상 생보사 견적은 보험다모아(e-insmarket.or.kr)에서 조회하세요.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「오늘 1억과 40년 후 1억의 가치」: 물가 2%면 40년 뒤 1억의 실질가치는 약 4,500만원.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엠바스켓 11대 납면, 더좋은엠바 희귀난치 7대 포함 기준. 현행 판매 상품의 납면 조건은 최신 상품설명서로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간병일당 20만원 경쟁(2026.8 NH농협생명·현대해상, 금감원 예의주시)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한 줄: "종신보험은 만기가 사망이라 살아서는 한 푼도 못 씁니다. 메리츠는 100세 만기까지 아플 때마다 매년 최대 3억 4천만원 한도가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가입제안서 48p 「통합치료비 한눈에」와 53p 「암 통합치료비(기본형) 특약 안내사항」 기준. 담보 번호: 72·77·160·82·83.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제안서 51p 폐암 사례 그대로. 조건: 표적항암약물허가치료비는 연간 약물종류 2종 이상(표적항암제 → 키트루다)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「메리츠」 금액은 제안서 사례 금액을 그대로 합산한 예시입니다. 생보 종신은 사망 시 1억 외 생존 중 지급이 없다는 구조를 대비해 보여 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고객의 가입 이유를 먼저 듣는 것이 컨설팅의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설계사가 고객에게 그린 그림을 그대로 재현해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통계는 Part 1 슬라이드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롤플레이로 읽어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단계를 순서대로. FP 발화 30% 이내.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「왜?」 단계 스크립트. 부담을 먼저 인정하고 「어떤·무엇」으로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 밖에 또?」 단계 스크립트 + 「고객이 원했던 것, 실제 가입한 것」 워크시트.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「그래서!」 단계 스크립트. 고객의 단어로 제안합니다.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「종신보험도 좋은 보험이다 / 판매 방법이 잘못된 것이다」 — 상품이 아니라 판매 방식을 짚는 결로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 통계(정착률·승환·고아계약)로 뒷받침합니다.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통계: 2024 사망원인통계, 2023 국가암등록통계, 건보공단 생애의료비(2025.12).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상조 비유는 고객이 스스로 결론을 내게 하는 질문형으로.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10억 버스, 다트판, 18개 중 1개 — 세 비유를 증권과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보험료는 예시이며 강의 전 당사 견적으로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환급률→IRR 환산은 Part 2 「단기납 종신 착시」 슬라이드 참조. 환급률 수치: 보험저널(2026.9).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달러보험 판매 건수·소비자경보: 금감원(2026.1). 생보 신형 건강보험: 한화 시그니처H(2026.1), 삼성 뇌심(2025.7), 교보(2024.3).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현행 판매 상품명·담보는 강의 시점 상품설명서와 MeAI 약관 검색으로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"MeAI를 켠 고객은 거의 예외 없이 설계까지 갑니다." 속도가 아니라 성사율이 달라진다고 말하세요(체결 소요일 12일 vs 13일).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상단 버튼: 모바일 [보장 분석][사용 정보][요약 생성][새로 대화], PC [보장분석][사용중인 정보 수정][요약 리포트]. 고객 정보는 [입력 완료]를 눌러야 반영됩니다.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MeAI 답변은 생성형 AI라 오류가 있을 수 있습니다. 약관 검색으로 원문을 확인한 뒤 고객에게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잘 먹힌 질문은 내 질문 아래 ⊕ 로 「나의 질문」에 저장. 다음엔 [이 질문 사용하기]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리포트에는 "AI로 생성된 보조자료입니다"가 표시되지만 최종 책임은 보내는 사람에게 있습니다. 숫자·약관 근거를 확인하고 내부 판단용 답변은 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하나라도 꼭 기억시키고, 움직이게 만드는 것이 목표입니다. 좋았던 결과는 「나의 질문」에 저장하세요.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미션은 반드시 기한과 공유 방식을 정해 주세요. 성공사례 질문은 프롬프트 라이브러리 「나의 질문」에 축적하고 팀 단톡에 복사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문장으로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클로징. 긍정적인 한 마디로 마칩니다.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-1371600"/>
            <a:ext cx="5943600" cy="5943600"/>
          </a:xfrm>
          <a:prstGeom prst="rect">
            <a:avLst/>
          </a:prstGeom>
        </p:spPr>
      </p:pic>
      <p:pic>
        <p:nvPicPr>
          <p:cNvPr id="4" name="Image 2" descr="/tmp/claude-0/-home-user-MeAI/50631569-faa5-59b7-821a-dea1a7200ace/scratchpad/build/cache/blob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3200400"/>
            <a:ext cx="5029200" cy="50292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31520" y="731520"/>
            <a:ext cx="3388766" cy="35295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731520" y="731520"/>
            <a:ext cx="338876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영업가족 컨설팅 교안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1417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파헤치기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종신보험 증권, 어떻게 읽고 어떻게 제안할까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73152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최신 통계와 트렌드로 다시 쓴 「지피지기 백전백승」 편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73152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6012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최신 통계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06324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29184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2918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9496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화법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72668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5528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79552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다시 생명보험을 배워야 할까요?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바뀌었습니다. 생보의 무기가 바뀌었고, 고객의 지갑 사정도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86000"/>
            <a:ext cx="822960" cy="822960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0" name="Image 0" descr="/tmp/claude-0/-home-user-MeAI/50631569-faa5-59b7-821a-dea1a7200ace/scratchpad/build/cache/ic_fa6_FaArrowTrendUp_3182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48351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8745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기준금리 3.00%, 정기예금 3.4%대. 생보의 「이자 붙는 보험」 화법이 되살아나는 시기입니다. 예금을 못 이기는 이유를 설명할 수 있어야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pic>
        <p:nvPicPr>
          <p:cNvPr id="15" name="Image 1" descr="/tmp/claude-0/-home-user-MeAI/50631569-faa5-59b7-821a-dea1a7200ace/scratchpad/build/cache/ic_fa6_FaShieldHeart_F04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483510"/>
            <a:ext cx="427939" cy="4279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생보사가 손보 영역으로 들어왔습니다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 생보사들이 암·뇌·심장 「건강보험」을 주력으로 팝니다. 이제 경쟁 상대는 종신보험만이 아닙니다.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97680"/>
            <a:ext cx="822960" cy="82296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pic>
        <p:nvPicPr>
          <p:cNvPr id="20" name="Image 2" descr="/tmp/claude-0/-home-user-MeAI/50631569-faa5-59b7-821a-dea1a7200ace/scratchpad/build/cache/ic_fa6_FaHouseCrack_FF8A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495190"/>
            <a:ext cx="427939" cy="4279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7452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열풍의 후폭풍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87452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지나면 120% 돌려받는다」로 팔린 계약이 수백만 건. 이 고객들이 지금 보장분석 테이블에 올라옵니다.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7220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297680"/>
            <a:ext cx="822960" cy="822960"/>
          </a:xfrm>
          <a:prstGeom prst="ellipse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pic>
        <p:nvPicPr>
          <p:cNvPr id="25" name="Image 3" descr="/tmp/claude-0/-home-user-MeAI/50631569-faa5-59b7-821a-dea1a7200ace/scratchpad/build/cache/ic_fa6_FaUserClock_7C5C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449519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98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초고령사회, 아픈 채로 사는 시간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늘었지만 건강수명은 그대로. 「사망」보다 「생존 중 치료비」가 진짜 리스크가 되었습니다.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여정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생명보험을 해부하고 → 고객의 마음을 읽고 → 메리츠로 다시 설계합니다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시장 지형도 · 통계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아는 생보 상품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vs 메리츠 · 만기까지 사망 vs 생존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72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32104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1069848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솔루션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약관 조회 → 보장분석 → 가계약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중 생명보험 증권을 만나면, 어떤 기분이세요?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😰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"생소한데… 어떻게 이야기하지?"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상품명이 외계어 같다 (변액·유니버셜·CI·달러…)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이미 「좋다」고 설득해 놓은 상태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괜히 건드렸다가 고객 기분만 상할까 걱정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😎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"아싸! 잘 걸렸다!"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가입했는지 3분 대화로 읽어낸다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정기로, 생존은 메리츠로 — 제안이 저절로 나온다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교육이 끝나면 왼쪽 얼굴이 오른쪽 얼굴로 바뀝니다. 생보 증권은 「위기」가 아니라 「가장 좋은 대화 소재」입니다.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워밍업 퀴즈 — "저는 사망하면 10억 나와요"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기억하는 건 숫자 하나. 약관이 기억하는 건 단서 조항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88136" y="2011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271016" y="2121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FP님, 저는 옛날에 생보에서 가입해서요. 사망하면 10억 나옵니다. 더 필요 없어요.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0719" y="2624328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240719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2599" y="2624328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5479" y="2734056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오, 든든하시겠어요! 그런데 혹시 그 10억이 「언제, 어떤 상황」의 사망인지 증권에서 같이 확인해 볼까요?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88136" y="3483864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271016" y="3593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…확인해 보니 「평일에, 대중교통 버스를 이용하다가, 사고로」 사망하면 10억이네요. 일반 사망은 5천만원이고요.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692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 "사망하면 10억"과 "평일 대중교통 사고로 사망하면 10억"은 완전히 다른 보험입니다.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보험의 정의는 단순합니다. 단서 조항이 적고, 명확하고, 보험금 받기 쉬운 보험. 오늘 우리는 생보 증권의 「단서 조항」을 읽는 법을 배웁니다.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숫자로 읽는 대한민국과 보험시장의 지형도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중 1명이 65세 이상 — 초고령사회는 이미 도착했습니다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12월 23일, 65세 이상 인구 비율 20%를 넘어 「초고령사회」 진입. 세계에서 가장 빠른 속도입니다.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인구 비율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 말 주민등록, 1,084만 명)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30%↑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2036년 고령인구 비율 전망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2050년에는 40%를 넘습니다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8,604명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이상 인구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(2025.11, 10년 전의 2.7배)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고령자 가구 중 1인 가구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 3가구 중 1가구가 독거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685800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이 숫자가 영업에 뜻하는 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262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「오래 사는 위험」이 「일찍 죽는 위험」보다 커졌습니다 → 사망보장 중심 설계의 시대가 저물고 있습니다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독거 노인이 늘수록 간병·요양을 「돈으로 사야 하는」 사람이 늘어납니다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부모 세대가 이미 이 통계 안에 있습니다. 「부모님 간병」은 40~50대 고객의 현실 걱정입니다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4005072" cy="2148840"/>
          </a:xfrm>
          <a:prstGeom prst="roundRect">
            <a:avLst>
              <a:gd name="adj" fmla="val 936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🚄 비유: 브레이크 없는 KTX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5262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고령사회(14%)에서 초고령사회(20%)까지 프랑스는 39년, 일본은 11년, 한국은 단 7년이 걸렸습니다. 사회가 준비할 시간이 없었다는 뜻이고, 그 준비는 결국 개인의 몫이 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행정안전부 주민등록 인구통계(2025.12), 통계청 장래인구추계(2023.12), 국가데이터처 2025 인구주택총조사(2026.8), 2025 고령자 통계(2025.9)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83.7세까지 삽니다. 그런데 마지막 18년은 아픈 채로 삽니다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매년 늘지만 「건강수명」은 65.5세에 멈춰 있습니다. 보험이 일해야 하는 구간이 바로 이 18년입니다.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생명표 · 출생아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건강수명 65.5세 — 건강하게 사는 시간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18.2년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137614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65.5세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0" y="3319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남자: 기대수명 80.8세 · 유병기간 16.2년  |  여자: 기대수명 86.6세 · 유병기간 20.2년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19.5%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암으로 사망할 확률 (남 24.5%)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7200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34.4%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40세 남성이 80세 전에 사망할 확률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3명 중 1명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44.2%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3대 사인(암·심장·폐렴)으로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사망할 확률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국가데이터처 「2024년 생명표」(2025.12.3)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사망의 92%는 병으로 옵니다 — 그리고 병은 「죽기 전에」 돈을 씁니다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사망자 35만 8,569명. 사고사는 8.3%뿐, 나머지는 질병입니다. 사망보험금 앞에 치료비·간병비 구간이 먼저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10대 사망원인 구성비 (2024, 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1920240"/>
          </a:xfrm>
          <a:prstGeom prst="roundRect">
            <a:avLst>
              <a:gd name="adj" fmla="val 10476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40대의 충격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사망원인 1위가 처음으로 「자살(26.0%)」이 됐습니다(암 24.5%). 50대는 암 34.5%. 경제활동 한가운데서 「갑자기」 무너지는 구조입니다.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160520"/>
            <a:ext cx="4050792" cy="1965960"/>
          </a:xfrm>
          <a:prstGeom prst="roundRect">
            <a:avLst>
              <a:gd name="adj" fmla="val 102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6634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대부분은 아파서 죽고, 그 다음이 힘들어서 죽습니다. 자살의 상당수는 돈 문제입니다. 사망보험금은 「죽고 나서」 나오지만, 병원비는 「살아 있는 동안」 나갑니다."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통계청 「2024년 사망원인통계」(2025.9.25) · 2025년 통계는 2026년 9월 말 발표 예정, 발표 즉시 갱신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암은 「죽는 병」에서 「살아서 비용을 치르는 병」이 됐습니다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2명 중 1명, 여자 3명 중 1명이 암에 걸리고, 10명 중 7명이 5년 이상 삽니다. 살아남은 사람에게 청구서가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기대수명까지 살 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걸릴 확률 (여성 38.2%)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5년 상대생존율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(2019~2023 진단자, 역대 최고)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273만 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유병자 = 국민 19명 중 1명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환자 연 28만 8,613명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암 건강보험 진료비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항암제 청구액 3.1조(약품비 1위)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암종별 5년 생존율 — 격차가 곧 리스크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38912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97280"/>
                <a:gridCol w="13258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전립선암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폐암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췌장암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살아남은 뒤의 청구서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 후 직업활동 중단 53% (국립암센터) → 소득 공백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건보 암 보장률 75% → 나머지 25% + 비급여 + 간병은 본인 몫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1인당 생애의료비 중 암 1,937만원 (5대 질환 중 최다)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1위가 「전립선암」으로 바뀜(2023) → 생보 소액암 분류 주의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보건복지부·중앙암등록본부 「2023년 국가암등록통계」(2026.1.20), 건강보험통계연보 2024(2025.11), 건보공단 생애의료비 연구(2025.12)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뇌와 심장 — 「터지는」 병보다 「막히고 좁아지는」 병이 압도적입니다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연 11만 3천 건, 심근경색 연 3만 5천 건. 그런데 뇌졸중의 76%는 뇌출혈이 아니라 뇌경색입니다.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113,098건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뇌졸중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19.8% · 재발 25.3%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뇌경색(막힘) 76%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24%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뇌혈관질환(I60~I69) 환자 117만 명(2022) vs 뇌출혈 환자 약 10만 명 → 「뇌출혈 진단비」만으로는 뇌혈관질환의 10%도 못 덮습니다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생존자 3명 중 1명은 영구 장애 (대한뇌졸중학회)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60세 이상이 환자의 약 80% — 부모 세대의 현실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34,768건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심근경색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16.1% · 남성이 2.9배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등 허혈성심장질환 (좁아짐) 66.8만 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AMI 12만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환자(66.8만)가 급성심근경색(12.1만)의 5배 이상(2020) → 「급성심근경색 진단비」만으론 심장질환 대부분이 빠집니다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혈관질환은 반드시 「좁아지는」 전조 단계를 거칩니다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「2023 심뇌혈관질환 발생통계」(2025.12.31), 건강보험심사평가원 뇌혈관질환(2022)·심장질환(2020) 진료현황, 질병관리청 출혈성뇌졸중 등록사업(2023)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슬픈 대출은 치료비·간병비 대출입니다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노후의 진짜 적은 「사망」이 아니라 「돈 드는 생존」입니다. 국민연금 평균 68만원으로 간병비 월 400만원을 감당할 수 없습니다.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12~15만원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간병인 일당 (2026, 종합병원 시세)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간병 월 300~450만원 · 사적 간병비 연 10조원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262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551만원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1인당 연간 진료비 (2024)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노인이 전체 건보 진료비의 44.9% 사용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1.85억 / 2.23억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남·여 1인당 생애의료비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52%를 65세 이후에 씁니다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123.5만 명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장기요양 인정자 (2025), 급여비 17.7조원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치매 환자 2026년 100만 명 돌파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67~68만원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국민연금 노령연금 평균 수령액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이상 가입해도 월 113만원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7532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39.7%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66세 이상 노인빈곤율 — OECD 1위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(OECD 평균 14.8%의 2.7배)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"대학병원·요양병원 지하에 뭐가 있는지 아세요? 은행 ATM과 대출 창구입니다." — 이 한 줄이 2026년 통계로 증명됩니다.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건강보험통계연보 2024(2025.11.28), 건보공단 생애의료비 연구(2025.12), 2025 노인장기요양보험 통계연보(2026.6.30), 보건복지부 치매역학조사(2025.3), 국민연금공단(2025), OECD Pensions at a Glance 2025(2025.11.27), 국회입법조사처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 — 「이자 붙는 보험」 화법이 되살아나는 계절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7·8월 연속 인상으로 기준금리 3.00%. 생보 설계사는 다시 「공시이율·환급률」을 꺼냅니다. 우리는 이렇게 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한국은행 기준금리 추이 (%)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863840" y="21214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기준금리 (2026.8.27)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89520" y="306324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3172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3.30~3.45%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611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은행 1년 정기예금 (2026.9)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411480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863840" y="4224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663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평균공시이율 (금감원 고시)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66360"/>
            <a:ext cx="4050792" cy="960120"/>
          </a:xfrm>
          <a:prstGeom prst="roundRect">
            <a:avLst>
              <a:gd name="adj" fmla="val 2095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1663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보험 공시이율 2.5%. 게다가 보험은 사업비를 뗀 나머지에만 이율이 붙습니다. 금리가 올라도 「보험으로 저축」은 예금을 못 이깁니다.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한국은행 금융통화위원회(2026.7.16 / 8.27), 은행연합회 소비자포털·5대 은행 공시(2026.9), 금감원 2026년 평균공시이율 고시(2025.12)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팔리자, 생보사가 우리 운동장으로 들어왔습니다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신계약 −13%. 생보사 신계약의 주력은 이제 「암·뇌·심장 건강보험」입니다. 경쟁 상대가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−13%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신규계약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보장성 초회보험료 −27.3%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200만 건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신계약 건수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217만 건에서 감소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+63.9%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제3보험(건강) 초회보험료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7,582억원 (손보 9,291억)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삼성생명 신계약 CSM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비중 (2025년 2분기)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일어나고 있나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IFRS17 이후 「CSM(미래이익)」이 실적 지표 → 건강보험이 종신보다 수익성 배율 2~4배 (한화 16.4배 vs 종신 4배)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GA 통합건강보험 시책률 2025.5 1,742% → 2026.9 최대 3,330%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 시그니처H(2026.1)·삼성 뇌심건강(2025.7)·교보(2024.3) 모두 뇌혈관·허혈성 특약 탑재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⚔️ 우리에게 뜻하는 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「생보는 뇌출혈만 판다」는 옛 화법은 위험합니다 — 신상품은 우리와 같은 담보를 팝니다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고객이 「이미 가진」 종신·CI·GI 증권은 여전히 옛 구조(선지급·최초1회·사망 필수)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포인트는 담보 이름이 아니라 「구조·납입면제·비갱신·보험료·관리」로 이동합니다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보험연구원 「2026년 보험산업 전망」(2025.10.21), 서울경제(2026.8.3), 파이낸셜투데이(2026.8), 한국경제(2026.4.19), 디지털타임스·녹색경제(2026), 보험저널(2025~2026), 한국금융신문(2025.6.15)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뉴스로 보는 「단기납 종신」 3년 — 136%에서 눈물까지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한 해 79만 8천 건이 팔렸습니다. 이 고객들이 지금 원금 도달 시점을 맞아 보장분석 테이블에 올라옵니다.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45720" cy="365760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310896" cy="31089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 136% · "130% 막차" 절판마케팅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79192"/>
            <a:ext cx="310896" cy="31089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87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2024.2~3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2587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금감원 현장점검 → 120% 초반으로 인하, 불완전판매 경고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209544"/>
            <a:ext cx="310896" cy="31089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1181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118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보험개혁회의: 무·저해지 해지율 「로그-선형」 원칙모형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39896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보험료 7~10%↑ · 50% 무해지형 판매 중단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310896" cy="31089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80160" y="4178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2.50% → 5년납 120% · 7년납 117%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800600"/>
            <a:ext cx="310896" cy="310896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"절판 막차 탔는데 코스피 폭등… 가입자 눈물"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330952"/>
            <a:ext cx="310896" cy="310896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80160" y="52395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377440" y="5239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"7년 지나자 계약 80%↑ 해지" · 금감원 원금도달 후 해지율 기준 마련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2011680"/>
            <a:ext cx="4325112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환급률 (10년 시점)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121.0%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117.6%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0186416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10년납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86416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113.5%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58952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2024년 초 136% → 절반 가까이 낮아진 매력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0" y="4069080"/>
            <a:ext cx="4325112" cy="2057400"/>
          </a:xfrm>
          <a:prstGeom prst="roundRect">
            <a:avLst>
              <a:gd name="adj" fmla="val 9778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지금 만나는 고객 유형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457200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2023~24년 가입 5·7년납 → 원금 도달 전, 해지하면 손실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뒤 120%」만 기억, 사망보장은 관심 없음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트렌드 「700종신(7년 100%)」 가입자도 등장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이데일리(2024.1), 머니투데이·한국경제(2024.3), 금융위 보험개혁회의(2024.11.4), 보험저널(2025.4/2026.1/2026.9), 파이낸셜뉴스(2026.5.29), 보험매일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71만 명 시대, 그러나 1년 뒤 남는 사람은 절반도 안 됩니다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「평생 관리해 드릴게요」라는 약속의 유효기간을 통계로 확인합니다. 종신보험은 특히 「관리」가 생명인 상품입니다.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38.2%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전속설계사 13월차 정착률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(손보 46.4%, 2025년)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 25회차 유지율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중 1건은 2년 안에 사라짐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불완전판매율 0.039%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손보 0.014% (2025)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 민원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최다 (금감원 2026.4)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사례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GA 이동 → 전후 3개월 내 1만 2,935건 해지 (머니투데이 2025.12)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대형 GA 설계사 408명, 2,984건 부당승환 적발 (금감원 2025.7)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 낮춰주겠다"며 13건 해지·갈아타기 유도한 설계사 제재 (2026.2)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 (2025.12.18)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"종신보험은 저축·연금상품이 아닙니다." — 저축성보다 위험보험료·사업비 차감이 커 목돈 마련에 부적합, 조기 해지 시 원금 손실, 연금전환 시에도 일반 연금보다 수령액이 적을 수 있음.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 화법의 근거를 감독당국이 공식 문서로 써 준 셈입니다.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금융감독원 「2025년 보험회사 판매채널 영업효율 및 감독방향」(2026.4.29), CEOSCORE(2026.7), 금감원 소비자경보(2025.12.18), 머니투데이(2025.12.23), 연합뉴스(2025.7.21 / 2026.2.3)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먹고살기 힘들 때 가장 먼저 깨지는 보험 — 종신보험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가계부채 2,000조 돌파, 물가 3%대, 대출금리 상승. 2026년 상반기 생보 해약환급금은 36.5조원으로 역대 최대입니다.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36.5조원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해약환급금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동기 25조 → +45%, 연간 사상 최대 전망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효력상실환급금 9,634억원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보험료를 못 내서 「실효」된 계약의 증가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22677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2,019.8조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999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가계신용 잔액 (2026년 2분기, 사상 첫 2,000조)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소비자물가 2026.8 +3.1%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헤드라인으로 보는 2026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"얇아진 지갑에 보험까지 깬다… 생보 해약환급금 급증"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깨고 주식으로 우르르… 코스피 7000에 생보사 끙끙" (2026.5)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"손해보고 도로 뺀 36조, 역대급" — 해지 많은 상품: 종신·암·연금 (2026.9)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보험계약대출 잔액 47.9조원(8개사, 2026.7) — 깨기 전에 빌리는 사람들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🪣 밑 빠진 독 비유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30만원 종신보험을 「저축」이라 믿고 5년 붓다가 생활비가 급해 깨면, 낸 돈 1,800만원 중 절반 이상이 사라집니다. 저축은 위기 때 꺼내 쓰라고 하는 건데, 종신보험은 위기 때 꺼내면 벌금을 내는 구조입니다. 이 고객이 지금 우리 앞에 앉아 있습니다.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연합뉴스(2026.9.2), 서울신문(2026.5.11), 머니투데이(2026.5.7), 서울경제(2026.8.11), 한국은행 가계신용(2026.8.19), 국가데이터처 소비자물가(2026.9.2)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정리 — 2026년 생보 컨설팅의 5가지 전제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문장을 외우면 어떤 생보 증권 앞에서도 대화의 방향이 잡힙니다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21408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사망보다 생존이 비싸다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2082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 83.7세, 유병기간 18년, 간병비 월 400만원. 보험이 일할 곳은 「죽은 뒤」가 아니라 「아픈 동안」입니다.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44368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62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담보는 통계로 반박된다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8437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뇌졸중의 76%는 뇌경색, 심장질환 대부분은 협심증. 뇌출혈·급성심근경색만 보장하는 옛 증권은 확률의 절반 이상을 비웁니다.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85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보험은 예금을 못 이긴다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66674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공시이율 2.5%, 사업비 차감 후 적용. 「이자 붙는 보험」 화법엔 숫자로 답합니다.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59028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07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무기가 바뀌었다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48970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신상품은 우리와 같은 건강보험. 고객이 「이미 가진」 종신·CI·GI의 옛 구조를 짚고, 새 경쟁은 구조·납면·비갱신·관리로 승부합니다.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413248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3309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리스크가 통계로 증명됐다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53126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정착률 38%, 25회차 유지율 74%, 종신보험 민원 1위, 해약 36.5조. 「평생 관리」 약속의 유효기간은 짧습니다.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보이는 생명보험 읽기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1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지도 — 크게 두 갈래, 그 아래 열 갈래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상품명을 이 지도 위에 올려놓는 것이 컨설팅의 첫걸음입니다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874520"/>
            <a:ext cx="2651760" cy="640080"/>
          </a:xfrm>
          <a:prstGeom prst="roundRect">
            <a:avLst>
              <a:gd name="adj" fmla="val 3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54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저축성보험  ·  「돈을 불리는」 목적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63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보장성보험  ·  「위험을 막는」 목적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연금저축보험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세액공제형 연금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719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연금보험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비과세형 연금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816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98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목돈·교육자금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913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변액연금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연금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10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펀드+자유입출금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36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사망보장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60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34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415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한정 사망보장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458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531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CI·GI 종신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13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중대질병 시 선지급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628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변액종신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10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종신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52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725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07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 (신흥 주력)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52852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상품명에 붙는 「옵션」 단어들 — 금리연동형 / 변액 / 유니버셜 / 무·저해지 / 단기납 / 체증형 / 달러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6052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옵션이 붙을수록 보험료·비용 구조가 복잡해집니다. 「유니버셜은 기능의 일부일 뿐」, 「보증비용 부과형은 보험료 ↑」 — 이 두 줄만 기억하세요.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해부: 「무배당 통합 변액 유니버셜 CI 종신보험」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외계어 같은 이름도 단어별로 쪼개면 구조가 보입니다. 이름 = 설계도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배당금을 주지 않는 상품. 현재 생·손보 거의 모든 상품이 무배당.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증권에 사망·진단·수술·입원 담보를 「주계약+특약」으로 묶음.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일부를 펀드(특별계정)에 투자. 수익률에 따라 보험금·환급금 변동.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추가납입·중도인출·납입중지 기능. 「입출금 통장」처럼 들리지만 아님.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지급(선지급).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지급, 보험기간은 피보험자가 죽을 때까지(종신).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고객에게: "고객님 상품 이름에 단어가 여섯 개나 있죠? 단어 하나마다 비용이 하나씩 붙어 있다고 보시면 됩니다."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뼈대 — 주계약 하나에 특약이 매달린 구조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원하지 않아도 「사망」 주계약을 반드시 가져가야 합니다. 그래서 비쌉니다.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통합종신보험의 구조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주계약: 사망보험금 (필수, 보험료의 대부분)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1억 · 종신 · 20년납 → 월 25~30만원대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재해사망 특약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50592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 특약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78224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78224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 특약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특약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50592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50592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입원·수술 특약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78224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78224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특약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특약은 대부분 5년·10년 「갱신형」 → 나이 들수록 보험료 상승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주계약이 해지되면 특약도 함께 소멸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사망담보가 필요 없는 고객에게는 구조적으로 비쌈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한 장을 쪼개 보면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위험보험료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사업비(부가보험료)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비율은 상품·연령별로 다른 개념도(실제 비율 아님)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611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영업보험료 = 순보험료(위험+저축) + 부가보험료(사업비)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7~10년 사업비가 집중 차감 → 초기 해지환급금이 납입액보다 훨씬 적은 이유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「저축」이라 불러도 저축보험료 부분만 적립. 100% 저축이 아닙니다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무·저해지형은 이 저축보험료를 깎아 보험료를 낮춘 대신, 중도 해지 시 환급금 0~50%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이율 3형제 — 공시이율 · 예정이율 · 최저보증이율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설계사의 「이자」 이야기는 대부분 이 세 단어에서 나옵니다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예금금리처럼 시중금리에 연동해 매월 바뀌는 「적립 이자율」. 환급금이 이 이율로 불어납니다. 금리 하락기에는 함께 떨어집니다.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예정이율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계산할 때 회사가 「이 정도는 굴릴 수 있다」고 가정한 이율. 낮아지면 같은 보장의 보험료가 오릅니다.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최저보증이율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공시이율이 아무리 떨어져도 최소한 보장하는 이율. 요즘 상품은 대개 0.5~1%대(가입 후 기간별로 하락).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1189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72의 법칙으로 감 잡기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 1.5%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48년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 초저금리 당시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29년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금감원 고시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정기예금 3.4%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21년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 은행 (참고)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029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2배까지 걸리는 해 = 72 ÷ 이율(%).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 공시이율(2.5%)은 예금(3.4%)보다 낮고, 그마저 사업비를 뗀 뒤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「보증」이라는 단어에 붙는 가격표 — 보증비용 부과형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 안에 또 하나의 유료 보험이 들어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최저사망보험금 보증비용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나빠도 사망보험금을 지켜주는 대가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0.1% / 매년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최저해지환급금 보증비용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하한선을 지켜주는 대가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9184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약 3.5~4.0% / 매월 (납입기간 중)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29768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최저연금적립액 보증비용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 재원 하한선을 지켜주는 대가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434340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0" y="434340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0.15~0.65% / 매년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0" y="1965960"/>
            <a:ext cx="3886200" cy="3017520"/>
          </a:xfrm>
          <a:prstGeom prst="roundRect">
            <a:avLst>
              <a:gd name="adj" fmla="val 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🍰 케이크 위의 보험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6517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변액상품은 펀드가 나빠지면 보험금도 줄 수 있어서, 「최소한 이만큼은 드립니다」라는 보증을 붙입니다. 그런데 그 보증은 공짜가 아닙니다.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보험료의 3.5~4%가 「보증료」로 빠지면, 같은 보장의 미보증 상품보다 보험료가 비싸지고 환급금은 그만큼 덜 쌓입니다.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증권에 「보증비용 부과형」이 보이면: "고객님, 이 상품은 매달 보험료의 약 4%를 보증료로 내고 계세요. 그 돈이면 암·뇌·심장 진단비 특약 하나가 들어갑니다."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= 입출금 통장? 아니요, 「이자 붙는 현금서비스」입니다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 막힌 화법 세 가지와, 그 뒤에 숨은 조건 세 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"보험료를 더 내면 환급금이 더 쌓여요"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1031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일정 배수 이내 등 한도 존재(상품별) · 추가납입에도 계약관리비용 부과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➖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중도인출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"급전 필요하면 대출 없이 빼 쓰세요"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2918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해지환급금의 50% 이내, 연 12회 등 제한 · 인출하면 적립금↓ 사망보험금·환급금↓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572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⏸️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납입중지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"형편 어려우면 잠시 멈추셔도 돼요"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48056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의무납입기간(보통 2~10년) 이후만 가능 · 멈춘 동안 「월대체보험료」가 적립금에서 빠져나감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월대체보험료 = 주계약 위험보험료 + 특약보험료 + 사업비. 납입을 멈춰도 「보험을 유지하는 비용」은 매달 적립금에서 계속 빠집니다. 적립금이 바닥나면 계약은 실효됩니다.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변액보험 — 내 보험료의 85~95%만 펀드로 갑니다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다르니 민원도 많습니다. 달러종신은 환율 리스크까지 얹힙니다.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납입보험료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78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17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사업비·위험보험료 차감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-5~15%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64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특별계정 투입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85~95%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50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운용(주식·채권)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±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436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보험금·환급금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민원이 많을까?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「펀드 수익률 = 내 수익률」이 아님. 투입 전 차감분을 먼저 회복해야 원금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변경·리밸런싱은 계약자가 직접 해야 하는데, 대부분 가입 후 한 번도 안 함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설계사가 떠나면 관리 공백. 10년 뒤 수익률표를 보고 그제야 놀람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달러종신보험은?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보험료도 달러, 보험금도 달러. 환율이 오르면 매달 내는 원화 보험료가 늘고, 내릴 때 보험금을 받으면 원화 가치가 줄어듭니다. 「환테크」로 팔렸지만, 고객이 통제할 수 없는 변수를 보험에 얹은 셈입니다. Part 4의 실패사례 고객이 바로 「유니버셜 달러 종신」 가입자입니다.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변천사 — 금리와 규제가 만든 8세대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「언제」 가입했는지 알면 「무엇」에 혹했는지 보입니다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60704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274320" cy="274320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1세대 · 1998~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종신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48" y="2926080"/>
            <a:ext cx="274320" cy="27432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38528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011680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· 2002~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 종신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31336" y="2926080"/>
            <a:ext cx="274320" cy="27432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01568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· 2005~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401568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종신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21224" y="2926080"/>
            <a:ext cx="274320" cy="2743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91456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4세대 · 2010~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791456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전환형·CI/GI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11112" y="292608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08192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8134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5세대 · 2015~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81344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최저보증·체증형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01000" y="292608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71232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6세대 · 2017~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종신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90888" y="2926080"/>
            <a:ext cx="274320" cy="27432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68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961120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7세대 · 2021~24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780776" y="2926080"/>
            <a:ext cx="274320" cy="27432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77856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351008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8세대 · 2025~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351008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결합·유동화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종신, 확정 사망보험금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8424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예정이율, 수익률 따라 보험금↑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입출금, 연금전환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764024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저축성 전환, 선지급형 확산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153912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 이슈 판매, 사망보험금 체증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없애고 보험료↓, 납입 후 고환급률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93368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5·7년납 + 10년 시점 120~130% 환급률 경쟁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2357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 주력화, 사망보험금 생전 활용 제도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증권의 「가입일」을 보세요. 2021~2024년 가입 = 단기납·환급률 화법 / 2015~2020년 = 무·저해지·최저보증 화법 / 2005~2014년 = 유니버셜·연금전환 화법일 가능성이 큽니다.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「10년 뒤 120%」의 착시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환급률은 「이자율」이 아닙니다. 연 수익률로 바꿔 보면 다른 그림이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예시: 5년납, 월 100만원, 10년 시점 환급률 120%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납입액 (60개월)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10년 시점 해지환급금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7,200만원 (120%)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+1,200만원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환산 수익률(내부수익률)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5년납 완료 직후 환급률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100% 안팎 (상품별 상이)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중(1~4년차) 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무해지형 0원 · 저해지형 50% 수준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" y="5257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2025년 이후 해지율 가정 강화로 신규 상품 환급률은 더 낮아진 추세. 강의 시 최신 상품설명서 수치로 교체.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🍯 꿀단지 비유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꿀단지에 5년 동안 꿀을 붓고, 뚜껑을 5년 더 닫아 두면 20% 더 늘어난다고 합니다.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① 10년 안에 뚜껑을 열면 꿀이 절반 이하로 줄고 ② 10년 뒤 늘어난 20%는 연 2%대 이자와 같으며 ③ 그 사이 정말 필요한 「아플 때 꺼내 쓸 꿀(진단비·치료비)」은 단지 안에 없습니다.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사망보험금이 본질이고, 환급률은 「해지했을 때」 이야기입니다. 해지하면 보장은 사라집니다.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"나중에 연금으로 쓰세요" — 연금전환의 진실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말은 아닙니다. 그러나 「무엇을 잃는지」는 말하지 않습니다.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해지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해지환급금이 연금 재원이 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소멸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주계약과 연계 특약도 함께 소멸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연금액 계산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보험료의 연금보험보다 적을 가능성 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연금보험보다 적을까?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위험보험료·사업비가 커서 납입액 전부가 연금에 투자되지 않음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시점 해지환급금 = 납입액의 70~100% 수준인 경우가 많음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후엔 「종신연금」이 아닌 확정기간형만 가능한 상품도 있음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🆕 2025~ 사망보험금 「생전 활용」 제도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금융당국이 종신보험 사망보험금을 생전에 연금·요양 서비스로 바꿔 쓰는 「유동화」 제도를 도입했습니다. 그러나 이것 역시 「사망보험금을 깎아 쓰는」 구조입니다. 고객에게는 "결국 사망보장을 헐어서 생존자금을 만드는 거예요. 처음부터 생존보장을 따로 준비하는 게 맞습니다"라고 설명하세요.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CI보험 해부 — 「중대한」이라는 두 글자의 무게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주는 종신보험. 단, 나열된 것 중 가장 먼저 걸린 하나만, 최초 1회.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94944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 8 + 중대한 수술 5 = 13개 (상품별 상이)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신부전증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180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7180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간질환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만성폐질환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중증 재생불량성빈혈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7180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7180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루게릭병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관상동맥우회술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대동맥 인조혈관치환술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7180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심장판막수술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장기이식수술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" y="4919472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194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화상·부식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532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13개를 「전부 각각」 보장? 아닙니다. 가장 먼저 진단받는 하나에 대해 최초 1회만 지급, 이후 사망보험금은 선지급분만큼 줄어듭니다.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2011680"/>
            <a:ext cx="3886200" cy="4160520"/>
          </a:xfrm>
          <a:prstGeom prst="roundRect">
            <a:avLst>
              <a:gd name="adj" fmla="val 517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4672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 비유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274320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다트판 정중앙(불스아이)에 맞춰야 보험금이 나옵니다.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걸려도 「침윤파괴적 증식」이어야 하고, 뇌졸중이 와도 「영구적 신경학적 결손 25% 이상」이어야 하고, 심근경색이 와도 「특정 효소 수치+심전도 변화+비가역적 괴사」가 동시에 확인돼야 합니다.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병에 걸려도 「중대한」 문턱을 넘느냐로 0원과 수천만원이 갈립니다.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 · 중대한 뇌졸중 · 중대한 급성심근경색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문장을 그대로 읽어 드리는 것이 가장 강력한 화법입니다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🎗️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악성종양세포가 존재하고 주위 조직으로 「침윤파괴적 증식」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악성흑색종 중 침범 1.5mm 이하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초기 전립선암, 초기 갑상선암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HIV 관련 악성종양, 흑색종 외 피부암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생보 일반 암특약도 생식기암은 소액암(10~20%)인 경우 다수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뇌경색·뇌출혈 진단명만으로는 부족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「영구적인 신경학적 결손」이 남아야 함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 기본동작에 25% 이상 장해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후 일정 기간(예: 60일) 지속 확인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후유장해가 남을 만큼 심각해야 지급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❤️‍🩹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전형적 흉통 + 심전도의 새로운 변화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심근효소(CK-MB) 상승 동시 확인 — 트로포닌 제외 약관 다수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심근조직의 「비가역적 괴사」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급성기에 검사를 놓치면 확진돼도 부지급 가능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협심증·스텐트 시술은 해당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전통적 CI 약관은 「CK-MB 포함 심근효소 상승(단, 트로포닌 제외)」 문구를 씁니다. 회사·가입시점별 약관이 다르니 해당 증권 약관을 반드시 확인하세요.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「최초 1회한」 vs 「각각 지급」 — 한 끗 차이, 천지 차이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 주계약은 18개 담보 중 하나를 받으면 나머지 17개가 사라집니다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 주계약 (선지급형)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651760"/>
            <a:ext cx="566928" cy="5669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888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진단으로 1회 수령 → 이후 뇌졸중·심근경색이 와도 주계약에서는 추가 지급 없음. 사망보험금도 선지급분만큼 감소.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손보(메리츠) 통합건강보험 (특약 각각)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0664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3836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38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5156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94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0" y="342900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3429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73836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0" y="420624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8388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6112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3836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156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37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진단비 → 뇌혈관 진단비 → 허혈성 진단비 → 수술비… 특약마다 독립 지급. 하나를 받아도 나머지는 그대로 살아 있음.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GI보험 vs 메리츠 — 같은 사람이 같은 병에 걸리면 얼마를 받나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45세 남 · GI 종신 주계약 1억(선지급 80%) vs 메리츠 통합건강(암·뇌혈관·허혈성 각 3천 + 수술비) — 예시 시나리오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28346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 종신보험 (주계약 1억)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 (예시 설계)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47세  협심증 → 스텐트 시술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(급성심근경색이 아니므로 GI 해당 없음)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허혈성심장질환 진단비 3,000만 + 수술비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다른 담보 그대로 유지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50세  뇌경색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(뇌출혈만 해당, 뇌경색은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 진단비 3,000만 + 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뇌졸중 진단 → 이후 보험료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55세  위암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선지급 (최초 1회한)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1억 → 2,000만으로 감소, 이후 GI 추가 지급 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진단비 3,000만 + 암 수술비 + 입원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담보(뇌·심장·수술)도 계속 살아 있음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번 아픈 동안 받은 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(한 번, 그것도 사망보험금 당겨 쓴 것)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9,000만 + 수술·입원 +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보험료 (45세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30만원대 (종신보다 약 40% 비쌈)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10만원대 (사망담보 제외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286000"/>
          </a:xfrm>
          <a:prstGeom prst="roundRect">
            <a:avLst>
              <a:gd name="adj" fmla="val 88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협심증으로 스텐트 넣으면 이 보험은 0원이에요. 뇌경색도 0원. 암에 걸리면 8천만원 나오지만, 그건 고객님 사망보험금을 미리 당겨 쓰는 거라 유족은 2천만원만 받습니다."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4389120"/>
            <a:ext cx="3227832" cy="960120"/>
          </a:xfrm>
          <a:prstGeom prst="roundRect">
            <a:avLst>
              <a:gd name="adj" fmla="val 20952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34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GI가 CI보다 나아진 점: 「중대한」 대신 진단코드로 지급, 뇌출혈은 진단만으로 OK.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남은 것: 뇌출혈·급성심근경색만, 최초 1회한, 선지급 후 사망보험금 감소.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GI는 「나열된 병 중 첫 번째 하나」에만, 「내 사망보험금을 미리 당겨」 줍니다. 메리츠는 「걸릴 때마다, 각각, 사망보험금과 별개로」 줍니다. 세 번 아픈 사람에게 어느 쪽이 보험일까요?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진단비·보험료는 이해를 돕기 위한 예시이며 실제 지급액·보험료는 가입 설계와 약관에 따릅니다. 강의 전 당사 견적으로 갱신하세요.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「재해」와 「상해」는 같은 말이 아닙니다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재해사망 1억 = 「재해분류표」에 해당하는 사고만. 손보 상해 = 급격·우연·외래의 사고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「재해」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별표 「재해분류표」에 열거된 우발적 외래 사고만 인정 (S·T·V·W·X·Y 코드 기반)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예: 질병·체질적 요인이 있는 사람의 경미한 외부 요인, 과로·격렬한 운동으로 인한 사고, 식중독 일부 등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여부를 두고 분쟁이 잦음 — 「재해」인지 「질병」인지 의사 소견에 좌우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손보의 「상해」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「급격하고 우연한 외래의 사고」로 신체에 입은 상해 — 열거식이 아닌 포괄 정의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등산 중 넘어짐, 운동 중 인대 파열, 넘어져 골절 등 일상 사고 폭넓게 인정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 후유장해 3~100% 지급 등 생존 보장이 촘촘함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🥾 사례: 마라톤 중 쓰러져 골절 — 생보는 「격렬한 운동」 제외 조항으로 다툼 소지, 손보는 급격·우연·외래 사고로 상해 인정 가능. 같은 사고, 다른 결과.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말고 이 카드부터 — 종신보험 유지 옵션 4가지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손해를 최소화하는 FP가 신뢰를 얻습니다. 「무조건 해지」는 하수입니다.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감액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보험가입금액을 줄여 보험료를 낮춤. 줄인 부분은 해지 처리(해지환급금 지급).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감액완납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이상 납입하지 않고, 지금까지 쌓인 환급금으로 살 수 있는 만큼 보장을 줄여 유지.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연장정기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보장금액은 그대로 두고, 환급금으로 유지 가능한 「기간」까지만 정기보험처럼 유지.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자동대출납입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범위에서 대출로 보험료 대신 납입. 이자 발생, 환급금 소진 시 실효.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판단 기준: 사망보장이 「아직 필요한 시기(자녀 독립 전)」면 감액·연장정기로 유지하고 절약분을 생존보장에, 필요 없는 시기면 감액완납으로 부담 0원 만들기.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내고, 누구 목숨에, 누가 받나 — 계약자·피보험자·수익자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이상 고객이 「상속·증여 때문에 들었다」고 하면 반드시 이 세 칸을 확인하세요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 · 피보험자 = 부모 · 수익자 = 자녀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688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사망보험금이 상속재산에 포함 → 상속세 과세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25856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5856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자녀(소득 有) · 피보험자 = 부모 · 수익자 = 자녀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66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자기 돈으로 낸 보험 → 원칙적으로 상속세 비과세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335584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3558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절세 구조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97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부모가 대신 납입 후 자녀 명의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663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납입자가 부모면 증여로 봄 → 과세 가능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45312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0" y="445312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👶 15세 미만은 사망을 담보로 하는 보험 가입 자체가 무효(상법 제732조). 어린 자녀를 피보험자로 한 종신은 없습니다.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🏛️ 상속세는 2026년 개편 논의(유산취득세·공제 확대)가 진행 중입니다. 세금은 「최신 세법 + 세무사 확인」을 전제로 안내하세요.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vs 메리츠화재 — 같은 병, 다른 보험금 · 만기까지 사망보장 vs 생존보장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보험의 지도 — 4개의 방, 생보가 특화된 방은 하나뿐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「누가 받나(나·가족 / 남·타인)」 × 「언제 받나(살아서 / 사망 시)」로 나누면 보험이 한눈에 보입니다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나 / 가족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남 / 타인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2316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살아있을 때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1168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1460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4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진단비 · 실손 · 수술비 · 입원일당 · 간병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보장의 핵심. 생보·손보 모두 팔지만 손보는 특약 각각 지급·비갱신 100세·넓은 담보(뇌혈관·허혈성)가 강점. 생보 종신·CI·GI는 「사망보험금 선지급」 구조.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51460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 · 운전자 · 자동차 · 화재배상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남에게 끼친 손해를 대신 물어주는 보험. 오직 손해보험만 가능. 생보 증권에는 이 방이 통째로 비어 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 (종신·정기)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생명보험의 특화 영역. 그러나 「필요한 기간·필요한 금액」만 정기보험으로 준비하면 손보에서도 훨씬 싸게 가능. 종신은 이 한 방을 위해 가장 비싼 값을 치르는 상품.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4343400"/>
            <a:ext cx="365760" cy="365760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존재하지 않음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죽어서 남이 받는 보험은 없습니다. (자동차·배상책임의 대인 사망은 「살아있을 때 내 책임」 영역)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고객 워크: "고객님이 필요하다고 느끼는 방에 동그라미 쳐 주세요." — 대부분 1번과 2번에 그립니다. 생보 증권은 3번 방만 채우고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비교 — 담보 이름이 같아도 「설계도」가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신상품이 뇌혈관·허혈성 특약을 팔기 시작했기에, 이제 승부는 담보명이 아니라 구조입니다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종신·CI·GI (통합형)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사망담보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주계약 필수 — 원치 않아도 가져가야 함 (보험료의 대부분)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— 필요한 기간·금액만 정기형으로, 또는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지급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선지급, 나열 질병 중 최초 1회한, 이후 사망보험금 감소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특약별 각각 지급 — 암 받아도 뇌·심장·수술비 그대로 살아있음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 범위 (기존 증권)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뇌출혈(I60~62) · 급성심근경색(I21~22) 중심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뇌혈관질환(I60~69) · 허혈성심장질환(I20~25)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소액암(유방·전립선·자궁·방광 등) 10~20% 지급 상품 다수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유사암(갑상선·기타피부·경계성·제자리) 외 100%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5·10년 갱신형 다수 → 나이 들수록 보험료 상승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비갱신 100세 만기 선택 가능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납입면제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암·뇌출혈·급성심근경색·80% 장해 등 3~4개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암·뇌졸중·급성심근경색·말기질환·50%↑ 후유장해 등 광범위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환급금 매우 낮음 (무·저해지형은 0~50%)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보장성이므로 환급 기대 없음 — 대신 보험료가 낮음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회사·상품·가입시점별로 다릅니다. 고객 증권의 「약관·상품설명서」로 확인 후 안내하세요. 생보 신형 건강보험(2024~2026 출시)은 뇌혈관·허혈성 특약과 넓은 납입면제를 탑재한 경우가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암에 걸려도, 가입한 회사에 따라 보험금이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발생 1위가 전립선암(2023)이 된 시대에, 전립선암을 「소액암 20%」로 분류하는 증권이라면?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(소액암 구분 상품)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4846320" cy="3200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소액암 (유방·자궁·전립선·방광 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969264" cy="3200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83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(갑상선·기타피부·경계성·제자리)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45312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83664" y="4453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 진단 시 300~600만원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 (유방·자궁·전립선·방광 포함)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2898648"/>
            <a:ext cx="4846320" cy="32004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75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4종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37960" y="367588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유방암·전립선암 진단 시 3,000만원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감액기간 1년(50%) 이후 전액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2588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근거: 2023년 남성 암 1위 전립선암, 여성 암 1위 유방암, 유병자 상위 갑상선·위·유방·대장. 「가장 흔한 암」이 「소액암」이면 진단비는 반토막의 반토막입니다.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2023년 국가암등록통계(2026.1.20), 생보 각사 암보험 상품 안내(2025~2026, 소액암 분류 존재), 손보 유사암 20% 이하 지급 관행(2022.10 금융당국 권고 이후)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뇌: 터진다 &lt;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「뇌출혈 진단비」는 뇌혈관질환의 가장 좁은 문입니다. 뇌졸중의 76%가 그 문 밖에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94560" cy="86868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864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(I60~I63/I66)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 + 막힌다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08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100%의 뇌졸중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108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포함 — 뇌졸중 발생의 76%가 여기서 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0058400" cy="86868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80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좁아진다·기타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117만 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148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뇌혈관질환 진단비 특약 범위 (2022 환자 수 기준)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"혈관은 갑자기 터지기 전에 반드시 막히거나 좁아집니다. 막히거나 좁아지는 것과 갑자기 터지는 것, 어느 쪽이 많을까요?"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2024~2026 생보 신형 건강보험은 뇌혈관질환 특약을 팝니다. 이 슬라이드는 「고객이 이미 가진 종신·CI·GI·구형 특약」에 적용하세요.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출혈성뇌졸중 등록사업(2023, 허혈 76.3% : 출혈 23.7%), 심평원 뇌혈관질환 진료현황(2022, 117만 명)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심장: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12만 명 vs 협심증 67만 명. 「급성심근경색 진단비」만 있는 증권은 심장질환의 5분의 4를 비워 둡니다.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43200" cy="100584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21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막힌다 · 심근 괴사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12.1만 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214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01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좁아진다 (협심증 I20 포함)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3101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66.8만 명 + 12.1만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3101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허혈성심장질환 진단비 특약 범위 (2020 환자 수)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스텐트 시술의 함정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협심증으로 응급 스텐트를 넣어도 CK-MB가 정상이면 CI 「중대한 급성심근경색」 요건 미달 — 실제 분쟁 사례가 있습니다.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90288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추세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+6.0%. 둘 다 늘지만 「좁아진」 환자가 압도적 다수입니다.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증권은 심장이 「완전히 막혀서 근육이 죽어야」 나옵니다. 병원에서 협심증이라고 하면 0원이에요."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심평원 심장질환 진료현황(2020 기준 협심증 668,130명 · 급성심근경색 121,169명), 심평원(2024 발표) 5년 증가율, 한국보험신문 「중대한 문턱 높은 CI보험」(2026)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보장이 더 싸다 — 보험료로 보는 역설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「범위가 넓으면 비쌀 것」이라는 직관은 틀립니다. 특약 구조와 사망담보 유무가 가격을 결정합니다.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특약 월 보험료 예시 (동일 조건 견적 비교 예시)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6217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담보 (가입금액)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A사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메리츠화재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뇌혈관(생보: 뇌출혈)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50,100원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39,630원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허혈성(생보: 급성심근경색)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52,110원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2377440"/>
          </a:xfrm>
          <a:prstGeom prst="roundRect">
            <a:avLst>
              <a:gd name="adj" fmla="val 846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넓은데 더 쌀까?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주계약(사망) 위에 얹는 특약 → 사업비 구조가 무거움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손보는 손해율 데이터 기반 특약 가격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사망담보를 빼면 총 보험료는 더 벌어짐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617720"/>
            <a:ext cx="11091672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자체도 — 40세 남 · 사망 1억 · 20년납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(생보)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KB라이프 상품안내장 예시(2025~26)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3434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 60세 만기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34340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 정기형 예시 — 최신 견적으로 갱신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복층설계 (60세 1억 + 80세 5천)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설계 예시 — 최신 견적으로 갱신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생보 A사 vs 메리츠 특약 견적 비교 예시, KB라이프 종신보험 상품안내장(40세 남 1억 20년납 월 26.2만원). 강의 전 당사 견적 시스템으로 최신 보험료를 넣어 사용하세요.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사망보장은 「평생」이 아니라 「책임기간」만큼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가장이 죽으면 곤란한 시기는 정해져 있습니다. 자녀가 독립하는 날까지. 그 뒤의 사망보험금은 상속이지 보장이 아닙니다.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34세 · 배우자 27세 · 첫째 1세 · 둘째 출생 예정 (예시 가정)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880360"/>
            <a:ext cx="10515600" cy="73152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770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대학입학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21808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18304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대학입학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97112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결혼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383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348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결혼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 ≈ 35년 (막내 독립까지)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7033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이후엔 상속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1억. 70세 이후 1억은 「보장」이 아니라 「상속」. 40년 뒤 1억의 가치는?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7200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1억 (60세)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책임기간에 집중. 종신 대비 1/10 수준 보험료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32104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(60세 1억 + 80세 5천)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책임기간엔 두껍게, 이후엔 얇게. 절약분은 생존보장으로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— 「아프면 보험료를 안 내도 되는」 조건의 넓이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더 이상 내지 않고도 보장이 유지되는 납입면제. 어떤 병까지 인정하느냐가 회사마다 다릅니다.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(대표 사례)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(소액암·유사암 제외)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80% 이상 후유장해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안팎. 뇌경색·협심증·말기질환·질병 후유장해는 계속 보험료를 내야 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통합건강보험 (예시)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768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(유사암 제외)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0684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65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(뇌경색 포함)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768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상해·질병 50%↑ 후유장해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4768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폐질환·간경화·신부전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1656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양성뇌종양·중증 재생불량성빈혈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3796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476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희귀난치성 7대 질환·만성당뇨합병증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0684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165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(상품별) 3대질병 진단 시 납면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11대 안팎(엠바스켓·더좋은엠바 기준). 「50% 후유장해」와 「뇌졸중」 포함이 결정적 차이.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"보험료 더 이상 안 내는 납입면제라고 아세요? 고객님 증권은 뇌경색으로 쓰러져도 보험료는 계속 내셔야 해요."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"보험은 병원 가는 순서대로 가입하는 것입니다"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→ 간병 → 회복 → (사망). 生에서 死로 가는 길목마다 손보의 담보가 서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즉시 목돈. 소득 공백 대비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14016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596896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🔪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551176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51176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질병·상해 수술비 (1~5종)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51176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횟수 제한 없이 수술마다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33088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62272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16552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입원일당·간병인 사용일당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416552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 15~20만원 경쟁 (2026)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98464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27648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🚶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281928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통원·재활·치료비 특약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81928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등 신담보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0144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193024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🚗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147304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일상생활배상·운전자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147304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손보만 — 남에게 끼친 손해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29216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사망담보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책임기간만큼 합리적으로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68680" y="51663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"사망은 치료·입원·수술·간병을 받지 않아서 생깁니다. 살아서 병원 가는 모든 단계에서 돈이 나오는 보험이 손해보험이고, 마지막 단계에서만 나오는 보험이 종신보험입니다. 어느 쪽을 먼저 채워야 할까요?"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「만기」라는 같은 단어, 완전히 다른 두 그림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만기는 「사망」입니다. 메리츠 The건강한의 만기는 「100세」이고, 그 사이 매년 치료비 한도가 새로 열립니다.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03120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1억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1051560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가입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0" y="3017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018520" y="272491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× 1회 (죽어야 나옴)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56년 동안 이 보험에서 나오는 치료비: 0원 (선지급형은 나열 질병 중 첫 번째 1회에 한해 사망보험금을 당겨 씀)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89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069080"/>
            <a:ext cx="3637712" cy="314554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363771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The건강한 · 통합치료비 5종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3억 4,000만원 한도 × 매년 새로 (최대 56회)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13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982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882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66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651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5355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19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04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884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072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957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41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7257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610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4943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786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629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1473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0316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159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8002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6845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5688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34532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3375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218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1061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9904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8748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7591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66434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277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4120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2963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1807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0650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9493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8336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7179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6022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486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370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2552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139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023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908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67925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8676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0561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4454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329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214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098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99827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1867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2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548640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72세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9966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만기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 = 보험연도 하나. 암 1억 · 암Ⅱ(비급여) 7천 · 특정순환계 1억 · 주요손상 3천 · 암전후·양성신생물 4천 — 담보별 연간 한도가 해마다 리셋됩니다. 진단비는 최초 1회, 통합치료비는 치료받을 때마다.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통합치료비란 — 진단금과 별개로, 「실제 받은 치료」 항목마다 지급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→ 주요치료 → 수술 → 재활, 치료 단계마다 정해진 금액이 나옵니다. 진단비를 이미 받았어도 따로.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39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0208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검사·수술·항암약물·방사선·비급여 표적/면역/로봇/양성자·통증완화·재활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642616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27157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통합치료비Ⅱ (비급여·상급종합)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7157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7,000만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암수술 750만/회, 표적·면역·양성자 각 2,000만/연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19272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3924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3741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뇌출혈·뇌경색·심근경색·협심증·부정맥·심부전 등 52개 질병군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995928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069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특정순환계질환(주요손상및질환)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69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4050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고혈압·판막·경막·두개내손상 등 40개 질병군 — 위와 겹치지 않게 보완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474573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암전후관련 특정질환·양성신생물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47457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전후의 검사·마취·중환자실·양성종양 수술(1~5종) 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7315200" cy="777240"/>
          </a:xfrm>
          <a:prstGeom prst="roundRect">
            <a:avLst>
              <a:gd name="adj" fmla="val 2588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3949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합계 3억 4,000만원 — 해마다 새로 적용, 담보별 한도는 각각. 통합치료비 5종 월 보험료 합계 82,163원(위 설계 기준)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38160" y="1965960"/>
            <a:ext cx="3502152" cy="4206240"/>
          </a:xfrm>
          <a:prstGeom prst="roundRect">
            <a:avLst>
              <a:gd name="adj" fmla="val 5744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지급 규칙 4가지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251460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검사·주요치료: 항목별 연간 1회한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수술: 수술할 때마다 (1회당)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재활: 입원·외래 1일 1회 (연 15~20회)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한도는 보험연도마다 새로 시작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후 1년 미만은 50% 감액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진단비(최초 1회)와 별개로 지급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 1억 — 무엇을 받으면 얼마가 나오나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총 지급한도 1억원. 항목별 금액은 계약 1년 경과 후 기준.</a:t>
            </a:r>
            <a:endParaRPr lang="en-US" sz="14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840480"/>
                <a:gridCol w="128016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통합치료항목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지급횟수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지급금액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내시경·MRI·PET·특정단일유전자검사 / 초음파·CT / 특정생검 조직병리 / 특정 NGS 유전자패널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 / 10만 / 20만 / 100만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암(유사암 제외) 수술 / 유사암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 1회당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항암방사선치료 / 항암약물치료 / 항암세기조절방사선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1,000만 (기타피부암·갑상선암 200만)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다빈치로봇 수술 / 특정암 로봇수술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표적항암약물허가치료 / 특정면역항암약물허가치료 / 항암양성자방사선치료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통증완화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특정통증완화치료(급여)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입원·외래 암 재활치료(급여)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1일 1회, 연 20회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총 지급액 한도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321040" y="1965960"/>
            <a:ext cx="3319272" cy="420624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5496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 암 통합치료비Ⅱ (비급여) 7,000만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2514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 수술 750만 / 수술 1회당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다빈치로봇 750만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표적·면역·양성자 각 2,000만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7,000만 (1년 미만 3,500만)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4572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 합치면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4937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1종: 기본형 3,000만 + Ⅱ 2,000만 + 10년갱신 표적항암약물허가치료비 1억 = 연 1억 5,000만원대. 항암을 해마다 계속하면 해마다 다시.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53p 암 통합치료비(기본형)·43p 암 통합치료비Ⅱ 특약 안내사항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① 폐암 — 진단부터 표적항암까지 4억 6,155만원, 그리고 이듬해 또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흉강경 폐절제 → 표적·면역(키트루다) 항암 → 상급종합 1인실 입원. 어느 담보에서 얼마가 나오는지.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1940357" cy="276149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940357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검사·진단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흉부 CT · PET · 조직검사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7,035만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통합암진단비 5,000 + 암진단및치료비Ⅱ 2,000 + 암 통합치료비 검사 35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182112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64992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47872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47872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수술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흉강경 폐엽절제술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4,140만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암수술비 1,000 + 수술비Ⅱ 5종 1,000 + 6종 1,000 + 암 통합치료비 수술 1,000 + 상급종합 질병수술비 100 …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98464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64224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4224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항암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→ 키트루다(면역·비급여)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3억 4,760만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364224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10년갱신 표적항암약물허가치료비 1억 + 암 통합치료비 표적 3,000·면역 3,000 + 암Ⅱ 표적 2,000·면역 2,000 + 26종 항암약물치료비 4,000 …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14816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80576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0576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입원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상급종합 1인실 10일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220만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상급병실 1인실 일당 110 + 종합병원 일당 100 + 질병입원일당 10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4억 6,155만원 (진단비 7,000만 포함). 종신보험 1억은 이 고객이 「죽어야」 나옵니다. 이 고객은 살았고, 다음 해에도 항암을 합니다.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반복(연 1회): 표적항암 1종 최초 2억 760만 → 이듬해 2억 750만 → 그 다음 해도. 면역+표적 병용이면 3억 3,760만 → 매년 3억 3,750만. 한도는 해마다 새로.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45p 암 세부보장, 51p 사례로 보는 치료비 보장 (담보 조건부는 보수적으로 계산)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조합의 힘 — 암 통합치료비 1억 + 암전후관련·양성신생물 통합치료비 4,000만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암이 되기 「전」의 혹·결절·용종과 암 치료 「중」의 마취·중환자실·검사까지. 두 담보가 시간축을 이어 붙입니다.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03120"/>
            <a:ext cx="1887550" cy="288950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188755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 — 양성신생물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갑상선 결절, 유방 양성종양, 자궁근종, 대장 용종, 담석…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암전후·양성신생물 통합치료비: 특정생검·내시경·천자 30만, 골수검사 50만, 수술 1종 5만~5종 1,000만, 전신마취(6h↑) 500만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103120"/>
            <a:ext cx="1600886" cy="288950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2103120"/>
            <a:ext cx="1600886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진단·치료 중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수술·항암·방사선·비급여 신의료기술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 1억 + Ⅱ 7,000만: 수술 1,000만/회, 항암 3,000만/연, 로봇 1,000만…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75320" y="2103120"/>
            <a:ext cx="2460879" cy="288950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2103120"/>
            <a:ext cx="246087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치료 중 합병증·집중치료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중환자실, 지속적신대체요법, 부분체외순환, 저체온요법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 통합치료비: 중환자실 100만, CRRT 500만, 부분체외순환 2,000만, 인공호흡기 200만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694944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526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다빈도 질환 수술 시뮬레이션 (제안서 50p, 상급종합 기준 지급 합계)</a:t>
            </a:r>
            <a:endParaRPr lang="en-US" sz="11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46320"/>
          <a:ext cx="6492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2743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그중 암전후·양성신생물 통합치료비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 결절 (D34)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 양성종양 (D24)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자궁근종 (D25)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담석증 (K80)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7772400" y="4434840"/>
            <a:ext cx="3867912" cy="1737360"/>
          </a:xfrm>
          <a:prstGeom prst="roundRect">
            <a:avLst>
              <a:gd name="adj" fmla="val 1157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01000" y="44348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"고객님, 암 진단비는 암이 「확정」돼야 나오죠. 그 전에 혹을 떼고, 조직검사를 하고, 결절을 지켜보는 과정은 누가 내나요? 이 담보는 「암이 되기 전」부터 「암 치료 중 중환자실」까지 이어 붙입니다."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42p 암전후관련 특정질환 및 양성신생물 통합치료비, 50p 다빈도 질환 수술 시뮬레이션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 지도 — 진단비는 「좁고 한 번」, 통합치료비는 「넓고 매년」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질병코드 14개 · 심장·혈관 질병코드 72개 중, 각 담보가 몇 개를 보장하나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뇌혈관 질환 — 14개 코드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진단비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I60~I62 · 생보 종신·CI·GI 기준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86200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86200" y="2587752"/>
            <a:ext cx="195943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3/14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진단비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I60~I63 · I65 · I66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86200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86200" y="3154680"/>
            <a:ext cx="391886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6/14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진단비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I60~I69 전체 · 3,000만 가입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886200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86200" y="3721608"/>
            <a:ext cx="653143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뇌출혈·뇌경색·경증 뇌혈관질환 등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86200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4288536"/>
            <a:ext cx="653143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두개내손상 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86200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86200" y="4855464"/>
            <a:ext cx="65314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92040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79% 커버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886200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86200" y="5422392"/>
            <a:ext cx="718457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11/14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99632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428232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심장·혈관 질환 — 72개 코드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428232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진단비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428232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I21~I23 · 생보 종신·CI·GI 기준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537192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37192" y="2587752"/>
            <a:ext cx="38100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543032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3/72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28232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진단비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428232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I20~I25 · 협심증 포함 · 3,000만 가입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537192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37192" y="3154680"/>
            <a:ext cx="76200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543032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6/72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428232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산정특례 진단비(심장)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28232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I05~I51 · Q20~Q26 등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537192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37192" y="3721608"/>
            <a:ext cx="5715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543032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45/72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428232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428232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순환계 52개 질병군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537192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37192" y="4288536"/>
            <a:ext cx="495300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543032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39/72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428232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고혈압·판막·경막 등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537192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37192" y="4855464"/>
            <a:ext cx="406400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43032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32/72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94% 커버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9537192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537192" y="5422392"/>
            <a:ext cx="8636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543032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68/72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47p 뇌·심혈관 질병코드 지도 (색칸 = 보장 질병, 회색 = 비대상)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② 뇌경색·심근경색 — 진단비 3,000만이 아니라 「치료할 때마다 1억」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 1억: 혈전용해 2,500만 · 수술 1회당 2,000만 · 부분체외순환 2,000만 · 중환자실 2,000만 — 연 1억 한도, 매년 리셋</a:t>
            </a:r>
            <a:endParaRPr lang="en-US" sz="1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상급종합병원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수술할 때마다 (반복)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혈전용해제(tPA)만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 + 기계적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뇌동맥류 · 스텐트·코일 색전술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 · 개두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심근경색 · 혈전용해 +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협심증·심근경색 · 관상동맥 스텐트(PCI)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관상동맥 우회술 · 심장 개흉수술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120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진단금은 최초 1회 · 치료 금액은 진단금을 뺀 순수 치료보장액 (제안서 46p). 주요손상및질환 통합치료비 3,000만은 별도 한도로 추가.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412480" y="1965960"/>
            <a:ext cx="3227832" cy="2103120"/>
          </a:xfrm>
          <a:prstGeom prst="roundRect">
            <a:avLst>
              <a:gd name="adj" fmla="val 956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제안서 51p 사례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468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뇌경색: 검사 4,015 + tPA 3,500 + 혈전제거 1억 140 + 중환자실 2,104 = 1억 9,759만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급성심근경색: 진단 4,010 + 스텐트 4,240 + 중환자실 2,042 + 재활 20 = 1억 312만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12480" y="4206240"/>
            <a:ext cx="3227832" cy="1965960"/>
          </a:xfrm>
          <a:prstGeom prst="roundRect">
            <a:avLst>
              <a:gd name="adj" fmla="val 102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41080" y="4206240"/>
            <a:ext cx="28346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재발 25.3%(뇌졸중, 질병관리청 2023). 두 번째 뇌경색이 와도 통합치료비는 다시 1억 한도. 생보 선지급형은 첫 번째로 끝.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37p 특정순환계질환 통합치료비, 46p 뇌혈관·심혈관 보장, 51p 사례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여성의 56년 — 만기까지 사망보장 1억 vs 만기까지 생존보장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사람, 같은 병력. 제안서 사례 금액을 시간축에 올려 봅니다 (예시).</a:t>
            </a:r>
            <a:endParaRPr lang="en-US" sz="14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 1억 (사망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The건강한 (생존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52세  폐암 진단·수술·표적항암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4억 6,155만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53세  표적항암 2년차 (연 1회 반복)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2억 750만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68세  뇌경색 · tPA + 혈전제거 · 중환자실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9,759만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75세  급성심근경색 · 스텐트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 (GI 선지급형이면 첫 GI 질병 1회 8,000만)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312만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83세  사망 (기대수명 86.6세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정기 사망담보 설계 시 지급 (책임기간 설계에 따름)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살아서 받은 돈 합계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9억 6,976만원 + 진단비·수술비·입원일당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보험료로 보면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514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 1억(40대) 월 30만원대 → 20년 7,200만 납입, 사망 시 1억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통합치료비 5종만: 월 82,163원 → 연 3.4억 한도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 풀 설계(151개 담보): 월 669,590원, 총납입 2억 173만원 — 한 해 통합치료비 한도(3.4억)가 총납입액보다 큼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0" y="4480560"/>
            <a:ext cx="3227832" cy="1691640"/>
          </a:xfrm>
          <a:prstGeom prst="roundRect">
            <a:avLst>
              <a:gd name="adj" fmla="val 1189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납입면제: 암·뇌졸중·급성심근경색·말기 폐/간/신·양성뇌종양·재생불량성빈혈·당뇨합병증·80% 후유장해 시 이후 보험료 면제 (제안서 9p)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금액은 제안서 45·46·51p 사례 합산 예시, 실제 지급은 약관·심사 기준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 정리 — 「만기까지」 화법 4문장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앞에서 통합치료비를 꺼내는 순서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67128"/>
            <a:ext cx="438912" cy="43891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67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057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언제예요?" → "…사망이요"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03911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만기가 사망이면, 살아서 아플 때 이 보험에서 나오는 돈은 0원이라는 뜻입니다. 그걸 고객 입으로 말하게 하세요.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38912" cy="438912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175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"저희는 만기가 100세이고, 그 사이 매년 한도가 새로 열려요"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9992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5종 연 3억 4천만원. 검사·수술·항암·중환자실·재활, 치료받은 항목마다. 재발해도 다시.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 3개 코드 vs 뇌·심장 79개 코드"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95935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증권의 뇌출혈(3/14)·급성심근경색(3/72)과 통합치료비 조합(11/14 · 68/72)을 코드 지도로 보여 주세요.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047488"/>
            <a:ext cx="438912" cy="438912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047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9377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살아서 비용을 치르는 병입니다"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91947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폐암 사례 4억 6천 + 이듬해 2억. 5년 생존율 73.7% 시대, 죽어야 나오는 1억보다 살아서 매년 나오는 치료비가 보험입니다.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521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📎 고객 앞에서는 가입제안서 44p 「보장 한장요약」 → 47p 「질병코드 지도」 → 51p 「사례로 보는 치료비」 순서로 넘기세요. 이 교안의 슬라이드는 그 세 장을 설명하는 대본입니다.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가입했을까 — 오픈북 테스트로 만드는 컨설팅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마음을 알면, 영업은 「오픈북 테스트」가 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생보를 가입했는지, 생보 설계사가 어떻게 설명했는지 알면 — 네비게이션을 켜고 운전하는 것과 같습니다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🗺️ 네비 없이 운전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지식만 들고 「이 상품 나빠요」로 시작. 고객은 방어 모드. 대화 3분 만에 "두고 가세요".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네비 켜고 운전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「이유·시기·기대」를 먼저 듣고, 그 지도 위에서 메리츠를 제안. 고객이 스스로 결론을 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처음 종신보험을 가입한 이유는 단 하나: 「위험 보장」 — 나머지는 부수 옵션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고객이 말하는 「위험」과 우리가 말하는 「위험」이 다릅니다. 우리는 특정 질병·상해 담보를 위험보장이라 하지만, 고객이 생각한 위험보장은 「살면서 발생하는 변수」 — 남편의 조기 사망, 은퇴, 자녀 결혼, 간병 — 였습니다. 생보 설계사는 그 변수를 「종신보험 하나」로 다 막아준다고 그렸습니다. 우리가 할 일은 그 그림을 지우는 게 아니라, 그 그림을 「더 정확하게」 다시 그려 주는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설계사는 무엇을 팔았나 — 「꿈 리스트」와 라이프사이클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MDRT의 공식: 고객의 비재무적 목표를 꺼내고 → 일생에 대입하고 → 종신보험 하나로 해결해 준다고 약속한다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 리스트 작성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유학, 부부 크루즈 여행, 은퇴 후 전원생활…" 고객의 비재무적 목표를 종이에 적게 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라이프사이클 대입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결혼·출산·대학·결혼·은퇴·간병 시점을 연표로 그리고 「돈 나갈 시점」을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해결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하나로 사망도 막고, 중간에 빼서 자녀 결혼도 시키고, 남으면 연금으로" — 만능 뭉칫돈 이야기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11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핵심 통찰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「종신보험」을 기대하고 가입한 게 아닙니다. 「보험으로 평생 날 도와줄 전문가」를 기대하고 가입했습니다. 고객이 산 것은 상품이 아니라 「관리해 주겠다는 약속」이었습니다. 그 약속의 유효기간이 통계로 얼마나 짧은지(생보 13월차 정착률 38.2%)는 Part 1에서 봤습니다. 우리가 그 자리를 대신하면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"아내에게 남편의 종신보험을 판다" — 생보가 그린 3단계 위험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수익자는 아내. 생보 설계사가 아내 앞에서 펼친 스토리를 그대로 재현합니다. 이걸 알아야 대화가 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⚰️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54480" y="214884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14884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위험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조기사망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12140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"자녀가 독립하기 전에 아빠 5명 중 1명은 떠납니다. 우리 남편이 그렇다면?" → 수익자를 아내로 한 종신보험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560" y="219456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40세 남성의 34.4%가 80세 전 사망, 40대 사인 1위 자살·2위 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🏖️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554480" y="347472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47472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위험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은퇴 위험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44728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"살아남은 4명에게 옵니다. 남편 은퇴 몇 년 뒤죠? 그때 자녀는 몇 살? 결혼은 시켜야죠" → 종신 환급금으로 해결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국민연금 평균 월 68만원, 노인빈곤율 39.7%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554480" y="480060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80060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위험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 파산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"여성의 미래입니다. 자녀에게 짐 지울 건가요? 당당한 노후 보내야죠" → 종신보험 연금전환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484632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0" y="48463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간병비 월 300~450만원, 치매 100만 명, 유병기간 여성 20.2년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생보의 위험 인식 3가지는 모두 「맞는 걱정」입니다. 틀린 건 해결책(종신보험 하나)입니다. 걱정에 동의하고, 해결책만 바꾸세요.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사례 — 의욕이 앞선 컨설팅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대로 열심히 설명했는데, 고객은 듣지도 않았습니다. 누구나 있는 흔한 경험담.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고객님이 가입한 [유니버셜 달러 종신보험], 완전 손해 보는 상품이에요.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(뭐지, 부담스럽게) 아… 그런가요? 그거 좋다고 가입했는데.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유니버셜이 어쩌고 달러가 저쩌고 종신이 미주알 사업비가 고주알…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죄송한데 무슨 말인지 모르겠어요. 저는 이거 쭉 낼 생각입니다.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큰 돈 내고 계속 유지하시려고요? 제가 설계한 알뜰 플랜 보시면 암뇌심에 수술비까지…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88136" y="49377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271016" y="50474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(지치게 하네…) 볼 테니 두고 가세요.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495544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고객은 많은 고민 끝에 가입했고, 필요해서 유지 중입니다. 「상품 비판」으로 시작하면 고객은 「내 결정을 비판」당한다고 느낍니다.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「왜그그」 — 고객의 마음을 녹이는 대화 순서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→ 그 밖에 또? → 그래서! 종신보험 컨설팅 전에 반드시 거치는 3단계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상황 추리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반응을 살피는 상황파악형 질문. 어떤 계기로(시기), 무엇에 혹해서(니즈), 무엇을 기대하고(솔루션) 가입했는지.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720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기대한 점을 확실하게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반박하지 않고 더 듣기. 고객의 상황·견해·설계사와의 관계 등 중요 정보를 추가 획득. 타율을 높이는 과정.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4884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210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그래서!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 후 논리적 정리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"정리하자면 ○○ 때문에 가입하셨군요. 그래서 오늘 인사드린 겁니다." 고객의 시야로 정리하고 제안으로 연결.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064240" y="214884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 원칙: 고객의 부담감을 줄이는 법 = 「왜?」를 통해 고객이 많이 말하게 하기. FP가 말하는 시간이 30%를 넘으면 실패합니다.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왜? — 가입 시점에 있었던 일을 추리합니다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부담을 먼저 인정하고, 「어떤·무엇」으로 묻습니다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제가 뵙자고 했을 때 혹시 걱정되거나 불편한 부분 있으셨어요?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 예… 뭐 조금 부담스럽긴 했어요. 잠깐이면 된다고 하셔서…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아! 혹시 무엇이 부담스러우셨어요?  [왜? → 어떤/무엇]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보험 내는 것도 많은데 또 권유하실까 봐 걱정이 좀 되었어요…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그럼에도 시간 내주셔서 감사합니다. 그때 이 보험은 어떤 말씀 듣고 가입 결정하셨어요?  [왜? → 계기]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포인트: 부담을 「먼저」 꺼내 주면 고객이 방어를 풉니다. 질문은 「왜 가입했어요?」(추궁)가 아니라 「어떤 말씀 듣고?」(상황).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밖에 또? — 고객이 보험에 기대한 점을 확실하게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반박하고 싶은 순간을 참으면, 고객이 「후회하는 지점」을 스스로 말해 줍니다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 어떤 부분을 듣고 가입해야겠다고 확신하셨어요?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음… 기억은 잘 안 나는데, 중간에 돈 안 내도 되고 빼서 쓸 수 있다고 했어요.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아, 그렇군요. 혹시 그 외에 달러 환율이나 이런 것도 좋다고 들으셨어요?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아니요, 그건 못 들었어요. 요즘 가장 좋은 거고, 나중에 차 바꾸거나 이사할 때 돈 뺄 수 있다고 해서…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🎁 얻은 정보: 고객이 산 건 「보장」이 아니라 「차 바꿀 때·이사할 때 뺄 돈」. 달러의 의미는 모르고 가입. 설계사 관리 없음.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37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📝 워크시트: 고객이 원한 것(비재무적 목표)과 실제 가입한 옵션(변액·유니버셜·CI/GI/WI·달러)을 나란히 적어 보기 → 그 차이가 곧 컨설팅.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그래서! — 고객이 거절해도 고객의 시야로 접근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거절은 「대화 종료」가 아니라 「정리의 시작」입니다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정리하자면, 보장도 되는데 돈 나갈 계획들을 종신보험 하나로 해결할 수 있다고 해서 가입하신 거군요.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조금 부담스러워도 저축이거니 하고…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오늘 인사드린 겁니다. 부담스러운 보험을 부담스럽지 않도록요.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근데 전 아까 말씀드렸지만 보험 더 가입은 부담스러워요.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더 가입이 아니라, 지금 내시는 돈 안에서 「차 바꿀 돈은 차 바꿀 돈답게, 보장은 보장답게」 나누는 방법을 보여 드리려고요.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11091672" cy="594360"/>
          </a:xfrm>
          <a:prstGeom prst="roundRect">
            <a:avLst>
              <a:gd name="adj" fmla="val 33846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「그래서」 뒤에는 항상 고객의 말이 들어갑니다. 고객의 단어(차, 이사, 부담)로 제안하면 거절이 질문으로 바뀝니다.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"고객님은 ○○○이 고민되어 가입하셨군요"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보험에 대한 신뢰가 깨지면 보험은 의미가 없어집니다. 우리는 「생보를 깨는 사람」이 아니라 「고민을 이어받는 사람」입니다.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이렇게 말하면 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상품 완전 손해예요" / "생보 설계사가 잘못 판 거예요" / "지금 당장 해지하세요"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이렇게 말하면 이긴다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결혼자금이 고민이셨군요. 그 고민 그대로 두고, 방법만 더 효율적으로 바꿔 볼게요" / "종신보험도 좋은 보험입니다. 다만 저축·연금으로 쓰기엔 비효율적이라서요"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💎 "다이아 원석은 그냥 돌입니다. 가공해야 보석이 되듯, 종신보험도 필요할 때마다 적절하게 가공해야 도움이 되는 보험입니다. 문제는 그 가공을 누가 해 주느냐입니다."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 — 통계와 비유로 무장한 다섯 가지 열쇠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1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5가지 한눈에 보기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팔았던 「약속」 하나하나에 대응하는 열쇠입니다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57984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57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관리 리스크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084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"평생 관리해 드릴게요"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84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정착률 38%, 유지율 74%, 승환 1.3만 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62656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9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무용론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8895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"사망보험금이 가족을 지켜요"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89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사망의 92%는 질병, 유병기간 18년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21024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 빠진 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6941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"저축이에요, 빼서 쓰세요"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해약환급금 36.5조, 상조 비유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425696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572000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단서조항 &amp; 최초 1회한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498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병 저 병 다 보장돼요"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10억 버스, 다트판, 18개 중 1개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76672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76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7160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정도는 내셔야죠"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772400" y="5303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종신 26만 → 정기 2.6만 + 생존보장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1. 설계사 관리 리스크 — "고객님 혼자 못 씁니다"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「보장」이 아니라 「기능」을 써야 하는 상품. 그 기능을 평생 대신 만져 줄 사람이 있습니까?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"생명보험 단어만 들어도 어렵죠? 고객님 혼자서는 못 쓰는 상품입니다."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"고객님이 필요한 타이밍에 맞춰 추가납입·인출·감액·연금전환을 적절하게 해야 하는데, 과연 그 설계사님이 고객님 평생을 관찰하는 게 가능할까요?"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그만둡니다(13월차 정착률 38.2%). 부업형 설계사가 늘면서 「고아계약」이라는 말까지 생겼어요."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"유니버셜 하나만 해도 이자율·인출금·월대체보험료·대체가능 적립금을 봐야 하고, 연금전환은 사망보장 공백·특약 소멸·보증이율·과세를 봐야 합니다. 하나하나 제대로 알아보고 쓰실 수 있으세요?"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 13월차 정착률 38.2% (금감원, 2026.4)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이탈 → 1만 2,935건 해지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설계사 31.9만 명, 「고객 미아」 기사 다수(2026)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비유: 셀프 정비 스포츠카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옵션이 잔뜩 붙은 스포츠카입니다. 잘 타면 멋지지만 정비를 계속 해야 합니다. 그런데 정비사가 1년 만에 사라지고, 매뉴얼은 외계어입니다. 고객님은 지금 그 차를 「그냥 세워 두고 할부만」 내고 계신 겁니다.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2. 종신사망 무용론 — "사망의 본질은 치료자금 부족입니다"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生에서 死로 가는 순서: 검사 → 진단 → 수술 → 입원 → 간병 → 사망. 사망보험금은 맨 마지막에만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92%는 병으로 죽습니다. 사고사는 8%뿐이에요."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이제 중대질환이 아니라 만성질환입니다. 10명 중 7명이 5년 넘게 살고, 돈은 그동안 계속 나가요. 진단 후 53%가 일을 그만둡니다."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"의학이 발달할수록 더 오래 살고 병원비는 더 많이 나갑니다. 평생 의료비 2억 중 절반이 65세 이후예요."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"대학병원·요양병원 지하에 뭐가 있는지 아세요? 가장 슬픈 대출은 치료비·요양비 대출입니다."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"사망보험금은 「죽고 나서」 나오지만, 병원비는 「살아 있는 동안」 나갑니다. 어느 쪽을 먼저 채워야 할까요?"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 → 死 : 돈이 나가는 순서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679192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검사·진단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606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99008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3246120"/>
            <a:ext cx="365760" cy="36576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72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729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5701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813048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7398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12394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4379976"/>
            <a:ext cx="365760" cy="36576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43068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6908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4946904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8737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회복·재발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873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치료비·재진단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551383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0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9893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종신보험은 6번에서만, 손보 통합건강은 1~5번에서 지급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3. 저축이 아닌 밑 빠진 독 — "적금 vs 상조, 뭐 드세요?"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목돈 마련은 「상조로 재테크」와 같습니다. 옵션이 아무리 붙어도 상조는 상조입니다.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목돈 마련하려고 하시면 적금이랑 상조 둘 중 어떤 걸 드세요?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당연히 적금 가입하죠. 왜 상조를 가입해요!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상조는 죽지 않아도 결혼자금·크루즈여행으로 전환된다는데도요?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…그래도 상조는 상조죠.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아무리 옵션이 있어도 상조는 상조일 뿐이죠. 종신보험으로 목돈 마련은 바로 「상조로 재테크」하는 것과 같습니다. 입출금통장처럼 빼서 쓴다고요? 그건 이자 붙는 현금서비스예요.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2026: 생보 해약환급금 상반기 36.5조(+45%), 효력상실 +32%. "먹고살기 힘들 때 가장 취약한 보험 = 종신보험"이 숫자로 증명됐습니다.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소비자경보(2025.12.18): "종신보험은 저축·연금상품이 아닙니다." 순수저축 목적으로는 부적합 — 감독당국의 공식 문장을 그대로 보여 주세요.</a:t>
            </a:r>
            <a:endParaRPr lang="en-US" sz="10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4. 단서조항 &amp; 최초 1회한 — "좋은 보험은 단서가 없는 보험"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숫자 하나(10억, 5천만원)만 기억합니다. 약관은 조건 전부를 기억합니다.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10억 버스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"사망하면 10억"이 아니라 "평일 대중교통 사고로 사망하면 10억". 증권을 같이 펴고 「어떤 사망」인지 읽어 드리세요.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CI의 「중대한」은 불스아이. 암도 침윤파괴적이어야, 뇌졸중도 25% 장해가 남아야, 심근경색도 CK-MB가 올라야. 같은 병, 다른 결과.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🔢 18개 중 1개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주계약 18개 담보 중 하나 받으면 17개 소멸. "심장 아프면 3천만원 나오는 줄" 아는 고객이 정말 많습니다.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증권 같이 볼까요? 여기 「중대한」이라는 글자가 보이시죠. 이 두 글자가 붙으면 병원에서 암이라고 해도 보험사는 「중대한 암」인지 다시 봅니다. 그리고 이 13개 중에 제일 먼저 걸리는 하나만, 딱 한 번 나옵니다. 저희는 이 두 글자가 없고, 각각 나옵니다. 어느 쪽이 받기 쉬울까요?"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5. 보험료 다이어트 — "더 내지 말고, 다시 나누세요"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더 가입은 부담스러워요"에 대한 유일한 정답: 지금 내는 돈 안에서 재배치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— 40세 남, 월 30만원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사망 1억 (20년납) 약 26만원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114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200400"/>
            <a:ext cx="726948" cy="41148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특약 몇 개 약 4만원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70세 이후 사망보험금 = 상속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뇌출혈·급성심근경색만, 최초 1회한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해지하면 손해, 유지하면 부담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— 같은 월 30만원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2606040"/>
            <a:ext cx="4846320" cy="384048"/>
          </a:xfrm>
          <a:prstGeom prst="rect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06040"/>
            <a:ext cx="1485900" cy="38404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 (60세 1억 + 80세 5천)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7.6만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3063240"/>
            <a:ext cx="4846320" cy="384048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063240"/>
            <a:ext cx="1873606" cy="384048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063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 각 3천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3520440"/>
            <a:ext cx="4846320" cy="384048"/>
          </a:xfrm>
          <a:prstGeom prst="rect">
            <a:avLst/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37960" y="3520440"/>
            <a:ext cx="1388974" cy="384048"/>
          </a:xfrm>
          <a:prstGeom prst="rect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20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수술비·입원일당·간병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520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3977640"/>
            <a:ext cx="4846320" cy="384048"/>
          </a:xfrm>
          <a:prstGeom prst="rect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977640"/>
            <a:ext cx="758952" cy="3840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배상책임·운전자·기타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3만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4434840"/>
            <a:ext cx="484632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434840"/>
            <a:ext cx="710489" cy="38404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돈 → 진짜 저축·투자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2.4만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937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배분. 실제 설계는 당사 전산 견적으로.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 돈을 더 쓰시라는 게 아니에요. 같은 30만원을 「죽어야 나오는 돈」에서 「아플 때 나오는 돈」으로 옮기고, 남는 2~3만원은 진짜 적금에 넣으시라는 겁니다."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① "해지하면 손해잖아요" / "10년만 지나면 120%예요"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해지를 권하지 않아도 됩니다. 유지 옵션과 숫자로 답하세요.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🙅 "해지하면 손해잖아요"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"맞습니다. 그래서 해지하시라는 게 아니에요." — 먼저 동의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기준: 사망보장이 아직 필요한 시기인가? (자녀 독립 전 = 필요)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→ 감액·연장정기로 유지 + 절약분을 생존보장에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없으면 → 감액완납으로 부담 0원, 남는 보험료 전액 재배치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 납입 중이면 → 환급금 0~50%이므로 「납입 완료 시점」과 「원금 도달 시점」을 표로 같이 보기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손해를 제일 작게 만드는 게 제 일입니다"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 "10년만 지나면 120%예요"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"네, 10년 지나 해지하면요. 그런데 해지하면 보장은 사라지죠?" — 환급률은 해지 이야기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120%를 연 수익률로 바꾸면 약 2.6%. 지금 정기예금이 3.4%입니다(2026.9)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신규는 5년납 121%·7년납 117.6%로 낮아졌고, 원금 도달 뒤 80% 이상이 해지한다는 기사(2026.9)를 보여 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 요건(5년납·10년 유지·월 150만원 규정 등)과 중도해지 손실을 함께 설명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"10년 동안 아프면 어떻게 하죠? 그 사이 진단비는 이 보험에 없습니다"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② "변액·달러라 수익 나요" / "저 생보에서 건강보험 들었어요"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무기가 안 통하는 두 상황. 2026년형 답변입니다.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"변액·달러라 수익 나요"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"공시 수익률은 납입보험료가 아니라 「특별계정 투입금」 기준이에요. 사업비 뗀 85~95%가 먼저 수익을 내야 원금이죠"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달러종신: 2023년 1.2만 건 → 2025년 1~10월 9.5만 건 급증, 금감원 소비자경보(2026.1) — "환율 전망은 보장이 아닙니다"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"펀드 변경·리밸런싱, 마지막으로 언제 하셨어요?" (대부분 「한 번도」)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"수익이 나는 건 좋은 일이에요. 그 수익을 지키려면 보장은 따로 있어야 합니다. 아프면 이 계좌에서 돈이 빠져나가거든요"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"저 생보에서 건강보험 들었어요"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화법 금지: "생보는 뇌출혈만" — 2024~26 생보 신형은 뇌혈관·허혈성 특약을 팝니다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① 진단비가 「각각 지급」인지, 주계약 선지급형인지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② 특약이 갱신형인지(5·10년 갱신 → 보험료 상승), 비갱신 100세인지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③ 소액암 분류·감액기간·납입면제 범위·유사암 정의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④ 배상책임·운전자·간병 등 손보 전용 담보의 공백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"좋은 선택 하셨어요. 빈 방(배상·간병·수술)만 저희가 채워 드릴게요" — 보완 제안으로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솔루션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증권을 가진 고객, MeAI 맞춤대화로 — 약관 조회 → 보장분석 → 설계안 → 리포트까지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1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원칙 — 사망은 정기, 생존은 통합건강, 책임은 배상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「나를 위한 보장」은 생명보험보다 메리츠화재. MeAI에게 설계안을 부탁할 때도 이 세 문장이 기준입니다.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 사망보장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가장의 책임기간까지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정기·복층설계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26만원 → 정기·복층 7.6만원. 70세 이후 1억은 상속이지 보장이 아닙니다.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생존보장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진단비는 넓게 + 통합치료비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일반암·뇌혈관·허혈성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지급 · 비갱신 100세 · 광범위 납입면제 · 통합치료비 5종 연 3.4억 한도가 매년.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 책임보장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남에게 끼친 손해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증권에 통째로 비어 있는 방. 일상생활배상, 운전자(벌금·변호사비·형사합의금).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 당사 상품군: The건강한 5.10.5 보장보험 · 통합간편건강보험(유병자) · 케어프리보험 M-Basket · 운전자상해종합보험 · 치아보험 — 담보·납면 조건은 MeAI 약관 검색(전사 약관 원문)으로 확인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— 보험영업만 공부한 「AI 선배」가 24시간 옆에 있습니다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보내듯 물어보면 자사·타사 약관과 상품 자료를 근거로 답합니다. 쓴 사람의 계약이 2.8배 더 나왔습니다.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차이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고객의 가계약 도달률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(미활용 28.6%, 3.0배)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3개 이상 쓴 FP의 가계약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 → 27.79건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고객끼리 비교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9.0% → 36.0%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53949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대화만 구분하면 됩니다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일반대화 — 고객을 정하지 않고 묻는 창. 상품·특약 개념, 자사·타사 보장 비교, 화법, 약관 지식. 생보 상품 공부는 여기서.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21208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맞춤대화 — 고객 한 명의 보장분석 데이터를 MeAI가 함께 봄. 가입한 당사·타사·생보 계약을 옆에 두고 부족 보장 찾기 → 설계안 → 리포트.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94760"/>
            <a:ext cx="5394960" cy="2377440"/>
          </a:xfrm>
          <a:prstGeom prst="roundRect">
            <a:avLst>
              <a:gd name="adj" fmla="val 8462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켜나요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43434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PC: 영업포탈 → MeAI 대문 → [일반대화] / [맞춤대화] (10월 대문 오픈)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 모바일: 영업지원모바일 app → [보장분석] → 상단 [MeAI 일반대화] 또는 고객 카드의 보라색 [MeAI] 버튼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 마이크로 말해도 됩니다. 대화 이력·나의 질문은 PC·모바일 동일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· TA 개인영업 채널 기준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고객 맞춤대화 5단계 — 고객 카드의 [MeAI] 버튼을 누른 뒤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익숙해지면 3분. 3단계에서 고객이 가입한 당사·타사·생보사 계약 카드를 눌러 약관까지 바로 조회합니다.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03120"/>
            <a:ext cx="420624" cy="420624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01168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[MeAI] 버튼 (또는 대문 추천 고객 → [이 고객으로 맞춤대화 시작])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724912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862072"/>
            <a:ext cx="420624" cy="42062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7980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7063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직업·병력·가족력·신규 제안 월 보험료·메모. 메모 예) "종신보험을 저축 목적으로 가입, 보험료 부담 호소, 자녀 결혼 앞둠" — 이름·연락처 등 개인정보는 금지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483864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621024"/>
            <a:ext cx="420624" cy="420624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55701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 선택 → 약관 조회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5295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보장분석에 올라온 고객 계약이 회사·상품명 카드로 보임 (예: 신한생명 용감한 오렌지종신보험 · DB손보 · 메리츠). 카드를 눌러 해당 약관을 조회하고, 담보 칩(암·뇌/심장·치료비·수술비)으로 걸러 봄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242816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379976"/>
            <a:ext cx="420624" cy="420624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379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31596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내역 확인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4288536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 분석] 버튼 → 사망·후유장해·암·뇌혈관·심장 탭. 빨간 글자 = 부족. 권장 기준 대비 부족액이 담보별로 계산됨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5001768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138928"/>
            <a:ext cx="420624" cy="420624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74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+ 꼬리질문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504748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준비된 부분 / 보완 필요 / 상담 핵심 포인트 / 확인 우선순위가 한 번에. 답 아래 꼬리질문 버튼으로 이어가기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79008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처음엔 전체 선택 그대로 "보장분석 해줘"부터. 전체 그림을 본 뒤 생보 종신 카드만 남기고 다시 물으면 답이 뾰족해집니다.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6 「맞춤대화」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약관, 이제 찾아 헤매지 않습니다 — 맞춤대화에서 누르고, 물어보고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"그거 약관에 있어요?"라고 물을 때 근거를 바로 펼쳐 보여 줄 수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 약관을 여는 두 가지 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3단계 「분석할 상품 선택」에서 고객이 가입한 당사·타사·생보사 계약 카드를 눌러 약관 조회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왼쪽 메뉴 · 모바일 ≡ 메뉴의 [약관 검색] — 상품명·특약명으로 전사 약관 원문 검색 (MeAI 답변의 근거 확인용)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MeAI의 두뇌가 나눠 답합니다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"CI 종신 중대한 뇌졸중이 뭐야?" 다섯 마디에도 일반 지식(정의) · 보상 전문가(약관상 보장 범위·면책) · 심사 전문가(고지·인수) · 영업 전문가(화법·제안 포인트)의 답이 하나로 합쳐져 옵니다. 상황을 덧붙이면 더 뾰족해집니다.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생보 증권 앞에서 이렇게 물어보세요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25146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고객의 종신보험 주계약이 선지급형인지, 최초 1회한인지 약관 기준으로 알려줘"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증권의 뇌출혈진단 특약 지급 사유와 면책을 약관 기준으로, 당사 뇌혈관질환진단비와 표로 비교해줘"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"CI 종신의 중대한 급성심근경색 요건에서 협심증 스텐트 시술이 빠지는 이유를 고객 말투로 설명해줘"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종신보험의 해지환급금 구조와 감액완납·연장정기 시 보장 변화를 정리해줘"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"단기납 종신 10년 뒤 120% 환급률을 연 수익률로 바꿔 예금 금리와 비교해줘"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고객이 종신보험을 가입한 이유를 추리해서 왜그그 3단계 질문을 만들어줘"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2·5·6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만드는 게 아니라 고르는 것 — 3종 세트와 꼬리질문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쓰고 끝내는 FP가 24.6%. 두 번째, 세 번째 질문부터 성과가 벌어집니다.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884225" cy="288950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03120"/>
            <a:ext cx="884225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시작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971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그림: 잘 준비된 부분 / 보완 필요 / 상담 포인트 / 확인 우선순위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2103120"/>
            <a:ext cx="884225" cy="2889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2103120"/>
            <a:ext cx="884225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 별로 핵심만 표로 요약해줘"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971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단위 표. 고객에게 보여주기 좋음. +"갱신특약은 빨간 글자로, 자료에 없으면 확인필요"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2103120"/>
            <a:ext cx="884225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2103120"/>
            <a:ext cx="884225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판단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상품들과 공략법을 알려줘"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971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유지·해지·대체 판단과 이유 — 내부 검토용 (리포트에서는 제외)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694944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질문 창구 — 누르기만 하면 됩니다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846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질문. 예시를 누르면 바로 전송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02336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23360" y="4846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MeAI가 다음 질문 3개를 제안. 타이핑 없이 대화가 깊어짐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349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623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[질문 더보기] → 추천 · 최신 · 나의 질문 탭 → [이 질문 사용하기]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23360" y="5349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질문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5623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(10월) 고객찾기에서 고객을 펼치면 일반대화용·맞춤대화용 추천 질문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72400" y="4023360"/>
            <a:ext cx="3867912" cy="2148840"/>
          </a:xfrm>
          <a:prstGeom prst="roundRect">
            <a:avLst>
              <a:gd name="adj" fmla="val 936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001000" y="4160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직접 쓸 땐 두 조각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52628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「누구에게」 + 「무엇을」 (+ 형식)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"종신보험만 있는 40대 가장에게, 감액완납 후 절약분으로 보완할 담보 우선순위를, 고객에게 말하듯 구어체로"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마음에 안 들면 "더 쉽게" "표로 다시" 한 마디만.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5·8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제안이 정해졌다면 설계도 말로 — 상세설계·가계약, 그리고 요약 리포트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설계안은 상담용 초안. 최종 확정은 가입설계 시스템에서 인수심사 조건과 함께.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873959" y="1965960"/>
            <a:ext cx="8229600" cy="672084"/>
          </a:xfrm>
          <a:prstGeom prst="roundRect">
            <a:avLst>
              <a:gd name="adj" fmla="val 2176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56839" y="2075688"/>
            <a:ext cx="786384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정기 사망 60세 1억, 암·뇌혈관·허혈성 진단비 각 3천, 암 통합치료비 1억·특정순환계 통합치료비 1억을 추가한 설계안 만들어줘. 기존 종신보험은 감액완납 기준으로, 월 보험료는 28만원 안으로. 정리할 계약도 알려줘.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66060"/>
            <a:ext cx="402336" cy="40233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660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88136" y="2766060"/>
            <a:ext cx="8229600" cy="867537"/>
          </a:xfrm>
          <a:prstGeom prst="roundRect">
            <a:avLst>
              <a:gd name="adj" fmla="val 16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875788"/>
            <a:ext cx="7863840" cy="64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 28만원 기준으로 담보 구성안을 정리했어요. · 정기 사망 60세 1억 · 암·뇌혈관·허혈성 진단비 각 3,000만 · 암 통합치료비 1억 / 특정순환계 통합치료비 1억 · 기존 종신보험은 감액완납 권장(사망보장 일부 유지, 납입 0원), 갱신형 특약 2건은 정리 권장. 예상 월 보험료와 상세 담보표는 아래 표를 확인하세요. 가입설계 전 인수심사 조건을 확인해 주세요. (예시)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담보명 + 금액을 정확히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 1억"처럼. 특약명이 헷갈리면 일반대화에서 먼저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64992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547872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함께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547872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"월 28만원 안으로" — STEP 2 희망 보험료를 넣었으면 자동 반영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81344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64224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유지·정리까지 한 번에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"기존 계약 중 정리할 것도" → 유지/축소/해지/대체 관점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997696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180576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80576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 생성] → 답변 선택·편집 → 리포트 생성 → 알림톡 (열람 D+7). 내부 판단 답변·개인정보는 제외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 다섯 가지 약속: ① 답변은 약관·증권으로 검증 후 사용 ② 개인정보 입력 금지 ③ 미검증 책임은 사용자에게 ④ 보장분석 일일 300회 한도 ⑤ 답변·화면·교육자료 외부 반출 금지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6·7·10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카드 6장 — MeAI 일반대화에 「고객 말투로 다듬어줘」 하고 넣으세요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990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모든 걸 전달하기보다, 하나라도 꼭 기억시키고 움직이게 만드세요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1517904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vs 사망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"83세까지 사는 건 기본값이에요. 문제는 마지막 18년을 어떤 돈으로 버티느냐죠."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40280"/>
            <a:ext cx="1065276" cy="301752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240280"/>
            <a:ext cx="10652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4명 중 3명은 뇌출혈이 아니라 뇌경색이에요. 고객님 증권은 4명 중 1명만 봅니다."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24028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24028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"예금이 3.4%인데 보험 공시이율은 2.5%예요. 그것도 사업비 떼고요. 저축은 저축답게 하세요."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251960"/>
            <a:ext cx="1216152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1회한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13개 중에 제일 먼저 걸리는 하나만, 딱 한 번 나와요. 저희는 각각 나옵니다."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 …사망이요. 저희는 100세 만기까지 매년 3억 4천 한도가 다시 열려요."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251960"/>
            <a:ext cx="763524" cy="301752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251960"/>
            <a:ext cx="7635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내시라는 게 아니에요. 같은 30만원을 죽어야 나오는 돈에서 아플 때 나오는 돈으로 옮기는 거예요."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미션 ★ — 이번 주 안에 MeAI로 생보 고객 1명 가계약까지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강의로 끝나면 그냥 「좋았던 교육」으로 끝납니다. MeAI를 켠 고객의 85%가 가계약까지 갔습니다.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고객 1명 맞춤대화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[MeAI] → 정보 입력 → 상품 카드에서 생보 약관 열어보기 → "보장분석 해줘" 3종 세트 실행, 부족 보장 3개 메모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3회 이상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전용 질문(선지급·최초 1회한·감액완납·환급률 연 수익률)으로 이어가고, 좋았던 질문은 ⊕ 로 「나의 질문」 저장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설계안 → 가계약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"…추가한 설계안 만들어줘, 월 ○○만원 안으로" → 가입설계 시스템에서 인수심사 조건 확인 후 가계약 1건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+ 롤플레이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 내 카톡으로 먼저 받아 검증 → 고객 발송. 2인 1조 왜그그 롤플레이 5분, FP 발화 30% 이내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🏁 「선택과 집중」: 움직임이 보이는 FP는 깊이 있게 서포트해 성공사례를 만들고, 그 질문을 「나의 질문」으로 저장해 조회에서 공유합니다. 문화는 사례에서 나옵니다.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10 「첫 주 미션」</a:t>
            </a:r>
            <a:endParaRPr lang="en-US" sz="8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WRAP-UP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 총정리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문장만 남기세요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0574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생명보험은 이름만 보아도 상품 특징과 비용 구조를 알 수 있다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41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무배당·통합·변액·유니버셜·CI·종신 = 단어 하나가 비용 하나. 「중대한」과 「최초 1회한」이 단서조항의 핵심.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53512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82112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449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사망보장과 생존보장 중 무엇을 원하는지 「왜그그」로 물으면 고객에게 맞는 보장이 나온다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290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책임기간만큼 정기·복층으로, 생존은 넓은 3대 진단비·수술·입원·간병으로, 책임은 배상·운전자로.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941064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16966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0325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통계는 우리 편이다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4165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18년, 뇌졸중 76% 뇌경색, 예금 3.4% vs 공시이율 2.5%, 생보 정착률 38%, 해약 36.5조 — 숫자로 말하면 설득이 아니라 확인이 된다.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928616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157216"/>
            <a:ext cx="457200" cy="45720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57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2005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맞춤대화로 3분 준비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041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[MeAI] → 가입한 당사·타사·생보 계약 카드에서 약관 조회 → 「보장분석 해줘」 3종 세트 → 설계안 → 요약 리포트. 쓴 사람의 계약이 2.8배 더 나왔다.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94360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통계는 매년 갱신됩니다: 사망원인통계(9월), 생명표(12월), 암등록통계(12~1월), 심뇌혈관 발생통계(12월), 금감원 판매채널 효율(4월). 출처 페이지를 기준으로 연 1회 업데이트하세요.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-13716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먼저 다가가야 합니다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증권은 「위기」가 아니라 「가장 좋은 대화 소재」입니다.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산 것은 상품이 아니라 「평생 도와줄 전문가」였습니다. 그 자리를 우리가 채웁니다.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2296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된다 하지 말고!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912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하지 말고!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95528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긍정적으로, 힘찬 하루 시작!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세일즈혁신TF · 생명보험 파헤치기 2026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통계 · 출처 (2026년 9월 17일 기준)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공식 발표 자료 기준이며, 언론 보도로 교차 확인했습니다. 강의 전 최신 발표분으로 갱신하세요.</a:t>
            </a:r>
            <a:endParaRPr lang="en-US" sz="14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31343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분야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사망원인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통계청 「2024년 사망원인통계」 (2025년 자료는 2026.9 말 발표 예정)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2025.9.25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기대수명·건강수명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국가데이터처 「2024년 생명표」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고령화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행정안전부 주민등록 인구통계 / 통계청 장래인구추계 / 2025 인구주택총조사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 / 2023.12 / 2026.8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보건복지부·중앙암등록본부 「2023년 국가암등록통계」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질병관리청 「2023 심뇌혈관질환 발생통계」 / 심평원 진료현황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2025.12.31 / 2022·2020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의료비·간병·요양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건강보험통계연보 2024 / 건보공단 생애의료비 연구 / 2025 장기요양 통계연보 / 국회입법조사처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2025.11 / 2025.12 / 2026.6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연금·빈곤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국민연금공단 / OECD Pensions at a Glance 2025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 / 2025.11.27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금통위(2026.7.16 / 8.27) / 은행연합회 / 금감원 평균공시이율 고시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2026.8~9 / 2025.12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보험산업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보험연구원 「2026년 보험산업 전망」 / 금감원 「2025년 판매채널 영업효율」 / 금감원 소비자경보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2025.10.21 / 2026.4.29 / 2025.12.18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단기납·해약·제3보험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보험저널·연합뉴스·파이낸셜뉴스·머니투데이·한국경제·서울경제 등 2024~2026 보도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2024.1~2026.9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가계신용(2026 2Q) / 국가데이터처 소비자물가(2026.8)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2026.8.19 / 2026.9.2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상품(Part 3)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(무)메리츠 The건강한 5.10.5 보장보험2607(3.0) 가입제안서 — 통합치료비 특약 안내·질병코드 지도·치료비 사례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2026.9.15 발행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MeAI(Part 6)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활용 가이드북 영업가족 편 v3(세일즈혁신TF) / 데이터분석팀 「MeAI 사용 실태·효과 분석」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 / 2026.08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작성: 메리츠화재 세일즈혁신TF · 2026년 9월 기준 통계·규제 반영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>PptxGenJS Presentation</dc:subject>
  <dc:creator>세일즈혁신TF</dc:creator>
  <cp:lastModifiedBy>세일즈혁신TF</cp:lastModifiedBy>
  <cp:revision>1</cp:revision>
  <dcterms:created xsi:type="dcterms:W3CDTF">2026-09-17T08:37:47Z</dcterms:created>
  <dcterms:modified xsi:type="dcterms:W3CDTF">2026-09-17T08:37:47Z</dcterms:modified>
</cp:coreProperties>
</file>