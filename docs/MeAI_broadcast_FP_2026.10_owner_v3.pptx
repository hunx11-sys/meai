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81" r:id="rId30"/>
    <p:sldId id="264" r:id="rId10"/>
    <p:sldId id="265" r:id="rId11"/>
    <p:sldId id="266" r:id="rId12"/>
    <p:sldId id="282" r:id="rId31"/>
    <p:sldId id="267" r:id="rId13"/>
    <p:sldId id="268" r:id="rId14"/>
    <p:sldId id="269" r:id="rId15"/>
    <p:sldId id="271" r:id="rId16"/>
    <p:sldId id="270" r:id="rId17"/>
    <p:sldId id="272" r:id="rId18"/>
    <p:sldId id="273" r:id="rId19"/>
    <p:sldId id="274" r:id="rId20"/>
    <p:sldId id="276" r:id="rId21"/>
    <p:sldId id="277" r:id="rId22"/>
    <p:sldId id="279" r:id="rId23"/>
    <p:sldId id="28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  <Relationship Id="rId30" Type="http://schemas.openxmlformats.org/officeDocument/2006/relationships/slide" Target="slides/slide24.xml"/>
  <Relationship Id="rId31" Type="http://schemas.openxmlformats.org/officeDocument/2006/relationships/slide" Target="slides/slide2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12562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8) 타겟률 비교: 9장 '감으로 고를 때보다 전반적으로 타겟률이 높다'를 받칠 비교 수치가 있는지. 있으면 기간·대상·출처와 함께 받아 9장에 넣고, 없으면 수치 없이 말한다. 고객찾기 목록 기본 순서(보유 고객 중 타겟 가능성 높은 순)를 두 분 설명에 넣을지도 정한다.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"오늘의 추천 고객은 데이터 기반 AI 추천이라, 감으로 고객에게 다가갈 때보다 전반적으로 타겟률이 높습니다." (소유자 안내 · 2026.10 · 비교 수치는 두 분 확인 뒤에만)
- "고객찾기 목록은 기본 설정이 보유 고객 중 타겟 가능성이 높은 고객 순입니다." (소유자 안내 · 2026.10 · 목업 목록은 이름순 예시)
- "선정 기준의 세부 항목은 확정되는 대로 이 게시판에서 다시 안내하겠습니다." (목업 게시판 예시 글 · 기준 확정 여부는 두 분께 확인)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누르는 법은 세 번째 걸음에서 이 홈으로 다시 와서 보여 드립니다.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장(9장 · 데이터로 고른 고객)으로 넘김. '두 번째 걸음, 고르기' 안내는 10장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다만 추천 고객부터 보시길 권합니다.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14:20–15:55 · 95초]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②의 '위에서부터'는 목록을 손으로 위에서 아래로 훑기만(캡처 속 목록 순서와 이름은 예시라 짚지 않음).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가운데 고객 목록. 기본 순서가 타겟 가능성 높은 순이라 위에서부터 보시면 됩니다.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15:55–17:35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17:35–19:05 · 90초] 동의 상태 · 알림톡
진행: 세 줄을 위에서 아래로 짚기. 둘째 줄에서 '김민수 고객처럼'은 10장 캡처의 빨간 테두리 버튼을 떠올리게 하고, 버튼 → 팝업 화살표를 따라 손으로 짚는다. 전화 한 마디는 실제 통화하듯. '15분 안팎'으로 읽기. 다음 장(13장 · 동의 전 연락 준비)은 '그럼 동의를 받기 전에는…'으로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20:55–22:30 · 95초] MeAI 홈에서 대화 열기(클릭 세 길)
진행: 송출 전 목업 MeAI 홈 탭을 세트 3으로 넘겨 둔다(새로고침 금지). 목업은 [MeAI 홈]·뒤로 가기·새로고침 어느 쪽으로 돌아와도 추천 세트 1로 돌아가고, 그 첫 카드는 이번 방송에서 빼기로 한 예시라 송출하지 않는다. 13장 끝을 받아 '세 번째 걸음, 묻기입니다'에서 챕터 칩 '3 묻기'가 켜진 이 화면으로 전환. 왼쪽 캡처의 ① 흰 카드, ② 검은 카드를 짚고 오른쪽 세 칸을 ①→③으로. 시연(세트 3으로 맞춘 탭 하나): '1번'에서는 흰 [일반대화] 카드를 짚기만. '2번'에서 검은 [맞춤대화] 카드를 눌러 고객 검색 창을 보여 주고, 이름은 치지 않고 닫음(목록의 이름·담당은 목업 예시라 읽지 않음, 닫아도 세트 3은 그대로). '3번'에서 세트 3 추천 카드의 [MeAI 고객찾기에서 열기]를 짚기만. 마지막 문장 '두 대화 화면을 차례로 보겠습니다'에서 [일반대화] 카드를 눌러 15장으로 이어 감. 일반대화 첫 화면에서 질문 예시 줄은 누르지 않음(목업에서 답이 나오지 않음). 이후 이 탭에서 [MeAI 홈]·뒤로 가기·새로고침은 누르지 않음. 탭 준비가 안 됐으면 시연 없이 슬라이드 세 칸만 짚는다. 마지막 문장에서 아래 띠를 가리킴.
세 번째 걸음, 묻기입니다. 앞에서 본 MeAI 홈으로 다시 왔습니다. MeAI, 어렵게 생각하지 마세요. 여기서 누르기만 하면 됩니다. 홈 화면에도 이렇게 적혀 있습니다. '어떤 대화를 시작할지만 고르면, 나머지는 MeAI가 준비합니다.'
길은 세 가지입니다. 1번, 흰 [일반대화] 카드. 누르면 대화 화면이 열리고, 질문 예시를 하나 누르면 바로 시작됩니다.
2번, 검은 [맞춤대화] 카드. 누르면 고객 검색 창이 뜹니다. 이름을 한 글자만 넣고 옆의 [맞춤대화]를 누르면 그 고객 대화가 열립니다.
3번, 추천 카드에서 [MeAI 고객찾기에서 열기]를 누르고, 오른쪽 추천 질문을 누르세요. 질문이 채워진 채로 열려서 전송만 누르면 됩니다.
길을 잃으면 왼쪽 위 [MeAI 홈]을 누르세요. 처음 화면으로 돌아옵니다.
누르고, 고르고, 보내기. 클릭만으로 편하게 쓰시면 됩니다. 그럼 두 대화 화면을 차례로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22:30–24:10 · 100초] 일반대화 화면
진행: ① → ⑥ 핀 순서로 슬라이드에서 짚기. 오른쪽 아래 '이럴 때 써요' 네 칸은 손으로 훑기만. 시연: 14장에서 연 일반대화 첫 화면을 띄워 두되 이 장에서는 아무것도 누르지 않고 커서로 같은 자리를 가리키기만. ① [MeAI 홈]은 누르면 추천 세트 1로 돌아가 방송에서 빼기로 한 예시 카드가 뜨므로 절대 누르지 않음(16장 시연은 미리 준비한 탭에서). 가운데 질문 예시 줄, ③ 대화 이력 항목, ⑥ [새로 대화하기], [지식 검색]·[자주하는 질문] 탭, [상품 선택]·[약관 검색]·[사용 가이드]도 목업에서는 눌러도 반응이 없으니 누르지 않음. 개인정보 안내 줄(빨간 테두리)은 마지막 문장에서 가리킴.
먼저 일반대화입니다. 고객을 정하지 않고 무엇이든 물어보는 창입니다. 상품과 특약 개념, 자사와 타사 보장 비교, 고객 설득 화법, 약관 지식을 물을 때 씁니다.
화면은 왼쪽 메뉴, 가운데 질문 예시, 아래 입력창, 세 덩어리입니다.
1번, 왼쪽 위 [MeAI 홈]. 누르면 홈으로 돌아갑니다. 2번, 약관 검색과 사용 가이드. 약관 원문을 찾거나 화면 사용법이 궁금할 때 누르시면 됩니다. 3번, 대화 이력입니다. 지난 대화가 월별로 쌓이고, 누르면 이어서 물을 수 있습니다.
4번, 가운데 질문 예시 탭 세 개. 보장 비교, 지식 검색, 자주하는 질문. 예시를 누르면 바로 대화가 시작됩니다.
5번, 입력창. 말하듯 쓰고 전송을 누르면 됩니다. [상품 선택]으로 물어볼 상품을 고를 수도 있습니다.
6번, 주제가 바뀌면 [새로 대화하기]를 누르시면 됩니다.
화면 안내대로 이름, 연락처 같은 개인정보는 넣지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24:10–26:00 · 110초] 맞춤대화 화면
진행: ①→⑤ 핀 순서로 짚기. 시연: 방송 전 미리 열어 둔 탭(17장 탭 ②와 같은 탭: 고객찾기 김도윤(동의 유효)의 빨간 맞춤대화 추천 질문을 누른 화면, 입력창에 질문이 채워진 상태)으로 전환해 띄움. 고객찾기 화면·목록·검색창은 송출하지 않음. 15장 일반대화 화면에서 [MeAI 홈]이나 뒤로 가기로 돌아가지 않음(추천 세트 1이 다시 뜸). 이 장에서 MeAI 홈으로 돌아가지 않음. ② 짚을 때 [요약 리포트]가 흐린 것은 아직 답이 없어서라고 말로 짚기(누르지 않음). [보장분석 해줘]와 전송(↑)은 누르지 않음(목업 답은 고정 예시, 17장에서 같은 탭을 다시 씀). 라이브 화면 가운데 안내문의 고객 이름은 목업 고정 문구(다른 예시 이름)라 짚지 않음(캡처는 왼쪽 이름과 맞춰 둠). 남은 날 숫자(79일)는 목업 고정값이라 읽지 않음(같은 고객이 고객 검색 창에선 D-30). 화면 속 날짜·금액은 읽지 않음. 마지막 두 문장은 천천히.
다음은 맞춤대화입니다. 고객 한 명을 정하고, 그 고객의 보장 내역을 바탕으로 답을 받는 창입니다. 그래서 사전조회 동의가 있어야 열립니다.
[맞춤대화] 버튼으로 들어가면 먼저 고객 정보 칸이 뜹니다. 아는 것만 넣거나 넘어가면 됩니다. 화면은 추천 질문을 눌러 들어온 모습입니다.
1번, 왼쪽 위 담당 고객. 이름과 보장분석 동의 남은 날이 늘 보입니다. 앞에서 본 사전조회 동의입니다.
2번, 위 버튼 세 개. 보장 분석, 사용중인 정보 수정, 요약 리포트. 정보를 고칠 땐 가운데, 좋았던 답을 고객에게 보낼 땐 오른쪽입니다. 오른쪽은 답을 받은 뒤에 켜집니다.
3번, 선택된 정상 계약 리스트. 이번 대화에서 MeAI가 읽는 계약입니다. 상품 옆 점 색깔은 약관DB 준비 상태입니다.
4번, 질문 예시 [보장분석 해줘]. 누르면 바로 시작됩니다.
5번, 입력창. 추천 질문을 누르고 오면 이렇게 질문이 채워져 있습니다. 전송만 누르면 됩니다.
일반대화는 무엇이든, 맞춤대화는 이 고객 한 명. 둘 다 누르기만 하면 시작됩니다.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26:00–28:10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5는 ② 화면에서 짚고, 핀 6은 16장에서 말했으니 짚기만.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앞에서 말한 고객 정보 칸입니다.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전체 그림을 먼저 보고, 그다음 담보를 좁혀 다시 묻는 순서가 가장 자연스럽습니다. 그럼 답은 어떻게 읽을까요?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28:10–30:20 · 130초] 질문 고르기
진행: 16장 끝('둘 다 누르기만 하면 시작됩니다')을 받아 '이제 질문하는 법입니다'로 시작. 하나→넷 순서로 칸을 짚음. 시연: '하나'에서 14장에서 연 일반대화 탭으로 돌아가 보장 비교 예시 첫 줄을 커서로 짚기만 함(목업에서는 눌러도 반응 없음, [MeAI 홈]은 누르지 않음). 준비가 어려우면 슬라이드 ① 칸 캡처를 짚음.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이제 질문하는 법입니다. 프롬프트라는 말에 겁먹지 마세요. 질문은 만드는 게 아니라 고르는 겁니다. 화면 안에 질문 창구가 네 곳 있습니다.
하나, 시작할 때는 앞에서 본 일반대화 질문 예시 탭 세 개. 보장 비교는 담보 간 차이, 지식 검색은 처음 듣는 용어, 자주하는 질문은 영업가족이 많이 물은 질문입니다.
둘, 고객이 정해졌을 때는 고객찾기 오른쪽 'MeAI에 이렇게 물어보세요'. 누르면 질문이 채워진 채로 열립니다.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30:20–31:50 · 90초] 답 읽는 순서
진행: 핀 1→4 차례로 짚기. '미가입' 두 줄에서 잠깐 멈춤. '안심, 제안, 다음 행동'은 손가락 셋으로 천천히. 시연 중이면 이 답 화면을 미리 띄우되 맨 위 날짜 줄은 안 보이게 내려 둠. 노란 [용어 설명]은 21장에서 다루니 여기서는 짚지 않음. 마지막 질문으로 20장(직접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31:50–33:40 · 110초] 직접 묻는 공식(누구에게 + 무엇을)
진행: 19장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33:40–35:30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13장에서 본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35:30–37:50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앞 장 끝을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23장으로.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37:50–38:50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38:50–40:15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40:15–41:10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12:50–14:20 · 90초] 데이터로 고른 고객 · 추천 원리와 고객찾기 기본 순서
진행: 8장 끝('다만 추천 고객부터 보시길 권합니다')을 받아 바로 시작. 왼쪽 회색 칸 → 파란 칸 순서로 짚고, '전반적으로 타겟률이 높습니다'에서 파란 띠를 가리키며 또렷이. 비교 수치는 말하지 않음(확인된 수치 없음 · 수치를 쓰려면 5장 발표자 노트 '확인할 것' 8대로 출처를 받은 뒤). 오른쪽 도식은 1→4를 위에서 아래로 손으로 훑기만(순서를 보여 주는 그림이라 막대 길이는 읽지 않음). 목업 고객찾기 목록은 이름순 예시라 기본 순서를 시연으로 보여 주지 않고 이 장의 도식으로만 설명. 마지막 문장 뒤 10장(챕터 칩 '2 고르기')으로 넘김.
이유는 하나입니다. 감이 아니라 데이터로 고른 고객이기 때문입니다.
감으로 고르면 생각나는 고객, 최근에 연락한 고객부터 찾게 됩니다. 긴 목록을 넘기다 보면 누구에게, 왜, 언제 연락할지를 매번 혼자 정해야 합니다.
오늘의 추천 고객은 다릅니다. 계약, 동의, 상령일, 생일, CRM 데이터를 매일 밤 계산해서, 지금 연락할 이유가 있는 고객을 AI가 골라 둡니다. 이유도 한 문장으로 붙여 둡니다. 그래서 감으로 고객에게 다가갈 때보다 전반적으로 타겟률이 높습니다.
고객찾기도 마찬가지입니다. MeAI 고객찾기의 고객 목록은 기본 설정이 보유 고객 중 타겟 가능성이 높은 순서입니다. 맨 위 고객부터 보시면 됩니다.
추천 카드부터, 고객찾기 목록은 위에서부터. 고르는 일은 데이터가 먼저 해 둡니다. 그럼 고객찾기 화면을 열어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19:05–20:55 · 110초] 동의 전 연락 준비 · 일반대화 최적화 프롬프트 자동 세팅
진행: 12장 끝('이번 달 알림톡 보낼 고객입니다')을 받아 '그럼 동의를 받기 전에는…'으로 시작. 왼쪽 캡처 핀 ①(파란 질문 상자) → ②(성명·연락처 문구) → ③(빨간 [사전조회동의 요청하기]) 순서로 짚고, 오른쪽 위 조건 칩 세 개를 왼쪽부터, 아래 네 칸을 STEP 1→4로. 질문 속 '#암진단비 부족'은 지금 보고 있는 그룹, '#50대'는 고객 나이, '#보유'는 고객 유형에서 자동으로 들어가는 값. 시연 없이 캡처로만 설명(목업 탭은 14장 시연용으로 그대로 둠 · 목업 일반대화 답은 고정 예시라 전송해 보이지 않음). 마지막 문장 뒤 14장('세 번째 걸음, 묻기입니다')으로.
그럼 동의를 받기 전에는 아무것도 못 할까요? 아닙니다. 동의가 없어도 첫 연락 준비는 MeAI가 돕습니다.
김민수 고객처럼 사전조회동의가 필요한 고객을 고객찾기에서 누르면, 오른쪽에 파란 일반대화 질문이 자동으로 세팅됩니다. 일반대화에 맞춘 최적화 프롬프트입니다.
1번, 질문에는 고객 그룹, 나이대, 보유·가망·이관이 들어 있습니다. 암진단비 부족, 50대, 보유. 이 조건의 고객에게 보낼 안내 문자를 3~4줄로, 부담스럽지 않은 톤으로 써 달라는 질문입니다.
2번, 끝에 '고객 성명·연락처는 넣지 말 것'이 붙어 있습니다. 이름 대신 조건으로 묻는 일반대화라서, 보장 내역을 읽는 맞춤대화와 달리 동의 전에도 쓸 수 있습니다.
누르면 일반대화 입력창에 이 문장이 채워집니다. 전송만 누르면 안내 문자 초안이 나옵니다. 내용을 확인하고 내 말투로 다듬어 연락하세요.
3번, 연락하면서 [사전조회동의 요청하기]로 동의까지 받으면, 그다음은 맞춤대화입니다.
동의 전엔 일반대화로 다가가고, 동의 후엔 맞춤대화로 깊게.</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1.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9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_s25_1-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F28"/>
        </a:solidFill>
        <a:effectLst/>
      </p:bgPr>
    </p:bg>
    <p:spTree>
      <p:nvGrpSpPr>
        <p:cNvPr id="1" name=""/>
        <p:cNvGrpSpPr/>
        <p:nvPr/>
      </p:nvGrpSpPr>
      <p:grpSpPr>
        <a:xfrm>
          <a:off x="0" y="0"/>
          <a:ext cx="0" cy="0"/>
          <a:chOff x="0" y="0"/>
          <a:chExt cx="0" cy="0"/>
        </a:xfrm>
      </p:grpSpPr>
      <p:sp>
        <p:nvSpPr>
          <p:cNvPr id="2" name="Shape 0"/>
          <p:cNvSpPr/>
          <p:nvPr/>
        </p:nvSpPr>
        <p:spPr>
          <a:xfrm>
            <a:off x="1062446" y="1350363"/>
            <a:ext cx="2769616" cy="365760"/>
          </a:xfrm>
          <a:prstGeom prst="roundRect">
            <a:avLst>
              <a:gd name="adj" fmla="val 50000"/>
            </a:avLst>
          </a:prstGeom>
          <a:solidFill>
            <a:srgbClr val="2B3340"/>
          </a:solidFill>
          <a:ln w="12700">
            <a:solidFill>
              <a:srgbClr val="2B3340"/>
            </a:solidFill>
            <a:prstDash val="solid"/>
          </a:ln>
        </p:spPr>
      </p:sp>
      <p:sp>
        <p:nvSpPr>
          <p:cNvPr id="3" name="Text 1"/>
          <p:cNvSpPr txBox="1"/>
          <p:nvPr/>
        </p:nvSpPr>
        <p:spPr>
          <a:xfrm>
            <a:off x="1062446" y="1350363"/>
            <a:ext cx="2769616" cy="365760"/>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맑은 고딕" pitchFamily="34" charset="0"/>
                <a:ea typeface="맑은 고딕" pitchFamily="34" charset="-122"/>
              </a:rPr>
              <a:t>찾는 영업에서 찾아가는 영업으로</a:t>
            </a:r>
            <a:endParaRPr lang="en-US" sz="1400" dirty="0"/>
          </a:p>
        </p:txBody>
      </p:sp>
      <p:sp>
        <p:nvSpPr>
          <p:cNvPr id="4" name="Text 2"/>
          <p:cNvSpPr txBox="1"/>
          <p:nvPr/>
        </p:nvSpPr>
        <p:spPr>
          <a:xfrm>
            <a:off x="731520" y="1988233"/>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
        <p:nvSpPr>
          <p:cNvPr id="7" name="Text 5"/>
          <p:cNvSpPr txBox="1"/>
          <p:nvPr/>
        </p:nvSpPr>
        <p:spPr>
          <a:xfrm>
            <a:off x="937260" y="3999913"/>
            <a:ext cx="5486400" cy="320040"/>
          </a:xfrm>
          <a:prstGeom prst="rect">
            <a:avLst/>
          </a:prstGeom>
          <a:noFill/>
          <a:ln/>
        </p:spPr>
        <p:txBody>
          <a:bodyPr wrap="square" lIns="0" tIns="0" rIns="0" bIns="0" rtlCol="0" anchor="t"/>
          <a:lstStyle/>
          <a:p>
            <a:pPr marL="0" indent="0">
              <a:buNone/>
            </a:pPr>
            <a:r>
              <a:rPr lang="en-US" sz="2800" dirty="0">
                <a:solidFill>
                  <a:srgbClr val="FFFFFF">
                    <a:alpha val="70000"/>
                  </a:srgbClr>
                </a:solidFill>
                <a:latin typeface="맑은 고딕" pitchFamily="34" charset="0"/>
                <a:ea typeface="맑은 고딕" pitchFamily="34" charset="-122"/>
                <a:cs typeface="맑은 고딕" pitchFamily="34" charset="-120"/>
              </a:rPr>
              <a:t>메리츠화재 </a:t>
            </a:r>
            <a:r>
              <a:rPr lang="en-US" sz="2800" dirty="0" err="1">
                <a:solidFill>
                  <a:srgbClr val="FFFFFF">
                    <a:alpha val="70000"/>
                  </a:srgbClr>
                </a:solidFill>
                <a:latin typeface="맑은 고딕" pitchFamily="34" charset="0"/>
                <a:ea typeface="맑은 고딕" pitchFamily="34" charset="-122"/>
                <a:cs typeface="맑은 고딕" pitchFamily="34" charset="-120"/>
              </a:rPr>
              <a:t>세일즈혁신TF</a:t>
            </a:r>
            <a:endParaRPr lang="en-US" sz="2800" dirty="0"/>
          </a:p>
        </p:txBody>
      </p:sp>
      <p:sp>
        <p:nvSpPr>
          <p:cNvPr id="8" name="Shape 6"/>
          <p:cNvSpPr/>
          <p:nvPr/>
        </p:nvSpPr>
        <p:spPr>
          <a:xfrm>
            <a:off x="6629400" y="995521"/>
            <a:ext cx="5029200" cy="4592638"/>
          </a:xfrm>
          <a:prstGeom prst="roundRect">
            <a:avLst>
              <a:gd name="adj" fmla="val 219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9" name="Image 0" descr="MeAI 화면 캡처"/>
          <p:cNvPicPr>
            <a:picLocks noChangeAspect="1"/>
          </p:cNvPicPr>
          <p:nvPr/>
        </p:nvPicPr>
        <p:blipFill>
          <a:blip r:embed="rId3"/>
          <a:stretch>
            <a:fillRect/>
          </a:stretch>
        </p:blipFill>
        <p:spPr>
          <a:xfrm>
            <a:off x="6629400" y="995521"/>
            <a:ext cx="5029200" cy="4592638"/>
          </a:xfrm>
          <a:prstGeom prst="rect">
            <a:avLst/>
          </a:prstGeom>
        </p:spPr>
      </p:pic>
      <p:sp>
        <p:nvSpPr>
          <p:cNvPr id="11" name="Text 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12" name="Text 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cs typeface="맑은 고딕"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여는 말 · 오늘의 순서</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a:t>
            </a:r>
            <a:r>
              <a:rPr lang="ko-KR" altLang="en-US" sz="1150" dirty="0">
                <a:solidFill>
                  <a:srgbClr val="4E5968"/>
                </a:solidFill>
                <a:latin typeface="맑은 고딕" pitchFamily="34" charset="0"/>
                <a:ea typeface="맑은 고딕" pitchFamily="34" charset="-122"/>
                <a:cs typeface="맑은 고딕" pitchFamily="34" charset="-120"/>
              </a:rPr>
              <a:t>연락하기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완성된 영업 사이클</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내 고객을 MeAI 홈에서 찾아, MeAI에게 묻고, </a:t>
            </a:r>
            <a:r>
              <a:rPr lang="ko-KR" altLang="en-US" sz="1700" dirty="0">
                <a:solidFill>
                  <a:srgbClr val="6B7684"/>
                </a:solidFill>
                <a:latin typeface="맑은 고딕" pitchFamily="34" charset="0"/>
                <a:ea typeface="맑은 고딕" pitchFamily="34" charset="-122"/>
                <a:cs typeface="맑은 고딕" pitchFamily="34" charset="-120"/>
              </a:rPr>
              <a:t>고객 연락까지</a:t>
            </a:r>
            <a:endParaRPr lang="en-US" sz="1700" dirty="0"/>
          </a:p>
        </p:txBody>
      </p:sp>
      <p:sp>
        <p:nvSpPr>
          <p:cNvPr id="13" name="Shape 11"/>
          <p:cNvSpPr/>
          <p:nvPr/>
        </p:nvSpPr>
        <p:spPr>
          <a:xfrm>
            <a:off x="548640" y="1965960"/>
            <a:ext cx="11094415" cy="822960"/>
          </a:xfrm>
          <a:prstGeom prst="roundRect">
            <a:avLst>
              <a:gd name="adj" fmla="val 15556"/>
            </a:avLst>
          </a:prstGeom>
          <a:solidFill>
            <a:srgbClr val="F9FAFB"/>
          </a:solidFill>
          <a:ln w="12700">
            <a:solidFill>
              <a:srgbClr val="F9FAFB"/>
            </a:solidFill>
            <a:prstDash val="solid"/>
          </a:ln>
        </p:spPr>
      </p:sp>
      <p:sp>
        <p:nvSpPr>
          <p:cNvPr id="14" name="Shape 12"/>
          <p:cNvSpPr/>
          <p:nvPr/>
        </p:nvSpPr>
        <p:spPr>
          <a:xfrm>
            <a:off x="822960" y="2185416"/>
            <a:ext cx="721360" cy="384048"/>
          </a:xfrm>
          <a:prstGeom prst="roundRect">
            <a:avLst>
              <a:gd name="adj" fmla="val 50000"/>
            </a:avLst>
          </a:prstGeom>
          <a:solidFill>
            <a:srgbClr val="191F28"/>
          </a:solidFill>
          <a:ln w="12700">
            <a:solidFill>
              <a:srgbClr val="191F28"/>
            </a:solidFill>
            <a:prstDash val="solid"/>
          </a:ln>
        </p:spPr>
      </p:sp>
      <p:sp>
        <p:nvSpPr>
          <p:cNvPr id="15" name="Text 13"/>
          <p:cNvSpPr txBox="1"/>
          <p:nvPr/>
        </p:nvSpPr>
        <p:spPr>
          <a:xfrm>
            <a:off x="822960" y="2185416"/>
            <a:ext cx="7213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먼저</a:t>
            </a:r>
            <a:endParaRPr lang="en-US" sz="1400" dirty="0"/>
          </a:p>
        </p:txBody>
      </p:sp>
      <p:sp>
        <p:nvSpPr>
          <p:cNvPr id="16" name="Text 14"/>
          <p:cNvSpPr txBox="1"/>
          <p:nvPr/>
        </p:nvSpPr>
        <p:spPr>
          <a:xfrm>
            <a:off x="1818640" y="1965960"/>
            <a:ext cx="2103120" cy="82296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왜 MeAI 홈인가</a:t>
            </a:r>
            <a:endParaRPr lang="en-US" sz="1900" dirty="0"/>
          </a:p>
        </p:txBody>
      </p:sp>
      <p:sp>
        <p:nvSpPr>
          <p:cNvPr id="17" name="Text 15"/>
          <p:cNvSpPr txBox="1"/>
          <p:nvPr/>
        </p:nvSpPr>
        <p:spPr>
          <a:xfrm>
            <a:off x="3731514" y="1965960"/>
            <a:ext cx="320040" cy="82296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8" name="Text 16"/>
          <p:cNvSpPr txBox="1"/>
          <p:nvPr/>
        </p:nvSpPr>
        <p:spPr>
          <a:xfrm>
            <a:off x="4188714" y="1965960"/>
            <a:ext cx="2103120" cy="822960"/>
          </a:xfrm>
          <a:prstGeom prst="rect">
            <a:avLst/>
          </a:prstGeom>
          <a:noFill/>
          <a:ln/>
        </p:spPr>
        <p:txBody>
          <a:bodyPr wrap="square" lIns="0" tIns="0" rIns="0" bIns="0" rtlCol="0" anchor="ctr"/>
          <a:lstStyle/>
          <a:p>
            <a:pPr marL="0" indent="0">
              <a:buNone/>
            </a:pPr>
            <a:r>
              <a:rPr lang="en-US" sz="1900" b="1" dirty="0">
                <a:solidFill>
                  <a:srgbClr val="7048E8"/>
                </a:solidFill>
                <a:latin typeface="맑은 고딕" pitchFamily="34" charset="0"/>
                <a:ea typeface="맑은 고딕" pitchFamily="34" charset="-122"/>
                <a:cs typeface="맑은 고딕" pitchFamily="34" charset="-120"/>
              </a:rPr>
              <a:t>만든 분께 듣기</a:t>
            </a:r>
            <a:endParaRPr lang="en-US" sz="1900" dirty="0"/>
          </a:p>
        </p:txBody>
      </p:sp>
      <p:sp>
        <p:nvSpPr>
          <p:cNvPr id="19" name="Text 17"/>
          <p:cNvSpPr txBox="1"/>
          <p:nvPr/>
        </p:nvSpPr>
        <p:spPr>
          <a:xfrm>
            <a:off x="6055614" y="1965960"/>
            <a:ext cx="5404561" cy="822960"/>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AI추진파트 문현우님 · 이경복님</a:t>
            </a:r>
            <a:endParaRPr lang="en-US" sz="1600" dirty="0"/>
          </a:p>
          <a:p>
            <a:pPr marL="0" indent="0">
              <a:buNone/>
            </a:pPr>
            <a:r>
              <a:rPr lang="ko-KR" altLang="en-US" sz="1400" dirty="0">
                <a:solidFill>
                  <a:srgbClr val="6B7684"/>
                </a:solidFill>
                <a:latin typeface="맑은 고딕" pitchFamily="34" charset="0"/>
                <a:ea typeface="맑은 고딕" pitchFamily="34" charset="-122"/>
                <a:cs typeface="맑은 고딕" pitchFamily="34" charset="-120"/>
              </a:rPr>
              <a:t>개발자에게 직접 들어보는 </a:t>
            </a:r>
            <a:r>
              <a:rPr lang="en-US" sz="1400" dirty="0" err="1">
                <a:solidFill>
                  <a:srgbClr val="6B7684"/>
                </a:solidFill>
                <a:latin typeface="맑은 고딕" pitchFamily="34" charset="0"/>
                <a:ea typeface="맑은 고딕" pitchFamily="34" charset="-122"/>
                <a:cs typeface="맑은 고딕" pitchFamily="34" charset="-120"/>
              </a:rPr>
              <a:t>MeAI</a:t>
            </a:r>
            <a:r>
              <a:rPr lang="en-US" sz="1400" dirty="0">
                <a:solidFill>
                  <a:srgbClr val="6B7684"/>
                </a:solidFill>
                <a:latin typeface="맑은 고딕" pitchFamily="34" charset="0"/>
                <a:ea typeface="맑은 고딕" pitchFamily="34" charset="-122"/>
                <a:cs typeface="맑은 고딕" pitchFamily="34" charset="-120"/>
              </a:rPr>
              <a:t> 홈</a:t>
            </a:r>
            <a:endParaRPr lang="en-US" sz="1600" dirty="0"/>
          </a:p>
        </p:txBody>
      </p:sp>
      <p:sp>
        <p:nvSpPr>
          <p:cNvPr id="20" name="Text 18"/>
          <p:cNvSpPr txBox="1"/>
          <p:nvPr/>
        </p:nvSpPr>
        <p:spPr>
          <a:xfrm>
            <a:off x="548640" y="2926080"/>
            <a:ext cx="3657600" cy="329184"/>
          </a:xfrm>
          <a:prstGeom prst="rect">
            <a:avLst/>
          </a:prstGeom>
          <a:noFill/>
          <a:ln/>
        </p:spPr>
        <p:txBody>
          <a:bodyPr wrap="square" lIns="0" tIns="0" rIns="0" bIns="0" rtlCol="0" anchor="ctr"/>
          <a:lstStyle/>
          <a:p>
            <a:pPr marL="0" indent="0">
              <a:buNone/>
            </a:pPr>
            <a:r>
              <a:rPr lang="en-US" sz="1400" b="1" dirty="0">
                <a:solidFill>
                  <a:srgbClr val="6B7684"/>
                </a:solidFill>
                <a:latin typeface="맑은 고딕" pitchFamily="34" charset="0"/>
                <a:ea typeface="맑은 고딕" pitchFamily="34" charset="-122"/>
                <a:cs typeface="맑은 고딕" pitchFamily="34" charset="-120"/>
              </a:rPr>
              <a:t>그다음, 네 걸음</a:t>
            </a:r>
            <a:endParaRPr lang="en-US" sz="1400" dirty="0"/>
          </a:p>
        </p:txBody>
      </p:sp>
      <p:sp>
        <p:nvSpPr>
          <p:cNvPr id="21" name="Shape 19"/>
          <p:cNvSpPr/>
          <p:nvPr/>
        </p:nvSpPr>
        <p:spPr>
          <a:xfrm>
            <a:off x="548640"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2" name="Text 20"/>
          <p:cNvSpPr txBox="1"/>
          <p:nvPr/>
        </p:nvSpPr>
        <p:spPr>
          <a:xfrm>
            <a:off x="822960"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1 찾기</a:t>
            </a:r>
            <a:endParaRPr lang="en-US" sz="2400" dirty="0"/>
          </a:p>
        </p:txBody>
      </p:sp>
      <p:sp>
        <p:nvSpPr>
          <p:cNvPr id="23" name="Text 21"/>
          <p:cNvSpPr txBox="1"/>
          <p:nvPr/>
        </p:nvSpPr>
        <p:spPr>
          <a:xfrm>
            <a:off x="822960"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홈</a:t>
            </a:r>
            <a:endParaRPr lang="en-US" sz="1400" dirty="0"/>
          </a:p>
        </p:txBody>
      </p:sp>
      <p:sp>
        <p:nvSpPr>
          <p:cNvPr id="24" name="Text 22"/>
          <p:cNvSpPr txBox="1"/>
          <p:nvPr/>
        </p:nvSpPr>
        <p:spPr>
          <a:xfrm>
            <a:off x="822960"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오늘 연락할 내 고객을</a:t>
            </a:r>
            <a:endParaRPr lang="en-US" sz="1450" dirty="0"/>
          </a:p>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추천 </a:t>
            </a:r>
            <a:r>
              <a:rPr lang="en-US" sz="1450" dirty="0" err="1">
                <a:solidFill>
                  <a:srgbClr val="6B7684"/>
                </a:solidFill>
                <a:latin typeface="맑은 고딕" pitchFamily="34" charset="0"/>
                <a:ea typeface="맑은 고딕" pitchFamily="34" charset="-122"/>
                <a:cs typeface="맑은 고딕" pitchFamily="34" charset="-120"/>
              </a:rPr>
              <a:t>카드로</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찾기</a:t>
            </a:r>
            <a:endParaRPr lang="en-US" sz="1450" dirty="0"/>
          </a:p>
        </p:txBody>
      </p:sp>
      <p:sp>
        <p:nvSpPr>
          <p:cNvPr id="25" name="Shape 23"/>
          <p:cNvSpPr/>
          <p:nvPr/>
        </p:nvSpPr>
        <p:spPr>
          <a:xfrm>
            <a:off x="3372536"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6" name="Text 24"/>
          <p:cNvSpPr txBox="1"/>
          <p:nvPr/>
        </p:nvSpPr>
        <p:spPr>
          <a:xfrm>
            <a:off x="3646856"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2 고르기</a:t>
            </a:r>
            <a:endParaRPr lang="en-US" sz="2400" dirty="0"/>
          </a:p>
        </p:txBody>
      </p:sp>
      <p:sp>
        <p:nvSpPr>
          <p:cNvPr id="27" name="Text 25"/>
          <p:cNvSpPr txBox="1"/>
          <p:nvPr/>
        </p:nvSpPr>
        <p:spPr>
          <a:xfrm>
            <a:off x="3646856"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MeAI 고객찾기</a:t>
            </a:r>
            <a:endParaRPr lang="en-US" sz="1400" dirty="0"/>
          </a:p>
        </p:txBody>
      </p:sp>
      <p:sp>
        <p:nvSpPr>
          <p:cNvPr id="28" name="Text 26"/>
          <p:cNvSpPr txBox="1"/>
          <p:nvPr/>
        </p:nvSpPr>
        <p:spPr>
          <a:xfrm>
            <a:off x="3646856"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상황을 한눈에 보고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연락할</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고객 선택</a:t>
            </a:r>
            <a:endParaRPr lang="en-US" sz="1450" dirty="0"/>
          </a:p>
        </p:txBody>
      </p:sp>
      <p:sp>
        <p:nvSpPr>
          <p:cNvPr id="29" name="Shape 27"/>
          <p:cNvSpPr/>
          <p:nvPr/>
        </p:nvSpPr>
        <p:spPr>
          <a:xfrm>
            <a:off x="6196432" y="3310128"/>
            <a:ext cx="2622728" cy="1920240"/>
          </a:xfrm>
          <a:prstGeom prst="roundRect">
            <a:avLst>
              <a:gd name="adj" fmla="val 7619"/>
            </a:avLst>
          </a:prstGeom>
          <a:solidFill>
            <a:srgbClr val="3182F6"/>
          </a:solidFill>
          <a:ln w="12700">
            <a:solidFill>
              <a:srgbClr val="3182F6"/>
            </a:solidFill>
            <a:prstDash val="solid"/>
          </a:ln>
        </p:spPr>
      </p:sp>
      <p:sp>
        <p:nvSpPr>
          <p:cNvPr id="30" name="Text 28"/>
          <p:cNvSpPr txBox="1"/>
          <p:nvPr/>
        </p:nvSpPr>
        <p:spPr>
          <a:xfrm>
            <a:off x="6470752" y="3493008"/>
            <a:ext cx="2165528" cy="502920"/>
          </a:xfrm>
          <a:prstGeom prst="rect">
            <a:avLst/>
          </a:prstGeom>
          <a:noFill/>
          <a:ln/>
        </p:spPr>
        <p:txBody>
          <a:bodyPr wrap="square" lIns="0" tIns="0" rIns="0" bIns="0" rtlCol="0" anchor="ctr"/>
          <a:lstStyle/>
          <a:p>
            <a:pPr marL="0" indent="0">
              <a:buNone/>
            </a:pPr>
            <a:r>
              <a:rPr lang="en-US" sz="2400" b="1" dirty="0">
                <a:solidFill>
                  <a:srgbClr val="FFFFFF"/>
                </a:solidFill>
                <a:latin typeface="맑은 고딕" pitchFamily="34" charset="0"/>
                <a:ea typeface="맑은 고딕" pitchFamily="34" charset="-122"/>
                <a:cs typeface="맑은 고딕" pitchFamily="34" charset="-120"/>
              </a:rPr>
              <a:t>3 묻기</a:t>
            </a:r>
            <a:endParaRPr lang="en-US" sz="2400" dirty="0"/>
          </a:p>
        </p:txBody>
      </p:sp>
      <p:sp>
        <p:nvSpPr>
          <p:cNvPr id="31" name="Text 29"/>
          <p:cNvSpPr txBox="1"/>
          <p:nvPr/>
        </p:nvSpPr>
        <p:spPr>
          <a:xfrm>
            <a:off x="6470752" y="3995928"/>
            <a:ext cx="2165528"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일반대화 · 맞춤대화</a:t>
            </a:r>
            <a:endParaRPr lang="en-US" sz="1400" dirty="0"/>
          </a:p>
        </p:txBody>
      </p:sp>
      <p:sp>
        <p:nvSpPr>
          <p:cNvPr id="32" name="Text 30"/>
          <p:cNvSpPr txBox="1"/>
          <p:nvPr/>
        </p:nvSpPr>
        <p:spPr>
          <a:xfrm>
            <a:off x="6470752"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MeAI </a:t>
            </a:r>
            <a:r>
              <a:rPr lang="en-US" sz="1450" dirty="0" err="1">
                <a:solidFill>
                  <a:srgbClr val="FFFFFF"/>
                </a:solidFill>
                <a:latin typeface="맑은 고딕" pitchFamily="34" charset="0"/>
                <a:ea typeface="맑은 고딕" pitchFamily="34" charset="-122"/>
                <a:cs typeface="맑은 고딕" pitchFamily="34" charset="-120"/>
              </a:rPr>
              <a:t>활용</a:t>
            </a:r>
            <a:r>
              <a:rPr lang="en-US" sz="1450" dirty="0">
                <a:solidFill>
                  <a:srgbClr val="FFFFFF"/>
                </a:solidFill>
                <a:latin typeface="맑은 고딕" pitchFamily="34" charset="0"/>
                <a:ea typeface="맑은 고딕" pitchFamily="34" charset="-122"/>
                <a:cs typeface="맑은 고딕" pitchFamily="34" charset="-120"/>
              </a:rPr>
              <a:t> </a:t>
            </a:r>
            <a:r>
              <a:rPr lang="en-US" sz="1450" dirty="0" err="1">
                <a:solidFill>
                  <a:srgbClr val="FFFFFF"/>
                </a:solidFill>
                <a:latin typeface="맑은 고딕" pitchFamily="34" charset="0"/>
                <a:ea typeface="맑은 고딕" pitchFamily="34" charset="-122"/>
                <a:cs typeface="맑은 고딕" pitchFamily="34" charset="-120"/>
              </a:rPr>
              <a:t>방법</a:t>
            </a:r>
            <a:endParaRPr lang="en-US" sz="1450" dirty="0">
              <a:solidFill>
                <a:srgbClr val="FFFFFF"/>
              </a:solidFill>
              <a:latin typeface="맑은 고딕" pitchFamily="34" charset="0"/>
              <a:ea typeface="맑은 고딕" pitchFamily="34" charset="-122"/>
              <a:cs typeface="맑은 고딕" pitchFamily="34" charset="-120"/>
            </a:endParaRPr>
          </a:p>
          <a:p>
            <a:pPr marL="0" indent="0">
              <a:lnSpc>
                <a:spcPct val="120000"/>
              </a:lnSpc>
              <a:buNone/>
            </a:pPr>
            <a:r>
              <a:rPr lang="ko-KR" altLang="en-US" sz="1450" dirty="0">
                <a:solidFill>
                  <a:srgbClr val="FFFFFF"/>
                </a:solidFill>
                <a:latin typeface="맑은 고딕" pitchFamily="34" charset="0"/>
                <a:ea typeface="맑은 고딕" pitchFamily="34" charset="-122"/>
              </a:rPr>
              <a:t>기능으로 확인하기</a:t>
            </a:r>
            <a:endParaRPr lang="en-US" sz="1450" dirty="0"/>
          </a:p>
        </p:txBody>
      </p:sp>
      <p:sp>
        <p:nvSpPr>
          <p:cNvPr id="35" name="Shape 33"/>
          <p:cNvSpPr/>
          <p:nvPr/>
        </p:nvSpPr>
        <p:spPr>
          <a:xfrm>
            <a:off x="9020327" y="3310128"/>
            <a:ext cx="2622728" cy="1920240"/>
          </a:xfrm>
          <a:prstGeom prst="roundRect">
            <a:avLst>
              <a:gd name="adj" fmla="val 761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6" name="Text 34"/>
          <p:cNvSpPr txBox="1"/>
          <p:nvPr/>
        </p:nvSpPr>
        <p:spPr>
          <a:xfrm>
            <a:off x="9294647" y="3493008"/>
            <a:ext cx="2165528" cy="502920"/>
          </a:xfrm>
          <a:prstGeom prst="rect">
            <a:avLst/>
          </a:prstGeom>
          <a:noFill/>
          <a:ln/>
        </p:spPr>
        <p:txBody>
          <a:bodyPr wrap="square" lIns="0" tIns="0" rIns="0" bIns="0" rtlCol="0" anchor="ctr"/>
          <a:lstStyle/>
          <a:p>
            <a:pPr marL="0" indent="0">
              <a:buNone/>
            </a:pPr>
            <a:r>
              <a:rPr lang="en-US" sz="2400" b="1" dirty="0">
                <a:solidFill>
                  <a:srgbClr val="191F28"/>
                </a:solidFill>
                <a:latin typeface="맑은 고딕" pitchFamily="34" charset="0"/>
                <a:ea typeface="맑은 고딕" pitchFamily="34" charset="-122"/>
                <a:cs typeface="맑은 고딕" pitchFamily="34" charset="-120"/>
              </a:rPr>
              <a:t>4 </a:t>
            </a:r>
            <a:r>
              <a:rPr lang="ko-KR" altLang="en-US" sz="2400" b="1" dirty="0">
                <a:solidFill>
                  <a:srgbClr val="191F28"/>
                </a:solidFill>
                <a:latin typeface="맑은 고딕" pitchFamily="34" charset="0"/>
                <a:ea typeface="맑은 고딕" pitchFamily="34" charset="-122"/>
                <a:cs typeface="맑은 고딕" pitchFamily="34" charset="-120"/>
              </a:rPr>
              <a:t>연락하기</a:t>
            </a:r>
            <a:endParaRPr lang="en-US" sz="2400" dirty="0"/>
          </a:p>
        </p:txBody>
      </p:sp>
      <p:sp>
        <p:nvSpPr>
          <p:cNvPr id="37" name="Text 35"/>
          <p:cNvSpPr txBox="1"/>
          <p:nvPr/>
        </p:nvSpPr>
        <p:spPr>
          <a:xfrm>
            <a:off x="9294647" y="3995928"/>
            <a:ext cx="2165528"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고객에게 연락</a:t>
            </a:r>
            <a:endParaRPr lang="en-US" sz="1400" dirty="0"/>
          </a:p>
        </p:txBody>
      </p:sp>
      <p:sp>
        <p:nvSpPr>
          <p:cNvPr id="38" name="Text 36"/>
          <p:cNvSpPr txBox="1"/>
          <p:nvPr/>
        </p:nvSpPr>
        <p:spPr>
          <a:xfrm>
            <a:off x="9294647" y="4361688"/>
            <a:ext cx="2165528" cy="731520"/>
          </a:xfrm>
          <a:prstGeom prst="rect">
            <a:avLst/>
          </a:prstGeom>
          <a:noFill/>
          <a:ln/>
        </p:spPr>
        <p:txBody>
          <a:bodyPr wrap="square" lIns="0" tIns="0" rIns="0" bIns="0" rtlCol="0" anchor="t"/>
          <a:lstStyle/>
          <a:p>
            <a:pPr marL="0" indent="0">
              <a:lnSpc>
                <a:spcPct val="120000"/>
              </a:lnSpc>
              <a:buNone/>
            </a:pPr>
            <a:r>
              <a:rPr lang="en-US" sz="1450" dirty="0">
                <a:solidFill>
                  <a:srgbClr val="6B7684"/>
                </a:solidFill>
                <a:latin typeface="맑은 고딕" pitchFamily="34" charset="0"/>
                <a:ea typeface="맑은 고딕" pitchFamily="34" charset="-122"/>
                <a:cs typeface="맑은 고딕" pitchFamily="34" charset="-120"/>
              </a:rPr>
              <a:t>카드의 첫 말로 연락하고</a:t>
            </a:r>
            <a:endParaRPr lang="en-US" sz="1450" dirty="0"/>
          </a:p>
          <a:p>
            <a:pPr marL="0" indent="0">
              <a:lnSpc>
                <a:spcPct val="120000"/>
              </a:lnSpc>
              <a:buNone/>
            </a:pPr>
            <a:r>
              <a:rPr lang="en-US" sz="1450" dirty="0" err="1">
                <a:solidFill>
                  <a:srgbClr val="6B7684"/>
                </a:solidFill>
                <a:latin typeface="맑은 고딕" pitchFamily="34" charset="0"/>
                <a:ea typeface="맑은 고딕" pitchFamily="34" charset="-122"/>
                <a:cs typeface="맑은 고딕" pitchFamily="34" charset="-120"/>
              </a:rPr>
              <a:t>리포트까지</a:t>
            </a:r>
            <a:r>
              <a:rPr lang="en-US" sz="1450" dirty="0">
                <a:solidFill>
                  <a:srgbClr val="6B7684"/>
                </a:solidFill>
                <a:latin typeface="맑은 고딕" pitchFamily="34" charset="0"/>
                <a:ea typeface="맑은 고딕" pitchFamily="34" charset="-122"/>
                <a:cs typeface="맑은 고딕" pitchFamily="34" charset="-120"/>
              </a:rPr>
              <a:t> </a:t>
            </a:r>
            <a:r>
              <a:rPr lang="ko-KR" altLang="en-US" sz="1450" dirty="0">
                <a:solidFill>
                  <a:srgbClr val="6B7684"/>
                </a:solidFill>
                <a:latin typeface="맑은 고딕" pitchFamily="34" charset="0"/>
                <a:ea typeface="맑은 고딕" pitchFamily="34" charset="-122"/>
                <a:cs typeface="맑은 고딕" pitchFamily="34" charset="-120"/>
              </a:rPr>
              <a:t>발송하기</a:t>
            </a:r>
            <a:endParaRPr lang="en-US" sz="1450" dirty="0"/>
          </a:p>
        </p:txBody>
      </p:sp>
      <p:sp>
        <p:nvSpPr>
          <p:cNvPr id="39" name="Shape 37"/>
          <p:cNvSpPr/>
          <p:nvPr/>
        </p:nvSpPr>
        <p:spPr>
          <a:xfrm>
            <a:off x="548640" y="5440680"/>
            <a:ext cx="11094415" cy="777240"/>
          </a:xfrm>
          <a:prstGeom prst="roundRect">
            <a:avLst>
              <a:gd name="adj" fmla="val 16471"/>
            </a:avLst>
          </a:prstGeom>
          <a:solidFill>
            <a:srgbClr val="191F28"/>
          </a:solidFill>
          <a:ln w="12700">
            <a:solidFill>
              <a:srgbClr val="191F28"/>
            </a:solidFill>
            <a:prstDash val="solid"/>
          </a:ln>
        </p:spPr>
      </p:sp>
      <p:sp>
        <p:nvSpPr>
          <p:cNvPr id="40" name="Text 38"/>
          <p:cNvSpPr txBox="1"/>
          <p:nvPr/>
        </p:nvSpPr>
        <p:spPr>
          <a:xfrm>
            <a:off x="868680" y="5440680"/>
            <a:ext cx="10454335" cy="777240"/>
          </a:xfrm>
          <a:prstGeom prst="rect">
            <a:avLst/>
          </a:prstGeom>
          <a:noFill/>
          <a:ln/>
        </p:spPr>
        <p:txBody>
          <a:bodyPr wrap="square" lIns="0" tIns="0" rIns="0" bIns="0" rtlCol="0" anchor="ctr"/>
          <a:lstStyle/>
          <a:p>
            <a:pPr marL="0" indent="0">
              <a:buNone/>
            </a:pPr>
            <a:r>
              <a:rPr lang="en-US" sz="2000" b="1" dirty="0">
                <a:solidFill>
                  <a:srgbClr val="C9E2FF"/>
                </a:solidFill>
                <a:latin typeface="맑은 고딕" pitchFamily="34" charset="0"/>
                <a:ea typeface="맑은 고딕" pitchFamily="34" charset="-122"/>
                <a:cs typeface="맑은 고딕" pitchFamily="34" charset="-120"/>
              </a:rPr>
              <a:t>기억할 한 문장   </a:t>
            </a:r>
            <a:r>
              <a:rPr lang="en-US" sz="20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2000" dirty="0"/>
          </a:p>
        </p:txBody>
      </p:sp>
      <p:sp>
        <p:nvSpPr>
          <p:cNvPr id="41" name="Text 3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2" name="Text 4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왜 MeAI 홈인가</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보유 고객 </a:t>
            </a:r>
            <a:r>
              <a:rPr lang="en-US" sz="3400" b="1" dirty="0" err="1">
                <a:solidFill>
                  <a:srgbClr val="191F28"/>
                </a:solidFill>
                <a:latin typeface="맑은 고딕" pitchFamily="34" charset="0"/>
                <a:ea typeface="맑은 고딕" pitchFamily="34" charset="-122"/>
                <a:cs typeface="맑은 고딕" pitchFamily="34" charset="-120"/>
              </a:rPr>
              <a:t>열에</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아홉</a:t>
            </a:r>
            <a:r>
              <a:rPr lang="ko-KR" altLang="en-US" sz="3400" b="1" dirty="0">
                <a:solidFill>
                  <a:srgbClr val="191F28"/>
                </a:solidFill>
                <a:latin typeface="맑은 고딕" pitchFamily="34" charset="0"/>
                <a:ea typeface="맑은 고딕" pitchFamily="34" charset="-122"/>
                <a:cs typeface="맑은 고딕" pitchFamily="34" charset="-120"/>
              </a:rPr>
              <a:t>은 방치상태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고객 한 명 영업하려면 </a:t>
            </a:r>
            <a:r>
              <a:rPr lang="en-US" sz="1700" dirty="0" err="1">
                <a:solidFill>
                  <a:srgbClr val="6B7684"/>
                </a:solidFill>
                <a:latin typeface="맑은 고딕" pitchFamily="34" charset="0"/>
                <a:ea typeface="맑은 고딕" pitchFamily="34" charset="-122"/>
                <a:cs typeface="맑은 고딕" pitchFamily="34" charset="-120"/>
              </a:rPr>
              <a:t>누구에게</a:t>
            </a:r>
            <a:r>
              <a:rPr lang="en-US" sz="1700" dirty="0">
                <a:solidFill>
                  <a:srgbClr val="6B7684"/>
                </a:solidFill>
                <a:latin typeface="맑은 고딕" pitchFamily="34" charset="0"/>
                <a:ea typeface="맑은 고딕" pitchFamily="34" charset="-122"/>
                <a:cs typeface="맑은 고딕" pitchFamily="34" charset="-120"/>
              </a:rPr>
              <a:t> · 왜 지금 · </a:t>
            </a:r>
            <a:r>
              <a:rPr lang="en-US" sz="1700" dirty="0" err="1">
                <a:solidFill>
                  <a:srgbClr val="6B7684"/>
                </a:solidFill>
                <a:latin typeface="맑은 고딕" pitchFamily="34" charset="0"/>
                <a:ea typeface="맑은 고딕" pitchFamily="34" charset="-122"/>
                <a:cs typeface="맑은 고딕" pitchFamily="34" charset="-120"/>
              </a:rPr>
              <a:t>무슨</a:t>
            </a:r>
            <a:r>
              <a:rPr lang="en-US" sz="1700" dirty="0">
                <a:solidFill>
                  <a:srgbClr val="6B7684"/>
                </a:solidFill>
                <a:latin typeface="맑은 고딕" pitchFamily="34" charset="0"/>
                <a:ea typeface="맑은 고딕" pitchFamily="34" charset="-122"/>
                <a:cs typeface="맑은 고딕" pitchFamily="34" charset="-120"/>
              </a:rPr>
              <a:t> 말</a:t>
            </a:r>
            <a:r>
              <a:rPr lang="ko-KR" altLang="en-US" sz="1700" dirty="0">
                <a:solidFill>
                  <a:srgbClr val="6B7684"/>
                </a:solidFill>
                <a:latin typeface="맑은 고딕" pitchFamily="34" charset="0"/>
                <a:ea typeface="맑은 고딕" pitchFamily="34" charset="-122"/>
                <a:cs typeface="맑은 고딕" pitchFamily="34" charset="-120"/>
              </a:rPr>
              <a:t>을 할지 고민해야 했던 현실</a:t>
            </a:r>
            <a:endParaRPr lang="en-US" sz="1700" dirty="0"/>
          </a:p>
        </p:txBody>
      </p:sp>
      <p:sp>
        <p:nvSpPr>
          <p:cNvPr id="13" name="Shape 11"/>
          <p:cNvSpPr/>
          <p:nvPr/>
        </p:nvSpPr>
        <p:spPr>
          <a:xfrm>
            <a:off x="548640" y="2011680"/>
            <a:ext cx="3564026" cy="2240280"/>
          </a:xfrm>
          <a:prstGeom prst="roundRect">
            <a:avLst>
              <a:gd name="adj" fmla="val 6531"/>
            </a:avLst>
          </a:prstGeom>
          <a:solidFill>
            <a:srgbClr val="FFFFFF"/>
          </a:solidFill>
          <a:ln w="9525">
            <a:solidFill>
              <a:srgbClr val="E5E8EB"/>
            </a:solidFill>
            <a:prstDash val="solid"/>
          </a:ln>
        </p:spPr>
      </p:sp>
      <p:sp>
        <p:nvSpPr>
          <p:cNvPr id="14" name="Text 12"/>
          <p:cNvSpPr txBox="1"/>
          <p:nvPr/>
        </p:nvSpPr>
        <p:spPr>
          <a:xfrm>
            <a:off x="868680"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7%</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5" name="Text 13"/>
          <p:cNvSpPr txBox="1"/>
          <p:nvPr/>
        </p:nvSpPr>
        <p:spPr>
          <a:xfrm>
            <a:off x="868680"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보유 고객 중 영업 시도</a:t>
            </a:r>
            <a:endParaRPr lang="en-US" sz="1900" dirty="0"/>
          </a:p>
        </p:txBody>
      </p:sp>
      <p:sp>
        <p:nvSpPr>
          <p:cNvPr id="16" name="Shape 14"/>
          <p:cNvSpPr/>
          <p:nvPr/>
        </p:nvSpPr>
        <p:spPr>
          <a:xfrm>
            <a:off x="4313834" y="2011680"/>
            <a:ext cx="3564026" cy="2240280"/>
          </a:xfrm>
          <a:prstGeom prst="roundRect">
            <a:avLst>
              <a:gd name="adj" fmla="val 6531"/>
            </a:avLst>
          </a:prstGeom>
          <a:solidFill>
            <a:srgbClr val="FFFFFF"/>
          </a:solidFill>
          <a:ln w="9525">
            <a:solidFill>
              <a:srgbClr val="E5E8EB"/>
            </a:solidFill>
            <a:prstDash val="solid"/>
          </a:ln>
        </p:spPr>
      </p:sp>
      <p:sp>
        <p:nvSpPr>
          <p:cNvPr id="17" name="Text 15"/>
          <p:cNvSpPr txBox="1"/>
          <p:nvPr/>
        </p:nvSpPr>
        <p:spPr>
          <a:xfrm>
            <a:off x="4633874" y="2194560"/>
            <a:ext cx="3106826" cy="1188720"/>
          </a:xfrm>
          <a:prstGeom prst="rect">
            <a:avLst/>
          </a:prstGeom>
          <a:noFill/>
          <a:ln/>
        </p:spPr>
        <p:txBody>
          <a:bodyPr wrap="square" lIns="0" tIns="0" rIns="0" bIns="0" rtlCol="0" anchor="ctr"/>
          <a:lstStyle/>
          <a:p>
            <a:pPr marL="0" indent="0">
              <a:buNone/>
            </a:pPr>
            <a:r>
              <a:rPr lang="en-US" sz="7200" b="1" dirty="0">
                <a:solidFill>
                  <a:srgbClr val="F04452"/>
                </a:solidFill>
                <a:latin typeface="맑은 고딕" pitchFamily="34" charset="0"/>
                <a:ea typeface="맑은 고딕" pitchFamily="34" charset="-122"/>
                <a:cs typeface="맑은 고딕" pitchFamily="34" charset="-120"/>
              </a:rPr>
              <a:t>2%</a:t>
            </a:r>
            <a:r>
              <a:rPr lang="en-US" sz="2400" b="1" dirty="0">
                <a:solidFill>
                  <a:srgbClr val="F04452"/>
                </a:solidFill>
                <a:latin typeface="맑은 고딕" pitchFamily="34" charset="0"/>
                <a:ea typeface="맑은 고딕" pitchFamily="34" charset="-122"/>
                <a:cs typeface="맑은 고딕" pitchFamily="34" charset="-120"/>
              </a:rPr>
              <a:t>  미만</a:t>
            </a:r>
            <a:endParaRPr lang="en-US" sz="7200" dirty="0"/>
          </a:p>
        </p:txBody>
      </p:sp>
      <p:sp>
        <p:nvSpPr>
          <p:cNvPr id="18" name="Text 16"/>
          <p:cNvSpPr txBox="1"/>
          <p:nvPr/>
        </p:nvSpPr>
        <p:spPr>
          <a:xfrm>
            <a:off x="4633874" y="3474720"/>
            <a:ext cx="3106826" cy="457200"/>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이관 고객 중 영업 시도</a:t>
            </a:r>
            <a:endParaRPr lang="en-US" sz="1900" dirty="0"/>
          </a:p>
        </p:txBody>
      </p:sp>
      <p:sp>
        <p:nvSpPr>
          <p:cNvPr id="19" name="Shape 17"/>
          <p:cNvSpPr/>
          <p:nvPr/>
        </p:nvSpPr>
        <p:spPr>
          <a:xfrm>
            <a:off x="8079029" y="2011680"/>
            <a:ext cx="3564026" cy="2240280"/>
          </a:xfrm>
          <a:prstGeom prst="roundRect">
            <a:avLst>
              <a:gd name="adj" fmla="val 6531"/>
            </a:avLst>
          </a:prstGeom>
          <a:solidFill>
            <a:srgbClr val="191F28"/>
          </a:solidFill>
          <a:ln w="12700">
            <a:solidFill>
              <a:srgbClr val="191F28"/>
            </a:solidFill>
            <a:prstDash val="solid"/>
          </a:ln>
        </p:spPr>
      </p:sp>
      <p:sp>
        <p:nvSpPr>
          <p:cNvPr id="20" name="Text 18"/>
          <p:cNvSpPr txBox="1"/>
          <p:nvPr/>
        </p:nvSpPr>
        <p:spPr>
          <a:xfrm>
            <a:off x="8444789" y="2286000"/>
            <a:ext cx="3006982" cy="1051560"/>
          </a:xfrm>
          <a:prstGeom prst="rect">
            <a:avLst/>
          </a:prstGeom>
          <a:noFill/>
          <a:ln/>
        </p:spPr>
        <p:txBody>
          <a:bodyPr wrap="square" lIns="0" tIns="0" rIns="0" bIns="0" rtlCol="0" anchor="ctr"/>
          <a:lstStyle/>
          <a:p>
            <a:pPr marL="0" indent="0">
              <a:lnSpc>
                <a:spcPct val="125000"/>
              </a:lnSpc>
              <a:buNone/>
            </a:pPr>
            <a:r>
              <a:rPr lang="ko-KR" altLang="en-US" sz="2400" b="1" dirty="0">
                <a:solidFill>
                  <a:srgbClr val="FFFFFF"/>
                </a:solidFill>
                <a:latin typeface="맑은 고딕" pitchFamily="34" charset="0"/>
                <a:ea typeface="맑은 고딕" pitchFamily="34" charset="-122"/>
              </a:rPr>
              <a:t>누구</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왜</a:t>
            </a:r>
            <a:r>
              <a:rPr lang="en-US" altLang="ko-KR" sz="2400" b="1" dirty="0">
                <a:solidFill>
                  <a:srgbClr val="FFFFFF"/>
                </a:solidFill>
                <a:latin typeface="맑은 고딕" pitchFamily="34" charset="0"/>
                <a:ea typeface="맑은 고딕" pitchFamily="34" charset="-122"/>
              </a:rPr>
              <a:t>, </a:t>
            </a:r>
            <a:r>
              <a:rPr lang="ko-KR" altLang="en-US" sz="2400" b="1" dirty="0">
                <a:solidFill>
                  <a:srgbClr val="FFFFFF"/>
                </a:solidFill>
                <a:latin typeface="맑은 고딕" pitchFamily="34" charset="0"/>
                <a:ea typeface="맑은 고딕" pitchFamily="34" charset="-122"/>
              </a:rPr>
              <a:t>무엇을</a:t>
            </a:r>
            <a:endParaRPr lang="en-US" sz="2400" dirty="0"/>
          </a:p>
        </p:txBody>
      </p:sp>
      <p:sp>
        <p:nvSpPr>
          <p:cNvPr id="21" name="Text 19"/>
          <p:cNvSpPr txBox="1"/>
          <p:nvPr/>
        </p:nvSpPr>
        <p:spPr>
          <a:xfrm>
            <a:off x="8444789" y="3383280"/>
            <a:ext cx="2923946" cy="731520"/>
          </a:xfrm>
          <a:prstGeom prst="rect">
            <a:avLst/>
          </a:prstGeom>
          <a:noFill/>
          <a:ln/>
        </p:spPr>
        <p:txBody>
          <a:bodyPr wrap="square" lIns="0" tIns="0" rIns="0" bIns="0" rtlCol="0" anchor="t"/>
          <a:lstStyle/>
          <a:p>
            <a:pPr marL="0" indent="0">
              <a:lnSpc>
                <a:spcPct val="125000"/>
              </a:lnSpc>
              <a:buNone/>
            </a:pPr>
            <a:r>
              <a:rPr lang="en-US" altLang="ko-KR" sz="1500" dirty="0">
                <a:solidFill>
                  <a:srgbClr val="C9E2FF"/>
                </a:solidFill>
                <a:latin typeface="맑은 고딕" pitchFamily="34" charset="0"/>
                <a:ea typeface="맑은 고딕" pitchFamily="34" charset="-122"/>
              </a:rPr>
              <a:t>1</a:t>
            </a:r>
            <a:r>
              <a:rPr lang="ko-KR" altLang="en-US" sz="1500" dirty="0">
                <a:solidFill>
                  <a:srgbClr val="C9E2FF"/>
                </a:solidFill>
                <a:latin typeface="맑은 고딕" pitchFamily="34" charset="0"/>
                <a:ea typeface="맑은 고딕" pitchFamily="34" charset="-122"/>
              </a:rPr>
              <a:t>명에게 영업하기 위해 준비해야 하는 많은 고민과 결정</a:t>
            </a:r>
            <a:endParaRPr lang="en-US" altLang="ko-KR" sz="1500" dirty="0">
              <a:solidFill>
                <a:srgbClr val="C9E2FF"/>
              </a:solidFill>
              <a:latin typeface="맑은 고딕" pitchFamily="34" charset="0"/>
              <a:ea typeface="맑은 고딕" pitchFamily="34" charset="-122"/>
            </a:endParaRPr>
          </a:p>
        </p:txBody>
      </p:sp>
      <p:sp>
        <p:nvSpPr>
          <p:cNvPr id="22" name="Text 20"/>
          <p:cNvSpPr txBox="1"/>
          <p:nvPr/>
        </p:nvSpPr>
        <p:spPr>
          <a:xfrm>
            <a:off x="548640" y="4297680"/>
            <a:ext cx="1109441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3</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보유고객 대비 설계</a:t>
            </a:r>
            <a:r>
              <a:rPr lang="en-US" altLang="ko-KR" sz="1200" dirty="0">
                <a:solidFill>
                  <a:srgbClr val="8B95A1"/>
                </a:solidFill>
                <a:latin typeface="맑은 고딕" pitchFamily="34" charset="0"/>
                <a:ea typeface="맑은 고딕" pitchFamily="34" charset="-122"/>
                <a:cs typeface="맑은 고딕" pitchFamily="34" charset="-120"/>
              </a:rPr>
              <a:t>/</a:t>
            </a:r>
            <a:r>
              <a:rPr lang="ko-KR" altLang="en-US" sz="1200" dirty="0">
                <a:solidFill>
                  <a:srgbClr val="8B95A1"/>
                </a:solidFill>
                <a:latin typeface="맑은 고딕" pitchFamily="34" charset="0"/>
                <a:ea typeface="맑은 고딕" pitchFamily="34" charset="-122"/>
                <a:cs typeface="맑은 고딕" pitchFamily="34" charset="-120"/>
              </a:rPr>
              <a:t>청약 진행 고객 비율</a:t>
            </a:r>
            <a:endParaRPr lang="en-US" sz="1200" dirty="0"/>
          </a:p>
        </p:txBody>
      </p:sp>
      <p:sp>
        <p:nvSpPr>
          <p:cNvPr id="23" name="Shape 21"/>
          <p:cNvSpPr/>
          <p:nvPr/>
        </p:nvSpPr>
        <p:spPr>
          <a:xfrm>
            <a:off x="548640" y="4663440"/>
            <a:ext cx="11094415" cy="1097280"/>
          </a:xfrm>
          <a:prstGeom prst="roundRect">
            <a:avLst>
              <a:gd name="adj" fmla="val 13333"/>
            </a:avLst>
          </a:prstGeom>
          <a:solidFill>
            <a:srgbClr val="E8F3FF"/>
          </a:solidFill>
          <a:ln w="12700">
            <a:solidFill>
              <a:srgbClr val="E8F3FF"/>
            </a:solidFill>
            <a:prstDash val="solid"/>
          </a:ln>
        </p:spPr>
      </p:sp>
      <p:sp>
        <p:nvSpPr>
          <p:cNvPr id="24" name="Text 22"/>
          <p:cNvSpPr txBox="1"/>
          <p:nvPr/>
        </p:nvSpPr>
        <p:spPr>
          <a:xfrm>
            <a:off x="868680" y="4663440"/>
            <a:ext cx="2011680" cy="1097280"/>
          </a:xfrm>
          <a:prstGeom prst="rect">
            <a:avLst/>
          </a:prstGeom>
          <a:noFill/>
          <a:ln/>
        </p:spPr>
        <p:txBody>
          <a:bodyPr wrap="square" lIns="0" tIns="0" rIns="0" bIns="0" rtlCol="0" anchor="ctr"/>
          <a:lstStyle/>
          <a:p>
            <a:pPr marL="0" indent="0">
              <a:buNone/>
            </a:pPr>
            <a:r>
              <a:rPr lang="en-US" sz="1800" b="1" dirty="0">
                <a:solidFill>
                  <a:srgbClr val="3182F6"/>
                </a:solidFill>
                <a:latin typeface="맑은 고딕" pitchFamily="34" charset="0"/>
                <a:ea typeface="맑은 고딕" pitchFamily="34" charset="-122"/>
                <a:cs typeface="맑은 고딕" pitchFamily="34" charset="-120"/>
              </a:rPr>
              <a:t>MeAI를 쓴 경우</a:t>
            </a:r>
            <a:endParaRPr lang="en-US" sz="1800" dirty="0"/>
          </a:p>
        </p:txBody>
      </p:sp>
      <p:sp>
        <p:nvSpPr>
          <p:cNvPr id="25" name="Text 23"/>
          <p:cNvSpPr txBox="1"/>
          <p:nvPr/>
        </p:nvSpPr>
        <p:spPr>
          <a:xfrm>
            <a:off x="2926080"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체결전환율 2.8배</a:t>
            </a:r>
            <a:endParaRPr lang="en-US" sz="2300" dirty="0"/>
          </a:p>
        </p:txBody>
      </p:sp>
      <p:sp>
        <p:nvSpPr>
          <p:cNvPr id="26" name="Text 24"/>
          <p:cNvSpPr txBox="1"/>
          <p:nvPr/>
        </p:nvSpPr>
        <p:spPr>
          <a:xfrm>
            <a:off x="2926080"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12.7% → 활용 35.4%</a:t>
            </a:r>
            <a:endParaRPr lang="en-US" sz="1550" dirty="0"/>
          </a:p>
        </p:txBody>
      </p:sp>
      <p:sp>
        <p:nvSpPr>
          <p:cNvPr id="27" name="Text 25"/>
          <p:cNvSpPr txBox="1"/>
          <p:nvPr/>
        </p:nvSpPr>
        <p:spPr>
          <a:xfrm>
            <a:off x="7193128" y="4828032"/>
            <a:ext cx="4084168" cy="457200"/>
          </a:xfrm>
          <a:prstGeom prst="rect">
            <a:avLst/>
          </a:prstGeom>
          <a:noFill/>
          <a:ln/>
        </p:spPr>
        <p:txBody>
          <a:bodyPr wrap="square" lIns="0" tIns="0" rIns="0" bIns="0" rtlCol="0" anchor="ctr"/>
          <a:lstStyle/>
          <a:p>
            <a:pPr marL="0" indent="0">
              <a:buNone/>
            </a:pPr>
            <a:r>
              <a:rPr lang="en-US" sz="2300" b="1" dirty="0">
                <a:solidFill>
                  <a:srgbClr val="191F28"/>
                </a:solidFill>
                <a:latin typeface="맑은 고딕" pitchFamily="34" charset="0"/>
                <a:ea typeface="맑은 고딕" pitchFamily="34" charset="-122"/>
                <a:cs typeface="맑은 고딕" pitchFamily="34" charset="-120"/>
              </a:rPr>
              <a:t>같은 FP 고객끼리도 4배</a:t>
            </a:r>
            <a:endParaRPr lang="en-US" sz="2300" dirty="0"/>
          </a:p>
        </p:txBody>
      </p:sp>
      <p:sp>
        <p:nvSpPr>
          <p:cNvPr id="28" name="Text 26"/>
          <p:cNvSpPr txBox="1"/>
          <p:nvPr/>
        </p:nvSpPr>
        <p:spPr>
          <a:xfrm>
            <a:off x="7193128" y="5266944"/>
            <a:ext cx="4084168" cy="365760"/>
          </a:xfrm>
          <a:prstGeom prst="rect">
            <a:avLst/>
          </a:prstGeom>
          <a:noFill/>
          <a:ln/>
        </p:spPr>
        <p:txBody>
          <a:bodyPr wrap="square" lIns="0" tIns="0" rIns="0" bIns="0" rtlCol="0" anchor="ctr"/>
          <a:lstStyle/>
          <a:p>
            <a:pPr marL="0" indent="0">
              <a:buNone/>
            </a:pPr>
            <a:r>
              <a:rPr lang="en-US" sz="1550" dirty="0">
                <a:solidFill>
                  <a:srgbClr val="4E5968"/>
                </a:solidFill>
                <a:latin typeface="맑은 고딕" pitchFamily="34" charset="0"/>
                <a:ea typeface="맑은 고딕" pitchFamily="34" charset="-122"/>
                <a:cs typeface="맑은 고딕" pitchFamily="34" charset="-120"/>
              </a:rPr>
              <a:t>미활용 9.0% → 활용 36.0%</a:t>
            </a:r>
            <a:endParaRPr lang="en-US" sz="1550" dirty="0"/>
          </a:p>
        </p:txBody>
      </p:sp>
      <p:sp>
        <p:nvSpPr>
          <p:cNvPr id="29" name="Text 27"/>
          <p:cNvSpPr txBox="1"/>
          <p:nvPr/>
        </p:nvSpPr>
        <p:spPr>
          <a:xfrm>
            <a:off x="548640" y="5897880"/>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
        <p:nvSpPr>
          <p:cNvPr id="30"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1"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개발자에게 듣는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홈</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어떤 원리로, 어떤 </a:t>
            </a:r>
            <a:r>
              <a:rPr lang="en-US" sz="1700" dirty="0" err="1">
                <a:solidFill>
                  <a:srgbClr val="6B7684"/>
                </a:solidFill>
                <a:latin typeface="맑은 고딕" pitchFamily="34" charset="0"/>
                <a:ea typeface="맑은 고딕" pitchFamily="34" charset="-122"/>
                <a:cs typeface="맑은 고딕" pitchFamily="34" charset="-120"/>
              </a:rPr>
              <a:t>방식으로</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만들었는지</a:t>
            </a:r>
            <a:endParaRPr lang="en-US" sz="1700" dirty="0"/>
          </a:p>
        </p:txBody>
      </p:sp>
      <p:sp>
        <p:nvSpPr>
          <p:cNvPr id="13" name="Shape 11"/>
          <p:cNvSpPr/>
          <p:nvPr/>
        </p:nvSpPr>
        <p:spPr>
          <a:xfrm>
            <a:off x="548640"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4" name="Shape 12"/>
          <p:cNvSpPr/>
          <p:nvPr/>
        </p:nvSpPr>
        <p:spPr>
          <a:xfrm>
            <a:off x="1531620" y="2286000"/>
            <a:ext cx="914400" cy="914400"/>
          </a:xfrm>
          <a:prstGeom prst="ellipse">
            <a:avLst/>
          </a:prstGeom>
          <a:solidFill>
            <a:srgbClr val="7048E8"/>
          </a:solidFill>
          <a:ln w="12700">
            <a:solidFill>
              <a:srgbClr val="FFFFFF"/>
            </a:solidFill>
            <a:prstDash val="solid"/>
          </a:ln>
        </p:spPr>
      </p:sp>
      <p:sp>
        <p:nvSpPr>
          <p:cNvPr id="15" name="Text 13"/>
          <p:cNvSpPr txBox="1"/>
          <p:nvPr/>
        </p:nvSpPr>
        <p:spPr>
          <a:xfrm>
            <a:off x="1531620"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문</a:t>
            </a:r>
            <a:endParaRPr lang="en-US" sz="3000" dirty="0"/>
          </a:p>
        </p:txBody>
      </p:sp>
      <p:sp>
        <p:nvSpPr>
          <p:cNvPr id="16" name="Text 14"/>
          <p:cNvSpPr txBox="1"/>
          <p:nvPr/>
        </p:nvSpPr>
        <p:spPr>
          <a:xfrm>
            <a:off x="548640"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문현우</a:t>
            </a:r>
            <a:endParaRPr lang="en-US" sz="3000" dirty="0"/>
          </a:p>
        </p:txBody>
      </p:sp>
      <p:sp>
        <p:nvSpPr>
          <p:cNvPr id="17" name="Text 15"/>
          <p:cNvSpPr txBox="1"/>
          <p:nvPr/>
        </p:nvSpPr>
        <p:spPr>
          <a:xfrm>
            <a:off x="548640" y="3822192"/>
            <a:ext cx="2880360" cy="365760"/>
          </a:xfrm>
          <a:prstGeom prst="rect">
            <a:avLst/>
          </a:prstGeom>
          <a:noFill/>
          <a:ln/>
        </p:spPr>
        <p:txBody>
          <a:bodyPr wrap="square" lIns="0" tIns="0" rIns="0" bIns="0" rtlCol="0" anchor="ctr"/>
          <a:lstStyle/>
          <a:p>
            <a:pPr marL="0" indent="0" algn="ctr">
              <a:buNone/>
            </a:pPr>
            <a:r>
              <a:rPr lang="en-US" sz="1700" b="1" dirty="0">
                <a:solidFill>
                  <a:srgbClr val="7048E8"/>
                </a:solidFill>
                <a:latin typeface="맑은 고딕" pitchFamily="34" charset="0"/>
                <a:ea typeface="맑은 고딕" pitchFamily="34" charset="-122"/>
                <a:cs typeface="맑은 고딕" pitchFamily="34" charset="-120"/>
              </a:rPr>
              <a:t>AI추진파트</a:t>
            </a:r>
            <a:endParaRPr lang="en-US" sz="1700" dirty="0"/>
          </a:p>
        </p:txBody>
      </p:sp>
      <p:sp>
        <p:nvSpPr>
          <p:cNvPr id="18" name="Shape 16"/>
          <p:cNvSpPr/>
          <p:nvPr/>
        </p:nvSpPr>
        <p:spPr>
          <a:xfrm>
            <a:off x="3630168" y="2011680"/>
            <a:ext cx="2880360" cy="2331720"/>
          </a:xfrm>
          <a:prstGeom prst="roundRect">
            <a:avLst>
              <a:gd name="adj" fmla="val 7843"/>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Shape 17"/>
          <p:cNvSpPr/>
          <p:nvPr/>
        </p:nvSpPr>
        <p:spPr>
          <a:xfrm>
            <a:off x="4613148" y="2286000"/>
            <a:ext cx="914400" cy="914400"/>
          </a:xfrm>
          <a:prstGeom prst="ellipse">
            <a:avLst/>
          </a:prstGeom>
          <a:solidFill>
            <a:srgbClr val="3182F6"/>
          </a:solidFill>
          <a:ln w="12700">
            <a:solidFill>
              <a:srgbClr val="FFFFFF"/>
            </a:solidFill>
            <a:prstDash val="solid"/>
          </a:ln>
        </p:spPr>
      </p:sp>
      <p:sp>
        <p:nvSpPr>
          <p:cNvPr id="20" name="Text 18"/>
          <p:cNvSpPr txBox="1"/>
          <p:nvPr/>
        </p:nvSpPr>
        <p:spPr>
          <a:xfrm>
            <a:off x="4613148" y="228600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맑은 고딕" pitchFamily="34" charset="0"/>
                <a:ea typeface="맑은 고딕" pitchFamily="34" charset="-122"/>
                <a:cs typeface="맑은 고딕" pitchFamily="34" charset="-120"/>
              </a:rPr>
              <a:t>이</a:t>
            </a:r>
            <a:endParaRPr lang="en-US" sz="3000" dirty="0"/>
          </a:p>
        </p:txBody>
      </p:sp>
      <p:sp>
        <p:nvSpPr>
          <p:cNvPr id="21" name="Text 19"/>
          <p:cNvSpPr txBox="1"/>
          <p:nvPr/>
        </p:nvSpPr>
        <p:spPr>
          <a:xfrm>
            <a:off x="3630168" y="3310128"/>
            <a:ext cx="2880360" cy="530352"/>
          </a:xfrm>
          <a:prstGeom prst="rect">
            <a:avLst/>
          </a:prstGeom>
          <a:noFill/>
          <a:ln/>
        </p:spPr>
        <p:txBody>
          <a:bodyPr wrap="square" lIns="0" tIns="0" rIns="0" bIns="0" rtlCol="0" anchor="ctr"/>
          <a:lstStyle/>
          <a:p>
            <a:pPr marL="0" indent="0" algn="ctr">
              <a:buNone/>
            </a:pPr>
            <a:r>
              <a:rPr lang="en-US" sz="3000" b="1" dirty="0">
                <a:solidFill>
                  <a:srgbClr val="191F28"/>
                </a:solidFill>
                <a:latin typeface="맑은 고딕" pitchFamily="34" charset="0"/>
                <a:ea typeface="맑은 고딕" pitchFamily="34" charset="-122"/>
                <a:cs typeface="맑은 고딕" pitchFamily="34" charset="-120"/>
              </a:rPr>
              <a:t>이경복</a:t>
            </a:r>
            <a:endParaRPr lang="en-US" sz="3000" dirty="0"/>
          </a:p>
        </p:txBody>
      </p:sp>
      <p:sp>
        <p:nvSpPr>
          <p:cNvPr id="22" name="Text 20"/>
          <p:cNvSpPr txBox="1"/>
          <p:nvPr/>
        </p:nvSpPr>
        <p:spPr>
          <a:xfrm>
            <a:off x="3630168" y="3822192"/>
            <a:ext cx="2880360" cy="365760"/>
          </a:xfrm>
          <a:prstGeom prst="rect">
            <a:avLst/>
          </a:prstGeom>
          <a:noFill/>
          <a:ln/>
        </p:spPr>
        <p:txBody>
          <a:bodyPr wrap="square" lIns="0" tIns="0" rIns="0" bIns="0" rtlCol="0" anchor="ctr"/>
          <a:lstStyle/>
          <a:p>
            <a:pPr marL="0" indent="0" algn="ctr">
              <a:buNone/>
            </a:pPr>
            <a:r>
              <a:rPr lang="en-US" sz="1700" b="1" dirty="0">
                <a:solidFill>
                  <a:srgbClr val="3182F6"/>
                </a:solidFill>
                <a:latin typeface="맑은 고딕" pitchFamily="34" charset="0"/>
                <a:ea typeface="맑은 고딕" pitchFamily="34" charset="-122"/>
                <a:cs typeface="맑은 고딕" pitchFamily="34" charset="-120"/>
              </a:rPr>
              <a:t>AI추진파트</a:t>
            </a:r>
            <a:endParaRPr lang="en-US" sz="1700" dirty="0"/>
          </a:p>
        </p:txBody>
      </p:sp>
      <p:sp>
        <p:nvSpPr>
          <p:cNvPr id="23" name="Shape 21"/>
          <p:cNvSpPr/>
          <p:nvPr/>
        </p:nvSpPr>
        <p:spPr>
          <a:xfrm>
            <a:off x="548640" y="4526280"/>
            <a:ext cx="5961888" cy="566928"/>
          </a:xfrm>
          <a:prstGeom prst="roundRect">
            <a:avLst>
              <a:gd name="adj" fmla="val 22581"/>
            </a:avLst>
          </a:prstGeom>
          <a:solidFill>
            <a:srgbClr val="E8F3FF"/>
          </a:solidFill>
          <a:ln w="12700">
            <a:solidFill>
              <a:srgbClr val="E8F3FF"/>
            </a:solidFill>
            <a:prstDash val="solid"/>
          </a:ln>
        </p:spPr>
      </p:sp>
      <p:sp>
        <p:nvSpPr>
          <p:cNvPr id="24" name="Text 22"/>
          <p:cNvSpPr txBox="1"/>
          <p:nvPr/>
        </p:nvSpPr>
        <p:spPr>
          <a:xfrm>
            <a:off x="777240" y="4526280"/>
            <a:ext cx="5596128" cy="56692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CRM(오늘의 추천 고객 · 고객찾기)을 </a:t>
            </a:r>
            <a:r>
              <a:rPr lang="en-US" sz="1550" b="1" dirty="0" err="1">
                <a:solidFill>
                  <a:srgbClr val="191F28"/>
                </a:solidFill>
                <a:latin typeface="맑은 고딕" pitchFamily="34" charset="0"/>
                <a:ea typeface="맑은 고딕" pitchFamily="34" charset="-122"/>
                <a:cs typeface="맑은 고딕" pitchFamily="34" charset="-120"/>
              </a:rPr>
              <a:t>만든</a:t>
            </a:r>
            <a:r>
              <a:rPr lang="en-US" sz="1550" b="1" dirty="0">
                <a:solidFill>
                  <a:srgbClr val="191F28"/>
                </a:solidFill>
                <a:latin typeface="맑은 고딕" pitchFamily="34" charset="0"/>
                <a:ea typeface="맑은 고딕" pitchFamily="34" charset="-122"/>
                <a:cs typeface="맑은 고딕" pitchFamily="34" charset="-120"/>
              </a:rPr>
              <a:t> </a:t>
            </a:r>
            <a:r>
              <a:rPr lang="ko-KR" altLang="en-US" sz="1550" b="1" dirty="0">
                <a:solidFill>
                  <a:srgbClr val="191F28"/>
                </a:solidFill>
                <a:latin typeface="맑은 고딕" pitchFamily="34" charset="0"/>
                <a:ea typeface="맑은 고딕" pitchFamily="34" charset="-122"/>
                <a:cs typeface="맑은 고딕" pitchFamily="34" charset="-120"/>
              </a:rPr>
              <a:t>개발자</a:t>
            </a:r>
            <a:endParaRPr lang="en-US" sz="1550" dirty="0"/>
          </a:p>
        </p:txBody>
      </p:sp>
      <p:sp>
        <p:nvSpPr>
          <p:cNvPr id="25" name="Shape 23"/>
          <p:cNvSpPr/>
          <p:nvPr/>
        </p:nvSpPr>
        <p:spPr>
          <a:xfrm>
            <a:off x="6922008" y="2011680"/>
            <a:ext cx="4721047" cy="3081528"/>
          </a:xfrm>
          <a:prstGeom prst="roundRect">
            <a:avLst>
              <a:gd name="adj" fmla="val 5935"/>
            </a:avLst>
          </a:prstGeom>
          <a:solidFill>
            <a:srgbClr val="191F28"/>
          </a:solidFill>
          <a:ln w="12700">
            <a:solidFill>
              <a:srgbClr val="191F28"/>
            </a:solidFill>
            <a:prstDash val="solid"/>
          </a:ln>
        </p:spPr>
      </p:sp>
      <p:sp>
        <p:nvSpPr>
          <p:cNvPr id="26" name="Text 24"/>
          <p:cNvSpPr txBox="1"/>
          <p:nvPr/>
        </p:nvSpPr>
        <p:spPr>
          <a:xfrm>
            <a:off x="7242048" y="2212848"/>
            <a:ext cx="4172407" cy="384048"/>
          </a:xfrm>
          <a:prstGeom prst="rect">
            <a:avLst/>
          </a:prstGeom>
          <a:noFill/>
          <a:ln/>
        </p:spPr>
        <p:txBody>
          <a:bodyPr wrap="square" lIns="0" tIns="0" rIns="0" bIns="0" rtlCol="0" anchor="ctr"/>
          <a:lstStyle/>
          <a:p>
            <a:pPr marL="0" indent="0">
              <a:buNone/>
            </a:pPr>
            <a:r>
              <a:rPr lang="en-US" sz="1600" b="1" dirty="0">
                <a:solidFill>
                  <a:srgbClr val="C9E2FF"/>
                </a:solidFill>
                <a:latin typeface="맑은 고딕" pitchFamily="34" charset="0"/>
                <a:ea typeface="맑은 고딕" pitchFamily="34" charset="-122"/>
                <a:cs typeface="맑은 고딕" pitchFamily="34" charset="-120"/>
              </a:rPr>
              <a:t>오늘 여쭤볼 것</a:t>
            </a:r>
            <a:endParaRPr lang="en-US" sz="1600" dirty="0"/>
          </a:p>
        </p:txBody>
      </p:sp>
      <p:sp>
        <p:nvSpPr>
          <p:cNvPr id="27" name="Text 25"/>
          <p:cNvSpPr txBox="1"/>
          <p:nvPr/>
        </p:nvSpPr>
        <p:spPr>
          <a:xfrm>
            <a:off x="7242048" y="2697480"/>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800" dirty="0"/>
          </a:p>
        </p:txBody>
      </p:sp>
      <p:sp>
        <p:nvSpPr>
          <p:cNvPr id="28" name="Text 26"/>
          <p:cNvSpPr txBox="1"/>
          <p:nvPr/>
        </p:nvSpPr>
        <p:spPr>
          <a:xfrm>
            <a:off x="7242048" y="3044952"/>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오늘의 추천 고객은 어떤 원리로 정해지나요?</a:t>
            </a:r>
            <a:endParaRPr lang="en-US" sz="1400" dirty="0"/>
          </a:p>
        </p:txBody>
      </p:sp>
      <p:sp>
        <p:nvSpPr>
          <p:cNvPr id="29" name="Text 27"/>
          <p:cNvSpPr txBox="1"/>
          <p:nvPr/>
        </p:nvSpPr>
        <p:spPr>
          <a:xfrm>
            <a:off x="7242048" y="3483864"/>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2 · 어떻게 만들었나요</a:t>
            </a:r>
            <a:endParaRPr lang="en-US" sz="1800" dirty="0"/>
          </a:p>
        </p:txBody>
      </p:sp>
      <p:sp>
        <p:nvSpPr>
          <p:cNvPr id="30" name="Text 28"/>
          <p:cNvSpPr txBox="1"/>
          <p:nvPr/>
        </p:nvSpPr>
        <p:spPr>
          <a:xfrm>
            <a:off x="7242048" y="3831336"/>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어떤 방식으로 개발하고 구현했나요?</a:t>
            </a:r>
            <a:endParaRPr lang="en-US" sz="1400" dirty="0"/>
          </a:p>
        </p:txBody>
      </p:sp>
      <p:sp>
        <p:nvSpPr>
          <p:cNvPr id="31" name="Text 29"/>
          <p:cNvSpPr txBox="1"/>
          <p:nvPr/>
        </p:nvSpPr>
        <p:spPr>
          <a:xfrm>
            <a:off x="7242048" y="4270248"/>
            <a:ext cx="4172407" cy="365760"/>
          </a:xfrm>
          <a:prstGeom prst="rect">
            <a:avLst/>
          </a:prstGeom>
          <a:noFill/>
          <a:ln/>
        </p:spPr>
        <p:txBody>
          <a:bodyPr wrap="square" lIns="0" tIns="0" rIns="0" bIns="0"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질문 3 · 꼭 전할 한 가지</a:t>
            </a:r>
            <a:endParaRPr lang="en-US" sz="1800" dirty="0"/>
          </a:p>
        </p:txBody>
      </p:sp>
      <p:sp>
        <p:nvSpPr>
          <p:cNvPr id="32" name="Text 30"/>
          <p:cNvSpPr txBox="1"/>
          <p:nvPr/>
        </p:nvSpPr>
        <p:spPr>
          <a:xfrm>
            <a:off x="7242048" y="4617720"/>
            <a:ext cx="4172407" cy="347472"/>
          </a:xfrm>
          <a:prstGeom prst="rect">
            <a:avLst/>
          </a:prstGeom>
          <a:noFill/>
          <a:ln/>
        </p:spPr>
        <p:txBody>
          <a:bodyPr wrap="square" lIns="0" tIns="0" rIns="0" bIns="0" rtlCol="0" anchor="t"/>
          <a:lstStyle/>
          <a:p>
            <a:pPr marL="0" indent="0">
              <a:buNone/>
            </a:pPr>
            <a:r>
              <a:rPr lang="en-US" sz="1400" dirty="0">
                <a:solidFill>
                  <a:srgbClr val="C9E2FF"/>
                </a:solidFill>
                <a:latin typeface="맑은 고딕" pitchFamily="34" charset="0"/>
                <a:ea typeface="맑은 고딕" pitchFamily="34" charset="-122"/>
                <a:cs typeface="맑은 고딕" pitchFamily="34" charset="-120"/>
              </a:rPr>
              <a:t>영업가족에게 한마디 부탁드려요</a:t>
            </a:r>
            <a:endParaRPr lang="en-US" sz="1400" dirty="0"/>
          </a:p>
        </p:txBody>
      </p:sp>
      <p:sp>
        <p:nvSpPr>
          <p:cNvPr id="35" name="Text 3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6" name="Text 3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7048E8"/>
                </a:solidFill>
                <a:latin typeface="맑은 고딕" pitchFamily="34" charset="0"/>
                <a:ea typeface="맑은 고딕" pitchFamily="34" charset="-122"/>
                <a:cs typeface="맑은 고딕" pitchFamily="34" charset="-120"/>
              </a:rPr>
              <a:t>만든 분께 듣기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홈의 작동 원리</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매일 밤 계산하고, 다음 날 이유와 </a:t>
            </a:r>
            <a:r>
              <a:rPr lang="en-US" sz="1700" dirty="0" err="1">
                <a:solidFill>
                  <a:srgbClr val="6B7684"/>
                </a:solidFill>
                <a:latin typeface="맑은 고딕" pitchFamily="34" charset="0"/>
                <a:ea typeface="맑은 고딕" pitchFamily="34" charset="-122"/>
                <a:cs typeface="맑은 고딕" pitchFamily="34" charset="-120"/>
              </a:rPr>
              <a:t>함께</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화면 구성</a:t>
            </a:r>
            <a:endParaRPr lang="en-US" sz="1700" dirty="0"/>
          </a:p>
        </p:txBody>
      </p:sp>
      <p:sp>
        <p:nvSpPr>
          <p:cNvPr id="13" name="Shape 11"/>
          <p:cNvSpPr/>
          <p:nvPr/>
        </p:nvSpPr>
        <p:spPr>
          <a:xfrm>
            <a:off x="1115568" y="1920240"/>
            <a:ext cx="5605272" cy="676656"/>
          </a:xfrm>
          <a:prstGeom prst="roundRect">
            <a:avLst>
              <a:gd name="adj" fmla="val 18919"/>
            </a:avLst>
          </a:prstGeom>
          <a:solidFill>
            <a:srgbClr val="FFFFFF"/>
          </a:solidFill>
          <a:ln w="9525">
            <a:solidFill>
              <a:srgbClr val="E5E8EB"/>
            </a:solidFill>
            <a:prstDash val="solid"/>
          </a:ln>
        </p:spPr>
      </p:sp>
      <p:sp>
        <p:nvSpPr>
          <p:cNvPr id="14" name="Shape 12"/>
          <p:cNvSpPr/>
          <p:nvPr/>
        </p:nvSpPr>
        <p:spPr>
          <a:xfrm>
            <a:off x="548640" y="2048256"/>
            <a:ext cx="420624" cy="420624"/>
          </a:xfrm>
          <a:prstGeom prst="ellipse">
            <a:avLst/>
          </a:prstGeom>
          <a:solidFill>
            <a:srgbClr val="191F28"/>
          </a:solidFill>
          <a:ln w="19050">
            <a:solidFill>
              <a:srgbClr val="FFFFFF"/>
            </a:solidFill>
            <a:prstDash val="solid"/>
          </a:ln>
        </p:spPr>
      </p:sp>
      <p:sp>
        <p:nvSpPr>
          <p:cNvPr id="15" name="Text 13"/>
          <p:cNvSpPr txBox="1"/>
          <p:nvPr/>
        </p:nvSpPr>
        <p:spPr>
          <a:xfrm>
            <a:off x="548640" y="2048256"/>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6" name="Shape 14"/>
          <p:cNvSpPr/>
          <p:nvPr/>
        </p:nvSpPr>
        <p:spPr>
          <a:xfrm>
            <a:off x="758952" y="2487168"/>
            <a:ext cx="0" cy="310896"/>
          </a:xfrm>
          <a:prstGeom prst="line">
            <a:avLst/>
          </a:prstGeom>
          <a:noFill/>
          <a:ln w="19050">
            <a:solidFill>
              <a:srgbClr val="3182F6"/>
            </a:solidFill>
            <a:prstDash val="solid"/>
            <a:tailEnd type="triangle"/>
          </a:ln>
        </p:spPr>
      </p:sp>
      <p:sp>
        <p:nvSpPr>
          <p:cNvPr id="17" name="Text 15"/>
          <p:cNvSpPr txBox="1"/>
          <p:nvPr/>
        </p:nvSpPr>
        <p:spPr>
          <a:xfrm>
            <a:off x="1325880" y="1975104"/>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데이터</a:t>
            </a:r>
            <a:endParaRPr lang="en-US" sz="1700" dirty="0"/>
          </a:p>
        </p:txBody>
      </p:sp>
      <p:sp>
        <p:nvSpPr>
          <p:cNvPr id="18" name="Text 16"/>
          <p:cNvSpPr txBox="1"/>
          <p:nvPr/>
        </p:nvSpPr>
        <p:spPr>
          <a:xfrm>
            <a:off x="1326973" y="2286000"/>
            <a:ext cx="5166360" cy="274320"/>
          </a:xfrm>
          <a:prstGeom prst="rect">
            <a:avLst/>
          </a:prstGeom>
          <a:noFill/>
          <a:ln/>
        </p:spPr>
        <p:txBody>
          <a:bodyPr wrap="square" lIns="0" tIns="0" rIns="0" bIns="0" rtlCol="0" anchor="ctr"/>
          <a:lstStyle/>
          <a:p>
            <a:pPr marL="0" indent="0">
              <a:buNone/>
            </a:pPr>
            <a:r>
              <a:rPr lang="en-US" sz="1400" dirty="0" err="1">
                <a:solidFill>
                  <a:srgbClr val="6B7684"/>
                </a:solidFill>
                <a:latin typeface="맑은 고딕" pitchFamily="34" charset="0"/>
                <a:ea typeface="맑은 고딕" pitchFamily="34" charset="-122"/>
                <a:cs typeface="맑은 고딕" pitchFamily="34" charset="-120"/>
              </a:rPr>
              <a:t>계약</a:t>
            </a:r>
            <a:r>
              <a:rPr lang="en-US" sz="1400" dirty="0">
                <a:solidFill>
                  <a:srgbClr val="6B7684"/>
                </a:solidFill>
                <a:latin typeface="맑은 고딕" pitchFamily="34" charset="0"/>
                <a:ea typeface="맑은 고딕" pitchFamily="34" charset="-122"/>
                <a:cs typeface="맑은 고딕" pitchFamily="34" charset="-120"/>
              </a:rPr>
              <a:t> · 동의 · 상령일 · 생일 · CRM</a:t>
            </a:r>
            <a:endParaRPr lang="en-US" sz="1400" dirty="0"/>
          </a:p>
        </p:txBody>
      </p:sp>
      <p:sp>
        <p:nvSpPr>
          <p:cNvPr id="19" name="Shape 17"/>
          <p:cNvSpPr/>
          <p:nvPr/>
        </p:nvSpPr>
        <p:spPr>
          <a:xfrm>
            <a:off x="1115568" y="2688336"/>
            <a:ext cx="5605272" cy="676656"/>
          </a:xfrm>
          <a:prstGeom prst="roundRect">
            <a:avLst>
              <a:gd name="adj" fmla="val 18919"/>
            </a:avLst>
          </a:prstGeom>
          <a:solidFill>
            <a:srgbClr val="FFFFFF"/>
          </a:solidFill>
          <a:ln w="9525">
            <a:solidFill>
              <a:srgbClr val="E5E8EB"/>
            </a:solidFill>
            <a:prstDash val="solid"/>
          </a:ln>
        </p:spPr>
      </p:sp>
      <p:sp>
        <p:nvSpPr>
          <p:cNvPr id="20" name="Shape 18"/>
          <p:cNvSpPr/>
          <p:nvPr/>
        </p:nvSpPr>
        <p:spPr>
          <a:xfrm>
            <a:off x="548640" y="2816352"/>
            <a:ext cx="420624" cy="420624"/>
          </a:xfrm>
          <a:prstGeom prst="ellipse">
            <a:avLst/>
          </a:prstGeom>
          <a:solidFill>
            <a:srgbClr val="191F28"/>
          </a:solidFill>
          <a:ln w="19050">
            <a:solidFill>
              <a:srgbClr val="FFFFFF"/>
            </a:solidFill>
            <a:prstDash val="solid"/>
          </a:ln>
        </p:spPr>
      </p:sp>
      <p:sp>
        <p:nvSpPr>
          <p:cNvPr id="21" name="Text 19"/>
          <p:cNvSpPr txBox="1"/>
          <p:nvPr/>
        </p:nvSpPr>
        <p:spPr>
          <a:xfrm>
            <a:off x="548640" y="2816352"/>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22" name="Shape 20"/>
          <p:cNvSpPr/>
          <p:nvPr/>
        </p:nvSpPr>
        <p:spPr>
          <a:xfrm>
            <a:off x="758952" y="3255264"/>
            <a:ext cx="0" cy="310896"/>
          </a:xfrm>
          <a:prstGeom prst="line">
            <a:avLst/>
          </a:prstGeom>
          <a:noFill/>
          <a:ln w="19050">
            <a:solidFill>
              <a:srgbClr val="3182F6"/>
            </a:solidFill>
            <a:prstDash val="solid"/>
            <a:tailEnd type="triangle"/>
          </a:ln>
        </p:spPr>
      </p:sp>
      <p:sp>
        <p:nvSpPr>
          <p:cNvPr id="23" name="Text 21"/>
          <p:cNvSpPr txBox="1"/>
          <p:nvPr/>
        </p:nvSpPr>
        <p:spPr>
          <a:xfrm>
            <a:off x="1325880" y="2743200"/>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매일 밤 계산</a:t>
            </a:r>
            <a:endParaRPr lang="en-US" sz="1700" dirty="0"/>
          </a:p>
        </p:txBody>
      </p:sp>
      <p:sp>
        <p:nvSpPr>
          <p:cNvPr id="24" name="Shape 22"/>
          <p:cNvSpPr/>
          <p:nvPr/>
        </p:nvSpPr>
        <p:spPr>
          <a:xfrm>
            <a:off x="2717800" y="2761488"/>
            <a:ext cx="1371600" cy="274320"/>
          </a:xfrm>
          <a:prstGeom prst="roundRect">
            <a:avLst>
              <a:gd name="adj" fmla="val 50000"/>
            </a:avLst>
          </a:prstGeom>
          <a:solidFill>
            <a:srgbClr val="F0EDFF"/>
          </a:solidFill>
          <a:ln w="12700">
            <a:solidFill>
              <a:srgbClr val="F0EDFF"/>
            </a:solidFill>
            <a:prstDash val="solid"/>
          </a:ln>
        </p:spPr>
      </p:sp>
      <p:sp>
        <p:nvSpPr>
          <p:cNvPr id="25" name="Text 23"/>
          <p:cNvSpPr txBox="1"/>
          <p:nvPr/>
        </p:nvSpPr>
        <p:spPr>
          <a:xfrm>
            <a:off x="2717800" y="2761488"/>
            <a:ext cx="1371600" cy="274320"/>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매일 자동 계산</a:t>
            </a:r>
            <a:endParaRPr lang="en-US" sz="1200" dirty="0"/>
          </a:p>
        </p:txBody>
      </p:sp>
      <p:sp>
        <p:nvSpPr>
          <p:cNvPr id="26" name="Text 24"/>
          <p:cNvSpPr txBox="1"/>
          <p:nvPr/>
        </p:nvSpPr>
        <p:spPr>
          <a:xfrm>
            <a:off x="1325880" y="3054096"/>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추천 고객과 고객찾기 그룹을 </a:t>
            </a:r>
            <a:r>
              <a:rPr lang="en-US" sz="1400" dirty="0" err="1">
                <a:solidFill>
                  <a:srgbClr val="6B7684"/>
                </a:solidFill>
                <a:latin typeface="맑은 고딕" pitchFamily="34" charset="0"/>
                <a:ea typeface="맑은 고딕" pitchFamily="34" charset="-122"/>
                <a:cs typeface="맑은 고딕" pitchFamily="34" charset="-120"/>
              </a:rPr>
              <a:t>다시</a:t>
            </a:r>
            <a:r>
              <a:rPr lang="en-US" sz="1400" dirty="0">
                <a:solidFill>
                  <a:srgbClr val="6B7684"/>
                </a:solidFill>
                <a:latin typeface="맑은 고딕" pitchFamily="34" charset="0"/>
                <a:ea typeface="맑은 고딕" pitchFamily="34" charset="-122"/>
                <a:cs typeface="맑은 고딕" pitchFamily="34" charset="-120"/>
              </a:rPr>
              <a:t> </a:t>
            </a:r>
            <a:r>
              <a:rPr lang="en-US" sz="1400" dirty="0" err="1">
                <a:solidFill>
                  <a:srgbClr val="6B7684"/>
                </a:solidFill>
                <a:latin typeface="맑은 고딕" pitchFamily="34" charset="0"/>
                <a:ea typeface="맑은 고딕" pitchFamily="34" charset="-122"/>
                <a:cs typeface="맑은 고딕" pitchFamily="34" charset="-120"/>
              </a:rPr>
              <a:t>계산</a:t>
            </a:r>
            <a:endParaRPr lang="en-US" sz="1400" dirty="0"/>
          </a:p>
        </p:txBody>
      </p:sp>
      <p:sp>
        <p:nvSpPr>
          <p:cNvPr id="27" name="Shape 25"/>
          <p:cNvSpPr/>
          <p:nvPr/>
        </p:nvSpPr>
        <p:spPr>
          <a:xfrm>
            <a:off x="1115568" y="3456432"/>
            <a:ext cx="5605272" cy="676656"/>
          </a:xfrm>
          <a:prstGeom prst="roundRect">
            <a:avLst>
              <a:gd name="adj" fmla="val 18919"/>
            </a:avLst>
          </a:prstGeom>
          <a:solidFill>
            <a:srgbClr val="FFFFFF"/>
          </a:solidFill>
          <a:ln w="9525">
            <a:solidFill>
              <a:srgbClr val="E5E8EB"/>
            </a:solidFill>
            <a:prstDash val="solid"/>
          </a:ln>
        </p:spPr>
      </p:sp>
      <p:sp>
        <p:nvSpPr>
          <p:cNvPr id="28" name="Shape 26"/>
          <p:cNvSpPr/>
          <p:nvPr/>
        </p:nvSpPr>
        <p:spPr>
          <a:xfrm>
            <a:off x="548640" y="3584448"/>
            <a:ext cx="420624" cy="420624"/>
          </a:xfrm>
          <a:prstGeom prst="ellipse">
            <a:avLst/>
          </a:prstGeom>
          <a:solidFill>
            <a:srgbClr val="191F28"/>
          </a:solidFill>
          <a:ln w="19050">
            <a:solidFill>
              <a:srgbClr val="FFFFFF"/>
            </a:solidFill>
            <a:prstDash val="solid"/>
          </a:ln>
        </p:spPr>
      </p:sp>
      <p:sp>
        <p:nvSpPr>
          <p:cNvPr id="29" name="Text 27"/>
          <p:cNvSpPr txBox="1"/>
          <p:nvPr/>
        </p:nvSpPr>
        <p:spPr>
          <a:xfrm>
            <a:off x="548640" y="358444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0" name="Shape 28"/>
          <p:cNvSpPr/>
          <p:nvPr/>
        </p:nvSpPr>
        <p:spPr>
          <a:xfrm>
            <a:off x="758952" y="4023360"/>
            <a:ext cx="0" cy="310896"/>
          </a:xfrm>
          <a:prstGeom prst="line">
            <a:avLst/>
          </a:prstGeom>
          <a:noFill/>
          <a:ln w="19050">
            <a:solidFill>
              <a:srgbClr val="3182F6"/>
            </a:solidFill>
            <a:prstDash val="solid"/>
            <a:tailEnd type="triangle"/>
          </a:ln>
        </p:spPr>
      </p:sp>
      <p:sp>
        <p:nvSpPr>
          <p:cNvPr id="31" name="Text 29"/>
          <p:cNvSpPr txBox="1"/>
          <p:nvPr/>
        </p:nvSpPr>
        <p:spPr>
          <a:xfrm>
            <a:off x="1325880" y="3511296"/>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오늘의 추천 고객 9명</a:t>
            </a:r>
            <a:endParaRPr lang="en-US" sz="1700" dirty="0"/>
          </a:p>
        </p:txBody>
      </p:sp>
      <p:sp>
        <p:nvSpPr>
          <p:cNvPr id="32" name="Text 30"/>
          <p:cNvSpPr txBox="1"/>
          <p:nvPr/>
        </p:nvSpPr>
        <p:spPr>
          <a:xfrm>
            <a:off x="1325880" y="3822192"/>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3명 × 3세트 · 그룹은 보장 기준·영업 기회</a:t>
            </a:r>
            <a:endParaRPr lang="en-US" sz="1400" dirty="0"/>
          </a:p>
        </p:txBody>
      </p:sp>
      <p:sp>
        <p:nvSpPr>
          <p:cNvPr id="33" name="Shape 31"/>
          <p:cNvSpPr/>
          <p:nvPr/>
        </p:nvSpPr>
        <p:spPr>
          <a:xfrm>
            <a:off x="1115568" y="4224528"/>
            <a:ext cx="5605272" cy="676656"/>
          </a:xfrm>
          <a:prstGeom prst="roundRect">
            <a:avLst>
              <a:gd name="adj" fmla="val 18919"/>
            </a:avLst>
          </a:prstGeom>
          <a:solidFill>
            <a:srgbClr val="E8F3FF"/>
          </a:solidFill>
          <a:ln w="12700">
            <a:solidFill>
              <a:srgbClr val="E8F3FF"/>
            </a:solidFill>
            <a:prstDash val="solid"/>
          </a:ln>
        </p:spPr>
      </p:sp>
      <p:sp>
        <p:nvSpPr>
          <p:cNvPr id="34" name="Shape 32"/>
          <p:cNvSpPr/>
          <p:nvPr/>
        </p:nvSpPr>
        <p:spPr>
          <a:xfrm>
            <a:off x="548640" y="4352544"/>
            <a:ext cx="420624" cy="420624"/>
          </a:xfrm>
          <a:prstGeom prst="ellipse">
            <a:avLst/>
          </a:prstGeom>
          <a:solidFill>
            <a:srgbClr val="191F28"/>
          </a:solidFill>
          <a:ln w="19050">
            <a:solidFill>
              <a:srgbClr val="FFFFFF"/>
            </a:solidFill>
            <a:prstDash val="solid"/>
          </a:ln>
        </p:spPr>
      </p:sp>
      <p:sp>
        <p:nvSpPr>
          <p:cNvPr id="35" name="Text 33"/>
          <p:cNvSpPr txBox="1"/>
          <p:nvPr/>
        </p:nvSpPr>
        <p:spPr>
          <a:xfrm>
            <a:off x="548640" y="4352544"/>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36" name="Shape 34"/>
          <p:cNvSpPr/>
          <p:nvPr/>
        </p:nvSpPr>
        <p:spPr>
          <a:xfrm>
            <a:off x="758952" y="4791456"/>
            <a:ext cx="0" cy="310896"/>
          </a:xfrm>
          <a:prstGeom prst="line">
            <a:avLst/>
          </a:prstGeom>
          <a:noFill/>
          <a:ln w="19050">
            <a:solidFill>
              <a:srgbClr val="3182F6"/>
            </a:solidFill>
            <a:prstDash val="solid"/>
            <a:tailEnd type="triangle"/>
          </a:ln>
        </p:spPr>
      </p:sp>
      <p:sp>
        <p:nvSpPr>
          <p:cNvPr id="37" name="Text 35"/>
          <p:cNvSpPr txBox="1"/>
          <p:nvPr/>
        </p:nvSpPr>
        <p:spPr>
          <a:xfrm>
            <a:off x="1325880" y="4279392"/>
            <a:ext cx="5166360" cy="329184"/>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점수 대신 이유 한 문장</a:t>
            </a:r>
            <a:endParaRPr lang="en-US" sz="1700" dirty="0"/>
          </a:p>
        </p:txBody>
      </p:sp>
      <p:sp>
        <p:nvSpPr>
          <p:cNvPr id="38" name="Text 36"/>
          <p:cNvSpPr txBox="1"/>
          <p:nvPr/>
        </p:nvSpPr>
        <p:spPr>
          <a:xfrm>
            <a:off x="1325880" y="4590288"/>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왜 지금 이 고객인지, 한 문장과 태그로</a:t>
            </a:r>
            <a:endParaRPr lang="en-US" sz="1400" dirty="0"/>
          </a:p>
        </p:txBody>
      </p:sp>
      <p:sp>
        <p:nvSpPr>
          <p:cNvPr id="39" name="Shape 37"/>
          <p:cNvSpPr/>
          <p:nvPr/>
        </p:nvSpPr>
        <p:spPr>
          <a:xfrm>
            <a:off x="1115568" y="4992624"/>
            <a:ext cx="5605272" cy="676656"/>
          </a:xfrm>
          <a:prstGeom prst="roundRect">
            <a:avLst>
              <a:gd name="adj" fmla="val 18919"/>
            </a:avLst>
          </a:prstGeom>
          <a:solidFill>
            <a:srgbClr val="FFFFFF"/>
          </a:solidFill>
          <a:ln w="9525">
            <a:solidFill>
              <a:srgbClr val="E5E8EB"/>
            </a:solidFill>
            <a:prstDash val="solid"/>
          </a:ln>
        </p:spPr>
      </p:sp>
      <p:sp>
        <p:nvSpPr>
          <p:cNvPr id="40" name="Shape 38"/>
          <p:cNvSpPr/>
          <p:nvPr/>
        </p:nvSpPr>
        <p:spPr>
          <a:xfrm>
            <a:off x="548640" y="5120640"/>
            <a:ext cx="420624" cy="420624"/>
          </a:xfrm>
          <a:prstGeom prst="ellipse">
            <a:avLst/>
          </a:prstGeom>
          <a:solidFill>
            <a:srgbClr val="191F28"/>
          </a:solidFill>
          <a:ln w="19050">
            <a:solidFill>
              <a:srgbClr val="FFFFFF"/>
            </a:solidFill>
            <a:prstDash val="solid"/>
          </a:ln>
        </p:spPr>
      </p:sp>
      <p:sp>
        <p:nvSpPr>
          <p:cNvPr id="41" name="Text 39"/>
          <p:cNvSpPr txBox="1"/>
          <p:nvPr/>
        </p:nvSpPr>
        <p:spPr>
          <a:xfrm>
            <a:off x="548640" y="5120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2" name="Text 40"/>
          <p:cNvSpPr txBox="1"/>
          <p:nvPr/>
        </p:nvSpPr>
        <p:spPr>
          <a:xfrm>
            <a:off x="1325880" y="5047488"/>
            <a:ext cx="5166360" cy="329184"/>
          </a:xfrm>
          <a:prstGeom prst="rect">
            <a:avLst/>
          </a:prstGeom>
          <a:noFill/>
          <a:ln/>
        </p:spPr>
        <p:txBody>
          <a:bodyPr wrap="square" lIns="0" tIns="0" rIns="0" bIns="0" rtlCol="0" anchor="ctr"/>
          <a:lstStyle/>
          <a:p>
            <a:pPr marL="0" indent="0">
              <a:buNone/>
            </a:pPr>
            <a:r>
              <a:rPr lang="en-US" sz="1700" b="1" dirty="0">
                <a:solidFill>
                  <a:srgbClr val="3182F6"/>
                </a:solidFill>
                <a:latin typeface="맑은 고딕" pitchFamily="34" charset="0"/>
                <a:ea typeface="맑은 고딕" pitchFamily="34" charset="-122"/>
                <a:cs typeface="맑은 고딕" pitchFamily="34" charset="-120"/>
              </a:rPr>
              <a:t>MeAI 고객찾기에서 열기 →</a:t>
            </a:r>
            <a:endParaRPr lang="en-US" sz="1700" dirty="0"/>
          </a:p>
        </p:txBody>
      </p:sp>
      <p:sp>
        <p:nvSpPr>
          <p:cNvPr id="43" name="Text 41"/>
          <p:cNvSpPr txBox="1"/>
          <p:nvPr/>
        </p:nvSpPr>
        <p:spPr>
          <a:xfrm>
            <a:off x="1325880" y="5358384"/>
            <a:ext cx="5166360" cy="274320"/>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동의 고객은 [이 고객으로 맞춤대화 시작]으로</a:t>
            </a:r>
            <a:endParaRPr lang="en-US" sz="1400" dirty="0"/>
          </a:p>
        </p:txBody>
      </p:sp>
      <p:sp>
        <p:nvSpPr>
          <p:cNvPr id="44" name="Shape 42"/>
          <p:cNvSpPr/>
          <p:nvPr/>
        </p:nvSpPr>
        <p:spPr>
          <a:xfrm>
            <a:off x="6995160" y="1920240"/>
            <a:ext cx="4647895" cy="2023437"/>
          </a:xfrm>
          <a:prstGeom prst="roundRect">
            <a:avLst>
              <a:gd name="adj" fmla="val 45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5" name="Image 0" descr="MeAI 화면 캡처"/>
          <p:cNvPicPr>
            <a:picLocks noChangeAspect="1"/>
          </p:cNvPicPr>
          <p:nvPr/>
        </p:nvPicPr>
        <p:blipFill>
          <a:blip r:embed="rId3"/>
          <a:stretch>
            <a:fillRect/>
          </a:stretch>
        </p:blipFill>
        <p:spPr>
          <a:xfrm>
            <a:off x="6995160" y="1920240"/>
            <a:ext cx="4647895" cy="2023437"/>
          </a:xfrm>
          <a:prstGeom prst="rect">
            <a:avLst/>
          </a:prstGeom>
        </p:spPr>
      </p:pic>
      <p:sp>
        <p:nvSpPr>
          <p:cNvPr id="46" name="Shape 43"/>
          <p:cNvSpPr/>
          <p:nvPr/>
        </p:nvSpPr>
        <p:spPr>
          <a:xfrm>
            <a:off x="9396670" y="3664634"/>
            <a:ext cx="365760" cy="365760"/>
          </a:xfrm>
          <a:prstGeom prst="ellipse">
            <a:avLst/>
          </a:prstGeom>
          <a:solidFill>
            <a:srgbClr val="3182F6"/>
          </a:solidFill>
          <a:ln w="19050">
            <a:solidFill>
              <a:srgbClr val="FFFFFF"/>
            </a:solidFill>
            <a:prstDash val="solid"/>
          </a:ln>
        </p:spPr>
      </p:sp>
      <p:sp>
        <p:nvSpPr>
          <p:cNvPr id="47" name="Text 44"/>
          <p:cNvSpPr txBox="1"/>
          <p:nvPr/>
        </p:nvSpPr>
        <p:spPr>
          <a:xfrm>
            <a:off x="9396670" y="366463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48" name="Shape 45"/>
          <p:cNvSpPr/>
          <p:nvPr/>
        </p:nvSpPr>
        <p:spPr>
          <a:xfrm>
            <a:off x="6860362" y="2338381"/>
            <a:ext cx="365760" cy="365760"/>
          </a:xfrm>
          <a:prstGeom prst="ellipse">
            <a:avLst/>
          </a:prstGeom>
          <a:solidFill>
            <a:srgbClr val="3182F6"/>
          </a:solidFill>
          <a:ln w="19050">
            <a:solidFill>
              <a:srgbClr val="FFFFFF"/>
            </a:solidFill>
            <a:prstDash val="solid"/>
          </a:ln>
        </p:spPr>
      </p:sp>
      <p:sp>
        <p:nvSpPr>
          <p:cNvPr id="49" name="Text 46"/>
          <p:cNvSpPr txBox="1"/>
          <p:nvPr/>
        </p:nvSpPr>
        <p:spPr>
          <a:xfrm>
            <a:off x="6860362" y="2338381"/>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50" name="Text 47"/>
          <p:cNvSpPr txBox="1"/>
          <p:nvPr/>
        </p:nvSpPr>
        <p:spPr>
          <a:xfrm>
            <a:off x="6995160" y="3989397"/>
            <a:ext cx="4647895" cy="256032"/>
          </a:xfrm>
          <a:prstGeom prst="rect">
            <a:avLst/>
          </a:prstGeom>
          <a:noFill/>
          <a:ln/>
        </p:spPr>
        <p:txBody>
          <a:bodyPr wrap="square" lIns="0" tIns="0" rIns="0" bIns="0" rtlCol="0" anchor="ctr"/>
          <a:lstStyle/>
          <a:p>
            <a:pPr marL="0" indent="0" algn="r">
              <a:buNone/>
            </a:pPr>
            <a:r>
              <a:rPr lang="en-US" sz="1200" dirty="0">
                <a:solidFill>
                  <a:srgbClr val="8B95A1"/>
                </a:solidFill>
                <a:latin typeface="맑은 고딕" pitchFamily="34" charset="0"/>
                <a:ea typeface="맑은 고딕" pitchFamily="34" charset="-122"/>
                <a:cs typeface="맑은 고딕" pitchFamily="34" charset="-120"/>
              </a:rPr>
              <a:t>확정 화면 · 오늘의 추천 고객 세트 3 · 이름·숫자는 예시</a:t>
            </a:r>
            <a:endParaRPr lang="en-US" sz="1200" dirty="0"/>
          </a:p>
        </p:txBody>
      </p:sp>
      <p:sp>
        <p:nvSpPr>
          <p:cNvPr id="51" name="Shape 48"/>
          <p:cNvSpPr/>
          <p:nvPr/>
        </p:nvSpPr>
        <p:spPr>
          <a:xfrm>
            <a:off x="6995160" y="4526280"/>
            <a:ext cx="4647895" cy="1234440"/>
          </a:xfrm>
          <a:prstGeom prst="roundRect">
            <a:avLst>
              <a:gd name="adj" fmla="val 11852"/>
            </a:avLst>
          </a:prstGeom>
          <a:solidFill>
            <a:srgbClr val="191F28"/>
          </a:solidFill>
          <a:ln w="12700">
            <a:solidFill>
              <a:srgbClr val="191F28"/>
            </a:solidFill>
            <a:prstDash val="solid"/>
          </a:ln>
        </p:spPr>
      </p:sp>
      <p:sp>
        <p:nvSpPr>
          <p:cNvPr id="52" name="Text 49"/>
          <p:cNvSpPr txBox="1"/>
          <p:nvPr/>
        </p:nvSpPr>
        <p:spPr>
          <a:xfrm>
            <a:off x="7269480" y="4636008"/>
            <a:ext cx="4190695" cy="310896"/>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오늘 여쭤볼 것</a:t>
            </a:r>
            <a:endParaRPr lang="en-US" sz="1400" dirty="0"/>
          </a:p>
        </p:txBody>
      </p:sp>
      <p:sp>
        <p:nvSpPr>
          <p:cNvPr id="53" name="Text 50"/>
          <p:cNvSpPr txBox="1"/>
          <p:nvPr/>
        </p:nvSpPr>
        <p:spPr>
          <a:xfrm>
            <a:off x="7269480" y="4937760"/>
            <a:ext cx="4190695" cy="777240"/>
          </a:xfrm>
          <a:prstGeom prst="rect">
            <a:avLst/>
          </a:prstGeom>
          <a:noFill/>
          <a:ln/>
        </p:spPr>
        <p:txBody>
          <a:bodyPr wrap="square" lIns="0" tIns="0" rIns="0" bIns="0" rtlCol="0" anchor="t"/>
          <a:lstStyle/>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1 · 무엇을 보고 고르나요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2 · 어떻게 만들었나요</a:t>
            </a:r>
            <a:endParaRPr lang="en-US" sz="1450" dirty="0"/>
          </a:p>
          <a:p>
            <a:pPr marL="0" indent="0">
              <a:lnSpc>
                <a:spcPct val="115000"/>
              </a:lnSpc>
              <a:buNone/>
            </a:pPr>
            <a:r>
              <a:rPr lang="en-US" sz="1450" b="1" dirty="0">
                <a:solidFill>
                  <a:srgbClr val="FFFFFF"/>
                </a:solidFill>
                <a:latin typeface="맑은 고딕" pitchFamily="34" charset="0"/>
                <a:ea typeface="맑은 고딕" pitchFamily="34" charset="-122"/>
                <a:cs typeface="맑은 고딕" pitchFamily="34" charset="-120"/>
              </a:rPr>
              <a:t>질문 3 · 꼭 전할 한 가지</a:t>
            </a:r>
            <a:endParaRPr lang="en-US" sz="1450" dirty="0"/>
          </a:p>
        </p:txBody>
      </p:sp>
      <p:sp>
        <p:nvSpPr>
          <p:cNvPr id="54" name="Text 51"/>
          <p:cNvSpPr txBox="1"/>
          <p:nvPr/>
        </p:nvSpPr>
        <p:spPr>
          <a:xfrm>
            <a:off x="548640" y="5833872"/>
            <a:ext cx="11094415" cy="256032"/>
          </a:xfrm>
          <a:prstGeom prst="rect">
            <a:avLst/>
          </a:prstGeom>
          <a:noFill/>
          <a:ln/>
        </p:spPr>
        <p:txBody>
          <a:bodyPr wrap="square" lIns="0" tIns="0" rIns="0" bIns="0" rtlCol="0" anchor="ctr"/>
          <a:lstStyle/>
          <a:p>
            <a:pPr marL="0" indent="0">
              <a:buNone/>
            </a:pPr>
            <a:r>
              <a:rPr lang="en-US" sz="1250" dirty="0">
                <a:solidFill>
                  <a:srgbClr val="4E5968"/>
                </a:solidFill>
                <a:latin typeface="맑은 고딕" pitchFamily="34" charset="0"/>
                <a:ea typeface="맑은 고딕" pitchFamily="34" charset="-122"/>
                <a:cs typeface="맑은 고딕" pitchFamily="34" charset="-120"/>
              </a:rPr>
              <a:t>※ 고객 데이터와 추천 결과는 다음 날 반영 · 사전조회 동의일로부터 1년 이내 고객만</a:t>
            </a:r>
            <a:endParaRPr lang="en-US" sz="1250" dirty="0"/>
          </a:p>
        </p:txBody>
      </p:sp>
      <p:sp>
        <p:nvSpPr>
          <p:cNvPr id="56" name="Text 53"/>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4"/>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영업포탈에서 MeAI 홈으로 </a:t>
            </a:r>
            <a:r>
              <a:rPr lang="en-US" sz="3400" b="1" dirty="0" err="1">
                <a:solidFill>
                  <a:srgbClr val="191F28"/>
                </a:solidFill>
                <a:latin typeface="맑은 고딕" pitchFamily="34" charset="0"/>
                <a:ea typeface="맑은 고딕" pitchFamily="34" charset="-122"/>
                <a:cs typeface="맑은 고딕" pitchFamily="34" charset="-120"/>
              </a:rPr>
              <a:t>가는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진입로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rPr>
              <a:t>중앙 배너와 </a:t>
            </a:r>
            <a:r>
              <a:rPr lang="en-US" altLang="ko-KR" sz="1700" dirty="0">
                <a:solidFill>
                  <a:srgbClr val="6B7684"/>
                </a:solidFill>
                <a:latin typeface="맑은 고딕" pitchFamily="34" charset="0"/>
                <a:ea typeface="맑은 고딕" pitchFamily="34" charset="-122"/>
              </a:rPr>
              <a:t>CRM </a:t>
            </a:r>
            <a:r>
              <a:rPr lang="ko-KR" altLang="en-US" sz="1700" dirty="0">
                <a:solidFill>
                  <a:srgbClr val="6B7684"/>
                </a:solidFill>
                <a:latin typeface="맑은 고딕" pitchFamily="34" charset="0"/>
                <a:ea typeface="맑은 고딕" pitchFamily="34" charset="-122"/>
              </a:rPr>
              <a:t>통해 들어가는 </a:t>
            </a:r>
            <a:r>
              <a:rPr lang="en-US" altLang="ko-KR" sz="1700" dirty="0" err="1">
                <a:solidFill>
                  <a:srgbClr val="6B7684"/>
                </a:solidFill>
                <a:latin typeface="맑은 고딕" pitchFamily="34" charset="0"/>
                <a:ea typeface="맑은 고딕" pitchFamily="34" charset="-122"/>
              </a:rPr>
              <a:t>MeAI</a:t>
            </a:r>
            <a:r>
              <a:rPr lang="ko-KR" altLang="en-US" sz="1700" dirty="0">
                <a:solidFill>
                  <a:srgbClr val="6B7684"/>
                </a:solidFill>
                <a:latin typeface="맑은 고딕" pitchFamily="34" charset="0"/>
                <a:ea typeface="맑은 고딕" pitchFamily="34" charset="-122"/>
              </a:rPr>
              <a:t>는 누구나 사용 가능</a:t>
            </a:r>
            <a:endParaRPr lang="en-US" sz="1700" dirty="0"/>
          </a:p>
        </p:txBody>
      </p:sp>
      <p:sp>
        <p:nvSpPr>
          <p:cNvPr id="13" name="Shape 11"/>
          <p:cNvSpPr/>
          <p:nvPr/>
        </p:nvSpPr>
        <p:spPr>
          <a:xfrm>
            <a:off x="548640" y="1920240"/>
            <a:ext cx="6873240" cy="3749040"/>
          </a:xfrm>
          <a:prstGeom prst="roundRect">
            <a:avLst>
              <a:gd name="adj" fmla="val 3415"/>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20240"/>
            <a:ext cx="6873240" cy="3749040"/>
          </a:xfrm>
          <a:prstGeom prst="rect">
            <a:avLst/>
          </a:prstGeom>
        </p:spPr>
      </p:pic>
      <p:sp>
        <p:nvSpPr>
          <p:cNvPr id="15" name="Shape 12"/>
          <p:cNvSpPr/>
          <p:nvPr/>
        </p:nvSpPr>
        <p:spPr>
          <a:xfrm>
            <a:off x="4820505" y="4462106"/>
            <a:ext cx="565331" cy="620589"/>
          </a:xfrm>
          <a:prstGeom prst="roundRect">
            <a:avLst>
              <a:gd name="adj" fmla="val 8087"/>
            </a:avLst>
          </a:prstGeom>
          <a:ln w="38100">
            <a:solidFill>
              <a:srgbClr val="3182F6"/>
            </a:solidFill>
            <a:prstDash val="solid"/>
          </a:ln>
        </p:spPr>
      </p:sp>
      <p:sp>
        <p:nvSpPr>
          <p:cNvPr id="16" name="Shape 13"/>
          <p:cNvSpPr/>
          <p:nvPr/>
        </p:nvSpPr>
        <p:spPr>
          <a:xfrm>
            <a:off x="548640" y="5779008"/>
            <a:ext cx="6949440" cy="384048"/>
          </a:xfrm>
          <a:prstGeom prst="roundRect">
            <a:avLst>
              <a:gd name="adj" fmla="val 28571"/>
            </a:avLst>
          </a:prstGeom>
          <a:solidFill>
            <a:srgbClr val="F2F4F6"/>
          </a:solidFill>
          <a:ln w="12700">
            <a:solidFill>
              <a:srgbClr val="F2F4F6"/>
            </a:solidFill>
            <a:prstDash val="solid"/>
          </a:ln>
        </p:spPr>
      </p:sp>
      <p:sp>
        <p:nvSpPr>
          <p:cNvPr id="17" name="Text 14"/>
          <p:cNvSpPr txBox="1"/>
          <p:nvPr/>
        </p:nvSpPr>
        <p:spPr>
          <a:xfrm>
            <a:off x="777240" y="5779008"/>
            <a:ext cx="6583680" cy="384048"/>
          </a:xfrm>
          <a:prstGeom prst="rect">
            <a:avLst/>
          </a:prstGeom>
          <a:noFill/>
          <a:ln/>
        </p:spPr>
        <p:txBody>
          <a:bodyPr wrap="square" lIns="0" tIns="0" rIns="0" bIns="0" rtlCol="0" anchor="ctr"/>
          <a:lstStyle/>
          <a:p>
            <a:pPr marL="0" indent="0">
              <a:buNone/>
            </a:pPr>
            <a:r>
              <a:rPr lang="en-US" sz="1500" dirty="0">
                <a:solidFill>
                  <a:srgbClr val="4E5968"/>
                </a:solidFill>
                <a:latin typeface="맑은 고딕" pitchFamily="34" charset="0"/>
                <a:ea typeface="맑은 고딕" pitchFamily="34" charset="-122"/>
                <a:cs typeface="맑은 고딕" pitchFamily="34" charset="-120"/>
              </a:rPr>
              <a:t>휴대폰은 지금처럼 앱 홈 → 보장분석 → MeAI</a:t>
            </a:r>
            <a:endParaRPr lang="en-US" sz="1500" dirty="0"/>
          </a:p>
        </p:txBody>
      </p:sp>
      <p:sp>
        <p:nvSpPr>
          <p:cNvPr id="18" name="Text 15"/>
          <p:cNvSpPr txBox="1"/>
          <p:nvPr/>
        </p:nvSpPr>
        <p:spPr>
          <a:xfrm>
            <a:off x="7772400" y="1874520"/>
            <a:ext cx="3870655" cy="384048"/>
          </a:xfrm>
          <a:prstGeom prst="rect">
            <a:avLst/>
          </a:prstGeom>
          <a:noFill/>
          <a:ln/>
        </p:spPr>
        <p:txBody>
          <a:bodyPr wrap="square" lIns="0" tIns="0" rIns="0" bIns="0" rtlCol="0" anchor="ctr"/>
          <a:lstStyle/>
          <a:p>
            <a:pPr marL="0" indent="0">
              <a:buNone/>
            </a:pPr>
            <a:r>
              <a:rPr lang="en-US" sz="1900" b="1" dirty="0">
                <a:solidFill>
                  <a:srgbClr val="3182F6"/>
                </a:solidFill>
                <a:latin typeface="맑은 고딕" pitchFamily="34" charset="0"/>
                <a:ea typeface="맑은 고딕" pitchFamily="34" charset="-122"/>
                <a:cs typeface="맑은 고딕" pitchFamily="34" charset="-120"/>
              </a:rPr>
              <a:t>새로 생긴 문 ③④⑤</a:t>
            </a:r>
            <a:endParaRPr lang="en-US" sz="1900" dirty="0"/>
          </a:p>
        </p:txBody>
      </p:sp>
      <p:sp>
        <p:nvSpPr>
          <p:cNvPr id="19" name="Shape 16"/>
          <p:cNvSpPr/>
          <p:nvPr/>
        </p:nvSpPr>
        <p:spPr>
          <a:xfrm>
            <a:off x="7772400" y="2304288"/>
            <a:ext cx="2342896" cy="347472"/>
          </a:xfrm>
          <a:prstGeom prst="roundRect">
            <a:avLst>
              <a:gd name="adj" fmla="val 50000"/>
            </a:avLst>
          </a:prstGeom>
          <a:solidFill>
            <a:srgbClr val="E8F3FF"/>
          </a:solidFill>
          <a:ln w="12700">
            <a:solidFill>
              <a:srgbClr val="E8F3FF"/>
            </a:solidFill>
            <a:prstDash val="solid"/>
          </a:ln>
        </p:spPr>
      </p:sp>
      <p:sp>
        <p:nvSpPr>
          <p:cNvPr id="20" name="Text 17"/>
          <p:cNvSpPr txBox="1"/>
          <p:nvPr/>
        </p:nvSpPr>
        <p:spPr>
          <a:xfrm>
            <a:off x="7772400" y="2304288"/>
            <a:ext cx="2342896" cy="347472"/>
          </a:xfrm>
          <a:prstGeom prst="rect">
            <a:avLst/>
          </a:prstGeom>
          <a:noFill/>
          <a:ln/>
        </p:spPr>
        <p:txBody>
          <a:bodyPr wrap="square" lIns="0" tIns="0" rIns="0" bIns="0" rtlCol="0" anchor="ctr"/>
          <a:lstStyle/>
          <a:p>
            <a:pPr marL="0" indent="0" algn="ctr">
              <a:buNone/>
            </a:pPr>
            <a:r>
              <a:rPr lang="en-US" sz="1400" b="1" dirty="0">
                <a:solidFill>
                  <a:srgbClr val="3182F6"/>
                </a:solidFill>
                <a:latin typeface="맑은 고딕" pitchFamily="34" charset="0"/>
                <a:ea typeface="맑은 고딕" pitchFamily="34" charset="-122"/>
                <a:cs typeface="맑은 고딕" pitchFamily="34" charset="-120"/>
              </a:rPr>
              <a:t>권한과 상관없이 누구나*</a:t>
            </a:r>
            <a:endParaRPr lang="en-US" sz="1400" dirty="0"/>
          </a:p>
        </p:txBody>
      </p:sp>
      <p:sp>
        <p:nvSpPr>
          <p:cNvPr id="21" name="Text 18"/>
          <p:cNvSpPr txBox="1"/>
          <p:nvPr/>
        </p:nvSpPr>
        <p:spPr>
          <a:xfrm>
            <a:off x="7772400" y="2761488"/>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③ 롤링배너</a:t>
            </a:r>
            <a:endParaRPr lang="en-US" sz="1650" dirty="0"/>
          </a:p>
        </p:txBody>
      </p:sp>
      <p:sp>
        <p:nvSpPr>
          <p:cNvPr id="22" name="Text 19"/>
          <p:cNvSpPr txBox="1"/>
          <p:nvPr/>
        </p:nvSpPr>
        <p:spPr>
          <a:xfrm>
            <a:off x="8919591" y="2761488"/>
            <a:ext cx="2723464" cy="347472"/>
          </a:xfrm>
          <a:prstGeom prst="rect">
            <a:avLst/>
          </a:prstGeom>
          <a:noFill/>
          <a:ln/>
        </p:spPr>
        <p:txBody>
          <a:bodyPr wrap="square" lIns="0" tIns="0" rIns="0" bIns="0" rtlCol="0" anchor="ctr"/>
          <a:lstStyle/>
          <a:p>
            <a:pPr marL="0" indent="0">
              <a:buNone/>
            </a:pPr>
            <a:r>
              <a:rPr lang="en-US" sz="1400" dirty="0">
                <a:solidFill>
                  <a:srgbClr val="6B7684"/>
                </a:solidFill>
                <a:latin typeface="맑은 고딕" pitchFamily="34" charset="0"/>
                <a:ea typeface="맑은 고딕" pitchFamily="34" charset="-122"/>
                <a:cs typeface="맑은 고딕" pitchFamily="34" charset="-120"/>
              </a:rPr>
              <a:t>[MeAI 홈 바로가기]</a:t>
            </a:r>
            <a:endParaRPr lang="en-US" sz="1400" dirty="0"/>
          </a:p>
        </p:txBody>
      </p:sp>
      <p:sp>
        <p:nvSpPr>
          <p:cNvPr id="23" name="Shape 20"/>
          <p:cNvSpPr/>
          <p:nvPr/>
        </p:nvSpPr>
        <p:spPr>
          <a:xfrm>
            <a:off x="7680960" y="3182112"/>
            <a:ext cx="3962095" cy="1481328"/>
          </a:xfrm>
          <a:prstGeom prst="roundRect">
            <a:avLst>
              <a:gd name="adj" fmla="val 8642"/>
            </a:avLst>
          </a:prstGeom>
          <a:solidFill>
            <a:srgbClr val="E8F3FF"/>
          </a:solidFill>
          <a:ln w="12700">
            <a:solidFill>
              <a:srgbClr val="E8F3FF"/>
            </a:solidFill>
            <a:prstDash val="solid"/>
          </a:ln>
        </p:spPr>
      </p:sp>
      <p:sp>
        <p:nvSpPr>
          <p:cNvPr id="24" name="Text 21"/>
          <p:cNvSpPr txBox="1"/>
          <p:nvPr/>
        </p:nvSpPr>
        <p:spPr>
          <a:xfrm>
            <a:off x="7863840" y="3246120"/>
            <a:ext cx="3687775" cy="347472"/>
          </a:xfrm>
          <a:prstGeom prst="rect">
            <a:avLst/>
          </a:prstGeom>
          <a:noFill/>
          <a:ln/>
        </p:spPr>
        <p:txBody>
          <a:bodyPr wrap="square" lIns="0" tIns="0" rIns="0" bIns="0" rtlCol="0" anchor="ctr"/>
          <a:lstStyle/>
          <a:p>
            <a:pPr marL="0" indent="0">
              <a:buNone/>
            </a:pPr>
            <a:r>
              <a:rPr lang="en-US" sz="1650" b="1" dirty="0">
                <a:solidFill>
                  <a:srgbClr val="3182F6"/>
                </a:solidFill>
                <a:latin typeface="맑은 고딕" pitchFamily="34" charset="0"/>
                <a:ea typeface="맑은 고딕" pitchFamily="34" charset="-122"/>
                <a:cs typeface="맑은 고딕" pitchFamily="34" charset="-120"/>
              </a:rPr>
              <a:t>④ CRM 리스트 · 핵심</a:t>
            </a:r>
            <a:endParaRPr lang="en-US" sz="1650" dirty="0"/>
          </a:p>
        </p:txBody>
      </p:sp>
      <p:sp>
        <p:nvSpPr>
          <p:cNvPr id="25" name="Text 22"/>
          <p:cNvSpPr txBox="1"/>
          <p:nvPr/>
        </p:nvSpPr>
        <p:spPr>
          <a:xfrm>
            <a:off x="7863840" y="3593592"/>
            <a:ext cx="3779215" cy="502920"/>
          </a:xfrm>
          <a:prstGeom prst="rect">
            <a:avLst/>
          </a:prstGeom>
          <a:noFill/>
          <a:ln/>
        </p:spPr>
        <p:txBody>
          <a:bodyPr wrap="square" lIns="0" tIns="0" rIns="0" bIns="0" rtlCol="0" anchor="t"/>
          <a:lstStyle/>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고객 목록에</a:t>
            </a:r>
            <a:endParaRPr lang="en-US" sz="1400" dirty="0"/>
          </a:p>
          <a:p>
            <a:pPr marL="0" indent="0">
              <a:lnSpc>
                <a:spcPct val="110000"/>
              </a:lnSpc>
              <a:buNone/>
            </a:pPr>
            <a:r>
              <a:rPr lang="en-US" sz="1400" dirty="0">
                <a:solidFill>
                  <a:srgbClr val="4E5968"/>
                </a:solidFill>
                <a:latin typeface="맑은 고딕" pitchFamily="34" charset="0"/>
                <a:ea typeface="맑은 고딕" pitchFamily="34" charset="-122"/>
                <a:cs typeface="맑은 고딕" pitchFamily="34" charset="-120"/>
              </a:rPr>
              <a:t>[MeAI 일반대화]·[MeAI 맞춤대화]</a:t>
            </a:r>
            <a:endParaRPr lang="en-US" sz="1400" dirty="0"/>
          </a:p>
        </p:txBody>
      </p:sp>
      <p:sp>
        <p:nvSpPr>
          <p:cNvPr id="26" name="Text 23"/>
          <p:cNvSpPr txBox="1"/>
          <p:nvPr/>
        </p:nvSpPr>
        <p:spPr>
          <a:xfrm>
            <a:off x="7863840" y="4114800"/>
            <a:ext cx="3687775" cy="502920"/>
          </a:xfrm>
          <a:prstGeom prst="rect">
            <a:avLst/>
          </a:prstGeom>
          <a:noFill/>
          <a:ln/>
        </p:spPr>
        <p:txBody>
          <a:bodyPr wrap="square" lIns="0" tIns="0" rIns="0" bIns="0" rtlCol="0" anchor="t"/>
          <a:lstStyle/>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생일·상령일 목록에서 바로</a:t>
            </a:r>
            <a:endParaRPr lang="en-US" sz="1450" dirty="0"/>
          </a:p>
          <a:p>
            <a:pPr marL="0" indent="0">
              <a:lnSpc>
                <a:spcPct val="110000"/>
              </a:lnSpc>
              <a:buNone/>
            </a:pPr>
            <a:r>
              <a:rPr lang="en-US" sz="1450" b="1" dirty="0">
                <a:solidFill>
                  <a:srgbClr val="191F28"/>
                </a:solidFill>
                <a:latin typeface="맑은 고딕" pitchFamily="34" charset="0"/>
                <a:ea typeface="맑은 고딕" pitchFamily="34" charset="-122"/>
                <a:cs typeface="맑은 고딕" pitchFamily="34" charset="-120"/>
              </a:rPr>
              <a:t>[MeAI 맞춤대화]를 </a:t>
            </a:r>
            <a:r>
              <a:rPr lang="en-US" sz="1450" b="1" dirty="0" err="1">
                <a:solidFill>
                  <a:srgbClr val="191F28"/>
                </a:solidFill>
                <a:latin typeface="맑은 고딕" pitchFamily="34" charset="0"/>
                <a:ea typeface="맑은 고딕" pitchFamily="34" charset="-122"/>
                <a:cs typeface="맑은 고딕" pitchFamily="34" charset="-120"/>
              </a:rPr>
              <a:t>눌러</a:t>
            </a:r>
            <a:r>
              <a:rPr lang="ko-KR" altLang="en-US" sz="1450" b="1" dirty="0">
                <a:solidFill>
                  <a:srgbClr val="191F28"/>
                </a:solidFill>
                <a:latin typeface="맑은 고딕" pitchFamily="34" charset="0"/>
                <a:ea typeface="맑은 고딕" pitchFamily="34" charset="-122"/>
                <a:cs typeface="맑은 고딕" pitchFamily="34" charset="-120"/>
              </a:rPr>
              <a:t>서 시작</a:t>
            </a:r>
            <a:endParaRPr lang="en-US" sz="1450" dirty="0"/>
          </a:p>
        </p:txBody>
      </p:sp>
      <p:sp>
        <p:nvSpPr>
          <p:cNvPr id="27" name="Text 24"/>
          <p:cNvSpPr txBox="1"/>
          <p:nvPr/>
        </p:nvSpPr>
        <p:spPr>
          <a:xfrm>
            <a:off x="7772400" y="4754880"/>
            <a:ext cx="3870655" cy="347472"/>
          </a:xfrm>
          <a:prstGeom prst="rect">
            <a:avLst/>
          </a:prstGeom>
          <a:noFill/>
          <a:ln/>
        </p:spPr>
        <p:txBody>
          <a:bodyPr wrap="square" lIns="0" tIns="0" rIns="0" bIns="0" rtlCol="0" anchor="ctr"/>
          <a:lstStyle/>
          <a:p>
            <a:pPr marL="0" indent="0">
              <a:buNone/>
            </a:pPr>
            <a:r>
              <a:rPr lang="en-US" sz="1650" b="1" dirty="0">
                <a:solidFill>
                  <a:srgbClr val="191F28"/>
                </a:solidFill>
                <a:latin typeface="맑은 고딕" pitchFamily="34" charset="0"/>
                <a:ea typeface="맑은 고딕" pitchFamily="34" charset="-122"/>
                <a:cs typeface="맑은 고딕" pitchFamily="34" charset="-120"/>
              </a:rPr>
              <a:t>⑤ 떠 있는 MeAI 버튼</a:t>
            </a:r>
            <a:endParaRPr lang="en-US" sz="1650" dirty="0"/>
          </a:p>
        </p:txBody>
      </p:sp>
      <p:sp>
        <p:nvSpPr>
          <p:cNvPr id="28" name="Text 25"/>
          <p:cNvSpPr txBox="1"/>
          <p:nvPr/>
        </p:nvSpPr>
        <p:spPr>
          <a:xfrm>
            <a:off x="7772400" y="5193792"/>
            <a:ext cx="3870655" cy="329184"/>
          </a:xfrm>
          <a:prstGeom prst="rect">
            <a:avLst/>
          </a:prstGeom>
          <a:noFill/>
          <a:ln/>
        </p:spPr>
        <p:txBody>
          <a:bodyPr wrap="square" lIns="0" tIns="0" rIns="0" bIns="0" rtlCol="0" anchor="ctr"/>
          <a:lstStyle/>
          <a:p>
            <a:pPr marL="0" indent="0">
              <a:buNone/>
            </a:pPr>
            <a:r>
              <a:rPr lang="en-US" sz="1600" b="1" dirty="0">
                <a:solidFill>
                  <a:srgbClr val="6B7684"/>
                </a:solidFill>
                <a:latin typeface="맑은 고딕" pitchFamily="34" charset="0"/>
                <a:ea typeface="맑은 고딕" pitchFamily="34" charset="-122"/>
                <a:cs typeface="맑은 고딕" pitchFamily="34" charset="-120"/>
              </a:rPr>
              <a:t>원래 있던 문 ①②⑥</a:t>
            </a:r>
            <a:endParaRPr lang="en-US" sz="1600" dirty="0"/>
          </a:p>
        </p:txBody>
      </p:sp>
      <p:sp>
        <p:nvSpPr>
          <p:cNvPr id="29" name="Text 26"/>
          <p:cNvSpPr txBox="1"/>
          <p:nvPr/>
        </p:nvSpPr>
        <p:spPr>
          <a:xfrm>
            <a:off x="7772400" y="5504688"/>
            <a:ext cx="3870655" cy="475488"/>
          </a:xfrm>
          <a:prstGeom prst="rect">
            <a:avLst/>
          </a:prstGeom>
          <a:noFill/>
          <a:ln/>
        </p:spPr>
        <p:txBody>
          <a:bodyPr wrap="square" lIns="0" tIns="0" rIns="0" bIns="0" rtlCol="0" anchor="t"/>
          <a:lstStyle/>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①② 왼쪽 위 · ⑥ 오른쪽 메뉴</a:t>
            </a:r>
            <a:endParaRPr lang="en-US" sz="1350" dirty="0"/>
          </a:p>
          <a:p>
            <a:pPr marL="0" indent="0">
              <a:lnSpc>
                <a:spcPct val="110000"/>
              </a:lnSpc>
              <a:buNone/>
            </a:pPr>
            <a:r>
              <a:rPr lang="en-US" sz="1350" dirty="0">
                <a:solidFill>
                  <a:srgbClr val="6B7684"/>
                </a:solidFill>
                <a:latin typeface="맑은 고딕" pitchFamily="34" charset="0"/>
                <a:ea typeface="맑은 고딕" pitchFamily="34" charset="-122"/>
                <a:cs typeface="맑은 고딕" pitchFamily="34" charset="-120"/>
              </a:rPr>
              <a:t>사용권한이 </a:t>
            </a:r>
            <a:r>
              <a:rPr lang="en-US" sz="1350" dirty="0" err="1">
                <a:solidFill>
                  <a:srgbClr val="6B7684"/>
                </a:solidFill>
                <a:latin typeface="맑은 고딕" pitchFamily="34" charset="0"/>
                <a:ea typeface="맑은 고딕" pitchFamily="34" charset="-122"/>
                <a:cs typeface="맑은 고딕" pitchFamily="34" charset="-120"/>
              </a:rPr>
              <a:t>있어야</a:t>
            </a:r>
            <a:r>
              <a:rPr lang="en-US"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사용 가능</a:t>
            </a:r>
            <a:endParaRPr lang="en-US" sz="1350" dirty="0"/>
          </a:p>
        </p:txBody>
      </p:sp>
      <p:sp>
        <p:nvSpPr>
          <p:cNvPr id="31" name="Text 2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32" name="Text 2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 한 </a:t>
            </a:r>
            <a:r>
              <a:rPr lang="en-US" sz="3400" b="1" dirty="0" err="1">
                <a:solidFill>
                  <a:srgbClr val="191F28"/>
                </a:solidFill>
                <a:latin typeface="맑은 고딕" pitchFamily="34" charset="0"/>
                <a:ea typeface="맑은 고딕" pitchFamily="34" charset="-122"/>
                <a:cs typeface="맑은 고딕" pitchFamily="34" charset="-120"/>
              </a:rPr>
              <a:t>화면에</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담길 </a:t>
            </a:r>
            <a:r>
              <a:rPr lang="en-US" sz="3400" b="1" dirty="0" err="1">
                <a:solidFill>
                  <a:srgbClr val="191F28"/>
                </a:solidFill>
                <a:latin typeface="맑은 고딕" pitchFamily="34" charset="0"/>
                <a:ea typeface="맑은 고딕" pitchFamily="34" charset="-122"/>
                <a:cs typeface="맑은 고딕" pitchFamily="34" charset="-120"/>
              </a:rPr>
              <a:t>오늘</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연락할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고객</a:t>
            </a:r>
            <a:endParaRPr lang="en-US" sz="3400" dirty="0"/>
          </a:p>
        </p:txBody>
      </p:sp>
      <p:sp>
        <p:nvSpPr>
          <p:cNvPr id="13" name="Shape 11"/>
          <p:cNvSpPr/>
          <p:nvPr/>
        </p:nvSpPr>
        <p:spPr>
          <a:xfrm>
            <a:off x="583260" y="1594019"/>
            <a:ext cx="5658903" cy="4224528"/>
          </a:xfrm>
          <a:prstGeom prst="roundRect">
            <a:avLst>
              <a:gd name="adj" fmla="val 2679"/>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83260" y="1594019"/>
            <a:ext cx="5658903" cy="4224528"/>
          </a:xfrm>
          <a:prstGeom prst="rect">
            <a:avLst/>
          </a:prstGeom>
        </p:spPr>
      </p:pic>
      <p:sp>
        <p:nvSpPr>
          <p:cNvPr id="15" name="Shape 12"/>
          <p:cNvSpPr/>
          <p:nvPr/>
        </p:nvSpPr>
        <p:spPr>
          <a:xfrm>
            <a:off x="617880" y="1864426"/>
            <a:ext cx="402336" cy="402336"/>
          </a:xfrm>
          <a:prstGeom prst="ellipse">
            <a:avLst/>
          </a:prstGeom>
          <a:solidFill>
            <a:srgbClr val="3182F6"/>
          </a:solidFill>
          <a:ln w="19050">
            <a:solidFill>
              <a:srgbClr val="FFFFFF"/>
            </a:solidFill>
            <a:prstDash val="solid"/>
          </a:ln>
        </p:spPr>
      </p:sp>
      <p:sp>
        <p:nvSpPr>
          <p:cNvPr id="16" name="Text 13"/>
          <p:cNvSpPr txBox="1"/>
          <p:nvPr/>
        </p:nvSpPr>
        <p:spPr>
          <a:xfrm>
            <a:off x="617880" y="186442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617880" y="2438176"/>
            <a:ext cx="402336" cy="402336"/>
          </a:xfrm>
          <a:prstGeom prst="ellipse">
            <a:avLst/>
          </a:prstGeom>
          <a:solidFill>
            <a:srgbClr val="3182F6"/>
          </a:solidFill>
          <a:ln w="19050">
            <a:solidFill>
              <a:srgbClr val="FFFFFF"/>
            </a:solidFill>
            <a:prstDash val="solid"/>
          </a:ln>
        </p:spPr>
      </p:sp>
      <p:sp>
        <p:nvSpPr>
          <p:cNvPr id="18" name="Text 15"/>
          <p:cNvSpPr txBox="1"/>
          <p:nvPr/>
        </p:nvSpPr>
        <p:spPr>
          <a:xfrm>
            <a:off x="617880" y="2438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617880" y="3322380"/>
            <a:ext cx="402336" cy="402336"/>
          </a:xfrm>
          <a:prstGeom prst="ellipse">
            <a:avLst/>
          </a:prstGeom>
          <a:solidFill>
            <a:srgbClr val="3182F6"/>
          </a:solidFill>
          <a:ln w="19050">
            <a:solidFill>
              <a:srgbClr val="FFFFFF"/>
            </a:solidFill>
            <a:prstDash val="solid"/>
          </a:ln>
        </p:spPr>
      </p:sp>
      <p:sp>
        <p:nvSpPr>
          <p:cNvPr id="20" name="Text 17"/>
          <p:cNvSpPr txBox="1"/>
          <p:nvPr/>
        </p:nvSpPr>
        <p:spPr>
          <a:xfrm>
            <a:off x="617880" y="332238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617880" y="3754657"/>
            <a:ext cx="402336" cy="402336"/>
          </a:xfrm>
          <a:prstGeom prst="ellipse">
            <a:avLst/>
          </a:prstGeom>
          <a:solidFill>
            <a:srgbClr val="3182F6"/>
          </a:solidFill>
          <a:ln w="19050">
            <a:solidFill>
              <a:srgbClr val="FFFFFF"/>
            </a:solidFill>
            <a:prstDash val="solid"/>
          </a:ln>
        </p:spPr>
      </p:sp>
      <p:sp>
        <p:nvSpPr>
          <p:cNvPr id="22" name="Text 19"/>
          <p:cNvSpPr txBox="1"/>
          <p:nvPr/>
        </p:nvSpPr>
        <p:spPr>
          <a:xfrm>
            <a:off x="617880" y="3754657"/>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3840310" y="1597200"/>
            <a:ext cx="402336" cy="402336"/>
          </a:xfrm>
          <a:prstGeom prst="ellipse">
            <a:avLst/>
          </a:prstGeom>
          <a:solidFill>
            <a:srgbClr val="3182F6"/>
          </a:solidFill>
          <a:ln w="19050">
            <a:solidFill>
              <a:srgbClr val="FFFFFF"/>
            </a:solidFill>
            <a:prstDash val="solid"/>
          </a:ln>
        </p:spPr>
      </p:sp>
      <p:sp>
        <p:nvSpPr>
          <p:cNvPr id="24" name="Text 21"/>
          <p:cNvSpPr txBox="1"/>
          <p:nvPr/>
        </p:nvSpPr>
        <p:spPr>
          <a:xfrm>
            <a:off x="3840310" y="15972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4269406" y="1656896"/>
            <a:ext cx="1383287" cy="180771"/>
          </a:xfrm>
          <a:prstGeom prst="roundRect">
            <a:avLst>
              <a:gd name="adj" fmla="val 25292"/>
            </a:avLst>
          </a:prstGeom>
          <a:ln w="22225">
            <a:solidFill>
              <a:srgbClr val="3182F6"/>
            </a:solidFill>
            <a:prstDash val="solid"/>
          </a:ln>
        </p:spPr>
      </p:sp>
      <p:sp>
        <p:nvSpPr>
          <p:cNvPr id="26" name="Shape 23"/>
          <p:cNvSpPr/>
          <p:nvPr/>
        </p:nvSpPr>
        <p:spPr>
          <a:xfrm>
            <a:off x="3275169" y="5692794"/>
            <a:ext cx="275086" cy="94315"/>
          </a:xfrm>
          <a:prstGeom prst="roundRect">
            <a:avLst>
              <a:gd name="adj" fmla="val 48476"/>
            </a:avLst>
          </a:prstGeom>
          <a:ln w="22225">
            <a:solidFill>
              <a:srgbClr val="3182F6"/>
            </a:solidFill>
            <a:prstDash val="solid"/>
          </a:ln>
        </p:spPr>
      </p:sp>
      <p:sp>
        <p:nvSpPr>
          <p:cNvPr id="27" name="Shape 24"/>
          <p:cNvSpPr/>
          <p:nvPr/>
        </p:nvSpPr>
        <p:spPr>
          <a:xfrm>
            <a:off x="4623088" y="2159909"/>
            <a:ext cx="1021746" cy="141473"/>
          </a:xfrm>
          <a:prstGeom prst="roundRect">
            <a:avLst>
              <a:gd name="adj" fmla="val 32317"/>
            </a:avLst>
          </a:prstGeom>
          <a:ln w="22225">
            <a:solidFill>
              <a:srgbClr val="3182F6"/>
            </a:solidFill>
            <a:prstDash val="solid"/>
          </a:ln>
        </p:spPr>
      </p:sp>
      <p:sp>
        <p:nvSpPr>
          <p:cNvPr id="28" name="Shape 25"/>
          <p:cNvSpPr/>
          <p:nvPr/>
        </p:nvSpPr>
        <p:spPr>
          <a:xfrm>
            <a:off x="6389700" y="1612307"/>
            <a:ext cx="420624" cy="420624"/>
          </a:xfrm>
          <a:prstGeom prst="ellipse">
            <a:avLst/>
          </a:prstGeom>
          <a:solidFill>
            <a:srgbClr val="3182F6"/>
          </a:solidFill>
          <a:ln w="19050">
            <a:solidFill>
              <a:srgbClr val="FFFFFF"/>
            </a:solidFill>
            <a:prstDash val="solid"/>
          </a:ln>
        </p:spPr>
      </p:sp>
      <p:sp>
        <p:nvSpPr>
          <p:cNvPr id="29" name="Text 26"/>
          <p:cNvSpPr txBox="1"/>
          <p:nvPr/>
        </p:nvSpPr>
        <p:spPr>
          <a:xfrm>
            <a:off x="6389700" y="161230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0" name="Text 27"/>
          <p:cNvSpPr txBox="1"/>
          <p:nvPr/>
        </p:nvSpPr>
        <p:spPr>
          <a:xfrm>
            <a:off x="6956628" y="159401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인사 · 최근 업데이트</a:t>
            </a:r>
            <a:endParaRPr lang="en-US" sz="1900" dirty="0"/>
          </a:p>
        </p:txBody>
      </p:sp>
      <p:sp>
        <p:nvSpPr>
          <p:cNvPr id="31" name="Text 28"/>
          <p:cNvSpPr txBox="1"/>
          <p:nvPr/>
        </p:nvSpPr>
        <p:spPr>
          <a:xfrm>
            <a:off x="6956628" y="201464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시각 = 데이터 기준 · 다음 날 반영</a:t>
            </a:r>
            <a:endParaRPr lang="en-US" sz="1450" dirty="0"/>
          </a:p>
        </p:txBody>
      </p:sp>
      <p:sp>
        <p:nvSpPr>
          <p:cNvPr id="32" name="Shape 29"/>
          <p:cNvSpPr/>
          <p:nvPr/>
        </p:nvSpPr>
        <p:spPr>
          <a:xfrm>
            <a:off x="6389700" y="2343827"/>
            <a:ext cx="420624" cy="420624"/>
          </a:xfrm>
          <a:prstGeom prst="ellipse">
            <a:avLst/>
          </a:prstGeom>
          <a:solidFill>
            <a:srgbClr val="3182F6"/>
          </a:solidFill>
          <a:ln w="19050">
            <a:solidFill>
              <a:srgbClr val="FFFFFF"/>
            </a:solidFill>
            <a:prstDash val="solid"/>
          </a:ln>
        </p:spPr>
      </p:sp>
      <p:sp>
        <p:nvSpPr>
          <p:cNvPr id="33" name="Text 30"/>
          <p:cNvSpPr txBox="1"/>
          <p:nvPr/>
        </p:nvSpPr>
        <p:spPr>
          <a:xfrm>
            <a:off x="6389700" y="234382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4" name="Text 31"/>
          <p:cNvSpPr txBox="1"/>
          <p:nvPr/>
        </p:nvSpPr>
        <p:spPr>
          <a:xfrm>
            <a:off x="6956628" y="232553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대화 카드 두 장</a:t>
            </a:r>
            <a:endParaRPr lang="en-US" sz="1900" dirty="0"/>
          </a:p>
        </p:txBody>
      </p:sp>
      <p:sp>
        <p:nvSpPr>
          <p:cNvPr id="35" name="Text 32"/>
          <p:cNvSpPr txBox="1"/>
          <p:nvPr/>
        </p:nvSpPr>
        <p:spPr>
          <a:xfrm>
            <a:off x="6956628" y="274616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일반대화 무엇이든 · 맞춤대화 고객 한 명</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누르는 법은 ‘3 묻기’에서 보여 드려요</a:t>
            </a:r>
            <a:endParaRPr lang="en-US" sz="1450" dirty="0"/>
          </a:p>
        </p:txBody>
      </p:sp>
      <p:sp>
        <p:nvSpPr>
          <p:cNvPr id="36" name="Shape 33"/>
          <p:cNvSpPr/>
          <p:nvPr/>
        </p:nvSpPr>
        <p:spPr>
          <a:xfrm>
            <a:off x="6389700" y="3303947"/>
            <a:ext cx="420624" cy="420624"/>
          </a:xfrm>
          <a:prstGeom prst="ellipse">
            <a:avLst/>
          </a:prstGeom>
          <a:solidFill>
            <a:srgbClr val="3182F6"/>
          </a:solidFill>
          <a:ln w="19050">
            <a:solidFill>
              <a:srgbClr val="FFFFFF"/>
            </a:solidFill>
            <a:prstDash val="solid"/>
          </a:ln>
        </p:spPr>
      </p:sp>
      <p:sp>
        <p:nvSpPr>
          <p:cNvPr id="37" name="Text 34"/>
          <p:cNvSpPr txBox="1"/>
          <p:nvPr/>
        </p:nvSpPr>
        <p:spPr>
          <a:xfrm>
            <a:off x="6389700" y="330394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8" name="Text 35"/>
          <p:cNvSpPr txBox="1"/>
          <p:nvPr/>
        </p:nvSpPr>
        <p:spPr>
          <a:xfrm>
            <a:off x="6956628" y="328565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내 고객 숫자 4개</a:t>
            </a:r>
            <a:endParaRPr lang="en-US" sz="1900" dirty="0"/>
          </a:p>
        </p:txBody>
      </p:sp>
      <p:sp>
        <p:nvSpPr>
          <p:cNvPr id="39" name="Text 36"/>
          <p:cNvSpPr txBox="1"/>
          <p:nvPr/>
        </p:nvSpPr>
        <p:spPr>
          <a:xfrm>
            <a:off x="6956628" y="3706283"/>
            <a:ext cx="4721047" cy="310896"/>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'사전조회 동의 필요'가 늘었나 봐요</a:t>
            </a:r>
            <a:endParaRPr lang="en-US" sz="1450" dirty="0"/>
          </a:p>
        </p:txBody>
      </p:sp>
      <p:sp>
        <p:nvSpPr>
          <p:cNvPr id="40" name="Shape 37"/>
          <p:cNvSpPr/>
          <p:nvPr/>
        </p:nvSpPr>
        <p:spPr>
          <a:xfrm>
            <a:off x="6389700" y="4035467"/>
            <a:ext cx="420624" cy="420624"/>
          </a:xfrm>
          <a:prstGeom prst="ellipse">
            <a:avLst/>
          </a:prstGeom>
          <a:solidFill>
            <a:srgbClr val="3182F6"/>
          </a:solidFill>
          <a:ln w="19050">
            <a:solidFill>
              <a:srgbClr val="FFFFFF"/>
            </a:solidFill>
            <a:prstDash val="solid"/>
          </a:ln>
        </p:spPr>
      </p:sp>
      <p:sp>
        <p:nvSpPr>
          <p:cNvPr id="41" name="Text 38"/>
          <p:cNvSpPr txBox="1"/>
          <p:nvPr/>
        </p:nvSpPr>
        <p:spPr>
          <a:xfrm>
            <a:off x="6389700" y="403546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2" name="Text 39"/>
          <p:cNvSpPr txBox="1"/>
          <p:nvPr/>
        </p:nvSpPr>
        <p:spPr>
          <a:xfrm>
            <a:off x="6956628" y="401717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오늘의 추천 고객</a:t>
            </a:r>
            <a:endParaRPr lang="en-US" sz="1900" dirty="0"/>
          </a:p>
        </p:txBody>
      </p:sp>
      <p:sp>
        <p:nvSpPr>
          <p:cNvPr id="43" name="Text 40"/>
          <p:cNvSpPr txBox="1"/>
          <p:nvPr/>
        </p:nvSpPr>
        <p:spPr>
          <a:xfrm>
            <a:off x="6956628" y="443780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이유 붙은 카드 3장 · 화살표로 넘겨요</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지금 화면은 세트 3이에요</a:t>
            </a:r>
            <a:endParaRPr lang="en-US" sz="1450" dirty="0"/>
          </a:p>
        </p:txBody>
      </p:sp>
      <p:sp>
        <p:nvSpPr>
          <p:cNvPr id="44" name="Shape 41"/>
          <p:cNvSpPr/>
          <p:nvPr/>
        </p:nvSpPr>
        <p:spPr>
          <a:xfrm>
            <a:off x="6389700" y="4995587"/>
            <a:ext cx="420624" cy="420624"/>
          </a:xfrm>
          <a:prstGeom prst="ellipse">
            <a:avLst/>
          </a:prstGeom>
          <a:solidFill>
            <a:srgbClr val="3182F6"/>
          </a:solidFill>
          <a:ln w="19050">
            <a:solidFill>
              <a:srgbClr val="FFFFFF"/>
            </a:solidFill>
            <a:prstDash val="solid"/>
          </a:ln>
        </p:spPr>
      </p:sp>
      <p:sp>
        <p:nvSpPr>
          <p:cNvPr id="45" name="Text 42"/>
          <p:cNvSpPr txBox="1"/>
          <p:nvPr/>
        </p:nvSpPr>
        <p:spPr>
          <a:xfrm>
            <a:off x="6389700" y="4995587"/>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46" name="Text 43"/>
          <p:cNvSpPr txBox="1"/>
          <p:nvPr/>
        </p:nvSpPr>
        <p:spPr>
          <a:xfrm>
            <a:off x="6956628" y="4977299"/>
            <a:ext cx="4721047" cy="420624"/>
          </a:xfrm>
          <a:prstGeom prst="rect">
            <a:avLst/>
          </a:prstGeom>
          <a:noFill/>
          <a:ln/>
        </p:spPr>
        <p:txBody>
          <a:bodyPr wrap="square" lIns="0" tIns="0" rIns="0" bIns="0" rtlCol="0" anchor="ctr"/>
          <a:lstStyle/>
          <a:p>
            <a:pPr marL="0" indent="0">
              <a:buNone/>
            </a:pPr>
            <a:r>
              <a:rPr lang="en-US" sz="1900" b="1" dirty="0">
                <a:solidFill>
                  <a:srgbClr val="191F28"/>
                </a:solidFill>
                <a:latin typeface="맑은 고딕" pitchFamily="34" charset="0"/>
                <a:ea typeface="맑은 고딕" pitchFamily="34" charset="-122"/>
                <a:cs typeface="맑은 고딕" pitchFamily="34" charset="-120"/>
              </a:rPr>
              <a:t>오른쪽 위 버튼</a:t>
            </a:r>
            <a:endParaRPr lang="en-US" sz="1900" dirty="0"/>
          </a:p>
        </p:txBody>
      </p:sp>
      <p:sp>
        <p:nvSpPr>
          <p:cNvPr id="47" name="Text 44"/>
          <p:cNvSpPr txBox="1"/>
          <p:nvPr/>
        </p:nvSpPr>
        <p:spPr>
          <a:xfrm>
            <a:off x="6956628" y="5397923"/>
            <a:ext cx="4721047" cy="530352"/>
          </a:xfrm>
          <a:prstGeom prst="rect">
            <a:avLst/>
          </a:prstGeom>
          <a:noFill/>
          <a:ln/>
        </p:spPr>
        <p:txBody>
          <a:bodyPr wrap="square" lIns="0" tIns="0" rIns="0" bIns="0" rtlCol="0" anchor="t"/>
          <a:lstStyle/>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[고객 동의] 동의 요청 알림톡</a:t>
            </a:r>
            <a:endParaRPr lang="en-US" sz="1450" dirty="0"/>
          </a:p>
          <a:p>
            <a:pPr marL="0" indent="0">
              <a:lnSpc>
                <a:spcPct val="115000"/>
              </a:lnSpc>
              <a:buNone/>
            </a:pPr>
            <a:r>
              <a:rPr lang="en-US" sz="1450" dirty="0">
                <a:solidFill>
                  <a:srgbClr val="6B7684"/>
                </a:solidFill>
                <a:latin typeface="맑은 고딕" pitchFamily="34" charset="0"/>
                <a:ea typeface="맑은 고딕" pitchFamily="34" charset="-122"/>
                <a:cs typeface="맑은 고딕" pitchFamily="34" charset="-120"/>
              </a:rPr>
              <a:t>[게시판] 빨간 점이면 새 글</a:t>
            </a:r>
            <a:endParaRPr lang="en-US" sz="1450" dirty="0"/>
          </a:p>
        </p:txBody>
      </p:sp>
      <p:sp>
        <p:nvSpPr>
          <p:cNvPr id="48" name="Text 45"/>
          <p:cNvSpPr txBox="1"/>
          <p:nvPr/>
        </p:nvSpPr>
        <p:spPr>
          <a:xfrm>
            <a:off x="583260" y="5836835"/>
            <a:ext cx="566928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a:t>
            </a:r>
            <a:endParaRPr lang="en-US" sz="120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카드 한 문장이 고객에게 </a:t>
            </a:r>
            <a:r>
              <a:rPr lang="en-US" sz="3400" b="1" dirty="0" err="1">
                <a:solidFill>
                  <a:srgbClr val="191F28"/>
                </a:solidFill>
                <a:latin typeface="맑은 고딕" pitchFamily="34" charset="0"/>
                <a:ea typeface="맑은 고딕" pitchFamily="34" charset="-122"/>
                <a:cs typeface="맑은 고딕" pitchFamily="34" charset="-120"/>
              </a:rPr>
              <a:t>건네는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명분</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누구 · 왜 · 언제 · 다음이 카드 한 장에 다 </a:t>
            </a:r>
            <a:r>
              <a:rPr lang="ko-KR" altLang="en-US" sz="1700" dirty="0">
                <a:solidFill>
                  <a:srgbClr val="6B7684"/>
                </a:solidFill>
                <a:latin typeface="맑은 고딕" pitchFamily="34" charset="0"/>
                <a:ea typeface="맑은 고딕" pitchFamily="34" charset="-122"/>
                <a:cs typeface="맑은 고딕" pitchFamily="34" charset="-120"/>
              </a:rPr>
              <a:t>담았습니다</a:t>
            </a:r>
            <a:endParaRPr lang="en-US" sz="1700" dirty="0"/>
          </a:p>
        </p:txBody>
      </p:sp>
      <p:sp>
        <p:nvSpPr>
          <p:cNvPr id="13" name="Shape 11"/>
          <p:cNvSpPr/>
          <p:nvPr/>
        </p:nvSpPr>
        <p:spPr>
          <a:xfrm>
            <a:off x="960120" y="1920240"/>
            <a:ext cx="2745883" cy="3154680"/>
          </a:xfrm>
          <a:prstGeom prst="roundRect">
            <a:avLst>
              <a:gd name="adj" fmla="val 20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960120" y="1920240"/>
            <a:ext cx="2745883" cy="3154680"/>
          </a:xfrm>
          <a:prstGeom prst="rect">
            <a:avLst/>
          </a:prstGeom>
        </p:spPr>
      </p:pic>
      <p:sp>
        <p:nvSpPr>
          <p:cNvPr id="15" name="Shape 12"/>
          <p:cNvSpPr/>
          <p:nvPr/>
        </p:nvSpPr>
        <p:spPr>
          <a:xfrm>
            <a:off x="521208" y="2084375"/>
            <a:ext cx="365760" cy="365760"/>
          </a:xfrm>
          <a:prstGeom prst="ellipse">
            <a:avLst/>
          </a:prstGeom>
          <a:solidFill>
            <a:srgbClr val="3182F6"/>
          </a:solidFill>
          <a:ln w="19050">
            <a:solidFill>
              <a:srgbClr val="FFFFFF"/>
            </a:solidFill>
            <a:prstDash val="solid"/>
          </a:ln>
        </p:spPr>
      </p:sp>
      <p:sp>
        <p:nvSpPr>
          <p:cNvPr id="16" name="Text 13"/>
          <p:cNvSpPr txBox="1"/>
          <p:nvPr/>
        </p:nvSpPr>
        <p:spPr>
          <a:xfrm>
            <a:off x="521208" y="208437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17" name="Shape 14"/>
          <p:cNvSpPr/>
          <p:nvPr/>
        </p:nvSpPr>
        <p:spPr>
          <a:xfrm>
            <a:off x="521208" y="2494483"/>
            <a:ext cx="365760" cy="365760"/>
          </a:xfrm>
          <a:prstGeom prst="ellipse">
            <a:avLst/>
          </a:prstGeom>
          <a:solidFill>
            <a:srgbClr val="3182F6"/>
          </a:solidFill>
          <a:ln w="19050">
            <a:solidFill>
              <a:srgbClr val="FFFFFF"/>
            </a:solidFill>
            <a:prstDash val="solid"/>
          </a:ln>
        </p:spPr>
      </p:sp>
      <p:sp>
        <p:nvSpPr>
          <p:cNvPr id="18" name="Text 15"/>
          <p:cNvSpPr txBox="1"/>
          <p:nvPr/>
        </p:nvSpPr>
        <p:spPr>
          <a:xfrm>
            <a:off x="521208" y="249448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19" name="Shape 16"/>
          <p:cNvSpPr/>
          <p:nvPr/>
        </p:nvSpPr>
        <p:spPr>
          <a:xfrm>
            <a:off x="521208" y="3756355"/>
            <a:ext cx="365760" cy="365760"/>
          </a:xfrm>
          <a:prstGeom prst="ellipse">
            <a:avLst/>
          </a:prstGeom>
          <a:solidFill>
            <a:srgbClr val="3182F6"/>
          </a:solidFill>
          <a:ln w="19050">
            <a:solidFill>
              <a:srgbClr val="FFFFFF"/>
            </a:solidFill>
            <a:prstDash val="solid"/>
          </a:ln>
        </p:spPr>
      </p:sp>
      <p:sp>
        <p:nvSpPr>
          <p:cNvPr id="20" name="Text 17"/>
          <p:cNvSpPr txBox="1"/>
          <p:nvPr/>
        </p:nvSpPr>
        <p:spPr>
          <a:xfrm>
            <a:off x="521208" y="375635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21" name="Shape 18"/>
          <p:cNvSpPr/>
          <p:nvPr/>
        </p:nvSpPr>
        <p:spPr>
          <a:xfrm>
            <a:off x="521208" y="4024503"/>
            <a:ext cx="365760" cy="365760"/>
          </a:xfrm>
          <a:prstGeom prst="ellipse">
            <a:avLst/>
          </a:prstGeom>
          <a:solidFill>
            <a:srgbClr val="3182F6"/>
          </a:solidFill>
          <a:ln w="19050">
            <a:solidFill>
              <a:srgbClr val="FFFFFF"/>
            </a:solidFill>
            <a:prstDash val="solid"/>
          </a:ln>
        </p:spPr>
      </p:sp>
      <p:sp>
        <p:nvSpPr>
          <p:cNvPr id="22" name="Text 19"/>
          <p:cNvSpPr txBox="1"/>
          <p:nvPr/>
        </p:nvSpPr>
        <p:spPr>
          <a:xfrm>
            <a:off x="521208" y="4024503"/>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23" name="Shape 20"/>
          <p:cNvSpPr/>
          <p:nvPr/>
        </p:nvSpPr>
        <p:spPr>
          <a:xfrm>
            <a:off x="521208" y="4545025"/>
            <a:ext cx="365760" cy="365760"/>
          </a:xfrm>
          <a:prstGeom prst="ellipse">
            <a:avLst/>
          </a:prstGeom>
          <a:solidFill>
            <a:srgbClr val="3182F6"/>
          </a:solidFill>
          <a:ln w="19050">
            <a:solidFill>
              <a:srgbClr val="FFFFFF"/>
            </a:solidFill>
            <a:prstDash val="solid"/>
          </a:ln>
        </p:spPr>
      </p:sp>
      <p:sp>
        <p:nvSpPr>
          <p:cNvPr id="24" name="Text 21"/>
          <p:cNvSpPr txBox="1"/>
          <p:nvPr/>
        </p:nvSpPr>
        <p:spPr>
          <a:xfrm>
            <a:off x="521208" y="454502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5</a:t>
            </a:r>
            <a:endParaRPr lang="en-US" sz="1400" dirty="0"/>
          </a:p>
        </p:txBody>
      </p:sp>
      <p:sp>
        <p:nvSpPr>
          <p:cNvPr id="25" name="Shape 22"/>
          <p:cNvSpPr/>
          <p:nvPr/>
        </p:nvSpPr>
        <p:spPr>
          <a:xfrm>
            <a:off x="1179791" y="2519629"/>
            <a:ext cx="2334000" cy="362788"/>
          </a:xfrm>
          <a:prstGeom prst="roundRect">
            <a:avLst>
              <a:gd name="adj" fmla="val 10082"/>
            </a:avLst>
          </a:prstGeom>
          <a:ln w="22225">
            <a:solidFill>
              <a:srgbClr val="3182F6"/>
            </a:solidFill>
            <a:prstDash val="solid"/>
          </a:ln>
        </p:spPr>
      </p:sp>
      <p:sp>
        <p:nvSpPr>
          <p:cNvPr id="26" name="Shape 23"/>
          <p:cNvSpPr/>
          <p:nvPr/>
        </p:nvSpPr>
        <p:spPr>
          <a:xfrm>
            <a:off x="1124873" y="4112743"/>
            <a:ext cx="878683" cy="189281"/>
          </a:xfrm>
          <a:prstGeom prst="roundRect">
            <a:avLst>
              <a:gd name="adj" fmla="val 19324"/>
            </a:avLst>
          </a:prstGeom>
          <a:ln w="22225">
            <a:solidFill>
              <a:srgbClr val="3182F6"/>
            </a:solidFill>
            <a:prstDash val="solid"/>
          </a:ln>
        </p:spPr>
      </p:sp>
      <p:sp>
        <p:nvSpPr>
          <p:cNvPr id="27" name="Shape 24"/>
          <p:cNvSpPr/>
          <p:nvPr/>
        </p:nvSpPr>
        <p:spPr>
          <a:xfrm>
            <a:off x="4343400" y="1938528"/>
            <a:ext cx="420624" cy="420624"/>
          </a:xfrm>
          <a:prstGeom prst="ellipse">
            <a:avLst/>
          </a:prstGeom>
          <a:solidFill>
            <a:srgbClr val="3182F6"/>
          </a:solidFill>
          <a:ln w="19050">
            <a:solidFill>
              <a:srgbClr val="FFFFFF"/>
            </a:solidFill>
            <a:prstDash val="solid"/>
          </a:ln>
        </p:spPr>
      </p:sp>
      <p:sp>
        <p:nvSpPr>
          <p:cNvPr id="28" name="Text 25"/>
          <p:cNvSpPr txBox="1"/>
          <p:nvPr/>
        </p:nvSpPr>
        <p:spPr>
          <a:xfrm>
            <a:off x="434340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29" name="Text 26"/>
          <p:cNvSpPr txBox="1"/>
          <p:nvPr/>
        </p:nvSpPr>
        <p:spPr>
          <a:xfrm>
            <a:off x="4910328" y="192024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누구에게</a:t>
            </a:r>
            <a:endParaRPr lang="en-US" sz="1800" dirty="0"/>
          </a:p>
        </p:txBody>
      </p:sp>
      <p:sp>
        <p:nvSpPr>
          <p:cNvPr id="30" name="Text 27"/>
          <p:cNvSpPr txBox="1"/>
          <p:nvPr/>
        </p:nvSpPr>
        <p:spPr>
          <a:xfrm>
            <a:off x="4910328" y="234086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이름 · 나이 · 보유/가망/이관</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'AI 추천 고객' = 상품 제안 가능</a:t>
            </a:r>
            <a:endParaRPr lang="en-US" sz="1400" dirty="0"/>
          </a:p>
        </p:txBody>
      </p:sp>
      <p:sp>
        <p:nvSpPr>
          <p:cNvPr id="31" name="Shape 28"/>
          <p:cNvSpPr/>
          <p:nvPr/>
        </p:nvSpPr>
        <p:spPr>
          <a:xfrm>
            <a:off x="4343400" y="3035808"/>
            <a:ext cx="420624" cy="420624"/>
          </a:xfrm>
          <a:prstGeom prst="ellipse">
            <a:avLst/>
          </a:prstGeom>
          <a:solidFill>
            <a:srgbClr val="3182F6"/>
          </a:solidFill>
          <a:ln w="19050">
            <a:solidFill>
              <a:srgbClr val="FFFFFF"/>
            </a:solidFill>
            <a:prstDash val="solid"/>
          </a:ln>
        </p:spPr>
      </p:sp>
      <p:sp>
        <p:nvSpPr>
          <p:cNvPr id="32" name="Text 29"/>
          <p:cNvSpPr txBox="1"/>
          <p:nvPr/>
        </p:nvSpPr>
        <p:spPr>
          <a:xfrm>
            <a:off x="434340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3" name="Text 30"/>
          <p:cNvSpPr txBox="1"/>
          <p:nvPr/>
        </p:nvSpPr>
        <p:spPr>
          <a:xfrm>
            <a:off x="4910328" y="301752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왜 지금</a:t>
            </a:r>
            <a:endParaRPr lang="en-US" sz="1800" dirty="0"/>
          </a:p>
        </p:txBody>
      </p:sp>
      <p:sp>
        <p:nvSpPr>
          <p:cNvPr id="34" name="Text 31"/>
          <p:cNvSpPr txBox="1"/>
          <p:nvPr/>
        </p:nvSpPr>
        <p:spPr>
          <a:xfrm>
            <a:off x="4910328" y="3438144"/>
            <a:ext cx="3182112"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굵은 한 문장이 연락할 이유예요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아래 설명이 상담 방향이에요</a:t>
            </a:r>
            <a:endParaRPr lang="en-US" sz="1400" dirty="0"/>
          </a:p>
        </p:txBody>
      </p:sp>
      <p:sp>
        <p:nvSpPr>
          <p:cNvPr id="35" name="Shape 32"/>
          <p:cNvSpPr/>
          <p:nvPr/>
        </p:nvSpPr>
        <p:spPr>
          <a:xfrm>
            <a:off x="4343400" y="4133088"/>
            <a:ext cx="420624" cy="420624"/>
          </a:xfrm>
          <a:prstGeom prst="ellipse">
            <a:avLst/>
          </a:prstGeom>
          <a:solidFill>
            <a:srgbClr val="3182F6"/>
          </a:solidFill>
          <a:ln w="19050">
            <a:solidFill>
              <a:srgbClr val="FFFFFF"/>
            </a:solidFill>
            <a:prstDash val="solid"/>
          </a:ln>
        </p:spPr>
      </p:sp>
      <p:sp>
        <p:nvSpPr>
          <p:cNvPr id="36" name="Text 33"/>
          <p:cNvSpPr txBox="1"/>
          <p:nvPr/>
        </p:nvSpPr>
        <p:spPr>
          <a:xfrm>
            <a:off x="4343400" y="4133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7" name="Text 34"/>
          <p:cNvSpPr txBox="1"/>
          <p:nvPr/>
        </p:nvSpPr>
        <p:spPr>
          <a:xfrm>
            <a:off x="4910328" y="4114800"/>
            <a:ext cx="3182112"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태그 세 가지</a:t>
            </a:r>
            <a:endParaRPr lang="en-US" sz="1800" dirty="0"/>
          </a:p>
        </p:txBody>
      </p:sp>
      <p:sp>
        <p:nvSpPr>
          <p:cNvPr id="38" name="Shape 35"/>
          <p:cNvSpPr/>
          <p:nvPr/>
        </p:nvSpPr>
        <p:spPr>
          <a:xfrm>
            <a:off x="4434840" y="4553712"/>
            <a:ext cx="1215771" cy="292608"/>
          </a:xfrm>
          <a:prstGeom prst="roundRect">
            <a:avLst>
              <a:gd name="adj" fmla="val 50000"/>
            </a:avLst>
          </a:prstGeom>
          <a:solidFill>
            <a:srgbClr val="E8F3FF"/>
          </a:solidFill>
          <a:ln w="12700">
            <a:solidFill>
              <a:srgbClr val="E8F3FF"/>
            </a:solidFill>
            <a:prstDash val="solid"/>
          </a:ln>
        </p:spPr>
      </p:sp>
      <p:sp>
        <p:nvSpPr>
          <p:cNvPr id="39" name="Text 36"/>
          <p:cNvSpPr txBox="1"/>
          <p:nvPr/>
        </p:nvSpPr>
        <p:spPr>
          <a:xfrm>
            <a:off x="4434840" y="4553712"/>
            <a:ext cx="1215771" cy="292608"/>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#이벤트 임박</a:t>
            </a:r>
            <a:endParaRPr lang="en-US" sz="1150" dirty="0"/>
          </a:p>
        </p:txBody>
      </p:sp>
      <p:sp>
        <p:nvSpPr>
          <p:cNvPr id="40" name="Shape 37"/>
          <p:cNvSpPr/>
          <p:nvPr/>
        </p:nvSpPr>
        <p:spPr>
          <a:xfrm>
            <a:off x="5723763" y="4553712"/>
            <a:ext cx="1069721" cy="292608"/>
          </a:xfrm>
          <a:prstGeom prst="roundRect">
            <a:avLst>
              <a:gd name="adj" fmla="val 50000"/>
            </a:avLst>
          </a:prstGeom>
          <a:solidFill>
            <a:srgbClr val="FFF0F0"/>
          </a:solidFill>
          <a:ln w="12700">
            <a:solidFill>
              <a:srgbClr val="FFF0F0"/>
            </a:solidFill>
            <a:prstDash val="solid"/>
          </a:ln>
        </p:spPr>
      </p:sp>
      <p:sp>
        <p:nvSpPr>
          <p:cNvPr id="41" name="Text 38"/>
          <p:cNvSpPr txBox="1"/>
          <p:nvPr/>
        </p:nvSpPr>
        <p:spPr>
          <a:xfrm>
            <a:off x="5723763" y="4553712"/>
            <a:ext cx="1069721" cy="292608"/>
          </a:xfrm>
          <a:prstGeom prst="rect">
            <a:avLst/>
          </a:prstGeom>
          <a:noFill/>
          <a:ln/>
        </p:spPr>
        <p:txBody>
          <a:bodyPr wrap="square" lIns="0" tIns="0" rIns="0" bIns="0" rtlCol="0" anchor="ctr"/>
          <a:lstStyle/>
          <a:p>
            <a:pPr marL="0" indent="0" algn="ctr">
              <a:buNone/>
            </a:pPr>
            <a:r>
              <a:rPr lang="en-US" sz="1150" b="1" dirty="0">
                <a:solidFill>
                  <a:srgbClr val="F04452"/>
                </a:solidFill>
                <a:latin typeface="맑은 고딕" pitchFamily="34" charset="0"/>
                <a:ea typeface="맑은 고딕" pitchFamily="34" charset="-122"/>
                <a:cs typeface="맑은 고딕" pitchFamily="34" charset="-120"/>
              </a:rPr>
              <a:t>#보장 공백</a:t>
            </a:r>
            <a:endParaRPr lang="en-US" sz="1150" dirty="0"/>
          </a:p>
        </p:txBody>
      </p:sp>
      <p:sp>
        <p:nvSpPr>
          <p:cNvPr id="42" name="Shape 39"/>
          <p:cNvSpPr/>
          <p:nvPr/>
        </p:nvSpPr>
        <p:spPr>
          <a:xfrm>
            <a:off x="6866636" y="4553712"/>
            <a:ext cx="1069721" cy="292608"/>
          </a:xfrm>
          <a:prstGeom prst="roundRect">
            <a:avLst>
              <a:gd name="adj" fmla="val 50000"/>
            </a:avLst>
          </a:prstGeom>
          <a:solidFill>
            <a:srgbClr val="F0EDFF"/>
          </a:solidFill>
          <a:ln w="12700">
            <a:solidFill>
              <a:srgbClr val="F0EDFF"/>
            </a:solidFill>
            <a:prstDash val="solid"/>
          </a:ln>
        </p:spPr>
      </p:sp>
      <p:sp>
        <p:nvSpPr>
          <p:cNvPr id="43" name="Text 40"/>
          <p:cNvSpPr txBox="1"/>
          <p:nvPr/>
        </p:nvSpPr>
        <p:spPr>
          <a:xfrm>
            <a:off x="6866636" y="4553712"/>
            <a:ext cx="1069721" cy="292608"/>
          </a:xfrm>
          <a:prstGeom prst="rect">
            <a:avLst/>
          </a:prstGeom>
          <a:noFill/>
          <a:ln/>
        </p:spPr>
        <p:txBody>
          <a:bodyPr wrap="square" lIns="0" tIns="0" rIns="0" bIns="0" rtlCol="0" anchor="ctr"/>
          <a:lstStyle/>
          <a:p>
            <a:pPr marL="0" indent="0" algn="ctr">
              <a:buNone/>
            </a:pPr>
            <a:r>
              <a:rPr lang="en-US" sz="1150" b="1" dirty="0">
                <a:solidFill>
                  <a:srgbClr val="7048E8"/>
                </a:solidFill>
                <a:latin typeface="맑은 고딕" pitchFamily="34" charset="0"/>
                <a:ea typeface="맑은 고딕" pitchFamily="34" charset="-122"/>
                <a:cs typeface="맑은 고딕" pitchFamily="34" charset="-120"/>
              </a:rPr>
              <a:t>#당월 타겟</a:t>
            </a:r>
            <a:endParaRPr lang="en-US" sz="1150" dirty="0"/>
          </a:p>
        </p:txBody>
      </p:sp>
      <p:sp>
        <p:nvSpPr>
          <p:cNvPr id="44" name="Text 41"/>
          <p:cNvSpPr txBox="1"/>
          <p:nvPr/>
        </p:nvSpPr>
        <p:spPr>
          <a:xfrm>
            <a:off x="4434840" y="4901184"/>
            <a:ext cx="4114800" cy="274320"/>
          </a:xfrm>
          <a:prstGeom prst="rect">
            <a:avLst/>
          </a:prstGeom>
          <a:noFill/>
          <a:ln/>
        </p:spPr>
        <p:txBody>
          <a:bodyPr wrap="square" lIns="0" tIns="0" rIns="0" bIns="0" rtlCol="0" anchor="ctr"/>
          <a:lstStyle/>
          <a:p>
            <a:pPr marL="0" indent="0">
              <a:buNone/>
            </a:pPr>
            <a:r>
              <a:rPr lang="en-US" sz="1350" dirty="0">
                <a:solidFill>
                  <a:srgbClr val="6B7684"/>
                </a:solidFill>
                <a:latin typeface="맑은 고딕" pitchFamily="34" charset="0"/>
                <a:ea typeface="맑은 고딕" pitchFamily="34" charset="-122"/>
                <a:cs typeface="맑은 고딕" pitchFamily="34" charset="-120"/>
              </a:rPr>
              <a:t>아침엔 #이벤트 임박 · #당월 타겟부터</a:t>
            </a:r>
            <a:endParaRPr lang="en-US" sz="1350" dirty="0"/>
          </a:p>
        </p:txBody>
      </p:sp>
      <p:sp>
        <p:nvSpPr>
          <p:cNvPr id="45" name="Shape 42"/>
          <p:cNvSpPr/>
          <p:nvPr/>
        </p:nvSpPr>
        <p:spPr>
          <a:xfrm>
            <a:off x="8275320" y="1938528"/>
            <a:ext cx="420624" cy="420624"/>
          </a:xfrm>
          <a:prstGeom prst="ellipse">
            <a:avLst/>
          </a:prstGeom>
          <a:solidFill>
            <a:srgbClr val="F04452"/>
          </a:solidFill>
          <a:ln w="19050">
            <a:solidFill>
              <a:srgbClr val="FFFFFF"/>
            </a:solidFill>
            <a:prstDash val="solid"/>
          </a:ln>
        </p:spPr>
      </p:sp>
      <p:sp>
        <p:nvSpPr>
          <p:cNvPr id="46" name="Text 43"/>
          <p:cNvSpPr txBox="1"/>
          <p:nvPr/>
        </p:nvSpPr>
        <p:spPr>
          <a:xfrm>
            <a:off x="8275320" y="193852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47" name="Text 44"/>
          <p:cNvSpPr txBox="1"/>
          <p:nvPr/>
        </p:nvSpPr>
        <p:spPr>
          <a:xfrm>
            <a:off x="8842248" y="192024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사전조회동의 필요</a:t>
            </a:r>
            <a:endParaRPr lang="en-US" sz="1800" dirty="0"/>
          </a:p>
        </p:txBody>
      </p:sp>
      <p:sp>
        <p:nvSpPr>
          <p:cNvPr id="48" name="Text 45"/>
          <p:cNvSpPr txBox="1"/>
          <p:nvPr/>
        </p:nvSpPr>
        <p:spPr>
          <a:xfrm>
            <a:off x="8842248" y="234086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동의 알림톡부터 보내요</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D-n(남은 날)이 보이면 바로 시작</a:t>
            </a:r>
            <a:endParaRPr lang="en-US" sz="1400" dirty="0"/>
          </a:p>
        </p:txBody>
      </p:sp>
      <p:sp>
        <p:nvSpPr>
          <p:cNvPr id="49" name="Shape 46"/>
          <p:cNvSpPr/>
          <p:nvPr/>
        </p:nvSpPr>
        <p:spPr>
          <a:xfrm>
            <a:off x="8275320" y="3035808"/>
            <a:ext cx="420624" cy="420624"/>
          </a:xfrm>
          <a:prstGeom prst="ellipse">
            <a:avLst/>
          </a:prstGeom>
          <a:solidFill>
            <a:srgbClr val="3182F6"/>
          </a:solidFill>
          <a:ln w="19050">
            <a:solidFill>
              <a:srgbClr val="FFFFFF"/>
            </a:solidFill>
            <a:prstDash val="solid"/>
          </a:ln>
        </p:spPr>
      </p:sp>
      <p:sp>
        <p:nvSpPr>
          <p:cNvPr id="50" name="Text 47"/>
          <p:cNvSpPr txBox="1"/>
          <p:nvPr/>
        </p:nvSpPr>
        <p:spPr>
          <a:xfrm>
            <a:off x="8275320" y="303580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51" name="Text 48"/>
          <p:cNvSpPr txBox="1"/>
          <p:nvPr/>
        </p:nvSpPr>
        <p:spPr>
          <a:xfrm>
            <a:off x="8842248" y="3017520"/>
            <a:ext cx="280080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52" name="Text 49"/>
          <p:cNvSpPr txBox="1"/>
          <p:nvPr/>
        </p:nvSpPr>
        <p:spPr>
          <a:xfrm>
            <a:off x="8842248" y="3438144"/>
            <a:ext cx="2800807" cy="548640"/>
          </a:xfrm>
          <a:prstGeom prst="rect">
            <a:avLst/>
          </a:prstGeom>
          <a:noFill/>
          <a:ln/>
        </p:spPr>
        <p:txBody>
          <a:bodyPr wrap="square" lIns="0" tIns="0" rIns="0" bIns="0" rtlCol="0" anchor="t"/>
          <a:lstStyle/>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[MeAI 고객찾기에서 열기]</a:t>
            </a:r>
            <a:endParaRPr lang="en-US" sz="1400" dirty="0"/>
          </a:p>
          <a:p>
            <a:pPr marL="0" indent="0">
              <a:lnSpc>
                <a:spcPct val="115000"/>
              </a:lnSpc>
              <a:buNone/>
            </a:pPr>
            <a:r>
              <a:rPr lang="en-US" sz="1400" dirty="0">
                <a:solidFill>
                  <a:srgbClr val="6B7684"/>
                </a:solidFill>
                <a:latin typeface="맑은 고딕" pitchFamily="34" charset="0"/>
                <a:ea typeface="맑은 고딕" pitchFamily="34" charset="-122"/>
                <a:cs typeface="맑은 고딕" pitchFamily="34" charset="-120"/>
              </a:rPr>
              <a:t>고객찾기의 이 고객 카드로 가요</a:t>
            </a:r>
            <a:endParaRPr lang="en-US" sz="1400" dirty="0"/>
          </a:p>
        </p:txBody>
      </p:sp>
      <p:sp>
        <p:nvSpPr>
          <p:cNvPr id="53" name="Shape 50"/>
          <p:cNvSpPr/>
          <p:nvPr/>
        </p:nvSpPr>
        <p:spPr>
          <a:xfrm>
            <a:off x="8275320" y="4114800"/>
            <a:ext cx="3367735" cy="868680"/>
          </a:xfrm>
          <a:prstGeom prst="roundRect">
            <a:avLst>
              <a:gd name="adj" fmla="val 14737"/>
            </a:avLst>
          </a:prstGeom>
          <a:solidFill>
            <a:srgbClr val="F2F4F6"/>
          </a:solidFill>
          <a:ln w="12700">
            <a:solidFill>
              <a:srgbClr val="F2F4F6"/>
            </a:solidFill>
            <a:prstDash val="solid"/>
          </a:ln>
        </p:spPr>
      </p:sp>
      <p:sp>
        <p:nvSpPr>
          <p:cNvPr id="54" name="Text 51"/>
          <p:cNvSpPr txBox="1"/>
          <p:nvPr/>
        </p:nvSpPr>
        <p:spPr>
          <a:xfrm>
            <a:off x="8503920" y="4114800"/>
            <a:ext cx="3001975" cy="868680"/>
          </a:xfrm>
          <a:prstGeom prst="rect">
            <a:avLst/>
          </a:prstGeom>
          <a:noFill/>
          <a:ln/>
        </p:spPr>
        <p:txBody>
          <a:bodyPr wrap="square" lIns="0" tIns="0" rIns="0" bIns="0" rtlCol="0" anchor="ctr"/>
          <a:lstStyle/>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추천은 지시가 </a:t>
            </a:r>
            <a:r>
              <a:rPr lang="en-US" sz="1400" b="1" dirty="0" err="1">
                <a:solidFill>
                  <a:srgbClr val="4E5968"/>
                </a:solidFill>
                <a:latin typeface="맑은 고딕" pitchFamily="34" charset="0"/>
                <a:ea typeface="맑은 고딕" pitchFamily="34" charset="-122"/>
                <a:cs typeface="맑은 고딕" pitchFamily="34" charset="-120"/>
              </a:rPr>
              <a:t>아니라</a:t>
            </a:r>
            <a:r>
              <a:rPr lang="en-US" sz="1400" b="1" dirty="0">
                <a:solidFill>
                  <a:srgbClr val="4E5968"/>
                </a:solidFill>
                <a:latin typeface="맑은 고딕" pitchFamily="34" charset="0"/>
                <a:ea typeface="맑은 고딕" pitchFamily="34" charset="-122"/>
                <a:cs typeface="맑은 고딕" pitchFamily="34" charset="-120"/>
              </a:rPr>
              <a:t> </a:t>
            </a:r>
          </a:p>
          <a:p>
            <a:pPr marL="0" indent="0" algn="ctr">
              <a:lnSpc>
                <a:spcPct val="115000"/>
              </a:lnSpc>
              <a:buNone/>
            </a:pPr>
            <a:r>
              <a:rPr lang="en-US" sz="1600" b="1" dirty="0">
                <a:solidFill>
                  <a:srgbClr val="4E5968"/>
                </a:solidFill>
                <a:latin typeface="맑은 고딕" pitchFamily="34" charset="0"/>
                <a:ea typeface="맑은 고딕" pitchFamily="34" charset="-122"/>
                <a:cs typeface="맑은 고딕" pitchFamily="34" charset="-120"/>
              </a:rPr>
              <a:t>‘이유가 있는 고객’</a:t>
            </a:r>
            <a:endParaRPr lang="en-US" sz="1600" b="1" dirty="0"/>
          </a:p>
          <a:p>
            <a:pPr marL="0" indent="0" algn="ctr">
              <a:lnSpc>
                <a:spcPct val="115000"/>
              </a:lnSpc>
              <a:buNone/>
            </a:pPr>
            <a:r>
              <a:rPr lang="en-US" sz="1400" b="1" dirty="0">
                <a:solidFill>
                  <a:srgbClr val="4E5968"/>
                </a:solidFill>
                <a:latin typeface="맑은 고딕" pitchFamily="34" charset="0"/>
                <a:ea typeface="맑은 고딕" pitchFamily="34" charset="-122"/>
                <a:cs typeface="맑은 고딕" pitchFamily="34" charset="-120"/>
              </a:rPr>
              <a:t>그룹에서 직접 골라도 돼요</a:t>
            </a:r>
            <a:endParaRPr lang="en-US" sz="1400" b="1" dirty="0"/>
          </a:p>
        </p:txBody>
      </p:sp>
      <p:sp>
        <p:nvSpPr>
          <p:cNvPr id="55" name="Shape 52"/>
          <p:cNvSpPr/>
          <p:nvPr/>
        </p:nvSpPr>
        <p:spPr>
          <a:xfrm>
            <a:off x="548640" y="5285232"/>
            <a:ext cx="11094415" cy="566928"/>
          </a:xfrm>
          <a:prstGeom prst="roundRect">
            <a:avLst>
              <a:gd name="adj" fmla="val 22581"/>
            </a:avLst>
          </a:prstGeom>
          <a:solidFill>
            <a:srgbClr val="191F28"/>
          </a:solidFill>
          <a:ln w="12700">
            <a:solidFill>
              <a:srgbClr val="191F28"/>
            </a:solidFill>
            <a:prstDash val="solid"/>
          </a:ln>
        </p:spPr>
      </p:sp>
      <p:sp>
        <p:nvSpPr>
          <p:cNvPr id="56" name="Text 53"/>
          <p:cNvSpPr txBox="1"/>
          <p:nvPr/>
        </p:nvSpPr>
        <p:spPr>
          <a:xfrm>
            <a:off x="868680" y="5285232"/>
            <a:ext cx="10454335" cy="56692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고객에게 첫 말   </a:t>
            </a:r>
            <a:r>
              <a:rPr lang="en-US" sz="1650" b="1" dirty="0">
                <a:solidFill>
                  <a:srgbClr val="FFFFFF"/>
                </a:solidFill>
                <a:latin typeface="맑은 고딕" pitchFamily="34" charset="0"/>
                <a:ea typeface="맑은 고딕" pitchFamily="34" charset="-122"/>
                <a:cs typeface="맑은 고딕" pitchFamily="34" charset="-120"/>
              </a:rPr>
              <a:t>“고객님, 2주 뒤 보험 나이가 올라가요. 그 전에 점검하려고 동의 알림톡 보내요.”</a:t>
            </a:r>
            <a:endParaRPr lang="en-US" sz="1650" dirty="0"/>
          </a:p>
        </p:txBody>
      </p:sp>
      <p:sp>
        <p:nvSpPr>
          <p:cNvPr id="59"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0"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고객찾기는 </a:t>
            </a:r>
            <a:r>
              <a:rPr lang="en-US" sz="3400" b="1" dirty="0" err="1">
                <a:solidFill>
                  <a:srgbClr val="191F28"/>
                </a:solidFill>
                <a:latin typeface="맑은 고딕" pitchFamily="34" charset="0"/>
                <a:ea typeface="맑은 고딕" pitchFamily="34" charset="-122"/>
                <a:cs typeface="맑은 고딕" pitchFamily="34" charset="-120"/>
              </a:rPr>
              <a:t>왼쪽에서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오른쪽으</a:t>
            </a:r>
            <a:r>
              <a:rPr lang="ko-KR" altLang="en-US" sz="3400" b="1" dirty="0">
                <a:solidFill>
                  <a:srgbClr val="191F28"/>
                </a:solidFill>
                <a:latin typeface="맑은 고딕" pitchFamily="34" charset="0"/>
                <a:ea typeface="맑은 고딕" pitchFamily="34" charset="-122"/>
                <a:cs typeface="맑은 고딕" pitchFamily="34" charset="-120"/>
              </a:rPr>
              <a:t>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고르고 → 펼쳐 보고 → </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대화하고</a:t>
            </a:r>
            <a:endParaRPr lang="en-US" sz="1700" dirty="0"/>
          </a:p>
        </p:txBody>
      </p:sp>
      <p:sp>
        <p:nvSpPr>
          <p:cNvPr id="13" name="Shape 11"/>
          <p:cNvSpPr/>
          <p:nvPr/>
        </p:nvSpPr>
        <p:spPr>
          <a:xfrm>
            <a:off x="548640" y="1901952"/>
            <a:ext cx="6126480" cy="38290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01952"/>
            <a:ext cx="6126480" cy="3829050"/>
          </a:xfrm>
          <a:prstGeom prst="rect">
            <a:avLst/>
          </a:prstGeom>
        </p:spPr>
      </p:pic>
      <p:sp>
        <p:nvSpPr>
          <p:cNvPr id="15" name="Shape 12"/>
          <p:cNvSpPr/>
          <p:nvPr/>
        </p:nvSpPr>
        <p:spPr>
          <a:xfrm>
            <a:off x="609905" y="2169986"/>
            <a:ext cx="1164031" cy="3254693"/>
          </a:xfrm>
          <a:prstGeom prst="roundRect">
            <a:avLst>
              <a:gd name="adj" fmla="val 3928"/>
            </a:avLst>
          </a:prstGeom>
          <a:ln w="25400">
            <a:solidFill>
              <a:srgbClr val="3182F6"/>
            </a:solidFill>
            <a:prstDash val="solid"/>
          </a:ln>
        </p:spPr>
      </p:sp>
      <p:sp>
        <p:nvSpPr>
          <p:cNvPr id="16" name="Shape 13"/>
          <p:cNvSpPr/>
          <p:nvPr/>
        </p:nvSpPr>
        <p:spPr>
          <a:xfrm>
            <a:off x="1945477" y="2744343"/>
            <a:ext cx="2658892" cy="1837944"/>
          </a:xfrm>
          <a:prstGeom prst="roundRect">
            <a:avLst>
              <a:gd name="adj" fmla="val 2488"/>
            </a:avLst>
          </a:prstGeom>
          <a:ln w="25400">
            <a:solidFill>
              <a:srgbClr val="3182F6"/>
            </a:solidFill>
            <a:prstDash val="solid"/>
          </a:ln>
        </p:spPr>
      </p:sp>
      <p:sp>
        <p:nvSpPr>
          <p:cNvPr id="17" name="Shape 14"/>
          <p:cNvSpPr/>
          <p:nvPr/>
        </p:nvSpPr>
        <p:spPr>
          <a:xfrm>
            <a:off x="4837176" y="2246567"/>
            <a:ext cx="1776679" cy="1723073"/>
          </a:xfrm>
          <a:prstGeom prst="roundRect">
            <a:avLst>
              <a:gd name="adj" fmla="val 2653"/>
            </a:avLst>
          </a:prstGeom>
          <a:ln w="25400">
            <a:solidFill>
              <a:srgbClr val="3182F6"/>
            </a:solidFill>
            <a:prstDash val="solid"/>
          </a:ln>
        </p:spPr>
      </p:sp>
      <p:sp>
        <p:nvSpPr>
          <p:cNvPr id="18" name="Shape 15"/>
          <p:cNvSpPr/>
          <p:nvPr/>
        </p:nvSpPr>
        <p:spPr>
          <a:xfrm>
            <a:off x="2018995" y="3625025"/>
            <a:ext cx="2511857" cy="880682"/>
          </a:xfrm>
          <a:prstGeom prst="roundRect">
            <a:avLst>
              <a:gd name="adj" fmla="val 5191"/>
            </a:avLst>
          </a:prstGeom>
          <a:ln w="15875">
            <a:solidFill>
              <a:srgbClr val="3182F6"/>
            </a:solidFill>
            <a:prstDash val="dash"/>
          </a:ln>
        </p:spPr>
      </p:sp>
      <p:sp>
        <p:nvSpPr>
          <p:cNvPr id="19" name="Shape 16"/>
          <p:cNvSpPr/>
          <p:nvPr/>
        </p:nvSpPr>
        <p:spPr>
          <a:xfrm>
            <a:off x="969264" y="1977962"/>
            <a:ext cx="384048" cy="384048"/>
          </a:xfrm>
          <a:prstGeom prst="ellipse">
            <a:avLst/>
          </a:prstGeom>
          <a:solidFill>
            <a:srgbClr val="3182F6"/>
          </a:solidFill>
          <a:ln w="19050">
            <a:solidFill>
              <a:srgbClr val="FFFFFF"/>
            </a:solidFill>
            <a:prstDash val="solid"/>
          </a:ln>
        </p:spPr>
      </p:sp>
      <p:sp>
        <p:nvSpPr>
          <p:cNvPr id="20" name="Text 17"/>
          <p:cNvSpPr txBox="1"/>
          <p:nvPr/>
        </p:nvSpPr>
        <p:spPr>
          <a:xfrm>
            <a:off x="969264" y="197796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1" name="Shape 18"/>
          <p:cNvSpPr/>
          <p:nvPr/>
        </p:nvSpPr>
        <p:spPr>
          <a:xfrm>
            <a:off x="3297326" y="2552319"/>
            <a:ext cx="384048" cy="384048"/>
          </a:xfrm>
          <a:prstGeom prst="ellipse">
            <a:avLst/>
          </a:prstGeom>
          <a:solidFill>
            <a:srgbClr val="3182F6"/>
          </a:solidFill>
          <a:ln w="19050">
            <a:solidFill>
              <a:srgbClr val="FFFFFF"/>
            </a:solidFill>
            <a:prstDash val="solid"/>
          </a:ln>
        </p:spPr>
      </p:sp>
      <p:sp>
        <p:nvSpPr>
          <p:cNvPr id="22" name="Text 19"/>
          <p:cNvSpPr txBox="1"/>
          <p:nvPr/>
        </p:nvSpPr>
        <p:spPr>
          <a:xfrm>
            <a:off x="3297326" y="2552319"/>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3" name="Shape 20"/>
          <p:cNvSpPr/>
          <p:nvPr/>
        </p:nvSpPr>
        <p:spPr>
          <a:xfrm>
            <a:off x="5992978" y="2073688"/>
            <a:ext cx="384048" cy="384048"/>
          </a:xfrm>
          <a:prstGeom prst="ellipse">
            <a:avLst/>
          </a:prstGeom>
          <a:solidFill>
            <a:srgbClr val="3182F6"/>
          </a:solidFill>
          <a:ln w="19050">
            <a:solidFill>
              <a:srgbClr val="FFFFFF"/>
            </a:solidFill>
            <a:prstDash val="solid"/>
          </a:ln>
        </p:spPr>
      </p:sp>
      <p:sp>
        <p:nvSpPr>
          <p:cNvPr id="24" name="Text 21"/>
          <p:cNvSpPr txBox="1"/>
          <p:nvPr/>
        </p:nvSpPr>
        <p:spPr>
          <a:xfrm>
            <a:off x="5992978" y="2073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5" name="Shape 22"/>
          <p:cNvSpPr/>
          <p:nvPr/>
        </p:nvSpPr>
        <p:spPr>
          <a:xfrm>
            <a:off x="4898441" y="3720751"/>
            <a:ext cx="1684782" cy="0"/>
          </a:xfrm>
          <a:prstGeom prst="line">
            <a:avLst/>
          </a:prstGeom>
          <a:noFill/>
          <a:ln w="31750">
            <a:solidFill>
              <a:srgbClr val="F04452"/>
            </a:solidFill>
            <a:prstDash val="solid"/>
          </a:ln>
        </p:spPr>
      </p:sp>
      <p:sp>
        <p:nvSpPr>
          <p:cNvPr id="26" name="Shape 23"/>
          <p:cNvSpPr/>
          <p:nvPr/>
        </p:nvSpPr>
        <p:spPr>
          <a:xfrm>
            <a:off x="548640" y="5840730"/>
            <a:ext cx="3121660" cy="329184"/>
          </a:xfrm>
          <a:prstGeom prst="roundRect">
            <a:avLst>
              <a:gd name="adj" fmla="val 50000"/>
            </a:avLst>
          </a:prstGeom>
          <a:solidFill>
            <a:srgbClr val="F0EDFF"/>
          </a:solidFill>
          <a:ln w="12700">
            <a:solidFill>
              <a:srgbClr val="F0EDFF"/>
            </a:solidFill>
            <a:prstDash val="solid"/>
          </a:ln>
        </p:spPr>
      </p:sp>
      <p:sp>
        <p:nvSpPr>
          <p:cNvPr id="27" name="Text 24"/>
          <p:cNvSpPr txBox="1"/>
          <p:nvPr/>
        </p:nvSpPr>
        <p:spPr>
          <a:xfrm>
            <a:off x="548640" y="5840730"/>
            <a:ext cx="3121660" cy="329184"/>
          </a:xfrm>
          <a:prstGeom prst="rect">
            <a:avLst/>
          </a:prstGeom>
          <a:noFill/>
          <a:ln/>
        </p:spPr>
        <p:txBody>
          <a:bodyPr wrap="square" lIns="0" tIns="0" rIns="0" bIns="0" rtlCol="0" anchor="ctr"/>
          <a:lstStyle/>
          <a:p>
            <a:pPr marL="0" indent="0" algn="ctr">
              <a:buNone/>
            </a:pPr>
            <a:r>
              <a:rPr lang="en-US" sz="1250" b="1" dirty="0">
                <a:solidFill>
                  <a:srgbClr val="7048E8"/>
                </a:solidFill>
                <a:latin typeface="맑은 고딕" pitchFamily="34" charset="0"/>
                <a:ea typeface="맑은 고딕" pitchFamily="34" charset="-122"/>
                <a:cs typeface="맑은 고딕" pitchFamily="34" charset="-120"/>
              </a:rPr>
              <a:t>NEW 부족 태그는 그룹마다 색이 달라요</a:t>
            </a:r>
            <a:endParaRPr lang="en-US" sz="1250" dirty="0"/>
          </a:p>
        </p:txBody>
      </p:sp>
      <p:sp>
        <p:nvSpPr>
          <p:cNvPr id="29" name="Shape 26"/>
          <p:cNvSpPr/>
          <p:nvPr/>
        </p:nvSpPr>
        <p:spPr>
          <a:xfrm>
            <a:off x="6949440" y="1920240"/>
            <a:ext cx="420624" cy="420624"/>
          </a:xfrm>
          <a:prstGeom prst="ellipse">
            <a:avLst/>
          </a:prstGeom>
          <a:solidFill>
            <a:srgbClr val="3182F6"/>
          </a:solidFill>
          <a:ln w="19050">
            <a:solidFill>
              <a:srgbClr val="FFFFFF"/>
            </a:solidFill>
            <a:prstDash val="solid"/>
          </a:ln>
        </p:spPr>
      </p:sp>
      <p:sp>
        <p:nvSpPr>
          <p:cNvPr id="30" name="Text 27"/>
          <p:cNvSpPr txBox="1"/>
          <p:nvPr/>
        </p:nvSpPr>
        <p:spPr>
          <a:xfrm>
            <a:off x="6949440" y="19202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31" name="Text 28"/>
          <p:cNvSpPr txBox="1"/>
          <p:nvPr/>
        </p:nvSpPr>
        <p:spPr>
          <a:xfrm>
            <a:off x="7516368" y="19019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그룹</a:t>
            </a:r>
            <a:endParaRPr lang="en-US" sz="1800" dirty="0"/>
          </a:p>
        </p:txBody>
      </p:sp>
      <p:sp>
        <p:nvSpPr>
          <p:cNvPr id="32" name="Text 29"/>
          <p:cNvSpPr txBox="1"/>
          <p:nvPr/>
        </p:nvSpPr>
        <p:spPr>
          <a:xfrm>
            <a:off x="7516368" y="23225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연락할 </a:t>
            </a:r>
            <a:r>
              <a:rPr lang="en-US" sz="1350" dirty="0" err="1">
                <a:solidFill>
                  <a:srgbClr val="6B7684"/>
                </a:solidFill>
                <a:latin typeface="맑은 고딕" pitchFamily="34" charset="0"/>
                <a:ea typeface="맑은 고딕" pitchFamily="34" charset="-122"/>
                <a:cs typeface="맑은 고딕" pitchFamily="34" charset="-120"/>
              </a:rPr>
              <a:t>이유별로</a:t>
            </a:r>
            <a:r>
              <a:rPr lang="en-US" sz="1350" dirty="0">
                <a:solidFill>
                  <a:srgbClr val="6B7684"/>
                </a:solidFill>
                <a:latin typeface="맑은 고딕" pitchFamily="34" charset="0"/>
                <a:ea typeface="맑은 고딕" pitchFamily="34" charset="-122"/>
                <a:cs typeface="맑은 고딕" pitchFamily="34" charset="-120"/>
              </a:rPr>
              <a:t> 묶</a:t>
            </a:r>
            <a:r>
              <a:rPr lang="ko-KR" altLang="en-US" sz="1350" dirty="0">
                <a:solidFill>
                  <a:srgbClr val="6B7684"/>
                </a:solidFill>
                <a:latin typeface="맑은 고딕" pitchFamily="34" charset="0"/>
                <a:ea typeface="맑은 고딕" pitchFamily="34" charset="-122"/>
                <a:cs typeface="맑은 고딕" pitchFamily="34" charset="-120"/>
              </a:rPr>
              <a:t>인 그룹</a:t>
            </a:r>
            <a:endParaRPr lang="en-US" altLang="ko-KR" sz="1350" dirty="0">
              <a:solidFill>
                <a:srgbClr val="6B7684"/>
              </a:solidFill>
              <a:latin typeface="맑은 고딕" pitchFamily="34" charset="0"/>
              <a:ea typeface="맑은 고딕" pitchFamily="34" charset="-122"/>
              <a:cs typeface="맑은 고딕" pitchFamily="34" charset="-120"/>
            </a:endParaRPr>
          </a:p>
          <a:p>
            <a:pPr marL="0" indent="0">
              <a:lnSpc>
                <a:spcPct val="115000"/>
              </a:lnSpc>
              <a:buNone/>
            </a:pPr>
            <a:r>
              <a:rPr lang="en-US" sz="1350" dirty="0" err="1">
                <a:solidFill>
                  <a:srgbClr val="6B7684"/>
                </a:solidFill>
                <a:latin typeface="맑은 고딕" pitchFamily="34" charset="0"/>
                <a:ea typeface="맑은 고딕" pitchFamily="34" charset="-122"/>
                <a:cs typeface="맑은 고딕" pitchFamily="34" charset="-120"/>
              </a:rPr>
              <a:t>보장</a:t>
            </a:r>
            <a:r>
              <a:rPr lang="en-US" sz="1350" dirty="0">
                <a:solidFill>
                  <a:srgbClr val="6B7684"/>
                </a:solidFill>
                <a:latin typeface="맑은 고딕" pitchFamily="34" charset="0"/>
                <a:ea typeface="맑은 고딕" pitchFamily="34" charset="-122"/>
                <a:cs typeface="맑은 고딕" pitchFamily="34" charset="-120"/>
              </a:rPr>
              <a:t> 기준 · 영업 기회 두 탭</a:t>
            </a:r>
            <a:endParaRPr lang="en-US" sz="1350" dirty="0"/>
          </a:p>
        </p:txBody>
      </p:sp>
      <p:sp>
        <p:nvSpPr>
          <p:cNvPr id="33" name="Shape 30"/>
          <p:cNvSpPr/>
          <p:nvPr/>
        </p:nvSpPr>
        <p:spPr>
          <a:xfrm>
            <a:off x="6949440" y="2834640"/>
            <a:ext cx="420624" cy="420624"/>
          </a:xfrm>
          <a:prstGeom prst="ellipse">
            <a:avLst/>
          </a:prstGeom>
          <a:solidFill>
            <a:srgbClr val="3182F6"/>
          </a:solidFill>
          <a:ln w="19050">
            <a:solidFill>
              <a:srgbClr val="FFFFFF"/>
            </a:solidFill>
            <a:prstDash val="solid"/>
          </a:ln>
        </p:spPr>
      </p:sp>
      <p:sp>
        <p:nvSpPr>
          <p:cNvPr id="34" name="Text 31"/>
          <p:cNvSpPr txBox="1"/>
          <p:nvPr/>
        </p:nvSpPr>
        <p:spPr>
          <a:xfrm>
            <a:off x="6949440" y="28346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35" name="Text 32"/>
          <p:cNvSpPr txBox="1"/>
          <p:nvPr/>
        </p:nvSpPr>
        <p:spPr>
          <a:xfrm>
            <a:off x="7516368" y="28163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고객 카드</a:t>
            </a:r>
            <a:endParaRPr lang="en-US" sz="1800" dirty="0"/>
          </a:p>
        </p:txBody>
      </p:sp>
      <p:sp>
        <p:nvSpPr>
          <p:cNvPr id="36" name="Text 33"/>
          <p:cNvSpPr txBox="1"/>
          <p:nvPr/>
        </p:nvSpPr>
        <p:spPr>
          <a:xfrm>
            <a:off x="7516368" y="32369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누르면 펼쳐져요</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이유 · 태그 · 한눈에 보기 6칸</a:t>
            </a:r>
            <a:endParaRPr lang="en-US" sz="1350" dirty="0"/>
          </a:p>
        </p:txBody>
      </p:sp>
      <p:sp>
        <p:nvSpPr>
          <p:cNvPr id="37" name="Shape 34"/>
          <p:cNvSpPr/>
          <p:nvPr/>
        </p:nvSpPr>
        <p:spPr>
          <a:xfrm>
            <a:off x="6949440" y="3749040"/>
            <a:ext cx="420624" cy="420624"/>
          </a:xfrm>
          <a:prstGeom prst="ellipse">
            <a:avLst/>
          </a:prstGeom>
          <a:solidFill>
            <a:srgbClr val="3182F6"/>
          </a:solidFill>
          <a:ln w="19050">
            <a:solidFill>
              <a:srgbClr val="FFFFFF"/>
            </a:solidFill>
            <a:prstDash val="solid"/>
          </a:ln>
        </p:spPr>
      </p:sp>
      <p:sp>
        <p:nvSpPr>
          <p:cNvPr id="38" name="Text 35"/>
          <p:cNvSpPr txBox="1"/>
          <p:nvPr/>
        </p:nvSpPr>
        <p:spPr>
          <a:xfrm>
            <a:off x="6949440" y="3749040"/>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39" name="Text 36"/>
          <p:cNvSpPr txBox="1"/>
          <p:nvPr/>
        </p:nvSpPr>
        <p:spPr>
          <a:xfrm>
            <a:off x="7516368" y="3730752"/>
            <a:ext cx="4126687" cy="420624"/>
          </a:xfrm>
          <a:prstGeom prst="rect">
            <a:avLst/>
          </a:prstGeom>
          <a:noFill/>
          <a:ln/>
        </p:spPr>
        <p:txBody>
          <a:bodyPr wrap="square" lIns="0" tIns="0" rIns="0" bIns="0" rtlCol="0" anchor="ctr"/>
          <a:lstStyle/>
          <a:p>
            <a:pPr marL="0" indent="0">
              <a:buNone/>
            </a:pPr>
            <a:r>
              <a:rPr lang="en-US" sz="1800" b="1" dirty="0">
                <a:solidFill>
                  <a:srgbClr val="191F28"/>
                </a:solidFill>
                <a:latin typeface="맑은 고딕" pitchFamily="34" charset="0"/>
                <a:ea typeface="맑은 고딕" pitchFamily="34" charset="-122"/>
                <a:cs typeface="맑은 고딕" pitchFamily="34" charset="-120"/>
              </a:rPr>
              <a:t>다음 행동</a:t>
            </a:r>
            <a:endParaRPr lang="en-US" sz="1800" dirty="0"/>
          </a:p>
        </p:txBody>
      </p:sp>
      <p:sp>
        <p:nvSpPr>
          <p:cNvPr id="40" name="Text 37"/>
          <p:cNvSpPr txBox="1"/>
          <p:nvPr/>
        </p:nvSpPr>
        <p:spPr>
          <a:xfrm>
            <a:off x="7516368" y="4151376"/>
            <a:ext cx="4126687" cy="457200"/>
          </a:xfrm>
          <a:prstGeom prst="rect">
            <a:avLst/>
          </a:prstGeom>
          <a:noFill/>
          <a:ln/>
        </p:spPr>
        <p:txBody>
          <a:bodyPr wrap="square" lIns="0" tIns="0" rIns="0" bIns="0" rtlCol="0" anchor="t"/>
          <a:lstStyle/>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있으면 [이 고객으로 맞춤대화 시작]</a:t>
            </a:r>
            <a:endParaRPr lang="en-US" sz="1350" dirty="0"/>
          </a:p>
          <a:p>
            <a:pPr marL="0" indent="0">
              <a:lnSpc>
                <a:spcPct val="115000"/>
              </a:lnSpc>
              <a:buNone/>
            </a:pPr>
            <a:r>
              <a:rPr lang="en-US" sz="1350" dirty="0">
                <a:solidFill>
                  <a:srgbClr val="6B7684"/>
                </a:solidFill>
                <a:latin typeface="맑은 고딕" pitchFamily="34" charset="0"/>
                <a:ea typeface="맑은 고딕" pitchFamily="34" charset="-122"/>
                <a:cs typeface="맑은 고딕" pitchFamily="34" charset="-120"/>
              </a:rPr>
              <a:t>동의 필요면 [사전조회동의 요청하기]</a:t>
            </a:r>
            <a:endParaRPr lang="en-US" sz="1350" dirty="0"/>
          </a:p>
        </p:txBody>
      </p:sp>
      <p:sp>
        <p:nvSpPr>
          <p:cNvPr id="41" name="Shape 38"/>
          <p:cNvSpPr/>
          <p:nvPr/>
        </p:nvSpPr>
        <p:spPr>
          <a:xfrm>
            <a:off x="6949440" y="4681728"/>
            <a:ext cx="4693615" cy="1463040"/>
          </a:xfrm>
          <a:prstGeom prst="roundRect">
            <a:avLst>
              <a:gd name="adj" fmla="val 8750"/>
            </a:avLst>
          </a:prstGeom>
          <a:solidFill>
            <a:srgbClr val="F9FAFB"/>
          </a:solidFill>
          <a:ln w="12700">
            <a:solidFill>
              <a:srgbClr val="F9FAFB"/>
            </a:solidFill>
            <a:prstDash val="solid"/>
          </a:ln>
        </p:spPr>
      </p:sp>
      <p:sp>
        <p:nvSpPr>
          <p:cNvPr id="42" name="Text 39"/>
          <p:cNvSpPr txBox="1"/>
          <p:nvPr/>
        </p:nvSpPr>
        <p:spPr>
          <a:xfrm>
            <a:off x="7178040" y="4773168"/>
            <a:ext cx="4327855"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6칸 읽는 법 · 김민수 예시</a:t>
            </a:r>
            <a:endParaRPr lang="en-US" sz="1500" dirty="0"/>
          </a:p>
        </p:txBody>
      </p:sp>
      <p:sp>
        <p:nvSpPr>
          <p:cNvPr id="43" name="Text 40"/>
          <p:cNvSpPr txBox="1"/>
          <p:nvPr/>
        </p:nvSpPr>
        <p:spPr>
          <a:xfrm>
            <a:off x="7178040" y="5102352"/>
            <a:ext cx="4327855" cy="1005840"/>
          </a:xfrm>
          <a:prstGeom prst="rect">
            <a:avLst/>
          </a:prstGeom>
          <a:noFill/>
          <a:ln/>
        </p:spPr>
        <p:txBody>
          <a:bodyPr wrap="square" lIns="0" tIns="0" rIns="0" bIns="0" rtlCol="0" anchor="t"/>
          <a:lstStyle/>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장기 3건 → “지금 세 건 갖고 계세요”</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부족 금액 1,000만원 → 제안 크기</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1-5종수술비 ‘없음’ → 제안 포인트</a:t>
            </a:r>
            <a:endParaRPr lang="en-US" sz="1300" dirty="0"/>
          </a:p>
          <a:p>
            <a:pPr marL="0" indent="0">
              <a:lnSpc>
                <a:spcPct val="118000"/>
              </a:lnSpc>
              <a:buNone/>
            </a:pPr>
            <a:r>
              <a:rPr lang="en-US" sz="1300" dirty="0">
                <a:solidFill>
                  <a:srgbClr val="4E5968"/>
                </a:solidFill>
                <a:latin typeface="맑은 고딕" pitchFamily="34" charset="0"/>
                <a:ea typeface="맑은 고딕" pitchFamily="34" charset="-122"/>
                <a:cs typeface="맑은 고딕" pitchFamily="34" charset="-120"/>
              </a:rPr>
              <a:t>‘미확인’ = 자료 없음 · 추정 안 해요</a:t>
            </a:r>
            <a:endParaRPr lang="en-US" sz="1300" dirty="0"/>
          </a:p>
        </p:txBody>
      </p:sp>
      <p:sp>
        <p:nvSpPr>
          <p:cNvPr id="45" name="Text 42"/>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6" name="Text 43"/>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그룹 설명 한 줄이 곧 상담 화법이에요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그룹을 누르면 </a:t>
            </a:r>
            <a:r>
              <a:rPr lang="en-US" sz="1700" dirty="0" err="1">
                <a:solidFill>
                  <a:srgbClr val="6B7684"/>
                </a:solidFill>
                <a:latin typeface="맑은 고딕" pitchFamily="34" charset="0"/>
                <a:ea typeface="맑은 고딕" pitchFamily="34" charset="-122"/>
                <a:cs typeface="맑은 고딕" pitchFamily="34" charset="-120"/>
              </a:rPr>
              <a:t>설명이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생성</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a:t>
            </a:r>
            <a:r>
              <a:rPr lang="en-US" sz="1700" dirty="0" err="1">
                <a:solidFill>
                  <a:srgbClr val="6B7684"/>
                </a:solidFill>
                <a:latin typeface="맑은 고딕" pitchFamily="34" charset="0"/>
                <a:ea typeface="맑은 고딕" pitchFamily="34" charset="-122"/>
                <a:cs typeface="맑은 고딕" pitchFamily="34" charset="-120"/>
              </a:rPr>
              <a:t>앞은</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그룹</a:t>
            </a:r>
            <a:r>
              <a:rPr lang="en-US" sz="1700" dirty="0">
                <a:solidFill>
                  <a:srgbClr val="6B7684"/>
                </a:solidFill>
                <a:latin typeface="맑은 고딕" pitchFamily="34" charset="0"/>
                <a:ea typeface="맑은 고딕" pitchFamily="34" charset="-122"/>
                <a:cs typeface="맑은 고딕" pitchFamily="34" charset="-120"/>
              </a:rPr>
              <a:t> 기준, </a:t>
            </a:r>
            <a:r>
              <a:rPr lang="en-US" sz="1700" dirty="0" err="1">
                <a:solidFill>
                  <a:srgbClr val="6B7684"/>
                </a:solidFill>
                <a:latin typeface="맑은 고딕" pitchFamily="34" charset="0"/>
                <a:ea typeface="맑은 고딕" pitchFamily="34" charset="-122"/>
                <a:cs typeface="맑은 고딕" pitchFamily="34" charset="-120"/>
              </a:rPr>
              <a:t>뒤는</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고객 맞춤 </a:t>
            </a:r>
            <a:r>
              <a:rPr lang="en-US" sz="1700" dirty="0" err="1">
                <a:solidFill>
                  <a:srgbClr val="6B7684"/>
                </a:solidFill>
                <a:latin typeface="맑은 고딕" pitchFamily="34" charset="0"/>
                <a:ea typeface="맑은 고딕" pitchFamily="34" charset="-122"/>
                <a:cs typeface="맑은 고딕" pitchFamily="34" charset="-120"/>
              </a:rPr>
              <a:t>화법</a:t>
            </a:r>
            <a:endParaRPr lang="en-US" sz="1700" dirty="0"/>
          </a:p>
        </p:txBody>
      </p:sp>
      <p:sp>
        <p:nvSpPr>
          <p:cNvPr id="13" name="Shape 11"/>
          <p:cNvSpPr/>
          <p:nvPr/>
        </p:nvSpPr>
        <p:spPr>
          <a:xfrm>
            <a:off x="548640" y="2048256"/>
            <a:ext cx="411480" cy="0"/>
          </a:xfrm>
          <a:prstGeom prst="line">
            <a:avLst/>
          </a:prstGeom>
          <a:noFill/>
          <a:ln w="38100">
            <a:solidFill>
              <a:srgbClr val="3182F6"/>
            </a:solidFill>
            <a:prstDash val="solid"/>
          </a:ln>
        </p:spPr>
      </p:sp>
      <p:sp>
        <p:nvSpPr>
          <p:cNvPr id="14" name="Text 12"/>
          <p:cNvSpPr txBox="1"/>
          <p:nvPr/>
        </p:nvSpPr>
        <p:spPr>
          <a:xfrm>
            <a:off x="1051560" y="1901952"/>
            <a:ext cx="201168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묶인 기준</a:t>
            </a:r>
            <a:endParaRPr lang="en-US" sz="1400" dirty="0"/>
          </a:p>
        </p:txBody>
      </p:sp>
      <p:sp>
        <p:nvSpPr>
          <p:cNvPr id="15" name="Shape 13"/>
          <p:cNvSpPr/>
          <p:nvPr/>
        </p:nvSpPr>
        <p:spPr>
          <a:xfrm>
            <a:off x="2926080" y="1938528"/>
            <a:ext cx="411480" cy="219456"/>
          </a:xfrm>
          <a:prstGeom prst="roundRect">
            <a:avLst>
              <a:gd name="adj" fmla="val 16667"/>
            </a:avLst>
          </a:prstGeom>
          <a:solidFill>
            <a:srgbClr val="FFE066"/>
          </a:solidFill>
          <a:ln w="12700">
            <a:solidFill>
              <a:srgbClr val="FFE066"/>
            </a:solidFill>
            <a:prstDash val="solid"/>
          </a:ln>
        </p:spPr>
      </p:sp>
      <p:sp>
        <p:nvSpPr>
          <p:cNvPr id="16" name="Text 14"/>
          <p:cNvSpPr txBox="1"/>
          <p:nvPr/>
        </p:nvSpPr>
        <p:spPr>
          <a:xfrm>
            <a:off x="3429000" y="1901952"/>
            <a:ext cx="2743200" cy="292608"/>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말할 방향(화법)</a:t>
            </a:r>
            <a:endParaRPr lang="en-US" sz="1400" dirty="0"/>
          </a:p>
        </p:txBody>
      </p:sp>
      <p:pic>
        <p:nvPicPr>
          <p:cNvPr id="17" name="Image 0" descr="MeAI 화면 캡처"/>
          <p:cNvPicPr>
            <a:picLocks noChangeAspect="1"/>
          </p:cNvPicPr>
          <p:nvPr/>
        </p:nvPicPr>
        <p:blipFill>
          <a:blip r:embed="rId3"/>
          <a:stretch>
            <a:fillRect/>
          </a:stretch>
        </p:blipFill>
        <p:spPr>
          <a:xfrm>
            <a:off x="548640" y="2240280"/>
            <a:ext cx="6446520" cy="1130106"/>
          </a:xfrm>
          <a:prstGeom prst="rect">
            <a:avLst/>
          </a:prstGeom>
        </p:spPr>
      </p:pic>
      <p:sp>
        <p:nvSpPr>
          <p:cNvPr id="18" name="Shape 15"/>
          <p:cNvSpPr/>
          <p:nvPr/>
        </p:nvSpPr>
        <p:spPr>
          <a:xfrm>
            <a:off x="548640" y="2240280"/>
            <a:ext cx="6446520" cy="1130106"/>
          </a:xfrm>
          <a:prstGeom prst="roundRect">
            <a:avLst>
              <a:gd name="adj" fmla="val 4855"/>
            </a:avLst>
          </a:prstGeom>
          <a:ln w="12700">
            <a:solidFill>
              <a:srgbClr val="D1D6DB"/>
            </a:solidFill>
            <a:prstDash val="solid"/>
          </a:ln>
        </p:spPr>
      </p:sp>
      <p:sp>
        <p:nvSpPr>
          <p:cNvPr id="19" name="Shape 16"/>
          <p:cNvSpPr/>
          <p:nvPr/>
        </p:nvSpPr>
        <p:spPr>
          <a:xfrm>
            <a:off x="705872" y="2996960"/>
            <a:ext cx="2746650" cy="0"/>
          </a:xfrm>
          <a:prstGeom prst="line">
            <a:avLst/>
          </a:prstGeom>
          <a:noFill/>
          <a:ln w="31750">
            <a:solidFill>
              <a:srgbClr val="3182F6"/>
            </a:solidFill>
            <a:prstDash val="solid"/>
          </a:ln>
        </p:spPr>
      </p:sp>
      <p:sp>
        <p:nvSpPr>
          <p:cNvPr id="20" name="Shape 17"/>
          <p:cNvSpPr/>
          <p:nvPr/>
        </p:nvSpPr>
        <p:spPr>
          <a:xfrm>
            <a:off x="3496744" y="2815160"/>
            <a:ext cx="3169211" cy="171973"/>
          </a:xfrm>
          <a:prstGeom prst="rect">
            <a:avLst/>
          </a:prstGeom>
          <a:solidFill>
            <a:srgbClr val="FFE066">
              <a:alpha val="45000"/>
            </a:srgbClr>
          </a:solidFill>
          <a:ln w="12700">
            <a:solidFill>
              <a:srgbClr val="FFE066"/>
            </a:solidFill>
            <a:prstDash val="solid"/>
          </a:ln>
        </p:spPr>
      </p:sp>
      <p:sp>
        <p:nvSpPr>
          <p:cNvPr id="21" name="Shape 18"/>
          <p:cNvSpPr/>
          <p:nvPr/>
        </p:nvSpPr>
        <p:spPr>
          <a:xfrm>
            <a:off x="686218" y="3051009"/>
            <a:ext cx="1233290" cy="171973"/>
          </a:xfrm>
          <a:prstGeom prst="rect">
            <a:avLst/>
          </a:prstGeom>
          <a:solidFill>
            <a:srgbClr val="FFE066">
              <a:alpha val="45000"/>
            </a:srgbClr>
          </a:solidFill>
          <a:ln w="12700">
            <a:solidFill>
              <a:srgbClr val="FFE066"/>
            </a:solidFill>
            <a:prstDash val="solid"/>
          </a:ln>
        </p:spPr>
      </p:sp>
      <p:sp>
        <p:nvSpPr>
          <p:cNvPr id="22" name="Shape 19"/>
          <p:cNvSpPr/>
          <p:nvPr/>
        </p:nvSpPr>
        <p:spPr>
          <a:xfrm>
            <a:off x="548640" y="3443538"/>
            <a:ext cx="6446520" cy="457200"/>
          </a:xfrm>
          <a:prstGeom prst="roundRect">
            <a:avLst>
              <a:gd name="adj" fmla="val 24000"/>
            </a:avLst>
          </a:prstGeom>
          <a:solidFill>
            <a:srgbClr val="E8F3FF"/>
          </a:solidFill>
          <a:ln w="12700">
            <a:solidFill>
              <a:srgbClr val="E8F3FF"/>
            </a:solidFill>
            <a:prstDash val="solid"/>
          </a:ln>
        </p:spPr>
      </p:sp>
      <p:sp>
        <p:nvSpPr>
          <p:cNvPr id="23" name="Shape 20"/>
          <p:cNvSpPr/>
          <p:nvPr/>
        </p:nvSpPr>
        <p:spPr>
          <a:xfrm>
            <a:off x="685800" y="3516690"/>
            <a:ext cx="1019810" cy="310896"/>
          </a:xfrm>
          <a:prstGeom prst="roundRect">
            <a:avLst>
              <a:gd name="adj" fmla="val 50000"/>
            </a:avLst>
          </a:prstGeom>
          <a:solidFill>
            <a:srgbClr val="3182F6"/>
          </a:solidFill>
          <a:ln w="12700">
            <a:solidFill>
              <a:srgbClr val="3182F6"/>
            </a:solidFill>
            <a:prstDash val="solid"/>
          </a:ln>
        </p:spPr>
      </p:sp>
      <p:sp>
        <p:nvSpPr>
          <p:cNvPr id="24" name="Text 21"/>
          <p:cNvSpPr txBox="1"/>
          <p:nvPr/>
        </p:nvSpPr>
        <p:spPr>
          <a:xfrm>
            <a:off x="685800" y="3516690"/>
            <a:ext cx="101981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첫 말로 →</a:t>
            </a:r>
            <a:endParaRPr lang="en-US" sz="1250" dirty="0"/>
          </a:p>
        </p:txBody>
      </p:sp>
      <p:sp>
        <p:nvSpPr>
          <p:cNvPr id="25" name="Text 22"/>
          <p:cNvSpPr txBox="1"/>
          <p:nvPr/>
        </p:nvSpPr>
        <p:spPr>
          <a:xfrm>
            <a:off x="1842770" y="3443538"/>
            <a:ext cx="501523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“재활·간병 기간이 길어 진단비가 곧 생활비예요.”</a:t>
            </a:r>
            <a:endParaRPr lang="en-US" sz="1700" dirty="0"/>
          </a:p>
        </p:txBody>
      </p:sp>
      <p:pic>
        <p:nvPicPr>
          <p:cNvPr id="26" name="Image 1" descr="MeAI 화면 캡처"/>
          <p:cNvPicPr>
            <a:picLocks noChangeAspect="1"/>
          </p:cNvPicPr>
          <p:nvPr/>
        </p:nvPicPr>
        <p:blipFill>
          <a:blip r:embed="rId4"/>
          <a:stretch>
            <a:fillRect/>
          </a:stretch>
        </p:blipFill>
        <p:spPr>
          <a:xfrm>
            <a:off x="548640" y="4083618"/>
            <a:ext cx="6446520" cy="1130106"/>
          </a:xfrm>
          <a:prstGeom prst="rect">
            <a:avLst/>
          </a:prstGeom>
        </p:spPr>
      </p:pic>
      <p:sp>
        <p:nvSpPr>
          <p:cNvPr id="27" name="Shape 23"/>
          <p:cNvSpPr/>
          <p:nvPr/>
        </p:nvSpPr>
        <p:spPr>
          <a:xfrm>
            <a:off x="548640" y="4083618"/>
            <a:ext cx="6446520" cy="1130106"/>
          </a:xfrm>
          <a:prstGeom prst="roundRect">
            <a:avLst>
              <a:gd name="adj" fmla="val 4855"/>
            </a:avLst>
          </a:prstGeom>
          <a:ln w="12700">
            <a:solidFill>
              <a:srgbClr val="D1D6DB"/>
            </a:solidFill>
            <a:prstDash val="solid"/>
          </a:ln>
        </p:spPr>
      </p:sp>
      <p:sp>
        <p:nvSpPr>
          <p:cNvPr id="28" name="Shape 24"/>
          <p:cNvSpPr/>
          <p:nvPr/>
        </p:nvSpPr>
        <p:spPr>
          <a:xfrm>
            <a:off x="700959" y="4840298"/>
            <a:ext cx="1650938" cy="0"/>
          </a:xfrm>
          <a:prstGeom prst="line">
            <a:avLst/>
          </a:prstGeom>
          <a:noFill/>
          <a:ln w="31750">
            <a:solidFill>
              <a:srgbClr val="3182F6"/>
            </a:solidFill>
            <a:prstDash val="solid"/>
          </a:ln>
        </p:spPr>
      </p:sp>
      <p:sp>
        <p:nvSpPr>
          <p:cNvPr id="29" name="Shape 25"/>
          <p:cNvSpPr/>
          <p:nvPr/>
        </p:nvSpPr>
        <p:spPr>
          <a:xfrm>
            <a:off x="2391205" y="4658499"/>
            <a:ext cx="4353366" cy="171973"/>
          </a:xfrm>
          <a:prstGeom prst="rect">
            <a:avLst/>
          </a:prstGeom>
          <a:solidFill>
            <a:srgbClr val="FFE066">
              <a:alpha val="45000"/>
            </a:srgbClr>
          </a:solidFill>
          <a:ln w="12700">
            <a:solidFill>
              <a:srgbClr val="FFE066"/>
            </a:solidFill>
            <a:prstDash val="solid"/>
          </a:ln>
        </p:spPr>
      </p:sp>
      <p:sp>
        <p:nvSpPr>
          <p:cNvPr id="30" name="Shape 26"/>
          <p:cNvSpPr/>
          <p:nvPr/>
        </p:nvSpPr>
        <p:spPr>
          <a:xfrm>
            <a:off x="686218" y="4894347"/>
            <a:ext cx="466783" cy="171973"/>
          </a:xfrm>
          <a:prstGeom prst="rect">
            <a:avLst/>
          </a:prstGeom>
          <a:solidFill>
            <a:srgbClr val="FFE066">
              <a:alpha val="45000"/>
            </a:srgbClr>
          </a:solidFill>
          <a:ln w="12700">
            <a:solidFill>
              <a:srgbClr val="FFE066"/>
            </a:solidFill>
            <a:prstDash val="solid"/>
          </a:ln>
        </p:spPr>
      </p:sp>
      <p:sp>
        <p:nvSpPr>
          <p:cNvPr id="31" name="Shape 27"/>
          <p:cNvSpPr/>
          <p:nvPr/>
        </p:nvSpPr>
        <p:spPr>
          <a:xfrm>
            <a:off x="548640" y="5286877"/>
            <a:ext cx="6446520" cy="457200"/>
          </a:xfrm>
          <a:prstGeom prst="roundRect">
            <a:avLst>
              <a:gd name="adj" fmla="val 24000"/>
            </a:avLst>
          </a:prstGeom>
          <a:solidFill>
            <a:srgbClr val="E8F3FF"/>
          </a:solidFill>
          <a:ln w="12700">
            <a:solidFill>
              <a:srgbClr val="E8F3FF"/>
            </a:solidFill>
            <a:prstDash val="solid"/>
          </a:ln>
        </p:spPr>
      </p:sp>
      <p:sp>
        <p:nvSpPr>
          <p:cNvPr id="32" name="Shape 28"/>
          <p:cNvSpPr/>
          <p:nvPr/>
        </p:nvSpPr>
        <p:spPr>
          <a:xfrm>
            <a:off x="685800" y="5360029"/>
            <a:ext cx="1496060" cy="310896"/>
          </a:xfrm>
          <a:prstGeom prst="roundRect">
            <a:avLst>
              <a:gd name="adj" fmla="val 50000"/>
            </a:avLst>
          </a:prstGeom>
          <a:solidFill>
            <a:srgbClr val="3182F6"/>
          </a:solidFill>
          <a:ln w="12700">
            <a:solidFill>
              <a:srgbClr val="3182F6"/>
            </a:solidFill>
            <a:prstDash val="solid"/>
          </a:ln>
        </p:spPr>
      </p:sp>
      <p:sp>
        <p:nvSpPr>
          <p:cNvPr id="33" name="Text 29"/>
          <p:cNvSpPr txBox="1"/>
          <p:nvPr/>
        </p:nvSpPr>
        <p:spPr>
          <a:xfrm>
            <a:off x="685800" y="5360029"/>
            <a:ext cx="1496060"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이렇게 열어요 →</a:t>
            </a:r>
            <a:endParaRPr lang="en-US" sz="1250" dirty="0"/>
          </a:p>
        </p:txBody>
      </p:sp>
      <p:sp>
        <p:nvSpPr>
          <p:cNvPr id="34" name="Text 30"/>
          <p:cNvSpPr txBox="1"/>
          <p:nvPr/>
        </p:nvSpPr>
        <p:spPr>
          <a:xfrm>
            <a:off x="2319020" y="5286877"/>
            <a:ext cx="4538980" cy="457200"/>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축하 인사로 열고, </a:t>
            </a:r>
            <a:r>
              <a:rPr lang="en-US" sz="1700" b="1" dirty="0" err="1">
                <a:solidFill>
                  <a:srgbClr val="191F28"/>
                </a:solidFill>
                <a:latin typeface="맑은 고딕" pitchFamily="34" charset="0"/>
                <a:ea typeface="맑은 고딕" pitchFamily="34" charset="-122"/>
                <a:cs typeface="맑은 고딕" pitchFamily="34" charset="-120"/>
              </a:rPr>
              <a:t>MeAI</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맞춤대화 </a:t>
            </a:r>
            <a:r>
              <a:rPr lang="en-US" sz="1700" b="1" dirty="0" err="1">
                <a:solidFill>
                  <a:srgbClr val="191F28"/>
                </a:solidFill>
                <a:latin typeface="맑은 고딕" pitchFamily="34" charset="0"/>
                <a:ea typeface="맑은 고딕" pitchFamily="34" charset="-122"/>
                <a:cs typeface="맑은 고딕" pitchFamily="34" charset="-120"/>
              </a:rPr>
              <a:t>보장</a:t>
            </a:r>
            <a:r>
              <a:rPr lang="en-US" sz="1700" b="1" dirty="0">
                <a:solidFill>
                  <a:srgbClr val="191F28"/>
                </a:solidFill>
                <a:latin typeface="맑은 고딕" pitchFamily="34" charset="0"/>
                <a:ea typeface="맑은 고딕" pitchFamily="34" charset="-122"/>
                <a:cs typeface="맑은 고딕" pitchFamily="34" charset="-120"/>
              </a:rPr>
              <a:t> </a:t>
            </a:r>
            <a:r>
              <a:rPr lang="en-US" sz="1700" b="1" dirty="0" err="1">
                <a:solidFill>
                  <a:srgbClr val="191F28"/>
                </a:solidFill>
                <a:latin typeface="맑은 고딕" pitchFamily="34" charset="0"/>
                <a:ea typeface="맑은 고딕" pitchFamily="34" charset="-122"/>
                <a:cs typeface="맑은 고딕" pitchFamily="34" charset="-120"/>
              </a:rPr>
              <a:t>점검</a:t>
            </a:r>
            <a:endParaRPr lang="en-US" sz="1700" dirty="0"/>
          </a:p>
        </p:txBody>
      </p:sp>
      <p:sp>
        <p:nvSpPr>
          <p:cNvPr id="35" name="Text 31"/>
          <p:cNvSpPr txBox="1"/>
          <p:nvPr/>
        </p:nvSpPr>
        <p:spPr>
          <a:xfrm>
            <a:off x="7269480" y="1874520"/>
            <a:ext cx="4373575" cy="365760"/>
          </a:xfrm>
          <a:prstGeom prst="rect">
            <a:avLst/>
          </a:prstGeom>
          <a:noFill/>
          <a:ln/>
        </p:spPr>
        <p:txBody>
          <a:bodyPr wrap="square" lIns="0" tIns="0" rIns="0" bIns="0" rtlCol="0" anchor="ctr"/>
          <a:lstStyle/>
          <a:p>
            <a:pPr marL="0" indent="0">
              <a:buNone/>
            </a:pPr>
            <a:r>
              <a:rPr lang="ko-KR" altLang="en-US" sz="1900" b="1" dirty="0">
                <a:solidFill>
                  <a:srgbClr val="191F28"/>
                </a:solidFill>
                <a:latin typeface="맑은 고딕" pitchFamily="34" charset="0"/>
                <a:ea typeface="맑은 고딕" pitchFamily="34" charset="-122"/>
              </a:rPr>
              <a:t>영업 타이밍에 따라 활용하는 그룹</a:t>
            </a:r>
            <a:endParaRPr lang="en-US" sz="1900" dirty="0"/>
          </a:p>
        </p:txBody>
      </p:sp>
      <p:sp>
        <p:nvSpPr>
          <p:cNvPr id="36" name="Shape 32"/>
          <p:cNvSpPr/>
          <p:nvPr/>
        </p:nvSpPr>
        <p:spPr>
          <a:xfrm>
            <a:off x="7269480" y="2267712"/>
            <a:ext cx="4373575" cy="676656"/>
          </a:xfrm>
          <a:prstGeom prst="roundRect">
            <a:avLst>
              <a:gd name="adj" fmla="val 16216"/>
            </a:avLst>
          </a:prstGeom>
          <a:solidFill>
            <a:srgbClr val="FFFFFF"/>
          </a:solidFill>
          <a:ln w="19050">
            <a:solidFill>
              <a:srgbClr val="7048E8"/>
            </a:solidFill>
            <a:prstDash val="solid"/>
          </a:ln>
        </p:spPr>
      </p:sp>
      <p:sp>
        <p:nvSpPr>
          <p:cNvPr id="37" name="Shape 33"/>
          <p:cNvSpPr/>
          <p:nvPr/>
        </p:nvSpPr>
        <p:spPr>
          <a:xfrm>
            <a:off x="7379208" y="2404872"/>
            <a:ext cx="670560" cy="310896"/>
          </a:xfrm>
          <a:prstGeom prst="roundRect">
            <a:avLst>
              <a:gd name="adj" fmla="val 50000"/>
            </a:avLst>
          </a:prstGeom>
          <a:solidFill>
            <a:srgbClr val="F0EDFF"/>
          </a:solidFill>
          <a:ln w="12700">
            <a:solidFill>
              <a:srgbClr val="F0EDFF"/>
            </a:solidFill>
            <a:prstDash val="solid"/>
          </a:ln>
        </p:spPr>
      </p:sp>
      <p:sp>
        <p:nvSpPr>
          <p:cNvPr id="38" name="Text 34"/>
          <p:cNvSpPr txBox="1"/>
          <p:nvPr/>
        </p:nvSpPr>
        <p:spPr>
          <a:xfrm>
            <a:off x="7379208" y="2404872"/>
            <a:ext cx="670560" cy="310896"/>
          </a:xfrm>
          <a:prstGeom prst="rect">
            <a:avLst/>
          </a:prstGeom>
          <a:noFill/>
          <a:ln/>
        </p:spPr>
        <p:txBody>
          <a:bodyPr wrap="square" lIns="0" tIns="0" rIns="0" bIns="0" rtlCol="0" anchor="ctr"/>
          <a:lstStyle/>
          <a:p>
            <a:pPr marL="0" indent="0" algn="ctr">
              <a:buNone/>
            </a:pPr>
            <a:r>
              <a:rPr lang="en-US" sz="1200" b="1" dirty="0">
                <a:solidFill>
                  <a:srgbClr val="7048E8"/>
                </a:solidFill>
                <a:latin typeface="맑은 고딕" pitchFamily="34" charset="0"/>
                <a:ea typeface="맑은 고딕" pitchFamily="34" charset="-122"/>
                <a:cs typeface="맑은 고딕" pitchFamily="34" charset="-120"/>
              </a:rPr>
              <a:t>월초</a:t>
            </a:r>
            <a:endParaRPr lang="en-US" sz="1200" dirty="0"/>
          </a:p>
        </p:txBody>
      </p:sp>
      <p:sp>
        <p:nvSpPr>
          <p:cNvPr id="39" name="Text 35"/>
          <p:cNvSpPr txBox="1"/>
          <p:nvPr/>
        </p:nvSpPr>
        <p:spPr>
          <a:xfrm>
            <a:off x="8549640" y="230428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당월 영업 타겟</a:t>
            </a:r>
            <a:endParaRPr lang="en-US" sz="1500" dirty="0"/>
          </a:p>
        </p:txBody>
      </p:sp>
      <p:sp>
        <p:nvSpPr>
          <p:cNvPr id="40" name="Text 36"/>
          <p:cNvSpPr txBox="1"/>
          <p:nvPr/>
        </p:nvSpPr>
        <p:spPr>
          <a:xfrm>
            <a:off x="8549640" y="256946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우선순위 1위 · 추천 이유로 첫 말</a:t>
            </a:r>
            <a:endParaRPr lang="en-US" sz="1150" dirty="0"/>
          </a:p>
        </p:txBody>
      </p:sp>
      <p:sp>
        <p:nvSpPr>
          <p:cNvPr id="41" name="Shape 37"/>
          <p:cNvSpPr/>
          <p:nvPr/>
        </p:nvSpPr>
        <p:spPr>
          <a:xfrm>
            <a:off x="7269480" y="2999232"/>
            <a:ext cx="4373575" cy="676656"/>
          </a:xfrm>
          <a:prstGeom prst="roundRect">
            <a:avLst>
              <a:gd name="adj" fmla="val 16216"/>
            </a:avLst>
          </a:prstGeom>
          <a:solidFill>
            <a:srgbClr val="FFFFFF"/>
          </a:solidFill>
          <a:ln w="9525">
            <a:solidFill>
              <a:srgbClr val="E5E8EB"/>
            </a:solidFill>
            <a:prstDash val="solid"/>
          </a:ln>
        </p:spPr>
      </p:sp>
      <p:sp>
        <p:nvSpPr>
          <p:cNvPr id="42" name="Shape 38"/>
          <p:cNvSpPr/>
          <p:nvPr/>
        </p:nvSpPr>
        <p:spPr>
          <a:xfrm>
            <a:off x="7379208" y="3136392"/>
            <a:ext cx="1173480" cy="310896"/>
          </a:xfrm>
          <a:prstGeom prst="roundRect">
            <a:avLst>
              <a:gd name="adj" fmla="val 50000"/>
            </a:avLst>
          </a:prstGeom>
          <a:solidFill>
            <a:srgbClr val="F2F4F6"/>
          </a:solidFill>
          <a:ln w="12700">
            <a:solidFill>
              <a:srgbClr val="F2F4F6"/>
            </a:solidFill>
            <a:prstDash val="solid"/>
          </a:ln>
        </p:spPr>
      </p:sp>
      <p:sp>
        <p:nvSpPr>
          <p:cNvPr id="43" name="Text 39"/>
          <p:cNvSpPr txBox="1"/>
          <p:nvPr/>
        </p:nvSpPr>
        <p:spPr>
          <a:xfrm>
            <a:off x="7379208" y="3136392"/>
            <a:ext cx="117348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매주 월요일</a:t>
            </a:r>
            <a:endParaRPr lang="en-US" sz="1200" dirty="0"/>
          </a:p>
        </p:txBody>
      </p:sp>
      <p:sp>
        <p:nvSpPr>
          <p:cNvPr id="44" name="Text 40"/>
          <p:cNvSpPr txBox="1"/>
          <p:nvPr/>
        </p:nvSpPr>
        <p:spPr>
          <a:xfrm>
            <a:off x="8671560" y="303580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 생일 임박</a:t>
            </a:r>
            <a:endParaRPr lang="en-US" sz="1500" dirty="0"/>
          </a:p>
        </p:txBody>
      </p:sp>
      <p:sp>
        <p:nvSpPr>
          <p:cNvPr id="45" name="Text 41"/>
          <p:cNvSpPr txBox="1"/>
          <p:nvPr/>
        </p:nvSpPr>
        <p:spPr>
          <a:xfrm>
            <a:off x="8671560" y="330098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오르기 전 점검 · 생일엔 축하 인사</a:t>
            </a:r>
            <a:endParaRPr lang="en-US" sz="1150" dirty="0"/>
          </a:p>
        </p:txBody>
      </p:sp>
      <p:sp>
        <p:nvSpPr>
          <p:cNvPr id="46" name="Shape 42"/>
          <p:cNvSpPr/>
          <p:nvPr/>
        </p:nvSpPr>
        <p:spPr>
          <a:xfrm>
            <a:off x="7269480" y="3730752"/>
            <a:ext cx="4373575" cy="676656"/>
          </a:xfrm>
          <a:prstGeom prst="roundRect">
            <a:avLst>
              <a:gd name="adj" fmla="val 16216"/>
            </a:avLst>
          </a:prstGeom>
          <a:solidFill>
            <a:srgbClr val="FFFFFF"/>
          </a:solidFill>
          <a:ln w="9525">
            <a:solidFill>
              <a:srgbClr val="E5E8EB"/>
            </a:solidFill>
            <a:prstDash val="solid"/>
          </a:ln>
        </p:spPr>
      </p:sp>
      <p:sp>
        <p:nvSpPr>
          <p:cNvPr id="47" name="Shape 43"/>
          <p:cNvSpPr/>
          <p:nvPr/>
        </p:nvSpPr>
        <p:spPr>
          <a:xfrm>
            <a:off x="7379208" y="3867912"/>
            <a:ext cx="670560" cy="310896"/>
          </a:xfrm>
          <a:prstGeom prst="roundRect">
            <a:avLst>
              <a:gd name="adj" fmla="val 50000"/>
            </a:avLst>
          </a:prstGeom>
          <a:solidFill>
            <a:srgbClr val="F2F4F6"/>
          </a:solidFill>
          <a:ln w="12700">
            <a:solidFill>
              <a:srgbClr val="F2F4F6"/>
            </a:solidFill>
            <a:prstDash val="solid"/>
          </a:ln>
        </p:spPr>
      </p:sp>
      <p:sp>
        <p:nvSpPr>
          <p:cNvPr id="48" name="Text 44"/>
          <p:cNvSpPr txBox="1"/>
          <p:nvPr/>
        </p:nvSpPr>
        <p:spPr>
          <a:xfrm>
            <a:off x="7379208" y="386791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매달</a:t>
            </a:r>
            <a:endParaRPr lang="en-US" sz="1200" dirty="0"/>
          </a:p>
        </p:txBody>
      </p:sp>
      <p:sp>
        <p:nvSpPr>
          <p:cNvPr id="49" name="Text 45"/>
          <p:cNvSpPr txBox="1"/>
          <p:nvPr/>
        </p:nvSpPr>
        <p:spPr>
          <a:xfrm>
            <a:off x="8549640" y="376732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사전동의 만료</a:t>
            </a:r>
            <a:endParaRPr lang="en-US" sz="1500" dirty="0"/>
          </a:p>
        </p:txBody>
      </p:sp>
      <p:sp>
        <p:nvSpPr>
          <p:cNvPr id="50" name="Text 46"/>
          <p:cNvSpPr txBox="1"/>
          <p:nvPr/>
        </p:nvSpPr>
        <p:spPr>
          <a:xfrm>
            <a:off x="8549640" y="403250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만료 전에 미리 안내해요</a:t>
            </a:r>
            <a:endParaRPr lang="en-US" sz="1150" dirty="0"/>
          </a:p>
        </p:txBody>
      </p:sp>
      <p:sp>
        <p:nvSpPr>
          <p:cNvPr id="51" name="Shape 47"/>
          <p:cNvSpPr/>
          <p:nvPr/>
        </p:nvSpPr>
        <p:spPr>
          <a:xfrm>
            <a:off x="7269480" y="4462272"/>
            <a:ext cx="4373575" cy="676656"/>
          </a:xfrm>
          <a:prstGeom prst="roundRect">
            <a:avLst>
              <a:gd name="adj" fmla="val 16216"/>
            </a:avLst>
          </a:prstGeom>
          <a:solidFill>
            <a:srgbClr val="FFFFFF"/>
          </a:solidFill>
          <a:ln w="9525">
            <a:solidFill>
              <a:srgbClr val="E5E8EB"/>
            </a:solidFill>
            <a:prstDash val="solid"/>
          </a:ln>
        </p:spPr>
      </p:sp>
      <p:sp>
        <p:nvSpPr>
          <p:cNvPr id="52" name="Shape 48"/>
          <p:cNvSpPr/>
          <p:nvPr/>
        </p:nvSpPr>
        <p:spPr>
          <a:xfrm>
            <a:off x="7379208" y="4599432"/>
            <a:ext cx="670560" cy="310896"/>
          </a:xfrm>
          <a:prstGeom prst="roundRect">
            <a:avLst>
              <a:gd name="adj" fmla="val 50000"/>
            </a:avLst>
          </a:prstGeom>
          <a:solidFill>
            <a:srgbClr val="F2F4F6"/>
          </a:solidFill>
          <a:ln w="12700">
            <a:solidFill>
              <a:srgbClr val="F2F4F6"/>
            </a:solidFill>
            <a:prstDash val="solid"/>
          </a:ln>
        </p:spPr>
      </p:sp>
      <p:sp>
        <p:nvSpPr>
          <p:cNvPr id="53" name="Text 49"/>
          <p:cNvSpPr txBox="1"/>
          <p:nvPr/>
        </p:nvSpPr>
        <p:spPr>
          <a:xfrm>
            <a:off x="7379208" y="4599432"/>
            <a:ext cx="670560" cy="310896"/>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수시</a:t>
            </a:r>
            <a:endParaRPr lang="en-US" sz="1200" dirty="0"/>
          </a:p>
        </p:txBody>
      </p:sp>
      <p:sp>
        <p:nvSpPr>
          <p:cNvPr id="54" name="Text 50"/>
          <p:cNvSpPr txBox="1"/>
          <p:nvPr/>
        </p:nvSpPr>
        <p:spPr>
          <a:xfrm>
            <a:off x="8549640" y="4498848"/>
            <a:ext cx="3001975" cy="274320"/>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신규 등록 고객</a:t>
            </a:r>
            <a:endParaRPr lang="en-US" sz="1500" dirty="0"/>
          </a:p>
        </p:txBody>
      </p:sp>
      <p:sp>
        <p:nvSpPr>
          <p:cNvPr id="55" name="Text 51"/>
          <p:cNvSpPr txBox="1"/>
          <p:nvPr/>
        </p:nvSpPr>
        <p:spPr>
          <a:xfrm>
            <a:off x="8549640" y="4764024"/>
            <a:ext cx="3001975" cy="365760"/>
          </a:xfrm>
          <a:prstGeom prst="rect">
            <a:avLst/>
          </a:prstGeom>
          <a:noFill/>
          <a:ln/>
        </p:spPr>
        <p:txBody>
          <a:bodyPr wrap="square" lIns="0" tIns="0" rIns="0" bIns="0" rtlCol="0" anchor="ctr"/>
          <a:lstStyle/>
          <a:p>
            <a:pPr marL="0" indent="0">
              <a:lnSpc>
                <a:spcPct val="100000"/>
              </a:lnSpc>
              <a:buNone/>
            </a:pPr>
            <a:r>
              <a:rPr lang="en-US" sz="1150" dirty="0">
                <a:solidFill>
                  <a:srgbClr val="6B7684"/>
                </a:solidFill>
                <a:latin typeface="맑은 고딕" pitchFamily="34" charset="0"/>
                <a:ea typeface="맑은 고딕" pitchFamily="34" charset="-122"/>
                <a:cs typeface="맑은 고딕" pitchFamily="34" charset="-120"/>
              </a:rPr>
              <a:t>상세는 다음 날 반영돼요</a:t>
            </a:r>
            <a:endParaRPr lang="en-US" sz="1150" dirty="0"/>
          </a:p>
        </p:txBody>
      </p:sp>
      <p:sp>
        <p:nvSpPr>
          <p:cNvPr id="56" name="Shape 52"/>
          <p:cNvSpPr/>
          <p:nvPr/>
        </p:nvSpPr>
        <p:spPr>
          <a:xfrm>
            <a:off x="7269480" y="5230368"/>
            <a:ext cx="4373575" cy="566928"/>
          </a:xfrm>
          <a:prstGeom prst="roundRect">
            <a:avLst>
              <a:gd name="adj" fmla="val 19355"/>
            </a:avLst>
          </a:prstGeom>
          <a:solidFill>
            <a:srgbClr val="F9FAFB"/>
          </a:solidFill>
          <a:ln w="12700">
            <a:solidFill>
              <a:srgbClr val="F9FAFB"/>
            </a:solidFill>
            <a:prstDash val="solid"/>
          </a:ln>
        </p:spPr>
      </p:sp>
      <p:sp>
        <p:nvSpPr>
          <p:cNvPr id="57" name="Text 53"/>
          <p:cNvSpPr txBox="1"/>
          <p:nvPr/>
        </p:nvSpPr>
        <p:spPr>
          <a:xfrm>
            <a:off x="7452360" y="5230368"/>
            <a:ext cx="4099255" cy="566928"/>
          </a:xfrm>
          <a:prstGeom prst="rect">
            <a:avLst/>
          </a:prstGeom>
          <a:noFill/>
          <a:ln/>
        </p:spPr>
        <p:txBody>
          <a:bodyPr wrap="square" lIns="0" tIns="0" rIns="0" bIns="0" rtlCol="0" anchor="ctr"/>
          <a:lstStyle/>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보장 부족 그룹은 주력 상품 담보부터</a:t>
            </a:r>
            <a:endParaRPr lang="en-US" sz="1150" dirty="0"/>
          </a:p>
          <a:p>
            <a:pPr marL="0" indent="0">
              <a:lnSpc>
                <a:spcPct val="115000"/>
              </a:lnSpc>
              <a:buNone/>
            </a:pPr>
            <a:r>
              <a:rPr lang="en-US" sz="1150" dirty="0">
                <a:solidFill>
                  <a:srgbClr val="4E5968"/>
                </a:solidFill>
                <a:latin typeface="맑은 고딕" pitchFamily="34" charset="0"/>
                <a:ea typeface="맑은 고딕" pitchFamily="34" charset="-122"/>
                <a:cs typeface="맑은 고딕" pitchFamily="34" charset="-120"/>
              </a:rPr>
              <a:t>한 고객이 여러 그룹에 · 예: 김민수</a:t>
            </a:r>
            <a:endParaRPr lang="en-US" sz="1150" dirty="0"/>
          </a:p>
        </p:txBody>
      </p:sp>
      <p:sp>
        <p:nvSpPr>
          <p:cNvPr id="58" name="Text 54"/>
          <p:cNvSpPr txBox="1"/>
          <p:nvPr/>
        </p:nvSpPr>
        <p:spPr>
          <a:xfrm>
            <a:off x="548640" y="5852160"/>
            <a:ext cx="11094415" cy="237744"/>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 인원은 화면 예시 · 설명 문장은 확정 화면의 안내 · 금액은 보장분석으로 확인</a:t>
            </a:r>
            <a:endParaRPr lang="en-US" sz="1200" dirty="0"/>
          </a:p>
        </p:txBody>
      </p:sp>
      <p:sp>
        <p:nvSpPr>
          <p:cNvPr id="60" name="Text 5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1" name="Text 5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“D-n”이면 바로, “필요”면 알림톡 한 통이에요</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맞춤대화는 보장 내역을 읽어요. 그래서 동의가 먼저예요.</a:t>
            </a:r>
            <a:endParaRPr lang="en-US" sz="1700" dirty="0"/>
          </a:p>
        </p:txBody>
      </p:sp>
      <p:sp>
        <p:nvSpPr>
          <p:cNvPr id="13" name="Shape 11"/>
          <p:cNvSpPr/>
          <p:nvPr/>
        </p:nvSpPr>
        <p:spPr>
          <a:xfrm>
            <a:off x="548640" y="1965960"/>
            <a:ext cx="11094415" cy="914400"/>
          </a:xfrm>
          <a:prstGeom prst="roundRect">
            <a:avLst>
              <a:gd name="adj" fmla="val 14000"/>
            </a:avLst>
          </a:prstGeom>
          <a:solidFill>
            <a:srgbClr val="FFFFFF"/>
          </a:solidFill>
          <a:ln w="9525">
            <a:solidFill>
              <a:srgbClr val="E5E8EB"/>
            </a:solidFill>
            <a:prstDash val="solid"/>
          </a:ln>
        </p:spPr>
      </p:sp>
      <p:sp>
        <p:nvSpPr>
          <p:cNvPr id="14" name="Shape 12"/>
          <p:cNvSpPr/>
          <p:nvPr/>
        </p:nvSpPr>
        <p:spPr>
          <a:xfrm>
            <a:off x="777240" y="2221992"/>
            <a:ext cx="1253490" cy="402336"/>
          </a:xfrm>
          <a:prstGeom prst="roundRect">
            <a:avLst>
              <a:gd name="adj" fmla="val 50000"/>
            </a:avLst>
          </a:prstGeom>
          <a:solidFill>
            <a:srgbClr val="E8F3FF"/>
          </a:solidFill>
          <a:ln w="12700">
            <a:solidFill>
              <a:srgbClr val="E8F3FF"/>
            </a:solidFill>
            <a:prstDash val="solid"/>
          </a:ln>
        </p:spPr>
      </p:sp>
      <p:sp>
        <p:nvSpPr>
          <p:cNvPr id="15" name="Text 13"/>
          <p:cNvSpPr txBox="1"/>
          <p:nvPr/>
        </p:nvSpPr>
        <p:spPr>
          <a:xfrm>
            <a:off x="777240" y="2221992"/>
            <a:ext cx="1253490" cy="402336"/>
          </a:xfrm>
          <a:prstGeom prst="rect">
            <a:avLst/>
          </a:prstGeom>
          <a:noFill/>
          <a:ln/>
        </p:spPr>
        <p:txBody>
          <a:bodyPr wrap="square" lIns="0" tIns="0" rIns="0" bIns="0" rtlCol="0" anchor="ctr"/>
          <a:lstStyle/>
          <a:p>
            <a:pPr marL="0" indent="0" algn="ctr">
              <a:buNone/>
            </a:pPr>
            <a:r>
              <a:rPr lang="en-US" sz="1500" b="1" dirty="0">
                <a:solidFill>
                  <a:srgbClr val="3182F6"/>
                </a:solidFill>
                <a:latin typeface="맑은 고딕" pitchFamily="34" charset="0"/>
                <a:ea typeface="맑은 고딕" pitchFamily="34" charset="-122"/>
                <a:cs typeface="맑은 고딕" pitchFamily="34" charset="-120"/>
              </a:rPr>
              <a:t>유효 · D-n</a:t>
            </a:r>
            <a:endParaRPr lang="en-US" sz="1500" dirty="0"/>
          </a:p>
        </p:txBody>
      </p:sp>
      <p:pic>
        <p:nvPicPr>
          <p:cNvPr id="16" name="Image 0" descr="MeAI 화면 캡처"/>
          <p:cNvPicPr>
            <a:picLocks noChangeAspect="1"/>
          </p:cNvPicPr>
          <p:nvPr/>
        </p:nvPicPr>
        <p:blipFill>
          <a:blip r:embed="rId3"/>
          <a:stretch>
            <a:fillRect/>
          </a:stretch>
        </p:blipFill>
        <p:spPr>
          <a:xfrm>
            <a:off x="2514600" y="2104849"/>
            <a:ext cx="5394960" cy="636622"/>
          </a:xfrm>
          <a:prstGeom prst="rect">
            <a:avLst/>
          </a:prstGeom>
        </p:spPr>
      </p:pic>
      <p:sp>
        <p:nvSpPr>
          <p:cNvPr id="17" name="Shape 14"/>
          <p:cNvSpPr/>
          <p:nvPr/>
        </p:nvSpPr>
        <p:spPr>
          <a:xfrm>
            <a:off x="5379024" y="2267712"/>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379024" y="2267712"/>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Text 16"/>
          <p:cNvSpPr txBox="1"/>
          <p:nvPr/>
        </p:nvSpPr>
        <p:spPr>
          <a:xfrm>
            <a:off x="8138160" y="2057400"/>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바로 [맞춤대화]</a:t>
            </a:r>
            <a:endParaRPr lang="en-US" sz="1700" dirty="0"/>
          </a:p>
        </p:txBody>
      </p:sp>
      <p:sp>
        <p:nvSpPr>
          <p:cNvPr id="20" name="Text 17"/>
          <p:cNvSpPr txBox="1"/>
          <p:nvPr/>
        </p:nvSpPr>
        <p:spPr>
          <a:xfrm>
            <a:off x="8138160" y="2423160"/>
            <a:ext cx="3367735" cy="411480"/>
          </a:xfrm>
          <a:prstGeom prst="rect">
            <a:avLst/>
          </a:prstGeom>
          <a:noFill/>
          <a:ln/>
        </p:spPr>
        <p:txBody>
          <a:bodyPr wrap="square" lIns="0" tIns="0" rIns="0" bIns="0" rtlCol="0" anchor="t"/>
          <a:lstStyle/>
          <a:p>
            <a:pPr marL="0" indent="0">
              <a:buNone/>
            </a:pPr>
            <a:r>
              <a:rPr lang="en-US" sz="1350" dirty="0" err="1">
                <a:solidFill>
                  <a:srgbClr val="6B7684"/>
                </a:solidFill>
                <a:latin typeface="맑은 고딕" pitchFamily="34" charset="0"/>
                <a:ea typeface="맑은 고딕" pitchFamily="34" charset="-122"/>
                <a:cs typeface="맑은 고딕" pitchFamily="34" charset="-120"/>
              </a:rPr>
              <a:t>동의일부터</a:t>
            </a:r>
            <a:r>
              <a:rPr lang="en-US" sz="1350" dirty="0">
                <a:solidFill>
                  <a:srgbClr val="6B7684"/>
                </a:solidFill>
                <a:latin typeface="맑은 고딕" pitchFamily="34" charset="0"/>
                <a:ea typeface="맑은 고딕" pitchFamily="34" charset="-122"/>
                <a:cs typeface="맑은 고딕" pitchFamily="34" charset="-120"/>
              </a:rPr>
              <a:t> 90</a:t>
            </a:r>
            <a:r>
              <a:rPr lang="ko-KR" altLang="en-US" sz="1350" dirty="0">
                <a:solidFill>
                  <a:srgbClr val="6B7684"/>
                </a:solidFill>
                <a:latin typeface="맑은 고딕" pitchFamily="34" charset="0"/>
                <a:ea typeface="맑은 고딕" pitchFamily="34" charset="-122"/>
                <a:cs typeface="맑은 고딕" pitchFamily="34" charset="-120"/>
              </a:rPr>
              <a:t>일 동안 </a:t>
            </a:r>
            <a:r>
              <a:rPr lang="en-US" altLang="ko-KR" sz="1350" dirty="0" err="1">
                <a:solidFill>
                  <a:srgbClr val="6B7684"/>
                </a:solidFill>
                <a:latin typeface="맑은 고딕" pitchFamily="34" charset="0"/>
                <a:ea typeface="맑은 고딕" pitchFamily="34" charset="-122"/>
                <a:cs typeface="맑은 고딕" pitchFamily="34" charset="-120"/>
              </a:rPr>
              <a:t>MeAI</a:t>
            </a:r>
            <a:r>
              <a:rPr lang="en-US" altLang="ko-KR" sz="1350" dirty="0">
                <a:solidFill>
                  <a:srgbClr val="6B7684"/>
                </a:solidFill>
                <a:latin typeface="맑은 고딕" pitchFamily="34" charset="0"/>
                <a:ea typeface="맑은 고딕" pitchFamily="34" charset="-122"/>
                <a:cs typeface="맑은 고딕" pitchFamily="34" charset="-120"/>
              </a:rPr>
              <a:t> </a:t>
            </a:r>
            <a:r>
              <a:rPr lang="ko-KR" altLang="en-US" sz="1350" dirty="0">
                <a:solidFill>
                  <a:srgbClr val="6B7684"/>
                </a:solidFill>
                <a:latin typeface="맑은 고딕" pitchFamily="34" charset="0"/>
                <a:ea typeface="맑은 고딕" pitchFamily="34" charset="-122"/>
                <a:cs typeface="맑은 고딕" pitchFamily="34" charset="-120"/>
              </a:rPr>
              <a:t>맞춤대화 가능 </a:t>
            </a:r>
            <a:r>
              <a:rPr lang="en-US" sz="1350" dirty="0">
                <a:solidFill>
                  <a:srgbClr val="6B7684"/>
                </a:solidFill>
                <a:latin typeface="맑은 고딕" pitchFamily="34" charset="0"/>
                <a:ea typeface="맑은 고딕" pitchFamily="34" charset="-122"/>
                <a:cs typeface="맑은 고딕" pitchFamily="34" charset="-120"/>
              </a:rPr>
              <a:t> </a:t>
            </a:r>
            <a:endParaRPr lang="en-US" sz="1350" dirty="0"/>
          </a:p>
        </p:txBody>
      </p:sp>
      <p:sp>
        <p:nvSpPr>
          <p:cNvPr id="21" name="Shape 18"/>
          <p:cNvSpPr/>
          <p:nvPr/>
        </p:nvSpPr>
        <p:spPr>
          <a:xfrm>
            <a:off x="548640" y="2990088"/>
            <a:ext cx="11094415" cy="914400"/>
          </a:xfrm>
          <a:prstGeom prst="roundRect">
            <a:avLst>
              <a:gd name="adj" fmla="val 14000"/>
            </a:avLst>
          </a:prstGeom>
          <a:solidFill>
            <a:srgbClr val="FFFFFF"/>
          </a:solidFill>
          <a:ln w="9525">
            <a:solidFill>
              <a:srgbClr val="E5E8EB"/>
            </a:solidFill>
            <a:prstDash val="solid"/>
          </a:ln>
        </p:spPr>
      </p:sp>
      <p:sp>
        <p:nvSpPr>
          <p:cNvPr id="22" name="Shape 19"/>
          <p:cNvSpPr/>
          <p:nvPr/>
        </p:nvSpPr>
        <p:spPr>
          <a:xfrm>
            <a:off x="777240" y="3246120"/>
            <a:ext cx="1318260" cy="402336"/>
          </a:xfrm>
          <a:prstGeom prst="roundRect">
            <a:avLst>
              <a:gd name="adj" fmla="val 50000"/>
            </a:avLst>
          </a:prstGeom>
          <a:solidFill>
            <a:srgbClr val="FFF0F0"/>
          </a:solidFill>
          <a:ln w="12700">
            <a:solidFill>
              <a:srgbClr val="FFF0F0"/>
            </a:solidFill>
            <a:prstDash val="solid"/>
          </a:ln>
        </p:spPr>
      </p:sp>
      <p:sp>
        <p:nvSpPr>
          <p:cNvPr id="23" name="Text 20"/>
          <p:cNvSpPr txBox="1"/>
          <p:nvPr/>
        </p:nvSpPr>
        <p:spPr>
          <a:xfrm>
            <a:off x="777240" y="3246120"/>
            <a:ext cx="1318260" cy="402336"/>
          </a:xfrm>
          <a:prstGeom prst="rect">
            <a:avLst/>
          </a:prstGeom>
          <a:noFill/>
          <a:ln/>
        </p:spPr>
        <p:txBody>
          <a:bodyPr wrap="square" lIns="0" tIns="0" rIns="0" bIns="0" rtlCol="0" anchor="ctr"/>
          <a:lstStyle/>
          <a:p>
            <a:pPr marL="0" indent="0" algn="ctr">
              <a:buNone/>
            </a:pPr>
            <a:r>
              <a:rPr lang="en-US" sz="1500" b="1" dirty="0">
                <a:solidFill>
                  <a:srgbClr val="F04452"/>
                </a:solidFill>
                <a:latin typeface="맑은 고딕" pitchFamily="34" charset="0"/>
                <a:ea typeface="맑은 고딕" pitchFamily="34" charset="-122"/>
                <a:cs typeface="맑은 고딕" pitchFamily="34" charset="-120"/>
              </a:rPr>
              <a:t>필요 · 만료</a:t>
            </a:r>
            <a:endParaRPr lang="en-US" sz="1500" dirty="0"/>
          </a:p>
        </p:txBody>
      </p:sp>
      <p:pic>
        <p:nvPicPr>
          <p:cNvPr id="24" name="Image 1" descr="MeAI 화면 캡처"/>
          <p:cNvPicPr>
            <a:picLocks noChangeAspect="1"/>
          </p:cNvPicPr>
          <p:nvPr/>
        </p:nvPicPr>
        <p:blipFill>
          <a:blip r:embed="rId4"/>
          <a:stretch>
            <a:fillRect/>
          </a:stretch>
        </p:blipFill>
        <p:spPr>
          <a:xfrm>
            <a:off x="2514600" y="3099816"/>
            <a:ext cx="2214124" cy="694944"/>
          </a:xfrm>
          <a:prstGeom prst="rect">
            <a:avLst/>
          </a:prstGeom>
        </p:spPr>
      </p:pic>
      <p:sp>
        <p:nvSpPr>
          <p:cNvPr id="25" name="Shape 21"/>
          <p:cNvSpPr/>
          <p:nvPr/>
        </p:nvSpPr>
        <p:spPr>
          <a:xfrm>
            <a:off x="2251409" y="3291840"/>
            <a:ext cx="310896" cy="310896"/>
          </a:xfrm>
          <a:prstGeom prst="ellipse">
            <a:avLst/>
          </a:prstGeom>
          <a:solidFill>
            <a:srgbClr val="F04452"/>
          </a:solidFill>
          <a:ln w="19050">
            <a:solidFill>
              <a:srgbClr val="FFFFFF"/>
            </a:solidFill>
            <a:prstDash val="solid"/>
          </a:ln>
        </p:spPr>
      </p:sp>
      <p:sp>
        <p:nvSpPr>
          <p:cNvPr id="26" name="Text 22"/>
          <p:cNvSpPr txBox="1"/>
          <p:nvPr/>
        </p:nvSpPr>
        <p:spPr>
          <a:xfrm>
            <a:off x="2251409" y="329184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7" name="Text 23"/>
          <p:cNvSpPr txBox="1"/>
          <p:nvPr/>
        </p:nvSpPr>
        <p:spPr>
          <a:xfrm>
            <a:off x="4774444" y="2990088"/>
            <a:ext cx="320040" cy="914400"/>
          </a:xfrm>
          <a:prstGeom prst="rect">
            <a:avLst/>
          </a:prstGeom>
          <a:noFill/>
          <a:ln/>
        </p:spPr>
        <p:txBody>
          <a:bodyPr wrap="square" lIns="0" tIns="0" rIns="0" bIns="0" rtlCol="0" anchor="ctr"/>
          <a:lstStyle/>
          <a:p>
            <a:pPr marL="0" indent="0" algn="ctr">
              <a:buNone/>
            </a:pPr>
            <a:r>
              <a:rPr lang="en-US" sz="2000" dirty="0">
                <a:solidFill>
                  <a:srgbClr val="B0B8C1"/>
                </a:solidFill>
                <a:latin typeface="맑은 고딕" pitchFamily="34" charset="0"/>
                <a:ea typeface="맑은 고딕" pitchFamily="34" charset="-122"/>
                <a:cs typeface="맑은 고딕" pitchFamily="34" charset="-120"/>
              </a:rPr>
              <a:t>→</a:t>
            </a:r>
            <a:endParaRPr lang="en-US" sz="2000" dirty="0"/>
          </a:p>
        </p:txBody>
      </p:sp>
      <p:pic>
        <p:nvPicPr>
          <p:cNvPr id="28" name="Image 2" descr="MeAI 화면 캡처"/>
          <p:cNvPicPr>
            <a:picLocks noChangeAspect="1"/>
          </p:cNvPicPr>
          <p:nvPr/>
        </p:nvPicPr>
        <p:blipFill>
          <a:blip r:embed="rId5"/>
          <a:stretch>
            <a:fillRect/>
          </a:stretch>
        </p:blipFill>
        <p:spPr>
          <a:xfrm>
            <a:off x="5140204" y="3081528"/>
            <a:ext cx="1434790" cy="731520"/>
          </a:xfrm>
          <a:prstGeom prst="rect">
            <a:avLst/>
          </a:prstGeom>
        </p:spPr>
      </p:pic>
      <p:sp>
        <p:nvSpPr>
          <p:cNvPr id="29" name="Text 24"/>
          <p:cNvSpPr txBox="1"/>
          <p:nvPr/>
        </p:nvSpPr>
        <p:spPr>
          <a:xfrm>
            <a:off x="8138160" y="3081528"/>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[사전조회동의 요청하기]</a:t>
            </a:r>
            <a:endParaRPr lang="en-US" sz="1700" dirty="0"/>
          </a:p>
        </p:txBody>
      </p:sp>
      <p:sp>
        <p:nvSpPr>
          <p:cNvPr id="30" name="Text 25"/>
          <p:cNvSpPr txBox="1"/>
          <p:nvPr/>
        </p:nvSpPr>
        <p:spPr>
          <a:xfrm>
            <a:off x="8138160" y="3447288"/>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 휴대폰 번호 → 알림톡</a:t>
            </a:r>
            <a:endParaRPr lang="en-US" sz="1350" dirty="0"/>
          </a:p>
          <a:p>
            <a:pPr marL="0" indent="0">
              <a:buNone/>
            </a:pPr>
            <a:r>
              <a:rPr lang="en-US" sz="1350" b="1" dirty="0">
                <a:solidFill>
                  <a:srgbClr val="3182F6"/>
                </a:solidFill>
                <a:latin typeface="맑은 고딕" pitchFamily="34" charset="0"/>
                <a:ea typeface="맑은 고딕" pitchFamily="34" charset="-122"/>
                <a:cs typeface="맑은 고딕" pitchFamily="34" charset="-120"/>
              </a:rPr>
              <a:t>예: 김민수 고객</a:t>
            </a:r>
            <a:endParaRPr lang="en-US" sz="1350" dirty="0"/>
          </a:p>
        </p:txBody>
      </p:sp>
      <p:sp>
        <p:nvSpPr>
          <p:cNvPr id="31" name="Shape 26"/>
          <p:cNvSpPr/>
          <p:nvPr/>
        </p:nvSpPr>
        <p:spPr>
          <a:xfrm>
            <a:off x="548640" y="4014216"/>
            <a:ext cx="11094415" cy="914400"/>
          </a:xfrm>
          <a:prstGeom prst="roundRect">
            <a:avLst>
              <a:gd name="adj" fmla="val 14000"/>
            </a:avLst>
          </a:prstGeom>
          <a:solidFill>
            <a:srgbClr val="FFFFFF"/>
          </a:solidFill>
          <a:ln w="9525">
            <a:solidFill>
              <a:srgbClr val="E5E8EB"/>
            </a:solidFill>
            <a:prstDash val="solid"/>
          </a:ln>
        </p:spPr>
      </p:sp>
      <p:sp>
        <p:nvSpPr>
          <p:cNvPr id="32" name="Shape 27"/>
          <p:cNvSpPr/>
          <p:nvPr/>
        </p:nvSpPr>
        <p:spPr>
          <a:xfrm>
            <a:off x="777240" y="4270248"/>
            <a:ext cx="1184910" cy="402336"/>
          </a:xfrm>
          <a:prstGeom prst="roundRect">
            <a:avLst>
              <a:gd name="adj" fmla="val 50000"/>
            </a:avLst>
          </a:prstGeom>
          <a:solidFill>
            <a:srgbClr val="F2F4F6"/>
          </a:solidFill>
          <a:ln w="12700">
            <a:solidFill>
              <a:srgbClr val="F2F4F6"/>
            </a:solidFill>
            <a:prstDash val="solid"/>
          </a:ln>
        </p:spPr>
      </p:sp>
      <p:sp>
        <p:nvSpPr>
          <p:cNvPr id="33" name="Text 28"/>
          <p:cNvSpPr txBox="1"/>
          <p:nvPr/>
        </p:nvSpPr>
        <p:spPr>
          <a:xfrm>
            <a:off x="777240" y="4270248"/>
            <a:ext cx="1184910" cy="402336"/>
          </a:xfrm>
          <a:prstGeom prst="rect">
            <a:avLst/>
          </a:prstGeom>
          <a:noFill/>
          <a:ln/>
        </p:spPr>
        <p:txBody>
          <a:bodyPr wrap="square" lIns="0" tIns="0" rIns="0" bIns="0" rtlCol="0" anchor="ctr"/>
          <a:lstStyle/>
          <a:p>
            <a:pPr marL="0" indent="0" algn="ctr">
              <a:buNone/>
            </a:pPr>
            <a:r>
              <a:rPr lang="en-US" sz="1500" b="1" dirty="0">
                <a:solidFill>
                  <a:srgbClr val="6B7684"/>
                </a:solidFill>
                <a:latin typeface="맑은 고딕" pitchFamily="34" charset="0"/>
                <a:ea typeface="맑은 고딕" pitchFamily="34" charset="-122"/>
                <a:cs typeface="맑은 고딕" pitchFamily="34" charset="-120"/>
              </a:rPr>
              <a:t>오늘 철회</a:t>
            </a:r>
            <a:endParaRPr lang="en-US" sz="1500" dirty="0"/>
          </a:p>
        </p:txBody>
      </p:sp>
      <p:pic>
        <p:nvPicPr>
          <p:cNvPr id="34" name="Image 3" descr="MeAI 화면 캡처"/>
          <p:cNvPicPr>
            <a:picLocks noChangeAspect="1"/>
          </p:cNvPicPr>
          <p:nvPr/>
        </p:nvPicPr>
        <p:blipFill>
          <a:blip r:embed="rId6"/>
          <a:stretch>
            <a:fillRect/>
          </a:stretch>
        </p:blipFill>
        <p:spPr>
          <a:xfrm>
            <a:off x="2514600" y="4153105"/>
            <a:ext cx="5394960" cy="636622"/>
          </a:xfrm>
          <a:prstGeom prst="rect">
            <a:avLst/>
          </a:prstGeom>
        </p:spPr>
      </p:pic>
      <p:sp>
        <p:nvSpPr>
          <p:cNvPr id="35" name="Shape 29"/>
          <p:cNvSpPr/>
          <p:nvPr/>
        </p:nvSpPr>
        <p:spPr>
          <a:xfrm>
            <a:off x="5379024" y="4315968"/>
            <a:ext cx="310896" cy="310896"/>
          </a:xfrm>
          <a:prstGeom prst="ellipse">
            <a:avLst/>
          </a:prstGeom>
          <a:solidFill>
            <a:srgbClr val="6B7684"/>
          </a:solidFill>
          <a:ln w="19050">
            <a:solidFill>
              <a:srgbClr val="FFFFFF"/>
            </a:solidFill>
            <a:prstDash val="solid"/>
          </a:ln>
        </p:spPr>
      </p:sp>
      <p:sp>
        <p:nvSpPr>
          <p:cNvPr id="36" name="Text 30"/>
          <p:cNvSpPr txBox="1"/>
          <p:nvPr/>
        </p:nvSpPr>
        <p:spPr>
          <a:xfrm>
            <a:off x="5379024" y="431596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Text 31"/>
          <p:cNvSpPr txBox="1"/>
          <p:nvPr/>
        </p:nvSpPr>
        <p:spPr>
          <a:xfrm>
            <a:off x="8138160" y="4105656"/>
            <a:ext cx="3367735" cy="384048"/>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우회 말고 동의부터</a:t>
            </a:r>
            <a:endParaRPr lang="en-US" sz="1700" dirty="0"/>
          </a:p>
        </p:txBody>
      </p:sp>
      <p:sp>
        <p:nvSpPr>
          <p:cNvPr id="38" name="Text 32"/>
          <p:cNvSpPr txBox="1"/>
          <p:nvPr/>
        </p:nvSpPr>
        <p:spPr>
          <a:xfrm>
            <a:off x="8138160" y="4471416"/>
            <a:ext cx="3367735" cy="411480"/>
          </a:xfrm>
          <a:prstGeom prst="rect">
            <a:avLst/>
          </a:prstGeom>
          <a:noFill/>
          <a:ln/>
        </p:spPr>
        <p:txBody>
          <a:bodyPr wrap="square" lIns="0" tIns="0" rIns="0" bIns="0" rtlCol="0" anchor="t"/>
          <a:lstStyle/>
          <a:p>
            <a:pPr marL="0" indent="0">
              <a:buNone/>
            </a:pPr>
            <a:r>
              <a:rPr lang="en-US" sz="1350" dirty="0">
                <a:solidFill>
                  <a:srgbClr val="6B7684"/>
                </a:solidFill>
                <a:latin typeface="맑은 고딕" pitchFamily="34" charset="0"/>
                <a:ea typeface="맑은 고딕" pitchFamily="34" charset="-122"/>
                <a:cs typeface="맑은 고딕" pitchFamily="34" charset="-120"/>
              </a:rPr>
              <a:t>회색 · 정보를 볼 수 없</a:t>
            </a:r>
            <a:r>
              <a:rPr lang="ko-KR" altLang="en-US" sz="1350" dirty="0">
                <a:solidFill>
                  <a:srgbClr val="6B7684"/>
                </a:solidFill>
                <a:latin typeface="맑은 고딕" pitchFamily="34" charset="0"/>
                <a:ea typeface="맑은 고딕" pitchFamily="34" charset="-122"/>
                <a:cs typeface="맑은 고딕" pitchFamily="34" charset="-120"/>
              </a:rPr>
              <a:t>음</a:t>
            </a:r>
            <a:endParaRPr lang="en-US" sz="1350" dirty="0"/>
          </a:p>
        </p:txBody>
      </p:sp>
      <p:sp>
        <p:nvSpPr>
          <p:cNvPr id="39" name="Text 33"/>
          <p:cNvSpPr txBox="1"/>
          <p:nvPr/>
        </p:nvSpPr>
        <p:spPr>
          <a:xfrm>
            <a:off x="548640" y="5029200"/>
            <a:ext cx="11094415" cy="274320"/>
          </a:xfrm>
          <a:prstGeom prst="rect">
            <a:avLst/>
          </a:prstGeom>
          <a:noFill/>
          <a:ln/>
        </p:spPr>
        <p:txBody>
          <a:bodyPr wrap="square" lIns="0" tIns="0" rIns="0" bIns="0" rtlCol="0" anchor="ctr"/>
          <a:lstStyle/>
          <a:p>
            <a:pPr marL="0" indent="0">
              <a:buNone/>
            </a:pPr>
            <a:r>
              <a:rPr lang="en-US" sz="1400" dirty="0">
                <a:solidFill>
                  <a:srgbClr val="4E5968"/>
                </a:solidFill>
                <a:latin typeface="맑은 고딕" pitchFamily="34" charset="0"/>
                <a:ea typeface="맑은 고딕" pitchFamily="34" charset="-122"/>
                <a:cs typeface="맑은 고딕" pitchFamily="34" charset="-120"/>
              </a:rPr>
              <a:t>동의하면 15분 </a:t>
            </a:r>
            <a:r>
              <a:rPr lang="en-US" sz="1400" dirty="0" err="1">
                <a:solidFill>
                  <a:srgbClr val="4E5968"/>
                </a:solidFill>
                <a:latin typeface="맑은 고딕" pitchFamily="34" charset="0"/>
                <a:ea typeface="맑은 고딕" pitchFamily="34" charset="-122"/>
                <a:cs typeface="맑은 고딕" pitchFamily="34" charset="-120"/>
              </a:rPr>
              <a:t>안팎</a:t>
            </a:r>
            <a:r>
              <a:rPr lang="ko-KR" altLang="en-US" sz="1400" dirty="0">
                <a:solidFill>
                  <a:srgbClr val="4E5968"/>
                </a:solidFill>
                <a:latin typeface="맑은 고딕" pitchFamily="34" charset="0"/>
                <a:ea typeface="맑은 고딕" pitchFamily="34" charset="-122"/>
                <a:cs typeface="맑은 고딕" pitchFamily="34" charset="-120"/>
              </a:rPr>
              <a:t>으로</a:t>
            </a:r>
            <a:r>
              <a:rPr lang="en-US" sz="1400" dirty="0">
                <a:solidFill>
                  <a:srgbClr val="4E5968"/>
                </a:solidFill>
                <a:latin typeface="맑은 고딕" pitchFamily="34" charset="0"/>
                <a:ea typeface="맑은 고딕" pitchFamily="34" charset="-122"/>
                <a:cs typeface="맑은 고딕" pitchFamily="34" charset="-120"/>
              </a:rPr>
              <a:t> </a:t>
            </a:r>
            <a:r>
              <a:rPr lang="en-US" sz="1400" dirty="0" err="1">
                <a:solidFill>
                  <a:srgbClr val="4E5968"/>
                </a:solidFill>
                <a:latin typeface="맑은 고딕" pitchFamily="34" charset="0"/>
                <a:ea typeface="맑은 고딕" pitchFamily="34" charset="-122"/>
                <a:cs typeface="맑은 고딕" pitchFamily="34" charset="-120"/>
              </a:rPr>
              <a:t>반영</a:t>
            </a:r>
            <a:r>
              <a:rPr lang="en-US" sz="1400" dirty="0">
                <a:solidFill>
                  <a:srgbClr val="4E5968"/>
                </a:solidFill>
                <a:latin typeface="맑은 고딕" pitchFamily="34" charset="0"/>
                <a:ea typeface="맑은 고딕" pitchFamily="34" charset="-122"/>
                <a:cs typeface="맑은 고딕" pitchFamily="34" charset="-120"/>
              </a:rPr>
              <a:t> · MeAI 홈 [고객 동의]</a:t>
            </a:r>
            <a:r>
              <a:rPr lang="en-US" sz="1400" dirty="0" err="1">
                <a:solidFill>
                  <a:srgbClr val="4E5968"/>
                </a:solidFill>
                <a:latin typeface="맑은 고딕" pitchFamily="34" charset="0"/>
                <a:ea typeface="맑은 고딕" pitchFamily="34" charset="-122"/>
                <a:cs typeface="맑은 고딕" pitchFamily="34" charset="-120"/>
              </a:rPr>
              <a:t>에서도</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사전조회동의 발송 가능</a:t>
            </a:r>
            <a:endParaRPr lang="en-US" sz="1400" dirty="0"/>
          </a:p>
        </p:txBody>
      </p:sp>
      <p:sp>
        <p:nvSpPr>
          <p:cNvPr id="40" name="Shape 34"/>
          <p:cNvSpPr/>
          <p:nvPr/>
        </p:nvSpPr>
        <p:spPr>
          <a:xfrm>
            <a:off x="548640" y="5394960"/>
            <a:ext cx="11094415" cy="658368"/>
          </a:xfrm>
          <a:prstGeom prst="roundRect">
            <a:avLst>
              <a:gd name="adj" fmla="val 19444"/>
            </a:avLst>
          </a:prstGeom>
          <a:solidFill>
            <a:srgbClr val="191F28"/>
          </a:solidFill>
          <a:ln w="12700">
            <a:solidFill>
              <a:srgbClr val="191F28"/>
            </a:solidFill>
            <a:prstDash val="solid"/>
          </a:ln>
        </p:spPr>
      </p:sp>
      <p:sp>
        <p:nvSpPr>
          <p:cNvPr id="41" name="Text 35"/>
          <p:cNvSpPr txBox="1"/>
          <p:nvPr/>
        </p:nvSpPr>
        <p:spPr>
          <a:xfrm>
            <a:off x="868680" y="5394960"/>
            <a:ext cx="10454335" cy="658368"/>
          </a:xfrm>
          <a:prstGeom prst="rect">
            <a:avLst/>
          </a:prstGeom>
          <a:noFill/>
          <a:ln/>
        </p:spPr>
        <p:txBody>
          <a:bodyPr wrap="square" lIns="0" tIns="0" rIns="0" bIns="0" rtlCol="0" anchor="ctr"/>
          <a:lstStyle/>
          <a:p>
            <a:pPr marL="0" indent="0">
              <a:buNone/>
            </a:pPr>
            <a:r>
              <a:rPr lang="en-US" sz="1650" b="1" dirty="0">
                <a:solidFill>
                  <a:srgbClr val="C9E2FF"/>
                </a:solidFill>
                <a:latin typeface="맑은 고딕" pitchFamily="34" charset="0"/>
                <a:ea typeface="맑은 고딕" pitchFamily="34" charset="-122"/>
                <a:cs typeface="맑은 고딕" pitchFamily="34" charset="-120"/>
              </a:rPr>
              <a:t>전화 한 마디   </a:t>
            </a:r>
            <a:r>
              <a:rPr lang="en-US" sz="1650" b="1" dirty="0">
                <a:solidFill>
                  <a:srgbClr val="FFFFFF"/>
                </a:solidFill>
                <a:latin typeface="맑은 고딕" pitchFamily="34" charset="0"/>
                <a:ea typeface="맑은 고딕" pitchFamily="34" charset="-122"/>
                <a:cs typeface="맑은 고딕" pitchFamily="34" charset="-120"/>
              </a:rPr>
              <a:t>“보장을 정확히 보고 말씀드리려면 동의가 필요해요. 알림톡으로 금방 끝나요.”</a:t>
            </a:r>
            <a:endParaRPr lang="en-US" sz="1650" dirty="0"/>
          </a:p>
        </p:txBody>
      </p:sp>
      <p:sp>
        <p:nvSpPr>
          <p:cNvPr id="43" name="Text 37"/>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4" name="Text 38"/>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MeAI 활용 방법</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MeAI 홈에서 누르기만 </a:t>
            </a:r>
            <a:r>
              <a:rPr lang="en-US" sz="3400" b="1" dirty="0" err="1">
                <a:solidFill>
                  <a:srgbClr val="191F28"/>
                </a:solidFill>
                <a:latin typeface="맑은 고딕" pitchFamily="34" charset="0"/>
                <a:ea typeface="맑은 고딕" pitchFamily="34" charset="-122"/>
                <a:cs typeface="맑은 고딕" pitchFamily="34" charset="-120"/>
              </a:rPr>
              <a:t>하면</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MeAI</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a:t>
            </a:r>
            <a:r>
              <a:rPr lang="en-US" sz="1700" dirty="0" err="1">
                <a:solidFill>
                  <a:srgbClr val="6B7684"/>
                </a:solidFill>
                <a:latin typeface="맑은 고딕" pitchFamily="34" charset="0"/>
                <a:ea typeface="맑은 고딕" pitchFamily="34" charset="-122"/>
                <a:cs typeface="맑은 고딕" pitchFamily="34" charset="-120"/>
              </a:rPr>
              <a:t>MeAI</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즉시 대화 </a:t>
            </a:r>
            <a:r>
              <a:rPr lang="en-US" altLang="ko-KR" sz="1700" dirty="0">
                <a:solidFill>
                  <a:srgbClr val="6B7684"/>
                </a:solidFill>
                <a:latin typeface="맑은 고딕" pitchFamily="34" charset="0"/>
                <a:ea typeface="맑은 고딕" pitchFamily="34" charset="-122"/>
                <a:cs typeface="맑은 고딕" pitchFamily="34" charset="-120"/>
              </a:rPr>
              <a:t>=</a:t>
            </a:r>
            <a:r>
              <a:rPr lang="en-US" sz="1700" dirty="0">
                <a:solidFill>
                  <a:srgbClr val="6B7684"/>
                </a:solidFill>
                <a:latin typeface="맑은 고딕" pitchFamily="34" charset="0"/>
                <a:ea typeface="맑은 고딕" pitchFamily="34" charset="-122"/>
                <a:cs typeface="맑은 고딕" pitchFamily="34" charset="-120"/>
              </a:rPr>
              <a:t> 흰 카드, 검은 카드, 추천 카드</a:t>
            </a:r>
            <a:endParaRPr lang="en-US" sz="1700" dirty="0"/>
          </a:p>
        </p:txBody>
      </p:sp>
      <p:sp>
        <p:nvSpPr>
          <p:cNvPr id="13" name="Shape 11"/>
          <p:cNvSpPr/>
          <p:nvPr/>
        </p:nvSpPr>
        <p:spPr>
          <a:xfrm>
            <a:off x="548640" y="1965960"/>
            <a:ext cx="5760720" cy="1288582"/>
          </a:xfrm>
          <a:prstGeom prst="roundRect">
            <a:avLst>
              <a:gd name="adj" fmla="val 894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65960"/>
            <a:ext cx="5760720" cy="1288582"/>
          </a:xfrm>
          <a:prstGeom prst="rect">
            <a:avLst/>
          </a:prstGeom>
        </p:spPr>
      </p:pic>
      <p:sp>
        <p:nvSpPr>
          <p:cNvPr id="15" name="Shape 12"/>
          <p:cNvSpPr/>
          <p:nvPr/>
        </p:nvSpPr>
        <p:spPr>
          <a:xfrm>
            <a:off x="589066" y="2536979"/>
            <a:ext cx="2809614" cy="687244"/>
          </a:xfrm>
          <a:prstGeom prst="roundRect">
            <a:avLst>
              <a:gd name="adj" fmla="val 10644"/>
            </a:avLst>
          </a:prstGeom>
          <a:ln w="25400">
            <a:solidFill>
              <a:srgbClr val="3182F6"/>
            </a:solidFill>
            <a:prstDash val="solid"/>
          </a:ln>
        </p:spPr>
      </p:sp>
      <p:sp>
        <p:nvSpPr>
          <p:cNvPr id="16" name="Shape 13"/>
          <p:cNvSpPr/>
          <p:nvPr/>
        </p:nvSpPr>
        <p:spPr>
          <a:xfrm>
            <a:off x="3459320" y="2536979"/>
            <a:ext cx="2809614" cy="687244"/>
          </a:xfrm>
          <a:prstGeom prst="roundRect">
            <a:avLst>
              <a:gd name="adj" fmla="val 10644"/>
            </a:avLst>
          </a:prstGeom>
          <a:ln w="25400">
            <a:solidFill>
              <a:srgbClr val="3182F6"/>
            </a:solidFill>
            <a:prstDash val="solid"/>
          </a:ln>
        </p:spPr>
      </p:sp>
      <p:sp>
        <p:nvSpPr>
          <p:cNvPr id="17" name="Shape 14"/>
          <p:cNvSpPr/>
          <p:nvPr/>
        </p:nvSpPr>
        <p:spPr>
          <a:xfrm>
            <a:off x="565003" y="2406797"/>
            <a:ext cx="310896" cy="310896"/>
          </a:xfrm>
          <a:prstGeom prst="ellipse">
            <a:avLst/>
          </a:prstGeom>
          <a:solidFill>
            <a:srgbClr val="3182F6"/>
          </a:solidFill>
          <a:ln w="19050">
            <a:solidFill>
              <a:srgbClr val="FFFFFF"/>
            </a:solidFill>
            <a:prstDash val="solid"/>
          </a:ln>
        </p:spPr>
      </p:sp>
      <p:sp>
        <p:nvSpPr>
          <p:cNvPr id="18" name="Text 15"/>
          <p:cNvSpPr txBox="1"/>
          <p:nvPr/>
        </p:nvSpPr>
        <p:spPr>
          <a:xfrm>
            <a:off x="565003"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3455469" y="2406797"/>
            <a:ext cx="310896" cy="310896"/>
          </a:xfrm>
          <a:prstGeom prst="ellipse">
            <a:avLst/>
          </a:prstGeom>
          <a:solidFill>
            <a:srgbClr val="3182F6"/>
          </a:solidFill>
          <a:ln w="19050">
            <a:solidFill>
              <a:srgbClr val="FFFFFF"/>
            </a:solidFill>
            <a:prstDash val="solid"/>
          </a:ln>
        </p:spPr>
      </p:sp>
      <p:sp>
        <p:nvSpPr>
          <p:cNvPr id="20" name="Text 17"/>
          <p:cNvSpPr txBox="1"/>
          <p:nvPr/>
        </p:nvSpPr>
        <p:spPr>
          <a:xfrm>
            <a:off x="3455469" y="240679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548640" y="3400846"/>
            <a:ext cx="5760720" cy="896112"/>
          </a:xfrm>
          <a:prstGeom prst="roundRect">
            <a:avLst>
              <a:gd name="adj" fmla="val 14286"/>
            </a:avLst>
          </a:prstGeom>
          <a:solidFill>
            <a:srgbClr val="E8F3FF"/>
          </a:solidFill>
          <a:ln w="12700">
            <a:solidFill>
              <a:srgbClr val="E8F3FF"/>
            </a:solidFill>
            <a:prstDash val="solid"/>
          </a:ln>
        </p:spPr>
      </p:sp>
      <p:sp>
        <p:nvSpPr>
          <p:cNvPr id="22" name="Text 19"/>
          <p:cNvSpPr txBox="1"/>
          <p:nvPr/>
        </p:nvSpPr>
        <p:spPr>
          <a:xfrm>
            <a:off x="777240" y="3492286"/>
            <a:ext cx="137160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화면 문구</a:t>
            </a:r>
            <a:endParaRPr lang="en-US" sz="1250" dirty="0"/>
          </a:p>
        </p:txBody>
      </p:sp>
      <p:sp>
        <p:nvSpPr>
          <p:cNvPr id="23" name="Text 20"/>
          <p:cNvSpPr txBox="1"/>
          <p:nvPr/>
        </p:nvSpPr>
        <p:spPr>
          <a:xfrm>
            <a:off x="777240" y="3748318"/>
            <a:ext cx="5394960" cy="512064"/>
          </a:xfrm>
          <a:prstGeom prst="rect">
            <a:avLst/>
          </a:prstGeom>
          <a:noFill/>
          <a:ln/>
        </p:spPr>
        <p:txBody>
          <a:bodyPr wrap="square" lIns="0" tIns="0" rIns="0" bIns="0" rtlCol="0" anchor="t"/>
          <a:lstStyle/>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“어떤 대화를 시작할지만 고르면,</a:t>
            </a:r>
            <a:endParaRPr lang="en-US" sz="1500" dirty="0"/>
          </a:p>
          <a:p>
            <a:pPr marL="0" indent="0">
              <a:lnSpc>
                <a:spcPct val="100000"/>
              </a:lnSpc>
              <a:buNone/>
            </a:pPr>
            <a:r>
              <a:rPr lang="en-US" sz="1500" b="1" dirty="0">
                <a:solidFill>
                  <a:srgbClr val="191F28"/>
                </a:solidFill>
                <a:latin typeface="맑은 고딕" pitchFamily="34" charset="0"/>
                <a:ea typeface="맑은 고딕" pitchFamily="34" charset="-122"/>
                <a:cs typeface="맑은 고딕" pitchFamily="34" charset="-120"/>
              </a:rPr>
              <a:t>나머지는 MeAI가 준비합니다.”</a:t>
            </a:r>
            <a:endParaRPr lang="en-US" sz="1500" dirty="0"/>
          </a:p>
        </p:txBody>
      </p:sp>
      <p:sp>
        <p:nvSpPr>
          <p:cNvPr id="24" name="Shape 21"/>
          <p:cNvSpPr/>
          <p:nvPr/>
        </p:nvSpPr>
        <p:spPr>
          <a:xfrm>
            <a:off x="548640" y="4388398"/>
            <a:ext cx="5760720" cy="749808"/>
          </a:xfrm>
          <a:prstGeom prst="roundRect">
            <a:avLst>
              <a:gd name="adj" fmla="val 17073"/>
            </a:avLst>
          </a:prstGeom>
          <a:solidFill>
            <a:srgbClr val="FFFFFF"/>
          </a:solidFill>
          <a:ln w="9525">
            <a:solidFill>
              <a:srgbClr val="E5E8EB"/>
            </a:solidFill>
            <a:prstDash val="solid"/>
          </a:ln>
        </p:spPr>
      </p:sp>
      <p:pic>
        <p:nvPicPr>
          <p:cNvPr id="25" name="Image 1" descr="MeAI 화면 캡처"/>
          <p:cNvPicPr>
            <a:picLocks noChangeAspect="1"/>
          </p:cNvPicPr>
          <p:nvPr/>
        </p:nvPicPr>
        <p:blipFill>
          <a:blip r:embed="rId4"/>
          <a:stretch>
            <a:fillRect/>
          </a:stretch>
        </p:blipFill>
        <p:spPr>
          <a:xfrm>
            <a:off x="777240" y="4552990"/>
            <a:ext cx="1168400" cy="420624"/>
          </a:xfrm>
          <a:prstGeom prst="rect">
            <a:avLst/>
          </a:prstGeom>
        </p:spPr>
      </p:pic>
      <p:sp>
        <p:nvSpPr>
          <p:cNvPr id="26" name="Text 22"/>
          <p:cNvSpPr txBox="1"/>
          <p:nvPr/>
        </p:nvSpPr>
        <p:spPr>
          <a:xfrm>
            <a:off x="2148840" y="4461550"/>
            <a:ext cx="3931920" cy="274320"/>
          </a:xfrm>
          <a:prstGeom prst="rect">
            <a:avLst/>
          </a:prstGeom>
          <a:noFill/>
          <a:ln/>
        </p:spPr>
        <p:txBody>
          <a:bodyPr wrap="square" lIns="0" tIns="0" rIns="0" bIns="0" rtlCol="0" anchor="ctr"/>
          <a:lstStyle/>
          <a:p>
            <a:pPr marL="0" indent="0">
              <a:buNone/>
            </a:pPr>
            <a:r>
              <a:rPr lang="en-US" sz="1350" b="1" dirty="0">
                <a:solidFill>
                  <a:srgbClr val="191F28"/>
                </a:solidFill>
                <a:latin typeface="맑은 고딕" pitchFamily="34" charset="0"/>
                <a:ea typeface="맑은 고딕" pitchFamily="34" charset="-122"/>
                <a:cs typeface="맑은 고딕" pitchFamily="34" charset="-120"/>
              </a:rPr>
              <a:t>길을 잃으면</a:t>
            </a:r>
            <a:endParaRPr lang="en-US" sz="1350" dirty="0"/>
          </a:p>
        </p:txBody>
      </p:sp>
      <p:sp>
        <p:nvSpPr>
          <p:cNvPr id="27" name="Text 23"/>
          <p:cNvSpPr txBox="1"/>
          <p:nvPr/>
        </p:nvSpPr>
        <p:spPr>
          <a:xfrm>
            <a:off x="2148840" y="4754158"/>
            <a:ext cx="4023360" cy="329184"/>
          </a:xfrm>
          <a:prstGeom prst="rect">
            <a:avLst/>
          </a:prstGeom>
          <a:noFill/>
          <a:ln/>
        </p:spPr>
        <p:txBody>
          <a:bodyPr wrap="square" lIns="0" tIns="0" rIns="0" bIns="0" rtlCol="0" anchor="t"/>
          <a:lstStyle/>
          <a:p>
            <a:pPr marL="0" indent="0">
              <a:buNone/>
            </a:pPr>
            <a:r>
              <a:rPr lang="en-US" sz="1300" dirty="0">
                <a:solidFill>
                  <a:srgbClr val="4E5968"/>
                </a:solidFill>
                <a:latin typeface="맑은 고딕" pitchFamily="34" charset="0"/>
                <a:ea typeface="맑은 고딕" pitchFamily="34" charset="-122"/>
                <a:cs typeface="맑은 고딕" pitchFamily="34" charset="-120"/>
              </a:rPr>
              <a:t>어느 화면이든 왼쪽 위 [MeAI 홈]을 누르면 처음으로</a:t>
            </a:r>
            <a:endParaRPr lang="en-US" sz="1300" dirty="0"/>
          </a:p>
        </p:txBody>
      </p:sp>
      <p:sp>
        <p:nvSpPr>
          <p:cNvPr id="28" name="Text 24"/>
          <p:cNvSpPr txBox="1"/>
          <p:nvPr/>
        </p:nvSpPr>
        <p:spPr>
          <a:xfrm>
            <a:off x="548640" y="5174782"/>
            <a:ext cx="5760720" cy="274320"/>
          </a:xfrm>
          <a:prstGeom prst="rect">
            <a:avLst/>
          </a:prstGeom>
          <a:noFill/>
          <a:ln/>
        </p:spPr>
        <p:txBody>
          <a:bodyPr wrap="square" lIns="0" tIns="0" rIns="0" bIns="0" rtlCol="0" anchor="ctr"/>
          <a:lstStyle/>
          <a:p>
            <a:pPr marL="0" indent="0" algn="l">
              <a:buNone/>
            </a:pPr>
            <a:r>
              <a:rPr lang="en-US" sz="1200" dirty="0">
                <a:solidFill>
                  <a:srgbClr val="6B7684"/>
                </a:solidFill>
                <a:latin typeface="맑은 고딕" pitchFamily="34" charset="0"/>
                <a:ea typeface="맑은 고딕" pitchFamily="34" charset="-122"/>
                <a:cs typeface="맑은 고딕" pitchFamily="34" charset="-120"/>
              </a:rPr>
              <a:t>※ 화면의 이름·숫자는 예시 · 확정 화면</a:t>
            </a:r>
            <a:endParaRPr lang="en-US" sz="1200" dirty="0"/>
          </a:p>
        </p:txBody>
      </p:sp>
      <p:sp>
        <p:nvSpPr>
          <p:cNvPr id="29" name="Shape 25"/>
          <p:cNvSpPr/>
          <p:nvPr/>
        </p:nvSpPr>
        <p:spPr>
          <a:xfrm>
            <a:off x="6537960" y="1965960"/>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0" name="Shape 26"/>
          <p:cNvSpPr/>
          <p:nvPr/>
        </p:nvSpPr>
        <p:spPr>
          <a:xfrm>
            <a:off x="10225735" y="2114550"/>
            <a:ext cx="1280160" cy="80010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1" name="Image 2" descr="MeAI 화면 캡처"/>
          <p:cNvPicPr>
            <a:picLocks noChangeAspect="1"/>
          </p:cNvPicPr>
          <p:nvPr/>
        </p:nvPicPr>
        <p:blipFill>
          <a:blip r:embed="rId5"/>
          <a:stretch>
            <a:fillRect/>
          </a:stretch>
        </p:blipFill>
        <p:spPr>
          <a:xfrm>
            <a:off x="10225735" y="2114550"/>
            <a:ext cx="1280160" cy="800100"/>
          </a:xfrm>
          <a:prstGeom prst="rect">
            <a:avLst/>
          </a:prstGeom>
        </p:spPr>
      </p:pic>
      <p:sp>
        <p:nvSpPr>
          <p:cNvPr id="32" name="Shape 27"/>
          <p:cNvSpPr/>
          <p:nvPr/>
        </p:nvSpPr>
        <p:spPr>
          <a:xfrm>
            <a:off x="6684264" y="2066544"/>
            <a:ext cx="365760" cy="365760"/>
          </a:xfrm>
          <a:prstGeom prst="ellipse">
            <a:avLst/>
          </a:prstGeom>
          <a:solidFill>
            <a:srgbClr val="3182F6"/>
          </a:solidFill>
          <a:ln w="19050">
            <a:solidFill>
              <a:srgbClr val="FFFFFF"/>
            </a:solidFill>
            <a:prstDash val="solid"/>
          </a:ln>
        </p:spPr>
      </p:sp>
      <p:sp>
        <p:nvSpPr>
          <p:cNvPr id="33" name="Text 28"/>
          <p:cNvSpPr txBox="1"/>
          <p:nvPr/>
        </p:nvSpPr>
        <p:spPr>
          <a:xfrm>
            <a:off x="6684264" y="20665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34" name="Text 29"/>
          <p:cNvSpPr txBox="1"/>
          <p:nvPr/>
        </p:nvSpPr>
        <p:spPr>
          <a:xfrm>
            <a:off x="7141464" y="2039112"/>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일반대화</a:t>
            </a:r>
            <a:endParaRPr lang="en-US" sz="1550" dirty="0"/>
          </a:p>
        </p:txBody>
      </p:sp>
      <p:sp>
        <p:nvSpPr>
          <p:cNvPr id="35" name="Text 30"/>
          <p:cNvSpPr txBox="1"/>
          <p:nvPr/>
        </p:nvSpPr>
        <p:spPr>
          <a:xfrm>
            <a:off x="7141464" y="2350008"/>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[일반대화] 카드</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질문 예시 누르기</a:t>
            </a:r>
            <a:endParaRPr lang="en-US" sz="1250" dirty="0"/>
          </a:p>
        </p:txBody>
      </p:sp>
      <p:sp>
        <p:nvSpPr>
          <p:cNvPr id="36" name="Text 31"/>
          <p:cNvSpPr txBox="1"/>
          <p:nvPr/>
        </p:nvSpPr>
        <p:spPr>
          <a:xfrm>
            <a:off x="7141464" y="2834640"/>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무엇이든 물어요 · 바로 시작돼요</a:t>
            </a:r>
            <a:endParaRPr lang="en-US" sz="1150" dirty="0"/>
          </a:p>
        </p:txBody>
      </p:sp>
      <p:sp>
        <p:nvSpPr>
          <p:cNvPr id="37" name="Shape 32"/>
          <p:cNvSpPr/>
          <p:nvPr/>
        </p:nvSpPr>
        <p:spPr>
          <a:xfrm>
            <a:off x="6537960" y="3127248"/>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8" name="Shape 33"/>
          <p:cNvSpPr/>
          <p:nvPr/>
        </p:nvSpPr>
        <p:spPr>
          <a:xfrm>
            <a:off x="10232067" y="3241548"/>
            <a:ext cx="1273828" cy="868680"/>
          </a:xfrm>
          <a:prstGeom prst="roundRect">
            <a:avLst>
              <a:gd name="adj" fmla="val 29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39" name="Image 3" descr="MeAI 화면 캡처"/>
          <p:cNvPicPr>
            <a:picLocks noChangeAspect="1"/>
          </p:cNvPicPr>
          <p:nvPr/>
        </p:nvPicPr>
        <p:blipFill>
          <a:blip r:embed="rId6"/>
          <a:stretch>
            <a:fillRect/>
          </a:stretch>
        </p:blipFill>
        <p:spPr>
          <a:xfrm>
            <a:off x="10232067" y="3241548"/>
            <a:ext cx="1273828" cy="868680"/>
          </a:xfrm>
          <a:prstGeom prst="rect">
            <a:avLst/>
          </a:prstGeom>
        </p:spPr>
      </p:pic>
      <p:sp>
        <p:nvSpPr>
          <p:cNvPr id="40" name="Shape 34"/>
          <p:cNvSpPr/>
          <p:nvPr/>
        </p:nvSpPr>
        <p:spPr>
          <a:xfrm>
            <a:off x="6684264" y="3227832"/>
            <a:ext cx="365760" cy="365760"/>
          </a:xfrm>
          <a:prstGeom prst="ellipse">
            <a:avLst/>
          </a:prstGeom>
          <a:solidFill>
            <a:srgbClr val="3182F6"/>
          </a:solidFill>
          <a:ln w="19050">
            <a:solidFill>
              <a:srgbClr val="FFFFFF"/>
            </a:solidFill>
            <a:prstDash val="solid"/>
          </a:ln>
        </p:spPr>
      </p:sp>
      <p:sp>
        <p:nvSpPr>
          <p:cNvPr id="41" name="Text 35"/>
          <p:cNvSpPr txBox="1"/>
          <p:nvPr/>
        </p:nvSpPr>
        <p:spPr>
          <a:xfrm>
            <a:off x="6684264" y="32278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2" name="Text 36"/>
          <p:cNvSpPr txBox="1"/>
          <p:nvPr/>
        </p:nvSpPr>
        <p:spPr>
          <a:xfrm>
            <a:off x="7141464" y="3200400"/>
            <a:ext cx="2953443"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맞춤대화</a:t>
            </a:r>
            <a:endParaRPr lang="en-US" sz="1550" dirty="0"/>
          </a:p>
        </p:txBody>
      </p:sp>
      <p:sp>
        <p:nvSpPr>
          <p:cNvPr id="43" name="Text 37"/>
          <p:cNvSpPr txBox="1"/>
          <p:nvPr/>
        </p:nvSpPr>
        <p:spPr>
          <a:xfrm>
            <a:off x="7141464" y="3511296"/>
            <a:ext cx="2953443"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[맞춤대화] 카드 → 이름 한 글자</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[맞춤대화]</a:t>
            </a:r>
            <a:endParaRPr lang="en-US" sz="1250" dirty="0"/>
          </a:p>
        </p:txBody>
      </p:sp>
      <p:sp>
        <p:nvSpPr>
          <p:cNvPr id="44" name="Text 38"/>
          <p:cNvSpPr txBox="1"/>
          <p:nvPr/>
        </p:nvSpPr>
        <p:spPr>
          <a:xfrm>
            <a:off x="7141464" y="3995928"/>
            <a:ext cx="2953443"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고객 한 명의 보장 내역으로 답해요</a:t>
            </a:r>
            <a:endParaRPr lang="en-US" sz="1150" dirty="0"/>
          </a:p>
        </p:txBody>
      </p:sp>
      <p:sp>
        <p:nvSpPr>
          <p:cNvPr id="45" name="Shape 39"/>
          <p:cNvSpPr/>
          <p:nvPr/>
        </p:nvSpPr>
        <p:spPr>
          <a:xfrm>
            <a:off x="6537960" y="4288536"/>
            <a:ext cx="5105095" cy="1097280"/>
          </a:xfrm>
          <a:prstGeom prst="roundRect">
            <a:avLst>
              <a:gd name="adj" fmla="val 11667"/>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46" name="Shape 40"/>
          <p:cNvSpPr/>
          <p:nvPr/>
        </p:nvSpPr>
        <p:spPr>
          <a:xfrm>
            <a:off x="10225735" y="4497856"/>
            <a:ext cx="1280160" cy="678639"/>
          </a:xfrm>
          <a:prstGeom prst="roundRect">
            <a:avLst>
              <a:gd name="adj" fmla="val 377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7" name="Image 4" descr="MeAI 화면 캡처"/>
          <p:cNvPicPr>
            <a:picLocks noChangeAspect="1"/>
          </p:cNvPicPr>
          <p:nvPr/>
        </p:nvPicPr>
        <p:blipFill>
          <a:blip r:embed="rId7"/>
          <a:stretch>
            <a:fillRect/>
          </a:stretch>
        </p:blipFill>
        <p:spPr>
          <a:xfrm>
            <a:off x="10225735" y="4497856"/>
            <a:ext cx="1280160" cy="678639"/>
          </a:xfrm>
          <a:prstGeom prst="rect">
            <a:avLst/>
          </a:prstGeom>
        </p:spPr>
      </p:pic>
      <p:sp>
        <p:nvSpPr>
          <p:cNvPr id="48" name="Shape 41"/>
          <p:cNvSpPr/>
          <p:nvPr/>
        </p:nvSpPr>
        <p:spPr>
          <a:xfrm>
            <a:off x="6684264" y="4389120"/>
            <a:ext cx="365760" cy="365760"/>
          </a:xfrm>
          <a:prstGeom prst="ellipse">
            <a:avLst/>
          </a:prstGeom>
          <a:solidFill>
            <a:srgbClr val="3182F6"/>
          </a:solidFill>
          <a:ln w="19050">
            <a:solidFill>
              <a:srgbClr val="FFFFFF"/>
            </a:solidFill>
            <a:prstDash val="solid"/>
          </a:ln>
        </p:spPr>
      </p:sp>
      <p:sp>
        <p:nvSpPr>
          <p:cNvPr id="49" name="Text 42"/>
          <p:cNvSpPr txBox="1"/>
          <p:nvPr/>
        </p:nvSpPr>
        <p:spPr>
          <a:xfrm>
            <a:off x="6684264" y="43891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50" name="Text 43"/>
          <p:cNvSpPr txBox="1"/>
          <p:nvPr/>
        </p:nvSpPr>
        <p:spPr>
          <a:xfrm>
            <a:off x="7141464" y="4361688"/>
            <a:ext cx="2947111" cy="310896"/>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추천 카드에서</a:t>
            </a:r>
            <a:endParaRPr lang="en-US" sz="1550" dirty="0"/>
          </a:p>
        </p:txBody>
      </p:sp>
      <p:sp>
        <p:nvSpPr>
          <p:cNvPr id="51" name="Text 44"/>
          <p:cNvSpPr txBox="1"/>
          <p:nvPr/>
        </p:nvSpPr>
        <p:spPr>
          <a:xfrm>
            <a:off x="7141464" y="4672584"/>
            <a:ext cx="2947111" cy="420624"/>
          </a:xfrm>
          <a:prstGeom prst="rect">
            <a:avLst/>
          </a:prstGeom>
          <a:noFill/>
          <a:ln/>
        </p:spPr>
        <p:txBody>
          <a:bodyPr wrap="square" lIns="0" tIns="0" rIns="0" bIns="0" rtlCol="0" anchor="t"/>
          <a:lstStyle/>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[MeAI 고객찾기에서 열기]</a:t>
            </a:r>
            <a:endParaRPr lang="en-US" sz="1250" dirty="0"/>
          </a:p>
          <a:p>
            <a:pPr marL="0" indent="0">
              <a:lnSpc>
                <a:spcPct val="100000"/>
              </a:lnSpc>
              <a:buNone/>
            </a:pPr>
            <a:r>
              <a:rPr lang="en-US" sz="1250" b="1" dirty="0">
                <a:solidFill>
                  <a:srgbClr val="3182F6"/>
                </a:solidFill>
                <a:latin typeface="맑은 고딕" pitchFamily="34" charset="0"/>
                <a:ea typeface="맑은 고딕" pitchFamily="34" charset="-122"/>
                <a:cs typeface="맑은 고딕" pitchFamily="34" charset="-120"/>
              </a:rPr>
              <a:t>→ 추천 질문 → 전송(↑)</a:t>
            </a:r>
            <a:endParaRPr lang="en-US" sz="1250" dirty="0"/>
          </a:p>
        </p:txBody>
      </p:sp>
      <p:sp>
        <p:nvSpPr>
          <p:cNvPr id="52" name="Text 45"/>
          <p:cNvSpPr txBox="1"/>
          <p:nvPr/>
        </p:nvSpPr>
        <p:spPr>
          <a:xfrm>
            <a:off x="7141464" y="5157216"/>
            <a:ext cx="2947111" cy="201168"/>
          </a:xfrm>
          <a:prstGeom prst="rect">
            <a:avLst/>
          </a:prstGeom>
          <a:noFill/>
          <a:ln/>
        </p:spPr>
        <p:txBody>
          <a:bodyPr wrap="square" lIns="0" tIns="0" rIns="0" bIns="0" rtlCol="0" anchor="ctr"/>
          <a:lstStyle/>
          <a:p>
            <a:pPr marL="0" indent="0">
              <a:buNone/>
            </a:pPr>
            <a:r>
              <a:rPr lang="en-US" sz="1150" dirty="0">
                <a:solidFill>
                  <a:srgbClr val="6B7684"/>
                </a:solidFill>
                <a:latin typeface="맑은 고딕" pitchFamily="34" charset="0"/>
                <a:ea typeface="맑은 고딕" pitchFamily="34" charset="-122"/>
                <a:cs typeface="맑은 고딕" pitchFamily="34" charset="-120"/>
              </a:rPr>
              <a:t>질문이 채워진 채로 열려요</a:t>
            </a:r>
            <a:endParaRPr lang="en-US" sz="1150" dirty="0"/>
          </a:p>
        </p:txBody>
      </p:sp>
      <p:sp>
        <p:nvSpPr>
          <p:cNvPr id="53" name="Shape 46"/>
          <p:cNvSpPr/>
          <p:nvPr/>
        </p:nvSpPr>
        <p:spPr>
          <a:xfrm>
            <a:off x="548640" y="5532120"/>
            <a:ext cx="11094415" cy="658368"/>
          </a:xfrm>
          <a:prstGeom prst="roundRect">
            <a:avLst>
              <a:gd name="adj" fmla="val 19444"/>
            </a:avLst>
          </a:prstGeom>
          <a:solidFill>
            <a:srgbClr val="191F28"/>
          </a:solidFill>
          <a:ln w="12700">
            <a:solidFill>
              <a:srgbClr val="191F28"/>
            </a:solidFill>
            <a:prstDash val="solid"/>
          </a:ln>
        </p:spPr>
      </p:sp>
      <p:sp>
        <p:nvSpPr>
          <p:cNvPr id="54" name="Text 47"/>
          <p:cNvSpPr txBox="1"/>
          <p:nvPr/>
        </p:nvSpPr>
        <p:spPr>
          <a:xfrm>
            <a:off x="868680" y="5532120"/>
            <a:ext cx="10454335" cy="658368"/>
          </a:xfrm>
          <a:prstGeom prst="rect">
            <a:avLst/>
          </a:prstGeom>
          <a:noFill/>
          <a:ln/>
        </p:spPr>
        <p:txBody>
          <a:bodyPr wrap="square" lIns="0" tIns="0" rIns="0" bIns="0" rtlCol="0" anchor="ctr"/>
          <a:lstStyle/>
          <a:p>
            <a:pPr marL="0" indent="0">
              <a:buNone/>
            </a:pPr>
            <a:r>
              <a:rPr lang="en-US" sz="1800" b="1" dirty="0">
                <a:solidFill>
                  <a:srgbClr val="C9E2FF"/>
                </a:solidFill>
                <a:latin typeface="맑은 고딕" pitchFamily="34" charset="0"/>
                <a:ea typeface="맑은 고딕" pitchFamily="34" charset="-122"/>
                <a:cs typeface="맑은 고딕" pitchFamily="34" charset="-120"/>
              </a:rPr>
              <a:t>기억할 것   </a:t>
            </a:r>
            <a:r>
              <a:rPr lang="en-US" sz="1800" b="1" dirty="0">
                <a:solidFill>
                  <a:srgbClr val="FFFFFF"/>
                </a:solidFill>
                <a:latin typeface="맑은 고딕" pitchFamily="34" charset="0"/>
                <a:ea typeface="맑은 고딕" pitchFamily="34" charset="-122"/>
                <a:cs typeface="맑은 고딕" pitchFamily="34" charset="-120"/>
              </a:rPr>
              <a:t>누르고 → 고르고 → 보내기. 클릭만으로 </a:t>
            </a:r>
            <a:r>
              <a:rPr lang="en-US" sz="1800" b="1" dirty="0" err="1">
                <a:solidFill>
                  <a:srgbClr val="FFFFFF"/>
                </a:solidFill>
                <a:latin typeface="맑은 고딕" pitchFamily="34" charset="0"/>
                <a:ea typeface="맑은 고딕" pitchFamily="34" charset="-122"/>
                <a:cs typeface="맑은 고딕" pitchFamily="34" charset="-120"/>
              </a:rPr>
              <a:t>편하게</a:t>
            </a:r>
            <a:r>
              <a:rPr lang="en-US" sz="1800" b="1" dirty="0">
                <a:solidFill>
                  <a:srgbClr val="FFFFFF"/>
                </a:solidFill>
                <a:latin typeface="맑은 고딕" pitchFamily="34" charset="0"/>
                <a:ea typeface="맑은 고딕" pitchFamily="34" charset="-122"/>
                <a:cs typeface="맑은 고딕" pitchFamily="34" charset="-120"/>
              </a:rPr>
              <a:t> </a:t>
            </a:r>
            <a:r>
              <a:rPr lang="ko-KR" altLang="en-US" sz="1800" b="1" dirty="0">
                <a:solidFill>
                  <a:srgbClr val="FFFFFF"/>
                </a:solidFill>
                <a:latin typeface="맑은 고딕" pitchFamily="34" charset="0"/>
                <a:ea typeface="맑은 고딕" pitchFamily="34" charset="-122"/>
                <a:cs typeface="맑은 고딕" pitchFamily="34" charset="-120"/>
              </a:rPr>
              <a:t>시작하는 </a:t>
            </a:r>
            <a:r>
              <a:rPr lang="en-US" altLang="ko-KR" sz="1800" b="1" dirty="0" err="1">
                <a:solidFill>
                  <a:srgbClr val="FFFFFF"/>
                </a:solidFill>
                <a:latin typeface="맑은 고딕" pitchFamily="34" charset="0"/>
                <a:ea typeface="맑은 고딕" pitchFamily="34" charset="-122"/>
                <a:cs typeface="맑은 고딕" pitchFamily="34" charset="-120"/>
              </a:rPr>
              <a:t>MeAI</a:t>
            </a:r>
            <a:r>
              <a:rPr lang="en-US" altLang="ko-KR" sz="1800" b="1" dirty="0">
                <a:solidFill>
                  <a:srgbClr val="FFFFFF"/>
                </a:solidFill>
                <a:latin typeface="맑은 고딕" pitchFamily="34" charset="0"/>
                <a:ea typeface="맑은 고딕" pitchFamily="34" charset="-122"/>
                <a:cs typeface="맑은 고딕" pitchFamily="34" charset="-120"/>
              </a:rPr>
              <a:t> </a:t>
            </a:r>
            <a:r>
              <a:rPr lang="ko-KR" altLang="en-US" b="1" dirty="0">
                <a:solidFill>
                  <a:srgbClr val="FFFFFF"/>
                </a:solidFill>
                <a:latin typeface="맑은 고딕" pitchFamily="34" charset="0"/>
                <a:ea typeface="맑은 고딕" pitchFamily="34" charset="-122"/>
                <a:cs typeface="맑은 고딕" pitchFamily="34" charset="-120"/>
              </a:rPr>
              <a:t>대화</a:t>
            </a:r>
            <a:endParaRPr lang="en-US" sz="1800" dirty="0"/>
          </a:p>
        </p:txBody>
      </p:sp>
      <p:sp>
        <p:nvSpPr>
          <p:cNvPr id="55" name="Text 4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4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일반대화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일반대화는</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무엇이든</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물어</a:t>
            </a:r>
            <a:r>
              <a:rPr lang="ko-KR" altLang="en-US" sz="3400" b="1" dirty="0">
                <a:solidFill>
                  <a:srgbClr val="191F28"/>
                </a:solidFill>
                <a:latin typeface="맑은 고딕" pitchFamily="34" charset="0"/>
                <a:ea typeface="맑은 고딕" pitchFamily="34" charset="-122"/>
                <a:cs typeface="맑은 고딕" pitchFamily="34" charset="-120"/>
              </a:rPr>
              <a:t>보세요</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고객을 정하지 않고 </a:t>
            </a:r>
            <a:r>
              <a:rPr lang="en-US" sz="1700" dirty="0" err="1">
                <a:solidFill>
                  <a:srgbClr val="6B7684"/>
                </a:solidFill>
                <a:latin typeface="맑은 고딕" pitchFamily="34" charset="0"/>
                <a:ea typeface="맑은 고딕" pitchFamily="34" charset="-122"/>
                <a:cs typeface="맑은 고딕" pitchFamily="34" charset="-120"/>
              </a:rPr>
              <a:t>상품·약관·화법</a:t>
            </a:r>
            <a:r>
              <a:rPr lang="ko-KR" altLang="en-US" sz="1700" dirty="0">
                <a:solidFill>
                  <a:srgbClr val="6B7684"/>
                </a:solidFill>
                <a:latin typeface="맑은 고딕" pitchFamily="34" charset="0"/>
                <a:ea typeface="맑은 고딕" pitchFamily="34" charset="-122"/>
                <a:cs typeface="맑은 고딕" pitchFamily="34" charset="-120"/>
              </a:rPr>
              <a:t>을 일반대화에서</a:t>
            </a:r>
            <a:endParaRPr lang="en-US" sz="1700" dirty="0"/>
          </a:p>
        </p:txBody>
      </p:sp>
      <p:sp>
        <p:nvSpPr>
          <p:cNvPr id="13" name="Shape 11"/>
          <p:cNvSpPr/>
          <p:nvPr/>
        </p:nvSpPr>
        <p:spPr>
          <a:xfrm>
            <a:off x="548640" y="1938528"/>
            <a:ext cx="5760720" cy="4114800"/>
          </a:xfrm>
          <a:prstGeom prst="roundRect">
            <a:avLst>
              <a:gd name="adj" fmla="val 28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38528"/>
            <a:ext cx="5760720" cy="4114800"/>
          </a:xfrm>
          <a:prstGeom prst="rect">
            <a:avLst/>
          </a:prstGeom>
        </p:spPr>
      </p:pic>
      <p:sp>
        <p:nvSpPr>
          <p:cNvPr id="15" name="Shape 12"/>
          <p:cNvSpPr/>
          <p:nvPr/>
        </p:nvSpPr>
        <p:spPr>
          <a:xfrm>
            <a:off x="1197864" y="1975104"/>
            <a:ext cx="365760" cy="365760"/>
          </a:xfrm>
          <a:prstGeom prst="ellipse">
            <a:avLst/>
          </a:prstGeom>
          <a:solidFill>
            <a:srgbClr val="3182F6"/>
          </a:solidFill>
          <a:ln w="19050">
            <a:solidFill>
              <a:srgbClr val="FFFFFF"/>
            </a:solidFill>
            <a:prstDash val="solid"/>
          </a:ln>
        </p:spPr>
      </p:sp>
      <p:sp>
        <p:nvSpPr>
          <p:cNvPr id="16" name="Text 13"/>
          <p:cNvSpPr txBox="1"/>
          <p:nvPr/>
        </p:nvSpPr>
        <p:spPr>
          <a:xfrm>
            <a:off x="1197864" y="19751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7" name="Shape 14"/>
          <p:cNvSpPr/>
          <p:nvPr/>
        </p:nvSpPr>
        <p:spPr>
          <a:xfrm>
            <a:off x="1120140" y="2491740"/>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120140" y="249174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19" name="Shape 16"/>
          <p:cNvSpPr/>
          <p:nvPr/>
        </p:nvSpPr>
        <p:spPr>
          <a:xfrm>
            <a:off x="1120140" y="3058668"/>
            <a:ext cx="365760" cy="365760"/>
          </a:xfrm>
          <a:prstGeom prst="ellipse">
            <a:avLst/>
          </a:prstGeom>
          <a:solidFill>
            <a:srgbClr val="3182F6"/>
          </a:solidFill>
          <a:ln w="19050">
            <a:solidFill>
              <a:srgbClr val="FFFFFF"/>
            </a:solidFill>
            <a:prstDash val="solid"/>
          </a:ln>
        </p:spPr>
      </p:sp>
      <p:sp>
        <p:nvSpPr>
          <p:cNvPr id="20" name="Text 17"/>
          <p:cNvSpPr txBox="1"/>
          <p:nvPr/>
        </p:nvSpPr>
        <p:spPr>
          <a:xfrm>
            <a:off x="1120140" y="30586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1" name="Shape 18"/>
          <p:cNvSpPr/>
          <p:nvPr/>
        </p:nvSpPr>
        <p:spPr>
          <a:xfrm>
            <a:off x="2400300" y="3982212"/>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400300" y="398221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3" name="Shape 20"/>
          <p:cNvSpPr/>
          <p:nvPr/>
        </p:nvSpPr>
        <p:spPr>
          <a:xfrm>
            <a:off x="2400300" y="5303520"/>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400300" y="530352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5" name="Shape 22"/>
          <p:cNvSpPr/>
          <p:nvPr/>
        </p:nvSpPr>
        <p:spPr>
          <a:xfrm>
            <a:off x="1051560" y="5266944"/>
            <a:ext cx="365760" cy="365760"/>
          </a:xfrm>
          <a:prstGeom prst="ellipse">
            <a:avLst/>
          </a:prstGeom>
          <a:solidFill>
            <a:srgbClr val="3182F6"/>
          </a:solidFill>
          <a:ln w="19050">
            <a:solidFill>
              <a:srgbClr val="FFFFFF"/>
            </a:solidFill>
            <a:prstDash val="solid"/>
          </a:ln>
        </p:spPr>
      </p:sp>
      <p:sp>
        <p:nvSpPr>
          <p:cNvPr id="26" name="Text 23"/>
          <p:cNvSpPr txBox="1"/>
          <p:nvPr/>
        </p:nvSpPr>
        <p:spPr>
          <a:xfrm>
            <a:off x="1051560" y="52669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27" name="Shape 24"/>
          <p:cNvSpPr/>
          <p:nvPr/>
        </p:nvSpPr>
        <p:spPr>
          <a:xfrm>
            <a:off x="2761488" y="5088636"/>
            <a:ext cx="1892808" cy="123444"/>
          </a:xfrm>
          <a:prstGeom prst="roundRect">
            <a:avLst>
              <a:gd name="adj" fmla="val 29630"/>
            </a:avLst>
          </a:prstGeom>
          <a:ln w="22225">
            <a:solidFill>
              <a:srgbClr val="F04452"/>
            </a:solidFill>
            <a:prstDash val="solid"/>
          </a:ln>
        </p:spPr>
      </p:sp>
      <p:sp>
        <p:nvSpPr>
          <p:cNvPr id="28" name="Text 25"/>
          <p:cNvSpPr txBox="1"/>
          <p:nvPr/>
        </p:nvSpPr>
        <p:spPr>
          <a:xfrm>
            <a:off x="4681728" y="5061204"/>
            <a:ext cx="1600200" cy="182880"/>
          </a:xfrm>
          <a:prstGeom prst="rect">
            <a:avLst/>
          </a:prstGeom>
          <a:noFill/>
          <a:ln/>
        </p:spPr>
        <p:txBody>
          <a:bodyPr wrap="square" lIns="0" tIns="0" rIns="0" bIns="0" rtlCol="0" anchor="ctr"/>
          <a:lstStyle/>
          <a:p>
            <a:pPr marL="0" indent="0">
              <a:buNone/>
            </a:pPr>
            <a:r>
              <a:rPr lang="en-US" sz="1000" b="1" dirty="0">
                <a:solidFill>
                  <a:srgbClr val="F04452"/>
                </a:solidFill>
                <a:latin typeface="맑은 고딕" pitchFamily="34" charset="0"/>
                <a:ea typeface="맑은 고딕" pitchFamily="34" charset="-122"/>
                <a:cs typeface="맑은 고딕" pitchFamily="34" charset="-120"/>
              </a:rPr>
              <a:t>← 개인정보는 넣지 않아요</a:t>
            </a:r>
            <a:endParaRPr lang="en-US" sz="1000" dirty="0"/>
          </a:p>
        </p:txBody>
      </p:sp>
      <p:sp>
        <p:nvSpPr>
          <p:cNvPr id="29" name="Text 26"/>
          <p:cNvSpPr txBox="1"/>
          <p:nvPr/>
        </p:nvSpPr>
        <p:spPr>
          <a:xfrm>
            <a:off x="548640" y="6089904"/>
            <a:ext cx="5760720" cy="237744"/>
          </a:xfrm>
          <a:prstGeom prst="rect">
            <a:avLst/>
          </a:prstGeom>
          <a:noFill/>
          <a:ln/>
        </p:spPr>
        <p:txBody>
          <a:bodyPr wrap="square" lIns="0" tIns="0" rIns="0" bIns="0" rtlCol="0" anchor="ctr"/>
          <a:lstStyle/>
          <a:p>
            <a:pPr marL="0" indent="0">
              <a:buNone/>
            </a:pPr>
            <a:r>
              <a:rPr lang="en-US" sz="1100" dirty="0">
                <a:solidFill>
                  <a:srgbClr val="8B95A1"/>
                </a:solidFill>
                <a:latin typeface="맑은 고딕" pitchFamily="34" charset="0"/>
                <a:ea typeface="맑은 고딕" pitchFamily="34" charset="-122"/>
                <a:cs typeface="맑은 고딕" pitchFamily="34" charset="-120"/>
              </a:rPr>
              <a:t>화면: 확정 화면 · MeAI 홈 [일반대화] 카드로 들어온 첫 화면</a:t>
            </a:r>
            <a:endParaRPr lang="en-US" sz="1100" dirty="0"/>
          </a:p>
        </p:txBody>
      </p:sp>
      <p:sp>
        <p:nvSpPr>
          <p:cNvPr id="30" name="Shape 27"/>
          <p:cNvSpPr/>
          <p:nvPr/>
        </p:nvSpPr>
        <p:spPr>
          <a:xfrm>
            <a:off x="6675120" y="1947672"/>
            <a:ext cx="329184" cy="329184"/>
          </a:xfrm>
          <a:prstGeom prst="ellipse">
            <a:avLst/>
          </a:prstGeom>
          <a:solidFill>
            <a:srgbClr val="3182F6"/>
          </a:solidFill>
          <a:ln w="19050">
            <a:solidFill>
              <a:srgbClr val="FFFFFF"/>
            </a:solidFill>
            <a:prstDash val="solid"/>
          </a:ln>
        </p:spPr>
      </p:sp>
      <p:sp>
        <p:nvSpPr>
          <p:cNvPr id="31" name="Text 28"/>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2" name="Text 29"/>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a:t>
            </a:r>
            <a:endParaRPr lang="en-US" sz="1550" dirty="0"/>
          </a:p>
        </p:txBody>
      </p:sp>
      <p:sp>
        <p:nvSpPr>
          <p:cNvPr id="33" name="Text 30"/>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홈으로 돌아가요</a:t>
            </a:r>
            <a:endParaRPr lang="en-US" sz="1200" dirty="0"/>
          </a:p>
        </p:txBody>
      </p:sp>
      <p:sp>
        <p:nvSpPr>
          <p:cNvPr id="34" name="Shape 31"/>
          <p:cNvSpPr/>
          <p:nvPr/>
        </p:nvSpPr>
        <p:spPr>
          <a:xfrm>
            <a:off x="6675120" y="2505456"/>
            <a:ext cx="329184" cy="329184"/>
          </a:xfrm>
          <a:prstGeom prst="ellipse">
            <a:avLst/>
          </a:prstGeom>
          <a:solidFill>
            <a:srgbClr val="3182F6"/>
          </a:solidFill>
          <a:ln w="19050">
            <a:solidFill>
              <a:srgbClr val="FFFFFF"/>
            </a:solidFill>
            <a:prstDash val="solid"/>
          </a:ln>
        </p:spPr>
      </p:sp>
      <p:sp>
        <p:nvSpPr>
          <p:cNvPr id="35" name="Text 32"/>
          <p:cNvSpPr txBox="1"/>
          <p:nvPr/>
        </p:nvSpPr>
        <p:spPr>
          <a:xfrm>
            <a:off x="6675120" y="25054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6" name="Text 33"/>
          <p:cNvSpPr txBox="1"/>
          <p:nvPr/>
        </p:nvSpPr>
        <p:spPr>
          <a:xfrm>
            <a:off x="7132320" y="249631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약관 검색 · 사용 가이드</a:t>
            </a:r>
            <a:endParaRPr lang="en-US" sz="1550" dirty="0"/>
          </a:p>
        </p:txBody>
      </p:sp>
      <p:sp>
        <p:nvSpPr>
          <p:cNvPr id="37" name="Text 34"/>
          <p:cNvSpPr txBox="1"/>
          <p:nvPr/>
        </p:nvSpPr>
        <p:spPr>
          <a:xfrm>
            <a:off x="7132320" y="2798064"/>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약관 원문 찾기 · 화면 사용법</a:t>
            </a:r>
            <a:endParaRPr lang="en-US" sz="1200" dirty="0"/>
          </a:p>
        </p:txBody>
      </p:sp>
      <p:sp>
        <p:nvSpPr>
          <p:cNvPr id="38" name="Shape 35"/>
          <p:cNvSpPr/>
          <p:nvPr/>
        </p:nvSpPr>
        <p:spPr>
          <a:xfrm>
            <a:off x="6675120" y="3063240"/>
            <a:ext cx="329184" cy="329184"/>
          </a:xfrm>
          <a:prstGeom prst="ellipse">
            <a:avLst/>
          </a:prstGeom>
          <a:solidFill>
            <a:srgbClr val="3182F6"/>
          </a:solidFill>
          <a:ln w="19050">
            <a:solidFill>
              <a:srgbClr val="FFFFFF"/>
            </a:solidFill>
            <a:prstDash val="solid"/>
          </a:ln>
        </p:spPr>
      </p:sp>
      <p:sp>
        <p:nvSpPr>
          <p:cNvPr id="39" name="Text 36"/>
          <p:cNvSpPr txBox="1"/>
          <p:nvPr/>
        </p:nvSpPr>
        <p:spPr>
          <a:xfrm>
            <a:off x="6675120" y="30632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0" name="Text 37"/>
          <p:cNvSpPr txBox="1"/>
          <p:nvPr/>
        </p:nvSpPr>
        <p:spPr>
          <a:xfrm>
            <a:off x="7132320" y="305409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대화 이력</a:t>
            </a:r>
            <a:endParaRPr lang="en-US" sz="1550" dirty="0"/>
          </a:p>
        </p:txBody>
      </p:sp>
      <p:sp>
        <p:nvSpPr>
          <p:cNvPr id="41" name="Text 38"/>
          <p:cNvSpPr txBox="1"/>
          <p:nvPr/>
        </p:nvSpPr>
        <p:spPr>
          <a:xfrm>
            <a:off x="7132320" y="335584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월별로 쌓여요 · 누르면 이어서 물어요</a:t>
            </a:r>
            <a:endParaRPr lang="en-US" sz="1200" dirty="0"/>
          </a:p>
        </p:txBody>
      </p:sp>
      <p:sp>
        <p:nvSpPr>
          <p:cNvPr id="42" name="Shape 39"/>
          <p:cNvSpPr/>
          <p:nvPr/>
        </p:nvSpPr>
        <p:spPr>
          <a:xfrm>
            <a:off x="6675120" y="3621024"/>
            <a:ext cx="329184" cy="329184"/>
          </a:xfrm>
          <a:prstGeom prst="ellipse">
            <a:avLst/>
          </a:prstGeom>
          <a:solidFill>
            <a:srgbClr val="3182F6"/>
          </a:solidFill>
          <a:ln w="19050">
            <a:solidFill>
              <a:srgbClr val="FFFFFF"/>
            </a:solidFill>
            <a:prstDash val="solid"/>
          </a:ln>
        </p:spPr>
      </p:sp>
      <p:sp>
        <p:nvSpPr>
          <p:cNvPr id="43" name="Text 40"/>
          <p:cNvSpPr txBox="1"/>
          <p:nvPr/>
        </p:nvSpPr>
        <p:spPr>
          <a:xfrm>
            <a:off x="6675120" y="36210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4" name="Text 41"/>
          <p:cNvSpPr txBox="1"/>
          <p:nvPr/>
        </p:nvSpPr>
        <p:spPr>
          <a:xfrm>
            <a:off x="7132320" y="361188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탭 3개</a:t>
            </a:r>
            <a:endParaRPr lang="en-US" sz="1550" dirty="0"/>
          </a:p>
        </p:txBody>
      </p:sp>
      <p:sp>
        <p:nvSpPr>
          <p:cNvPr id="45" name="Text 42"/>
          <p:cNvSpPr txBox="1"/>
          <p:nvPr/>
        </p:nvSpPr>
        <p:spPr>
          <a:xfrm>
            <a:off x="7132320" y="391363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비교 · 지식 검색 · 자주하는 질문 → 누르면 시작</a:t>
            </a:r>
            <a:endParaRPr lang="en-US" sz="1200" dirty="0"/>
          </a:p>
        </p:txBody>
      </p:sp>
      <p:sp>
        <p:nvSpPr>
          <p:cNvPr id="46" name="Shape 43"/>
          <p:cNvSpPr/>
          <p:nvPr/>
        </p:nvSpPr>
        <p:spPr>
          <a:xfrm>
            <a:off x="6675120" y="4178808"/>
            <a:ext cx="329184" cy="329184"/>
          </a:xfrm>
          <a:prstGeom prst="ellipse">
            <a:avLst/>
          </a:prstGeom>
          <a:solidFill>
            <a:srgbClr val="3182F6"/>
          </a:solidFill>
          <a:ln w="19050">
            <a:solidFill>
              <a:srgbClr val="FFFFFF"/>
            </a:solidFill>
            <a:prstDash val="solid"/>
          </a:ln>
        </p:spPr>
      </p:sp>
      <p:sp>
        <p:nvSpPr>
          <p:cNvPr id="47" name="Text 44"/>
          <p:cNvSpPr txBox="1"/>
          <p:nvPr/>
        </p:nvSpPr>
        <p:spPr>
          <a:xfrm>
            <a:off x="6675120" y="417880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8" name="Text 45"/>
          <p:cNvSpPr txBox="1"/>
          <p:nvPr/>
        </p:nvSpPr>
        <p:spPr>
          <a:xfrm>
            <a:off x="7132320" y="416966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9" name="Text 46"/>
          <p:cNvSpPr txBox="1"/>
          <p:nvPr/>
        </p:nvSpPr>
        <p:spPr>
          <a:xfrm>
            <a:off x="7132320" y="4471416"/>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말하듯 쓰고 전송(↑) · [상품 선택]으로 상품 고르기</a:t>
            </a:r>
            <a:endParaRPr lang="en-US" sz="1200" dirty="0"/>
          </a:p>
        </p:txBody>
      </p:sp>
      <p:sp>
        <p:nvSpPr>
          <p:cNvPr id="50" name="Shape 47"/>
          <p:cNvSpPr/>
          <p:nvPr/>
        </p:nvSpPr>
        <p:spPr>
          <a:xfrm>
            <a:off x="6675120" y="4736592"/>
            <a:ext cx="329184" cy="329184"/>
          </a:xfrm>
          <a:prstGeom prst="ellipse">
            <a:avLst/>
          </a:prstGeom>
          <a:solidFill>
            <a:srgbClr val="3182F6"/>
          </a:solidFill>
          <a:ln w="19050">
            <a:solidFill>
              <a:srgbClr val="FFFFFF"/>
            </a:solidFill>
            <a:prstDash val="solid"/>
          </a:ln>
        </p:spPr>
      </p:sp>
      <p:sp>
        <p:nvSpPr>
          <p:cNvPr id="51" name="Text 48"/>
          <p:cNvSpPr txBox="1"/>
          <p:nvPr/>
        </p:nvSpPr>
        <p:spPr>
          <a:xfrm>
            <a:off x="6675120" y="47365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6</a:t>
            </a:r>
            <a:endParaRPr lang="en-US" sz="1300" dirty="0"/>
          </a:p>
        </p:txBody>
      </p:sp>
      <p:sp>
        <p:nvSpPr>
          <p:cNvPr id="52" name="Text 49"/>
          <p:cNvSpPr txBox="1"/>
          <p:nvPr/>
        </p:nvSpPr>
        <p:spPr>
          <a:xfrm>
            <a:off x="7132320" y="472744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[새로 대화하기]</a:t>
            </a:r>
            <a:endParaRPr lang="en-US" sz="1550" dirty="0"/>
          </a:p>
        </p:txBody>
      </p:sp>
      <p:sp>
        <p:nvSpPr>
          <p:cNvPr id="53" name="Text 50"/>
          <p:cNvSpPr txBox="1"/>
          <p:nvPr/>
        </p:nvSpPr>
        <p:spPr>
          <a:xfrm>
            <a:off x="7132320" y="502920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주제가 바뀌면 새로 열어요</a:t>
            </a:r>
            <a:endParaRPr lang="en-US" sz="1200" dirty="0"/>
          </a:p>
        </p:txBody>
      </p:sp>
      <p:sp>
        <p:nvSpPr>
          <p:cNvPr id="54" name="Shape 51"/>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5" name="Text 52"/>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6" name="Shape 53"/>
          <p:cNvSpPr/>
          <p:nvPr/>
        </p:nvSpPr>
        <p:spPr>
          <a:xfrm>
            <a:off x="7975600" y="5431536"/>
            <a:ext cx="1307719" cy="310896"/>
          </a:xfrm>
          <a:prstGeom prst="roundRect">
            <a:avLst>
              <a:gd name="adj" fmla="val 50000"/>
            </a:avLst>
          </a:prstGeom>
          <a:solidFill>
            <a:srgbClr val="FFFFFF"/>
          </a:solidFill>
          <a:ln w="9525">
            <a:solidFill>
              <a:srgbClr val="C9E2FF"/>
            </a:solidFill>
            <a:prstDash val="solid"/>
          </a:ln>
        </p:spPr>
      </p:sp>
      <p:sp>
        <p:nvSpPr>
          <p:cNvPr id="57" name="Text 54"/>
          <p:cNvSpPr txBox="1"/>
          <p:nvPr/>
        </p:nvSpPr>
        <p:spPr>
          <a:xfrm>
            <a:off x="7975600" y="5431536"/>
            <a:ext cx="1307719"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상품·특약 개념</a:t>
            </a:r>
            <a:endParaRPr lang="en-US" sz="1150" dirty="0"/>
          </a:p>
        </p:txBody>
      </p:sp>
      <p:sp>
        <p:nvSpPr>
          <p:cNvPr id="58" name="Shape 55"/>
          <p:cNvSpPr/>
          <p:nvPr/>
        </p:nvSpPr>
        <p:spPr>
          <a:xfrm>
            <a:off x="9374759" y="5431536"/>
            <a:ext cx="1643634" cy="310896"/>
          </a:xfrm>
          <a:prstGeom prst="roundRect">
            <a:avLst>
              <a:gd name="adj" fmla="val 50000"/>
            </a:avLst>
          </a:prstGeom>
          <a:solidFill>
            <a:srgbClr val="FFFFFF"/>
          </a:solidFill>
          <a:ln w="9525">
            <a:solidFill>
              <a:srgbClr val="C9E2FF"/>
            </a:solidFill>
            <a:prstDash val="solid"/>
          </a:ln>
        </p:spPr>
      </p:sp>
      <p:sp>
        <p:nvSpPr>
          <p:cNvPr id="59" name="Text 56"/>
          <p:cNvSpPr txBox="1"/>
          <p:nvPr/>
        </p:nvSpPr>
        <p:spPr>
          <a:xfrm>
            <a:off x="9374759" y="5431536"/>
            <a:ext cx="164363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자사·타사 보장 비교</a:t>
            </a:r>
            <a:endParaRPr lang="en-US" sz="1150" dirty="0"/>
          </a:p>
        </p:txBody>
      </p:sp>
      <p:sp>
        <p:nvSpPr>
          <p:cNvPr id="60" name="Shape 57"/>
          <p:cNvSpPr/>
          <p:nvPr/>
        </p:nvSpPr>
        <p:spPr>
          <a:xfrm>
            <a:off x="7975600" y="5815584"/>
            <a:ext cx="1293114" cy="310896"/>
          </a:xfrm>
          <a:prstGeom prst="roundRect">
            <a:avLst>
              <a:gd name="adj" fmla="val 50000"/>
            </a:avLst>
          </a:prstGeom>
          <a:solidFill>
            <a:srgbClr val="FFFFFF"/>
          </a:solidFill>
          <a:ln w="9525">
            <a:solidFill>
              <a:srgbClr val="C9E2FF"/>
            </a:solidFill>
            <a:prstDash val="solid"/>
          </a:ln>
        </p:spPr>
      </p:sp>
      <p:sp>
        <p:nvSpPr>
          <p:cNvPr id="61" name="Text 58"/>
          <p:cNvSpPr txBox="1"/>
          <p:nvPr/>
        </p:nvSpPr>
        <p:spPr>
          <a:xfrm>
            <a:off x="7975600"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고객 설득 화법</a:t>
            </a:r>
            <a:endParaRPr lang="en-US" sz="1150" dirty="0"/>
          </a:p>
        </p:txBody>
      </p:sp>
      <p:sp>
        <p:nvSpPr>
          <p:cNvPr id="62" name="Shape 59"/>
          <p:cNvSpPr/>
          <p:nvPr/>
        </p:nvSpPr>
        <p:spPr>
          <a:xfrm>
            <a:off x="9360154" y="5815584"/>
            <a:ext cx="1293114" cy="310896"/>
          </a:xfrm>
          <a:prstGeom prst="roundRect">
            <a:avLst>
              <a:gd name="adj" fmla="val 50000"/>
            </a:avLst>
          </a:prstGeom>
          <a:solidFill>
            <a:srgbClr val="FFFFFF"/>
          </a:solidFill>
          <a:ln w="9525">
            <a:solidFill>
              <a:srgbClr val="C9E2FF"/>
            </a:solidFill>
            <a:prstDash val="solid"/>
          </a:ln>
        </p:spPr>
      </p:sp>
      <p:sp>
        <p:nvSpPr>
          <p:cNvPr id="63" name="Text 60"/>
          <p:cNvSpPr txBox="1"/>
          <p:nvPr/>
        </p:nvSpPr>
        <p:spPr>
          <a:xfrm>
            <a:off x="9360154" y="5815584"/>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약관 지식 확인</a:t>
            </a:r>
            <a:endParaRPr lang="en-US" sz="1150" dirty="0"/>
          </a:p>
        </p:txBody>
      </p:sp>
      <p:sp>
        <p:nvSpPr>
          <p:cNvPr id="64" name="Text 6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맞춤대화 화면</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a:t>
            </a:r>
            <a:r>
              <a:rPr lang="en-US" altLang="ko-KR" sz="3400" b="1" dirty="0">
                <a:solidFill>
                  <a:srgbClr val="191F28"/>
                </a:solidFill>
                <a:latin typeface="맑은 고딕" pitchFamily="34" charset="0"/>
                <a:ea typeface="맑은 고딕" pitchFamily="34" charset="-122"/>
                <a:cs typeface="맑은 고딕" pitchFamily="34" charset="-120"/>
              </a:rPr>
              <a:t>1</a:t>
            </a:r>
            <a:r>
              <a:rPr lang="ko-KR" altLang="en-US" sz="3400" b="1" dirty="0">
                <a:solidFill>
                  <a:srgbClr val="191F28"/>
                </a:solidFill>
                <a:latin typeface="맑은 고딕" pitchFamily="34" charset="0"/>
                <a:ea typeface="맑은 고딕" pitchFamily="34" charset="-122"/>
                <a:cs typeface="맑은 고딕" pitchFamily="34" charset="-120"/>
              </a:rPr>
              <a:t>명에 맞춘 보장분석부터 설계까지</a:t>
            </a:r>
            <a:r>
              <a:rPr lang="en-US" altLang="ko-KR"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선택한 </a:t>
            </a:r>
            <a:r>
              <a:rPr lang="en-US" sz="1700" dirty="0" err="1">
                <a:solidFill>
                  <a:srgbClr val="6B7684"/>
                </a:solidFill>
                <a:latin typeface="맑은 고딕" pitchFamily="34" charset="0"/>
                <a:ea typeface="맑은 고딕" pitchFamily="34" charset="-122"/>
                <a:cs typeface="맑은 고딕" pitchFamily="34" charset="-120"/>
              </a:rPr>
              <a:t>고객의</a:t>
            </a:r>
            <a:r>
              <a:rPr lang="en-US" sz="1700" dirty="0">
                <a:solidFill>
                  <a:srgbClr val="6B7684"/>
                </a:solidFill>
                <a:latin typeface="맑은 고딕" pitchFamily="34" charset="0"/>
                <a:ea typeface="맑은 고딕" pitchFamily="34" charset="-122"/>
                <a:cs typeface="맑은 고딕" pitchFamily="34" charset="-120"/>
              </a:rPr>
              <a:t> 보장 내역을 </a:t>
            </a:r>
            <a:r>
              <a:rPr lang="en-US" sz="1700" dirty="0" err="1">
                <a:solidFill>
                  <a:srgbClr val="6B7684"/>
                </a:solidFill>
                <a:latin typeface="맑은 고딕" pitchFamily="34" charset="0"/>
                <a:ea typeface="맑은 고딕" pitchFamily="34" charset="-122"/>
                <a:cs typeface="맑은 고딕" pitchFamily="34" charset="-120"/>
              </a:rPr>
              <a:t>읽고</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답변</a:t>
            </a:r>
            <a:endParaRPr lang="en-US" sz="1700" dirty="0"/>
          </a:p>
        </p:txBody>
      </p:sp>
      <p:sp>
        <p:nvSpPr>
          <p:cNvPr id="13" name="Shape 11"/>
          <p:cNvSpPr/>
          <p:nvPr/>
        </p:nvSpPr>
        <p:spPr>
          <a:xfrm>
            <a:off x="548640" y="1956816"/>
            <a:ext cx="5760720" cy="3600450"/>
          </a:xfrm>
          <a:prstGeom prst="roundRect">
            <a:avLst>
              <a:gd name="adj" fmla="val 3200"/>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4" name="Image 0" descr="MeAI 화면 캡처"/>
          <p:cNvPicPr>
            <a:picLocks noChangeAspect="1"/>
          </p:cNvPicPr>
          <p:nvPr/>
        </p:nvPicPr>
        <p:blipFill>
          <a:blip r:embed="rId3"/>
          <a:stretch>
            <a:fillRect/>
          </a:stretch>
        </p:blipFill>
        <p:spPr>
          <a:xfrm>
            <a:off x="548640" y="1956816"/>
            <a:ext cx="5760720" cy="3600450"/>
          </a:xfrm>
          <a:prstGeom prst="rect">
            <a:avLst/>
          </a:prstGeom>
        </p:spPr>
      </p:pic>
      <p:sp>
        <p:nvSpPr>
          <p:cNvPr id="15" name="Shape 12"/>
          <p:cNvSpPr/>
          <p:nvPr/>
        </p:nvSpPr>
        <p:spPr>
          <a:xfrm>
            <a:off x="4749165" y="1992821"/>
            <a:ext cx="1504188" cy="152019"/>
          </a:xfrm>
          <a:prstGeom prst="roundRect">
            <a:avLst>
              <a:gd name="adj" fmla="val 30075"/>
            </a:avLst>
          </a:prstGeom>
          <a:ln w="22225">
            <a:solidFill>
              <a:srgbClr val="3182F6"/>
            </a:solidFill>
            <a:prstDash val="solid"/>
          </a:ln>
        </p:spPr>
      </p:sp>
      <p:sp>
        <p:nvSpPr>
          <p:cNvPr id="16" name="Shape 13"/>
          <p:cNvSpPr/>
          <p:nvPr/>
        </p:nvSpPr>
        <p:spPr>
          <a:xfrm>
            <a:off x="2492883" y="4845177"/>
            <a:ext cx="508063" cy="172022"/>
          </a:xfrm>
          <a:prstGeom prst="roundRect">
            <a:avLst>
              <a:gd name="adj" fmla="val 21262"/>
            </a:avLst>
          </a:prstGeom>
          <a:ln w="22225">
            <a:solidFill>
              <a:srgbClr val="F04452"/>
            </a:solidFill>
            <a:prstDash val="solid"/>
          </a:ln>
        </p:spPr>
      </p:sp>
      <p:sp>
        <p:nvSpPr>
          <p:cNvPr id="17" name="Shape 14"/>
          <p:cNvSpPr/>
          <p:nvPr/>
        </p:nvSpPr>
        <p:spPr>
          <a:xfrm>
            <a:off x="1265873" y="2334006"/>
            <a:ext cx="365760" cy="365760"/>
          </a:xfrm>
          <a:prstGeom prst="ellipse">
            <a:avLst/>
          </a:prstGeom>
          <a:solidFill>
            <a:srgbClr val="3182F6"/>
          </a:solidFill>
          <a:ln w="19050">
            <a:solidFill>
              <a:srgbClr val="FFFFFF"/>
            </a:solidFill>
            <a:prstDash val="solid"/>
          </a:ln>
        </p:spPr>
      </p:sp>
      <p:sp>
        <p:nvSpPr>
          <p:cNvPr id="18" name="Text 15"/>
          <p:cNvSpPr txBox="1"/>
          <p:nvPr/>
        </p:nvSpPr>
        <p:spPr>
          <a:xfrm>
            <a:off x="1265873" y="233400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9" name="Shape 16"/>
          <p:cNvSpPr/>
          <p:nvPr/>
        </p:nvSpPr>
        <p:spPr>
          <a:xfrm>
            <a:off x="4378261" y="1885950"/>
            <a:ext cx="365760" cy="365760"/>
          </a:xfrm>
          <a:prstGeom prst="ellipse">
            <a:avLst/>
          </a:prstGeom>
          <a:solidFill>
            <a:srgbClr val="3182F6"/>
          </a:solidFill>
          <a:ln w="19050">
            <a:solidFill>
              <a:srgbClr val="FFFFFF"/>
            </a:solidFill>
            <a:prstDash val="solid"/>
          </a:ln>
        </p:spPr>
      </p:sp>
      <p:sp>
        <p:nvSpPr>
          <p:cNvPr id="20" name="Text 17"/>
          <p:cNvSpPr txBox="1"/>
          <p:nvPr/>
        </p:nvSpPr>
        <p:spPr>
          <a:xfrm>
            <a:off x="4378261" y="18859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1" name="Shape 18"/>
          <p:cNvSpPr/>
          <p:nvPr/>
        </p:nvSpPr>
        <p:spPr>
          <a:xfrm>
            <a:off x="2125980" y="2286000"/>
            <a:ext cx="365760" cy="365760"/>
          </a:xfrm>
          <a:prstGeom prst="ellipse">
            <a:avLst/>
          </a:prstGeom>
          <a:solidFill>
            <a:srgbClr val="3182F6"/>
          </a:solidFill>
          <a:ln w="19050">
            <a:solidFill>
              <a:srgbClr val="FFFFFF"/>
            </a:solidFill>
            <a:prstDash val="solid"/>
          </a:ln>
        </p:spPr>
      </p:sp>
      <p:sp>
        <p:nvSpPr>
          <p:cNvPr id="22" name="Text 19"/>
          <p:cNvSpPr txBox="1"/>
          <p:nvPr/>
        </p:nvSpPr>
        <p:spPr>
          <a:xfrm>
            <a:off x="2125980" y="228600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3" name="Shape 20"/>
          <p:cNvSpPr/>
          <p:nvPr/>
        </p:nvSpPr>
        <p:spPr>
          <a:xfrm>
            <a:off x="2109978" y="4742307"/>
            <a:ext cx="365760" cy="365760"/>
          </a:xfrm>
          <a:prstGeom prst="ellipse">
            <a:avLst/>
          </a:prstGeom>
          <a:solidFill>
            <a:srgbClr val="3182F6"/>
          </a:solidFill>
          <a:ln w="19050">
            <a:solidFill>
              <a:srgbClr val="FFFFFF"/>
            </a:solidFill>
            <a:prstDash val="solid"/>
          </a:ln>
        </p:spPr>
      </p:sp>
      <p:sp>
        <p:nvSpPr>
          <p:cNvPr id="24" name="Text 21"/>
          <p:cNvSpPr txBox="1"/>
          <p:nvPr/>
        </p:nvSpPr>
        <p:spPr>
          <a:xfrm>
            <a:off x="2109978" y="4742307"/>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5" name="Shape 22"/>
          <p:cNvSpPr/>
          <p:nvPr/>
        </p:nvSpPr>
        <p:spPr>
          <a:xfrm>
            <a:off x="5566410" y="4966335"/>
            <a:ext cx="365760" cy="365760"/>
          </a:xfrm>
          <a:prstGeom prst="ellipse">
            <a:avLst/>
          </a:prstGeom>
          <a:solidFill>
            <a:srgbClr val="3182F6"/>
          </a:solidFill>
          <a:ln w="19050">
            <a:solidFill>
              <a:srgbClr val="FFFFFF"/>
            </a:solidFill>
            <a:prstDash val="solid"/>
          </a:ln>
        </p:spPr>
      </p:sp>
      <p:sp>
        <p:nvSpPr>
          <p:cNvPr id="26" name="Text 23"/>
          <p:cNvSpPr txBox="1"/>
          <p:nvPr/>
        </p:nvSpPr>
        <p:spPr>
          <a:xfrm>
            <a:off x="5566410" y="4966335"/>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27" name="Shape 24"/>
          <p:cNvSpPr/>
          <p:nvPr/>
        </p:nvSpPr>
        <p:spPr>
          <a:xfrm>
            <a:off x="548640" y="5648706"/>
            <a:ext cx="5760720" cy="402336"/>
          </a:xfrm>
          <a:prstGeom prst="roundRect">
            <a:avLst>
              <a:gd name="adj" fmla="val 27273"/>
            </a:avLst>
          </a:prstGeom>
          <a:solidFill>
            <a:srgbClr val="F9FAFB"/>
          </a:solidFill>
          <a:ln w="9525">
            <a:solidFill>
              <a:srgbClr val="E5E8EB"/>
            </a:solidFill>
            <a:prstDash val="solid"/>
          </a:ln>
        </p:spPr>
      </p:sp>
      <p:sp>
        <p:nvSpPr>
          <p:cNvPr id="28" name="Text 25"/>
          <p:cNvSpPr txBox="1"/>
          <p:nvPr/>
        </p:nvSpPr>
        <p:spPr>
          <a:xfrm>
            <a:off x="749808" y="5648706"/>
            <a:ext cx="5394960" cy="402336"/>
          </a:xfrm>
          <a:prstGeom prst="rect">
            <a:avLst/>
          </a:prstGeom>
          <a:noFill/>
          <a:ln/>
        </p:spPr>
        <p:txBody>
          <a:bodyPr wrap="square" lIns="0" tIns="0" rIns="0" bIns="0" rtlCol="0" anchor="ctr"/>
          <a:lstStyle/>
          <a:p>
            <a:pPr marL="0" indent="0">
              <a:buNone/>
            </a:pPr>
            <a:r>
              <a:rPr lang="en-US" sz="1400" b="1" dirty="0" err="1">
                <a:solidFill>
                  <a:srgbClr val="191F28"/>
                </a:solidFill>
                <a:latin typeface="맑은 고딕" pitchFamily="34" charset="0"/>
                <a:ea typeface="맑은 고딕" pitchFamily="34" charset="-122"/>
                <a:cs typeface="맑은 고딕" pitchFamily="34" charset="-120"/>
              </a:rPr>
              <a:t>고객</a:t>
            </a:r>
            <a:r>
              <a:rPr lang="en-US" sz="1400" b="1" dirty="0">
                <a:solidFill>
                  <a:srgbClr val="191F28"/>
                </a:solidFill>
                <a:latin typeface="맑은 고딕" pitchFamily="34" charset="0"/>
                <a:ea typeface="맑은 고딕" pitchFamily="34" charset="-122"/>
                <a:cs typeface="맑은 고딕" pitchFamily="34" charset="-120"/>
              </a:rPr>
              <a:t> 정보 칸(아는 것만) → 계약 확인 → [보장분석 해줘]</a:t>
            </a:r>
            <a:endParaRPr lang="en-US" sz="1400" dirty="0"/>
          </a:p>
        </p:txBody>
      </p:sp>
      <p:sp>
        <p:nvSpPr>
          <p:cNvPr id="29" name="Shape 26"/>
          <p:cNvSpPr/>
          <p:nvPr/>
        </p:nvSpPr>
        <p:spPr>
          <a:xfrm>
            <a:off x="6675120" y="1947672"/>
            <a:ext cx="329184" cy="329184"/>
          </a:xfrm>
          <a:prstGeom prst="ellipse">
            <a:avLst/>
          </a:prstGeom>
          <a:solidFill>
            <a:srgbClr val="3182F6"/>
          </a:solidFill>
          <a:ln w="19050">
            <a:solidFill>
              <a:srgbClr val="FFFFFF"/>
            </a:solidFill>
            <a:prstDash val="solid"/>
          </a:ln>
        </p:spPr>
      </p:sp>
      <p:sp>
        <p:nvSpPr>
          <p:cNvPr id="30" name="Text 27"/>
          <p:cNvSpPr txBox="1"/>
          <p:nvPr/>
        </p:nvSpPr>
        <p:spPr>
          <a:xfrm>
            <a:off x="6675120" y="19476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1" name="Text 28"/>
          <p:cNvSpPr txBox="1"/>
          <p:nvPr/>
        </p:nvSpPr>
        <p:spPr>
          <a:xfrm>
            <a:off x="7132320" y="1938528"/>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담당 고객</a:t>
            </a:r>
            <a:endParaRPr lang="en-US" sz="1550" dirty="0"/>
          </a:p>
        </p:txBody>
      </p:sp>
      <p:sp>
        <p:nvSpPr>
          <p:cNvPr id="32" name="Text 29"/>
          <p:cNvSpPr txBox="1"/>
          <p:nvPr/>
        </p:nvSpPr>
        <p:spPr>
          <a:xfrm>
            <a:off x="7132320" y="2240280"/>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이름 · 사전조회 동의 남은 날(화면엔 ‘보장분석 동의’)</a:t>
            </a:r>
            <a:endParaRPr lang="en-US" sz="1200" dirty="0"/>
          </a:p>
        </p:txBody>
      </p:sp>
      <p:sp>
        <p:nvSpPr>
          <p:cNvPr id="33" name="Shape 30"/>
          <p:cNvSpPr/>
          <p:nvPr/>
        </p:nvSpPr>
        <p:spPr>
          <a:xfrm>
            <a:off x="6675120" y="2532888"/>
            <a:ext cx="329184" cy="329184"/>
          </a:xfrm>
          <a:prstGeom prst="ellipse">
            <a:avLst/>
          </a:prstGeom>
          <a:solidFill>
            <a:srgbClr val="3182F6"/>
          </a:solidFill>
          <a:ln w="19050">
            <a:solidFill>
              <a:srgbClr val="FFFFFF"/>
            </a:solidFill>
            <a:prstDash val="solid"/>
          </a:ln>
        </p:spPr>
      </p:sp>
      <p:sp>
        <p:nvSpPr>
          <p:cNvPr id="34" name="Text 31"/>
          <p:cNvSpPr txBox="1"/>
          <p:nvPr/>
        </p:nvSpPr>
        <p:spPr>
          <a:xfrm>
            <a:off x="6675120" y="25328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5" name="Text 32"/>
          <p:cNvSpPr txBox="1"/>
          <p:nvPr/>
        </p:nvSpPr>
        <p:spPr>
          <a:xfrm>
            <a:off x="7132320" y="2523744"/>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위 버튼 3개</a:t>
            </a:r>
            <a:endParaRPr lang="en-US" sz="1550" dirty="0"/>
          </a:p>
        </p:txBody>
      </p:sp>
      <p:sp>
        <p:nvSpPr>
          <p:cNvPr id="36" name="Text 33"/>
          <p:cNvSpPr txBox="1"/>
          <p:nvPr/>
        </p:nvSpPr>
        <p:spPr>
          <a:xfrm>
            <a:off x="7132320" y="2825496"/>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[보장 분석] · [사용중인 정보 수정]</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[요약 리포트] = 답이 온 뒤 켜져요 · 좋았던 답을 고객에게</a:t>
            </a:r>
            <a:endParaRPr lang="en-US" sz="1200" dirty="0"/>
          </a:p>
        </p:txBody>
      </p:sp>
      <p:sp>
        <p:nvSpPr>
          <p:cNvPr id="37" name="Shape 34"/>
          <p:cNvSpPr/>
          <p:nvPr/>
        </p:nvSpPr>
        <p:spPr>
          <a:xfrm>
            <a:off x="6675120" y="3328416"/>
            <a:ext cx="329184" cy="329184"/>
          </a:xfrm>
          <a:prstGeom prst="ellipse">
            <a:avLst/>
          </a:prstGeom>
          <a:solidFill>
            <a:srgbClr val="3182F6"/>
          </a:solidFill>
          <a:ln w="19050">
            <a:solidFill>
              <a:srgbClr val="FFFFFF"/>
            </a:solidFill>
            <a:prstDash val="solid"/>
          </a:ln>
        </p:spPr>
      </p:sp>
      <p:sp>
        <p:nvSpPr>
          <p:cNvPr id="38" name="Text 35"/>
          <p:cNvSpPr txBox="1"/>
          <p:nvPr/>
        </p:nvSpPr>
        <p:spPr>
          <a:xfrm>
            <a:off x="6675120" y="332841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9" name="Text 36"/>
          <p:cNvSpPr txBox="1"/>
          <p:nvPr/>
        </p:nvSpPr>
        <p:spPr>
          <a:xfrm>
            <a:off x="7132320" y="3319272"/>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선택된 정상 계약 리스트</a:t>
            </a:r>
            <a:endParaRPr lang="en-US" sz="1550" dirty="0"/>
          </a:p>
        </p:txBody>
      </p:sp>
      <p:sp>
        <p:nvSpPr>
          <p:cNvPr id="40" name="Text 37"/>
          <p:cNvSpPr txBox="1"/>
          <p:nvPr/>
        </p:nvSpPr>
        <p:spPr>
          <a:xfrm>
            <a:off x="7132320" y="3621024"/>
            <a:ext cx="4510735" cy="438912"/>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이번 대화에서 MeAI가 읽는 계약</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점 색 = 약관DB 준비 상태</a:t>
            </a:r>
            <a:endParaRPr lang="en-US" sz="1200" dirty="0"/>
          </a:p>
        </p:txBody>
      </p:sp>
      <p:sp>
        <p:nvSpPr>
          <p:cNvPr id="41" name="Shape 38"/>
          <p:cNvSpPr/>
          <p:nvPr/>
        </p:nvSpPr>
        <p:spPr>
          <a:xfrm>
            <a:off x="6675120" y="4123944"/>
            <a:ext cx="329184" cy="329184"/>
          </a:xfrm>
          <a:prstGeom prst="ellipse">
            <a:avLst/>
          </a:prstGeom>
          <a:solidFill>
            <a:srgbClr val="3182F6"/>
          </a:solidFill>
          <a:ln w="19050">
            <a:solidFill>
              <a:srgbClr val="FFFFFF"/>
            </a:solidFill>
            <a:prstDash val="solid"/>
          </a:ln>
        </p:spPr>
      </p:sp>
      <p:sp>
        <p:nvSpPr>
          <p:cNvPr id="42" name="Text 39"/>
          <p:cNvSpPr txBox="1"/>
          <p:nvPr/>
        </p:nvSpPr>
        <p:spPr>
          <a:xfrm>
            <a:off x="6675120" y="41239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43" name="Text 40"/>
          <p:cNvSpPr txBox="1"/>
          <p:nvPr/>
        </p:nvSpPr>
        <p:spPr>
          <a:xfrm>
            <a:off x="7132320" y="4114800"/>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질문 예시 [보장분석 해줘]</a:t>
            </a:r>
            <a:endParaRPr lang="en-US" sz="1550" dirty="0"/>
          </a:p>
        </p:txBody>
      </p:sp>
      <p:sp>
        <p:nvSpPr>
          <p:cNvPr id="44" name="Text 41"/>
          <p:cNvSpPr txBox="1"/>
          <p:nvPr/>
        </p:nvSpPr>
        <p:spPr>
          <a:xfrm>
            <a:off x="7132320" y="4416552"/>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누르면 바로 시작돼요</a:t>
            </a:r>
            <a:endParaRPr lang="en-US" sz="1200" dirty="0"/>
          </a:p>
        </p:txBody>
      </p:sp>
      <p:sp>
        <p:nvSpPr>
          <p:cNvPr id="45" name="Shape 42"/>
          <p:cNvSpPr/>
          <p:nvPr/>
        </p:nvSpPr>
        <p:spPr>
          <a:xfrm>
            <a:off x="6675120" y="4709160"/>
            <a:ext cx="329184" cy="329184"/>
          </a:xfrm>
          <a:prstGeom prst="ellipse">
            <a:avLst/>
          </a:prstGeom>
          <a:solidFill>
            <a:srgbClr val="3182F6"/>
          </a:solidFill>
          <a:ln w="19050">
            <a:solidFill>
              <a:srgbClr val="FFFFFF"/>
            </a:solidFill>
            <a:prstDash val="solid"/>
          </a:ln>
        </p:spPr>
      </p:sp>
      <p:sp>
        <p:nvSpPr>
          <p:cNvPr id="46" name="Text 43"/>
          <p:cNvSpPr txBox="1"/>
          <p:nvPr/>
        </p:nvSpPr>
        <p:spPr>
          <a:xfrm>
            <a:off x="6675120" y="47091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5</a:t>
            </a:r>
            <a:endParaRPr lang="en-US" sz="1300" dirty="0"/>
          </a:p>
        </p:txBody>
      </p:sp>
      <p:sp>
        <p:nvSpPr>
          <p:cNvPr id="47" name="Text 44"/>
          <p:cNvSpPr txBox="1"/>
          <p:nvPr/>
        </p:nvSpPr>
        <p:spPr>
          <a:xfrm>
            <a:off x="7132320" y="4700016"/>
            <a:ext cx="4510735" cy="29260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입력창</a:t>
            </a:r>
            <a:endParaRPr lang="en-US" sz="1550" dirty="0"/>
          </a:p>
        </p:txBody>
      </p:sp>
      <p:sp>
        <p:nvSpPr>
          <p:cNvPr id="48" name="Text 45"/>
          <p:cNvSpPr txBox="1"/>
          <p:nvPr/>
        </p:nvSpPr>
        <p:spPr>
          <a:xfrm>
            <a:off x="7132320" y="5001768"/>
            <a:ext cx="4510735" cy="2286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추천 질문으로 오면 채워져 있어요 · 전송(↑)만</a:t>
            </a:r>
            <a:endParaRPr lang="en-US" sz="1200" dirty="0"/>
          </a:p>
        </p:txBody>
      </p:sp>
      <p:sp>
        <p:nvSpPr>
          <p:cNvPr id="49" name="Shape 46"/>
          <p:cNvSpPr/>
          <p:nvPr/>
        </p:nvSpPr>
        <p:spPr>
          <a:xfrm>
            <a:off x="6675120" y="5303520"/>
            <a:ext cx="4967935" cy="950976"/>
          </a:xfrm>
          <a:prstGeom prst="roundRect">
            <a:avLst>
              <a:gd name="adj" fmla="val 13462"/>
            </a:avLst>
          </a:prstGeom>
          <a:solidFill>
            <a:srgbClr val="E8F3FF"/>
          </a:solidFill>
          <a:ln w="12700">
            <a:solidFill>
              <a:srgbClr val="E8F3FF"/>
            </a:solidFill>
            <a:prstDash val="solid"/>
          </a:ln>
        </p:spPr>
      </p:sp>
      <p:sp>
        <p:nvSpPr>
          <p:cNvPr id="50" name="Text 47"/>
          <p:cNvSpPr txBox="1"/>
          <p:nvPr/>
        </p:nvSpPr>
        <p:spPr>
          <a:xfrm>
            <a:off x="6858000" y="5431536"/>
            <a:ext cx="1117600" cy="310896"/>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이럴 때 써요</a:t>
            </a:r>
            <a:endParaRPr lang="en-US" sz="1250" dirty="0"/>
          </a:p>
        </p:txBody>
      </p:sp>
      <p:sp>
        <p:nvSpPr>
          <p:cNvPr id="51" name="Shape 48"/>
          <p:cNvSpPr/>
          <p:nvPr/>
        </p:nvSpPr>
        <p:spPr>
          <a:xfrm>
            <a:off x="7975600" y="5431536"/>
            <a:ext cx="913384" cy="310896"/>
          </a:xfrm>
          <a:prstGeom prst="roundRect">
            <a:avLst>
              <a:gd name="adj" fmla="val 50000"/>
            </a:avLst>
          </a:prstGeom>
          <a:solidFill>
            <a:srgbClr val="FFFFFF"/>
          </a:solidFill>
          <a:ln w="9525">
            <a:solidFill>
              <a:srgbClr val="C9E2FF"/>
            </a:solidFill>
            <a:prstDash val="solid"/>
          </a:ln>
        </p:spPr>
      </p:sp>
      <p:sp>
        <p:nvSpPr>
          <p:cNvPr id="52" name="Text 49"/>
          <p:cNvSpPr txBox="1"/>
          <p:nvPr/>
        </p:nvSpPr>
        <p:spPr>
          <a:xfrm>
            <a:off x="7975600" y="5431536"/>
            <a:ext cx="91338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보장분석</a:t>
            </a:r>
            <a:endParaRPr lang="en-US" sz="1150" dirty="0"/>
          </a:p>
        </p:txBody>
      </p:sp>
      <p:sp>
        <p:nvSpPr>
          <p:cNvPr id="53" name="Shape 50"/>
          <p:cNvSpPr/>
          <p:nvPr/>
        </p:nvSpPr>
        <p:spPr>
          <a:xfrm>
            <a:off x="8980424" y="5431536"/>
            <a:ext cx="1293114" cy="310896"/>
          </a:xfrm>
          <a:prstGeom prst="roundRect">
            <a:avLst>
              <a:gd name="adj" fmla="val 50000"/>
            </a:avLst>
          </a:prstGeom>
          <a:solidFill>
            <a:srgbClr val="FFFFFF"/>
          </a:solidFill>
          <a:ln w="9525">
            <a:solidFill>
              <a:srgbClr val="C9E2FF"/>
            </a:solidFill>
            <a:prstDash val="solid"/>
          </a:ln>
        </p:spPr>
      </p:sp>
      <p:sp>
        <p:nvSpPr>
          <p:cNvPr id="54" name="Text 51"/>
          <p:cNvSpPr txBox="1"/>
          <p:nvPr/>
        </p:nvSpPr>
        <p:spPr>
          <a:xfrm>
            <a:off x="8980424" y="5431536"/>
            <a:ext cx="1293114"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부족 보장 제안</a:t>
            </a:r>
            <a:endParaRPr lang="en-US" sz="1150" dirty="0"/>
          </a:p>
        </p:txBody>
      </p:sp>
      <p:sp>
        <p:nvSpPr>
          <p:cNvPr id="55" name="Shape 52"/>
          <p:cNvSpPr/>
          <p:nvPr/>
        </p:nvSpPr>
        <p:spPr>
          <a:xfrm>
            <a:off x="7975600" y="5815584"/>
            <a:ext cx="1558925" cy="310896"/>
          </a:xfrm>
          <a:prstGeom prst="roundRect">
            <a:avLst>
              <a:gd name="adj" fmla="val 50000"/>
            </a:avLst>
          </a:prstGeom>
          <a:solidFill>
            <a:srgbClr val="FFFFFF"/>
          </a:solidFill>
          <a:ln w="9525">
            <a:solidFill>
              <a:srgbClr val="C9E2FF"/>
            </a:solidFill>
            <a:prstDash val="solid"/>
          </a:ln>
        </p:spPr>
      </p:sp>
      <p:sp>
        <p:nvSpPr>
          <p:cNvPr id="56" name="Text 53"/>
          <p:cNvSpPr txBox="1"/>
          <p:nvPr/>
        </p:nvSpPr>
        <p:spPr>
          <a:xfrm>
            <a:off x="7975600" y="5815584"/>
            <a:ext cx="1558925" cy="310896"/>
          </a:xfrm>
          <a:prstGeom prst="rect">
            <a:avLst/>
          </a:prstGeom>
          <a:noFill/>
          <a:ln/>
        </p:spPr>
        <p:txBody>
          <a:bodyPr wrap="square" lIns="0" tIns="0" rIns="0" bIns="0" rtlCol="0" anchor="ctr"/>
          <a:lstStyle/>
          <a:p>
            <a:pPr marL="0" indent="0" algn="ctr">
              <a:buNone/>
            </a:pPr>
            <a:r>
              <a:rPr lang="en-US" sz="1150" b="1" dirty="0">
                <a:solidFill>
                  <a:srgbClr val="191F28"/>
                </a:solidFill>
                <a:latin typeface="맑은 고딕" pitchFamily="34" charset="0"/>
                <a:ea typeface="맑은 고딕" pitchFamily="34" charset="-122"/>
                <a:cs typeface="맑은 고딕" pitchFamily="34" charset="-120"/>
              </a:rPr>
              <a:t>요약 리포트 → 카톡</a:t>
            </a:r>
            <a:endParaRPr lang="en-US" sz="1150" dirty="0"/>
          </a:p>
        </p:txBody>
      </p:sp>
      <p:sp>
        <p:nvSpPr>
          <p:cNvPr id="57" name="Text 54"/>
          <p:cNvSpPr txBox="1"/>
          <p:nvPr/>
        </p:nvSpPr>
        <p:spPr>
          <a:xfrm>
            <a:off x="548640" y="6087618"/>
            <a:ext cx="5760720" cy="237744"/>
          </a:xfrm>
          <a:prstGeom prst="rect">
            <a:avLst/>
          </a:prstGeom>
          <a:noFill/>
          <a:ln/>
        </p:spPr>
        <p:txBody>
          <a:bodyPr wrap="square" lIns="0" tIns="0" rIns="0" bIns="0" rtlCol="0" anchor="ctr"/>
          <a:lstStyle/>
          <a:p>
            <a:pPr marL="0" indent="0">
              <a:buNone/>
            </a:pPr>
            <a:r>
              <a:rPr lang="en-US" sz="1050" dirty="0">
                <a:solidFill>
                  <a:srgbClr val="8B95A1"/>
                </a:solidFill>
                <a:latin typeface="맑은 고딕" pitchFamily="34" charset="0"/>
                <a:ea typeface="맑은 고딕" pitchFamily="34" charset="-122"/>
                <a:cs typeface="맑은 고딕" pitchFamily="34" charset="-120"/>
              </a:rPr>
              <a:t>화면: 확정 화면 · 고객찾기 추천 질문으로 들어온 예시 고객 · 이름·날짜·금액은 예시</a:t>
            </a:r>
            <a:endParaRPr lang="en-US" sz="1050" dirty="0"/>
          </a:p>
        </p:txBody>
      </p:sp>
      <p:sp>
        <p:nvSpPr>
          <p:cNvPr id="58" name="Text 5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9" name="Text 5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맞춤대화는 “보장분석 해줘” 한 </a:t>
            </a:r>
            <a:r>
              <a:rPr lang="en-US" sz="3400" b="1" dirty="0" err="1">
                <a:solidFill>
                  <a:srgbClr val="191F28"/>
                </a:solidFill>
                <a:latin typeface="맑은 고딕" pitchFamily="34" charset="0"/>
                <a:ea typeface="맑은 고딕" pitchFamily="34" charset="-122"/>
                <a:cs typeface="맑은 고딕" pitchFamily="34" charset="-120"/>
              </a:rPr>
              <a:t>마디로</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시작</a:t>
            </a:r>
            <a:endParaRPr lang="en-US" sz="3400" dirty="0"/>
          </a:p>
        </p:txBody>
      </p:sp>
      <p:sp>
        <p:nvSpPr>
          <p:cNvPr id="12" name="Shape 10"/>
          <p:cNvSpPr/>
          <p:nvPr/>
        </p:nvSpPr>
        <p:spPr>
          <a:xfrm>
            <a:off x="548640" y="1691640"/>
            <a:ext cx="4751524" cy="2697480"/>
          </a:xfrm>
          <a:prstGeom prst="roundRect">
            <a:avLst>
              <a:gd name="adj" fmla="val 352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3" name="Image 0" descr="MeAI 화면 캡처"/>
          <p:cNvPicPr>
            <a:picLocks noChangeAspect="1"/>
          </p:cNvPicPr>
          <p:nvPr/>
        </p:nvPicPr>
        <p:blipFill>
          <a:blip r:embed="rId3"/>
          <a:stretch>
            <a:fillRect/>
          </a:stretch>
        </p:blipFill>
        <p:spPr>
          <a:xfrm>
            <a:off x="548640" y="1691640"/>
            <a:ext cx="4751524" cy="2697480"/>
          </a:xfrm>
          <a:prstGeom prst="rect">
            <a:avLst/>
          </a:prstGeom>
        </p:spPr>
      </p:pic>
      <p:sp>
        <p:nvSpPr>
          <p:cNvPr id="14" name="Shape 11"/>
          <p:cNvSpPr/>
          <p:nvPr/>
        </p:nvSpPr>
        <p:spPr>
          <a:xfrm>
            <a:off x="1349201" y="2804020"/>
            <a:ext cx="329184" cy="329184"/>
          </a:xfrm>
          <a:prstGeom prst="ellipse">
            <a:avLst/>
          </a:prstGeom>
          <a:solidFill>
            <a:srgbClr val="3182F6"/>
          </a:solidFill>
          <a:ln w="19050">
            <a:solidFill>
              <a:srgbClr val="FFFFFF"/>
            </a:solidFill>
            <a:prstDash val="solid"/>
          </a:ln>
        </p:spPr>
      </p:sp>
      <p:sp>
        <p:nvSpPr>
          <p:cNvPr id="15" name="Text 12"/>
          <p:cNvSpPr txBox="1"/>
          <p:nvPr/>
        </p:nvSpPr>
        <p:spPr>
          <a:xfrm>
            <a:off x="1349201" y="280402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6" name="Shape 13"/>
          <p:cNvSpPr/>
          <p:nvPr/>
        </p:nvSpPr>
        <p:spPr>
          <a:xfrm>
            <a:off x="1349201" y="3313819"/>
            <a:ext cx="329184" cy="329184"/>
          </a:xfrm>
          <a:prstGeom prst="ellipse">
            <a:avLst/>
          </a:prstGeom>
          <a:solidFill>
            <a:srgbClr val="3182F6"/>
          </a:solidFill>
          <a:ln w="19050">
            <a:solidFill>
              <a:srgbClr val="FFFFFF"/>
            </a:solidFill>
            <a:prstDash val="solid"/>
          </a:ln>
        </p:spPr>
      </p:sp>
      <p:sp>
        <p:nvSpPr>
          <p:cNvPr id="17" name="Text 14"/>
          <p:cNvSpPr txBox="1"/>
          <p:nvPr/>
        </p:nvSpPr>
        <p:spPr>
          <a:xfrm>
            <a:off x="1349201" y="331381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18" name="Shape 15"/>
          <p:cNvSpPr/>
          <p:nvPr/>
        </p:nvSpPr>
        <p:spPr>
          <a:xfrm>
            <a:off x="4096176" y="3779073"/>
            <a:ext cx="329184" cy="329184"/>
          </a:xfrm>
          <a:prstGeom prst="ellipse">
            <a:avLst/>
          </a:prstGeom>
          <a:solidFill>
            <a:srgbClr val="3182F6"/>
          </a:solidFill>
          <a:ln w="19050">
            <a:solidFill>
              <a:srgbClr val="FFFFFF"/>
            </a:solidFill>
            <a:prstDash val="solid"/>
          </a:ln>
        </p:spPr>
      </p:sp>
      <p:sp>
        <p:nvSpPr>
          <p:cNvPr id="19" name="Text 16"/>
          <p:cNvSpPr txBox="1"/>
          <p:nvPr/>
        </p:nvSpPr>
        <p:spPr>
          <a:xfrm>
            <a:off x="4096176" y="3779073"/>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0" name="Shape 17"/>
          <p:cNvSpPr/>
          <p:nvPr/>
        </p:nvSpPr>
        <p:spPr>
          <a:xfrm>
            <a:off x="2301436" y="3147465"/>
            <a:ext cx="256032" cy="256032"/>
          </a:xfrm>
          <a:prstGeom prst="ellipse">
            <a:avLst/>
          </a:prstGeom>
          <a:solidFill>
            <a:srgbClr val="3182F6"/>
          </a:solidFill>
          <a:ln w="19050">
            <a:solidFill>
              <a:srgbClr val="FFFFFF"/>
            </a:solidFill>
            <a:prstDash val="solid"/>
          </a:ln>
        </p:spPr>
      </p:sp>
      <p:sp>
        <p:nvSpPr>
          <p:cNvPr id="21" name="Text 18"/>
          <p:cNvSpPr txBox="1"/>
          <p:nvPr/>
        </p:nvSpPr>
        <p:spPr>
          <a:xfrm>
            <a:off x="2301436" y="3147465"/>
            <a:ext cx="256032" cy="256032"/>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2" name="Shape 19"/>
          <p:cNvSpPr/>
          <p:nvPr/>
        </p:nvSpPr>
        <p:spPr>
          <a:xfrm>
            <a:off x="4396880" y="3832301"/>
            <a:ext cx="581567" cy="222728"/>
          </a:xfrm>
          <a:prstGeom prst="roundRect">
            <a:avLst>
              <a:gd name="adj" fmla="val 16422"/>
            </a:avLst>
          </a:prstGeom>
          <a:ln w="25400">
            <a:solidFill>
              <a:srgbClr val="F04452"/>
            </a:solidFill>
            <a:prstDash val="solid"/>
          </a:ln>
        </p:spPr>
      </p:sp>
      <p:sp>
        <p:nvSpPr>
          <p:cNvPr id="23" name="Shape 20"/>
          <p:cNvSpPr/>
          <p:nvPr/>
        </p:nvSpPr>
        <p:spPr>
          <a:xfrm>
            <a:off x="5806440" y="1691640"/>
            <a:ext cx="2000250" cy="329184"/>
          </a:xfrm>
          <a:prstGeom prst="roundRect">
            <a:avLst>
              <a:gd name="adj" fmla="val 50000"/>
            </a:avLst>
          </a:prstGeom>
          <a:solidFill>
            <a:srgbClr val="191F28"/>
          </a:solidFill>
          <a:ln w="12700">
            <a:solidFill>
              <a:srgbClr val="191F28"/>
            </a:solidFill>
            <a:prstDash val="solid"/>
          </a:ln>
        </p:spPr>
      </p:sp>
      <p:sp>
        <p:nvSpPr>
          <p:cNvPr id="24" name="Text 21"/>
          <p:cNvSpPr txBox="1"/>
          <p:nvPr/>
        </p:nvSpPr>
        <p:spPr>
          <a:xfrm>
            <a:off x="5806440" y="1691640"/>
            <a:ext cx="20002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고객 정보는 아는 것만</a:t>
            </a:r>
            <a:endParaRPr lang="en-US" sz="1300" dirty="0"/>
          </a:p>
        </p:txBody>
      </p:sp>
      <p:sp>
        <p:nvSpPr>
          <p:cNvPr id="25" name="Shape 22"/>
          <p:cNvSpPr/>
          <p:nvPr/>
        </p:nvSpPr>
        <p:spPr>
          <a:xfrm>
            <a:off x="5806440" y="2148840"/>
            <a:ext cx="329184" cy="329184"/>
          </a:xfrm>
          <a:prstGeom prst="ellipse">
            <a:avLst/>
          </a:prstGeom>
          <a:solidFill>
            <a:srgbClr val="3182F6"/>
          </a:solidFill>
          <a:ln w="19050">
            <a:solidFill>
              <a:srgbClr val="FFFFFF"/>
            </a:solidFill>
            <a:prstDash val="solid"/>
          </a:ln>
        </p:spPr>
      </p:sp>
      <p:sp>
        <p:nvSpPr>
          <p:cNvPr id="26" name="Text 23"/>
          <p:cNvSpPr txBox="1"/>
          <p:nvPr/>
        </p:nvSpPr>
        <p:spPr>
          <a:xfrm>
            <a:off x="5806440" y="21488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27" name="Text 24"/>
          <p:cNvSpPr txBox="1"/>
          <p:nvPr/>
        </p:nvSpPr>
        <p:spPr>
          <a:xfrm>
            <a:off x="6245352" y="2121408"/>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병력·가족력이 핵심</a:t>
            </a:r>
            <a:endParaRPr lang="en-US" sz="1550" dirty="0"/>
          </a:p>
        </p:txBody>
      </p:sp>
      <p:sp>
        <p:nvSpPr>
          <p:cNvPr id="28" name="Text 25"/>
          <p:cNvSpPr txBox="1"/>
          <p:nvPr/>
        </p:nvSpPr>
        <p:spPr>
          <a:xfrm>
            <a:off x="8412480" y="2084832"/>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답의 방향을 가장 크게 바꿔요</a:t>
            </a:r>
            <a:endParaRPr lang="en-US" sz="1200" dirty="0"/>
          </a:p>
        </p:txBody>
      </p:sp>
      <p:sp>
        <p:nvSpPr>
          <p:cNvPr id="29" name="Shape 26"/>
          <p:cNvSpPr/>
          <p:nvPr/>
        </p:nvSpPr>
        <p:spPr>
          <a:xfrm>
            <a:off x="5806440" y="2715768"/>
            <a:ext cx="329184" cy="329184"/>
          </a:xfrm>
          <a:prstGeom prst="ellipse">
            <a:avLst/>
          </a:prstGeom>
          <a:solidFill>
            <a:srgbClr val="3182F6"/>
          </a:solidFill>
          <a:ln w="19050">
            <a:solidFill>
              <a:srgbClr val="FFFFFF"/>
            </a:solidFill>
            <a:prstDash val="solid"/>
          </a:ln>
        </p:spPr>
      </p:sp>
      <p:sp>
        <p:nvSpPr>
          <p:cNvPr id="30" name="Text 27"/>
          <p:cNvSpPr txBox="1"/>
          <p:nvPr/>
        </p:nvSpPr>
        <p:spPr>
          <a:xfrm>
            <a:off x="5806440" y="27157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1" name="Text 28"/>
          <p:cNvSpPr txBox="1"/>
          <p:nvPr/>
        </p:nvSpPr>
        <p:spPr>
          <a:xfrm>
            <a:off x="6245352" y="2688336"/>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희망 보험료</a:t>
            </a:r>
            <a:endParaRPr lang="en-US" sz="1550" dirty="0"/>
          </a:p>
        </p:txBody>
      </p:sp>
      <p:sp>
        <p:nvSpPr>
          <p:cNvPr id="32" name="Text 29"/>
          <p:cNvSpPr txBox="1"/>
          <p:nvPr/>
        </p:nvSpPr>
        <p:spPr>
          <a:xfrm>
            <a:off x="8412480" y="2651760"/>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넣으면 예산 안에서 제안해요</a:t>
            </a:r>
            <a:endParaRPr lang="en-US" sz="1200" dirty="0"/>
          </a:p>
        </p:txBody>
      </p:sp>
      <p:sp>
        <p:nvSpPr>
          <p:cNvPr id="33" name="Shape 30"/>
          <p:cNvSpPr/>
          <p:nvPr/>
        </p:nvSpPr>
        <p:spPr>
          <a:xfrm>
            <a:off x="5806440" y="3282696"/>
            <a:ext cx="329184" cy="329184"/>
          </a:xfrm>
          <a:prstGeom prst="ellipse">
            <a:avLst/>
          </a:prstGeom>
          <a:solidFill>
            <a:srgbClr val="3182F6"/>
          </a:solidFill>
          <a:ln w="19050">
            <a:solidFill>
              <a:srgbClr val="FFFFFF"/>
            </a:solidFill>
            <a:prstDash val="solid"/>
          </a:ln>
        </p:spPr>
      </p:sp>
      <p:sp>
        <p:nvSpPr>
          <p:cNvPr id="34" name="Text 31"/>
          <p:cNvSpPr txBox="1"/>
          <p:nvPr/>
        </p:nvSpPr>
        <p:spPr>
          <a:xfrm>
            <a:off x="5806440" y="328269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35" name="Text 32"/>
          <p:cNvSpPr txBox="1"/>
          <p:nvPr/>
        </p:nvSpPr>
        <p:spPr>
          <a:xfrm>
            <a:off x="6245352" y="3255264"/>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메모엔 상황만</a:t>
            </a:r>
            <a:endParaRPr lang="en-US" sz="1550" dirty="0"/>
          </a:p>
        </p:txBody>
      </p:sp>
      <p:sp>
        <p:nvSpPr>
          <p:cNvPr id="36" name="Text 33"/>
          <p:cNvSpPr txBox="1"/>
          <p:nvPr/>
        </p:nvSpPr>
        <p:spPr>
          <a:xfrm>
            <a:off x="8412480" y="3218688"/>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“자녀 결혼 앞둠”처럼 적어요</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이름·연락처는 넣지 않아요</a:t>
            </a:r>
            <a:endParaRPr lang="en-US" sz="1200" dirty="0"/>
          </a:p>
        </p:txBody>
      </p:sp>
      <p:sp>
        <p:nvSpPr>
          <p:cNvPr id="37" name="Shape 34"/>
          <p:cNvSpPr/>
          <p:nvPr/>
        </p:nvSpPr>
        <p:spPr>
          <a:xfrm>
            <a:off x="5806440" y="3849624"/>
            <a:ext cx="329184" cy="329184"/>
          </a:xfrm>
          <a:prstGeom prst="ellipse">
            <a:avLst/>
          </a:prstGeom>
          <a:solidFill>
            <a:srgbClr val="3182F6"/>
          </a:solidFill>
          <a:ln w="19050">
            <a:solidFill>
              <a:srgbClr val="FFFFFF"/>
            </a:solidFill>
            <a:prstDash val="solid"/>
          </a:ln>
        </p:spPr>
      </p:sp>
      <p:sp>
        <p:nvSpPr>
          <p:cNvPr id="38" name="Text 35"/>
          <p:cNvSpPr txBox="1"/>
          <p:nvPr/>
        </p:nvSpPr>
        <p:spPr>
          <a:xfrm>
            <a:off x="5806440" y="38496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39" name="Text 36"/>
          <p:cNvSpPr txBox="1"/>
          <p:nvPr/>
        </p:nvSpPr>
        <p:spPr>
          <a:xfrm>
            <a:off x="6245352" y="3822192"/>
            <a:ext cx="2148840"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[입력 완료]로 반영</a:t>
            </a:r>
            <a:endParaRPr lang="en-US" sz="1550" dirty="0"/>
          </a:p>
        </p:txBody>
      </p:sp>
      <p:sp>
        <p:nvSpPr>
          <p:cNvPr id="40" name="Text 37"/>
          <p:cNvSpPr txBox="1"/>
          <p:nvPr/>
        </p:nvSpPr>
        <p:spPr>
          <a:xfrm>
            <a:off x="8412480" y="3785616"/>
            <a:ext cx="3230575" cy="457200"/>
          </a:xfrm>
          <a:prstGeom prst="rect">
            <a:avLst/>
          </a:prstGeom>
          <a:noFill/>
          <a:ln/>
        </p:spPr>
        <p:txBody>
          <a:bodyPr wrap="square" lIns="0" tIns="0" rIns="0" bIns="0" rtlCol="0" anchor="ctr"/>
          <a:lstStyle/>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비울 땐 [입력하지 않고 넘어가기]</a:t>
            </a:r>
            <a:endParaRPr lang="en-US" sz="1200" dirty="0"/>
          </a:p>
          <a:p>
            <a:pPr marL="0" indent="0">
              <a:lnSpc>
                <a:spcPct val="100000"/>
              </a:lnSpc>
              <a:buNone/>
            </a:pPr>
            <a:r>
              <a:rPr lang="en-US" sz="1200" dirty="0">
                <a:solidFill>
                  <a:srgbClr val="6B7684"/>
                </a:solidFill>
                <a:latin typeface="맑은 고딕" pitchFamily="34" charset="0"/>
                <a:ea typeface="맑은 고딕" pitchFamily="34" charset="-122"/>
                <a:cs typeface="맑은 고딕" pitchFamily="34" charset="-120"/>
              </a:rPr>
              <a:t>고칠 땐 [사용중인 정보 수정]</a:t>
            </a:r>
            <a:endParaRPr lang="en-US" sz="1200" dirty="0"/>
          </a:p>
        </p:txBody>
      </p:sp>
      <p:sp>
        <p:nvSpPr>
          <p:cNvPr id="41" name="Shape 38"/>
          <p:cNvSpPr/>
          <p:nvPr/>
        </p:nvSpPr>
        <p:spPr>
          <a:xfrm>
            <a:off x="5806440" y="4389120"/>
            <a:ext cx="5836615" cy="566928"/>
          </a:xfrm>
          <a:prstGeom prst="roundRect">
            <a:avLst>
              <a:gd name="adj" fmla="val 19355"/>
            </a:avLst>
          </a:prstGeom>
          <a:solidFill>
            <a:srgbClr val="F9FAFB"/>
          </a:solidFill>
          <a:ln w="12700">
            <a:solidFill>
              <a:srgbClr val="F9FAFB"/>
            </a:solidFill>
            <a:prstDash val="solid"/>
          </a:ln>
        </p:spPr>
      </p:sp>
      <p:sp>
        <p:nvSpPr>
          <p:cNvPr id="42" name="Text 39"/>
          <p:cNvSpPr txBox="1"/>
          <p:nvPr/>
        </p:nvSpPr>
        <p:spPr>
          <a:xfrm>
            <a:off x="5989320" y="4389120"/>
            <a:ext cx="5562295" cy="566928"/>
          </a:xfrm>
          <a:prstGeom prst="rect">
            <a:avLst/>
          </a:prstGeom>
          <a:noFill/>
          <a:ln/>
        </p:spPr>
        <p:txBody>
          <a:bodyPr wrap="square" lIns="0" tIns="0" rIns="0" bIns="0" rtlCol="0" anchor="ctr"/>
          <a:lstStyle/>
          <a:p>
            <a:pPr marL="0" indent="0">
              <a:lnSpc>
                <a:spcPct val="110000"/>
              </a:lnSpc>
              <a:buNone/>
            </a:pPr>
            <a:r>
              <a:rPr lang="ko-KR" altLang="en-US" sz="1200" dirty="0">
                <a:solidFill>
                  <a:srgbClr val="4E5968"/>
                </a:solidFill>
                <a:latin typeface="맑은 고딕" pitchFamily="34" charset="0"/>
                <a:ea typeface="맑은 고딕" pitchFamily="34" charset="-122"/>
                <a:cs typeface="맑은 고딕" pitchFamily="34" charset="-120"/>
              </a:rPr>
              <a:t>아직 고객에 대한 정보를 잘 모르겠다면 </a:t>
            </a:r>
            <a:r>
              <a:rPr lang="en-US" altLang="ko-KR" sz="1200" b="1" u="sng" dirty="0">
                <a:solidFill>
                  <a:srgbClr val="4E5968"/>
                </a:solidFill>
                <a:latin typeface="맑은 고딕" pitchFamily="34" charset="0"/>
                <a:ea typeface="맑은 고딕" pitchFamily="34" charset="-122"/>
                <a:cs typeface="맑은 고딕" pitchFamily="34" charset="-120"/>
              </a:rPr>
              <a:t>“</a:t>
            </a:r>
            <a:r>
              <a:rPr lang="ko-KR" altLang="en-US" sz="1200" b="1" u="sng" dirty="0">
                <a:solidFill>
                  <a:srgbClr val="4E5968"/>
                </a:solidFill>
                <a:latin typeface="맑은 고딕" pitchFamily="34" charset="0"/>
                <a:ea typeface="맑은 고딕" pitchFamily="34" charset="-122"/>
                <a:cs typeface="맑은 고딕" pitchFamily="34" charset="-120"/>
              </a:rPr>
              <a:t>입력하지 않고 넘어가기</a:t>
            </a:r>
            <a:r>
              <a:rPr lang="en-US" altLang="ko-KR" sz="1200" b="1" u="sng" dirty="0">
                <a:solidFill>
                  <a:srgbClr val="4E5968"/>
                </a:solidFill>
                <a:latin typeface="맑은 고딕" pitchFamily="34" charset="0"/>
                <a:ea typeface="맑은 고딕" pitchFamily="34" charset="-122"/>
                <a:cs typeface="맑은 고딕" pitchFamily="34" charset="-120"/>
              </a:rPr>
              <a:t>“</a:t>
            </a:r>
            <a:endParaRPr lang="en-US" sz="1200" b="1" u="sng" dirty="0"/>
          </a:p>
        </p:txBody>
      </p:sp>
      <p:sp>
        <p:nvSpPr>
          <p:cNvPr id="43" name="Shape 40"/>
          <p:cNvSpPr/>
          <p:nvPr/>
        </p:nvSpPr>
        <p:spPr>
          <a:xfrm>
            <a:off x="548640" y="4754880"/>
            <a:ext cx="4937760" cy="968801"/>
          </a:xfrm>
          <a:prstGeom prst="roundRect">
            <a:avLst>
              <a:gd name="adj" fmla="val 10194"/>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44" name="Image 1" descr="MeAI 화면 캡처"/>
          <p:cNvPicPr>
            <a:picLocks noChangeAspect="1"/>
          </p:cNvPicPr>
          <p:nvPr/>
        </p:nvPicPr>
        <p:blipFill>
          <a:blip r:embed="rId4"/>
          <a:stretch>
            <a:fillRect/>
          </a:stretch>
        </p:blipFill>
        <p:spPr>
          <a:xfrm>
            <a:off x="548640" y="4754880"/>
            <a:ext cx="4937760" cy="968801"/>
          </a:xfrm>
          <a:prstGeom prst="rect">
            <a:avLst/>
          </a:prstGeom>
        </p:spPr>
      </p:pic>
      <p:sp>
        <p:nvSpPr>
          <p:cNvPr id="45" name="Shape 41"/>
          <p:cNvSpPr/>
          <p:nvPr/>
        </p:nvSpPr>
        <p:spPr>
          <a:xfrm>
            <a:off x="673647" y="5014269"/>
            <a:ext cx="743789" cy="209386"/>
          </a:xfrm>
          <a:prstGeom prst="roundRect">
            <a:avLst>
              <a:gd name="adj" fmla="val 17468"/>
            </a:avLst>
          </a:prstGeom>
          <a:ln w="25400">
            <a:solidFill>
              <a:srgbClr val="F04452"/>
            </a:solidFill>
            <a:prstDash val="solid"/>
          </a:ln>
        </p:spPr>
      </p:sp>
      <p:sp>
        <p:nvSpPr>
          <p:cNvPr id="46" name="Shape 42"/>
          <p:cNvSpPr/>
          <p:nvPr/>
        </p:nvSpPr>
        <p:spPr>
          <a:xfrm>
            <a:off x="1424496" y="4961951"/>
            <a:ext cx="310896" cy="310896"/>
          </a:xfrm>
          <a:prstGeom prst="ellipse">
            <a:avLst/>
          </a:prstGeom>
          <a:solidFill>
            <a:srgbClr val="3182F6"/>
          </a:solidFill>
          <a:ln w="19050">
            <a:solidFill>
              <a:srgbClr val="FFFFFF"/>
            </a:solidFill>
            <a:prstDash val="solid"/>
          </a:ln>
        </p:spPr>
      </p:sp>
      <p:sp>
        <p:nvSpPr>
          <p:cNvPr id="47" name="Text 43"/>
          <p:cNvSpPr txBox="1"/>
          <p:nvPr/>
        </p:nvSpPr>
        <p:spPr>
          <a:xfrm>
            <a:off x="1424496" y="4961951"/>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p>
        </p:txBody>
      </p:sp>
      <p:sp>
        <p:nvSpPr>
          <p:cNvPr id="48" name="Shape 44"/>
          <p:cNvSpPr/>
          <p:nvPr/>
        </p:nvSpPr>
        <p:spPr>
          <a:xfrm>
            <a:off x="4830926" y="5177587"/>
            <a:ext cx="310896" cy="310896"/>
          </a:xfrm>
          <a:prstGeom prst="ellipse">
            <a:avLst/>
          </a:prstGeom>
          <a:solidFill>
            <a:srgbClr val="3182F6"/>
          </a:solidFill>
          <a:ln w="19050">
            <a:solidFill>
              <a:srgbClr val="FFFFFF"/>
            </a:solidFill>
            <a:prstDash val="solid"/>
          </a:ln>
        </p:spPr>
      </p:sp>
      <p:sp>
        <p:nvSpPr>
          <p:cNvPr id="49" name="Text 45"/>
          <p:cNvSpPr txBox="1"/>
          <p:nvPr/>
        </p:nvSpPr>
        <p:spPr>
          <a:xfrm>
            <a:off x="4830926" y="5177587"/>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p>
        </p:txBody>
      </p:sp>
      <p:sp>
        <p:nvSpPr>
          <p:cNvPr id="50" name="Shape 46"/>
          <p:cNvSpPr/>
          <p:nvPr/>
        </p:nvSpPr>
        <p:spPr>
          <a:xfrm>
            <a:off x="5806440" y="5074920"/>
            <a:ext cx="1835150" cy="329184"/>
          </a:xfrm>
          <a:prstGeom prst="roundRect">
            <a:avLst>
              <a:gd name="adj" fmla="val 50000"/>
            </a:avLst>
          </a:prstGeom>
          <a:solidFill>
            <a:srgbClr val="191F28"/>
          </a:solidFill>
          <a:ln w="12700">
            <a:solidFill>
              <a:srgbClr val="191F28"/>
            </a:solidFill>
            <a:prstDash val="solid"/>
          </a:ln>
        </p:spPr>
      </p:sp>
      <p:sp>
        <p:nvSpPr>
          <p:cNvPr id="51" name="Text 47"/>
          <p:cNvSpPr txBox="1"/>
          <p:nvPr/>
        </p:nvSpPr>
        <p:spPr>
          <a:xfrm>
            <a:off x="5806440" y="5074920"/>
            <a:ext cx="183515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첫 질문은 버튼 하나</a:t>
            </a:r>
            <a:endParaRPr lang="en-US" sz="1300" dirty="0"/>
          </a:p>
        </p:txBody>
      </p:sp>
      <p:sp>
        <p:nvSpPr>
          <p:cNvPr id="52" name="Shape 48"/>
          <p:cNvSpPr/>
          <p:nvPr/>
        </p:nvSpPr>
        <p:spPr>
          <a:xfrm>
            <a:off x="5806440" y="5486400"/>
            <a:ext cx="292608" cy="292608"/>
          </a:xfrm>
          <a:prstGeom prst="ellipse">
            <a:avLst/>
          </a:prstGeom>
          <a:solidFill>
            <a:srgbClr val="3182F6"/>
          </a:solidFill>
          <a:ln w="19050">
            <a:solidFill>
              <a:srgbClr val="FFFFFF"/>
            </a:solidFill>
            <a:prstDash val="solid"/>
          </a:ln>
        </p:spPr>
      </p:sp>
      <p:sp>
        <p:nvSpPr>
          <p:cNvPr id="53" name="Text 49"/>
          <p:cNvSpPr txBox="1"/>
          <p:nvPr/>
        </p:nvSpPr>
        <p:spPr>
          <a:xfrm>
            <a:off x="5806440" y="54864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54" name="Text 50"/>
          <p:cNvSpPr txBox="1"/>
          <p:nvPr/>
        </p:nvSpPr>
        <p:spPr>
          <a:xfrm>
            <a:off x="6190488" y="546811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[보장분석 해줘] 한 번</a:t>
            </a:r>
            <a:endParaRPr lang="en-US" sz="1450" dirty="0"/>
          </a:p>
        </p:txBody>
      </p:sp>
      <p:sp>
        <p:nvSpPr>
          <p:cNvPr id="55" name="Text 51"/>
          <p:cNvSpPr txBox="1"/>
          <p:nvPr/>
        </p:nvSpPr>
        <p:spPr>
          <a:xfrm>
            <a:off x="8412480" y="546811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입력창 위 버튼으로 전체 그림부터 봐요</a:t>
            </a:r>
            <a:endParaRPr lang="en-US" sz="1250" dirty="0"/>
          </a:p>
        </p:txBody>
      </p:sp>
      <p:sp>
        <p:nvSpPr>
          <p:cNvPr id="56" name="Shape 52"/>
          <p:cNvSpPr/>
          <p:nvPr/>
        </p:nvSpPr>
        <p:spPr>
          <a:xfrm>
            <a:off x="5806440" y="5852160"/>
            <a:ext cx="292608" cy="292608"/>
          </a:xfrm>
          <a:prstGeom prst="ellipse">
            <a:avLst/>
          </a:prstGeom>
          <a:solidFill>
            <a:srgbClr val="3182F6"/>
          </a:solidFill>
          <a:ln w="19050">
            <a:solidFill>
              <a:srgbClr val="FFFFFF"/>
            </a:solidFill>
            <a:prstDash val="solid"/>
          </a:ln>
        </p:spPr>
      </p:sp>
      <p:sp>
        <p:nvSpPr>
          <p:cNvPr id="57" name="Text 53"/>
          <p:cNvSpPr txBox="1"/>
          <p:nvPr/>
        </p:nvSpPr>
        <p:spPr>
          <a:xfrm>
            <a:off x="5806440" y="58521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6</a:t>
            </a:r>
            <a:endParaRPr lang="en-US" sz="1200" dirty="0"/>
          </a:p>
        </p:txBody>
      </p:sp>
      <p:sp>
        <p:nvSpPr>
          <p:cNvPr id="58" name="Text 54"/>
          <p:cNvSpPr txBox="1"/>
          <p:nvPr/>
        </p:nvSpPr>
        <p:spPr>
          <a:xfrm>
            <a:off x="6190488" y="5833872"/>
            <a:ext cx="2194560" cy="329184"/>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추천 질문으로 왔다면</a:t>
            </a:r>
            <a:endParaRPr lang="en-US" sz="1450" dirty="0"/>
          </a:p>
        </p:txBody>
      </p:sp>
      <p:sp>
        <p:nvSpPr>
          <p:cNvPr id="59" name="Text 55"/>
          <p:cNvSpPr txBox="1"/>
          <p:nvPr/>
        </p:nvSpPr>
        <p:spPr>
          <a:xfrm>
            <a:off x="8412480" y="5833872"/>
            <a:ext cx="3230575" cy="329184"/>
          </a:xfrm>
          <a:prstGeom prst="rect">
            <a:avLst/>
          </a:prstGeom>
          <a:noFill/>
          <a:ln/>
        </p:spPr>
        <p:txBody>
          <a:bodyPr wrap="square" lIns="0" tIns="0" rIns="0" bIns="0" rtlCol="0" anchor="ctr"/>
          <a:lstStyle/>
          <a:p>
            <a:pPr marL="0" indent="0">
              <a:buNone/>
            </a:pPr>
            <a:r>
              <a:rPr lang="en-US" sz="1250" dirty="0">
                <a:solidFill>
                  <a:srgbClr val="6B7684"/>
                </a:solidFill>
                <a:latin typeface="맑은 고딕" pitchFamily="34" charset="0"/>
                <a:ea typeface="맑은 고딕" pitchFamily="34" charset="-122"/>
                <a:cs typeface="맑은 고딕" pitchFamily="34" charset="-120"/>
              </a:rPr>
              <a:t>채워진 질문은 전송(↑)만</a:t>
            </a:r>
            <a:endParaRPr lang="en-US" sz="1250" dirty="0"/>
          </a:p>
        </p:txBody>
      </p:sp>
      <p:sp>
        <p:nvSpPr>
          <p:cNvPr id="60" name="Text 56"/>
          <p:cNvSpPr txBox="1"/>
          <p:nvPr/>
        </p:nvSpPr>
        <p:spPr>
          <a:xfrm>
            <a:off x="548640" y="5833872"/>
            <a:ext cx="5120640" cy="457200"/>
          </a:xfrm>
          <a:prstGeom prst="rect">
            <a:avLst/>
          </a:prstGeom>
          <a:noFill/>
          <a:ln/>
        </p:spPr>
        <p:txBody>
          <a:bodyPr wrap="square" lIns="0" tIns="0" rIns="0" bIns="0" rtlCol="0" anchor="ctr"/>
          <a:lstStyle/>
          <a:p>
            <a:pPr marL="0" indent="0">
              <a:lnSpc>
                <a:spcPct val="105000"/>
              </a:lnSpc>
              <a:buNone/>
            </a:pPr>
            <a:r>
              <a:rPr lang="en-US" sz="1200" b="1" dirty="0">
                <a:solidFill>
                  <a:srgbClr val="7048E8"/>
                </a:solidFill>
                <a:latin typeface="맑은 고딕" pitchFamily="34" charset="0"/>
                <a:ea typeface="맑은 고딕" pitchFamily="34" charset="-122"/>
                <a:cs typeface="맑은 고딕" pitchFamily="34" charset="-120"/>
              </a:rPr>
              <a:t>[이 고객으로 맞춤대화 시작] → [보장분석 해줘] → 담보를 좁혀 다시 묻기</a:t>
            </a:r>
            <a:endParaRPr lang="en-US" sz="1200" dirty="0"/>
          </a:p>
        </p:txBody>
      </p:sp>
      <p:sp>
        <p:nvSpPr>
          <p:cNvPr id="62" name="Text 5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3" name="Text 5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 · 질문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err="1">
                <a:solidFill>
                  <a:srgbClr val="191F28"/>
                </a:solidFill>
                <a:latin typeface="맑은 고딕" pitchFamily="34" charset="0"/>
                <a:ea typeface="맑은 고딕" pitchFamily="34" charset="-122"/>
                <a:cs typeface="맑은 고딕" pitchFamily="34" charset="-120"/>
              </a:rPr>
              <a:t>질문</a:t>
            </a:r>
            <a:r>
              <a:rPr lang="ko-KR" altLang="en-US" sz="3400" b="1" dirty="0">
                <a:solidFill>
                  <a:srgbClr val="191F28"/>
                </a:solidFill>
                <a:latin typeface="맑은 고딕" pitchFamily="34" charset="0"/>
                <a:ea typeface="맑은 고딕" pitchFamily="34" charset="-122"/>
                <a:cs typeface="맑은 고딕" pitchFamily="34" charset="-120"/>
              </a:rPr>
              <a:t>을 고민할 필요 없이 클릭으로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추천 프롬프트와 프롬프트 라이브러리</a:t>
            </a:r>
            <a:r>
              <a:rPr lang="en-US" altLang="ko-KR"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꼬리질문을 통해 클릭으로 진행하는 </a:t>
            </a:r>
            <a:r>
              <a:rPr lang="en-US" altLang="ko-KR" sz="1700" dirty="0" err="1">
                <a:solidFill>
                  <a:srgbClr val="6B7684"/>
                </a:solidFill>
                <a:latin typeface="맑은 고딕" pitchFamily="34" charset="0"/>
                <a:ea typeface="맑은 고딕" pitchFamily="34" charset="-122"/>
                <a:cs typeface="맑은 고딕" pitchFamily="34" charset="-120"/>
              </a:rPr>
              <a:t>MeAI</a:t>
            </a:r>
            <a:endParaRPr lang="en-US" sz="1700" dirty="0"/>
          </a:p>
        </p:txBody>
      </p:sp>
      <p:sp>
        <p:nvSpPr>
          <p:cNvPr id="13" name="Shape 11"/>
          <p:cNvSpPr/>
          <p:nvPr/>
        </p:nvSpPr>
        <p:spPr>
          <a:xfrm>
            <a:off x="548640" y="1874520"/>
            <a:ext cx="2609012" cy="3401568"/>
          </a:xfrm>
          <a:prstGeom prst="roundRect">
            <a:avLst>
              <a:gd name="adj" fmla="val 5608"/>
            </a:avLst>
          </a:prstGeom>
          <a:solidFill>
            <a:srgbClr val="F9FAFB"/>
          </a:solidFill>
          <a:ln w="12700">
            <a:solidFill>
              <a:srgbClr val="F9FAFB"/>
            </a:solidFill>
            <a:prstDash val="solid"/>
          </a:ln>
        </p:spPr>
      </p:sp>
      <p:sp>
        <p:nvSpPr>
          <p:cNvPr id="14" name="Text 12"/>
          <p:cNvSpPr txBox="1"/>
          <p:nvPr/>
        </p:nvSpPr>
        <p:spPr>
          <a:xfrm>
            <a:off x="731520"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① 시작할 때</a:t>
            </a:r>
            <a:endParaRPr lang="en-US" sz="1700" dirty="0"/>
          </a:p>
        </p:txBody>
      </p:sp>
      <p:sp>
        <p:nvSpPr>
          <p:cNvPr id="15" name="Shape 13"/>
          <p:cNvSpPr/>
          <p:nvPr/>
        </p:nvSpPr>
        <p:spPr>
          <a:xfrm>
            <a:off x="731520" y="2304288"/>
            <a:ext cx="1183640" cy="274320"/>
          </a:xfrm>
          <a:prstGeom prst="roundRect">
            <a:avLst>
              <a:gd name="adj" fmla="val 50000"/>
            </a:avLst>
          </a:prstGeom>
          <a:solidFill>
            <a:srgbClr val="E8F3FF"/>
          </a:solidFill>
          <a:ln w="12700">
            <a:solidFill>
              <a:srgbClr val="E8F3FF"/>
            </a:solidFill>
            <a:prstDash val="solid"/>
          </a:ln>
        </p:spPr>
      </p:sp>
      <p:sp>
        <p:nvSpPr>
          <p:cNvPr id="16" name="Text 14"/>
          <p:cNvSpPr txBox="1"/>
          <p:nvPr/>
        </p:nvSpPr>
        <p:spPr>
          <a:xfrm>
            <a:off x="731520" y="2304288"/>
            <a:ext cx="1183640"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질문 예시 탭</a:t>
            </a:r>
            <a:endParaRPr lang="en-US" sz="1150" dirty="0"/>
          </a:p>
        </p:txBody>
      </p:sp>
      <p:pic>
        <p:nvPicPr>
          <p:cNvPr id="17" name="Image 0" descr="MeAI 화면 캡처"/>
          <p:cNvPicPr>
            <a:picLocks noChangeAspect="1"/>
          </p:cNvPicPr>
          <p:nvPr/>
        </p:nvPicPr>
        <p:blipFill>
          <a:blip r:embed="rId3"/>
          <a:stretch>
            <a:fillRect/>
          </a:stretch>
        </p:blipFill>
        <p:spPr>
          <a:xfrm>
            <a:off x="685800" y="2745785"/>
            <a:ext cx="2334692" cy="1732191"/>
          </a:xfrm>
          <a:prstGeom prst="rect">
            <a:avLst/>
          </a:prstGeom>
        </p:spPr>
      </p:pic>
      <p:sp>
        <p:nvSpPr>
          <p:cNvPr id="18" name="Shape 15"/>
          <p:cNvSpPr/>
          <p:nvPr/>
        </p:nvSpPr>
        <p:spPr>
          <a:xfrm>
            <a:off x="620727" y="3471495"/>
            <a:ext cx="310896" cy="310896"/>
          </a:xfrm>
          <a:prstGeom prst="ellipse">
            <a:avLst/>
          </a:prstGeom>
          <a:solidFill>
            <a:srgbClr val="F04452"/>
          </a:solidFill>
          <a:ln w="19050">
            <a:solidFill>
              <a:srgbClr val="FFFFFF"/>
            </a:solidFill>
            <a:prstDash val="solid"/>
          </a:ln>
        </p:spPr>
      </p:sp>
      <p:sp>
        <p:nvSpPr>
          <p:cNvPr id="19" name="Text 16"/>
          <p:cNvSpPr txBox="1"/>
          <p:nvPr/>
        </p:nvSpPr>
        <p:spPr>
          <a:xfrm>
            <a:off x="620727" y="3471495"/>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0" name="Text 17"/>
          <p:cNvSpPr txBox="1"/>
          <p:nvPr/>
        </p:nvSpPr>
        <p:spPr>
          <a:xfrm>
            <a:off x="731520" y="4617720"/>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cs typeface="맑은 고딕" pitchFamily="34" charset="-120"/>
              </a:rPr>
              <a:t>보장비교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지식검색 </a:t>
            </a:r>
            <a:r>
              <a:rPr lang="en-US" altLang="ko-KR"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자주하는 질문</a:t>
            </a:r>
            <a:endParaRPr lang="en-US" sz="1400" dirty="0"/>
          </a:p>
        </p:txBody>
      </p:sp>
      <p:sp>
        <p:nvSpPr>
          <p:cNvPr id="21" name="Shape 18"/>
          <p:cNvSpPr/>
          <p:nvPr/>
        </p:nvSpPr>
        <p:spPr>
          <a:xfrm>
            <a:off x="3377108" y="1874520"/>
            <a:ext cx="2609012" cy="3401568"/>
          </a:xfrm>
          <a:prstGeom prst="roundRect">
            <a:avLst>
              <a:gd name="adj" fmla="val 5608"/>
            </a:avLst>
          </a:prstGeom>
          <a:solidFill>
            <a:srgbClr val="F9FAFB"/>
          </a:solidFill>
          <a:ln w="12700">
            <a:solidFill>
              <a:srgbClr val="F9FAFB"/>
            </a:solidFill>
            <a:prstDash val="solid"/>
          </a:ln>
        </p:spPr>
      </p:sp>
      <p:sp>
        <p:nvSpPr>
          <p:cNvPr id="22" name="Text 19"/>
          <p:cNvSpPr txBox="1"/>
          <p:nvPr/>
        </p:nvSpPr>
        <p:spPr>
          <a:xfrm>
            <a:off x="3559988"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② 고객이 정해졌을 때</a:t>
            </a:r>
            <a:endParaRPr lang="en-US" sz="1700" dirty="0"/>
          </a:p>
        </p:txBody>
      </p:sp>
      <p:sp>
        <p:nvSpPr>
          <p:cNvPr id="23" name="Shape 20"/>
          <p:cNvSpPr/>
          <p:nvPr/>
        </p:nvSpPr>
        <p:spPr>
          <a:xfrm>
            <a:off x="3559988" y="2304288"/>
            <a:ext cx="2115439" cy="274320"/>
          </a:xfrm>
          <a:prstGeom prst="roundRect">
            <a:avLst>
              <a:gd name="adj" fmla="val 50000"/>
            </a:avLst>
          </a:prstGeom>
          <a:solidFill>
            <a:srgbClr val="E8F3FF"/>
          </a:solidFill>
          <a:ln w="12700">
            <a:solidFill>
              <a:srgbClr val="E8F3FF"/>
            </a:solidFill>
            <a:prstDash val="solid"/>
          </a:ln>
        </p:spPr>
      </p:sp>
      <p:sp>
        <p:nvSpPr>
          <p:cNvPr id="24" name="Text 21"/>
          <p:cNvSpPr txBox="1"/>
          <p:nvPr/>
        </p:nvSpPr>
        <p:spPr>
          <a:xfrm>
            <a:off x="3559988" y="2304288"/>
            <a:ext cx="2115439"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MeAI에 이렇게 물어보세요</a:t>
            </a:r>
            <a:endParaRPr lang="en-US" sz="1150" dirty="0"/>
          </a:p>
        </p:txBody>
      </p:sp>
      <p:pic>
        <p:nvPicPr>
          <p:cNvPr id="25" name="Image 1" descr="MeAI 화면 캡처"/>
          <p:cNvPicPr>
            <a:picLocks noChangeAspect="1"/>
          </p:cNvPicPr>
          <p:nvPr/>
        </p:nvPicPr>
        <p:blipFill>
          <a:blip r:embed="rId4"/>
          <a:stretch>
            <a:fillRect/>
          </a:stretch>
        </p:blipFill>
        <p:spPr>
          <a:xfrm>
            <a:off x="3514268" y="2815962"/>
            <a:ext cx="2334692" cy="1591835"/>
          </a:xfrm>
          <a:prstGeom prst="rect">
            <a:avLst/>
          </a:prstGeom>
        </p:spPr>
      </p:pic>
      <p:sp>
        <p:nvSpPr>
          <p:cNvPr id="26" name="Shape 22"/>
          <p:cNvSpPr/>
          <p:nvPr/>
        </p:nvSpPr>
        <p:spPr>
          <a:xfrm>
            <a:off x="5552015" y="3049630"/>
            <a:ext cx="310896" cy="310896"/>
          </a:xfrm>
          <a:prstGeom prst="ellipse">
            <a:avLst/>
          </a:prstGeom>
          <a:solidFill>
            <a:srgbClr val="F04452"/>
          </a:solidFill>
          <a:ln w="19050">
            <a:solidFill>
              <a:srgbClr val="FFFFFF"/>
            </a:solidFill>
            <a:prstDash val="solid"/>
          </a:ln>
        </p:spPr>
      </p:sp>
      <p:sp>
        <p:nvSpPr>
          <p:cNvPr id="27" name="Text 23"/>
          <p:cNvSpPr txBox="1"/>
          <p:nvPr/>
        </p:nvSpPr>
        <p:spPr>
          <a:xfrm>
            <a:off x="5552015" y="3049630"/>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8" name="Text 24"/>
          <p:cNvSpPr txBox="1"/>
          <p:nvPr/>
        </p:nvSpPr>
        <p:spPr>
          <a:xfrm>
            <a:off x="3559988" y="4617720"/>
            <a:ext cx="2334692" cy="621792"/>
          </a:xfrm>
          <a:prstGeom prst="rect">
            <a:avLst/>
          </a:prstGeom>
          <a:noFill/>
          <a:ln/>
        </p:spPr>
        <p:txBody>
          <a:bodyPr wrap="square" lIns="0" tIns="0" rIns="0" bIns="0" rtlCol="0" anchor="t"/>
          <a:lstStyle/>
          <a:p>
            <a:pPr marL="0" indent="0">
              <a:lnSpc>
                <a:spcPct val="112000"/>
              </a:lnSpc>
              <a:buNone/>
            </a:pPr>
            <a:r>
              <a:rPr lang="en-US" sz="1400" dirty="0" err="1">
                <a:solidFill>
                  <a:srgbClr val="4E5968"/>
                </a:solidFill>
                <a:latin typeface="맑은 고딕" pitchFamily="34" charset="0"/>
                <a:ea typeface="맑은 고딕" pitchFamily="34" charset="-122"/>
                <a:cs typeface="맑은 고딕" pitchFamily="34" charset="-120"/>
              </a:rPr>
              <a:t>MeAI</a:t>
            </a:r>
            <a:r>
              <a:rPr lang="en-US" sz="1400" dirty="0">
                <a:solidFill>
                  <a:srgbClr val="4E5968"/>
                </a:solidFill>
                <a:latin typeface="맑은 고딕" pitchFamily="34" charset="0"/>
                <a:ea typeface="맑은 고딕" pitchFamily="34" charset="-122"/>
                <a:cs typeface="맑은 고딕" pitchFamily="34" charset="-120"/>
              </a:rPr>
              <a:t> </a:t>
            </a:r>
            <a:r>
              <a:rPr lang="ko-KR" altLang="en-US" sz="1400" dirty="0">
                <a:solidFill>
                  <a:srgbClr val="4E5968"/>
                </a:solidFill>
                <a:latin typeface="맑은 고딕" pitchFamily="34" charset="0"/>
                <a:ea typeface="맑은 고딕" pitchFamily="34" charset="-122"/>
                <a:cs typeface="맑은 고딕" pitchFamily="34" charset="-120"/>
              </a:rPr>
              <a:t>홈 </a:t>
            </a:r>
            <a:r>
              <a:rPr lang="en-US" altLang="ko-KR" sz="1400" dirty="0">
                <a:solidFill>
                  <a:srgbClr val="4E5968"/>
                </a:solidFill>
                <a:latin typeface="맑은 고딕" pitchFamily="34" charset="0"/>
                <a:ea typeface="맑은 고딕" pitchFamily="34" charset="-122"/>
                <a:cs typeface="맑은 고딕" pitchFamily="34" charset="-120"/>
              </a:rPr>
              <a:t>CRM</a:t>
            </a:r>
            <a:r>
              <a:rPr lang="ko-KR" altLang="en-US" sz="1400" dirty="0">
                <a:solidFill>
                  <a:srgbClr val="4E5968"/>
                </a:solidFill>
                <a:latin typeface="맑은 고딕" pitchFamily="34" charset="0"/>
                <a:ea typeface="맑은 고딕" pitchFamily="34" charset="-122"/>
                <a:cs typeface="맑은 고딕" pitchFamily="34" charset="-120"/>
              </a:rPr>
              <a:t>에서 고객별로 맞춤 프롬프트 세팅 클릭</a:t>
            </a:r>
            <a:endParaRPr lang="en-US" sz="1400" dirty="0"/>
          </a:p>
        </p:txBody>
      </p:sp>
      <p:sp>
        <p:nvSpPr>
          <p:cNvPr id="29" name="Shape 25"/>
          <p:cNvSpPr/>
          <p:nvPr/>
        </p:nvSpPr>
        <p:spPr>
          <a:xfrm>
            <a:off x="6205576" y="1874520"/>
            <a:ext cx="2609012" cy="3401568"/>
          </a:xfrm>
          <a:prstGeom prst="roundRect">
            <a:avLst>
              <a:gd name="adj" fmla="val 5608"/>
            </a:avLst>
          </a:prstGeom>
          <a:solidFill>
            <a:srgbClr val="F9FAFB"/>
          </a:solidFill>
          <a:ln w="12700">
            <a:solidFill>
              <a:srgbClr val="F9FAFB"/>
            </a:solidFill>
            <a:prstDash val="solid"/>
          </a:ln>
        </p:spPr>
      </p:sp>
      <p:sp>
        <p:nvSpPr>
          <p:cNvPr id="30" name="Text 26"/>
          <p:cNvSpPr txBox="1"/>
          <p:nvPr/>
        </p:nvSpPr>
        <p:spPr>
          <a:xfrm>
            <a:off x="6388456"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③ 답을 받은 뒤</a:t>
            </a:r>
            <a:endParaRPr lang="en-US" sz="1700" dirty="0"/>
          </a:p>
        </p:txBody>
      </p:sp>
      <p:sp>
        <p:nvSpPr>
          <p:cNvPr id="31" name="Shape 27"/>
          <p:cNvSpPr/>
          <p:nvPr/>
        </p:nvSpPr>
        <p:spPr>
          <a:xfrm>
            <a:off x="6388456" y="2304288"/>
            <a:ext cx="1799971" cy="274320"/>
          </a:xfrm>
          <a:prstGeom prst="roundRect">
            <a:avLst>
              <a:gd name="adj" fmla="val 50000"/>
            </a:avLst>
          </a:prstGeom>
          <a:solidFill>
            <a:srgbClr val="E8F3FF"/>
          </a:solidFill>
          <a:ln w="12700">
            <a:solidFill>
              <a:srgbClr val="E8F3FF"/>
            </a:solidFill>
            <a:prstDash val="solid"/>
          </a:ln>
        </p:spPr>
      </p:sp>
      <p:sp>
        <p:nvSpPr>
          <p:cNvPr id="32" name="Text 28"/>
          <p:cNvSpPr txBox="1"/>
          <p:nvPr/>
        </p:nvSpPr>
        <p:spPr>
          <a:xfrm>
            <a:off x="6388456" y="2304288"/>
            <a:ext cx="1799971" cy="274320"/>
          </a:xfrm>
          <a:prstGeom prst="rect">
            <a:avLst/>
          </a:prstGeom>
          <a:noFill/>
          <a:ln/>
        </p:spPr>
        <p:txBody>
          <a:bodyPr wrap="square" lIns="0" tIns="0" rIns="0" bIns="0" rtlCol="0" anchor="ctr"/>
          <a:lstStyle/>
          <a:p>
            <a:pPr marL="0" indent="0" algn="ctr">
              <a:buNone/>
            </a:pPr>
            <a:r>
              <a:rPr lang="en-US" sz="1150" b="1" dirty="0">
                <a:solidFill>
                  <a:srgbClr val="3182F6"/>
                </a:solidFill>
                <a:latin typeface="맑은 고딕" pitchFamily="34" charset="0"/>
                <a:ea typeface="맑은 고딕" pitchFamily="34" charset="-122"/>
                <a:cs typeface="맑은 고딕" pitchFamily="34" charset="-120"/>
              </a:rPr>
              <a:t>답 아래 질문 버튼 3개</a:t>
            </a:r>
            <a:endParaRPr lang="en-US" sz="1150" dirty="0"/>
          </a:p>
        </p:txBody>
      </p:sp>
      <p:pic>
        <p:nvPicPr>
          <p:cNvPr id="33" name="Image 2" descr="MeAI 화면 캡처"/>
          <p:cNvPicPr>
            <a:picLocks noChangeAspect="1"/>
          </p:cNvPicPr>
          <p:nvPr/>
        </p:nvPicPr>
        <p:blipFill>
          <a:blip r:embed="rId5"/>
          <a:stretch>
            <a:fillRect/>
          </a:stretch>
        </p:blipFill>
        <p:spPr>
          <a:xfrm>
            <a:off x="6342736" y="2658548"/>
            <a:ext cx="2334692" cy="1906665"/>
          </a:xfrm>
          <a:prstGeom prst="rect">
            <a:avLst/>
          </a:prstGeom>
        </p:spPr>
      </p:pic>
      <p:sp>
        <p:nvSpPr>
          <p:cNvPr id="34" name="Shape 29"/>
          <p:cNvSpPr/>
          <p:nvPr/>
        </p:nvSpPr>
        <p:spPr>
          <a:xfrm>
            <a:off x="6273758" y="2967876"/>
            <a:ext cx="310896" cy="310896"/>
          </a:xfrm>
          <a:prstGeom prst="ellipse">
            <a:avLst/>
          </a:prstGeom>
          <a:solidFill>
            <a:srgbClr val="F04452"/>
          </a:solidFill>
          <a:ln w="19050">
            <a:solidFill>
              <a:srgbClr val="FFFFFF"/>
            </a:solidFill>
            <a:prstDash val="solid"/>
          </a:ln>
        </p:spPr>
      </p:sp>
      <p:sp>
        <p:nvSpPr>
          <p:cNvPr id="35" name="Text 30"/>
          <p:cNvSpPr txBox="1"/>
          <p:nvPr/>
        </p:nvSpPr>
        <p:spPr>
          <a:xfrm>
            <a:off x="6273758" y="2967876"/>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37" name="Shape 32"/>
          <p:cNvSpPr/>
          <p:nvPr/>
        </p:nvSpPr>
        <p:spPr>
          <a:xfrm>
            <a:off x="9034043" y="1874520"/>
            <a:ext cx="2609012" cy="3401568"/>
          </a:xfrm>
          <a:prstGeom prst="roundRect">
            <a:avLst>
              <a:gd name="adj" fmla="val 5608"/>
            </a:avLst>
          </a:prstGeom>
          <a:solidFill>
            <a:srgbClr val="F9FAFB"/>
          </a:solidFill>
          <a:ln w="12700">
            <a:solidFill>
              <a:srgbClr val="F9FAFB"/>
            </a:solidFill>
            <a:prstDash val="solid"/>
          </a:ln>
        </p:spPr>
      </p:sp>
      <p:sp>
        <p:nvSpPr>
          <p:cNvPr id="38" name="Text 33"/>
          <p:cNvSpPr txBox="1"/>
          <p:nvPr/>
        </p:nvSpPr>
        <p:spPr>
          <a:xfrm>
            <a:off x="9216923" y="1938528"/>
            <a:ext cx="2334692"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④ 더 필요할 때</a:t>
            </a:r>
            <a:endParaRPr lang="en-US" sz="1700" dirty="0"/>
          </a:p>
        </p:txBody>
      </p:sp>
      <p:sp>
        <p:nvSpPr>
          <p:cNvPr id="39" name="Text 34"/>
          <p:cNvSpPr txBox="1"/>
          <p:nvPr/>
        </p:nvSpPr>
        <p:spPr>
          <a:xfrm>
            <a:off x="9216923" y="4617720"/>
            <a:ext cx="2334692" cy="621792"/>
          </a:xfrm>
          <a:prstGeom prst="rect">
            <a:avLst/>
          </a:prstGeom>
          <a:noFill/>
          <a:ln/>
        </p:spPr>
        <p:txBody>
          <a:bodyPr wrap="square" lIns="0" tIns="0" rIns="0" bIns="0" rtlCol="0" anchor="t"/>
          <a:lstStyle/>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[질문 더보기]</a:t>
            </a:r>
            <a:r>
              <a:rPr lang="en-US" sz="1250" dirty="0" err="1">
                <a:solidFill>
                  <a:srgbClr val="4E5968"/>
                </a:solidFill>
                <a:latin typeface="맑은 고딕" pitchFamily="34" charset="0"/>
                <a:ea typeface="맑은 고딕" pitchFamily="34" charset="-122"/>
                <a:cs typeface="맑은 고딕" pitchFamily="34" charset="-120"/>
              </a:rPr>
              <a:t>에서</a:t>
            </a:r>
            <a:r>
              <a:rPr lang="en-US" sz="1250" dirty="0">
                <a:solidFill>
                  <a:srgbClr val="4E5968"/>
                </a:solidFill>
                <a:latin typeface="맑은 고딕" pitchFamily="34" charset="0"/>
                <a:ea typeface="맑은 고딕" pitchFamily="34" charset="-122"/>
                <a:cs typeface="맑은 고딕" pitchFamily="34" charset="-120"/>
              </a:rPr>
              <a:t> </a:t>
            </a:r>
            <a:r>
              <a:rPr lang="ko-KR" altLang="en-US" sz="1250" dirty="0">
                <a:solidFill>
                  <a:srgbClr val="4E5968"/>
                </a:solidFill>
                <a:latin typeface="맑은 고딕" pitchFamily="34" charset="0"/>
                <a:ea typeface="맑은 고딕" pitchFamily="34" charset="-122"/>
                <a:cs typeface="맑은 고딕" pitchFamily="34" charset="-120"/>
              </a:rPr>
              <a:t>클릭</a:t>
            </a:r>
            <a:endParaRPr lang="en-US" sz="1250" dirty="0"/>
          </a:p>
          <a:p>
            <a:pPr marL="0" indent="0">
              <a:lnSpc>
                <a:spcPct val="112000"/>
              </a:lnSpc>
              <a:buNone/>
            </a:pPr>
            <a:r>
              <a:rPr lang="en-US" sz="1250" dirty="0">
                <a:solidFill>
                  <a:srgbClr val="4E5968"/>
                </a:solidFill>
                <a:latin typeface="맑은 고딕" pitchFamily="34" charset="0"/>
                <a:ea typeface="맑은 고딕" pitchFamily="34" charset="-122"/>
                <a:cs typeface="맑은 고딕" pitchFamily="34" charset="-120"/>
              </a:rPr>
              <a:t>좋았던 질문은 저장 → 나의 질문</a:t>
            </a:r>
            <a:endParaRPr lang="en-US" sz="1250" dirty="0"/>
          </a:p>
        </p:txBody>
      </p:sp>
      <p:pic>
        <p:nvPicPr>
          <p:cNvPr id="40" name="Image 3" descr="MeAI 화면 캡처"/>
          <p:cNvPicPr>
            <a:picLocks noChangeAspect="1"/>
          </p:cNvPicPr>
          <p:nvPr/>
        </p:nvPicPr>
        <p:blipFill>
          <a:blip r:embed="rId6"/>
          <a:stretch>
            <a:fillRect/>
          </a:stretch>
        </p:blipFill>
        <p:spPr>
          <a:xfrm>
            <a:off x="9433293" y="2743200"/>
            <a:ext cx="1810512" cy="1005840"/>
          </a:xfrm>
          <a:prstGeom prst="rect">
            <a:avLst/>
          </a:prstGeom>
        </p:spPr>
      </p:pic>
      <p:sp>
        <p:nvSpPr>
          <p:cNvPr id="41" name="Shape 35"/>
          <p:cNvSpPr/>
          <p:nvPr/>
        </p:nvSpPr>
        <p:spPr>
          <a:xfrm>
            <a:off x="11006633" y="2700909"/>
            <a:ext cx="310896" cy="310896"/>
          </a:xfrm>
          <a:prstGeom prst="ellipse">
            <a:avLst/>
          </a:prstGeom>
          <a:solidFill>
            <a:srgbClr val="F04452"/>
          </a:solidFill>
          <a:ln w="19050">
            <a:solidFill>
              <a:srgbClr val="FFFFFF"/>
            </a:solidFill>
            <a:prstDash val="solid"/>
          </a:ln>
        </p:spPr>
      </p:sp>
      <p:sp>
        <p:nvSpPr>
          <p:cNvPr id="42" name="Text 36"/>
          <p:cNvSpPr txBox="1"/>
          <p:nvPr/>
        </p:nvSpPr>
        <p:spPr>
          <a:xfrm>
            <a:off x="11006633" y="2700909"/>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43" name="Text 37"/>
          <p:cNvSpPr txBox="1"/>
          <p:nvPr/>
        </p:nvSpPr>
        <p:spPr>
          <a:xfrm>
            <a:off x="9216923" y="3886200"/>
            <a:ext cx="2243252" cy="548640"/>
          </a:xfrm>
          <a:prstGeom prst="rect">
            <a:avLst/>
          </a:prstGeom>
          <a:noFill/>
          <a:ln/>
        </p:spPr>
        <p:txBody>
          <a:bodyPr wrap="square" lIns="0" tIns="0" rIns="0" bIns="0" rtlCol="0" anchor="t"/>
          <a:lstStyle/>
          <a:p>
            <a:pPr marL="0" indent="0">
              <a:lnSpc>
                <a:spcPct val="112000"/>
              </a:lnSpc>
              <a:buNone/>
            </a:pPr>
            <a:r>
              <a:rPr lang="en-US" dirty="0">
                <a:solidFill>
                  <a:srgbClr val="6B7684"/>
                </a:solidFill>
                <a:latin typeface="맑은 고딕" pitchFamily="34" charset="0"/>
                <a:ea typeface="맑은 고딕" pitchFamily="34" charset="-122"/>
                <a:cs typeface="맑은 고딕" pitchFamily="34" charset="-120"/>
              </a:rPr>
              <a:t>대화 </a:t>
            </a:r>
            <a:r>
              <a:rPr lang="en-US" dirty="0" err="1">
                <a:solidFill>
                  <a:srgbClr val="6B7684"/>
                </a:solidFill>
                <a:latin typeface="맑은 고딕" pitchFamily="34" charset="0"/>
                <a:ea typeface="맑은 고딕" pitchFamily="34" charset="-122"/>
                <a:cs typeface="맑은 고딕" pitchFamily="34" charset="-120"/>
              </a:rPr>
              <a:t>이력·나의</a:t>
            </a:r>
            <a:r>
              <a:rPr lang="en-US" dirty="0">
                <a:solidFill>
                  <a:srgbClr val="6B7684"/>
                </a:solidFill>
                <a:latin typeface="맑은 고딕" pitchFamily="34" charset="0"/>
                <a:ea typeface="맑은 고딕" pitchFamily="34" charset="-122"/>
                <a:cs typeface="맑은 고딕" pitchFamily="34" charset="-120"/>
              </a:rPr>
              <a:t> </a:t>
            </a:r>
            <a:r>
              <a:rPr lang="en-US" dirty="0" err="1">
                <a:solidFill>
                  <a:srgbClr val="6B7684"/>
                </a:solidFill>
                <a:latin typeface="맑은 고딕" pitchFamily="34" charset="0"/>
                <a:ea typeface="맑은 고딕" pitchFamily="34" charset="-122"/>
                <a:cs typeface="맑은 고딕" pitchFamily="34" charset="-120"/>
              </a:rPr>
              <a:t>질문</a:t>
            </a:r>
            <a:endParaRPr lang="en-US" dirty="0"/>
          </a:p>
        </p:txBody>
      </p:sp>
      <p:sp>
        <p:nvSpPr>
          <p:cNvPr id="44" name="Shape 38"/>
          <p:cNvSpPr/>
          <p:nvPr/>
        </p:nvSpPr>
        <p:spPr>
          <a:xfrm>
            <a:off x="548640" y="5376672"/>
            <a:ext cx="11094415" cy="731520"/>
          </a:xfrm>
          <a:prstGeom prst="roundRect">
            <a:avLst>
              <a:gd name="adj" fmla="val 20000"/>
            </a:avLst>
          </a:prstGeom>
          <a:solidFill>
            <a:srgbClr val="F0EDFF"/>
          </a:solidFill>
          <a:ln w="12700">
            <a:solidFill>
              <a:srgbClr val="F0EDFF"/>
            </a:solidFill>
            <a:prstDash val="solid"/>
          </a:ln>
        </p:spPr>
      </p:sp>
      <p:sp>
        <p:nvSpPr>
          <p:cNvPr id="45" name="Text 39"/>
          <p:cNvSpPr txBox="1"/>
          <p:nvPr/>
        </p:nvSpPr>
        <p:spPr>
          <a:xfrm>
            <a:off x="822960" y="5376672"/>
            <a:ext cx="2377440" cy="731520"/>
          </a:xfrm>
          <a:prstGeom prst="rect">
            <a:avLst/>
          </a:prstGeom>
          <a:noFill/>
          <a:ln/>
        </p:spPr>
        <p:txBody>
          <a:bodyPr wrap="square" lIns="0" tIns="0" rIns="0" bIns="0" rtlCol="0" anchor="ctr"/>
          <a:lstStyle/>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많이 질문할수록</a:t>
            </a:r>
            <a:endParaRPr lang="en-US" altLang="ko-KR" sz="1400" b="1" dirty="0">
              <a:solidFill>
                <a:srgbClr val="7048E8"/>
              </a:solidFill>
              <a:latin typeface="맑은 고딕" pitchFamily="34" charset="0"/>
              <a:ea typeface="맑은 고딕" pitchFamily="34" charset="-122"/>
              <a:cs typeface="맑은 고딕" pitchFamily="34" charset="-120"/>
            </a:endParaRPr>
          </a:p>
          <a:p>
            <a:pPr marL="0" indent="0">
              <a:buNone/>
            </a:pPr>
            <a:r>
              <a:rPr lang="ko-KR" altLang="en-US" sz="1400" b="1" dirty="0">
                <a:solidFill>
                  <a:srgbClr val="7048E8"/>
                </a:solidFill>
                <a:latin typeface="맑은 고딕" pitchFamily="34" charset="0"/>
                <a:ea typeface="맑은 고딕" pitchFamily="34" charset="-122"/>
                <a:cs typeface="맑은 고딕" pitchFamily="34" charset="-120"/>
              </a:rPr>
              <a:t>늘어나는 영업기회</a:t>
            </a:r>
            <a:endParaRPr lang="en-US" altLang="ko-KR" sz="1400" b="1" dirty="0">
              <a:solidFill>
                <a:srgbClr val="7048E8"/>
              </a:solidFill>
              <a:latin typeface="맑은 고딕" pitchFamily="34" charset="0"/>
              <a:ea typeface="맑은 고딕" pitchFamily="34" charset="-122"/>
              <a:cs typeface="맑은 고딕" pitchFamily="34" charset="-120"/>
            </a:endParaRPr>
          </a:p>
        </p:txBody>
      </p:sp>
      <p:sp>
        <p:nvSpPr>
          <p:cNvPr id="46" name="Shape 40"/>
          <p:cNvSpPr/>
          <p:nvPr/>
        </p:nvSpPr>
        <p:spPr>
          <a:xfrm>
            <a:off x="3154680" y="5819493"/>
            <a:ext cx="310896" cy="197259"/>
          </a:xfrm>
          <a:prstGeom prst="roundRect">
            <a:avLst>
              <a:gd name="adj" fmla="val 18542"/>
            </a:avLst>
          </a:prstGeom>
          <a:solidFill>
            <a:srgbClr val="B9A8F5"/>
          </a:solidFill>
          <a:ln w="12700">
            <a:solidFill>
              <a:srgbClr val="B9A8F5"/>
            </a:solidFill>
            <a:prstDash val="solid"/>
          </a:ln>
        </p:spPr>
      </p:sp>
      <p:sp>
        <p:nvSpPr>
          <p:cNvPr id="47" name="Text 41"/>
          <p:cNvSpPr txBox="1"/>
          <p:nvPr/>
        </p:nvSpPr>
        <p:spPr>
          <a:xfrm>
            <a:off x="353872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1개 · 11.99건</a:t>
            </a:r>
            <a:endParaRPr lang="en-US" sz="1300" dirty="0"/>
          </a:p>
        </p:txBody>
      </p:sp>
      <p:sp>
        <p:nvSpPr>
          <p:cNvPr id="48" name="Shape 42"/>
          <p:cNvSpPr/>
          <p:nvPr/>
        </p:nvSpPr>
        <p:spPr>
          <a:xfrm>
            <a:off x="5029200" y="5736740"/>
            <a:ext cx="310896" cy="280012"/>
          </a:xfrm>
          <a:prstGeom prst="roundRect">
            <a:avLst>
              <a:gd name="adj" fmla="val 13062"/>
            </a:avLst>
          </a:prstGeom>
          <a:solidFill>
            <a:srgbClr val="B9A8F5"/>
          </a:solidFill>
          <a:ln w="12700">
            <a:solidFill>
              <a:srgbClr val="B9A8F5"/>
            </a:solidFill>
            <a:prstDash val="solid"/>
          </a:ln>
        </p:spPr>
      </p:sp>
      <p:sp>
        <p:nvSpPr>
          <p:cNvPr id="49" name="Text 43"/>
          <p:cNvSpPr txBox="1"/>
          <p:nvPr/>
        </p:nvSpPr>
        <p:spPr>
          <a:xfrm>
            <a:off x="5413248" y="5468112"/>
            <a:ext cx="1481328" cy="548640"/>
          </a:xfrm>
          <a:prstGeom prst="rect">
            <a:avLst/>
          </a:prstGeom>
          <a:noFill/>
          <a:ln/>
        </p:spPr>
        <p:txBody>
          <a:bodyPr wrap="square" lIns="0" tIns="0" rIns="0" bIns="0" rtlCol="0" anchor="b"/>
          <a:lstStyle/>
          <a:p>
            <a:pPr marL="0" indent="0">
              <a:buNone/>
            </a:pPr>
            <a:r>
              <a:rPr lang="en-US" sz="1300" dirty="0">
                <a:solidFill>
                  <a:srgbClr val="191F28"/>
                </a:solidFill>
                <a:latin typeface="맑은 고딕" pitchFamily="34" charset="0"/>
                <a:ea typeface="맑은 고딕" pitchFamily="34" charset="-122"/>
                <a:cs typeface="맑은 고딕" pitchFamily="34" charset="-120"/>
              </a:rPr>
              <a:t>2개 · 17.02건</a:t>
            </a:r>
            <a:endParaRPr lang="en-US" sz="1300" dirty="0"/>
          </a:p>
        </p:txBody>
      </p:sp>
      <p:sp>
        <p:nvSpPr>
          <p:cNvPr id="50" name="Shape 44"/>
          <p:cNvSpPr/>
          <p:nvPr/>
        </p:nvSpPr>
        <p:spPr>
          <a:xfrm>
            <a:off x="6903720" y="5559552"/>
            <a:ext cx="310896" cy="457200"/>
          </a:xfrm>
          <a:prstGeom prst="roundRect">
            <a:avLst>
              <a:gd name="adj" fmla="val 11765"/>
            </a:avLst>
          </a:prstGeom>
          <a:solidFill>
            <a:srgbClr val="7048E8"/>
          </a:solidFill>
          <a:ln w="12700">
            <a:solidFill>
              <a:srgbClr val="7048E8"/>
            </a:solidFill>
            <a:prstDash val="solid"/>
          </a:ln>
        </p:spPr>
      </p:sp>
      <p:sp>
        <p:nvSpPr>
          <p:cNvPr id="51" name="Text 45"/>
          <p:cNvSpPr txBox="1"/>
          <p:nvPr/>
        </p:nvSpPr>
        <p:spPr>
          <a:xfrm>
            <a:off x="7287768" y="5468112"/>
            <a:ext cx="1783080" cy="548640"/>
          </a:xfrm>
          <a:prstGeom prst="rect">
            <a:avLst/>
          </a:prstGeom>
          <a:noFill/>
          <a:ln/>
        </p:spPr>
        <p:txBody>
          <a:bodyPr wrap="square" lIns="0" tIns="0" rIns="0" bIns="0" rtlCol="0" anchor="b"/>
          <a:lstStyle/>
          <a:p>
            <a:pPr marL="0" indent="0">
              <a:buNone/>
            </a:pPr>
            <a:r>
              <a:rPr lang="en-US" sz="1300" b="1" dirty="0">
                <a:solidFill>
                  <a:srgbClr val="191F28"/>
                </a:solidFill>
                <a:latin typeface="맑은 고딕" pitchFamily="34" charset="0"/>
                <a:ea typeface="맑은 고딕" pitchFamily="34" charset="-122"/>
                <a:cs typeface="맑은 고딕" pitchFamily="34" charset="-120"/>
              </a:rPr>
              <a:t>3개 이상 · 27.79건</a:t>
            </a:r>
            <a:endParaRPr lang="en-US" sz="1300" dirty="0"/>
          </a:p>
        </p:txBody>
      </p:sp>
      <p:sp>
        <p:nvSpPr>
          <p:cNvPr id="52" name="Text 46"/>
          <p:cNvSpPr txBox="1"/>
          <p:nvPr/>
        </p:nvSpPr>
        <p:spPr>
          <a:xfrm>
            <a:off x="9128455" y="5394960"/>
            <a:ext cx="1234440" cy="694944"/>
          </a:xfrm>
          <a:prstGeom prst="rect">
            <a:avLst/>
          </a:prstGeom>
          <a:noFill/>
          <a:ln/>
        </p:spPr>
        <p:txBody>
          <a:bodyPr wrap="square" lIns="0" tIns="0" rIns="0" bIns="0" rtlCol="0" anchor="ctr"/>
          <a:lstStyle/>
          <a:p>
            <a:pPr marL="0" indent="0">
              <a:buNone/>
            </a:pPr>
            <a:r>
              <a:rPr lang="en-US" sz="3200" b="1" dirty="0">
                <a:solidFill>
                  <a:srgbClr val="7048E8"/>
                </a:solidFill>
                <a:latin typeface="맑은 고딕" pitchFamily="34" charset="0"/>
                <a:ea typeface="맑은 고딕" pitchFamily="34" charset="-122"/>
                <a:cs typeface="맑은 고딕" pitchFamily="34" charset="-120"/>
              </a:rPr>
              <a:t>2.3배</a:t>
            </a:r>
            <a:endParaRPr lang="en-US" sz="3200" dirty="0"/>
          </a:p>
        </p:txBody>
      </p:sp>
      <p:sp>
        <p:nvSpPr>
          <p:cNvPr id="53" name="Text 47"/>
          <p:cNvSpPr txBox="1"/>
          <p:nvPr/>
        </p:nvSpPr>
        <p:spPr>
          <a:xfrm>
            <a:off x="10271455" y="5376672"/>
            <a:ext cx="1371600" cy="731520"/>
          </a:xfrm>
          <a:prstGeom prst="rect">
            <a:avLst/>
          </a:prstGeom>
          <a:noFill/>
          <a:ln/>
        </p:spPr>
        <p:txBody>
          <a:bodyPr wrap="square" lIns="0" tIns="0" rIns="0" bIns="0" rtlCol="0" anchor="ctr"/>
          <a:lstStyle/>
          <a:p>
            <a:pPr marL="0" indent="0">
              <a:buNone/>
            </a:pPr>
            <a:r>
              <a:rPr lang="ko-KR" altLang="en-US" sz="1250" dirty="0">
                <a:solidFill>
                  <a:srgbClr val="4E5968"/>
                </a:solidFill>
                <a:latin typeface="맑은 고딕" pitchFamily="34" charset="0"/>
                <a:ea typeface="맑은 고딕" pitchFamily="34" charset="-122"/>
              </a:rPr>
              <a:t>대화 </a:t>
            </a:r>
            <a:r>
              <a:rPr lang="en-US" altLang="ko-KR" sz="1250" dirty="0">
                <a:solidFill>
                  <a:srgbClr val="4E5968"/>
                </a:solidFill>
                <a:latin typeface="맑은 고딕" pitchFamily="34" charset="0"/>
                <a:ea typeface="맑은 고딕" pitchFamily="34" charset="-122"/>
              </a:rPr>
              <a:t>1</a:t>
            </a:r>
            <a:r>
              <a:rPr lang="ko-KR" altLang="en-US" sz="1250" dirty="0">
                <a:solidFill>
                  <a:srgbClr val="4E5968"/>
                </a:solidFill>
                <a:latin typeface="맑은 고딕" pitchFamily="34" charset="0"/>
                <a:ea typeface="맑은 고딕" pitchFamily="34" charset="-122"/>
              </a:rPr>
              <a:t>건 대비 </a:t>
            </a:r>
            <a:r>
              <a:rPr lang="en-US" altLang="ko-KR" sz="1250" dirty="0">
                <a:solidFill>
                  <a:srgbClr val="4E5968"/>
                </a:solidFill>
                <a:latin typeface="맑은 고딕" pitchFamily="34" charset="0"/>
                <a:ea typeface="맑은 고딕" pitchFamily="34" charset="-122"/>
              </a:rPr>
              <a:t>3</a:t>
            </a:r>
            <a:r>
              <a:rPr lang="ko-KR" altLang="en-US" sz="1250" dirty="0">
                <a:solidFill>
                  <a:srgbClr val="4E5968"/>
                </a:solidFill>
                <a:latin typeface="맑은 고딕" pitchFamily="34" charset="0"/>
                <a:ea typeface="맑은 고딕" pitchFamily="34" charset="-122"/>
              </a:rPr>
              <a:t>건</a:t>
            </a:r>
            <a:endParaRPr lang="en-US" altLang="ko-KR" sz="1250" dirty="0">
              <a:solidFill>
                <a:srgbClr val="4E5968"/>
              </a:solidFill>
              <a:latin typeface="맑은 고딕" pitchFamily="34" charset="0"/>
              <a:ea typeface="맑은 고딕" pitchFamily="34" charset="-122"/>
            </a:endParaRPr>
          </a:p>
          <a:p>
            <a:pPr marL="0" indent="0">
              <a:buNone/>
            </a:pPr>
            <a:r>
              <a:rPr lang="ko-KR" altLang="en-US" sz="1250" dirty="0">
                <a:solidFill>
                  <a:srgbClr val="4E5968"/>
                </a:solidFill>
                <a:latin typeface="맑은 고딕" pitchFamily="34" charset="0"/>
                <a:ea typeface="맑은 고딕" pitchFamily="34" charset="-122"/>
              </a:rPr>
              <a:t>평균 가계약 수</a:t>
            </a:r>
            <a:endParaRPr lang="en-US" sz="1250" dirty="0"/>
          </a:p>
        </p:txBody>
      </p:sp>
      <p:sp>
        <p:nvSpPr>
          <p:cNvPr id="55" name="Text 49"/>
          <p:cNvSpPr txBox="1"/>
          <p:nvPr/>
        </p:nvSpPr>
        <p:spPr>
          <a:xfrm>
            <a:off x="8716975" y="6144768"/>
            <a:ext cx="2926080" cy="237744"/>
          </a:xfrm>
          <a:prstGeom prst="rect">
            <a:avLst/>
          </a:prstGeom>
          <a:noFill/>
          <a:ln/>
        </p:spPr>
        <p:txBody>
          <a:bodyPr wrap="square" lIns="0" tIns="0" rIns="0" bIns="0" rtlCol="0" anchor="ctr"/>
          <a:lstStyle/>
          <a:p>
            <a:pPr marL="0" indent="0" algn="r">
              <a:buNone/>
            </a:pPr>
            <a:r>
              <a:rPr lang="en-US" sz="1100" dirty="0">
                <a:solidFill>
                  <a:srgbClr val="8B95A1"/>
                </a:solidFill>
                <a:latin typeface="맑은 고딕" pitchFamily="34" charset="0"/>
                <a:ea typeface="맑은 고딕" pitchFamily="34" charset="-122"/>
                <a:cs typeface="맑은 고딕" pitchFamily="34" charset="-120"/>
              </a:rPr>
              <a:t>※ 화면의 이름·질문 문장은 예시</a:t>
            </a:r>
            <a:endParaRPr lang="en-US" sz="1100" dirty="0"/>
          </a:p>
        </p:txBody>
      </p:sp>
      <p:sp>
        <p:nvSpPr>
          <p:cNvPr id="56" name="Text 50"/>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7" name="Text 51"/>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18</a:t>
            </a:r>
            <a:endParaRPr lang="en-US" sz="1000" dirty="0"/>
          </a:p>
        </p:txBody>
      </p:sp>
      <p:sp>
        <p:nvSpPr>
          <p:cNvPr id="58" name="Text 24">
            <a:extLst>
              <a:ext uri="{FF2B5EF4-FFF2-40B4-BE49-F238E27FC236}">
                <a16:creationId xmlns:a16="http://schemas.microsoft.com/office/drawing/2014/main" id="{8E36D8C0-8BA5-45B0-B2DA-4723BFF8C86F}"/>
              </a:ext>
            </a:extLst>
          </p:cNvPr>
          <p:cNvSpPr txBox="1"/>
          <p:nvPr/>
        </p:nvSpPr>
        <p:spPr>
          <a:xfrm>
            <a:off x="6382283" y="4627172"/>
            <a:ext cx="2334692" cy="621792"/>
          </a:xfrm>
          <a:prstGeom prst="rect">
            <a:avLst/>
          </a:prstGeom>
          <a:noFill/>
          <a:ln/>
        </p:spPr>
        <p:txBody>
          <a:bodyPr wrap="square" lIns="0" tIns="0" rIns="0" bIns="0" rtlCol="0" anchor="t"/>
          <a:lstStyle/>
          <a:p>
            <a:pPr marL="0" indent="0">
              <a:lnSpc>
                <a:spcPct val="112000"/>
              </a:lnSpc>
              <a:buNone/>
            </a:pPr>
            <a:r>
              <a:rPr lang="ko-KR" altLang="en-US" sz="1400" dirty="0">
                <a:solidFill>
                  <a:srgbClr val="4E5968"/>
                </a:solidFill>
                <a:latin typeface="맑은 고딕" pitchFamily="34" charset="0"/>
                <a:ea typeface="맑은 고딕" pitchFamily="34" charset="-122"/>
              </a:rPr>
              <a:t>추가적으로 적절한 프롬프트를 꼬리질문이 제시</a:t>
            </a:r>
            <a:endParaRPr lang="en-US" sz="1400" dirty="0"/>
          </a:p>
        </p:txBody>
      </p:sp>
      <p:sp>
        <p:nvSpPr>
          <p:cNvPr id="59" name="Text 27">
            <a:extLst>
              <a:ext uri="{FF2B5EF4-FFF2-40B4-BE49-F238E27FC236}">
                <a16:creationId xmlns:a16="http://schemas.microsoft.com/office/drawing/2014/main" id="{CE60F2A9-65E1-4844-9460-49C45A564593}"/>
              </a:ext>
            </a:extLst>
          </p:cNvPr>
          <p:cNvSpPr txBox="1"/>
          <p:nvPr/>
        </p:nvSpPr>
        <p:spPr>
          <a:xfrm>
            <a:off x="548640" y="6176558"/>
            <a:ext cx="11094415" cy="256032"/>
          </a:xfrm>
          <a:prstGeom prst="rect">
            <a:avLst/>
          </a:prstGeom>
          <a:noFill/>
          <a:ln/>
        </p:spPr>
        <p:txBody>
          <a:bodyPr wrap="square" lIns="0" tIns="0" rIns="0" bIns="0" rtlCol="0" anchor="ctr"/>
          <a:lstStyle/>
          <a:p>
            <a:pPr marL="0" indent="0">
              <a:buNone/>
            </a:pPr>
            <a:r>
              <a:rPr lang="en-US" sz="1200" dirty="0">
                <a:solidFill>
                  <a:srgbClr val="8B95A1"/>
                </a:solidFill>
                <a:latin typeface="맑은 고딕" pitchFamily="34" charset="0"/>
                <a:ea typeface="맑은 고딕" pitchFamily="34" charset="-122"/>
                <a:cs typeface="맑은 고딕" pitchFamily="34" charset="-120"/>
              </a:rPr>
              <a:t>출처: 2026</a:t>
            </a:r>
            <a:r>
              <a:rPr lang="ko-KR" altLang="en-US" sz="1200" dirty="0">
                <a:solidFill>
                  <a:srgbClr val="8B95A1"/>
                </a:solidFill>
                <a:latin typeface="맑은 고딕" pitchFamily="34" charset="0"/>
                <a:ea typeface="맑은 고딕" pitchFamily="34" charset="-122"/>
                <a:cs typeface="맑은 고딕" pitchFamily="34" charset="-120"/>
              </a:rPr>
              <a:t>년 </a:t>
            </a:r>
            <a:r>
              <a:rPr lang="en-US" altLang="ko-KR" sz="1200" dirty="0">
                <a:solidFill>
                  <a:srgbClr val="8B95A1"/>
                </a:solidFill>
                <a:latin typeface="맑은 고딕" pitchFamily="34" charset="0"/>
                <a:ea typeface="맑은 고딕" pitchFamily="34" charset="-122"/>
                <a:cs typeface="맑은 고딕" pitchFamily="34" charset="-120"/>
              </a:rPr>
              <a:t>8</a:t>
            </a:r>
            <a:r>
              <a:rPr lang="ko-KR" altLang="en-US" sz="1200" dirty="0">
                <a:solidFill>
                  <a:srgbClr val="8B95A1"/>
                </a:solidFill>
                <a:latin typeface="맑은 고딕" pitchFamily="34" charset="0"/>
                <a:ea typeface="맑은 고딕" pitchFamily="34" charset="-122"/>
                <a:cs typeface="맑은 고딕" pitchFamily="34" charset="-120"/>
              </a:rPr>
              <a:t>월 </a:t>
            </a:r>
            <a:r>
              <a:rPr lang="en-US" altLang="ko-KR" sz="1200" dirty="0">
                <a:solidFill>
                  <a:srgbClr val="8B95A1"/>
                </a:solidFill>
                <a:latin typeface="맑은 고딕" pitchFamily="34" charset="0"/>
                <a:ea typeface="맑은 고딕" pitchFamily="34" charset="-122"/>
                <a:cs typeface="맑은 고딕" pitchFamily="34" charset="-120"/>
              </a:rPr>
              <a:t>TA</a:t>
            </a:r>
            <a:r>
              <a:rPr lang="ko-KR" altLang="en-US" sz="1200" dirty="0">
                <a:solidFill>
                  <a:srgbClr val="8B95A1"/>
                </a:solidFill>
                <a:latin typeface="맑은 고딕" pitchFamily="34" charset="0"/>
                <a:ea typeface="맑은 고딕" pitchFamily="34" charset="-122"/>
                <a:cs typeface="맑은 고딕" pitchFamily="34" charset="-120"/>
              </a:rPr>
              <a:t>채널 </a:t>
            </a:r>
            <a:r>
              <a:rPr lang="en-US" sz="1200" dirty="0" err="1">
                <a:solidFill>
                  <a:srgbClr val="8B95A1"/>
                </a:solidFill>
                <a:latin typeface="맑은 고딕" pitchFamily="34" charset="0"/>
                <a:ea typeface="맑은 고딕" pitchFamily="34" charset="-122"/>
                <a:cs typeface="맑은 고딕" pitchFamily="34" charset="-120"/>
              </a:rPr>
              <a:t>MeAI</a:t>
            </a:r>
            <a:r>
              <a:rPr lang="en-US" sz="1200" dirty="0">
                <a:solidFill>
                  <a:srgbClr val="8B95A1"/>
                </a:solidFill>
                <a:latin typeface="맑은 고딕" pitchFamily="34" charset="0"/>
                <a:ea typeface="맑은 고딕" pitchFamily="34" charset="-122"/>
                <a:cs typeface="맑은 고딕" pitchFamily="34" charset="-120"/>
              </a:rPr>
              <a:t> </a:t>
            </a:r>
            <a:r>
              <a:rPr lang="ko-KR" altLang="en-US" sz="1200" dirty="0">
                <a:solidFill>
                  <a:srgbClr val="8B95A1"/>
                </a:solidFill>
                <a:latin typeface="맑은 고딕" pitchFamily="34" charset="0"/>
                <a:ea typeface="맑은 고딕" pitchFamily="34" charset="-122"/>
                <a:cs typeface="맑은 고딕" pitchFamily="34" charset="-120"/>
              </a:rPr>
              <a:t>사용 데이터 분석</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맞춤대화는</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분석</a:t>
            </a:r>
            <a:r>
              <a:rPr lang="en-US" sz="3400" b="1" dirty="0">
                <a:solidFill>
                  <a:srgbClr val="191F28"/>
                </a:solidFill>
                <a:latin typeface="맑은 고딕" pitchFamily="34" charset="0"/>
                <a:ea typeface="맑은 고딕" pitchFamily="34" charset="-122"/>
                <a:cs typeface="맑은 고딕" pitchFamily="34" charset="-120"/>
              </a:rPr>
              <a:t> → 제안 → 다음 </a:t>
            </a:r>
            <a:r>
              <a:rPr lang="en-US" sz="3400" b="1" dirty="0" err="1">
                <a:solidFill>
                  <a:srgbClr val="191F28"/>
                </a:solidFill>
                <a:latin typeface="맑은 고딕" pitchFamily="34" charset="0"/>
                <a:ea typeface="맑은 고딕" pitchFamily="34" charset="-122"/>
                <a:cs typeface="맑은 고딕" pitchFamily="34" charset="-120"/>
              </a:rPr>
              <a:t>행동</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순서</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ko-KR" altLang="en-US" sz="1700" dirty="0">
                <a:solidFill>
                  <a:srgbClr val="6B7684"/>
                </a:solidFill>
                <a:latin typeface="맑은 고딕" pitchFamily="34" charset="0"/>
                <a:ea typeface="맑은 고딕" pitchFamily="34" charset="-122"/>
                <a:cs typeface="맑은 고딕" pitchFamily="34" charset="-120"/>
              </a:rPr>
              <a:t>상담 순서에 맞춘 답변 구성</a:t>
            </a:r>
            <a:endParaRPr lang="en-US" sz="1700" dirty="0"/>
          </a:p>
        </p:txBody>
      </p:sp>
      <p:sp>
        <p:nvSpPr>
          <p:cNvPr id="14" name="Shape 12"/>
          <p:cNvSpPr/>
          <p:nvPr/>
        </p:nvSpPr>
        <p:spPr>
          <a:xfrm>
            <a:off x="548640" y="1968134"/>
            <a:ext cx="4630405" cy="2697480"/>
          </a:xfrm>
          <a:prstGeom prst="roundRect">
            <a:avLst>
              <a:gd name="adj" fmla="val 3433"/>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5" name="Image 0" descr="MeAI 화면 캡처"/>
          <p:cNvPicPr>
            <a:picLocks noChangeAspect="1"/>
          </p:cNvPicPr>
          <p:nvPr/>
        </p:nvPicPr>
        <p:blipFill>
          <a:blip r:embed="rId3"/>
          <a:stretch>
            <a:fillRect/>
          </a:stretch>
        </p:blipFill>
        <p:spPr>
          <a:xfrm>
            <a:off x="548640" y="1968134"/>
            <a:ext cx="4630405" cy="2697480"/>
          </a:xfrm>
          <a:prstGeom prst="rect">
            <a:avLst/>
          </a:prstGeom>
        </p:spPr>
      </p:pic>
      <p:sp>
        <p:nvSpPr>
          <p:cNvPr id="16" name="Shape 13"/>
          <p:cNvSpPr/>
          <p:nvPr/>
        </p:nvSpPr>
        <p:spPr>
          <a:xfrm>
            <a:off x="6217920" y="1968134"/>
            <a:ext cx="4303957" cy="2697480"/>
          </a:xfrm>
          <a:prstGeom prst="roundRect">
            <a:avLst>
              <a:gd name="adj" fmla="val 3191"/>
            </a:avLst>
          </a:prstGeom>
          <a:solidFill>
            <a:srgbClr val="FFFFFF"/>
          </a:solidFill>
          <a:ln w="12700">
            <a:solidFill>
              <a:srgbClr val="FFFFFF"/>
            </a:solidFill>
            <a:prstDash val="solid"/>
          </a:ln>
          <a:effectLst>
            <a:outerShdw blurRad="127000" dist="38100" dir="5400000" algn="bl" rotWithShape="0">
              <a:srgbClr val="000000">
                <a:alpha val="10000"/>
              </a:srgbClr>
            </a:outerShdw>
          </a:effectLst>
        </p:spPr>
      </p:sp>
      <p:pic>
        <p:nvPicPr>
          <p:cNvPr id="17" name="Image 1" descr="MeAI 화면 캡처"/>
          <p:cNvPicPr>
            <a:picLocks noChangeAspect="1"/>
          </p:cNvPicPr>
          <p:nvPr/>
        </p:nvPicPr>
        <p:blipFill>
          <a:blip r:embed="rId4"/>
          <a:stretch>
            <a:fillRect/>
          </a:stretch>
        </p:blipFill>
        <p:spPr>
          <a:xfrm>
            <a:off x="6217920" y="1968134"/>
            <a:ext cx="4303957" cy="2697480"/>
          </a:xfrm>
          <a:prstGeom prst="rect">
            <a:avLst/>
          </a:prstGeom>
        </p:spPr>
      </p:pic>
      <p:sp>
        <p:nvSpPr>
          <p:cNvPr id="18" name="Shape 14"/>
          <p:cNvSpPr/>
          <p:nvPr/>
        </p:nvSpPr>
        <p:spPr>
          <a:xfrm>
            <a:off x="710166" y="3233419"/>
            <a:ext cx="4361195" cy="942234"/>
          </a:xfrm>
          <a:prstGeom prst="roundRect">
            <a:avLst>
              <a:gd name="adj" fmla="val 3882"/>
            </a:avLst>
          </a:prstGeom>
          <a:ln w="25400">
            <a:solidFill>
              <a:srgbClr val="00A86B"/>
            </a:solidFill>
            <a:prstDash val="solid"/>
          </a:ln>
        </p:spPr>
      </p:sp>
      <p:sp>
        <p:nvSpPr>
          <p:cNvPr id="19" name="Shape 15"/>
          <p:cNvSpPr/>
          <p:nvPr/>
        </p:nvSpPr>
        <p:spPr>
          <a:xfrm>
            <a:off x="9095566" y="2398530"/>
            <a:ext cx="1271169" cy="395363"/>
          </a:xfrm>
          <a:prstGeom prst="roundRect">
            <a:avLst>
              <a:gd name="adj" fmla="val 9251"/>
            </a:avLst>
          </a:prstGeom>
          <a:ln w="25400">
            <a:solidFill>
              <a:srgbClr val="F04452"/>
            </a:solidFill>
            <a:prstDash val="solid"/>
          </a:ln>
        </p:spPr>
      </p:sp>
      <p:sp>
        <p:nvSpPr>
          <p:cNvPr id="20" name="Shape 16"/>
          <p:cNvSpPr/>
          <p:nvPr/>
        </p:nvSpPr>
        <p:spPr>
          <a:xfrm>
            <a:off x="6368058" y="3494537"/>
            <a:ext cx="1251150" cy="162650"/>
          </a:xfrm>
          <a:prstGeom prst="roundRect">
            <a:avLst>
              <a:gd name="adj" fmla="val 22488"/>
            </a:avLst>
          </a:prstGeom>
          <a:ln w="25400">
            <a:solidFill>
              <a:srgbClr val="3182F6"/>
            </a:solidFill>
            <a:prstDash val="solid"/>
          </a:ln>
        </p:spPr>
      </p:sp>
      <p:sp>
        <p:nvSpPr>
          <p:cNvPr id="21" name="Shape 17"/>
          <p:cNvSpPr/>
          <p:nvPr/>
        </p:nvSpPr>
        <p:spPr>
          <a:xfrm>
            <a:off x="545574" y="2557329"/>
            <a:ext cx="329184" cy="329184"/>
          </a:xfrm>
          <a:prstGeom prst="ellipse">
            <a:avLst/>
          </a:prstGeom>
          <a:solidFill>
            <a:srgbClr val="191F28"/>
          </a:solidFill>
          <a:ln w="19050">
            <a:solidFill>
              <a:srgbClr val="FFFFFF"/>
            </a:solidFill>
            <a:prstDash val="solid"/>
          </a:ln>
        </p:spPr>
      </p:sp>
      <p:sp>
        <p:nvSpPr>
          <p:cNvPr id="22" name="Text 18"/>
          <p:cNvSpPr txBox="1"/>
          <p:nvPr/>
        </p:nvSpPr>
        <p:spPr>
          <a:xfrm>
            <a:off x="545574" y="2557329"/>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23" name="Shape 19"/>
          <p:cNvSpPr/>
          <p:nvPr/>
        </p:nvSpPr>
        <p:spPr>
          <a:xfrm>
            <a:off x="545574" y="3149590"/>
            <a:ext cx="329184" cy="329184"/>
          </a:xfrm>
          <a:prstGeom prst="ellipse">
            <a:avLst/>
          </a:prstGeom>
          <a:solidFill>
            <a:srgbClr val="00A86B"/>
          </a:solidFill>
          <a:ln w="19050">
            <a:solidFill>
              <a:srgbClr val="FFFFFF"/>
            </a:solidFill>
            <a:prstDash val="solid"/>
          </a:ln>
        </p:spPr>
      </p:sp>
      <p:sp>
        <p:nvSpPr>
          <p:cNvPr id="24" name="Text 20"/>
          <p:cNvSpPr txBox="1"/>
          <p:nvPr/>
        </p:nvSpPr>
        <p:spPr>
          <a:xfrm>
            <a:off x="545574" y="3149590"/>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5" name="Shape 21"/>
          <p:cNvSpPr/>
          <p:nvPr/>
        </p:nvSpPr>
        <p:spPr>
          <a:xfrm>
            <a:off x="8830882" y="2429117"/>
            <a:ext cx="329184" cy="329184"/>
          </a:xfrm>
          <a:prstGeom prst="ellipse">
            <a:avLst/>
          </a:prstGeom>
          <a:solidFill>
            <a:srgbClr val="F04452"/>
          </a:solidFill>
          <a:ln w="19050">
            <a:solidFill>
              <a:srgbClr val="FFFFFF"/>
            </a:solidFill>
            <a:prstDash val="solid"/>
          </a:ln>
        </p:spPr>
      </p:sp>
      <p:sp>
        <p:nvSpPr>
          <p:cNvPr id="26" name="Text 22"/>
          <p:cNvSpPr txBox="1"/>
          <p:nvPr/>
        </p:nvSpPr>
        <p:spPr>
          <a:xfrm>
            <a:off x="8830882" y="2429117"/>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7" name="Shape 23"/>
          <p:cNvSpPr/>
          <p:nvPr/>
        </p:nvSpPr>
        <p:spPr>
          <a:xfrm>
            <a:off x="6203466" y="3405014"/>
            <a:ext cx="329184" cy="329184"/>
          </a:xfrm>
          <a:prstGeom prst="ellipse">
            <a:avLst/>
          </a:prstGeom>
          <a:solidFill>
            <a:srgbClr val="3182F6"/>
          </a:solidFill>
          <a:ln w="19050">
            <a:solidFill>
              <a:srgbClr val="FFFFFF"/>
            </a:solidFill>
            <a:prstDash val="solid"/>
          </a:ln>
        </p:spPr>
      </p:sp>
      <p:sp>
        <p:nvSpPr>
          <p:cNvPr id="28" name="Text 24"/>
          <p:cNvSpPr txBox="1"/>
          <p:nvPr/>
        </p:nvSpPr>
        <p:spPr>
          <a:xfrm>
            <a:off x="6203466" y="340501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p>
        </p:txBody>
      </p:sp>
      <p:sp>
        <p:nvSpPr>
          <p:cNvPr id="29" name="Shape 25"/>
          <p:cNvSpPr/>
          <p:nvPr/>
        </p:nvSpPr>
        <p:spPr>
          <a:xfrm>
            <a:off x="548640" y="4855028"/>
            <a:ext cx="2650160" cy="621792"/>
          </a:xfrm>
          <a:prstGeom prst="roundRect">
            <a:avLst>
              <a:gd name="adj" fmla="val 17647"/>
            </a:avLst>
          </a:prstGeom>
          <a:solidFill>
            <a:srgbClr val="FFFFFF"/>
          </a:solidFill>
          <a:ln w="15875">
            <a:solidFill>
              <a:srgbClr val="191F28"/>
            </a:solidFill>
            <a:prstDash val="solid"/>
          </a:ln>
        </p:spPr>
      </p:sp>
      <p:sp>
        <p:nvSpPr>
          <p:cNvPr id="30" name="Shape 26"/>
          <p:cNvSpPr/>
          <p:nvPr/>
        </p:nvSpPr>
        <p:spPr>
          <a:xfrm>
            <a:off x="658368" y="4973900"/>
            <a:ext cx="365760" cy="365760"/>
          </a:xfrm>
          <a:prstGeom prst="ellipse">
            <a:avLst/>
          </a:prstGeom>
          <a:solidFill>
            <a:srgbClr val="191F28"/>
          </a:solidFill>
          <a:ln w="19050">
            <a:solidFill>
              <a:srgbClr val="FFFFFF"/>
            </a:solidFill>
            <a:prstDash val="solid"/>
          </a:ln>
        </p:spPr>
      </p:sp>
      <p:sp>
        <p:nvSpPr>
          <p:cNvPr id="31" name="Text 27"/>
          <p:cNvSpPr txBox="1"/>
          <p:nvPr/>
        </p:nvSpPr>
        <p:spPr>
          <a:xfrm>
            <a:off x="658368"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a:t>
            </a:r>
            <a:endParaRPr lang="en-US" sz="1400" dirty="0"/>
          </a:p>
        </p:txBody>
      </p:sp>
      <p:sp>
        <p:nvSpPr>
          <p:cNvPr id="32" name="Text 28"/>
          <p:cNvSpPr txBox="1"/>
          <p:nvPr/>
        </p:nvSpPr>
        <p:spPr>
          <a:xfrm>
            <a:off x="1115568"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한 줄 결론</a:t>
            </a:r>
            <a:endParaRPr lang="en-US" sz="1450" dirty="0"/>
          </a:p>
        </p:txBody>
      </p:sp>
      <p:sp>
        <p:nvSpPr>
          <p:cNvPr id="33" name="Text 29"/>
          <p:cNvSpPr txBox="1"/>
          <p:nvPr/>
        </p:nvSpPr>
        <p:spPr>
          <a:xfrm>
            <a:off x="1115568"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오늘 </a:t>
            </a:r>
            <a:r>
              <a:rPr lang="en-US" sz="1200" dirty="0" err="1">
                <a:solidFill>
                  <a:srgbClr val="6B7684"/>
                </a:solidFill>
                <a:latin typeface="맑은 고딕" pitchFamily="34" charset="0"/>
                <a:ea typeface="맑은 고딕" pitchFamily="34" charset="-122"/>
                <a:cs typeface="맑은 고딕" pitchFamily="34" charset="-120"/>
              </a:rPr>
              <a:t>상담</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주제</a:t>
            </a:r>
            <a:endParaRPr lang="en-US" sz="1200" dirty="0"/>
          </a:p>
        </p:txBody>
      </p:sp>
      <p:sp>
        <p:nvSpPr>
          <p:cNvPr id="34" name="Text 30"/>
          <p:cNvSpPr txBox="1"/>
          <p:nvPr/>
        </p:nvSpPr>
        <p:spPr>
          <a:xfrm>
            <a:off x="3180512"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35" name="Shape 31"/>
          <p:cNvSpPr/>
          <p:nvPr/>
        </p:nvSpPr>
        <p:spPr>
          <a:xfrm>
            <a:off x="3363392" y="4855028"/>
            <a:ext cx="2650160" cy="621792"/>
          </a:xfrm>
          <a:prstGeom prst="roundRect">
            <a:avLst>
              <a:gd name="adj" fmla="val 17647"/>
            </a:avLst>
          </a:prstGeom>
          <a:solidFill>
            <a:srgbClr val="FFFFFF"/>
          </a:solidFill>
          <a:ln w="15875">
            <a:solidFill>
              <a:srgbClr val="00A86B"/>
            </a:solidFill>
            <a:prstDash val="solid"/>
          </a:ln>
        </p:spPr>
      </p:sp>
      <p:sp>
        <p:nvSpPr>
          <p:cNvPr id="36" name="Shape 32"/>
          <p:cNvSpPr/>
          <p:nvPr/>
        </p:nvSpPr>
        <p:spPr>
          <a:xfrm>
            <a:off x="3473120" y="4973900"/>
            <a:ext cx="365760" cy="365760"/>
          </a:xfrm>
          <a:prstGeom prst="ellipse">
            <a:avLst/>
          </a:prstGeom>
          <a:solidFill>
            <a:srgbClr val="00A86B"/>
          </a:solidFill>
          <a:ln w="19050">
            <a:solidFill>
              <a:srgbClr val="FFFFFF"/>
            </a:solidFill>
            <a:prstDash val="solid"/>
          </a:ln>
        </p:spPr>
      </p:sp>
      <p:sp>
        <p:nvSpPr>
          <p:cNvPr id="37" name="Text 33"/>
          <p:cNvSpPr txBox="1"/>
          <p:nvPr/>
        </p:nvSpPr>
        <p:spPr>
          <a:xfrm>
            <a:off x="3473120"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a:t>
            </a:r>
            <a:endParaRPr lang="en-US" sz="1400" dirty="0"/>
          </a:p>
        </p:txBody>
      </p:sp>
      <p:sp>
        <p:nvSpPr>
          <p:cNvPr id="38" name="Text 34"/>
          <p:cNvSpPr txBox="1"/>
          <p:nvPr/>
        </p:nvSpPr>
        <p:spPr>
          <a:xfrm>
            <a:off x="3930320"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잘 갖춰진 것</a:t>
            </a:r>
            <a:endParaRPr lang="en-US" sz="1450" dirty="0"/>
          </a:p>
        </p:txBody>
      </p:sp>
      <p:sp>
        <p:nvSpPr>
          <p:cNvPr id="39" name="Text 35"/>
          <p:cNvSpPr txBox="1"/>
          <p:nvPr/>
        </p:nvSpPr>
        <p:spPr>
          <a:xfrm>
            <a:off x="3930320" y="5184212"/>
            <a:ext cx="2010080" cy="256032"/>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rPr>
              <a:t>보장분석</a:t>
            </a:r>
            <a:endParaRPr lang="en-US" sz="1200" dirty="0"/>
          </a:p>
        </p:txBody>
      </p:sp>
      <p:sp>
        <p:nvSpPr>
          <p:cNvPr id="40" name="Text 36"/>
          <p:cNvSpPr txBox="1"/>
          <p:nvPr/>
        </p:nvSpPr>
        <p:spPr>
          <a:xfrm>
            <a:off x="5995264"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1" name="Shape 37"/>
          <p:cNvSpPr/>
          <p:nvPr/>
        </p:nvSpPr>
        <p:spPr>
          <a:xfrm>
            <a:off x="6178144" y="4855028"/>
            <a:ext cx="2650160" cy="621792"/>
          </a:xfrm>
          <a:prstGeom prst="roundRect">
            <a:avLst>
              <a:gd name="adj" fmla="val 17647"/>
            </a:avLst>
          </a:prstGeom>
          <a:solidFill>
            <a:srgbClr val="FFFFFF"/>
          </a:solidFill>
          <a:ln w="15875">
            <a:solidFill>
              <a:srgbClr val="F04452"/>
            </a:solidFill>
            <a:prstDash val="solid"/>
          </a:ln>
        </p:spPr>
      </p:sp>
      <p:sp>
        <p:nvSpPr>
          <p:cNvPr id="42" name="Shape 38"/>
          <p:cNvSpPr/>
          <p:nvPr/>
        </p:nvSpPr>
        <p:spPr>
          <a:xfrm>
            <a:off x="6287872" y="4973900"/>
            <a:ext cx="365760" cy="365760"/>
          </a:xfrm>
          <a:prstGeom prst="ellipse">
            <a:avLst/>
          </a:prstGeom>
          <a:solidFill>
            <a:srgbClr val="F04452"/>
          </a:solidFill>
          <a:ln w="19050">
            <a:solidFill>
              <a:srgbClr val="FFFFFF"/>
            </a:solidFill>
            <a:prstDash val="solid"/>
          </a:ln>
        </p:spPr>
      </p:sp>
      <p:sp>
        <p:nvSpPr>
          <p:cNvPr id="43" name="Text 39"/>
          <p:cNvSpPr txBox="1"/>
          <p:nvPr/>
        </p:nvSpPr>
        <p:spPr>
          <a:xfrm>
            <a:off x="6287872"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a:t>
            </a:r>
            <a:endParaRPr lang="en-US" sz="1400" dirty="0"/>
          </a:p>
        </p:txBody>
      </p:sp>
      <p:sp>
        <p:nvSpPr>
          <p:cNvPr id="44" name="Text 40"/>
          <p:cNvSpPr txBox="1"/>
          <p:nvPr/>
        </p:nvSpPr>
        <p:spPr>
          <a:xfrm>
            <a:off x="6745072"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비어 있는 것</a:t>
            </a:r>
            <a:endParaRPr lang="en-US" sz="1450" dirty="0"/>
          </a:p>
        </p:txBody>
      </p:sp>
      <p:sp>
        <p:nvSpPr>
          <p:cNvPr id="45" name="Text 41"/>
          <p:cNvSpPr txBox="1"/>
          <p:nvPr/>
        </p:nvSpPr>
        <p:spPr>
          <a:xfrm>
            <a:off x="6745072" y="5184212"/>
            <a:ext cx="2010080" cy="256032"/>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'미가입' 줄이 </a:t>
            </a:r>
            <a:r>
              <a:rPr lang="en-US" sz="1200" dirty="0" err="1">
                <a:solidFill>
                  <a:srgbClr val="6B7684"/>
                </a:solidFill>
                <a:latin typeface="맑은 고딕" pitchFamily="34" charset="0"/>
                <a:ea typeface="맑은 고딕" pitchFamily="34" charset="-122"/>
                <a:cs typeface="맑은 고딕" pitchFamily="34" charset="-120"/>
              </a:rPr>
              <a:t>제안</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포인트</a:t>
            </a:r>
            <a:endParaRPr lang="en-US" sz="1200" dirty="0"/>
          </a:p>
        </p:txBody>
      </p:sp>
      <p:sp>
        <p:nvSpPr>
          <p:cNvPr id="46" name="Text 42"/>
          <p:cNvSpPr txBox="1"/>
          <p:nvPr/>
        </p:nvSpPr>
        <p:spPr>
          <a:xfrm>
            <a:off x="8810015" y="4855028"/>
            <a:ext cx="201168" cy="621792"/>
          </a:xfrm>
          <a:prstGeom prst="rect">
            <a:avLst/>
          </a:prstGeom>
          <a:noFill/>
          <a:ln/>
        </p:spPr>
        <p:txBody>
          <a:bodyPr wrap="square" lIns="0" tIns="0" rIns="0" bIns="0" rtlCol="0" anchor="ctr"/>
          <a:lstStyle/>
          <a:p>
            <a:pPr marL="0" indent="0" algn="ctr">
              <a:buNone/>
            </a:pPr>
            <a:r>
              <a:rPr lang="en-US" sz="1800" dirty="0">
                <a:solidFill>
                  <a:srgbClr val="B0B8C1"/>
                </a:solidFill>
                <a:latin typeface="맑은 고딕" pitchFamily="34" charset="0"/>
                <a:ea typeface="맑은 고딕" pitchFamily="34" charset="-122"/>
                <a:cs typeface="맑은 고딕" pitchFamily="34" charset="-120"/>
              </a:rPr>
              <a:t>›</a:t>
            </a:r>
            <a:endParaRPr lang="en-US" sz="1800" dirty="0"/>
          </a:p>
        </p:txBody>
      </p:sp>
      <p:sp>
        <p:nvSpPr>
          <p:cNvPr id="47" name="Shape 43"/>
          <p:cNvSpPr/>
          <p:nvPr/>
        </p:nvSpPr>
        <p:spPr>
          <a:xfrm>
            <a:off x="8992895" y="4855028"/>
            <a:ext cx="2650160" cy="621792"/>
          </a:xfrm>
          <a:prstGeom prst="roundRect">
            <a:avLst>
              <a:gd name="adj" fmla="val 17647"/>
            </a:avLst>
          </a:prstGeom>
          <a:solidFill>
            <a:srgbClr val="FFFFFF"/>
          </a:solidFill>
          <a:ln w="15875">
            <a:solidFill>
              <a:srgbClr val="3182F6"/>
            </a:solidFill>
            <a:prstDash val="solid"/>
          </a:ln>
        </p:spPr>
      </p:sp>
      <p:sp>
        <p:nvSpPr>
          <p:cNvPr id="48" name="Shape 44"/>
          <p:cNvSpPr/>
          <p:nvPr/>
        </p:nvSpPr>
        <p:spPr>
          <a:xfrm>
            <a:off x="9102623" y="4973900"/>
            <a:ext cx="365760" cy="365760"/>
          </a:xfrm>
          <a:prstGeom prst="ellipse">
            <a:avLst/>
          </a:prstGeom>
          <a:solidFill>
            <a:srgbClr val="3182F6"/>
          </a:solidFill>
          <a:ln w="19050">
            <a:solidFill>
              <a:srgbClr val="FFFFFF"/>
            </a:solidFill>
            <a:prstDash val="solid"/>
          </a:ln>
        </p:spPr>
      </p:sp>
      <p:sp>
        <p:nvSpPr>
          <p:cNvPr id="49" name="Text 45"/>
          <p:cNvSpPr txBox="1"/>
          <p:nvPr/>
        </p:nvSpPr>
        <p:spPr>
          <a:xfrm>
            <a:off x="9102623" y="49739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a:t>
            </a:r>
            <a:endParaRPr lang="en-US" sz="1400" dirty="0"/>
          </a:p>
        </p:txBody>
      </p:sp>
      <p:sp>
        <p:nvSpPr>
          <p:cNvPr id="50" name="Text 46"/>
          <p:cNvSpPr txBox="1"/>
          <p:nvPr/>
        </p:nvSpPr>
        <p:spPr>
          <a:xfrm>
            <a:off x="9559823" y="4900748"/>
            <a:ext cx="2010080" cy="292608"/>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이제 하면 되는 일</a:t>
            </a:r>
            <a:endParaRPr lang="en-US" sz="1450" dirty="0"/>
          </a:p>
        </p:txBody>
      </p:sp>
      <p:sp>
        <p:nvSpPr>
          <p:cNvPr id="51" name="Text 47"/>
          <p:cNvSpPr txBox="1"/>
          <p:nvPr/>
        </p:nvSpPr>
        <p:spPr>
          <a:xfrm>
            <a:off x="9559823" y="5184212"/>
            <a:ext cx="2010080" cy="256032"/>
          </a:xfrm>
          <a:prstGeom prst="rect">
            <a:avLst/>
          </a:prstGeom>
          <a:noFill/>
          <a:ln/>
        </p:spPr>
        <p:txBody>
          <a:bodyPr wrap="square" lIns="0" tIns="0" rIns="0" bIns="0" rtlCol="0" anchor="ctr"/>
          <a:lstStyle/>
          <a:p>
            <a:pPr marL="0" indent="0">
              <a:buNone/>
            </a:pPr>
            <a:r>
              <a:rPr lang="en-US" sz="1200" dirty="0" err="1">
                <a:solidFill>
                  <a:srgbClr val="6B7684"/>
                </a:solidFill>
                <a:latin typeface="맑은 고딕" pitchFamily="34" charset="0"/>
                <a:ea typeface="맑은 고딕" pitchFamily="34" charset="-122"/>
                <a:cs typeface="맑은 고딕" pitchFamily="34" charset="-120"/>
              </a:rPr>
              <a:t>다음</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해야 할 액션</a:t>
            </a:r>
            <a:endParaRPr lang="en-US" sz="1200" dirty="0"/>
          </a:p>
        </p:txBody>
      </p:sp>
      <p:sp>
        <p:nvSpPr>
          <p:cNvPr id="52" name="Shape 48"/>
          <p:cNvSpPr/>
          <p:nvPr/>
        </p:nvSpPr>
        <p:spPr>
          <a:xfrm>
            <a:off x="548640" y="5760720"/>
            <a:ext cx="7589520" cy="457200"/>
          </a:xfrm>
          <a:prstGeom prst="roundRect">
            <a:avLst>
              <a:gd name="adj" fmla="val 24000"/>
            </a:avLst>
          </a:prstGeom>
          <a:solidFill>
            <a:srgbClr val="E8F3FF"/>
          </a:solidFill>
          <a:ln w="12700">
            <a:solidFill>
              <a:srgbClr val="E8F3FF"/>
            </a:solidFill>
            <a:prstDash val="solid"/>
          </a:ln>
        </p:spPr>
      </p:sp>
      <p:sp>
        <p:nvSpPr>
          <p:cNvPr id="53" name="Text 49"/>
          <p:cNvSpPr txBox="1"/>
          <p:nvPr/>
        </p:nvSpPr>
        <p:spPr>
          <a:xfrm>
            <a:off x="731520" y="5760720"/>
            <a:ext cx="7315200" cy="457200"/>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TIP : </a:t>
            </a:r>
            <a:r>
              <a:rPr lang="en-US" sz="1350" b="1" dirty="0" err="1">
                <a:solidFill>
                  <a:srgbClr val="3182F6"/>
                </a:solidFill>
                <a:latin typeface="맑은 고딕" pitchFamily="34" charset="0"/>
                <a:ea typeface="맑은 고딕" pitchFamily="34" charset="-122"/>
                <a:cs typeface="맑은 고딕" pitchFamily="34" charset="-120"/>
              </a:rPr>
              <a:t>MeAI</a:t>
            </a:r>
            <a:r>
              <a:rPr lang="en-US" sz="1350" b="1" dirty="0">
                <a:solidFill>
                  <a:srgbClr val="3182F6"/>
                </a:solidFill>
                <a:latin typeface="맑은 고딕" pitchFamily="34" charset="0"/>
                <a:ea typeface="맑은 고딕" pitchFamily="34" charset="-122"/>
                <a:cs typeface="맑은 고딕" pitchFamily="34" charset="-120"/>
              </a:rPr>
              <a:t> </a:t>
            </a:r>
            <a:r>
              <a:rPr lang="ko-KR" altLang="en-US" sz="1350" b="1" dirty="0">
                <a:solidFill>
                  <a:srgbClr val="3182F6"/>
                </a:solidFill>
                <a:latin typeface="맑은 고딕" pitchFamily="34" charset="0"/>
                <a:ea typeface="맑은 고딕" pitchFamily="34" charset="-122"/>
                <a:cs typeface="맑은 고딕" pitchFamily="34" charset="-120"/>
              </a:rPr>
              <a:t>사용자가 가장 많이 사용하는 질문 </a:t>
            </a:r>
            <a:r>
              <a:rPr lang="en-US" sz="1600" b="1" dirty="0">
                <a:solidFill>
                  <a:srgbClr val="3182F6"/>
                </a:solidFill>
                <a:latin typeface="맑은 고딕" pitchFamily="34" charset="0"/>
                <a:ea typeface="맑은 고딕" pitchFamily="34" charset="-122"/>
                <a:cs typeface="맑은 고딕" pitchFamily="34" charset="-120"/>
              </a:rPr>
              <a:t>“가입증권 별로 핵심만 표로 </a:t>
            </a:r>
            <a:r>
              <a:rPr lang="en-US" sz="1600" b="1" dirty="0" err="1">
                <a:solidFill>
                  <a:srgbClr val="3182F6"/>
                </a:solidFill>
                <a:latin typeface="맑은 고딕" pitchFamily="34" charset="0"/>
                <a:ea typeface="맑은 고딕" pitchFamily="34" charset="-122"/>
                <a:cs typeface="맑은 고딕" pitchFamily="34" charset="-120"/>
              </a:rPr>
              <a:t>요약해줘</a:t>
            </a:r>
            <a:r>
              <a:rPr lang="en-US" sz="1600" b="1" dirty="0">
                <a:solidFill>
                  <a:srgbClr val="3182F6"/>
                </a:solidFill>
                <a:latin typeface="맑은 고딕" pitchFamily="34" charset="0"/>
                <a:ea typeface="맑은 고딕" pitchFamily="34" charset="-122"/>
                <a:cs typeface="맑은 고딕" pitchFamily="34" charset="-120"/>
              </a:rPr>
              <a:t>”</a:t>
            </a:r>
            <a:endParaRPr lang="en-US" sz="1350" dirty="0"/>
          </a:p>
        </p:txBody>
      </p:sp>
      <p:sp>
        <p:nvSpPr>
          <p:cNvPr id="55" name="Text 51"/>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2"/>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직접 물을 땐 “누구에게 + </a:t>
            </a:r>
            <a:r>
              <a:rPr lang="en-US" sz="3400" b="1" dirty="0" err="1">
                <a:solidFill>
                  <a:srgbClr val="191F28"/>
                </a:solidFill>
                <a:latin typeface="맑은 고딕" pitchFamily="34" charset="0"/>
                <a:ea typeface="맑은 고딕" pitchFamily="34" charset="-122"/>
                <a:cs typeface="맑은 고딕" pitchFamily="34" charset="-120"/>
              </a:rPr>
              <a:t>무엇을</a:t>
            </a:r>
            <a:r>
              <a:rPr lang="en-US" sz="3400" b="1" dirty="0">
                <a:solidFill>
                  <a:srgbClr val="191F28"/>
                </a:solidFill>
                <a:latin typeface="맑은 고딕" pitchFamily="34" charset="0"/>
                <a:ea typeface="맑은 고딕" pitchFamily="34" charset="-122"/>
                <a:cs typeface="맑은 고딕" pitchFamily="34" charset="-120"/>
              </a:rPr>
              <a:t>”</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말하듯</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편하게 입력하면 </a:t>
            </a:r>
            <a:r>
              <a:rPr lang="en-US" altLang="ko-KR" sz="1700" dirty="0" err="1">
                <a:solidFill>
                  <a:srgbClr val="6B7684"/>
                </a:solidFill>
                <a:latin typeface="맑은 고딕" pitchFamily="34" charset="0"/>
                <a:ea typeface="맑은 고딕" pitchFamily="34" charset="-122"/>
                <a:cs typeface="맑은 고딕" pitchFamily="34" charset="-120"/>
              </a:rPr>
              <a:t>MeAI</a:t>
            </a:r>
            <a:r>
              <a:rPr lang="ko-KR" altLang="en-US" sz="1700" dirty="0">
                <a:solidFill>
                  <a:srgbClr val="6B7684"/>
                </a:solidFill>
                <a:latin typeface="맑은 고딕" pitchFamily="34" charset="0"/>
                <a:ea typeface="맑은 고딕" pitchFamily="34" charset="-122"/>
                <a:cs typeface="맑은 고딕" pitchFamily="34" charset="-120"/>
              </a:rPr>
              <a:t>가 답변</a:t>
            </a:r>
            <a:endParaRPr lang="en-US" sz="1700" dirty="0"/>
          </a:p>
        </p:txBody>
      </p:sp>
      <p:sp>
        <p:nvSpPr>
          <p:cNvPr id="13" name="Shape 11"/>
          <p:cNvSpPr/>
          <p:nvPr/>
        </p:nvSpPr>
        <p:spPr>
          <a:xfrm>
            <a:off x="548640" y="1901952"/>
            <a:ext cx="2788920" cy="1207008"/>
          </a:xfrm>
          <a:prstGeom prst="roundRect">
            <a:avLst>
              <a:gd name="adj" fmla="val 10606"/>
            </a:avLst>
          </a:prstGeom>
          <a:solidFill>
            <a:srgbClr val="E8F3FF"/>
          </a:solidFill>
          <a:ln w="12700">
            <a:solidFill>
              <a:srgbClr val="E8F3FF"/>
            </a:solidFill>
            <a:prstDash val="solid"/>
          </a:ln>
        </p:spPr>
      </p:sp>
      <p:sp>
        <p:nvSpPr>
          <p:cNvPr id="14" name="Text 12"/>
          <p:cNvSpPr txBox="1"/>
          <p:nvPr/>
        </p:nvSpPr>
        <p:spPr>
          <a:xfrm>
            <a:off x="731520" y="1993392"/>
            <a:ext cx="2514600" cy="310896"/>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누구에게</a:t>
            </a:r>
            <a:endParaRPr lang="en-US" sz="1400" dirty="0"/>
          </a:p>
        </p:txBody>
      </p:sp>
      <p:sp>
        <p:nvSpPr>
          <p:cNvPr id="15" name="Text 13"/>
          <p:cNvSpPr txBox="1"/>
          <p:nvPr/>
        </p:nvSpPr>
        <p:spPr>
          <a:xfrm>
            <a:off x="731520" y="2322576"/>
            <a:ext cx="251460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“40대 자녀 둘 가장, 암진단비만 있는 고객에게”</a:t>
            </a:r>
            <a:endParaRPr lang="en-US" sz="1350" dirty="0"/>
          </a:p>
        </p:txBody>
      </p:sp>
      <p:sp>
        <p:nvSpPr>
          <p:cNvPr id="16" name="Text 14"/>
          <p:cNvSpPr txBox="1"/>
          <p:nvPr/>
        </p:nvSpPr>
        <p:spPr>
          <a:xfrm>
            <a:off x="3337560"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17" name="Shape 15"/>
          <p:cNvSpPr/>
          <p:nvPr/>
        </p:nvSpPr>
        <p:spPr>
          <a:xfrm>
            <a:off x="3511296" y="1901952"/>
            <a:ext cx="2514600" cy="1207008"/>
          </a:xfrm>
          <a:prstGeom prst="roundRect">
            <a:avLst>
              <a:gd name="adj" fmla="val 10606"/>
            </a:avLst>
          </a:prstGeom>
          <a:solidFill>
            <a:srgbClr val="FFFFFF"/>
          </a:solidFill>
          <a:ln w="15875">
            <a:solidFill>
              <a:srgbClr val="191F28"/>
            </a:solidFill>
            <a:prstDash val="solid"/>
          </a:ln>
        </p:spPr>
      </p:sp>
      <p:sp>
        <p:nvSpPr>
          <p:cNvPr id="18" name="Text 16"/>
          <p:cNvSpPr txBox="1"/>
          <p:nvPr/>
        </p:nvSpPr>
        <p:spPr>
          <a:xfrm>
            <a:off x="3694176" y="1993392"/>
            <a:ext cx="2240280" cy="310896"/>
          </a:xfrm>
          <a:prstGeom prst="rect">
            <a:avLst/>
          </a:prstGeom>
          <a:noFill/>
          <a:ln/>
        </p:spPr>
        <p:txBody>
          <a:bodyPr wrap="square" lIns="0" tIns="0" rIns="0" bIns="0" rtlCol="0" anchor="ctr"/>
          <a:lstStyle/>
          <a:p>
            <a:pPr marL="0" indent="0">
              <a:buNone/>
            </a:pPr>
            <a:r>
              <a:rPr lang="en-US" sz="1400" b="1" dirty="0">
                <a:solidFill>
                  <a:srgbClr val="191F28"/>
                </a:solidFill>
                <a:latin typeface="맑은 고딕" pitchFamily="34" charset="0"/>
                <a:ea typeface="맑은 고딕" pitchFamily="34" charset="-122"/>
                <a:cs typeface="맑은 고딕" pitchFamily="34" charset="-120"/>
              </a:rPr>
              <a:t>무엇을</a:t>
            </a:r>
            <a:endParaRPr lang="en-US" sz="1400" dirty="0"/>
          </a:p>
        </p:txBody>
      </p:sp>
      <p:sp>
        <p:nvSpPr>
          <p:cNvPr id="19" name="Text 17"/>
          <p:cNvSpPr txBox="1"/>
          <p:nvPr/>
        </p:nvSpPr>
        <p:spPr>
          <a:xfrm>
            <a:off x="3694176" y="2322576"/>
            <a:ext cx="2240280" cy="731520"/>
          </a:xfrm>
          <a:prstGeom prst="rect">
            <a:avLst/>
          </a:prstGeom>
          <a:noFill/>
          <a:ln/>
        </p:spPr>
        <p:txBody>
          <a:bodyPr wrap="square" lIns="0" tIns="0" rIns="0" bIns="0" rtlCol="0" anchor="t"/>
          <a:lstStyle/>
          <a:p>
            <a:pPr marL="0" indent="0">
              <a:lnSpc>
                <a:spcPct val="112000"/>
              </a:lnSpc>
              <a:buNone/>
            </a:pPr>
            <a:r>
              <a:rPr lang="en-US" sz="1350" b="1" dirty="0">
                <a:solidFill>
                  <a:srgbClr val="191F28"/>
                </a:solidFill>
                <a:latin typeface="맑은 고딕" pitchFamily="34" charset="0"/>
                <a:ea typeface="맑은 고딕" pitchFamily="34" charset="-122"/>
                <a:cs typeface="맑은 고딕" pitchFamily="34" charset="-120"/>
              </a:rPr>
              <a:t>“암 통합치료비가 왜 필요한지 설명해줘”</a:t>
            </a:r>
            <a:endParaRPr lang="en-US" sz="1350" dirty="0"/>
          </a:p>
        </p:txBody>
      </p:sp>
      <p:sp>
        <p:nvSpPr>
          <p:cNvPr id="20" name="Text 18"/>
          <p:cNvSpPr txBox="1"/>
          <p:nvPr/>
        </p:nvSpPr>
        <p:spPr>
          <a:xfrm>
            <a:off x="6025896"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1" name="Shape 19"/>
          <p:cNvSpPr/>
          <p:nvPr/>
        </p:nvSpPr>
        <p:spPr>
          <a:xfrm>
            <a:off x="6199632" y="1901952"/>
            <a:ext cx="2514600" cy="1207008"/>
          </a:xfrm>
          <a:prstGeom prst="roundRect">
            <a:avLst>
              <a:gd name="adj" fmla="val 10606"/>
            </a:avLst>
          </a:prstGeom>
          <a:solidFill>
            <a:srgbClr val="FFFFFF"/>
          </a:solidFill>
          <a:ln w="12700">
            <a:solidFill>
              <a:srgbClr val="D1D6DB"/>
            </a:solidFill>
            <a:prstDash val="solid"/>
          </a:ln>
        </p:spPr>
      </p:sp>
      <p:sp>
        <p:nvSpPr>
          <p:cNvPr id="22" name="Text 20"/>
          <p:cNvSpPr txBox="1"/>
          <p:nvPr/>
        </p:nvSpPr>
        <p:spPr>
          <a:xfrm>
            <a:off x="6382512" y="1993392"/>
            <a:ext cx="2240280" cy="310896"/>
          </a:xfrm>
          <a:prstGeom prst="rect">
            <a:avLst/>
          </a:prstGeom>
          <a:noFill/>
          <a:ln/>
        </p:spPr>
        <p:txBody>
          <a:bodyPr wrap="square" lIns="0" tIns="0" rIns="0" bIns="0" rtlCol="0" anchor="ctr"/>
          <a:lstStyle/>
          <a:p>
            <a:pPr marL="0" indent="0">
              <a:buNone/>
            </a:pPr>
            <a:r>
              <a:rPr lang="en-US" sz="1400" b="1" dirty="0" err="1">
                <a:solidFill>
                  <a:srgbClr val="6B7684"/>
                </a:solidFill>
                <a:latin typeface="맑은 고딕" pitchFamily="34" charset="0"/>
                <a:ea typeface="맑은 고딕" pitchFamily="34" charset="-122"/>
                <a:cs typeface="맑은 고딕" pitchFamily="34" charset="-120"/>
              </a:rPr>
              <a:t>형식</a:t>
            </a:r>
            <a:r>
              <a:rPr lang="ko-KR" altLang="en-US" sz="1400" b="1" dirty="0">
                <a:solidFill>
                  <a:srgbClr val="6B7684"/>
                </a:solidFill>
                <a:latin typeface="맑은 고딕" pitchFamily="34" charset="0"/>
                <a:ea typeface="맑은 고딕" pitchFamily="34" charset="-122"/>
                <a:cs typeface="맑은 고딕" pitchFamily="34" charset="-120"/>
              </a:rPr>
              <a:t> 추가하면 더 깔끔하게</a:t>
            </a:r>
            <a:endParaRPr lang="en-US" sz="1400" dirty="0"/>
          </a:p>
        </p:txBody>
      </p:sp>
      <p:sp>
        <p:nvSpPr>
          <p:cNvPr id="23" name="Text 21"/>
          <p:cNvSpPr txBox="1"/>
          <p:nvPr/>
        </p:nvSpPr>
        <p:spPr>
          <a:xfrm>
            <a:off x="6382512" y="2322576"/>
            <a:ext cx="22402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“표로” · “구어체로”</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“카톡 6줄로”</a:t>
            </a:r>
            <a:endParaRPr lang="en-US" sz="1350" dirty="0"/>
          </a:p>
        </p:txBody>
      </p:sp>
      <p:sp>
        <p:nvSpPr>
          <p:cNvPr id="24" name="Text 22"/>
          <p:cNvSpPr txBox="1"/>
          <p:nvPr/>
        </p:nvSpPr>
        <p:spPr>
          <a:xfrm>
            <a:off x="8714232" y="1901952"/>
            <a:ext cx="173736" cy="1207008"/>
          </a:xfrm>
          <a:prstGeom prst="rect">
            <a:avLst/>
          </a:prstGeom>
          <a:noFill/>
          <a:ln/>
        </p:spPr>
        <p:txBody>
          <a:bodyPr wrap="square" lIns="0" tIns="0" rIns="0" bIns="0" rtlCol="0" anchor="ctr"/>
          <a:lstStyle/>
          <a:p>
            <a:pPr marL="0" indent="0" algn="ctr">
              <a:buNone/>
            </a:pPr>
            <a:r>
              <a:rPr lang="en-US" sz="2000" b="1" dirty="0">
                <a:solidFill>
                  <a:srgbClr val="B0B8C1"/>
                </a:solidFill>
                <a:latin typeface="맑은 고딕" pitchFamily="34" charset="0"/>
                <a:ea typeface="맑은 고딕" pitchFamily="34" charset="-122"/>
                <a:cs typeface="맑은 고딕" pitchFamily="34" charset="-120"/>
              </a:rPr>
              <a:t>+</a:t>
            </a:r>
            <a:endParaRPr lang="en-US" sz="2000" dirty="0"/>
          </a:p>
        </p:txBody>
      </p:sp>
      <p:sp>
        <p:nvSpPr>
          <p:cNvPr id="25" name="Shape 23"/>
          <p:cNvSpPr/>
          <p:nvPr/>
        </p:nvSpPr>
        <p:spPr>
          <a:xfrm>
            <a:off x="8887968" y="1901952"/>
            <a:ext cx="2743200" cy="1207008"/>
          </a:xfrm>
          <a:prstGeom prst="roundRect">
            <a:avLst>
              <a:gd name="adj" fmla="val 10606"/>
            </a:avLst>
          </a:prstGeom>
          <a:solidFill>
            <a:srgbClr val="FFF8E1"/>
          </a:solidFill>
          <a:ln w="12700">
            <a:solidFill>
              <a:srgbClr val="FFF8E1"/>
            </a:solidFill>
            <a:prstDash val="solid"/>
          </a:ln>
        </p:spPr>
      </p:sp>
      <p:sp>
        <p:nvSpPr>
          <p:cNvPr id="26" name="Text 24"/>
          <p:cNvSpPr txBox="1"/>
          <p:nvPr/>
        </p:nvSpPr>
        <p:spPr>
          <a:xfrm>
            <a:off x="9070848" y="1993392"/>
            <a:ext cx="2468880" cy="310896"/>
          </a:xfrm>
          <a:prstGeom prst="rect">
            <a:avLst/>
          </a:prstGeom>
          <a:noFill/>
          <a:ln/>
        </p:spPr>
        <p:txBody>
          <a:bodyPr wrap="square" lIns="0" tIns="0" rIns="0" bIns="0" rtlCol="0" anchor="ctr"/>
          <a:lstStyle/>
          <a:p>
            <a:pPr marL="0" indent="0">
              <a:buNone/>
            </a:pPr>
            <a:r>
              <a:rPr lang="en-US" sz="1400" b="1" dirty="0">
                <a:solidFill>
                  <a:srgbClr val="B7791F"/>
                </a:solidFill>
                <a:latin typeface="맑은 고딕" pitchFamily="34" charset="0"/>
                <a:ea typeface="맑은 고딕" pitchFamily="34" charset="-122"/>
                <a:cs typeface="맑은 고딕" pitchFamily="34" charset="-120"/>
              </a:rPr>
              <a:t>안전장치 한 마디</a:t>
            </a:r>
            <a:endParaRPr lang="en-US" sz="1400" dirty="0"/>
          </a:p>
        </p:txBody>
      </p:sp>
      <p:sp>
        <p:nvSpPr>
          <p:cNvPr id="27" name="Text 25"/>
          <p:cNvSpPr txBox="1"/>
          <p:nvPr/>
        </p:nvSpPr>
        <p:spPr>
          <a:xfrm>
            <a:off x="9070848" y="2322576"/>
            <a:ext cx="2468880" cy="731520"/>
          </a:xfrm>
          <a:prstGeom prst="rect">
            <a:avLst/>
          </a:prstGeom>
          <a:noFill/>
          <a:ln/>
        </p:spPr>
        <p:txBody>
          <a:bodyPr wrap="square" lIns="0" tIns="0" rIns="0" bIns="0" rtlCol="0" anchor="t"/>
          <a:lstStyle/>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“자료에 없으면 추정하지 말고</a:t>
            </a:r>
            <a:endParaRPr lang="en-US" sz="1350" dirty="0"/>
          </a:p>
          <a:p>
            <a:pPr marL="0" indent="0">
              <a:lnSpc>
                <a:spcPct val="112000"/>
              </a:lnSpc>
              <a:buNone/>
            </a:pPr>
            <a:r>
              <a:rPr lang="en-US" sz="1350" dirty="0">
                <a:solidFill>
                  <a:srgbClr val="191F28"/>
                </a:solidFill>
                <a:latin typeface="맑은 고딕" pitchFamily="34" charset="0"/>
                <a:ea typeface="맑은 고딕" pitchFamily="34" charset="-122"/>
                <a:cs typeface="맑은 고딕" pitchFamily="34" charset="-120"/>
              </a:rPr>
              <a:t>‘확인필요’로 표시해”</a:t>
            </a:r>
            <a:endParaRPr lang="en-US" sz="1350" dirty="0"/>
          </a:p>
        </p:txBody>
      </p:sp>
      <p:sp>
        <p:nvSpPr>
          <p:cNvPr id="28" name="Text 26"/>
          <p:cNvSpPr txBox="1"/>
          <p:nvPr/>
        </p:nvSpPr>
        <p:spPr>
          <a:xfrm>
            <a:off x="548640" y="3246120"/>
            <a:ext cx="7315200" cy="329184"/>
          </a:xfrm>
          <a:prstGeom prst="rect">
            <a:avLst/>
          </a:prstGeom>
          <a:noFill/>
          <a:ln/>
        </p:spPr>
        <p:txBody>
          <a:bodyPr wrap="square" lIns="0" tIns="0" rIns="0" bIns="0" rtlCol="0" anchor="ctr"/>
          <a:lstStyle/>
          <a:p>
            <a:pPr marL="0" indent="0">
              <a:buNone/>
            </a:pPr>
            <a:r>
              <a:rPr lang="en-US" sz="1600" b="1" dirty="0">
                <a:solidFill>
                  <a:srgbClr val="191F28"/>
                </a:solidFill>
                <a:latin typeface="맑은 고딕" pitchFamily="34" charset="0"/>
                <a:ea typeface="맑은 고딕" pitchFamily="34" charset="-122"/>
                <a:cs typeface="맑은 고딕" pitchFamily="34" charset="-120"/>
              </a:rPr>
              <a:t>한 줄만 </a:t>
            </a:r>
            <a:r>
              <a:rPr lang="en-US" sz="1600" b="1" dirty="0" err="1">
                <a:solidFill>
                  <a:srgbClr val="191F28"/>
                </a:solidFill>
                <a:latin typeface="맑은 고딕" pitchFamily="34" charset="0"/>
                <a:ea typeface="맑은 고딕" pitchFamily="34" charset="-122"/>
                <a:cs typeface="맑은 고딕" pitchFamily="34" charset="-120"/>
              </a:rPr>
              <a:t>바꿔도</a:t>
            </a:r>
            <a:r>
              <a:rPr lang="en-US" sz="1600" b="1" dirty="0">
                <a:solidFill>
                  <a:srgbClr val="191F28"/>
                </a:solidFill>
                <a:latin typeface="맑은 고딕" pitchFamily="34" charset="0"/>
                <a:ea typeface="맑은 고딕" pitchFamily="34" charset="-122"/>
                <a:cs typeface="맑은 고딕" pitchFamily="34" charset="-120"/>
              </a:rPr>
              <a:t> </a:t>
            </a:r>
            <a:r>
              <a:rPr lang="ko-KR" altLang="en-US" sz="1600" b="1" dirty="0">
                <a:solidFill>
                  <a:srgbClr val="191F28"/>
                </a:solidFill>
                <a:latin typeface="맑은 고딕" pitchFamily="34" charset="0"/>
                <a:ea typeface="맑은 고딕" pitchFamily="34" charset="-122"/>
                <a:cs typeface="맑은 고딕" pitchFamily="34" charset="-120"/>
              </a:rPr>
              <a:t>달라지는 답변의 수준</a:t>
            </a:r>
            <a:endParaRPr lang="en-US" sz="1600" dirty="0"/>
          </a:p>
        </p:txBody>
      </p:sp>
      <p:sp>
        <p:nvSpPr>
          <p:cNvPr id="29" name="Shape 27"/>
          <p:cNvSpPr/>
          <p:nvPr/>
        </p:nvSpPr>
        <p:spPr>
          <a:xfrm>
            <a:off x="548640" y="3630168"/>
            <a:ext cx="3566160" cy="1143000"/>
          </a:xfrm>
          <a:prstGeom prst="roundRect">
            <a:avLst>
              <a:gd name="adj" fmla="val 11200"/>
            </a:avLst>
          </a:prstGeom>
          <a:solidFill>
            <a:srgbClr val="F2F4F6"/>
          </a:solidFill>
          <a:ln w="12700">
            <a:solidFill>
              <a:srgbClr val="F2F4F6"/>
            </a:solidFill>
            <a:prstDash val="solid"/>
          </a:ln>
        </p:spPr>
      </p:sp>
      <p:sp>
        <p:nvSpPr>
          <p:cNvPr id="30" name="Shape 28"/>
          <p:cNvSpPr/>
          <p:nvPr/>
        </p:nvSpPr>
        <p:spPr>
          <a:xfrm>
            <a:off x="731520" y="3758184"/>
            <a:ext cx="518160" cy="274320"/>
          </a:xfrm>
          <a:prstGeom prst="roundRect">
            <a:avLst>
              <a:gd name="adj" fmla="val 50000"/>
            </a:avLst>
          </a:prstGeom>
          <a:solidFill>
            <a:srgbClr val="6B7684"/>
          </a:solidFill>
          <a:ln w="12700">
            <a:solidFill>
              <a:srgbClr val="6B7684"/>
            </a:solidFill>
            <a:prstDash val="solid"/>
          </a:ln>
        </p:spPr>
      </p:sp>
      <p:sp>
        <p:nvSpPr>
          <p:cNvPr id="31" name="Text 29"/>
          <p:cNvSpPr txBox="1"/>
          <p:nvPr/>
        </p:nvSpPr>
        <p:spPr>
          <a:xfrm>
            <a:off x="73152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전</a:t>
            </a:r>
            <a:endParaRPr lang="en-US" sz="1200" dirty="0"/>
          </a:p>
        </p:txBody>
      </p:sp>
      <p:sp>
        <p:nvSpPr>
          <p:cNvPr id="32" name="Text 30"/>
          <p:cNvSpPr txBox="1"/>
          <p:nvPr/>
        </p:nvSpPr>
        <p:spPr>
          <a:xfrm>
            <a:off x="731520" y="4069080"/>
            <a:ext cx="3200400" cy="347472"/>
          </a:xfrm>
          <a:prstGeom prst="rect">
            <a:avLst/>
          </a:prstGeom>
          <a:noFill/>
          <a:ln/>
        </p:spPr>
        <p:txBody>
          <a:bodyPr wrap="square" lIns="0" tIns="0" rIns="0" bIns="0" rtlCol="0" anchor="ctr"/>
          <a:lstStyle/>
          <a:p>
            <a:pPr marL="0" indent="0">
              <a:buNone/>
            </a:pPr>
            <a:r>
              <a:rPr lang="en-US" sz="1600" b="1" dirty="0">
                <a:solidFill>
                  <a:srgbClr val="4E5968"/>
                </a:solidFill>
                <a:latin typeface="맑은 고딕" pitchFamily="34" charset="0"/>
                <a:ea typeface="맑은 고딕" pitchFamily="34" charset="-122"/>
                <a:cs typeface="맑은 고딕" pitchFamily="34" charset="-120"/>
              </a:rPr>
              <a:t>“실손 설명해줘”</a:t>
            </a:r>
            <a:endParaRPr lang="en-US" sz="1600" dirty="0"/>
          </a:p>
        </p:txBody>
      </p:sp>
      <p:sp>
        <p:nvSpPr>
          <p:cNvPr id="33" name="Text 31"/>
          <p:cNvSpPr txBox="1"/>
          <p:nvPr/>
        </p:nvSpPr>
        <p:spPr>
          <a:xfrm>
            <a:off x="731520" y="4416552"/>
            <a:ext cx="3200400" cy="292608"/>
          </a:xfrm>
          <a:prstGeom prst="rect">
            <a:avLst/>
          </a:prstGeom>
          <a:noFill/>
          <a:ln/>
        </p:spPr>
        <p:txBody>
          <a:bodyPr wrap="square" lIns="0" tIns="0" rIns="0" bIns="0" rtlCol="0" anchor="ctr"/>
          <a:lstStyle/>
          <a:p>
            <a:pPr marL="0" indent="0">
              <a:buNone/>
            </a:pPr>
            <a:r>
              <a:rPr lang="en-US" sz="1300" dirty="0">
                <a:solidFill>
                  <a:srgbClr val="6B7684"/>
                </a:solidFill>
                <a:latin typeface="맑은 고딕" pitchFamily="34" charset="0"/>
                <a:ea typeface="맑은 고딕" pitchFamily="34" charset="-122"/>
                <a:cs typeface="맑은 고딕" pitchFamily="34" charset="-120"/>
              </a:rPr>
              <a:t>→ 실손의 일반 개념을 길게 설명</a:t>
            </a:r>
            <a:endParaRPr lang="en-US" sz="1300" dirty="0"/>
          </a:p>
        </p:txBody>
      </p:sp>
      <p:sp>
        <p:nvSpPr>
          <p:cNvPr id="34" name="Text 32"/>
          <p:cNvSpPr txBox="1"/>
          <p:nvPr/>
        </p:nvSpPr>
        <p:spPr>
          <a:xfrm>
            <a:off x="4114800" y="3630168"/>
            <a:ext cx="365760" cy="1143000"/>
          </a:xfrm>
          <a:prstGeom prst="rect">
            <a:avLst/>
          </a:prstGeom>
          <a:noFill/>
          <a:ln/>
        </p:spPr>
        <p:txBody>
          <a:bodyPr wrap="square" lIns="0" tIns="0" rIns="0" bIns="0" rtlCol="0" anchor="ctr"/>
          <a:lstStyle/>
          <a:p>
            <a:pPr marL="0" indent="0" algn="ctr">
              <a:buNone/>
            </a:pPr>
            <a:r>
              <a:rPr lang="en-US" sz="2800" dirty="0">
                <a:solidFill>
                  <a:srgbClr val="3182F6"/>
                </a:solidFill>
                <a:latin typeface="맑은 고딕" pitchFamily="34" charset="0"/>
                <a:ea typeface="맑은 고딕" pitchFamily="34" charset="-122"/>
                <a:cs typeface="맑은 고딕" pitchFamily="34" charset="-120"/>
              </a:rPr>
              <a:t>›</a:t>
            </a:r>
            <a:endParaRPr lang="en-US" sz="2800" dirty="0"/>
          </a:p>
        </p:txBody>
      </p:sp>
      <p:sp>
        <p:nvSpPr>
          <p:cNvPr id="35" name="Shape 33"/>
          <p:cNvSpPr/>
          <p:nvPr/>
        </p:nvSpPr>
        <p:spPr>
          <a:xfrm>
            <a:off x="4480560" y="3630168"/>
            <a:ext cx="7162495" cy="1143000"/>
          </a:xfrm>
          <a:prstGeom prst="roundRect">
            <a:avLst>
              <a:gd name="adj" fmla="val 11200"/>
            </a:avLst>
          </a:prstGeom>
          <a:solidFill>
            <a:srgbClr val="FFFFFF"/>
          </a:solidFill>
          <a:ln w="19050">
            <a:solidFill>
              <a:srgbClr val="3182F6"/>
            </a:solidFill>
            <a:prstDash val="solid"/>
          </a:ln>
        </p:spPr>
      </p:sp>
      <p:sp>
        <p:nvSpPr>
          <p:cNvPr id="36" name="Shape 34"/>
          <p:cNvSpPr/>
          <p:nvPr/>
        </p:nvSpPr>
        <p:spPr>
          <a:xfrm>
            <a:off x="4663440" y="3758184"/>
            <a:ext cx="518160" cy="274320"/>
          </a:xfrm>
          <a:prstGeom prst="roundRect">
            <a:avLst>
              <a:gd name="adj" fmla="val 50000"/>
            </a:avLst>
          </a:prstGeom>
          <a:solidFill>
            <a:srgbClr val="3182F6"/>
          </a:solidFill>
          <a:ln w="12700">
            <a:solidFill>
              <a:srgbClr val="3182F6"/>
            </a:solidFill>
            <a:prstDash val="solid"/>
          </a:ln>
        </p:spPr>
      </p:sp>
      <p:sp>
        <p:nvSpPr>
          <p:cNvPr id="37" name="Text 35"/>
          <p:cNvSpPr txBox="1"/>
          <p:nvPr/>
        </p:nvSpPr>
        <p:spPr>
          <a:xfrm>
            <a:off x="4663440" y="3758184"/>
            <a:ext cx="5181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후</a:t>
            </a:r>
            <a:endParaRPr lang="en-US" sz="1200" dirty="0"/>
          </a:p>
        </p:txBody>
      </p:sp>
      <p:sp>
        <p:nvSpPr>
          <p:cNvPr id="38" name="Text 36"/>
          <p:cNvSpPr txBox="1"/>
          <p:nvPr/>
        </p:nvSpPr>
        <p:spPr>
          <a:xfrm>
            <a:off x="4663440" y="4050792"/>
            <a:ext cx="6842455" cy="365760"/>
          </a:xfrm>
          <a:prstGeom prst="rect">
            <a:avLst/>
          </a:prstGeom>
          <a:noFill/>
          <a:ln/>
        </p:spPr>
        <p:txBody>
          <a:bodyPr wrap="square" lIns="0" tIns="0" rIns="0" bIns="0" rtlCol="0" anchor="ctr"/>
          <a:lstStyle/>
          <a:p>
            <a:pPr marL="0" indent="0">
              <a:buNone/>
            </a:pPr>
            <a:r>
              <a:rPr lang="en-US" sz="1450" b="1" dirty="0">
                <a:solidFill>
                  <a:srgbClr val="191F28"/>
                </a:solidFill>
                <a:latin typeface="맑은 고딕" pitchFamily="34" charset="0"/>
                <a:ea typeface="맑은 고딕" pitchFamily="34" charset="-122"/>
                <a:cs typeface="맑은 고딕" pitchFamily="34" charset="-120"/>
              </a:rPr>
              <a:t>“3세대 실손 가입한 50대 고객에게, 4세대와 비교해서 … 표 1개로 정리하고 …”</a:t>
            </a:r>
            <a:endParaRPr lang="en-US" sz="1450" dirty="0"/>
          </a:p>
        </p:txBody>
      </p:sp>
      <p:sp>
        <p:nvSpPr>
          <p:cNvPr id="39" name="Text 37"/>
          <p:cNvSpPr txBox="1"/>
          <p:nvPr/>
        </p:nvSpPr>
        <p:spPr>
          <a:xfrm>
            <a:off x="4663440" y="4416552"/>
            <a:ext cx="6842455" cy="292608"/>
          </a:xfrm>
          <a:prstGeom prst="rect">
            <a:avLst/>
          </a:prstGeom>
          <a:noFill/>
          <a:ln/>
        </p:spPr>
        <p:txBody>
          <a:bodyPr wrap="square" lIns="0" tIns="0" rIns="0" bIns="0" rtlCol="0" anchor="ctr"/>
          <a:lstStyle/>
          <a:p>
            <a:pPr marL="0" indent="0">
              <a:buNone/>
            </a:pPr>
            <a:r>
              <a:rPr lang="en-US" sz="1350" b="1" dirty="0">
                <a:solidFill>
                  <a:srgbClr val="3182F6"/>
                </a:solidFill>
                <a:latin typeface="맑은 고딕" pitchFamily="34" charset="0"/>
                <a:ea typeface="맑은 고딕" pitchFamily="34" charset="-122"/>
                <a:cs typeface="맑은 고딕" pitchFamily="34" charset="-120"/>
              </a:rPr>
              <a:t>→ 고객 세대 기준 비교표 + 바로 말할 수 있는 3가지</a:t>
            </a:r>
            <a:endParaRPr lang="en-US" sz="1350" dirty="0"/>
          </a:p>
        </p:txBody>
      </p:sp>
      <p:sp>
        <p:nvSpPr>
          <p:cNvPr id="40" name="Shape 38"/>
          <p:cNvSpPr/>
          <p:nvPr/>
        </p:nvSpPr>
        <p:spPr>
          <a:xfrm>
            <a:off x="548640" y="4937760"/>
            <a:ext cx="11094415" cy="1078992"/>
          </a:xfrm>
          <a:prstGeom prst="roundRect">
            <a:avLst>
              <a:gd name="adj" fmla="val 11864"/>
            </a:avLst>
          </a:prstGeom>
          <a:solidFill>
            <a:srgbClr val="F9FAFB"/>
          </a:solidFill>
          <a:ln w="12700">
            <a:solidFill>
              <a:srgbClr val="F9FAFB"/>
            </a:solidFill>
            <a:prstDash val="solid"/>
          </a:ln>
        </p:spPr>
      </p:sp>
      <p:pic>
        <p:nvPicPr>
          <p:cNvPr id="41" name="Image 0" descr="MeAI 화면 캡처"/>
          <p:cNvPicPr>
            <a:picLocks noChangeAspect="1"/>
          </p:cNvPicPr>
          <p:nvPr/>
        </p:nvPicPr>
        <p:blipFill>
          <a:blip r:embed="rId3"/>
          <a:stretch>
            <a:fillRect/>
          </a:stretch>
        </p:blipFill>
        <p:spPr>
          <a:xfrm>
            <a:off x="777240" y="5029200"/>
            <a:ext cx="2213002" cy="731520"/>
          </a:xfrm>
          <a:prstGeom prst="rect">
            <a:avLst/>
          </a:prstGeom>
        </p:spPr>
      </p:pic>
      <p:sp>
        <p:nvSpPr>
          <p:cNvPr id="42" name="Shape 39"/>
          <p:cNvSpPr/>
          <p:nvPr/>
        </p:nvSpPr>
        <p:spPr>
          <a:xfrm>
            <a:off x="2451309" y="4941064"/>
            <a:ext cx="237744" cy="237744"/>
          </a:xfrm>
          <a:prstGeom prst="ellipse">
            <a:avLst/>
          </a:prstGeom>
          <a:solidFill>
            <a:srgbClr val="F04452"/>
          </a:solidFill>
          <a:ln w="19050">
            <a:solidFill>
              <a:srgbClr val="FFFFFF"/>
            </a:solidFill>
            <a:prstDash val="solid"/>
          </a:ln>
        </p:spPr>
      </p:sp>
      <p:sp>
        <p:nvSpPr>
          <p:cNvPr id="43" name="Text 40"/>
          <p:cNvSpPr txBox="1"/>
          <p:nvPr/>
        </p:nvSpPr>
        <p:spPr>
          <a:xfrm>
            <a:off x="2451309" y="4941064"/>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44" name="Shape 41"/>
          <p:cNvSpPr/>
          <p:nvPr/>
        </p:nvSpPr>
        <p:spPr>
          <a:xfrm>
            <a:off x="2672609" y="5371370"/>
            <a:ext cx="237744" cy="237744"/>
          </a:xfrm>
          <a:prstGeom prst="ellipse">
            <a:avLst/>
          </a:prstGeom>
          <a:solidFill>
            <a:srgbClr val="F04452"/>
          </a:solidFill>
          <a:ln w="19050">
            <a:solidFill>
              <a:srgbClr val="FFFFFF"/>
            </a:solidFill>
            <a:prstDash val="solid"/>
          </a:ln>
        </p:spPr>
      </p:sp>
      <p:sp>
        <p:nvSpPr>
          <p:cNvPr id="45" name="Text 42"/>
          <p:cNvSpPr txBox="1"/>
          <p:nvPr/>
        </p:nvSpPr>
        <p:spPr>
          <a:xfrm>
            <a:off x="2672609" y="5371370"/>
            <a:ext cx="237744" cy="237744"/>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46" name="Text 43"/>
          <p:cNvSpPr txBox="1"/>
          <p:nvPr/>
        </p:nvSpPr>
        <p:spPr>
          <a:xfrm>
            <a:off x="731520" y="5742432"/>
            <a:ext cx="2651760" cy="237744"/>
          </a:xfrm>
          <a:prstGeom prst="rect">
            <a:avLst/>
          </a:prstGeom>
          <a:noFill/>
          <a:ln/>
        </p:spPr>
        <p:txBody>
          <a:bodyPr wrap="square" lIns="0" tIns="0" rIns="0" bIns="0" rtlCol="0" anchor="ctr"/>
          <a:lstStyle/>
          <a:p>
            <a:pPr marL="0" indent="0" algn="ctr">
              <a:buNone/>
            </a:pPr>
            <a:r>
              <a:rPr lang="en-US" sz="1100" dirty="0">
                <a:solidFill>
                  <a:srgbClr val="8B95A1"/>
                </a:solidFill>
                <a:latin typeface="맑은 고딕" pitchFamily="34" charset="0"/>
                <a:ea typeface="맑은 고딕" pitchFamily="34" charset="-122"/>
                <a:cs typeface="맑은 고딕" pitchFamily="34" charset="-120"/>
              </a:rPr>
              <a:t>휴대폰 MeAI 입력창</a:t>
            </a:r>
            <a:endParaRPr lang="en-US" sz="1100" dirty="0"/>
          </a:p>
        </p:txBody>
      </p:sp>
      <p:sp>
        <p:nvSpPr>
          <p:cNvPr id="47" name="Text 44"/>
          <p:cNvSpPr txBox="1"/>
          <p:nvPr/>
        </p:nvSpPr>
        <p:spPr>
          <a:xfrm>
            <a:off x="3657600" y="4937760"/>
            <a:ext cx="7802575" cy="1078992"/>
          </a:xfrm>
          <a:prstGeom prst="rect">
            <a:avLst/>
          </a:prstGeom>
          <a:noFill/>
          <a:ln/>
        </p:spPr>
        <p:txBody>
          <a:bodyPr wrap="square" lIns="0" tIns="0" rIns="0" bIns="0" rtlCol="0" anchor="ctr"/>
          <a:lstStyle/>
          <a:p>
            <a:pPr marL="0" indent="0">
              <a:lnSpc>
                <a:spcPct val="135000"/>
              </a:lnSpc>
              <a:buNone/>
            </a:pPr>
            <a:r>
              <a:rPr lang="en-US" sz="1550" b="1" dirty="0">
                <a:solidFill>
                  <a:srgbClr val="191F28"/>
                </a:solidFill>
                <a:latin typeface="맑은 고딕" pitchFamily="34" charset="0"/>
                <a:ea typeface="맑은 고딕" pitchFamily="34" charset="-122"/>
                <a:cs typeface="맑은 고딕" pitchFamily="34" charset="-120"/>
              </a:rPr>
              <a:t>안 맞으면 “더 쉽게” · “표로 다시” 한 마디</a:t>
            </a:r>
            <a:endParaRPr lang="en-US" sz="1550" dirty="0"/>
          </a:p>
          <a:p>
            <a:pPr marL="0" indent="0">
              <a:lnSpc>
                <a:spcPct val="135000"/>
              </a:lnSpc>
              <a:buNone/>
            </a:pPr>
            <a:r>
              <a:rPr lang="en-US" sz="1550" b="1" dirty="0" err="1">
                <a:solidFill>
                  <a:srgbClr val="191F28"/>
                </a:solidFill>
                <a:latin typeface="맑은 고딕" pitchFamily="34" charset="0"/>
                <a:ea typeface="맑은 고딕" pitchFamily="34" charset="-122"/>
                <a:cs typeface="맑은 고딕" pitchFamily="34" charset="-120"/>
              </a:rPr>
              <a:t>휴대폰</a:t>
            </a:r>
            <a:r>
              <a:rPr lang="ko-KR" altLang="en-US" sz="1550" b="1" dirty="0">
                <a:solidFill>
                  <a:srgbClr val="191F28"/>
                </a:solidFill>
                <a:latin typeface="맑은 고딕" pitchFamily="34" charset="0"/>
                <a:ea typeface="맑은 고딕" pitchFamily="34" charset="-122"/>
                <a:cs typeface="맑은 고딕" pitchFamily="34" charset="-120"/>
              </a:rPr>
              <a:t>이라 타이핑이 어렵다면</a:t>
            </a:r>
            <a:r>
              <a:rPr lang="en-US" altLang="ko-KR" sz="1550" b="1" dirty="0">
                <a:solidFill>
                  <a:srgbClr val="191F28"/>
                </a:solidFill>
                <a:latin typeface="맑은 고딕" pitchFamily="34" charset="0"/>
                <a:ea typeface="맑은 고딕" pitchFamily="34" charset="-122"/>
                <a:cs typeface="맑은 고딕" pitchFamily="34" charset="-120"/>
              </a:rPr>
              <a:t>?</a:t>
            </a:r>
            <a:r>
              <a:rPr lang="en-US" sz="1550" b="1" dirty="0">
                <a:solidFill>
                  <a:srgbClr val="191F28"/>
                </a:solidFill>
                <a:latin typeface="맑은 고딕" pitchFamily="34" charset="0"/>
                <a:ea typeface="맑은 고딕" pitchFamily="34" charset="-122"/>
                <a:cs typeface="맑은 고딕" pitchFamily="34" charset="-120"/>
              </a:rPr>
              <a:t> ① 마이크를 </a:t>
            </a:r>
            <a:r>
              <a:rPr lang="en-US" sz="1550" b="1" dirty="0" err="1">
                <a:solidFill>
                  <a:srgbClr val="191F28"/>
                </a:solidFill>
                <a:latin typeface="맑은 고딕" pitchFamily="34" charset="0"/>
                <a:ea typeface="맑은 고딕" pitchFamily="34" charset="-122"/>
                <a:cs typeface="맑은 고딕" pitchFamily="34" charset="-120"/>
              </a:rPr>
              <a:t>눌러</a:t>
            </a:r>
            <a:r>
              <a:rPr lang="en-US" sz="1550" b="1" dirty="0">
                <a:solidFill>
                  <a:srgbClr val="191F28"/>
                </a:solidFill>
                <a:latin typeface="맑은 고딕" pitchFamily="34" charset="0"/>
                <a:ea typeface="맑은 고딕" pitchFamily="34" charset="-122"/>
                <a:cs typeface="맑은 고딕" pitchFamily="34" charset="-120"/>
              </a:rPr>
              <a:t> 말</a:t>
            </a:r>
            <a:r>
              <a:rPr lang="ko-KR" altLang="en-US" sz="1550" b="1" dirty="0">
                <a:solidFill>
                  <a:srgbClr val="191F28"/>
                </a:solidFill>
                <a:latin typeface="맑은 고딕" pitchFamily="34" charset="0"/>
                <a:ea typeface="맑은 고딕" pitchFamily="34" charset="-122"/>
                <a:cs typeface="맑은 고딕" pitchFamily="34" charset="-120"/>
              </a:rPr>
              <a:t>하고</a:t>
            </a:r>
            <a:r>
              <a:rPr lang="en-US" sz="1550" b="1" dirty="0">
                <a:solidFill>
                  <a:srgbClr val="191F28"/>
                </a:solidFill>
                <a:latin typeface="맑은 고딕" pitchFamily="34" charset="0"/>
                <a:ea typeface="맑은 고딕" pitchFamily="34" charset="-122"/>
                <a:cs typeface="맑은 고딕" pitchFamily="34" charset="-120"/>
              </a:rPr>
              <a:t>  ② ↑</a:t>
            </a:r>
            <a:endParaRPr lang="en-US" sz="1550" dirty="0"/>
          </a:p>
        </p:txBody>
      </p:sp>
      <p:sp>
        <p:nvSpPr>
          <p:cNvPr id="49" name="Text 46"/>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0" name="Text 47"/>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3 · 묻기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3182F6"/>
          </a:solidFill>
          <a:ln w="12700">
            <a:solidFill>
              <a:srgbClr val="3182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할 말도 </a:t>
            </a:r>
            <a:r>
              <a:rPr lang="en-US" sz="3400" b="1" dirty="0" err="1">
                <a:solidFill>
                  <a:srgbClr val="191F28"/>
                </a:solidFill>
                <a:latin typeface="맑은 고딕" pitchFamily="34" charset="0"/>
                <a:ea typeface="맑은 고딕" pitchFamily="34" charset="-122"/>
                <a:cs typeface="맑은 고딕" pitchFamily="34" charset="-120"/>
              </a:rPr>
              <a:t>MeAI가</a:t>
            </a:r>
            <a:r>
              <a:rPr lang="en-US" sz="3400" b="1" dirty="0">
                <a:solidFill>
                  <a:srgbClr val="191F28"/>
                </a:solidFill>
                <a:latin typeface="맑은 고딕" pitchFamily="34" charset="0"/>
                <a:ea typeface="맑은 고딕" pitchFamily="34" charset="-122"/>
                <a:cs typeface="맑은 고딕" pitchFamily="34" charset="-120"/>
              </a:rPr>
              <a:t> </a:t>
            </a:r>
            <a:r>
              <a:rPr lang="en-US" sz="3400" b="1" dirty="0" err="1">
                <a:solidFill>
                  <a:srgbClr val="191F28"/>
                </a:solidFill>
                <a:latin typeface="맑은 고딕" pitchFamily="34" charset="0"/>
                <a:ea typeface="맑은 고딕" pitchFamily="34" charset="-122"/>
                <a:cs typeface="맑은 고딕" pitchFamily="34" charset="-120"/>
              </a:rPr>
              <a:t>초안</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작성</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한 줄만 </a:t>
            </a:r>
            <a:r>
              <a:rPr lang="en-US" sz="1700" dirty="0" err="1">
                <a:solidFill>
                  <a:srgbClr val="6B7684"/>
                </a:solidFill>
                <a:latin typeface="맑은 고딕" pitchFamily="34" charset="0"/>
                <a:ea typeface="맑은 고딕" pitchFamily="34" charset="-122"/>
                <a:cs typeface="맑은 고딕" pitchFamily="34" charset="-120"/>
              </a:rPr>
              <a:t>부탁하면</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초안이 완성</a:t>
            </a:r>
            <a:endParaRPr lang="en-US" sz="1700" dirty="0"/>
          </a:p>
        </p:txBody>
      </p:sp>
      <p:sp>
        <p:nvSpPr>
          <p:cNvPr id="13" name="Shape 11"/>
          <p:cNvSpPr/>
          <p:nvPr/>
        </p:nvSpPr>
        <p:spPr>
          <a:xfrm>
            <a:off x="548640" y="1874520"/>
            <a:ext cx="11094415" cy="1691640"/>
          </a:xfrm>
          <a:prstGeom prst="roundRect">
            <a:avLst>
              <a:gd name="adj" fmla="val 8649"/>
            </a:avLst>
          </a:prstGeom>
          <a:solidFill>
            <a:srgbClr val="F9FAFB"/>
          </a:solidFill>
          <a:ln w="12700">
            <a:solidFill>
              <a:srgbClr val="F9FAFB"/>
            </a:solidFill>
            <a:prstDash val="solid"/>
          </a:ln>
        </p:spPr>
      </p:sp>
      <p:sp>
        <p:nvSpPr>
          <p:cNvPr id="14" name="Text 12"/>
          <p:cNvSpPr txBox="1"/>
          <p:nvPr/>
        </p:nvSpPr>
        <p:spPr>
          <a:xfrm>
            <a:off x="777240" y="1965960"/>
            <a:ext cx="2834640" cy="365760"/>
          </a:xfrm>
          <a:prstGeom prst="rect">
            <a:avLst/>
          </a:prstGeom>
          <a:noFill/>
          <a:ln/>
        </p:spPr>
        <p:txBody>
          <a:bodyPr wrap="square" lIns="0" tIns="0" rIns="0" bIns="0" rtlCol="0" anchor="ctr"/>
          <a:lstStyle/>
          <a:p>
            <a:pPr marL="0" indent="0">
              <a:buNone/>
            </a:pPr>
            <a:r>
              <a:rPr lang="ko-KR" altLang="en-US" sz="1700" b="1" dirty="0" err="1">
                <a:solidFill>
                  <a:srgbClr val="191F28"/>
                </a:solidFill>
                <a:latin typeface="맑은 고딕" pitchFamily="34" charset="0"/>
                <a:ea typeface="맑은 고딕" pitchFamily="34" charset="-122"/>
                <a:cs typeface="맑은 고딕" pitchFamily="34" charset="-120"/>
              </a:rPr>
              <a:t>카톡용</a:t>
            </a:r>
            <a:r>
              <a:rPr lang="ko-KR" altLang="en-US" sz="1700" b="1" dirty="0">
                <a:solidFill>
                  <a:srgbClr val="191F28"/>
                </a:solidFill>
                <a:latin typeface="맑은 고딕" pitchFamily="34" charset="0"/>
                <a:ea typeface="맑은 고딕" pitchFamily="34" charset="-122"/>
                <a:cs typeface="맑은 고딕" pitchFamily="34" charset="-120"/>
              </a:rPr>
              <a:t> </a:t>
            </a:r>
            <a:r>
              <a:rPr lang="en-US" altLang="ko-KR"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전화용 요청만 하면</a:t>
            </a:r>
            <a:endParaRPr lang="en-US" sz="1700" dirty="0"/>
          </a:p>
        </p:txBody>
      </p:sp>
      <p:sp>
        <p:nvSpPr>
          <p:cNvPr id="15" name="Text 13"/>
          <p:cNvSpPr txBox="1"/>
          <p:nvPr/>
        </p:nvSpPr>
        <p:spPr>
          <a:xfrm>
            <a:off x="777240" y="2350008"/>
            <a:ext cx="2834640" cy="566928"/>
          </a:xfrm>
          <a:prstGeom prst="rect">
            <a:avLst/>
          </a:prstGeom>
          <a:noFill/>
          <a:ln/>
        </p:spPr>
        <p:txBody>
          <a:bodyPr wrap="square" lIns="0" tIns="0" rIns="0" bIns="0" rtlCol="0" anchor="t"/>
          <a:lstStyle/>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그룹·나이대·유형 조건으로 요청</a:t>
            </a:r>
            <a:endParaRPr lang="en-US" sz="1300" dirty="0"/>
          </a:p>
          <a:p>
            <a:pPr marL="0" indent="0">
              <a:lnSpc>
                <a:spcPct val="112000"/>
              </a:lnSpc>
              <a:buNone/>
            </a:pPr>
            <a:r>
              <a:rPr lang="en-US" sz="1300" dirty="0">
                <a:solidFill>
                  <a:srgbClr val="4E5968"/>
                </a:solidFill>
                <a:latin typeface="맑은 고딕" pitchFamily="34" charset="0"/>
                <a:ea typeface="맑은 고딕" pitchFamily="34" charset="-122"/>
                <a:cs typeface="맑은 고딕" pitchFamily="34" charset="-120"/>
              </a:rPr>
              <a:t>고객 성명·연락처는 넣지 않아요</a:t>
            </a:r>
            <a:endParaRPr lang="en-US" sz="1300" dirty="0"/>
          </a:p>
        </p:txBody>
      </p:sp>
      <p:pic>
        <p:nvPicPr>
          <p:cNvPr id="16" name="Image 0" descr="MeAI 화면 캡처"/>
          <p:cNvPicPr>
            <a:picLocks noChangeAspect="1"/>
          </p:cNvPicPr>
          <p:nvPr/>
        </p:nvPicPr>
        <p:blipFill>
          <a:blip r:embed="rId3"/>
          <a:stretch>
            <a:fillRect/>
          </a:stretch>
        </p:blipFill>
        <p:spPr>
          <a:xfrm>
            <a:off x="3749040" y="1993392"/>
            <a:ext cx="5943600" cy="1143000"/>
          </a:xfrm>
          <a:prstGeom prst="rect">
            <a:avLst/>
          </a:prstGeom>
        </p:spPr>
      </p:pic>
      <p:sp>
        <p:nvSpPr>
          <p:cNvPr id="17" name="Shape 14"/>
          <p:cNvSpPr/>
          <p:nvPr/>
        </p:nvSpPr>
        <p:spPr>
          <a:xfrm>
            <a:off x="3977640" y="2374392"/>
            <a:ext cx="1600200" cy="0"/>
          </a:xfrm>
          <a:prstGeom prst="line">
            <a:avLst/>
          </a:prstGeom>
          <a:noFill/>
          <a:ln w="31750">
            <a:solidFill>
              <a:srgbClr val="3182F6"/>
            </a:solidFill>
            <a:prstDash val="solid"/>
          </a:ln>
        </p:spPr>
      </p:sp>
      <p:sp>
        <p:nvSpPr>
          <p:cNvPr id="18" name="Shape 15"/>
          <p:cNvSpPr/>
          <p:nvPr/>
        </p:nvSpPr>
        <p:spPr>
          <a:xfrm>
            <a:off x="8625840" y="2374392"/>
            <a:ext cx="819150" cy="0"/>
          </a:xfrm>
          <a:prstGeom prst="line">
            <a:avLst/>
          </a:prstGeom>
          <a:noFill/>
          <a:ln w="31750">
            <a:solidFill>
              <a:srgbClr val="7048E8"/>
            </a:solidFill>
            <a:prstDash val="solid"/>
          </a:ln>
        </p:spPr>
      </p:sp>
      <p:sp>
        <p:nvSpPr>
          <p:cNvPr id="19" name="Shape 16"/>
          <p:cNvSpPr/>
          <p:nvPr/>
        </p:nvSpPr>
        <p:spPr>
          <a:xfrm>
            <a:off x="3985260" y="2538222"/>
            <a:ext cx="1508760" cy="0"/>
          </a:xfrm>
          <a:prstGeom prst="line">
            <a:avLst/>
          </a:prstGeom>
          <a:noFill/>
          <a:ln w="31750">
            <a:solidFill>
              <a:srgbClr val="7048E8"/>
            </a:solidFill>
            <a:prstDash val="solid"/>
          </a:ln>
        </p:spPr>
      </p:sp>
      <p:sp>
        <p:nvSpPr>
          <p:cNvPr id="20" name="Shape 17"/>
          <p:cNvSpPr/>
          <p:nvPr/>
        </p:nvSpPr>
        <p:spPr>
          <a:xfrm>
            <a:off x="5505450" y="2538222"/>
            <a:ext cx="1508760" cy="0"/>
          </a:xfrm>
          <a:prstGeom prst="line">
            <a:avLst/>
          </a:prstGeom>
          <a:noFill/>
          <a:ln w="31750">
            <a:solidFill>
              <a:srgbClr val="F04452"/>
            </a:solidFill>
            <a:prstDash val="solid"/>
          </a:ln>
        </p:spPr>
      </p:sp>
      <p:sp>
        <p:nvSpPr>
          <p:cNvPr id="21" name="Shape 18"/>
          <p:cNvSpPr/>
          <p:nvPr/>
        </p:nvSpPr>
        <p:spPr>
          <a:xfrm>
            <a:off x="777240" y="3200400"/>
            <a:ext cx="274320" cy="274320"/>
          </a:xfrm>
          <a:prstGeom prst="ellipse">
            <a:avLst/>
          </a:prstGeom>
          <a:solidFill>
            <a:srgbClr val="3182F6"/>
          </a:solidFill>
          <a:ln w="19050">
            <a:solidFill>
              <a:srgbClr val="FFFFFF"/>
            </a:solidFill>
            <a:prstDash val="solid"/>
          </a:ln>
        </p:spPr>
      </p:sp>
      <p:sp>
        <p:nvSpPr>
          <p:cNvPr id="22" name="Text 19"/>
          <p:cNvSpPr txBox="1"/>
          <p:nvPr/>
        </p:nvSpPr>
        <p:spPr>
          <a:xfrm>
            <a:off x="77724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23" name="Text 20"/>
          <p:cNvSpPr txBox="1"/>
          <p:nvPr/>
        </p:nvSpPr>
        <p:spPr>
          <a:xfrm>
            <a:off x="1124712"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조건</a:t>
            </a:r>
            <a:endParaRPr lang="en-US" sz="1300" dirty="0"/>
          </a:p>
        </p:txBody>
      </p:sp>
      <p:sp>
        <p:nvSpPr>
          <p:cNvPr id="24" name="Shape 21"/>
          <p:cNvSpPr/>
          <p:nvPr/>
        </p:nvSpPr>
        <p:spPr>
          <a:xfrm>
            <a:off x="1866392" y="3200400"/>
            <a:ext cx="274320" cy="274320"/>
          </a:xfrm>
          <a:prstGeom prst="ellipse">
            <a:avLst/>
          </a:prstGeom>
          <a:solidFill>
            <a:srgbClr val="7048E8"/>
          </a:solidFill>
          <a:ln w="19050">
            <a:solidFill>
              <a:srgbClr val="FFFFFF"/>
            </a:solidFill>
            <a:prstDash val="solid"/>
          </a:ln>
        </p:spPr>
      </p:sp>
      <p:sp>
        <p:nvSpPr>
          <p:cNvPr id="25" name="Text 22"/>
          <p:cNvSpPr txBox="1"/>
          <p:nvPr/>
        </p:nvSpPr>
        <p:spPr>
          <a:xfrm>
            <a:off x="1866392"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26" name="Text 23"/>
          <p:cNvSpPr txBox="1"/>
          <p:nvPr/>
        </p:nvSpPr>
        <p:spPr>
          <a:xfrm>
            <a:off x="2213864" y="3172968"/>
            <a:ext cx="2926080" cy="329184"/>
          </a:xfrm>
          <a:prstGeom prst="rect">
            <a:avLst/>
          </a:prstGeom>
          <a:noFill/>
          <a:ln/>
        </p:spPr>
        <p:txBody>
          <a:bodyPr wrap="square" lIns="0" tIns="0" rIns="0" bIns="0" rtlCol="0" anchor="ctr"/>
          <a:lstStyle/>
          <a:p>
            <a:pPr marL="0" indent="0">
              <a:buNone/>
            </a:pPr>
            <a:r>
              <a:rPr lang="en-US" sz="1300" b="1" dirty="0">
                <a:solidFill>
                  <a:srgbClr val="4E5968"/>
                </a:solidFill>
                <a:latin typeface="맑은 고딕" pitchFamily="34" charset="0"/>
                <a:ea typeface="맑은 고딕" pitchFamily="34" charset="-122"/>
                <a:cs typeface="맑은 고딕" pitchFamily="34" charset="-120"/>
              </a:rPr>
              <a:t>3~4줄 · 부담스럽지 않은 톤</a:t>
            </a:r>
            <a:endParaRPr lang="en-US" sz="1300" dirty="0"/>
          </a:p>
        </p:txBody>
      </p:sp>
      <p:sp>
        <p:nvSpPr>
          <p:cNvPr id="27" name="Shape 24"/>
          <p:cNvSpPr/>
          <p:nvPr/>
        </p:nvSpPr>
        <p:spPr>
          <a:xfrm>
            <a:off x="4665980" y="3200400"/>
            <a:ext cx="274320" cy="274320"/>
          </a:xfrm>
          <a:prstGeom prst="ellipse">
            <a:avLst/>
          </a:prstGeom>
          <a:solidFill>
            <a:srgbClr val="F04452"/>
          </a:solidFill>
          <a:ln w="19050">
            <a:solidFill>
              <a:srgbClr val="FFFFFF"/>
            </a:solidFill>
            <a:prstDash val="solid"/>
          </a:ln>
        </p:spPr>
      </p:sp>
      <p:sp>
        <p:nvSpPr>
          <p:cNvPr id="28" name="Text 25"/>
          <p:cNvSpPr txBox="1"/>
          <p:nvPr/>
        </p:nvSpPr>
        <p:spPr>
          <a:xfrm>
            <a:off x="4665980" y="32004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9" name="Text 26"/>
          <p:cNvSpPr txBox="1"/>
          <p:nvPr/>
        </p:nvSpPr>
        <p:spPr>
          <a:xfrm>
            <a:off x="5013452" y="3172968"/>
            <a:ext cx="2926080" cy="329184"/>
          </a:xfrm>
          <a:prstGeom prst="rect">
            <a:avLst/>
          </a:prstGeom>
          <a:noFill/>
          <a:ln/>
        </p:spPr>
        <p:txBody>
          <a:bodyPr wrap="square" lIns="0" tIns="0" rIns="0" bIns="0" rtlCol="0" anchor="ctr"/>
          <a:lstStyle/>
          <a:p>
            <a:pPr marL="0" indent="0">
              <a:buNone/>
            </a:pPr>
            <a:r>
              <a:rPr lang="en-US" sz="1300" b="1" dirty="0" err="1">
                <a:solidFill>
                  <a:srgbClr val="4E5968"/>
                </a:solidFill>
                <a:latin typeface="맑은 고딕" pitchFamily="34" charset="0"/>
                <a:ea typeface="맑은 고딕" pitchFamily="34" charset="-122"/>
                <a:cs typeface="맑은 고딕" pitchFamily="34" charset="-120"/>
              </a:rPr>
              <a:t>성명·연락처는</a:t>
            </a:r>
            <a:r>
              <a:rPr lang="en-US" sz="1300" b="1" dirty="0">
                <a:solidFill>
                  <a:srgbClr val="4E5968"/>
                </a:solidFill>
                <a:latin typeface="맑은 고딕" pitchFamily="34" charset="0"/>
                <a:ea typeface="맑은 고딕" pitchFamily="34" charset="-122"/>
                <a:cs typeface="맑은 고딕" pitchFamily="34" charset="-120"/>
              </a:rPr>
              <a:t> </a:t>
            </a:r>
            <a:r>
              <a:rPr lang="ko-KR" altLang="en-US" sz="1300" b="1" dirty="0">
                <a:solidFill>
                  <a:srgbClr val="4E5968"/>
                </a:solidFill>
                <a:latin typeface="맑은 고딕" pitchFamily="34" charset="0"/>
                <a:ea typeface="맑은 고딕" pitchFamily="34" charset="-122"/>
                <a:cs typeface="맑은 고딕" pitchFamily="34" charset="-120"/>
              </a:rPr>
              <a:t>제외</a:t>
            </a:r>
            <a:endParaRPr lang="en-US" sz="1300" dirty="0"/>
          </a:p>
        </p:txBody>
      </p:sp>
      <p:sp>
        <p:nvSpPr>
          <p:cNvPr id="30" name="Text 27"/>
          <p:cNvSpPr txBox="1"/>
          <p:nvPr/>
        </p:nvSpPr>
        <p:spPr>
          <a:xfrm>
            <a:off x="548640" y="3675888"/>
            <a:ext cx="566928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직접 </a:t>
            </a:r>
            <a:r>
              <a:rPr lang="en-US" sz="1700" b="1" dirty="0" err="1">
                <a:solidFill>
                  <a:srgbClr val="191F28"/>
                </a:solidFill>
                <a:latin typeface="맑은 고딕" pitchFamily="34" charset="0"/>
                <a:ea typeface="맑은 고딕" pitchFamily="34" charset="-122"/>
                <a:cs typeface="맑은 고딕" pitchFamily="34" charset="-120"/>
              </a:rPr>
              <a:t>부탁해도</a:t>
            </a:r>
            <a:r>
              <a:rPr lang="en-US" sz="1700" b="1" dirty="0">
                <a:solidFill>
                  <a:srgbClr val="191F28"/>
                </a:solidFill>
                <a:latin typeface="맑은 고딕" pitchFamily="34" charset="0"/>
                <a:ea typeface="맑은 고딕" pitchFamily="34" charset="-122"/>
                <a:cs typeface="맑은 고딕" pitchFamily="34" charset="-120"/>
              </a:rPr>
              <a:t> </a:t>
            </a:r>
            <a:r>
              <a:rPr lang="ko-KR" altLang="en-US" sz="1700" b="1" dirty="0">
                <a:solidFill>
                  <a:srgbClr val="191F28"/>
                </a:solidFill>
                <a:latin typeface="맑은 고딕" pitchFamily="34" charset="0"/>
                <a:ea typeface="맑은 고딕" pitchFamily="34" charset="-122"/>
                <a:cs typeface="맑은 고딕" pitchFamily="34" charset="-120"/>
              </a:rPr>
              <a:t>가능</a:t>
            </a:r>
            <a:endParaRPr lang="en-US" sz="1700" dirty="0"/>
          </a:p>
        </p:txBody>
      </p:sp>
      <p:sp>
        <p:nvSpPr>
          <p:cNvPr id="31" name="Shape 28"/>
          <p:cNvSpPr/>
          <p:nvPr/>
        </p:nvSpPr>
        <p:spPr>
          <a:xfrm>
            <a:off x="548640" y="4069080"/>
            <a:ext cx="5669280" cy="731520"/>
          </a:xfrm>
          <a:prstGeom prst="roundRect">
            <a:avLst>
              <a:gd name="adj" fmla="val 17500"/>
            </a:avLst>
          </a:prstGeom>
          <a:solidFill>
            <a:srgbClr val="FFFFFF"/>
          </a:solidFill>
          <a:ln w="15875">
            <a:solidFill>
              <a:srgbClr val="3182F6"/>
            </a:solidFill>
            <a:prstDash val="solid"/>
          </a:ln>
        </p:spPr>
      </p:sp>
      <p:sp>
        <p:nvSpPr>
          <p:cNvPr id="32" name="Text 29"/>
          <p:cNvSpPr txBox="1"/>
          <p:nvPr/>
        </p:nvSpPr>
        <p:spPr>
          <a:xfrm>
            <a:off x="731520" y="4123944"/>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카톡 안내문</a:t>
            </a:r>
            <a:endParaRPr lang="en-US" sz="1200" dirty="0"/>
          </a:p>
        </p:txBody>
      </p:sp>
      <p:sp>
        <p:nvSpPr>
          <p:cNvPr id="33" name="Text 30"/>
          <p:cNvSpPr txBox="1"/>
          <p:nvPr/>
        </p:nvSpPr>
        <p:spPr>
          <a:xfrm>
            <a:off x="731520" y="4343400"/>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“보장분석 결과를 고객에게 보낼 카톡 안내문 6줄로 써줘. 존댓말, 단정 표현은 빼고”</a:t>
            </a:r>
            <a:endParaRPr lang="en-US" sz="1350" dirty="0"/>
          </a:p>
        </p:txBody>
      </p:sp>
      <p:sp>
        <p:nvSpPr>
          <p:cNvPr id="34" name="Shape 31"/>
          <p:cNvSpPr/>
          <p:nvPr/>
        </p:nvSpPr>
        <p:spPr>
          <a:xfrm>
            <a:off x="548640" y="4873752"/>
            <a:ext cx="5669280" cy="731520"/>
          </a:xfrm>
          <a:prstGeom prst="roundRect">
            <a:avLst>
              <a:gd name="adj" fmla="val 17500"/>
            </a:avLst>
          </a:prstGeom>
          <a:solidFill>
            <a:srgbClr val="FFFFFF"/>
          </a:solidFill>
          <a:ln w="15875">
            <a:solidFill>
              <a:srgbClr val="3182F6"/>
            </a:solidFill>
            <a:prstDash val="solid"/>
          </a:ln>
        </p:spPr>
      </p:sp>
      <p:sp>
        <p:nvSpPr>
          <p:cNvPr id="35" name="Text 32"/>
          <p:cNvSpPr txBox="1"/>
          <p:nvPr/>
        </p:nvSpPr>
        <p:spPr>
          <a:xfrm>
            <a:off x="731520" y="4928616"/>
            <a:ext cx="1828800" cy="237744"/>
          </a:xfrm>
          <a:prstGeom prst="rect">
            <a:avLst/>
          </a:prstGeom>
          <a:noFill/>
          <a:ln/>
        </p:spPr>
        <p:txBody>
          <a:bodyPr wrap="square" lIns="0" tIns="0" rIns="0" bIns="0" rtlCol="0" anchor="ctr"/>
          <a:lstStyle/>
          <a:p>
            <a:pPr marL="0" indent="0">
              <a:buNone/>
            </a:pPr>
            <a:r>
              <a:rPr lang="en-US" sz="1200" b="1" dirty="0">
                <a:solidFill>
                  <a:srgbClr val="6B7684"/>
                </a:solidFill>
                <a:latin typeface="맑은 고딕" pitchFamily="34" charset="0"/>
                <a:ea typeface="맑은 고딕" pitchFamily="34" charset="-122"/>
                <a:cs typeface="맑은 고딕" pitchFamily="34" charset="-120"/>
              </a:rPr>
              <a:t>첫 미팅 전</a:t>
            </a:r>
            <a:endParaRPr lang="en-US" sz="1200" dirty="0"/>
          </a:p>
        </p:txBody>
      </p:sp>
      <p:sp>
        <p:nvSpPr>
          <p:cNvPr id="36" name="Text 33"/>
          <p:cNvSpPr txBox="1"/>
          <p:nvPr/>
        </p:nvSpPr>
        <p:spPr>
          <a:xfrm>
            <a:off x="731520" y="5148072"/>
            <a:ext cx="5349240" cy="438912"/>
          </a:xfrm>
          <a:prstGeom prst="rect">
            <a:avLst/>
          </a:prstGeom>
          <a:noFill/>
          <a:ln/>
        </p:spPr>
        <p:txBody>
          <a:bodyPr wrap="square" lIns="0" tIns="0" rIns="0" bIns="0" rtlCol="0" anchor="ctr"/>
          <a:lstStyle/>
          <a:p>
            <a:pPr marL="0" indent="0">
              <a:lnSpc>
                <a:spcPct val="105000"/>
              </a:lnSpc>
              <a:buNone/>
            </a:pPr>
            <a:r>
              <a:rPr lang="en-US" sz="1350" b="1" dirty="0">
                <a:solidFill>
                  <a:srgbClr val="191F28"/>
                </a:solidFill>
                <a:latin typeface="맑은 고딕" pitchFamily="34" charset="0"/>
                <a:ea typeface="맑은 고딕" pitchFamily="34" charset="-122"/>
                <a:cs typeface="맑은 고딕" pitchFamily="34" charset="-120"/>
              </a:rPr>
              <a:t>“이 고객에게 첫 만남에서 꺼낼 질문 3개 만들어줘”</a:t>
            </a:r>
            <a:endParaRPr lang="en-US" sz="1350" dirty="0"/>
          </a:p>
        </p:txBody>
      </p:sp>
      <p:sp>
        <p:nvSpPr>
          <p:cNvPr id="37" name="Text 34"/>
          <p:cNvSpPr txBox="1"/>
          <p:nvPr/>
        </p:nvSpPr>
        <p:spPr>
          <a:xfrm>
            <a:off x="6446520" y="3675888"/>
            <a:ext cx="2743200" cy="347472"/>
          </a:xfrm>
          <a:prstGeom prst="rect">
            <a:avLst/>
          </a:prstGeom>
          <a:noFill/>
          <a:ln/>
        </p:spPr>
        <p:txBody>
          <a:bodyPr wrap="square" lIns="0" tIns="0" rIns="0" bIns="0" rtlCol="0" anchor="ctr"/>
          <a:lstStyle/>
          <a:p>
            <a:pPr marL="0" indent="0">
              <a:buNone/>
            </a:pPr>
            <a:r>
              <a:rPr lang="en-US" sz="1700" b="1" dirty="0">
                <a:solidFill>
                  <a:srgbClr val="191F28"/>
                </a:solidFill>
                <a:latin typeface="맑은 고딕" pitchFamily="34" charset="0"/>
                <a:ea typeface="맑은 고딕" pitchFamily="34" charset="-122"/>
                <a:cs typeface="맑은 고딕" pitchFamily="34" charset="-120"/>
              </a:rPr>
              <a:t>고객 앞에서는 두 버튼</a:t>
            </a:r>
            <a:endParaRPr lang="en-US" sz="1700" dirty="0"/>
          </a:p>
        </p:txBody>
      </p:sp>
      <p:pic>
        <p:nvPicPr>
          <p:cNvPr id="40" name="Image 1" descr="MeAI 화면 캡처"/>
          <p:cNvPicPr>
            <a:picLocks noChangeAspect="1"/>
          </p:cNvPicPr>
          <p:nvPr/>
        </p:nvPicPr>
        <p:blipFill>
          <a:blip r:embed="rId4"/>
          <a:stretch>
            <a:fillRect/>
          </a:stretch>
        </p:blipFill>
        <p:spPr>
          <a:xfrm>
            <a:off x="6446520" y="4216613"/>
            <a:ext cx="2506828" cy="619334"/>
          </a:xfrm>
          <a:prstGeom prst="rect">
            <a:avLst/>
          </a:prstGeom>
        </p:spPr>
      </p:pic>
      <p:pic>
        <p:nvPicPr>
          <p:cNvPr id="41" name="Image 2" descr="MeAI 화면 캡처"/>
          <p:cNvPicPr>
            <a:picLocks noChangeAspect="1"/>
          </p:cNvPicPr>
          <p:nvPr/>
        </p:nvPicPr>
        <p:blipFill>
          <a:blip r:embed="rId5"/>
          <a:stretch>
            <a:fillRect/>
          </a:stretch>
        </p:blipFill>
        <p:spPr>
          <a:xfrm>
            <a:off x="9447985" y="4069080"/>
            <a:ext cx="1883312" cy="777240"/>
          </a:xfrm>
          <a:prstGeom prst="rect">
            <a:avLst/>
          </a:prstGeom>
        </p:spPr>
      </p:pic>
      <p:sp>
        <p:nvSpPr>
          <p:cNvPr id="42" name="Text 37"/>
          <p:cNvSpPr txBox="1"/>
          <p:nvPr/>
        </p:nvSpPr>
        <p:spPr>
          <a:xfrm>
            <a:off x="9136228" y="4828032"/>
            <a:ext cx="2506828" cy="201168"/>
          </a:xfrm>
          <a:prstGeom prst="rect">
            <a:avLst/>
          </a:prstGeom>
          <a:noFill/>
          <a:ln/>
        </p:spPr>
        <p:txBody>
          <a:bodyPr wrap="square" lIns="0" tIns="0" rIns="0" bIns="0" rtlCol="0" anchor="ctr"/>
          <a:lstStyle/>
          <a:p>
            <a:pPr marL="0" indent="0" algn="ctr">
              <a:buNone/>
            </a:pPr>
            <a:r>
              <a:rPr lang="en-US" sz="1050" dirty="0">
                <a:solidFill>
                  <a:srgbClr val="8B95A1"/>
                </a:solidFill>
                <a:latin typeface="맑은 고딕" pitchFamily="34" charset="0"/>
                <a:ea typeface="맑은 고딕" pitchFamily="34" charset="-122"/>
                <a:cs typeface="맑은 고딕" pitchFamily="34" charset="-120"/>
              </a:rPr>
              <a:t>화면 속 숫자는 예시예요</a:t>
            </a:r>
            <a:endParaRPr lang="en-US" sz="1050" dirty="0"/>
          </a:p>
        </p:txBody>
      </p:sp>
      <p:sp>
        <p:nvSpPr>
          <p:cNvPr id="43" name="Text 38"/>
          <p:cNvSpPr txBox="1"/>
          <p:nvPr/>
        </p:nvSpPr>
        <p:spPr>
          <a:xfrm>
            <a:off x="6446520"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[간편 분석]</a:t>
            </a:r>
            <a:endParaRPr lang="en-US" sz="1500" dirty="0"/>
          </a:p>
        </p:txBody>
      </p:sp>
      <p:sp>
        <p:nvSpPr>
          <p:cNvPr id="44" name="Text 39"/>
          <p:cNvSpPr txBox="1"/>
          <p:nvPr/>
        </p:nvSpPr>
        <p:spPr>
          <a:xfrm>
            <a:off x="6446520"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어려운 보험 용어를 일상 언어로</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약관을 따질 땐 상세 분석</a:t>
            </a:r>
            <a:endParaRPr lang="en-US" sz="1150" dirty="0"/>
          </a:p>
        </p:txBody>
      </p:sp>
      <p:sp>
        <p:nvSpPr>
          <p:cNvPr id="45" name="Text 40"/>
          <p:cNvSpPr txBox="1"/>
          <p:nvPr/>
        </p:nvSpPr>
        <p:spPr>
          <a:xfrm>
            <a:off x="9136228" y="5029200"/>
            <a:ext cx="2506828" cy="292608"/>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[용어]</a:t>
            </a:r>
            <a:endParaRPr lang="en-US" sz="1500" dirty="0"/>
          </a:p>
        </p:txBody>
      </p:sp>
      <p:sp>
        <p:nvSpPr>
          <p:cNvPr id="46" name="Text 41"/>
          <p:cNvSpPr txBox="1"/>
          <p:nvPr/>
        </p:nvSpPr>
        <p:spPr>
          <a:xfrm>
            <a:off x="9136228" y="5321808"/>
            <a:ext cx="2506828" cy="420624"/>
          </a:xfrm>
          <a:prstGeom prst="rect">
            <a:avLst/>
          </a:prstGeom>
          <a:noFill/>
          <a:ln/>
        </p:spPr>
        <p:txBody>
          <a:bodyPr wrap="square" lIns="0" tIns="0" rIns="0" bIns="0" rtlCol="0" anchor="t"/>
          <a:lstStyle/>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켜고 표시된 말을 누르면 뜻풀이</a:t>
            </a:r>
            <a:endParaRPr lang="en-US" sz="1150" dirty="0"/>
          </a:p>
          <a:p>
            <a:pPr marL="0" indent="0">
              <a:lnSpc>
                <a:spcPct val="105000"/>
              </a:lnSpc>
              <a:buNone/>
            </a:pPr>
            <a:r>
              <a:rPr lang="en-US" sz="1150" dirty="0">
                <a:solidFill>
                  <a:srgbClr val="6B7684"/>
                </a:solidFill>
                <a:latin typeface="맑은 고딕" pitchFamily="34" charset="0"/>
                <a:ea typeface="맑은 고딕" pitchFamily="34" charset="-122"/>
                <a:cs typeface="맑은 고딕" pitchFamily="34" charset="-120"/>
              </a:rPr>
              <a:t>고객 눈높이 문장, 그대로 읽어요</a:t>
            </a:r>
            <a:endParaRPr lang="en-US" sz="1150" dirty="0"/>
          </a:p>
        </p:txBody>
      </p:sp>
      <p:sp>
        <p:nvSpPr>
          <p:cNvPr id="47" name="Shape 42"/>
          <p:cNvSpPr/>
          <p:nvPr/>
        </p:nvSpPr>
        <p:spPr>
          <a:xfrm>
            <a:off x="548640" y="5760720"/>
            <a:ext cx="11094415" cy="384048"/>
          </a:xfrm>
          <a:prstGeom prst="roundRect">
            <a:avLst>
              <a:gd name="adj" fmla="val 33333"/>
            </a:avLst>
          </a:prstGeom>
          <a:solidFill>
            <a:srgbClr val="FFF8E1"/>
          </a:solidFill>
          <a:ln w="12700">
            <a:solidFill>
              <a:srgbClr val="FFF8E1"/>
            </a:solidFill>
            <a:prstDash val="solid"/>
          </a:ln>
        </p:spPr>
      </p:sp>
      <p:sp>
        <p:nvSpPr>
          <p:cNvPr id="48" name="Text 43"/>
          <p:cNvSpPr txBox="1"/>
          <p:nvPr/>
        </p:nvSpPr>
        <p:spPr>
          <a:xfrm>
            <a:off x="868680" y="5760720"/>
            <a:ext cx="10454335" cy="384048"/>
          </a:xfrm>
          <a:prstGeom prst="rect">
            <a:avLst/>
          </a:prstGeom>
          <a:noFill/>
          <a:ln/>
        </p:spPr>
        <p:txBody>
          <a:bodyPr wrap="square" lIns="0" tIns="0" rIns="0" bIns="0" rtlCol="0" anchor="ctr"/>
          <a:lstStyle/>
          <a:p>
            <a:pPr marL="0" indent="0">
              <a:buNone/>
            </a:pPr>
            <a:r>
              <a:rPr lang="en-US" sz="1400" dirty="0">
                <a:solidFill>
                  <a:srgbClr val="191F28"/>
                </a:solidFill>
                <a:latin typeface="맑은 고딕" pitchFamily="34" charset="0"/>
                <a:ea typeface="맑은 고딕" pitchFamily="34" charset="-122"/>
                <a:cs typeface="맑은 고딕" pitchFamily="34" charset="-120"/>
              </a:rPr>
              <a:t>답은 초안이에요 · 숫자·약관 근거 확인 → 내 말투로</a:t>
            </a:r>
            <a:endParaRPr lang="en-US" sz="1400" dirty="0"/>
          </a:p>
        </p:txBody>
      </p:sp>
      <p:sp>
        <p:nvSpPr>
          <p:cNvPr id="50" name="Text 45"/>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1" name="Text 46"/>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김민수 고객, </a:t>
            </a:r>
            <a:r>
              <a:rPr lang="en-US" sz="3400" b="1" dirty="0" err="1">
                <a:solidFill>
                  <a:srgbClr val="191F28"/>
                </a:solidFill>
                <a:latin typeface="맑은 고딕" pitchFamily="34" charset="0"/>
                <a:ea typeface="맑은 고딕" pitchFamily="34" charset="-122"/>
                <a:cs typeface="맑은 고딕" pitchFamily="34" charset="-120"/>
              </a:rPr>
              <a:t>동의</a:t>
            </a:r>
            <a:r>
              <a:rPr lang="ko-KR" altLang="en-US" sz="3400" b="1" dirty="0">
                <a:solidFill>
                  <a:srgbClr val="191F28"/>
                </a:solidFill>
                <a:latin typeface="맑은 고딕" pitchFamily="34" charset="0"/>
                <a:ea typeface="맑은 고딕" pitchFamily="34" charset="-122"/>
                <a:cs typeface="맑은 고딕" pitchFamily="34" charset="-120"/>
              </a:rPr>
              <a:t>만 받으면 </a:t>
            </a:r>
            <a:r>
              <a:rPr lang="en-US" altLang="ko-KR" sz="3400" b="1" dirty="0" err="1">
                <a:solidFill>
                  <a:srgbClr val="191F28"/>
                </a:solidFill>
                <a:latin typeface="맑은 고딕" pitchFamily="34" charset="0"/>
                <a:ea typeface="맑은 고딕" pitchFamily="34" charset="-122"/>
                <a:cs typeface="맑은 고딕" pitchFamily="34" charset="-120"/>
              </a:rPr>
              <a:t>MeAI</a:t>
            </a:r>
            <a:r>
              <a:rPr lang="ko-KR" altLang="en-US" sz="3400" b="1" dirty="0">
                <a:solidFill>
                  <a:srgbClr val="191F28"/>
                </a:solidFill>
                <a:latin typeface="맑은 고딕" pitchFamily="34" charset="0"/>
                <a:ea typeface="맑은 고딕" pitchFamily="34" charset="-122"/>
                <a:cs typeface="맑은 고딕" pitchFamily="34" charset="-120"/>
              </a:rPr>
              <a:t>로 계약까지</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a:solidFill>
                  <a:srgbClr val="6B7684"/>
                </a:solidFill>
                <a:latin typeface="맑은 고딕" pitchFamily="34" charset="0"/>
                <a:ea typeface="맑은 고딕" pitchFamily="34" charset="-122"/>
                <a:cs typeface="맑은 고딕" pitchFamily="34" charset="-120"/>
              </a:rPr>
              <a:t>상령일 2주 전 · AI 추천 고객 · MeAI </a:t>
            </a:r>
            <a:r>
              <a:rPr lang="en-US" sz="1700" dirty="0" err="1">
                <a:solidFill>
                  <a:srgbClr val="6B7684"/>
                </a:solidFill>
                <a:latin typeface="맑은 고딕" pitchFamily="34" charset="0"/>
                <a:ea typeface="맑은 고딕" pitchFamily="34" charset="-122"/>
                <a:cs typeface="맑은 고딕" pitchFamily="34" charset="-120"/>
              </a:rPr>
              <a:t>홈에서</a:t>
            </a:r>
            <a:r>
              <a:rPr lang="en-US" sz="1700" dirty="0">
                <a:solidFill>
                  <a:srgbClr val="6B7684"/>
                </a:solidFill>
                <a:latin typeface="맑은 고딕" pitchFamily="34" charset="0"/>
                <a:ea typeface="맑은 고딕" pitchFamily="34" charset="-122"/>
                <a:cs typeface="맑은 고딕" pitchFamily="34" charset="-120"/>
              </a:rPr>
              <a:t> </a:t>
            </a:r>
            <a:r>
              <a:rPr lang="ko-KR" altLang="en-US" sz="1700" dirty="0">
                <a:solidFill>
                  <a:srgbClr val="6B7684"/>
                </a:solidFill>
                <a:latin typeface="맑은 고딕" pitchFamily="34" charset="0"/>
                <a:ea typeface="맑은 고딕" pitchFamily="34" charset="-122"/>
                <a:cs typeface="맑은 고딕" pitchFamily="34" charset="-120"/>
              </a:rPr>
              <a:t>설계 및 계약체결까지 한큐에</a:t>
            </a:r>
            <a:endParaRPr lang="en-US" sz="1700" dirty="0"/>
          </a:p>
        </p:txBody>
      </p:sp>
      <p:sp>
        <p:nvSpPr>
          <p:cNvPr id="13" name="Shape 11"/>
          <p:cNvSpPr/>
          <p:nvPr/>
        </p:nvSpPr>
        <p:spPr>
          <a:xfrm>
            <a:off x="548640" y="1938528"/>
            <a:ext cx="2581580" cy="2487168"/>
          </a:xfrm>
          <a:prstGeom prst="roundRect">
            <a:avLst>
              <a:gd name="adj" fmla="val 5882"/>
            </a:avLst>
          </a:prstGeom>
          <a:solidFill>
            <a:srgbClr val="F2F4F6"/>
          </a:solidFill>
          <a:ln w="12700">
            <a:solidFill>
              <a:srgbClr val="F2F4F6"/>
            </a:solidFill>
            <a:prstDash val="solid"/>
          </a:ln>
        </p:spPr>
      </p:sp>
      <p:sp>
        <p:nvSpPr>
          <p:cNvPr id="14" name="Text 12"/>
          <p:cNvSpPr txBox="1"/>
          <p:nvPr/>
        </p:nvSpPr>
        <p:spPr>
          <a:xfrm>
            <a:off x="685800"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MeAI 홈</a:t>
            </a:r>
            <a:endParaRPr lang="en-US" sz="1250" dirty="0"/>
          </a:p>
        </p:txBody>
      </p:sp>
      <p:sp>
        <p:nvSpPr>
          <p:cNvPr id="15" name="Text 13"/>
          <p:cNvSpPr txBox="1"/>
          <p:nvPr/>
        </p:nvSpPr>
        <p:spPr>
          <a:xfrm>
            <a:off x="3130220"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6" name="Shape 14"/>
          <p:cNvSpPr/>
          <p:nvPr/>
        </p:nvSpPr>
        <p:spPr>
          <a:xfrm>
            <a:off x="3386252" y="1938528"/>
            <a:ext cx="2581580" cy="2487168"/>
          </a:xfrm>
          <a:prstGeom prst="roundRect">
            <a:avLst>
              <a:gd name="adj" fmla="val 5882"/>
            </a:avLst>
          </a:prstGeom>
          <a:solidFill>
            <a:srgbClr val="F2F4F6"/>
          </a:solidFill>
          <a:ln w="12700">
            <a:solidFill>
              <a:srgbClr val="F2F4F6"/>
            </a:solidFill>
            <a:prstDash val="solid"/>
          </a:ln>
        </p:spPr>
      </p:sp>
      <p:sp>
        <p:nvSpPr>
          <p:cNvPr id="17" name="Text 15"/>
          <p:cNvSpPr txBox="1"/>
          <p:nvPr/>
        </p:nvSpPr>
        <p:spPr>
          <a:xfrm>
            <a:off x="3523412"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고객찾기</a:t>
            </a:r>
            <a:endParaRPr lang="en-US" sz="1250" dirty="0"/>
          </a:p>
        </p:txBody>
      </p:sp>
      <p:sp>
        <p:nvSpPr>
          <p:cNvPr id="18" name="Text 16"/>
          <p:cNvSpPr txBox="1"/>
          <p:nvPr/>
        </p:nvSpPr>
        <p:spPr>
          <a:xfrm>
            <a:off x="5967832"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19" name="Shape 17"/>
          <p:cNvSpPr/>
          <p:nvPr/>
        </p:nvSpPr>
        <p:spPr>
          <a:xfrm>
            <a:off x="6223864" y="1938528"/>
            <a:ext cx="2581580" cy="2487168"/>
          </a:xfrm>
          <a:prstGeom prst="roundRect">
            <a:avLst>
              <a:gd name="adj" fmla="val 5882"/>
            </a:avLst>
          </a:prstGeom>
          <a:solidFill>
            <a:srgbClr val="F2F4F6"/>
          </a:solidFill>
          <a:ln w="12700">
            <a:solidFill>
              <a:srgbClr val="F2F4F6"/>
            </a:solidFill>
            <a:prstDash val="solid"/>
          </a:ln>
        </p:spPr>
      </p:sp>
      <p:sp>
        <p:nvSpPr>
          <p:cNvPr id="20" name="Text 18"/>
          <p:cNvSpPr txBox="1"/>
          <p:nvPr/>
        </p:nvSpPr>
        <p:spPr>
          <a:xfrm>
            <a:off x="6361024"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맞춤대화</a:t>
            </a:r>
            <a:endParaRPr lang="en-US" sz="1250" dirty="0"/>
          </a:p>
        </p:txBody>
      </p:sp>
      <p:sp>
        <p:nvSpPr>
          <p:cNvPr id="21" name="Text 19"/>
          <p:cNvSpPr txBox="1"/>
          <p:nvPr/>
        </p:nvSpPr>
        <p:spPr>
          <a:xfrm>
            <a:off x="8805443" y="2907792"/>
            <a:ext cx="256032" cy="548640"/>
          </a:xfrm>
          <a:prstGeom prst="rect">
            <a:avLst/>
          </a:prstGeom>
          <a:noFill/>
          <a:ln/>
        </p:spPr>
        <p:txBody>
          <a:bodyPr wrap="square" lIns="0" tIns="0" rIns="0" bIns="0" rtlCol="0" anchor="ctr"/>
          <a:lstStyle/>
          <a:p>
            <a:pPr marL="0" indent="0" algn="ctr">
              <a:buNone/>
            </a:pPr>
            <a:r>
              <a:rPr lang="en-US" sz="2400" dirty="0">
                <a:solidFill>
                  <a:srgbClr val="B0B8C1"/>
                </a:solidFill>
                <a:latin typeface="맑은 고딕" pitchFamily="34" charset="0"/>
                <a:ea typeface="맑은 고딕" pitchFamily="34" charset="-122"/>
                <a:cs typeface="맑은 고딕" pitchFamily="34" charset="-120"/>
              </a:rPr>
              <a:t>›</a:t>
            </a:r>
            <a:endParaRPr lang="en-US" sz="2400" dirty="0"/>
          </a:p>
        </p:txBody>
      </p:sp>
      <p:sp>
        <p:nvSpPr>
          <p:cNvPr id="22" name="Shape 20"/>
          <p:cNvSpPr/>
          <p:nvPr/>
        </p:nvSpPr>
        <p:spPr>
          <a:xfrm>
            <a:off x="9061475" y="1938528"/>
            <a:ext cx="2581580" cy="2487168"/>
          </a:xfrm>
          <a:prstGeom prst="roundRect">
            <a:avLst>
              <a:gd name="adj" fmla="val 5882"/>
            </a:avLst>
          </a:prstGeom>
          <a:solidFill>
            <a:srgbClr val="F2F4F6"/>
          </a:solidFill>
          <a:ln w="12700">
            <a:solidFill>
              <a:srgbClr val="F2F4F6"/>
            </a:solidFill>
            <a:prstDash val="solid"/>
          </a:ln>
        </p:spPr>
      </p:sp>
      <p:sp>
        <p:nvSpPr>
          <p:cNvPr id="23" name="Text 21"/>
          <p:cNvSpPr txBox="1"/>
          <p:nvPr/>
        </p:nvSpPr>
        <p:spPr>
          <a:xfrm>
            <a:off x="9198635" y="1993392"/>
            <a:ext cx="2307260" cy="274320"/>
          </a:xfrm>
          <a:prstGeom prst="rect">
            <a:avLst/>
          </a:prstGeom>
          <a:noFill/>
          <a:ln/>
        </p:spPr>
        <p:txBody>
          <a:bodyPr wrap="square" lIns="0" tIns="0" rIns="0" bIns="0" rtlCol="0" anchor="ctr"/>
          <a:lstStyle/>
          <a:p>
            <a:pPr marL="0" indent="0">
              <a:buNone/>
            </a:pPr>
            <a:r>
              <a:rPr lang="en-US" sz="1250" b="1" dirty="0">
                <a:solidFill>
                  <a:srgbClr val="3182F6"/>
                </a:solidFill>
                <a:latin typeface="맑은 고딕" pitchFamily="34" charset="0"/>
                <a:ea typeface="맑은 고딕" pitchFamily="34" charset="-122"/>
                <a:cs typeface="맑은 고딕" pitchFamily="34" charset="-120"/>
              </a:rPr>
              <a:t>요약 리포트</a:t>
            </a:r>
            <a:endParaRPr lang="en-US" sz="1250" dirty="0"/>
          </a:p>
        </p:txBody>
      </p:sp>
      <p:pic>
        <p:nvPicPr>
          <p:cNvPr id="24" name="Image 0" descr="MeAI 화면 캡처"/>
          <p:cNvPicPr>
            <a:picLocks noChangeAspect="1"/>
          </p:cNvPicPr>
          <p:nvPr/>
        </p:nvPicPr>
        <p:blipFill>
          <a:blip r:embed="rId3"/>
          <a:stretch>
            <a:fillRect/>
          </a:stretch>
        </p:blipFill>
        <p:spPr>
          <a:xfrm>
            <a:off x="948013" y="2286000"/>
            <a:ext cx="1782834" cy="2048256"/>
          </a:xfrm>
          <a:prstGeom prst="rect">
            <a:avLst/>
          </a:prstGeom>
        </p:spPr>
      </p:pic>
      <p:sp>
        <p:nvSpPr>
          <p:cNvPr id="25" name="Shape 22"/>
          <p:cNvSpPr/>
          <p:nvPr/>
        </p:nvSpPr>
        <p:spPr>
          <a:xfrm>
            <a:off x="1060692" y="3718277"/>
            <a:ext cx="553380" cy="120191"/>
          </a:xfrm>
          <a:prstGeom prst="roundRect">
            <a:avLst>
              <a:gd name="adj" fmla="val 22824"/>
            </a:avLst>
          </a:prstGeom>
          <a:ln w="22225">
            <a:solidFill>
              <a:srgbClr val="F04452"/>
            </a:solidFill>
            <a:prstDash val="solid"/>
          </a:ln>
        </p:spPr>
      </p:sp>
      <p:pic>
        <p:nvPicPr>
          <p:cNvPr id="26" name="Image 1" descr="MeAI 화면 캡처"/>
          <p:cNvPicPr>
            <a:picLocks noChangeAspect="1"/>
          </p:cNvPicPr>
          <p:nvPr/>
        </p:nvPicPr>
        <p:blipFill>
          <a:blip r:embed="rId4"/>
          <a:stretch>
            <a:fillRect/>
          </a:stretch>
        </p:blipFill>
        <p:spPr>
          <a:xfrm>
            <a:off x="3495980" y="2350008"/>
            <a:ext cx="2362124" cy="711483"/>
          </a:xfrm>
          <a:prstGeom prst="rect">
            <a:avLst/>
          </a:prstGeom>
        </p:spPr>
      </p:pic>
      <p:sp>
        <p:nvSpPr>
          <p:cNvPr id="27" name="Text 23"/>
          <p:cNvSpPr txBox="1"/>
          <p:nvPr/>
        </p:nvSpPr>
        <p:spPr>
          <a:xfrm>
            <a:off x="3386252" y="3061491"/>
            <a:ext cx="2581580" cy="256032"/>
          </a:xfrm>
          <a:prstGeom prst="rect">
            <a:avLst/>
          </a:prstGeom>
          <a:noFill/>
          <a:ln/>
        </p:spPr>
        <p:txBody>
          <a:bodyPr wrap="square" lIns="0" tIns="0" rIns="0" bIns="0" rtlCol="0" anchor="ctr"/>
          <a:lstStyle/>
          <a:p>
            <a:pPr marL="0" indent="0" algn="ctr">
              <a:buNone/>
            </a:pPr>
            <a:r>
              <a:rPr lang="en-US" sz="1400" dirty="0">
                <a:solidFill>
                  <a:srgbClr val="B0B8C1"/>
                </a:solidFill>
                <a:latin typeface="맑은 고딕" pitchFamily="34" charset="0"/>
                <a:ea typeface="맑은 고딕" pitchFamily="34" charset="-122"/>
                <a:cs typeface="맑은 고딕" pitchFamily="34" charset="-120"/>
              </a:rPr>
              <a:t>↓</a:t>
            </a:r>
            <a:endParaRPr lang="en-US" sz="1400" dirty="0"/>
          </a:p>
        </p:txBody>
      </p:sp>
      <p:pic>
        <p:nvPicPr>
          <p:cNvPr id="28" name="Image 2" descr="MeAI 화면 캡처"/>
          <p:cNvPicPr>
            <a:picLocks noChangeAspect="1"/>
          </p:cNvPicPr>
          <p:nvPr/>
        </p:nvPicPr>
        <p:blipFill>
          <a:blip r:embed="rId5"/>
          <a:stretch>
            <a:fillRect/>
          </a:stretch>
        </p:blipFill>
        <p:spPr>
          <a:xfrm>
            <a:off x="3569132" y="3335811"/>
            <a:ext cx="2215820" cy="1129724"/>
          </a:xfrm>
          <a:prstGeom prst="rect">
            <a:avLst/>
          </a:prstGeom>
        </p:spPr>
      </p:pic>
      <p:sp>
        <p:nvSpPr>
          <p:cNvPr id="29" name="Shape 24"/>
          <p:cNvSpPr/>
          <p:nvPr/>
        </p:nvSpPr>
        <p:spPr>
          <a:xfrm>
            <a:off x="6406744" y="2350008"/>
            <a:ext cx="2063496" cy="292608"/>
          </a:xfrm>
          <a:prstGeom prst="roundRect">
            <a:avLst>
              <a:gd name="adj" fmla="val 50000"/>
            </a:avLst>
          </a:prstGeom>
          <a:solidFill>
            <a:srgbClr val="FFFFFF"/>
          </a:solidFill>
          <a:ln w="12700">
            <a:solidFill>
              <a:srgbClr val="FFFFFF"/>
            </a:solidFill>
            <a:prstDash val="solid"/>
          </a:ln>
        </p:spPr>
      </p:sp>
      <p:sp>
        <p:nvSpPr>
          <p:cNvPr id="30" name="Text 25"/>
          <p:cNvSpPr txBox="1"/>
          <p:nvPr/>
        </p:nvSpPr>
        <p:spPr>
          <a:xfrm>
            <a:off x="6406744" y="2350008"/>
            <a:ext cx="2063496" cy="292608"/>
          </a:xfrm>
          <a:prstGeom prst="rect">
            <a:avLst/>
          </a:prstGeom>
          <a:noFill/>
          <a:ln/>
        </p:spPr>
        <p:txBody>
          <a:bodyPr wrap="square" lIns="0" tIns="0" rIns="0" bIns="0" rtlCol="0" anchor="ctr"/>
          <a:lstStyle/>
          <a:p>
            <a:pPr marL="0" indent="0" algn="ctr">
              <a:buNone/>
            </a:pPr>
            <a:r>
              <a:rPr lang="en-US" sz="1200" b="1" dirty="0">
                <a:solidFill>
                  <a:srgbClr val="4E5968"/>
                </a:solidFill>
                <a:latin typeface="맑은 고딕" pitchFamily="34" charset="0"/>
                <a:ea typeface="맑은 고딕" pitchFamily="34" charset="-122"/>
                <a:cs typeface="맑은 고딕" pitchFamily="34" charset="-120"/>
              </a:rPr>
              <a:t>동의 반영 뒤 · 15분 안팎</a:t>
            </a:r>
            <a:endParaRPr lang="en-US" sz="1200" dirty="0"/>
          </a:p>
        </p:txBody>
      </p:sp>
      <p:sp>
        <p:nvSpPr>
          <p:cNvPr id="31" name="Text 26"/>
          <p:cNvSpPr txBox="1"/>
          <p:nvPr/>
        </p:nvSpPr>
        <p:spPr>
          <a:xfrm>
            <a:off x="6406744" y="2761488"/>
            <a:ext cx="2215820" cy="274320"/>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MeAI에게 첫 질문</a:t>
            </a:r>
            <a:endParaRPr lang="en-US" sz="1300" dirty="0"/>
          </a:p>
        </p:txBody>
      </p:sp>
      <p:sp>
        <p:nvSpPr>
          <p:cNvPr id="32" name="Shape 27"/>
          <p:cNvSpPr/>
          <p:nvPr/>
        </p:nvSpPr>
        <p:spPr>
          <a:xfrm>
            <a:off x="6361024" y="3054096"/>
            <a:ext cx="2307260" cy="1207008"/>
          </a:xfrm>
          <a:prstGeom prst="roundRect">
            <a:avLst>
              <a:gd name="adj" fmla="val 10606"/>
            </a:avLst>
          </a:prstGeom>
          <a:solidFill>
            <a:srgbClr val="FFFFFF"/>
          </a:solidFill>
          <a:ln w="15875">
            <a:solidFill>
              <a:srgbClr val="3182F6"/>
            </a:solidFill>
            <a:prstDash val="solid"/>
          </a:ln>
        </p:spPr>
      </p:sp>
      <p:sp>
        <p:nvSpPr>
          <p:cNvPr id="33" name="Text 28"/>
          <p:cNvSpPr txBox="1"/>
          <p:nvPr/>
        </p:nvSpPr>
        <p:spPr>
          <a:xfrm>
            <a:off x="6498184" y="3054096"/>
            <a:ext cx="2078660" cy="1207008"/>
          </a:xfrm>
          <a:prstGeom prst="rect">
            <a:avLst/>
          </a:prstGeom>
          <a:noFill/>
          <a:ln/>
        </p:spPr>
        <p:txBody>
          <a:bodyPr wrap="square" lIns="0" tIns="0" rIns="0" bIns="0" rtlCol="0" anchor="ctr"/>
          <a:lstStyle/>
          <a:p>
            <a:pPr marL="0" indent="0">
              <a:lnSpc>
                <a:spcPct val="118000"/>
              </a:lnSpc>
              <a:buNone/>
            </a:pPr>
            <a:r>
              <a:rPr lang="en-US" sz="1450" b="1" dirty="0">
                <a:solidFill>
                  <a:srgbClr val="191F28"/>
                </a:solidFill>
                <a:latin typeface="맑은 고딕" pitchFamily="34" charset="0"/>
                <a:ea typeface="맑은 고딕" pitchFamily="34" charset="-122"/>
                <a:cs typeface="맑은 고딕" pitchFamily="34" charset="-120"/>
              </a:rPr>
              <a:t>“상령일 전에 암진단비를 늘려야 하는 이유를 쉽게 설명해줘”</a:t>
            </a:r>
            <a:endParaRPr lang="en-US" sz="1450" dirty="0"/>
          </a:p>
        </p:txBody>
      </p:sp>
      <p:pic>
        <p:nvPicPr>
          <p:cNvPr id="34" name="Image 3" descr="MeAI 화면 캡처"/>
          <p:cNvPicPr>
            <a:picLocks noChangeAspect="1"/>
          </p:cNvPicPr>
          <p:nvPr/>
        </p:nvPicPr>
        <p:blipFill>
          <a:blip r:embed="rId6"/>
          <a:stretch>
            <a:fillRect/>
          </a:stretch>
        </p:blipFill>
        <p:spPr>
          <a:xfrm>
            <a:off x="9316762" y="2304288"/>
            <a:ext cx="998188" cy="2029968"/>
          </a:xfrm>
          <a:prstGeom prst="rect">
            <a:avLst/>
          </a:prstGeom>
        </p:spPr>
      </p:pic>
      <p:sp>
        <p:nvSpPr>
          <p:cNvPr id="36" name="Shape 30"/>
          <p:cNvSpPr/>
          <p:nvPr/>
        </p:nvSpPr>
        <p:spPr>
          <a:xfrm>
            <a:off x="548640" y="4572000"/>
            <a:ext cx="347472" cy="347472"/>
          </a:xfrm>
          <a:prstGeom prst="ellipse">
            <a:avLst/>
          </a:prstGeom>
          <a:solidFill>
            <a:srgbClr val="3182F6"/>
          </a:solidFill>
          <a:ln w="19050">
            <a:solidFill>
              <a:srgbClr val="FFFFFF"/>
            </a:solidFill>
            <a:prstDash val="solid"/>
          </a:ln>
        </p:spPr>
      </p:sp>
      <p:sp>
        <p:nvSpPr>
          <p:cNvPr id="37" name="Text 31"/>
          <p:cNvSpPr txBox="1"/>
          <p:nvPr/>
        </p:nvSpPr>
        <p:spPr>
          <a:xfrm>
            <a:off x="548640"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38" name="Text 32"/>
          <p:cNvSpPr txBox="1"/>
          <p:nvPr/>
        </p:nvSpPr>
        <p:spPr>
          <a:xfrm>
            <a:off x="969264"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MeAI 홈 카드 읽기</a:t>
            </a:r>
            <a:endParaRPr lang="en-US" sz="1550" dirty="0"/>
          </a:p>
        </p:txBody>
      </p:sp>
      <p:sp>
        <p:nvSpPr>
          <p:cNvPr id="39" name="Text 33"/>
          <p:cNvSpPr txBox="1"/>
          <p:nvPr/>
        </p:nvSpPr>
        <p:spPr>
          <a:xfrm>
            <a:off x="969264"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상령일 2주 · 암진단비 1천만원</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동의 필요 표시 → 알림톡부터</a:t>
            </a:r>
            <a:endParaRPr lang="en-US" sz="1200" dirty="0"/>
          </a:p>
        </p:txBody>
      </p:sp>
      <p:sp>
        <p:nvSpPr>
          <p:cNvPr id="40" name="Shape 34"/>
          <p:cNvSpPr/>
          <p:nvPr/>
        </p:nvSpPr>
        <p:spPr>
          <a:xfrm>
            <a:off x="3386252" y="4572000"/>
            <a:ext cx="347472" cy="347472"/>
          </a:xfrm>
          <a:prstGeom prst="ellipse">
            <a:avLst/>
          </a:prstGeom>
          <a:solidFill>
            <a:srgbClr val="3182F6"/>
          </a:solidFill>
          <a:ln w="19050">
            <a:solidFill>
              <a:srgbClr val="FFFFFF"/>
            </a:solidFill>
            <a:prstDash val="solid"/>
          </a:ln>
        </p:spPr>
      </p:sp>
      <p:sp>
        <p:nvSpPr>
          <p:cNvPr id="41" name="Text 35"/>
          <p:cNvSpPr txBox="1"/>
          <p:nvPr/>
        </p:nvSpPr>
        <p:spPr>
          <a:xfrm>
            <a:off x="3386252"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42" name="Text 36"/>
          <p:cNvSpPr txBox="1"/>
          <p:nvPr/>
        </p:nvSpPr>
        <p:spPr>
          <a:xfrm>
            <a:off x="3806876"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첫 말 → 알림톡 보내기</a:t>
            </a:r>
            <a:endParaRPr lang="en-US" sz="1550" dirty="0"/>
          </a:p>
        </p:txBody>
      </p:sp>
      <p:sp>
        <p:nvSpPr>
          <p:cNvPr id="43" name="Text 37"/>
          <p:cNvSpPr txBox="1"/>
          <p:nvPr/>
        </p:nvSpPr>
        <p:spPr>
          <a:xfrm>
            <a:off x="3806876"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[사전조회동의 요청하기]</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휴대폰 번호 넣고 [보내기]</a:t>
            </a:r>
            <a:endParaRPr lang="en-US" sz="1200" dirty="0"/>
          </a:p>
        </p:txBody>
      </p:sp>
      <p:sp>
        <p:nvSpPr>
          <p:cNvPr id="44" name="Shape 38"/>
          <p:cNvSpPr/>
          <p:nvPr/>
        </p:nvSpPr>
        <p:spPr>
          <a:xfrm>
            <a:off x="6223864" y="4572000"/>
            <a:ext cx="347472" cy="347472"/>
          </a:xfrm>
          <a:prstGeom prst="ellipse">
            <a:avLst/>
          </a:prstGeom>
          <a:solidFill>
            <a:srgbClr val="3182F6"/>
          </a:solidFill>
          <a:ln w="19050">
            <a:solidFill>
              <a:srgbClr val="FFFFFF"/>
            </a:solidFill>
            <a:prstDash val="solid"/>
          </a:ln>
        </p:spPr>
      </p:sp>
      <p:sp>
        <p:nvSpPr>
          <p:cNvPr id="45" name="Text 39"/>
          <p:cNvSpPr txBox="1"/>
          <p:nvPr/>
        </p:nvSpPr>
        <p:spPr>
          <a:xfrm>
            <a:off x="6223864"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46" name="Text 40"/>
          <p:cNvSpPr txBox="1"/>
          <p:nvPr/>
        </p:nvSpPr>
        <p:spPr>
          <a:xfrm>
            <a:off x="6644488"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동의 뒤 진단비 점검</a:t>
            </a:r>
            <a:endParaRPr lang="en-US" sz="1550" dirty="0"/>
          </a:p>
        </p:txBody>
      </p:sp>
      <p:sp>
        <p:nvSpPr>
          <p:cNvPr id="47" name="Text 41"/>
          <p:cNvSpPr txBox="1"/>
          <p:nvPr/>
        </p:nvSpPr>
        <p:spPr>
          <a:xfrm>
            <a:off x="6644488"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[이 고객으로 맞춤대화 시작]</a:t>
            </a:r>
            <a:endParaRPr lang="en-US" sz="1200" dirty="0"/>
          </a:p>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 [보장분석 해줘] → 첫 질문</a:t>
            </a:r>
            <a:endParaRPr lang="en-US" sz="1200" dirty="0"/>
          </a:p>
        </p:txBody>
      </p:sp>
      <p:sp>
        <p:nvSpPr>
          <p:cNvPr id="48" name="Shape 42"/>
          <p:cNvSpPr/>
          <p:nvPr/>
        </p:nvSpPr>
        <p:spPr>
          <a:xfrm>
            <a:off x="9061475" y="4572000"/>
            <a:ext cx="347472" cy="347472"/>
          </a:xfrm>
          <a:prstGeom prst="ellipse">
            <a:avLst/>
          </a:prstGeom>
          <a:solidFill>
            <a:srgbClr val="3182F6"/>
          </a:solidFill>
          <a:ln w="19050">
            <a:solidFill>
              <a:srgbClr val="FFFFFF"/>
            </a:solidFill>
            <a:prstDash val="solid"/>
          </a:ln>
        </p:spPr>
      </p:sp>
      <p:sp>
        <p:nvSpPr>
          <p:cNvPr id="49" name="Text 43"/>
          <p:cNvSpPr txBox="1"/>
          <p:nvPr/>
        </p:nvSpPr>
        <p:spPr>
          <a:xfrm>
            <a:off x="9061475" y="45720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50" name="Text 44"/>
          <p:cNvSpPr txBox="1"/>
          <p:nvPr/>
        </p:nvSpPr>
        <p:spPr>
          <a:xfrm>
            <a:off x="9482099" y="4544568"/>
            <a:ext cx="2160956" cy="384048"/>
          </a:xfrm>
          <a:prstGeom prst="rect">
            <a:avLst/>
          </a:prstGeom>
          <a:noFill/>
          <a:ln/>
        </p:spPr>
        <p:txBody>
          <a:bodyPr wrap="square" lIns="0" tIns="0" rIns="0" bIns="0" rtlCol="0" anchor="ctr"/>
          <a:lstStyle/>
          <a:p>
            <a:pPr marL="0" indent="0">
              <a:buNone/>
            </a:pPr>
            <a:r>
              <a:rPr lang="en-US" sz="1550" b="1" dirty="0">
                <a:solidFill>
                  <a:srgbClr val="191F28"/>
                </a:solidFill>
                <a:latin typeface="맑은 고딕" pitchFamily="34" charset="0"/>
                <a:ea typeface="맑은 고딕" pitchFamily="34" charset="-122"/>
                <a:cs typeface="맑은 고딕" pitchFamily="34" charset="-120"/>
              </a:rPr>
              <a:t>상령일 전 제안</a:t>
            </a:r>
            <a:endParaRPr lang="en-US" sz="1550" dirty="0"/>
          </a:p>
        </p:txBody>
      </p:sp>
      <p:sp>
        <p:nvSpPr>
          <p:cNvPr id="51" name="Text 45"/>
          <p:cNvSpPr txBox="1"/>
          <p:nvPr/>
        </p:nvSpPr>
        <p:spPr>
          <a:xfrm>
            <a:off x="9482099" y="4919472"/>
            <a:ext cx="2160956" cy="457200"/>
          </a:xfrm>
          <a:prstGeom prst="rect">
            <a:avLst/>
          </a:prstGeom>
          <a:noFill/>
          <a:ln/>
        </p:spPr>
        <p:txBody>
          <a:bodyPr wrap="square" lIns="0" tIns="0" rIns="0" bIns="0" rtlCol="0" anchor="t"/>
          <a:lstStyle/>
          <a:p>
            <a:pPr marL="0" indent="0">
              <a:lnSpc>
                <a:spcPct val="105000"/>
              </a:lnSpc>
              <a:buNone/>
            </a:pPr>
            <a:r>
              <a:rPr lang="en-US" sz="1200" dirty="0">
                <a:solidFill>
                  <a:srgbClr val="6B7684"/>
                </a:solidFill>
                <a:latin typeface="맑은 고딕" pitchFamily="34" charset="0"/>
                <a:ea typeface="맑은 고딕" pitchFamily="34" charset="-122"/>
                <a:cs typeface="맑은 고딕" pitchFamily="34" charset="-120"/>
              </a:rPr>
              <a:t>인상 전 가입의 이점을</a:t>
            </a:r>
            <a:endParaRPr lang="en-US" sz="1200" dirty="0"/>
          </a:p>
          <a:p>
            <a:pPr marL="0" indent="0">
              <a:lnSpc>
                <a:spcPct val="105000"/>
              </a:lnSpc>
              <a:buNone/>
            </a:pPr>
            <a:r>
              <a:rPr lang="en-US" sz="1200" dirty="0" err="1">
                <a:solidFill>
                  <a:srgbClr val="6B7684"/>
                </a:solidFill>
                <a:latin typeface="맑은 고딕" pitchFamily="34" charset="0"/>
                <a:ea typeface="맑은 고딕" pitchFamily="34" charset="-122"/>
                <a:cs typeface="맑은 고딕" pitchFamily="34" charset="-120"/>
              </a:rPr>
              <a:t>요약</a:t>
            </a:r>
            <a:r>
              <a:rPr lang="en-US" sz="1200" dirty="0">
                <a:solidFill>
                  <a:srgbClr val="6B7684"/>
                </a:solidFill>
                <a:latin typeface="맑은 고딕" pitchFamily="34" charset="0"/>
                <a:ea typeface="맑은 고딕" pitchFamily="34" charset="-122"/>
                <a:cs typeface="맑은 고딕" pitchFamily="34" charset="-120"/>
              </a:rPr>
              <a:t> </a:t>
            </a:r>
            <a:r>
              <a:rPr lang="en-US" sz="1200" dirty="0" err="1">
                <a:solidFill>
                  <a:srgbClr val="6B7684"/>
                </a:solidFill>
                <a:latin typeface="맑은 고딕" pitchFamily="34" charset="0"/>
                <a:ea typeface="맑은 고딕" pitchFamily="34" charset="-122"/>
                <a:cs typeface="맑은 고딕" pitchFamily="34" charset="-120"/>
              </a:rPr>
              <a:t>리포트</a:t>
            </a:r>
            <a:r>
              <a:rPr lang="en-US" sz="1200" dirty="0">
                <a:solidFill>
                  <a:srgbClr val="6B7684"/>
                </a:solidFill>
                <a:latin typeface="맑은 고딕" pitchFamily="34" charset="0"/>
                <a:ea typeface="맑은 고딕" pitchFamily="34" charset="-122"/>
                <a:cs typeface="맑은 고딕" pitchFamily="34" charset="-120"/>
              </a:rPr>
              <a:t> </a:t>
            </a:r>
            <a:r>
              <a:rPr lang="ko-KR" altLang="en-US" sz="1200" dirty="0">
                <a:solidFill>
                  <a:srgbClr val="6B7684"/>
                </a:solidFill>
                <a:latin typeface="맑은 고딕" pitchFamily="34" charset="0"/>
                <a:ea typeface="맑은 고딕" pitchFamily="34" charset="-122"/>
                <a:cs typeface="맑은 고딕" pitchFamily="34" charset="-120"/>
              </a:rPr>
              <a:t>발송</a:t>
            </a:r>
            <a:endParaRPr lang="en-US" sz="1200" dirty="0"/>
          </a:p>
        </p:txBody>
      </p:sp>
      <p:sp>
        <p:nvSpPr>
          <p:cNvPr id="55" name="Text 4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56" name="Text 5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en-US" sz="3400" b="1" dirty="0">
                <a:solidFill>
                  <a:srgbClr val="191F28"/>
                </a:solidFill>
                <a:latin typeface="맑은 고딕" pitchFamily="34" charset="0"/>
                <a:ea typeface="맑은 고딕" pitchFamily="34" charset="-122"/>
                <a:cs typeface="맑은 고딕" pitchFamily="34" charset="-120"/>
              </a:rPr>
              <a:t>고객에게 첫 말, MeAI에게 첫 질문</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marL="0" indent="0">
              <a:buNone/>
            </a:pPr>
            <a:r>
              <a:rPr lang="en-US" sz="1700" dirty="0" err="1">
                <a:solidFill>
                  <a:srgbClr val="6B7684"/>
                </a:solidFill>
                <a:latin typeface="맑은 고딕" pitchFamily="34" charset="0"/>
                <a:ea typeface="맑은 고딕" pitchFamily="34" charset="-122"/>
                <a:cs typeface="맑은 고딕" pitchFamily="34" charset="-120"/>
              </a:rPr>
              <a:t>오늘</a:t>
            </a:r>
            <a:r>
              <a:rPr lang="ko-KR" altLang="en-US" sz="1700" dirty="0">
                <a:solidFill>
                  <a:srgbClr val="6B7684"/>
                </a:solidFill>
                <a:latin typeface="맑은 고딕" pitchFamily="34" charset="0"/>
                <a:ea typeface="맑은 고딕" pitchFamily="34" charset="-122"/>
                <a:cs typeface="맑은 고딕" pitchFamily="34" charset="-120"/>
              </a:rPr>
              <a:t>부터 시작하는 손쉬운 영업 타겟 탐색</a:t>
            </a:r>
            <a:endParaRPr lang="en-US" sz="1700" dirty="0"/>
          </a:p>
        </p:txBody>
      </p:sp>
      <p:sp>
        <p:nvSpPr>
          <p:cNvPr id="13" name="Shape 11"/>
          <p:cNvSpPr/>
          <p:nvPr/>
        </p:nvSpPr>
        <p:spPr>
          <a:xfrm>
            <a:off x="548640" y="1920240"/>
            <a:ext cx="2697480" cy="347472"/>
          </a:xfrm>
          <a:prstGeom prst="roundRect">
            <a:avLst>
              <a:gd name="adj" fmla="val 26316"/>
            </a:avLst>
          </a:prstGeom>
          <a:solidFill>
            <a:srgbClr val="F2F4F6"/>
          </a:solidFill>
          <a:ln w="12700">
            <a:solidFill>
              <a:srgbClr val="F2F4F6"/>
            </a:solidFill>
            <a:prstDash val="solid"/>
          </a:ln>
        </p:spPr>
      </p:sp>
      <p:sp>
        <p:nvSpPr>
          <p:cNvPr id="14" name="Text 12"/>
          <p:cNvSpPr txBox="1"/>
          <p:nvPr/>
        </p:nvSpPr>
        <p:spPr>
          <a:xfrm>
            <a:off x="685800" y="1920240"/>
            <a:ext cx="25146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상황</a:t>
            </a:r>
            <a:endParaRPr lang="en-US" sz="1400" dirty="0"/>
          </a:p>
        </p:txBody>
      </p:sp>
      <p:sp>
        <p:nvSpPr>
          <p:cNvPr id="15" name="Shape 13"/>
          <p:cNvSpPr/>
          <p:nvPr/>
        </p:nvSpPr>
        <p:spPr>
          <a:xfrm>
            <a:off x="3337560" y="1920240"/>
            <a:ext cx="4754880" cy="347472"/>
          </a:xfrm>
          <a:prstGeom prst="roundRect">
            <a:avLst>
              <a:gd name="adj" fmla="val 26316"/>
            </a:avLst>
          </a:prstGeom>
          <a:solidFill>
            <a:srgbClr val="F2F4F6"/>
          </a:solidFill>
          <a:ln w="12700">
            <a:solidFill>
              <a:srgbClr val="F2F4F6"/>
            </a:solidFill>
            <a:prstDash val="solid"/>
          </a:ln>
        </p:spPr>
      </p:sp>
      <p:sp>
        <p:nvSpPr>
          <p:cNvPr id="16" name="Text 14"/>
          <p:cNvSpPr txBox="1"/>
          <p:nvPr/>
        </p:nvSpPr>
        <p:spPr>
          <a:xfrm>
            <a:off x="3474720" y="1920240"/>
            <a:ext cx="4572000"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고객에게 첫 말</a:t>
            </a:r>
            <a:endParaRPr lang="en-US" sz="1400" dirty="0"/>
          </a:p>
        </p:txBody>
      </p:sp>
      <p:sp>
        <p:nvSpPr>
          <p:cNvPr id="17" name="Shape 15"/>
          <p:cNvSpPr/>
          <p:nvPr/>
        </p:nvSpPr>
        <p:spPr>
          <a:xfrm>
            <a:off x="8183880" y="1920240"/>
            <a:ext cx="3456432" cy="347472"/>
          </a:xfrm>
          <a:prstGeom prst="roundRect">
            <a:avLst>
              <a:gd name="adj" fmla="val 26316"/>
            </a:avLst>
          </a:prstGeom>
          <a:solidFill>
            <a:srgbClr val="F2F4F6"/>
          </a:solidFill>
          <a:ln w="12700">
            <a:solidFill>
              <a:srgbClr val="F2F4F6"/>
            </a:solidFill>
            <a:prstDash val="solid"/>
          </a:ln>
        </p:spPr>
      </p:sp>
      <p:sp>
        <p:nvSpPr>
          <p:cNvPr id="18" name="Text 16"/>
          <p:cNvSpPr txBox="1"/>
          <p:nvPr/>
        </p:nvSpPr>
        <p:spPr>
          <a:xfrm>
            <a:off x="8321040" y="1920240"/>
            <a:ext cx="3273552" cy="347472"/>
          </a:xfrm>
          <a:prstGeom prst="rect">
            <a:avLst/>
          </a:prstGeom>
          <a:noFill/>
          <a:ln/>
        </p:spPr>
        <p:txBody>
          <a:bodyPr wrap="square" lIns="0" tIns="0" rIns="0" bIns="0" rtlCol="0" anchor="ctr"/>
          <a:lstStyle/>
          <a:p>
            <a:pPr marL="0" indent="0">
              <a:buNone/>
            </a:pPr>
            <a:r>
              <a:rPr lang="en-US" sz="1400" b="1" dirty="0">
                <a:solidFill>
                  <a:srgbClr val="4E5968"/>
                </a:solidFill>
                <a:latin typeface="맑은 고딕" pitchFamily="34" charset="0"/>
                <a:ea typeface="맑은 고딕" pitchFamily="34" charset="-122"/>
                <a:cs typeface="맑은 고딕" pitchFamily="34" charset="-120"/>
              </a:rPr>
              <a:t>MeAI에게 첫 질문</a:t>
            </a:r>
            <a:endParaRPr lang="en-US" sz="1400" dirty="0"/>
          </a:p>
        </p:txBody>
      </p:sp>
      <p:sp>
        <p:nvSpPr>
          <p:cNvPr id="19" name="Shape 17"/>
          <p:cNvSpPr/>
          <p:nvPr/>
        </p:nvSpPr>
        <p:spPr>
          <a:xfrm>
            <a:off x="548640" y="2340864"/>
            <a:ext cx="2697480" cy="1005840"/>
          </a:xfrm>
          <a:prstGeom prst="roundRect">
            <a:avLst>
              <a:gd name="adj" fmla="val 10909"/>
            </a:avLst>
          </a:prstGeom>
          <a:solidFill>
            <a:srgbClr val="F9FAFB"/>
          </a:solidFill>
          <a:ln w="12700">
            <a:solidFill>
              <a:srgbClr val="F9FAFB"/>
            </a:solidFill>
            <a:prstDash val="solid"/>
          </a:ln>
        </p:spPr>
      </p:sp>
      <p:sp>
        <p:nvSpPr>
          <p:cNvPr id="20" name="Shape 18"/>
          <p:cNvSpPr/>
          <p:nvPr/>
        </p:nvSpPr>
        <p:spPr>
          <a:xfrm>
            <a:off x="3337560" y="2340864"/>
            <a:ext cx="4754880" cy="1005840"/>
          </a:xfrm>
          <a:prstGeom prst="roundRect">
            <a:avLst>
              <a:gd name="adj" fmla="val 10909"/>
            </a:avLst>
          </a:prstGeom>
          <a:solidFill>
            <a:srgbClr val="F9FAFB"/>
          </a:solidFill>
          <a:ln w="12700">
            <a:solidFill>
              <a:srgbClr val="F9FAFB"/>
            </a:solidFill>
            <a:prstDash val="solid"/>
          </a:ln>
        </p:spPr>
      </p:sp>
      <p:sp>
        <p:nvSpPr>
          <p:cNvPr id="21" name="Shape 19"/>
          <p:cNvSpPr/>
          <p:nvPr/>
        </p:nvSpPr>
        <p:spPr>
          <a:xfrm>
            <a:off x="8183880" y="2340864"/>
            <a:ext cx="3456432" cy="1005840"/>
          </a:xfrm>
          <a:prstGeom prst="roundRect">
            <a:avLst>
              <a:gd name="adj" fmla="val 10909"/>
            </a:avLst>
          </a:prstGeom>
          <a:solidFill>
            <a:srgbClr val="F9FAFB"/>
          </a:solidFill>
          <a:ln w="12700">
            <a:solidFill>
              <a:srgbClr val="F9FAFB"/>
            </a:solidFill>
            <a:prstDash val="solid"/>
          </a:ln>
        </p:spPr>
      </p:sp>
      <p:pic>
        <p:nvPicPr>
          <p:cNvPr id="22" name="Image 0" descr="MeAI 화면 캡처"/>
          <p:cNvPicPr>
            <a:picLocks noChangeAspect="1"/>
          </p:cNvPicPr>
          <p:nvPr/>
        </p:nvPicPr>
        <p:blipFill>
          <a:blip r:embed="rId3"/>
          <a:stretch>
            <a:fillRect/>
          </a:stretch>
        </p:blipFill>
        <p:spPr>
          <a:xfrm>
            <a:off x="692384" y="2404872"/>
            <a:ext cx="764072" cy="877824"/>
          </a:xfrm>
          <a:prstGeom prst="rect">
            <a:avLst/>
          </a:prstGeom>
        </p:spPr>
      </p:pic>
      <p:sp>
        <p:nvSpPr>
          <p:cNvPr id="23" name="Shape 20"/>
          <p:cNvSpPr/>
          <p:nvPr/>
        </p:nvSpPr>
        <p:spPr>
          <a:xfrm>
            <a:off x="740675" y="3018705"/>
            <a:ext cx="290955" cy="51510"/>
          </a:xfrm>
          <a:prstGeom prst="rect">
            <a:avLst/>
          </a:prstGeom>
          <a:ln w="15875">
            <a:solidFill>
              <a:srgbClr val="F04452"/>
            </a:solidFill>
            <a:prstDash val="solid"/>
          </a:ln>
        </p:spPr>
      </p:sp>
      <p:sp>
        <p:nvSpPr>
          <p:cNvPr id="24" name="Shape 21"/>
          <p:cNvSpPr/>
          <p:nvPr/>
        </p:nvSpPr>
        <p:spPr>
          <a:xfrm>
            <a:off x="438912" y="2249424"/>
            <a:ext cx="310896" cy="310896"/>
          </a:xfrm>
          <a:prstGeom prst="ellipse">
            <a:avLst/>
          </a:prstGeom>
          <a:solidFill>
            <a:srgbClr val="3182F6"/>
          </a:solidFill>
          <a:ln w="19050">
            <a:solidFill>
              <a:srgbClr val="FFFFFF"/>
            </a:solidFill>
            <a:prstDash val="solid"/>
          </a:ln>
        </p:spPr>
      </p:sp>
      <p:sp>
        <p:nvSpPr>
          <p:cNvPr id="25" name="Text 22"/>
          <p:cNvSpPr txBox="1"/>
          <p:nvPr/>
        </p:nvSpPr>
        <p:spPr>
          <a:xfrm>
            <a:off x="438912" y="22494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26" name="Text 23"/>
          <p:cNvSpPr txBox="1"/>
          <p:nvPr/>
        </p:nvSpPr>
        <p:spPr>
          <a:xfrm>
            <a:off x="1572768" y="2432304"/>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상령일 2주 전</a:t>
            </a:r>
            <a:endParaRPr lang="en-US" sz="1500" dirty="0"/>
          </a:p>
        </p:txBody>
      </p:sp>
      <p:sp>
        <p:nvSpPr>
          <p:cNvPr id="28" name="Shape 25"/>
          <p:cNvSpPr/>
          <p:nvPr/>
        </p:nvSpPr>
        <p:spPr>
          <a:xfrm>
            <a:off x="1572767" y="3035808"/>
            <a:ext cx="1344603" cy="256032"/>
          </a:xfrm>
          <a:prstGeom prst="roundRect">
            <a:avLst>
              <a:gd name="adj" fmla="val 50000"/>
            </a:avLst>
          </a:prstGeom>
          <a:solidFill>
            <a:srgbClr val="FFF0F0"/>
          </a:solidFill>
          <a:ln w="12700">
            <a:solidFill>
              <a:srgbClr val="FFF0F0"/>
            </a:solidFill>
            <a:prstDash val="solid"/>
          </a:ln>
        </p:spPr>
      </p:sp>
      <p:sp>
        <p:nvSpPr>
          <p:cNvPr id="29" name="Text 26"/>
          <p:cNvSpPr txBox="1"/>
          <p:nvPr/>
        </p:nvSpPr>
        <p:spPr>
          <a:xfrm>
            <a:off x="1572767" y="3035808"/>
            <a:ext cx="1344603" cy="256032"/>
          </a:xfrm>
          <a:prstGeom prst="rect">
            <a:avLst/>
          </a:prstGeom>
          <a:noFill/>
          <a:ln/>
        </p:spPr>
        <p:txBody>
          <a:bodyPr wrap="square" lIns="0" tIns="0" rIns="0" bIns="0" rtlCol="0" anchor="ctr"/>
          <a:lstStyle/>
          <a:p>
            <a:pPr marL="0" indent="0" algn="ctr">
              <a:buNone/>
            </a:pPr>
            <a:r>
              <a:rPr lang="ko-KR" altLang="en-US" sz="1150" b="1" dirty="0">
                <a:solidFill>
                  <a:srgbClr val="F04452"/>
                </a:solidFill>
                <a:latin typeface="맑은 고딕" pitchFamily="34" charset="0"/>
                <a:ea typeface="맑은 고딕" pitchFamily="34" charset="-122"/>
                <a:cs typeface="맑은 고딕" pitchFamily="34" charset="-120"/>
              </a:rPr>
              <a:t>사전조회동의 필요</a:t>
            </a:r>
            <a:endParaRPr lang="en-US" sz="1150" dirty="0"/>
          </a:p>
        </p:txBody>
      </p:sp>
      <p:sp>
        <p:nvSpPr>
          <p:cNvPr id="30" name="Text 27"/>
          <p:cNvSpPr txBox="1"/>
          <p:nvPr/>
        </p:nvSpPr>
        <p:spPr>
          <a:xfrm>
            <a:off x="3474720" y="2340864"/>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2주 뒤 보험 나이가 올라가요.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그 전에 </a:t>
            </a:r>
            <a:r>
              <a:rPr lang="en-US" sz="1450" b="1" dirty="0" err="1">
                <a:solidFill>
                  <a:srgbClr val="191F28"/>
                </a:solidFill>
                <a:latin typeface="맑은 고딕" pitchFamily="34" charset="0"/>
                <a:ea typeface="맑은 고딕" pitchFamily="34" charset="-122"/>
                <a:cs typeface="맑은 고딕" pitchFamily="34" charset="-120"/>
              </a:rPr>
              <a:t>점검하려고</a:t>
            </a:r>
            <a:r>
              <a:rPr lang="en-US" sz="1450" b="1" dirty="0">
                <a:solidFill>
                  <a:srgbClr val="191F28"/>
                </a:solidFill>
                <a:latin typeface="맑은 고딕" pitchFamily="34" charset="0"/>
                <a:ea typeface="맑은 고딕" pitchFamily="34" charset="-122"/>
                <a:cs typeface="맑은 고딕" pitchFamily="34" charset="-120"/>
              </a:rPr>
              <a:t> </a:t>
            </a:r>
            <a:r>
              <a:rPr lang="ko-KR" altLang="en-US" sz="1450" b="1" dirty="0">
                <a:solidFill>
                  <a:srgbClr val="191F28"/>
                </a:solidFill>
                <a:latin typeface="맑은 고딕" pitchFamily="34" charset="0"/>
                <a:ea typeface="맑은 고딕" pitchFamily="34" charset="-122"/>
                <a:cs typeface="맑은 고딕" pitchFamily="34" charset="-120"/>
              </a:rPr>
              <a:t>사전조회</a:t>
            </a:r>
            <a:r>
              <a:rPr lang="en-US" sz="1450" b="1" dirty="0" err="1">
                <a:solidFill>
                  <a:srgbClr val="191F28"/>
                </a:solidFill>
                <a:latin typeface="맑은 고딕" pitchFamily="34" charset="0"/>
                <a:ea typeface="맑은 고딕" pitchFamily="34" charset="-122"/>
                <a:cs typeface="맑은 고딕" pitchFamily="34" charset="-120"/>
              </a:rPr>
              <a:t>동의</a:t>
            </a:r>
            <a:r>
              <a:rPr lang="en-US" sz="1450" b="1" dirty="0">
                <a:solidFill>
                  <a:srgbClr val="191F28"/>
                </a:solidFill>
                <a:latin typeface="맑은 고딕" pitchFamily="34" charset="0"/>
                <a:ea typeface="맑은 고딕" pitchFamily="34" charset="-122"/>
                <a:cs typeface="맑은 고딕" pitchFamily="34" charset="-120"/>
              </a:rPr>
              <a:t> 알림톡 보내요.”</a:t>
            </a:r>
            <a:endParaRPr lang="en-US" sz="1450" dirty="0"/>
          </a:p>
        </p:txBody>
      </p:sp>
      <p:sp>
        <p:nvSpPr>
          <p:cNvPr id="31" name="Text 28"/>
          <p:cNvSpPr txBox="1"/>
          <p:nvPr/>
        </p:nvSpPr>
        <p:spPr>
          <a:xfrm>
            <a:off x="8321040" y="2395728"/>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동의 반영 뒤</a:t>
            </a:r>
            <a:endParaRPr lang="en-US" sz="1150" dirty="0"/>
          </a:p>
        </p:txBody>
      </p:sp>
      <p:sp>
        <p:nvSpPr>
          <p:cNvPr id="32" name="Shape 29"/>
          <p:cNvSpPr/>
          <p:nvPr/>
        </p:nvSpPr>
        <p:spPr>
          <a:xfrm>
            <a:off x="8293608" y="2651760"/>
            <a:ext cx="3236976" cy="621792"/>
          </a:xfrm>
          <a:prstGeom prst="roundRect">
            <a:avLst>
              <a:gd name="adj" fmla="val 14706"/>
            </a:avLst>
          </a:prstGeom>
          <a:solidFill>
            <a:srgbClr val="FFFFFF"/>
          </a:solidFill>
          <a:ln w="12700">
            <a:solidFill>
              <a:srgbClr val="3182F6"/>
            </a:solidFill>
            <a:prstDash val="solid"/>
          </a:ln>
        </p:spPr>
      </p:sp>
      <p:sp>
        <p:nvSpPr>
          <p:cNvPr id="33" name="Text 30"/>
          <p:cNvSpPr txBox="1"/>
          <p:nvPr/>
        </p:nvSpPr>
        <p:spPr>
          <a:xfrm>
            <a:off x="8412480" y="2651760"/>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상령일 전에 암진단비를 늘려야 하는</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이유를 쉽게 설명해줘</a:t>
            </a:r>
            <a:endParaRPr lang="en-US" sz="1300" dirty="0"/>
          </a:p>
        </p:txBody>
      </p:sp>
      <p:sp>
        <p:nvSpPr>
          <p:cNvPr id="34" name="Shape 31"/>
          <p:cNvSpPr/>
          <p:nvPr/>
        </p:nvSpPr>
        <p:spPr>
          <a:xfrm>
            <a:off x="548640" y="3419856"/>
            <a:ext cx="2697480" cy="1005840"/>
          </a:xfrm>
          <a:prstGeom prst="roundRect">
            <a:avLst>
              <a:gd name="adj" fmla="val 10909"/>
            </a:avLst>
          </a:prstGeom>
          <a:solidFill>
            <a:srgbClr val="FFFFFF"/>
          </a:solidFill>
          <a:ln w="9525">
            <a:solidFill>
              <a:srgbClr val="E5E8EB"/>
            </a:solidFill>
            <a:prstDash val="solid"/>
          </a:ln>
        </p:spPr>
      </p:sp>
      <p:sp>
        <p:nvSpPr>
          <p:cNvPr id="35" name="Shape 32"/>
          <p:cNvSpPr/>
          <p:nvPr/>
        </p:nvSpPr>
        <p:spPr>
          <a:xfrm>
            <a:off x="3337560" y="3419856"/>
            <a:ext cx="4754880" cy="1005840"/>
          </a:xfrm>
          <a:prstGeom prst="roundRect">
            <a:avLst>
              <a:gd name="adj" fmla="val 10909"/>
            </a:avLst>
          </a:prstGeom>
          <a:solidFill>
            <a:srgbClr val="FFFFFF"/>
          </a:solidFill>
          <a:ln w="9525">
            <a:solidFill>
              <a:srgbClr val="E5E8EB"/>
            </a:solidFill>
            <a:prstDash val="solid"/>
          </a:ln>
        </p:spPr>
      </p:sp>
      <p:sp>
        <p:nvSpPr>
          <p:cNvPr id="36" name="Shape 33"/>
          <p:cNvSpPr/>
          <p:nvPr/>
        </p:nvSpPr>
        <p:spPr>
          <a:xfrm>
            <a:off x="8183880" y="3419856"/>
            <a:ext cx="3456432" cy="1005840"/>
          </a:xfrm>
          <a:prstGeom prst="roundRect">
            <a:avLst>
              <a:gd name="adj" fmla="val 10909"/>
            </a:avLst>
          </a:prstGeom>
          <a:solidFill>
            <a:srgbClr val="FFFFFF"/>
          </a:solidFill>
          <a:ln w="9525">
            <a:solidFill>
              <a:srgbClr val="E5E8EB"/>
            </a:solidFill>
            <a:prstDash val="solid"/>
          </a:ln>
        </p:spPr>
      </p:sp>
      <p:pic>
        <p:nvPicPr>
          <p:cNvPr id="37" name="Image 1" descr="MeAI 화면 캡처"/>
          <p:cNvPicPr>
            <a:picLocks noChangeAspect="1"/>
          </p:cNvPicPr>
          <p:nvPr/>
        </p:nvPicPr>
        <p:blipFill>
          <a:blip r:embed="rId4"/>
          <a:stretch>
            <a:fillRect/>
          </a:stretch>
        </p:blipFill>
        <p:spPr>
          <a:xfrm>
            <a:off x="667512" y="3483864"/>
            <a:ext cx="813816" cy="877824"/>
          </a:xfrm>
          <a:prstGeom prst="rect">
            <a:avLst/>
          </a:prstGeom>
        </p:spPr>
      </p:pic>
      <p:sp>
        <p:nvSpPr>
          <p:cNvPr id="38" name="Shape 34"/>
          <p:cNvSpPr/>
          <p:nvPr/>
        </p:nvSpPr>
        <p:spPr>
          <a:xfrm>
            <a:off x="718947" y="4080510"/>
            <a:ext cx="273177" cy="52578"/>
          </a:xfrm>
          <a:prstGeom prst="rect">
            <a:avLst/>
          </a:prstGeom>
          <a:ln w="15875">
            <a:solidFill>
              <a:srgbClr val="F04452"/>
            </a:solidFill>
            <a:prstDash val="solid"/>
          </a:ln>
        </p:spPr>
      </p:sp>
      <p:sp>
        <p:nvSpPr>
          <p:cNvPr id="39" name="Shape 35"/>
          <p:cNvSpPr/>
          <p:nvPr/>
        </p:nvSpPr>
        <p:spPr>
          <a:xfrm>
            <a:off x="438912" y="3328416"/>
            <a:ext cx="310896" cy="310896"/>
          </a:xfrm>
          <a:prstGeom prst="ellipse">
            <a:avLst/>
          </a:prstGeom>
          <a:solidFill>
            <a:srgbClr val="3182F6"/>
          </a:solidFill>
          <a:ln w="19050">
            <a:solidFill>
              <a:srgbClr val="FFFFFF"/>
            </a:solidFill>
            <a:prstDash val="solid"/>
          </a:ln>
        </p:spPr>
      </p:sp>
      <p:sp>
        <p:nvSpPr>
          <p:cNvPr id="40" name="Text 36"/>
          <p:cNvSpPr txBox="1"/>
          <p:nvPr/>
        </p:nvSpPr>
        <p:spPr>
          <a:xfrm>
            <a:off x="438912" y="33284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41" name="Text 37"/>
          <p:cNvSpPr txBox="1"/>
          <p:nvPr/>
        </p:nvSpPr>
        <p:spPr>
          <a:xfrm>
            <a:off x="1572768" y="3511296"/>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동의 만료 임박</a:t>
            </a:r>
            <a:endParaRPr lang="en-US" sz="1500" dirty="0"/>
          </a:p>
        </p:txBody>
      </p:sp>
      <p:sp>
        <p:nvSpPr>
          <p:cNvPr id="42" name="Text 38"/>
          <p:cNvSpPr txBox="1"/>
          <p:nvPr/>
        </p:nvSpPr>
        <p:spPr>
          <a:xfrm>
            <a:off x="1572768" y="3840480"/>
            <a:ext cx="1600200" cy="274320"/>
          </a:xfrm>
          <a:prstGeom prst="rect">
            <a:avLst/>
          </a:prstGeom>
          <a:noFill/>
          <a:ln/>
        </p:spPr>
        <p:txBody>
          <a:bodyPr wrap="square" lIns="0" tIns="0" rIns="0" bIns="0" rtlCol="0" anchor="ctr"/>
          <a:lstStyle/>
          <a:p>
            <a:pPr marL="0" indent="0">
              <a:buNone/>
            </a:pPr>
            <a:r>
              <a:rPr lang="en-US" sz="1200" dirty="0">
                <a:solidFill>
                  <a:srgbClr val="6B7684"/>
                </a:solidFill>
                <a:latin typeface="맑은 고딕" pitchFamily="34" charset="0"/>
                <a:ea typeface="맑은 고딕" pitchFamily="34" charset="-122"/>
                <a:cs typeface="맑은 고딕" pitchFamily="34" charset="-120"/>
              </a:rPr>
              <a:t>이달 말 만료</a:t>
            </a:r>
            <a:endParaRPr lang="en-US" sz="1200" dirty="0"/>
          </a:p>
        </p:txBody>
      </p:sp>
      <p:sp>
        <p:nvSpPr>
          <p:cNvPr id="43" name="Text 39"/>
          <p:cNvSpPr txBox="1"/>
          <p:nvPr/>
        </p:nvSpPr>
        <p:spPr>
          <a:xfrm>
            <a:off x="3474720" y="3419856"/>
            <a:ext cx="4480560" cy="1005840"/>
          </a:xfrm>
          <a:prstGeom prst="rect">
            <a:avLst/>
          </a:prstGeom>
          <a:noFill/>
          <a:ln/>
        </p:spPr>
        <p:txBody>
          <a:bodyPr wrap="square" lIns="0" tIns="0" rIns="0" bIns="0" rtlCol="0" anchor="ctr"/>
          <a:lstStyle/>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“고객님, 이달 말 동의가 만료돼 연장 부탁드려요.</a:t>
            </a:r>
            <a:endParaRPr lang="en-US" sz="1450" dirty="0"/>
          </a:p>
          <a:p>
            <a:pPr marL="0" indent="0">
              <a:lnSpc>
                <a:spcPct val="115000"/>
              </a:lnSpc>
              <a:buNone/>
            </a:pPr>
            <a:r>
              <a:rPr lang="en-US" sz="1450" b="1" dirty="0">
                <a:solidFill>
                  <a:srgbClr val="191F28"/>
                </a:solidFill>
                <a:latin typeface="맑은 고딕" pitchFamily="34" charset="0"/>
                <a:ea typeface="맑은 고딕" pitchFamily="34" charset="-122"/>
                <a:cs typeface="맑은 고딕" pitchFamily="34" charset="-120"/>
              </a:rPr>
              <a:t>새로 나온 보장도 봐 드릴게요.”</a:t>
            </a:r>
            <a:endParaRPr lang="en-US" sz="1450" dirty="0"/>
          </a:p>
        </p:txBody>
      </p:sp>
      <p:sp>
        <p:nvSpPr>
          <p:cNvPr id="44" name="Shape 40"/>
          <p:cNvSpPr/>
          <p:nvPr/>
        </p:nvSpPr>
        <p:spPr>
          <a:xfrm>
            <a:off x="8293608" y="3511296"/>
            <a:ext cx="3236976" cy="822960"/>
          </a:xfrm>
          <a:prstGeom prst="roundRect">
            <a:avLst>
              <a:gd name="adj" fmla="val 11111"/>
            </a:avLst>
          </a:prstGeom>
          <a:solidFill>
            <a:srgbClr val="FFFFFF"/>
          </a:solidFill>
          <a:ln w="12700">
            <a:solidFill>
              <a:srgbClr val="3182F6"/>
            </a:solidFill>
            <a:prstDash val="solid"/>
          </a:ln>
        </p:spPr>
      </p:sp>
      <p:sp>
        <p:nvSpPr>
          <p:cNvPr id="45" name="Text 41"/>
          <p:cNvSpPr txBox="1"/>
          <p:nvPr/>
        </p:nvSpPr>
        <p:spPr>
          <a:xfrm>
            <a:off x="8412480" y="3511296"/>
            <a:ext cx="3044952" cy="822960"/>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최근 신담보 기준으로</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이 고객 보장의 빈 곳을 알려줘</a:t>
            </a:r>
            <a:endParaRPr lang="en-US" sz="1300" dirty="0"/>
          </a:p>
        </p:txBody>
      </p:sp>
      <p:sp>
        <p:nvSpPr>
          <p:cNvPr id="46" name="Shape 42"/>
          <p:cNvSpPr/>
          <p:nvPr/>
        </p:nvSpPr>
        <p:spPr>
          <a:xfrm>
            <a:off x="548640" y="4498848"/>
            <a:ext cx="2697480" cy="1005840"/>
          </a:xfrm>
          <a:prstGeom prst="roundRect">
            <a:avLst>
              <a:gd name="adj" fmla="val 10909"/>
            </a:avLst>
          </a:prstGeom>
          <a:solidFill>
            <a:srgbClr val="FFFFFF"/>
          </a:solidFill>
          <a:ln w="9525">
            <a:solidFill>
              <a:srgbClr val="E5E8EB"/>
            </a:solidFill>
            <a:prstDash val="solid"/>
          </a:ln>
        </p:spPr>
      </p:sp>
      <p:sp>
        <p:nvSpPr>
          <p:cNvPr id="47" name="Shape 43"/>
          <p:cNvSpPr/>
          <p:nvPr/>
        </p:nvSpPr>
        <p:spPr>
          <a:xfrm>
            <a:off x="3337560" y="4498848"/>
            <a:ext cx="4754880" cy="1005840"/>
          </a:xfrm>
          <a:prstGeom prst="roundRect">
            <a:avLst>
              <a:gd name="adj" fmla="val 10909"/>
            </a:avLst>
          </a:prstGeom>
          <a:solidFill>
            <a:srgbClr val="FFFFFF"/>
          </a:solidFill>
          <a:ln w="9525">
            <a:solidFill>
              <a:srgbClr val="E5E8EB"/>
            </a:solidFill>
            <a:prstDash val="solid"/>
          </a:ln>
        </p:spPr>
      </p:sp>
      <p:sp>
        <p:nvSpPr>
          <p:cNvPr id="48" name="Shape 44"/>
          <p:cNvSpPr/>
          <p:nvPr/>
        </p:nvSpPr>
        <p:spPr>
          <a:xfrm>
            <a:off x="8183880" y="4498848"/>
            <a:ext cx="3456432" cy="1005840"/>
          </a:xfrm>
          <a:prstGeom prst="roundRect">
            <a:avLst>
              <a:gd name="adj" fmla="val 10909"/>
            </a:avLst>
          </a:prstGeom>
          <a:solidFill>
            <a:srgbClr val="FFFFFF"/>
          </a:solidFill>
          <a:ln w="9525">
            <a:solidFill>
              <a:srgbClr val="E5E8EB"/>
            </a:solidFill>
            <a:prstDash val="solid"/>
          </a:ln>
        </p:spPr>
      </p:sp>
      <p:pic>
        <p:nvPicPr>
          <p:cNvPr id="49" name="Image 2" descr="MeAI 화면 캡처"/>
          <p:cNvPicPr>
            <a:picLocks noChangeAspect="1"/>
          </p:cNvPicPr>
          <p:nvPr/>
        </p:nvPicPr>
        <p:blipFill>
          <a:blip r:embed="rId5"/>
          <a:stretch>
            <a:fillRect/>
          </a:stretch>
        </p:blipFill>
        <p:spPr>
          <a:xfrm>
            <a:off x="640080" y="4601978"/>
            <a:ext cx="868680" cy="799580"/>
          </a:xfrm>
          <a:prstGeom prst="rect">
            <a:avLst/>
          </a:prstGeom>
        </p:spPr>
      </p:pic>
      <p:sp>
        <p:nvSpPr>
          <p:cNvPr id="50" name="Shape 45"/>
          <p:cNvSpPr/>
          <p:nvPr/>
        </p:nvSpPr>
        <p:spPr>
          <a:xfrm>
            <a:off x="666404" y="4996832"/>
            <a:ext cx="812742" cy="164523"/>
          </a:xfrm>
          <a:prstGeom prst="rect">
            <a:avLst/>
          </a:prstGeom>
          <a:ln w="15875">
            <a:solidFill>
              <a:srgbClr val="F04452"/>
            </a:solidFill>
            <a:prstDash val="solid"/>
          </a:ln>
        </p:spPr>
      </p:sp>
      <p:sp>
        <p:nvSpPr>
          <p:cNvPr id="51" name="Shape 46"/>
          <p:cNvSpPr/>
          <p:nvPr/>
        </p:nvSpPr>
        <p:spPr>
          <a:xfrm>
            <a:off x="438912" y="4407408"/>
            <a:ext cx="310896" cy="310896"/>
          </a:xfrm>
          <a:prstGeom prst="ellipse">
            <a:avLst/>
          </a:prstGeom>
          <a:solidFill>
            <a:srgbClr val="3182F6"/>
          </a:solidFill>
          <a:ln w="19050">
            <a:solidFill>
              <a:srgbClr val="FFFFFF"/>
            </a:solidFill>
            <a:prstDash val="solid"/>
          </a:ln>
        </p:spPr>
      </p:sp>
      <p:sp>
        <p:nvSpPr>
          <p:cNvPr id="52" name="Text 47"/>
          <p:cNvSpPr txBox="1"/>
          <p:nvPr/>
        </p:nvSpPr>
        <p:spPr>
          <a:xfrm>
            <a:off x="438912" y="440740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53" name="Text 48"/>
          <p:cNvSpPr txBox="1"/>
          <p:nvPr/>
        </p:nvSpPr>
        <p:spPr>
          <a:xfrm>
            <a:off x="1572768" y="4590288"/>
            <a:ext cx="1600200" cy="329184"/>
          </a:xfrm>
          <a:prstGeom prst="rect">
            <a:avLst/>
          </a:prstGeom>
          <a:noFill/>
          <a:ln/>
        </p:spPr>
        <p:txBody>
          <a:bodyPr wrap="square" lIns="0" tIns="0" rIns="0" bIns="0" rtlCol="0" anchor="ctr"/>
          <a:lstStyle/>
          <a:p>
            <a:pPr marL="0" indent="0">
              <a:buNone/>
            </a:pPr>
            <a:r>
              <a:rPr lang="en-US" sz="1500" b="1" dirty="0">
                <a:solidFill>
                  <a:srgbClr val="191F28"/>
                </a:solidFill>
                <a:latin typeface="맑은 고딕" pitchFamily="34" charset="0"/>
                <a:ea typeface="맑은 고딕" pitchFamily="34" charset="-122"/>
                <a:cs typeface="맑은 고딕" pitchFamily="34" charset="-120"/>
              </a:rPr>
              <a:t>생일 임박 그룹</a:t>
            </a:r>
            <a:endParaRPr lang="en-US" sz="1500" dirty="0"/>
          </a:p>
        </p:txBody>
      </p:sp>
      <p:sp>
        <p:nvSpPr>
          <p:cNvPr id="55" name="Shape 50"/>
          <p:cNvSpPr/>
          <p:nvPr/>
        </p:nvSpPr>
        <p:spPr>
          <a:xfrm>
            <a:off x="3474720" y="4572000"/>
            <a:ext cx="2121281" cy="256032"/>
          </a:xfrm>
          <a:prstGeom prst="roundRect">
            <a:avLst>
              <a:gd name="adj" fmla="val 50000"/>
            </a:avLst>
          </a:prstGeom>
          <a:solidFill>
            <a:srgbClr val="F2F4F6"/>
          </a:solidFill>
          <a:ln w="12700">
            <a:solidFill>
              <a:srgbClr val="F2F4F6"/>
            </a:solidFill>
            <a:prstDash val="solid"/>
          </a:ln>
        </p:spPr>
      </p:sp>
      <p:sp>
        <p:nvSpPr>
          <p:cNvPr id="56" name="Text 51"/>
          <p:cNvSpPr txBox="1"/>
          <p:nvPr/>
        </p:nvSpPr>
        <p:spPr>
          <a:xfrm>
            <a:off x="3474720" y="4572000"/>
            <a:ext cx="2121281" cy="256032"/>
          </a:xfrm>
          <a:prstGeom prst="rect">
            <a:avLst/>
          </a:prstGeom>
          <a:noFill/>
          <a:ln/>
        </p:spPr>
        <p:txBody>
          <a:bodyPr wrap="square" lIns="0" tIns="0" rIns="0" bIns="0" rtlCol="0" anchor="ctr"/>
          <a:lstStyle/>
          <a:p>
            <a:pPr marL="0" indent="0" algn="ctr">
              <a:buNone/>
            </a:pPr>
            <a:r>
              <a:rPr lang="en-US" sz="1150" b="1" dirty="0">
                <a:solidFill>
                  <a:srgbClr val="4E5968"/>
                </a:solidFill>
                <a:latin typeface="맑은 고딕" pitchFamily="34" charset="0"/>
                <a:ea typeface="맑은 고딕" pitchFamily="34" charset="-122"/>
                <a:cs typeface="맑은 고딕" pitchFamily="34" charset="-120"/>
              </a:rPr>
              <a:t>화면 안내 → 내 말로 풀어요</a:t>
            </a:r>
            <a:endParaRPr lang="en-US" sz="1150" dirty="0"/>
          </a:p>
        </p:txBody>
      </p:sp>
      <p:sp>
        <p:nvSpPr>
          <p:cNvPr id="57" name="Text 52"/>
          <p:cNvSpPr txBox="1"/>
          <p:nvPr/>
        </p:nvSpPr>
        <p:spPr>
          <a:xfrm>
            <a:off x="3474720" y="4864608"/>
            <a:ext cx="4480560" cy="603504"/>
          </a:xfrm>
          <a:prstGeom prst="rect">
            <a:avLst/>
          </a:prstGeom>
          <a:noFill/>
          <a:ln/>
        </p:spPr>
        <p:txBody>
          <a:bodyPr wrap="square" lIns="0" tIns="0" rIns="0" bIns="0" rtlCol="0" anchor="t"/>
          <a:lstStyle/>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화면 안내: 축하 인사로 대화를 열고 자연스럽게</a:t>
            </a:r>
            <a:endParaRPr lang="en-US" sz="1350" dirty="0"/>
          </a:p>
          <a:p>
            <a:pPr marL="0" indent="0">
              <a:lnSpc>
                <a:spcPct val="112000"/>
              </a:lnSpc>
              <a:buNone/>
            </a:pPr>
            <a:r>
              <a:rPr lang="en-US" sz="1350" dirty="0">
                <a:solidFill>
                  <a:srgbClr val="4E5968"/>
                </a:solidFill>
                <a:latin typeface="맑은 고딕" pitchFamily="34" charset="0"/>
                <a:ea typeface="맑은 고딕" pitchFamily="34" charset="-122"/>
                <a:cs typeface="맑은 고딕" pitchFamily="34" charset="-120"/>
              </a:rPr>
              <a:t>보장 점검으로 이어가기 좋은 시점입니다.</a:t>
            </a:r>
            <a:endParaRPr lang="en-US" sz="1350" dirty="0"/>
          </a:p>
        </p:txBody>
      </p:sp>
      <p:sp>
        <p:nvSpPr>
          <p:cNvPr id="58" name="Text 53"/>
          <p:cNvSpPr txBox="1"/>
          <p:nvPr/>
        </p:nvSpPr>
        <p:spPr>
          <a:xfrm>
            <a:off x="8321040" y="4553712"/>
            <a:ext cx="3182112" cy="237744"/>
          </a:xfrm>
          <a:prstGeom prst="rect">
            <a:avLst/>
          </a:prstGeom>
          <a:noFill/>
          <a:ln/>
        </p:spPr>
        <p:txBody>
          <a:bodyPr wrap="square" lIns="0" tIns="0" rIns="0" bIns="0" rtlCol="0" anchor="ctr"/>
          <a:lstStyle/>
          <a:p>
            <a:pPr marL="0" indent="0">
              <a:buNone/>
            </a:pPr>
            <a:r>
              <a:rPr lang="en-US" sz="1150" b="1" dirty="0">
                <a:solidFill>
                  <a:srgbClr val="3182F6"/>
                </a:solidFill>
                <a:latin typeface="맑은 고딕" pitchFamily="34" charset="0"/>
                <a:ea typeface="맑은 고딕" pitchFamily="34" charset="-122"/>
                <a:cs typeface="맑은 고딕" pitchFamily="34" charset="-120"/>
              </a:rPr>
              <a:t>파란 일반대화 추천 질문(틀)</a:t>
            </a:r>
            <a:endParaRPr lang="en-US" sz="1150" dirty="0"/>
          </a:p>
        </p:txBody>
      </p:sp>
      <p:sp>
        <p:nvSpPr>
          <p:cNvPr id="59" name="Shape 54"/>
          <p:cNvSpPr/>
          <p:nvPr/>
        </p:nvSpPr>
        <p:spPr>
          <a:xfrm>
            <a:off x="8293608" y="4809744"/>
            <a:ext cx="3236976" cy="621792"/>
          </a:xfrm>
          <a:prstGeom prst="roundRect">
            <a:avLst>
              <a:gd name="adj" fmla="val 14706"/>
            </a:avLst>
          </a:prstGeom>
          <a:solidFill>
            <a:srgbClr val="FFFFFF"/>
          </a:solidFill>
          <a:ln w="12700">
            <a:solidFill>
              <a:srgbClr val="3182F6"/>
            </a:solidFill>
            <a:prstDash val="solid"/>
          </a:ln>
        </p:spPr>
      </p:sp>
      <p:sp>
        <p:nvSpPr>
          <p:cNvPr id="60" name="Text 55"/>
          <p:cNvSpPr txBox="1"/>
          <p:nvPr/>
        </p:nvSpPr>
        <p:spPr>
          <a:xfrm>
            <a:off x="8412480" y="4809744"/>
            <a:ext cx="3044952" cy="621792"/>
          </a:xfrm>
          <a:prstGeom prst="rect">
            <a:avLst/>
          </a:prstGeom>
          <a:noFill/>
          <a:ln/>
        </p:spPr>
        <p:txBody>
          <a:bodyPr wrap="square" lIns="0" tIns="0" rIns="0" bIns="0" rtlCol="0" anchor="ctr"/>
          <a:lstStyle/>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#생일 임박, #나이대, #고객유형 —</a:t>
            </a:r>
            <a:endParaRPr lang="en-US" sz="1300" dirty="0"/>
          </a:p>
          <a:p>
            <a:pPr marL="0" indent="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 안내 문자 문안을 작성해줘 …</a:t>
            </a:r>
            <a:endParaRPr lang="en-US" sz="1300" dirty="0"/>
          </a:p>
        </p:txBody>
      </p:sp>
      <p:sp>
        <p:nvSpPr>
          <p:cNvPr id="61" name="Shape 56"/>
          <p:cNvSpPr/>
          <p:nvPr/>
        </p:nvSpPr>
        <p:spPr>
          <a:xfrm>
            <a:off x="548640" y="5614416"/>
            <a:ext cx="11094415" cy="457200"/>
          </a:xfrm>
          <a:prstGeom prst="roundRect">
            <a:avLst>
              <a:gd name="adj" fmla="val 28000"/>
            </a:avLst>
          </a:prstGeom>
          <a:solidFill>
            <a:srgbClr val="191F28"/>
          </a:solidFill>
          <a:ln w="12700">
            <a:solidFill>
              <a:srgbClr val="191F28"/>
            </a:solidFill>
            <a:prstDash val="solid"/>
          </a:ln>
        </p:spPr>
      </p:sp>
      <p:sp>
        <p:nvSpPr>
          <p:cNvPr id="62" name="Text 57"/>
          <p:cNvSpPr txBox="1"/>
          <p:nvPr/>
        </p:nvSpPr>
        <p:spPr>
          <a:xfrm>
            <a:off x="868680" y="5614416"/>
            <a:ext cx="10454335" cy="457200"/>
          </a:xfrm>
          <a:prstGeom prst="rect">
            <a:avLst/>
          </a:prstGeom>
          <a:noFill/>
          <a:ln/>
        </p:spPr>
        <p:txBody>
          <a:bodyPr wrap="square" lIns="0" tIns="0" rIns="0" bIns="0" rtlCol="0" anchor="ct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카드 문장은 고객에게 첫 말, 추천 질문은 MeAI에게 첫 질문</a:t>
            </a:r>
            <a:endParaRPr lang="en-US" sz="1600" dirty="0"/>
          </a:p>
        </p:txBody>
      </p:sp>
      <p:sp>
        <p:nvSpPr>
          <p:cNvPr id="64" name="Text 59"/>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5" name="Text 60"/>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23</a:t>
            </a:r>
            <a:endParaRPr lang="en-US" sz="1000" dirty="0"/>
          </a:p>
        </p:txBody>
      </p:sp>
      <p:sp>
        <p:nvSpPr>
          <p:cNvPr id="66" name="Text 38">
            <a:extLst>
              <a:ext uri="{FF2B5EF4-FFF2-40B4-BE49-F238E27FC236}">
                <a16:creationId xmlns:a16="http://schemas.microsoft.com/office/drawing/2014/main" id="{FE0303EE-3CB0-439D-9521-3392597F5D7D}"/>
              </a:ext>
            </a:extLst>
          </p:cNvPr>
          <p:cNvSpPr txBox="1"/>
          <p:nvPr/>
        </p:nvSpPr>
        <p:spPr>
          <a:xfrm>
            <a:off x="1572768" y="2706624"/>
            <a:ext cx="1600200" cy="274320"/>
          </a:xfrm>
          <a:prstGeom prst="rect">
            <a:avLst/>
          </a:prstGeom>
          <a:noFill/>
          <a:ln/>
        </p:spPr>
        <p:txBody>
          <a:bodyPr wrap="square" lIns="0" tIns="0" rIns="0" bIns="0" rtlCol="0" anchor="ctr"/>
          <a:lstStyle/>
          <a:p>
            <a:pPr marL="0" indent="0">
              <a:buNone/>
            </a:pPr>
            <a:r>
              <a:rPr lang="ko-KR" altLang="en-US" sz="1200" dirty="0">
                <a:solidFill>
                  <a:srgbClr val="6B7684"/>
                </a:solidFill>
                <a:latin typeface="맑은 고딕" pitchFamily="34" charset="0"/>
                <a:ea typeface="맑은 고딕" pitchFamily="34" charset="-122"/>
                <a:cs typeface="맑은 고딕" pitchFamily="34" charset="-120"/>
              </a:rPr>
              <a:t>사전조회동의 </a:t>
            </a:r>
            <a:r>
              <a:rPr lang="en-US" sz="1200" dirty="0" err="1">
                <a:solidFill>
                  <a:srgbClr val="6B7684"/>
                </a:solidFill>
                <a:latin typeface="맑은 고딕" pitchFamily="34" charset="0"/>
                <a:ea typeface="맑은 고딕" pitchFamily="34" charset="-122"/>
                <a:cs typeface="맑은 고딕" pitchFamily="34" charset="-120"/>
              </a:rPr>
              <a:t>만료</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marL="0" indent="0">
              <a:buNone/>
            </a:pPr>
            <a:r>
              <a:rPr lang="en-US" sz="1300" b="1" dirty="0">
                <a:solidFill>
                  <a:srgbClr val="3182F6"/>
                </a:solidFill>
                <a:latin typeface="맑은 고딕" pitchFamily="34" charset="0"/>
                <a:ea typeface="맑은 고딕" pitchFamily="34" charset="-122"/>
                <a:cs typeface="맑은 고딕" pitchFamily="34" charset="-120"/>
              </a:rPr>
              <a:t>4 · 터치하기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marL="0" indent="0" algn="ctr">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3182F6"/>
          </a:solidFill>
          <a:ln w="12700">
            <a:solidFill>
              <a:srgbClr val="3182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marL="0" indent="0">
              <a:buNone/>
            </a:pPr>
            <a:r>
              <a:rPr lang="ko-KR" altLang="en-US" sz="3400" b="1" dirty="0">
                <a:solidFill>
                  <a:srgbClr val="191F28"/>
                </a:solidFill>
                <a:latin typeface="맑은 고딕" pitchFamily="34" charset="0"/>
                <a:ea typeface="맑은 고딕" pitchFamily="34" charset="-122"/>
                <a:cs typeface="맑은 고딕" pitchFamily="34" charset="-120"/>
              </a:rPr>
              <a:t>오늘부터</a:t>
            </a:r>
            <a:r>
              <a:rPr lang="en-US" sz="3400" b="1" dirty="0">
                <a:solidFill>
                  <a:srgbClr val="191F28"/>
                </a:solidFill>
                <a:latin typeface="맑은 고딕" pitchFamily="34" charset="0"/>
                <a:ea typeface="맑은 고딕" pitchFamily="34" charset="-122"/>
                <a:cs typeface="맑은 고딕" pitchFamily="34" charset="-120"/>
              </a:rPr>
              <a:t>, </a:t>
            </a:r>
            <a:r>
              <a:rPr lang="ko-KR" altLang="en-US" sz="3400" b="1" dirty="0">
                <a:solidFill>
                  <a:srgbClr val="191F28"/>
                </a:solidFill>
                <a:latin typeface="맑은 고딕" pitchFamily="34" charset="0"/>
                <a:ea typeface="맑은 고딕" pitchFamily="34" charset="-122"/>
                <a:cs typeface="맑은 고딕" pitchFamily="34" charset="-120"/>
              </a:rPr>
              <a:t>고객 찾기는 그만</a:t>
            </a:r>
            <a:endParaRPr lang="en-US" sz="3400" dirty="0"/>
          </a:p>
        </p:txBody>
      </p:sp>
      <p:sp>
        <p:nvSpPr>
          <p:cNvPr id="13" name="Shape 11"/>
          <p:cNvSpPr/>
          <p:nvPr/>
        </p:nvSpPr>
        <p:spPr>
          <a:xfrm>
            <a:off x="548640" y="1619787"/>
            <a:ext cx="2072579" cy="3246120"/>
          </a:xfrm>
          <a:prstGeom prst="roundRect">
            <a:avLst>
              <a:gd name="adj" fmla="val 7059"/>
            </a:avLst>
          </a:prstGeom>
          <a:solidFill>
            <a:srgbClr val="3182F6"/>
          </a:solidFill>
          <a:ln w="12700">
            <a:solidFill>
              <a:srgbClr val="3182F6"/>
            </a:solidFill>
            <a:prstDash val="solid"/>
          </a:ln>
        </p:spPr>
      </p:sp>
      <p:sp>
        <p:nvSpPr>
          <p:cNvPr id="14" name="Text 12"/>
          <p:cNvSpPr txBox="1"/>
          <p:nvPr/>
        </p:nvSpPr>
        <p:spPr>
          <a:xfrm>
            <a:off x="777240" y="1820955"/>
            <a:ext cx="1706819"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DAY 1</a:t>
            </a:r>
            <a:endParaRPr lang="en-US" sz="1400" dirty="0"/>
          </a:p>
        </p:txBody>
      </p:sp>
      <p:sp>
        <p:nvSpPr>
          <p:cNvPr id="15" name="Text 13"/>
          <p:cNvSpPr txBox="1"/>
          <p:nvPr/>
        </p:nvSpPr>
        <p:spPr>
          <a:xfrm>
            <a:off x="777240"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FFFFFF"/>
                </a:solidFill>
                <a:latin typeface="맑은 고딕" pitchFamily="34" charset="0"/>
                <a:ea typeface="맑은 고딕" pitchFamily="34" charset="-122"/>
                <a:cs typeface="맑은 고딕" pitchFamily="34" charset="-120"/>
              </a:rPr>
              <a:t>MeAI 홈 열기</a:t>
            </a:r>
            <a:endParaRPr lang="en-US" sz="2000" dirty="0"/>
          </a:p>
        </p:txBody>
      </p:sp>
      <p:sp>
        <p:nvSpPr>
          <p:cNvPr id="16" name="Text 14"/>
          <p:cNvSpPr txBox="1"/>
          <p:nvPr/>
        </p:nvSpPr>
        <p:spPr>
          <a:xfrm>
            <a:off x="777240"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숫자 4개와</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추천 카드 3장 읽기</a:t>
            </a:r>
            <a:endParaRPr lang="en-US" sz="1450" dirty="0"/>
          </a:p>
        </p:txBody>
      </p:sp>
      <p:sp>
        <p:nvSpPr>
          <p:cNvPr id="17" name="Text 15"/>
          <p:cNvSpPr txBox="1"/>
          <p:nvPr/>
        </p:nvSpPr>
        <p:spPr>
          <a:xfrm>
            <a:off x="777240"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 질문 예시</a:t>
            </a:r>
            <a:endParaRPr lang="en-US" sz="1450" dirty="0"/>
          </a:p>
          <a:p>
            <a:pPr marL="0" indent="0">
              <a:lnSpc>
                <a:spcPct val="120000"/>
              </a:lnSpc>
              <a:buNone/>
            </a:pPr>
            <a:r>
              <a:rPr lang="en-US" sz="1450" dirty="0">
                <a:solidFill>
                  <a:srgbClr val="FFFFFF"/>
                </a:solidFill>
                <a:latin typeface="맑은 고딕" pitchFamily="34" charset="0"/>
                <a:ea typeface="맑은 고딕" pitchFamily="34" charset="-122"/>
                <a:cs typeface="맑은 고딕" pitchFamily="34" charset="-120"/>
              </a:rPr>
              <a:t>하나 눌러 보기</a:t>
            </a:r>
            <a:endParaRPr lang="en-US" sz="1450" dirty="0"/>
          </a:p>
        </p:txBody>
      </p:sp>
      <p:sp>
        <p:nvSpPr>
          <p:cNvPr id="18" name="Shape 16"/>
          <p:cNvSpPr/>
          <p:nvPr/>
        </p:nvSpPr>
        <p:spPr>
          <a:xfrm>
            <a:off x="2804099"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19" name="Text 17"/>
          <p:cNvSpPr txBox="1"/>
          <p:nvPr/>
        </p:nvSpPr>
        <p:spPr>
          <a:xfrm>
            <a:off x="3032699"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2</a:t>
            </a:r>
            <a:endParaRPr lang="en-US" sz="1400" dirty="0"/>
          </a:p>
        </p:txBody>
      </p:sp>
      <p:sp>
        <p:nvSpPr>
          <p:cNvPr id="20" name="Text 18"/>
          <p:cNvSpPr txBox="1"/>
          <p:nvPr/>
        </p:nvSpPr>
        <p:spPr>
          <a:xfrm>
            <a:off x="3032699" y="2186715"/>
            <a:ext cx="1843979" cy="731520"/>
          </a:xfrm>
          <a:prstGeom prst="rect">
            <a:avLst/>
          </a:prstGeom>
          <a:noFill/>
          <a:ln/>
        </p:spPr>
        <p:txBody>
          <a:bodyPr wrap="square" lIns="0" tIns="0" rIns="0" bIns="0" rtlCol="0" anchor="t"/>
          <a:lstStyle/>
          <a:p>
            <a:pPr marL="0" indent="0">
              <a:lnSpc>
                <a:spcPct val="110000"/>
              </a:lnSpc>
              <a:buNone/>
            </a:pPr>
            <a:r>
              <a:rPr lang="en-US" b="1" dirty="0">
                <a:solidFill>
                  <a:srgbClr val="191F28"/>
                </a:solidFill>
                <a:latin typeface="맑은 고딕" pitchFamily="34" charset="0"/>
                <a:ea typeface="맑은 고딕" pitchFamily="34" charset="-122"/>
                <a:cs typeface="맑은 고딕" pitchFamily="34" charset="-120"/>
              </a:rPr>
              <a:t>카드 → 고객찾기</a:t>
            </a:r>
            <a:endParaRPr lang="en-US" dirty="0"/>
          </a:p>
        </p:txBody>
      </p:sp>
      <p:sp>
        <p:nvSpPr>
          <p:cNvPr id="21" name="Text 19"/>
          <p:cNvSpPr txBox="1"/>
          <p:nvPr/>
        </p:nvSpPr>
        <p:spPr>
          <a:xfrm>
            <a:off x="3032699"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한눈에 보기</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6칸 확인</a:t>
            </a:r>
            <a:endParaRPr lang="en-US" sz="1450" dirty="0"/>
          </a:p>
        </p:txBody>
      </p:sp>
      <p:sp>
        <p:nvSpPr>
          <p:cNvPr id="22" name="Text 20"/>
          <p:cNvSpPr txBox="1"/>
          <p:nvPr/>
        </p:nvSpPr>
        <p:spPr>
          <a:xfrm>
            <a:off x="3032699"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추천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눌러 보기</a:t>
            </a:r>
            <a:endParaRPr lang="en-US" sz="1450" dirty="0"/>
          </a:p>
        </p:txBody>
      </p:sp>
      <p:sp>
        <p:nvSpPr>
          <p:cNvPr id="23" name="Shape 21"/>
          <p:cNvSpPr/>
          <p:nvPr/>
        </p:nvSpPr>
        <p:spPr>
          <a:xfrm>
            <a:off x="5059558"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4" name="Text 22"/>
          <p:cNvSpPr txBox="1"/>
          <p:nvPr/>
        </p:nvSpPr>
        <p:spPr>
          <a:xfrm>
            <a:off x="5288158"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3</a:t>
            </a:r>
            <a:endParaRPr lang="en-US" sz="1400" dirty="0"/>
          </a:p>
        </p:txBody>
      </p:sp>
      <p:sp>
        <p:nvSpPr>
          <p:cNvPr id="25" name="Text 23"/>
          <p:cNvSpPr txBox="1"/>
          <p:nvPr/>
        </p:nvSpPr>
        <p:spPr>
          <a:xfrm>
            <a:off x="5288158"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맞춤대화 시작</a:t>
            </a:r>
            <a:endParaRPr lang="en-US" sz="2000" dirty="0"/>
          </a:p>
        </p:txBody>
      </p:sp>
      <p:sp>
        <p:nvSpPr>
          <p:cNvPr id="26" name="Text 24"/>
          <p:cNvSpPr txBox="1"/>
          <p:nvPr/>
        </p:nvSpPr>
        <p:spPr>
          <a:xfrm>
            <a:off x="5288158"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[보장분석 해줘]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다음 질문 2번</a:t>
            </a:r>
            <a:endParaRPr lang="en-US" sz="1450" dirty="0"/>
          </a:p>
        </p:txBody>
      </p:sp>
      <p:sp>
        <p:nvSpPr>
          <p:cNvPr id="27" name="Text 25"/>
          <p:cNvSpPr txBox="1"/>
          <p:nvPr/>
        </p:nvSpPr>
        <p:spPr>
          <a:xfrm>
            <a:off x="5288158"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부족 보장</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3개 메모</a:t>
            </a:r>
            <a:endParaRPr lang="en-US" sz="1450" dirty="0"/>
          </a:p>
        </p:txBody>
      </p:sp>
      <p:sp>
        <p:nvSpPr>
          <p:cNvPr id="28" name="Shape 26"/>
          <p:cNvSpPr/>
          <p:nvPr/>
        </p:nvSpPr>
        <p:spPr>
          <a:xfrm>
            <a:off x="7315017"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29" name="Text 27"/>
          <p:cNvSpPr txBox="1"/>
          <p:nvPr/>
        </p:nvSpPr>
        <p:spPr>
          <a:xfrm>
            <a:off x="7543617"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4</a:t>
            </a:r>
            <a:endParaRPr lang="en-US" sz="1400" dirty="0"/>
          </a:p>
        </p:txBody>
      </p:sp>
      <p:sp>
        <p:nvSpPr>
          <p:cNvPr id="30" name="Text 28"/>
          <p:cNvSpPr txBox="1"/>
          <p:nvPr/>
        </p:nvSpPr>
        <p:spPr>
          <a:xfrm>
            <a:off x="7543617"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그룹으로 찾기</a:t>
            </a:r>
            <a:endParaRPr lang="en-US" sz="2000" dirty="0"/>
          </a:p>
        </p:txBody>
      </p:sp>
      <p:sp>
        <p:nvSpPr>
          <p:cNvPr id="31" name="Text 29"/>
          <p:cNvSpPr txBox="1"/>
          <p:nvPr/>
        </p:nvSpPr>
        <p:spPr>
          <a:xfrm>
            <a:off x="7543617"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[사전동의 만료]</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그룹 확인</a:t>
            </a:r>
            <a:endParaRPr lang="en-US" sz="1450" dirty="0"/>
          </a:p>
        </p:txBody>
      </p:sp>
      <p:sp>
        <p:nvSpPr>
          <p:cNvPr id="32" name="Text 30"/>
          <p:cNvSpPr txBox="1"/>
          <p:nvPr/>
        </p:nvSpPr>
        <p:spPr>
          <a:xfrm>
            <a:off x="7543617"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D-n 짧은 1명께</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재동의 부탁하기</a:t>
            </a:r>
            <a:endParaRPr lang="en-US" sz="1450" dirty="0"/>
          </a:p>
        </p:txBody>
      </p:sp>
      <p:sp>
        <p:nvSpPr>
          <p:cNvPr id="33" name="Shape 31"/>
          <p:cNvSpPr/>
          <p:nvPr/>
        </p:nvSpPr>
        <p:spPr>
          <a:xfrm>
            <a:off x="9570476" y="1619787"/>
            <a:ext cx="2072579" cy="3246120"/>
          </a:xfrm>
          <a:prstGeom prst="roundRect">
            <a:avLst>
              <a:gd name="adj" fmla="val 7059"/>
            </a:avLst>
          </a:prstGeom>
          <a:solidFill>
            <a:srgbClr val="FFFFFF"/>
          </a:solidFill>
          <a:ln w="9525">
            <a:solidFill>
              <a:srgbClr val="E5E8EB"/>
            </a:solidFill>
            <a:prstDash val="solid"/>
          </a:ln>
          <a:effectLst>
            <a:outerShdw blurRad="101600" dist="25400" dir="5400000" algn="bl" rotWithShape="0">
              <a:srgbClr val="000000">
                <a:alpha val="7000"/>
              </a:srgbClr>
            </a:outerShdw>
          </a:effectLst>
        </p:spPr>
      </p:sp>
      <p:sp>
        <p:nvSpPr>
          <p:cNvPr id="34" name="Text 32"/>
          <p:cNvSpPr txBox="1"/>
          <p:nvPr/>
        </p:nvSpPr>
        <p:spPr>
          <a:xfrm>
            <a:off x="9799076" y="1820955"/>
            <a:ext cx="1706819" cy="329184"/>
          </a:xfrm>
          <a:prstGeom prst="rect">
            <a:avLst/>
          </a:prstGeom>
          <a:noFill/>
          <a:ln/>
        </p:spPr>
        <p:txBody>
          <a:bodyPr wrap="square" lIns="0" tIns="0" rIns="0" bIns="0" rtlCol="0" anchor="ctr"/>
          <a:lstStyle/>
          <a:p>
            <a:pPr marL="0" indent="0">
              <a:buNone/>
            </a:pPr>
            <a:r>
              <a:rPr lang="en-US" sz="1400" b="1" dirty="0">
                <a:solidFill>
                  <a:srgbClr val="3182F6"/>
                </a:solidFill>
                <a:latin typeface="맑은 고딕" pitchFamily="34" charset="0"/>
                <a:ea typeface="맑은 고딕" pitchFamily="34" charset="-122"/>
                <a:cs typeface="맑은 고딕" pitchFamily="34" charset="-120"/>
              </a:rPr>
              <a:t>DAY 5</a:t>
            </a:r>
            <a:endParaRPr lang="en-US" sz="1400" dirty="0"/>
          </a:p>
        </p:txBody>
      </p:sp>
      <p:sp>
        <p:nvSpPr>
          <p:cNvPr id="35" name="Text 33"/>
          <p:cNvSpPr txBox="1"/>
          <p:nvPr/>
        </p:nvSpPr>
        <p:spPr>
          <a:xfrm>
            <a:off x="9799076" y="2186715"/>
            <a:ext cx="1752539" cy="731520"/>
          </a:xfrm>
          <a:prstGeom prst="rect">
            <a:avLst/>
          </a:prstGeom>
          <a:noFill/>
          <a:ln/>
        </p:spPr>
        <p:txBody>
          <a:bodyPr wrap="square" lIns="0" tIns="0" rIns="0" bIns="0" rtlCol="0" anchor="t"/>
          <a:lstStyle/>
          <a:p>
            <a:pPr marL="0" indent="0">
              <a:lnSpc>
                <a:spcPct val="110000"/>
              </a:lnSpc>
              <a:buNone/>
            </a:pPr>
            <a:r>
              <a:rPr lang="en-US" sz="2000" b="1" dirty="0">
                <a:solidFill>
                  <a:srgbClr val="191F28"/>
                </a:solidFill>
                <a:latin typeface="맑은 고딕" pitchFamily="34" charset="0"/>
                <a:ea typeface="맑은 고딕" pitchFamily="34" charset="-122"/>
                <a:cs typeface="맑은 고딕" pitchFamily="34" charset="-120"/>
              </a:rPr>
              <a:t>리포트 보내기</a:t>
            </a:r>
            <a:endParaRPr lang="en-US" sz="2000" dirty="0"/>
          </a:p>
        </p:txBody>
      </p:sp>
      <p:sp>
        <p:nvSpPr>
          <p:cNvPr id="36" name="Text 34"/>
          <p:cNvSpPr txBox="1"/>
          <p:nvPr/>
        </p:nvSpPr>
        <p:spPr>
          <a:xfrm>
            <a:off x="9799076" y="2991387"/>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요약</a:t>
            </a:r>
            <a:r>
              <a:rPr lang="en-US" sz="1450" dirty="0">
                <a:solidFill>
                  <a:srgbClr val="4E5968"/>
                </a:solidFill>
                <a:latin typeface="맑은 고딕" pitchFamily="34" charset="0"/>
                <a:ea typeface="맑은 고딕" pitchFamily="34" charset="-122"/>
                <a:cs typeface="맑은 고딕" pitchFamily="34" charset="-120"/>
              </a:rPr>
              <a:t> </a:t>
            </a:r>
            <a:r>
              <a:rPr lang="en-US" sz="1450" dirty="0" err="1">
                <a:solidFill>
                  <a:srgbClr val="4E5968"/>
                </a:solidFill>
                <a:latin typeface="맑은 고딕" pitchFamily="34" charset="0"/>
                <a:ea typeface="맑은 고딕" pitchFamily="34" charset="-122"/>
                <a:cs typeface="맑은 고딕" pitchFamily="34" charset="-120"/>
              </a:rPr>
              <a:t>리포트</a:t>
            </a:r>
            <a:r>
              <a:rPr lang="en-US" sz="1450" dirty="0">
                <a:solidFill>
                  <a:srgbClr val="4E5968"/>
                </a:solidFill>
                <a:latin typeface="맑은 고딕" pitchFamily="34" charset="0"/>
                <a:ea typeface="맑은 고딕" pitchFamily="34" charset="-122"/>
                <a:cs typeface="맑은 고딕" pitchFamily="34" charset="-120"/>
              </a:rPr>
              <a:t> </a:t>
            </a:r>
            <a:r>
              <a:rPr lang="ko-KR" altLang="en-US" sz="1450" dirty="0">
                <a:solidFill>
                  <a:srgbClr val="4E5968"/>
                </a:solidFill>
                <a:latin typeface="맑은 고딕" pitchFamily="34" charset="0"/>
                <a:ea typeface="맑은 고딕" pitchFamily="34" charset="-122"/>
                <a:cs typeface="맑은 고딕" pitchFamily="34" charset="-120"/>
              </a:rPr>
              <a:t>발송</a:t>
            </a:r>
            <a:endParaRPr lang="en-US" sz="1450" dirty="0"/>
          </a:p>
        </p:txBody>
      </p:sp>
      <p:sp>
        <p:nvSpPr>
          <p:cNvPr id="37" name="Text 35"/>
          <p:cNvSpPr txBox="1"/>
          <p:nvPr/>
        </p:nvSpPr>
        <p:spPr>
          <a:xfrm>
            <a:off x="9799076" y="3887499"/>
            <a:ext cx="1752539" cy="822960"/>
          </a:xfrm>
          <a:prstGeom prst="rect">
            <a:avLst/>
          </a:prstGeom>
          <a:noFill/>
          <a:ln/>
        </p:spPr>
        <p:txBody>
          <a:bodyPr wrap="square" lIns="0" tIns="0" rIns="0" bIns="0" rtlCol="0" anchor="t"/>
          <a:lstStyle/>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 좋았던 질문</a:t>
            </a:r>
            <a:endParaRPr lang="en-US" sz="1450" dirty="0"/>
          </a:p>
          <a:p>
            <a:pPr marL="0" indent="0">
              <a:lnSpc>
                <a:spcPct val="120000"/>
              </a:lnSpc>
              <a:buNone/>
            </a:pPr>
            <a:r>
              <a:rPr lang="en-US" sz="1450" dirty="0">
                <a:solidFill>
                  <a:srgbClr val="4E5968"/>
                </a:solidFill>
                <a:latin typeface="맑은 고딕" pitchFamily="34" charset="0"/>
                <a:ea typeface="맑은 고딕" pitchFamily="34" charset="-122"/>
                <a:cs typeface="맑은 고딕" pitchFamily="34" charset="-120"/>
              </a:rPr>
              <a:t>나의 질문에 저장</a:t>
            </a:r>
            <a:endParaRPr lang="en-US" sz="1450" dirty="0"/>
          </a:p>
        </p:txBody>
      </p:sp>
      <p:sp>
        <p:nvSpPr>
          <p:cNvPr id="38" name="Shape 36"/>
          <p:cNvSpPr/>
          <p:nvPr/>
        </p:nvSpPr>
        <p:spPr>
          <a:xfrm>
            <a:off x="548640" y="5486400"/>
            <a:ext cx="11094415" cy="713232"/>
          </a:xfrm>
          <a:prstGeom prst="roundRect">
            <a:avLst>
              <a:gd name="adj" fmla="val 17949"/>
            </a:avLst>
          </a:prstGeom>
          <a:solidFill>
            <a:srgbClr val="191F28"/>
          </a:solidFill>
          <a:ln w="12700">
            <a:solidFill>
              <a:srgbClr val="191F28"/>
            </a:solidFill>
            <a:prstDash val="solid"/>
          </a:ln>
        </p:spPr>
      </p:sp>
      <p:sp>
        <p:nvSpPr>
          <p:cNvPr id="39" name="Text 37"/>
          <p:cNvSpPr txBox="1"/>
          <p:nvPr/>
        </p:nvSpPr>
        <p:spPr>
          <a:xfrm>
            <a:off x="868680" y="5486400"/>
            <a:ext cx="10454335" cy="713232"/>
          </a:xfrm>
          <a:prstGeom prst="rect">
            <a:avLst/>
          </a:prstGeom>
          <a:noFill/>
          <a:ln/>
        </p:spPr>
        <p:txBody>
          <a:bodyPr wrap="square" lIns="0" tIns="0" rIns="0" bIns="0" rtlCol="0" anchor="ctr"/>
          <a:lstStyle/>
          <a:p>
            <a:pPr marL="0" indent="0">
              <a:buNone/>
            </a:pPr>
            <a:r>
              <a:rPr lang="ko-KR" altLang="en-US" sz="2000" b="1" dirty="0">
                <a:solidFill>
                  <a:srgbClr val="C9E2FF"/>
                </a:solidFill>
                <a:latin typeface="맑은 고딕" pitchFamily="34" charset="0"/>
                <a:ea typeface="맑은 고딕" pitchFamily="34" charset="-122"/>
                <a:cs typeface="맑은 고딕" pitchFamily="34" charset="-120"/>
              </a:rPr>
              <a:t>찾아가는 영업으로</a:t>
            </a:r>
            <a:r>
              <a:rPr lang="en-US" sz="2000" b="1" dirty="0">
                <a:solidFill>
                  <a:srgbClr val="C9E2FF"/>
                </a:solidFill>
                <a:latin typeface="맑은 고딕" pitchFamily="34" charset="0"/>
                <a:ea typeface="맑은 고딕" pitchFamily="34" charset="-122"/>
                <a:cs typeface="맑은 고딕" pitchFamily="34" charset="-120"/>
              </a:rPr>
              <a:t>  </a:t>
            </a:r>
            <a:r>
              <a:rPr lang="en-US" sz="2000" b="1" dirty="0">
                <a:solidFill>
                  <a:srgbClr val="FFFFFF"/>
                </a:solidFill>
                <a:latin typeface="맑은 고딕" pitchFamily="34" charset="0"/>
                <a:ea typeface="맑은 고딕" pitchFamily="34" charset="-122"/>
                <a:cs typeface="맑은 고딕" pitchFamily="34" charset="-120"/>
              </a:rPr>
              <a:t>“MeAI </a:t>
            </a:r>
            <a:r>
              <a:rPr lang="en-US" sz="2000" b="1" dirty="0" err="1">
                <a:solidFill>
                  <a:srgbClr val="FFFFFF"/>
                </a:solidFill>
                <a:latin typeface="맑은 고딕" pitchFamily="34" charset="0"/>
                <a:ea typeface="맑은 고딕" pitchFamily="34" charset="-122"/>
                <a:cs typeface="맑은 고딕" pitchFamily="34" charset="-120"/>
              </a:rPr>
              <a:t>홈에서</a:t>
            </a:r>
            <a:r>
              <a:rPr lang="en-US" sz="2000" b="1" dirty="0">
                <a:solidFill>
                  <a:srgbClr val="FFFFFF"/>
                </a:solidFill>
                <a:latin typeface="맑은 고딕" pitchFamily="34" charset="0"/>
                <a:ea typeface="맑은 고딕" pitchFamily="34" charset="-122"/>
                <a:cs typeface="맑은 고딕" pitchFamily="34" charset="-120"/>
              </a:rPr>
              <a:t> </a:t>
            </a:r>
            <a:r>
              <a:rPr lang="ko-KR" altLang="en-US" sz="2000" b="1" dirty="0">
                <a:solidFill>
                  <a:srgbClr val="FFFFFF"/>
                </a:solidFill>
                <a:latin typeface="맑은 고딕" pitchFamily="34" charset="0"/>
                <a:ea typeface="맑은 고딕" pitchFamily="34" charset="-122"/>
                <a:cs typeface="맑은 고딕" pitchFamily="34" charset="-120"/>
              </a:rPr>
              <a:t>영업을 시작</a:t>
            </a:r>
            <a:r>
              <a:rPr lang="en-US" sz="2000" b="1" dirty="0">
                <a:solidFill>
                  <a:srgbClr val="FFFFFF"/>
                </a:solidFill>
                <a:latin typeface="맑은 고딕" pitchFamily="34" charset="0"/>
                <a:ea typeface="맑은 고딕" pitchFamily="34" charset="-122"/>
                <a:cs typeface="맑은 고딕" pitchFamily="34" charset="-120"/>
              </a:rPr>
              <a:t>”</a:t>
            </a:r>
            <a:endParaRPr lang="en-US" sz="2000" dirty="0"/>
          </a:p>
        </p:txBody>
      </p:sp>
      <p:sp>
        <p:nvSpPr>
          <p:cNvPr id="40" name="Text 3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41" name="Text 3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8B95A1"/>
                </a:solidFill>
                <a:latin typeface="맑은 고딕" pitchFamily="34" charset="0"/>
                <a:ea typeface="맑은 고딕" pitchFamily="34" charset="-122"/>
                <a:cs typeface="맑은 고딕" pitchFamily="34" charset="-120"/>
              </a:rPr>
              <a:t>24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3182F6"/>
        </a:solidFill>
        <a:effectLst/>
      </p:bgPr>
    </p:bg>
    <p:spTree>
      <p:nvGrpSpPr>
        <p:cNvPr id="1" name=""/>
        <p:cNvGrpSpPr/>
        <p:nvPr/>
      </p:nvGrpSpPr>
      <p:grpSpPr>
        <a:xfrm>
          <a:off x="0" y="0"/>
          <a:ext cx="0" cy="0"/>
          <a:chOff x="0" y="0"/>
          <a:chExt cx="0" cy="0"/>
        </a:xfrm>
      </p:grpSpPr>
      <p:sp>
        <p:nvSpPr>
          <p:cNvPr id="2" name="Text 0"/>
          <p:cNvSpPr txBox="1"/>
          <p:nvPr/>
        </p:nvSpPr>
        <p:spPr>
          <a:xfrm>
            <a:off x="6522415" y="731520"/>
            <a:ext cx="5120640" cy="2194560"/>
          </a:xfrm>
          <a:prstGeom prst="rect">
            <a:avLst/>
          </a:prstGeom>
          <a:noFill/>
          <a:ln/>
        </p:spPr>
        <p:txBody>
          <a:bodyPr wrap="square" lIns="0" tIns="0" rIns="0" bIns="0" rtlCol="0" anchor="t"/>
          <a:lstStyle/>
          <a:p>
            <a:pPr marL="0" indent="0" algn="r">
              <a:buNone/>
            </a:pPr>
            <a:r>
              <a:rPr lang="en-US" sz="12000" b="1" dirty="0">
                <a:solidFill>
                  <a:srgbClr val="FFFFFF">
                    <a:alpha val="18000"/>
                  </a:srgbClr>
                </a:solidFill>
                <a:latin typeface="맑은 고딕" pitchFamily="34" charset="0"/>
                <a:ea typeface="맑은 고딕" pitchFamily="34" charset="-122"/>
                <a:cs typeface="맑은 고딕" pitchFamily="34" charset="-120"/>
              </a:rPr>
              <a:t>MeAI</a:t>
            </a:r>
            <a:endParaRPr lang="en-US" sz="12000" dirty="0"/>
          </a:p>
        </p:txBody>
      </p:sp>
      <p:sp>
        <p:nvSpPr>
          <p:cNvPr id="3" name="Text 1"/>
          <p:cNvSpPr txBox="1"/>
          <p:nvPr/>
        </p:nvSpPr>
        <p:spPr>
          <a:xfrm>
            <a:off x="731520" y="502920"/>
            <a:ext cx="3657600" cy="329184"/>
          </a:xfrm>
          <a:prstGeom prst="rect">
            <a:avLst/>
          </a:prstGeom>
          <a:noFill/>
          <a:ln/>
        </p:spPr>
        <p:txBody>
          <a:bodyPr wrap="square" lIns="0" tIns="0" rIns="0" bIns="0" rtlCol="0" anchor="ctr"/>
          <a:lstStyle/>
          <a:p>
            <a:pPr marL="0" indent="0">
              <a:buNone/>
            </a:pPr>
            <a:r>
              <a:rPr lang="en-US" sz="1400" b="1" dirty="0">
                <a:solidFill>
                  <a:srgbClr val="C9E2FF"/>
                </a:solidFill>
                <a:latin typeface="맑은 고딕" pitchFamily="34" charset="0"/>
                <a:ea typeface="맑은 고딕" pitchFamily="34" charset="-122"/>
                <a:cs typeface="맑은 고딕" pitchFamily="34" charset="-120"/>
              </a:rPr>
              <a:t>마무리</a:t>
            </a:r>
            <a:endParaRPr lang="en-US" sz="1400" dirty="0"/>
          </a:p>
        </p:txBody>
      </p:sp>
      <p:sp>
        <p:nvSpPr>
          <p:cNvPr id="4" name="Shape 2"/>
          <p:cNvSpPr/>
          <p:nvPr/>
        </p:nvSpPr>
        <p:spPr>
          <a:xfrm>
            <a:off x="731520" y="896112"/>
            <a:ext cx="884936" cy="365760"/>
          </a:xfrm>
          <a:prstGeom prst="roundRect">
            <a:avLst>
              <a:gd name="adj" fmla="val 50000"/>
            </a:avLst>
          </a:prstGeom>
          <a:solidFill>
            <a:srgbClr val="1B64DA"/>
          </a:solidFill>
          <a:ln w="12700">
            <a:solidFill>
              <a:srgbClr val="1B64DA"/>
            </a:solidFill>
            <a:prstDash val="solid"/>
          </a:ln>
        </p:spPr>
      </p:sp>
      <p:sp>
        <p:nvSpPr>
          <p:cNvPr id="5" name="Text 3"/>
          <p:cNvSpPr txBox="1"/>
          <p:nvPr/>
        </p:nvSpPr>
        <p:spPr>
          <a:xfrm>
            <a:off x="731520"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1 찾기</a:t>
            </a:r>
            <a:endParaRPr lang="en-US" sz="1400" dirty="0"/>
          </a:p>
        </p:txBody>
      </p:sp>
      <p:sp>
        <p:nvSpPr>
          <p:cNvPr id="6" name="Shape 4"/>
          <p:cNvSpPr/>
          <p:nvPr/>
        </p:nvSpPr>
        <p:spPr>
          <a:xfrm>
            <a:off x="1744472" y="896112"/>
            <a:ext cx="1062736" cy="365760"/>
          </a:xfrm>
          <a:prstGeom prst="roundRect">
            <a:avLst>
              <a:gd name="adj" fmla="val 50000"/>
            </a:avLst>
          </a:prstGeom>
          <a:solidFill>
            <a:srgbClr val="1B64DA"/>
          </a:solidFill>
          <a:ln w="12700">
            <a:solidFill>
              <a:srgbClr val="1B64DA"/>
            </a:solidFill>
            <a:prstDash val="solid"/>
          </a:ln>
        </p:spPr>
      </p:sp>
      <p:sp>
        <p:nvSpPr>
          <p:cNvPr id="7" name="Text 5"/>
          <p:cNvSpPr txBox="1"/>
          <p:nvPr/>
        </p:nvSpPr>
        <p:spPr>
          <a:xfrm>
            <a:off x="1744472" y="896112"/>
            <a:ext cx="10627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2 고르기</a:t>
            </a:r>
            <a:endParaRPr lang="en-US" sz="1400" dirty="0"/>
          </a:p>
        </p:txBody>
      </p:sp>
      <p:sp>
        <p:nvSpPr>
          <p:cNvPr id="8" name="Shape 6"/>
          <p:cNvSpPr/>
          <p:nvPr/>
        </p:nvSpPr>
        <p:spPr>
          <a:xfrm>
            <a:off x="2935224" y="896112"/>
            <a:ext cx="884936" cy="365760"/>
          </a:xfrm>
          <a:prstGeom prst="roundRect">
            <a:avLst>
              <a:gd name="adj" fmla="val 50000"/>
            </a:avLst>
          </a:prstGeom>
          <a:solidFill>
            <a:srgbClr val="1B64DA"/>
          </a:solidFill>
          <a:ln w="12700">
            <a:solidFill>
              <a:srgbClr val="1B64DA"/>
            </a:solidFill>
            <a:prstDash val="solid"/>
          </a:ln>
        </p:spPr>
      </p:sp>
      <p:sp>
        <p:nvSpPr>
          <p:cNvPr id="9" name="Text 7"/>
          <p:cNvSpPr txBox="1"/>
          <p:nvPr/>
        </p:nvSpPr>
        <p:spPr>
          <a:xfrm>
            <a:off x="2935224" y="896112"/>
            <a:ext cx="8849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3 묻기</a:t>
            </a:r>
            <a:endParaRPr lang="en-US" sz="1400" dirty="0"/>
          </a:p>
        </p:txBody>
      </p:sp>
      <p:sp>
        <p:nvSpPr>
          <p:cNvPr id="10" name="Shape 8"/>
          <p:cNvSpPr/>
          <p:nvPr/>
        </p:nvSpPr>
        <p:spPr>
          <a:xfrm>
            <a:off x="3948176" y="896112"/>
            <a:ext cx="1240536" cy="365760"/>
          </a:xfrm>
          <a:prstGeom prst="roundRect">
            <a:avLst>
              <a:gd name="adj" fmla="val 50000"/>
            </a:avLst>
          </a:prstGeom>
          <a:solidFill>
            <a:srgbClr val="1B64DA"/>
          </a:solidFill>
          <a:ln w="12700">
            <a:solidFill>
              <a:srgbClr val="1B64DA"/>
            </a:solidFill>
            <a:prstDash val="solid"/>
          </a:ln>
        </p:spPr>
      </p:sp>
      <p:sp>
        <p:nvSpPr>
          <p:cNvPr id="11" name="Text 9"/>
          <p:cNvSpPr txBox="1"/>
          <p:nvPr/>
        </p:nvSpPr>
        <p:spPr>
          <a:xfrm>
            <a:off x="3948176" y="896112"/>
            <a:ext cx="1240536"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4 터치하기</a:t>
            </a:r>
            <a:endParaRPr lang="en-US" sz="1400" dirty="0"/>
          </a:p>
        </p:txBody>
      </p:sp>
      <p:sp>
        <p:nvSpPr>
          <p:cNvPr id="13" name="Text 11"/>
          <p:cNvSpPr txBox="1"/>
          <p:nvPr/>
        </p:nvSpPr>
        <p:spPr>
          <a:xfrm>
            <a:off x="731520" y="3749040"/>
            <a:ext cx="8229600" cy="502920"/>
          </a:xfrm>
          <a:prstGeom prst="rect">
            <a:avLst/>
          </a:prstGeom>
          <a:noFill/>
          <a:ln/>
        </p:spPr>
        <p:txBody>
          <a:bodyPr wrap="square" lIns="0" tIns="0" rIns="0" bIns="0" rtlCol="0" anchor="ctr"/>
          <a:lstStyle/>
          <a:p>
            <a:pPr marL="0" indent="0">
              <a:buNone/>
            </a:pPr>
            <a:r>
              <a:rPr lang="ko-KR" altLang="en-US" sz="2400" dirty="0">
                <a:solidFill>
                  <a:srgbClr val="FFFFFF"/>
                </a:solidFill>
                <a:latin typeface="맑은 고딕" pitchFamily="34" charset="0"/>
                <a:ea typeface="맑은 고딕" pitchFamily="34" charset="-122"/>
                <a:cs typeface="맑은 고딕" pitchFamily="34" charset="-120"/>
              </a:rPr>
              <a:t>찾는 영업에서 찾아가는 영업으로</a:t>
            </a:r>
            <a:r>
              <a:rPr lang="en-US" altLang="ko-KR" sz="2400" dirty="0">
                <a:solidFill>
                  <a:srgbClr val="FFFFFF"/>
                </a:solidFill>
                <a:latin typeface="맑은 고딕" pitchFamily="34" charset="0"/>
                <a:ea typeface="맑은 고딕" pitchFamily="34" charset="-122"/>
                <a:cs typeface="맑은 고딕" pitchFamily="34" charset="-120"/>
              </a:rPr>
              <a:t>, </a:t>
            </a:r>
            <a:r>
              <a:rPr lang="en-US" altLang="ko-KR" sz="2400" dirty="0" err="1">
                <a:solidFill>
                  <a:srgbClr val="FFFFFF"/>
                </a:solidFill>
                <a:latin typeface="맑은 고딕" pitchFamily="34" charset="0"/>
                <a:ea typeface="맑은 고딕" pitchFamily="34" charset="-122"/>
                <a:cs typeface="맑은 고딕" pitchFamily="34" charset="-120"/>
              </a:rPr>
              <a:t>MeAI</a:t>
            </a:r>
            <a:r>
              <a:rPr lang="ko-KR" altLang="en-US" sz="2400" dirty="0">
                <a:solidFill>
                  <a:srgbClr val="FFFFFF"/>
                </a:solidFill>
                <a:latin typeface="맑은 고딕" pitchFamily="34" charset="0"/>
                <a:ea typeface="맑은 고딕" pitchFamily="34" charset="-122"/>
                <a:cs typeface="맑은 고딕" pitchFamily="34" charset="-120"/>
              </a:rPr>
              <a:t>가 함께합니다</a:t>
            </a:r>
            <a:endParaRPr lang="en-US" sz="2400" dirty="0"/>
          </a:p>
        </p:txBody>
      </p:sp>
      <p:sp>
        <p:nvSpPr>
          <p:cNvPr id="14" name="Shape 12"/>
          <p:cNvSpPr/>
          <p:nvPr/>
        </p:nvSpPr>
        <p:spPr>
          <a:xfrm>
            <a:off x="731520" y="4480560"/>
            <a:ext cx="3638550" cy="457200"/>
          </a:xfrm>
          <a:prstGeom prst="roundRect">
            <a:avLst>
              <a:gd name="adj" fmla="val 50000"/>
            </a:avLst>
          </a:prstGeom>
          <a:solidFill>
            <a:srgbClr val="1B64DA"/>
          </a:solidFill>
          <a:ln w="12700">
            <a:solidFill>
              <a:srgbClr val="1B64DA"/>
            </a:solidFill>
            <a:prstDash val="solid"/>
          </a:ln>
        </p:spPr>
      </p:sp>
      <p:sp>
        <p:nvSpPr>
          <p:cNvPr id="15" name="Text 13"/>
          <p:cNvSpPr txBox="1"/>
          <p:nvPr/>
        </p:nvSpPr>
        <p:spPr>
          <a:xfrm>
            <a:off x="731520" y="4480560"/>
            <a:ext cx="363855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매일 아침 MeAI 홈 · 오늘 한 분께 터치</a:t>
            </a:r>
            <a:endParaRPr lang="en-US" sz="1500" dirty="0"/>
          </a:p>
        </p:txBody>
      </p:sp>
      <p:sp>
        <p:nvSpPr>
          <p:cNvPr id="16" name="Shape 14"/>
          <p:cNvSpPr/>
          <p:nvPr/>
        </p:nvSpPr>
        <p:spPr>
          <a:xfrm>
            <a:off x="4552950" y="4480560"/>
            <a:ext cx="2125980" cy="457200"/>
          </a:xfrm>
          <a:prstGeom prst="roundRect">
            <a:avLst>
              <a:gd name="adj" fmla="val 50000"/>
            </a:avLst>
          </a:prstGeom>
          <a:solidFill>
            <a:srgbClr val="1B64DA"/>
          </a:solidFill>
          <a:ln w="12700">
            <a:solidFill>
              <a:srgbClr val="1B64DA"/>
            </a:solidFill>
            <a:prstDash val="solid"/>
          </a:ln>
        </p:spPr>
      </p:sp>
      <p:sp>
        <p:nvSpPr>
          <p:cNvPr id="17" name="Text 15"/>
          <p:cNvSpPr txBox="1"/>
          <p:nvPr/>
        </p:nvSpPr>
        <p:spPr>
          <a:xfrm>
            <a:off x="4552950" y="4480560"/>
            <a:ext cx="21259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맑은 고딕" pitchFamily="34" charset="0"/>
                <a:ea typeface="맑은 고딕" pitchFamily="34" charset="-122"/>
                <a:cs typeface="맑은 고딕" pitchFamily="34" charset="-120"/>
              </a:rPr>
              <a:t>문의 · 세일즈혁신TF</a:t>
            </a:r>
            <a:endParaRPr lang="en-US" sz="1500" dirty="0"/>
          </a:p>
        </p:txBody>
      </p:sp>
      <p:sp>
        <p:nvSpPr>
          <p:cNvPr id="20" name="Text 18"/>
          <p:cNvSpPr txBox="1"/>
          <p:nvPr/>
        </p:nvSpPr>
        <p:spPr>
          <a:xfrm>
            <a:off x="548640" y="6473952"/>
            <a:ext cx="5486400" cy="228600"/>
          </a:xfrm>
          <a:prstGeom prst="rect">
            <a:avLst/>
          </a:prstGeom>
          <a:noFill/>
          <a:ln/>
        </p:spPr>
        <p:txBody>
          <a:bodyPr wrap="square" lIns="0" tIns="0" rIns="0" bIns="0" rtlCol="0" anchor="t"/>
          <a:lstStyle/>
          <a:p>
            <a:pPr marL="0" indent="0">
              <a:buNone/>
            </a:pPr>
            <a:r>
              <a:rPr lang="en-US" sz="1000" dirty="0">
                <a:solidFill>
                  <a:srgbClr val="FFFFFF">
                    <a:alpha val="80000"/>
                  </a:srgbClr>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21" name="Text 19"/>
          <p:cNvSpPr txBox="1"/>
          <p:nvPr/>
        </p:nvSpPr>
        <p:spPr>
          <a:xfrm>
            <a:off x="10728655" y="6473952"/>
            <a:ext cx="914400" cy="228600"/>
          </a:xfrm>
          <a:prstGeom prst="rect">
            <a:avLst/>
          </a:prstGeom>
          <a:noFill/>
          <a:ln/>
        </p:spPr>
        <p:txBody>
          <a:bodyPr wrap="square" lIns="0" tIns="0" rIns="0" bIns="0" rtlCol="0" anchor="t"/>
          <a:lstStyle/>
          <a:p>
            <a:pPr marL="0" indent="0" algn="r">
              <a:buNone/>
            </a:pPr>
            <a:r>
              <a:rPr lang="en-US" sz="1000" dirty="0">
                <a:solidFill>
                  <a:srgbClr val="FFFFFF"/>
                </a:solidFill>
                <a:latin typeface="맑은 고딕" pitchFamily="34" charset="0"/>
                <a:ea typeface="맑은 고딕" pitchFamily="34" charset="-122"/>
              </a:rPr>
              <a:t>25</a:t>
            </a:r>
            <a:endParaRPr lang="en-US" sz="1000" dirty="0"/>
          </a:p>
        </p:txBody>
      </p:sp>
      <p:sp>
        <p:nvSpPr>
          <p:cNvPr id="23" name="Text 2">
            <a:extLst>
              <a:ext uri="{FF2B5EF4-FFF2-40B4-BE49-F238E27FC236}">
                <a16:creationId xmlns:a16="http://schemas.microsoft.com/office/drawing/2014/main" id="{88553DEF-B695-4614-A4F3-CB4A65618DFB}"/>
              </a:ext>
            </a:extLst>
          </p:cNvPr>
          <p:cNvSpPr txBox="1"/>
          <p:nvPr/>
        </p:nvSpPr>
        <p:spPr>
          <a:xfrm>
            <a:off x="731520" y="1920240"/>
            <a:ext cx="5138057" cy="2011680"/>
          </a:xfrm>
          <a:prstGeom prst="rect">
            <a:avLst/>
          </a:prstGeom>
          <a:noFill/>
          <a:ln/>
        </p:spPr>
        <p:txBody>
          <a:bodyPr wrap="square" lIns="0" tIns="0" rIns="0" bIns="0" rtlCol="0" anchor="t"/>
          <a:lstStyle/>
          <a:p>
            <a:pPr marL="0" indent="0" algn="ctr">
              <a:lnSpc>
                <a:spcPct val="110000"/>
              </a:lnSpc>
              <a:buNone/>
            </a:pPr>
            <a:r>
              <a:rPr lang="ko-KR" altLang="en-US" sz="4600" b="1" dirty="0">
                <a:solidFill>
                  <a:srgbClr val="FFFFFF"/>
                </a:solidFill>
                <a:latin typeface="맑은 고딕" pitchFamily="34" charset="0"/>
                <a:ea typeface="맑은 고딕" pitchFamily="34" charset="-122"/>
                <a:cs typeface="맑은 고딕" pitchFamily="34" charset="-120"/>
              </a:rPr>
              <a:t>나만의 영업비서</a:t>
            </a:r>
            <a:r>
              <a:rPr lang="en-US" altLang="ko-KR" sz="4600" b="1" dirty="0">
                <a:solidFill>
                  <a:srgbClr val="FFFFFF"/>
                </a:solidFill>
                <a:latin typeface="맑은 고딕" pitchFamily="34" charset="0"/>
                <a:ea typeface="맑은 고딕" pitchFamily="34" charset="-122"/>
                <a:cs typeface="맑은 고딕" pitchFamily="34" charset="-120"/>
              </a:rPr>
              <a:t>,</a:t>
            </a:r>
          </a:p>
          <a:p>
            <a:pPr marL="0" indent="0" algn="ctr">
              <a:lnSpc>
                <a:spcPct val="110000"/>
              </a:lnSpc>
              <a:buNone/>
            </a:pPr>
            <a:r>
              <a:rPr lang="en-US" sz="4600" b="1" dirty="0">
                <a:solidFill>
                  <a:srgbClr val="FFFFFF"/>
                </a:solidFill>
                <a:latin typeface="맑은 고딕" pitchFamily="34" charset="0"/>
                <a:ea typeface="맑은 고딕" pitchFamily="34" charset="-122"/>
                <a:cs typeface="맑은 고딕" pitchFamily="34" charset="-120"/>
              </a:rPr>
              <a:t>“</a:t>
            </a:r>
            <a:r>
              <a:rPr lang="en-US" sz="4600" b="1" dirty="0" err="1">
                <a:solidFill>
                  <a:srgbClr val="FFFFFF"/>
                </a:solidFill>
                <a:latin typeface="맑은 고딕" pitchFamily="34" charset="0"/>
                <a:ea typeface="맑은 고딕" pitchFamily="34" charset="-122"/>
                <a:cs typeface="맑은 고딕" pitchFamily="34" charset="-120"/>
              </a:rPr>
              <a:t>MeAI</a:t>
            </a:r>
            <a:r>
              <a:rPr lang="en-US" sz="4600" b="1" dirty="0">
                <a:solidFill>
                  <a:srgbClr val="FFFFFF"/>
                </a:solidFill>
                <a:latin typeface="맑은 고딕" pitchFamily="34" charset="0"/>
                <a:ea typeface="맑은 고딕" pitchFamily="34" charset="-122"/>
                <a:cs typeface="맑은 고딕" pitchFamily="34" charset="-120"/>
              </a:rPr>
              <a:t> 홈” OPEN</a:t>
            </a:r>
            <a:endParaRPr lang="en-US" sz="4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1 · 찾기</a:t>
            </a:r>
            <a:endParaRPr lang="en-US" sz="1300" dirty="0"/>
          </a:p>
        </p:txBody>
      </p:sp>
      <p:sp>
        <p:nvSpPr>
          <p:cNvPr id="3" name="Shape 1"/>
          <p:cNvSpPr/>
          <p:nvPr/>
        </p:nvSpPr>
        <p:spPr>
          <a:xfrm>
            <a:off x="6668719" y="347472"/>
            <a:ext cx="1188720" cy="310896"/>
          </a:xfrm>
          <a:prstGeom prst="roundRect">
            <a:avLst>
              <a:gd name="adj" fmla="val 50000"/>
            </a:avLst>
          </a:prstGeom>
          <a:solidFill>
            <a:srgbClr val="3182F6"/>
          </a:solidFill>
          <a:ln w="12700">
            <a:solidFill>
              <a:srgbClr val="3182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F2F4F6"/>
          </a:solidFill>
          <a:ln w="12700">
            <a:solidFill>
              <a:srgbClr val="F2F4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감이 아니라 데이터로 고른 고객</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오늘의 추천 고객은 데이터 기반 AI 추천 · 고객찾기 목록은 타겟 가능성 높은 순이 기본</a:t>
            </a:r>
            <a:endParaRPr lang="en-US" sz="1700" dirty="0"/>
          </a:p>
        </p:txBody>
      </p:sp>
      <p:sp>
        <p:nvSpPr>
          <p:cNvPr id="13" name="Text 11"/>
          <p:cNvSpPr txBox="1"/>
          <p:nvPr/>
        </p:nvSpPr>
        <p:spPr>
          <a:xfrm>
            <a:off x="548640" y="2011680"/>
            <a:ext cx="2743200" cy="310896"/>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오늘의 추천 고객</a:t>
            </a:r>
            <a:endParaRPr lang="en-US" sz="1400" dirty="0"/>
          </a:p>
        </p:txBody>
      </p:sp>
      <p:sp>
        <p:nvSpPr>
          <p:cNvPr id="14" name="Shape 12"/>
          <p:cNvSpPr/>
          <p:nvPr/>
        </p:nvSpPr>
        <p:spPr>
          <a:xfrm>
            <a:off x="548640" y="2432304"/>
            <a:ext cx="2487168" cy="2670048"/>
          </a:xfrm>
          <a:prstGeom prst="roundRect">
            <a:avLst>
              <a:gd name="adj" fmla="val 5882"/>
            </a:avLst>
          </a:prstGeom>
          <a:solidFill>
            <a:srgbClr val="F9FAFB"/>
          </a:solidFill>
          <a:ln w="9525">
            <a:solidFill>
              <a:srgbClr val="E5E8EB"/>
            </a:solidFill>
            <a:prstDash val="solid"/>
          </a:ln>
        </p:spPr>
      </p:sp>
      <p:sp>
        <p:nvSpPr>
          <p:cNvPr id="15" name="Text 13"/>
          <p:cNvSpPr txBox="1"/>
          <p:nvPr/>
        </p:nvSpPr>
        <p:spPr>
          <a:xfrm>
            <a:off x="786384" y="2615184"/>
            <a:ext cx="2121408" cy="365760"/>
          </a:xfrm>
          <a:prstGeom prst="rect">
            <a:avLst/>
          </a:prstGeom>
          <a:noFill/>
          <a:ln/>
        </p:spPr>
        <p:txBody>
          <a:bodyPr wrap="square" lIns="0" tIns="0" rIns="0" bIns="0" rtlCol="0" anchor="ctr"/>
          <a:lstStyle/>
          <a:p>
            <a:pPr indent="0" marL="0">
              <a:buNone/>
            </a:pPr>
            <a:r>
              <a:rPr lang="en-US" sz="1650" b="1" dirty="0">
                <a:solidFill>
                  <a:srgbClr val="4E5968"/>
                </a:solidFill>
                <a:latin typeface="맑은 고딕" pitchFamily="34" charset="0"/>
                <a:ea typeface="맑은 고딕" pitchFamily="34" charset="-122"/>
                <a:cs typeface="맑은 고딕" pitchFamily="34" charset="-120"/>
              </a:rPr>
              <a:t>감으로 고를 때</a:t>
            </a:r>
            <a:endParaRPr lang="en-US" sz="1650" dirty="0"/>
          </a:p>
        </p:txBody>
      </p:sp>
      <p:sp>
        <p:nvSpPr>
          <p:cNvPr id="16" name="Shape 14"/>
          <p:cNvSpPr/>
          <p:nvPr/>
        </p:nvSpPr>
        <p:spPr>
          <a:xfrm>
            <a:off x="822960" y="3255264"/>
            <a:ext cx="100584" cy="100584"/>
          </a:xfrm>
          <a:prstGeom prst="ellipse">
            <a:avLst/>
          </a:prstGeom>
          <a:solidFill>
            <a:srgbClr val="B0B8C1"/>
          </a:solidFill>
          <a:ln w="12700">
            <a:solidFill>
              <a:srgbClr val="B0B8C1"/>
            </a:solidFill>
            <a:prstDash val="solid"/>
          </a:ln>
        </p:spPr>
      </p:sp>
      <p:sp>
        <p:nvSpPr>
          <p:cNvPr id="17" name="Text 15"/>
          <p:cNvSpPr txBox="1"/>
          <p:nvPr/>
        </p:nvSpPr>
        <p:spPr>
          <a:xfrm>
            <a:off x="1024128" y="3145536"/>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생각나는 고객부터</a:t>
            </a:r>
            <a:endParaRPr lang="en-US" sz="1400" dirty="0"/>
          </a:p>
        </p:txBody>
      </p:sp>
      <p:sp>
        <p:nvSpPr>
          <p:cNvPr id="18" name="Shape 16"/>
          <p:cNvSpPr/>
          <p:nvPr/>
        </p:nvSpPr>
        <p:spPr>
          <a:xfrm>
            <a:off x="822960" y="3639312"/>
            <a:ext cx="100584" cy="100584"/>
          </a:xfrm>
          <a:prstGeom prst="ellipse">
            <a:avLst/>
          </a:prstGeom>
          <a:solidFill>
            <a:srgbClr val="B0B8C1"/>
          </a:solidFill>
          <a:ln w="12700">
            <a:solidFill>
              <a:srgbClr val="B0B8C1"/>
            </a:solidFill>
            <a:prstDash val="solid"/>
          </a:ln>
        </p:spPr>
      </p:sp>
      <p:sp>
        <p:nvSpPr>
          <p:cNvPr id="19" name="Text 17"/>
          <p:cNvSpPr txBox="1"/>
          <p:nvPr/>
        </p:nvSpPr>
        <p:spPr>
          <a:xfrm>
            <a:off x="1024128" y="3529584"/>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최근 연락한 고객부터</a:t>
            </a:r>
            <a:endParaRPr lang="en-US" sz="1400" dirty="0"/>
          </a:p>
        </p:txBody>
      </p:sp>
      <p:sp>
        <p:nvSpPr>
          <p:cNvPr id="20" name="Shape 18"/>
          <p:cNvSpPr/>
          <p:nvPr/>
        </p:nvSpPr>
        <p:spPr>
          <a:xfrm>
            <a:off x="822960" y="4023360"/>
            <a:ext cx="100584" cy="100584"/>
          </a:xfrm>
          <a:prstGeom prst="ellipse">
            <a:avLst/>
          </a:prstGeom>
          <a:solidFill>
            <a:srgbClr val="B0B8C1"/>
          </a:solidFill>
          <a:ln w="12700">
            <a:solidFill>
              <a:srgbClr val="B0B8C1"/>
            </a:solidFill>
            <a:prstDash val="solid"/>
          </a:ln>
        </p:spPr>
      </p:sp>
      <p:sp>
        <p:nvSpPr>
          <p:cNvPr id="21" name="Text 19"/>
          <p:cNvSpPr txBox="1"/>
          <p:nvPr/>
        </p:nvSpPr>
        <p:spPr>
          <a:xfrm>
            <a:off x="1024128" y="3913632"/>
            <a:ext cx="1892808" cy="310896"/>
          </a:xfrm>
          <a:prstGeom prst="rect">
            <a:avLst/>
          </a:prstGeom>
          <a:noFill/>
          <a:ln/>
        </p:spPr>
        <p:txBody>
          <a:bodyPr wrap="square" lIns="0" tIns="0" rIns="0" bIns="0" rtlCol="0" anchor="ctr"/>
          <a:lstStyle/>
          <a:p>
            <a:pPr indent="0" marL="0">
              <a:buNone/>
            </a:pPr>
            <a:r>
              <a:rPr lang="en-US" sz="1400" dirty="0">
                <a:solidFill>
                  <a:srgbClr val="6B7684"/>
                </a:solidFill>
                <a:latin typeface="맑은 고딕" pitchFamily="34" charset="0"/>
                <a:ea typeface="맑은 고딕" pitchFamily="34" charset="-122"/>
                <a:cs typeface="맑은 고딕" pitchFamily="34" charset="-120"/>
              </a:rPr>
              <a:t>긴 목록을 넘겨 가며</a:t>
            </a:r>
            <a:endParaRPr lang="en-US" sz="1400" dirty="0"/>
          </a:p>
        </p:txBody>
      </p:sp>
      <p:sp>
        <p:nvSpPr>
          <p:cNvPr id="22" name="Shape 20"/>
          <p:cNvSpPr/>
          <p:nvPr/>
        </p:nvSpPr>
        <p:spPr>
          <a:xfrm>
            <a:off x="731520" y="4334256"/>
            <a:ext cx="2121408" cy="585216"/>
          </a:xfrm>
          <a:prstGeom prst="roundRect">
            <a:avLst>
              <a:gd name="adj" fmla="val 18750"/>
            </a:avLst>
          </a:prstGeom>
          <a:solidFill>
            <a:srgbClr val="FFFFFF"/>
          </a:solidFill>
          <a:ln w="9525">
            <a:solidFill>
              <a:srgbClr val="E5E8EB"/>
            </a:solidFill>
            <a:prstDash val="solid"/>
          </a:ln>
        </p:spPr>
      </p:sp>
      <p:sp>
        <p:nvSpPr>
          <p:cNvPr id="23" name="Text 21"/>
          <p:cNvSpPr txBox="1"/>
          <p:nvPr/>
        </p:nvSpPr>
        <p:spPr>
          <a:xfrm>
            <a:off x="731520" y="4334256"/>
            <a:ext cx="2121408" cy="585216"/>
          </a:xfrm>
          <a:prstGeom prst="rect">
            <a:avLst/>
          </a:prstGeom>
          <a:noFill/>
          <a:ln/>
        </p:spPr>
        <p:txBody>
          <a:bodyPr wrap="square" lIns="0" tIns="0" rIns="0" bIns="0" rtlCol="0" anchor="ctr"/>
          <a:lstStyle/>
          <a:p>
            <a:pPr algn="ctr" indent="0" marL="0">
              <a:lnSpc>
                <a:spcPct val="105000"/>
              </a:lnSpc>
              <a:buNone/>
            </a:pPr>
            <a:r>
              <a:rPr lang="en-US" sz="1300" b="1" dirty="0">
                <a:solidFill>
                  <a:srgbClr val="4E5968"/>
                </a:solidFill>
                <a:latin typeface="맑은 고딕" pitchFamily="34" charset="0"/>
                <a:ea typeface="맑은 고딕" pitchFamily="34" charset="-122"/>
                <a:cs typeface="맑은 고딕" pitchFamily="34" charset="-120"/>
              </a:rPr>
              <a:t>누구 · 왜 · 언제를</a:t>
            </a:r>
            <a:endParaRPr lang="en-US" sz="1300" dirty="0"/>
          </a:p>
          <a:p>
            <a:pPr algn="ctr" indent="0" marL="0">
              <a:lnSpc>
                <a:spcPct val="105000"/>
              </a:lnSpc>
              <a:buNone/>
            </a:pPr>
            <a:r>
              <a:rPr lang="en-US" sz="1300" b="1" dirty="0">
                <a:solidFill>
                  <a:srgbClr val="4E5968"/>
                </a:solidFill>
                <a:latin typeface="맑은 고딕" pitchFamily="34" charset="0"/>
                <a:ea typeface="맑은 고딕" pitchFamily="34" charset="-122"/>
                <a:cs typeface="맑은 고딕" pitchFamily="34" charset="-120"/>
              </a:rPr>
              <a:t>매번 혼자 판단</a:t>
            </a:r>
            <a:endParaRPr lang="en-US" sz="1300" dirty="0"/>
          </a:p>
        </p:txBody>
      </p:sp>
      <p:sp>
        <p:nvSpPr>
          <p:cNvPr id="24" name="Shape 22"/>
          <p:cNvSpPr/>
          <p:nvPr/>
        </p:nvSpPr>
        <p:spPr>
          <a:xfrm>
            <a:off x="3072384" y="3575304"/>
            <a:ext cx="384048" cy="384048"/>
          </a:xfrm>
          <a:prstGeom prst="ellipse">
            <a:avLst/>
          </a:prstGeom>
          <a:solidFill>
            <a:srgbClr val="3182F6"/>
          </a:solidFill>
          <a:ln w="19050">
            <a:solidFill>
              <a:srgbClr val="FFFFFF"/>
            </a:solidFill>
            <a:prstDash val="solid"/>
          </a:ln>
        </p:spPr>
      </p:sp>
      <p:sp>
        <p:nvSpPr>
          <p:cNvPr id="25" name="Text 23"/>
          <p:cNvSpPr txBox="1"/>
          <p:nvPr/>
        </p:nvSpPr>
        <p:spPr>
          <a:xfrm>
            <a:off x="3072384" y="357530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a:t>
            </a:r>
            <a:endParaRPr lang="en-US" sz="1600" dirty="0"/>
          </a:p>
        </p:txBody>
      </p:sp>
      <p:sp>
        <p:nvSpPr>
          <p:cNvPr id="26" name="Shape 24"/>
          <p:cNvSpPr/>
          <p:nvPr/>
        </p:nvSpPr>
        <p:spPr>
          <a:xfrm>
            <a:off x="3493008" y="2432304"/>
            <a:ext cx="3044952" cy="2670048"/>
          </a:xfrm>
          <a:prstGeom prst="roundRect">
            <a:avLst>
              <a:gd name="adj" fmla="val 5479"/>
            </a:avLst>
          </a:prstGeom>
          <a:solidFill>
            <a:srgbClr val="E8F3FF"/>
          </a:solidFill>
          <a:ln w="9525">
            <a:solidFill>
              <a:srgbClr val="C9E2FF"/>
            </a:solidFill>
            <a:prstDash val="solid"/>
          </a:ln>
        </p:spPr>
      </p:sp>
      <p:sp>
        <p:nvSpPr>
          <p:cNvPr id="27" name="Text 25"/>
          <p:cNvSpPr txBox="1"/>
          <p:nvPr/>
        </p:nvSpPr>
        <p:spPr>
          <a:xfrm>
            <a:off x="3730752" y="2615184"/>
            <a:ext cx="2679192" cy="365760"/>
          </a:xfrm>
          <a:prstGeom prst="rect">
            <a:avLst/>
          </a:prstGeom>
          <a:noFill/>
          <a:ln/>
        </p:spPr>
        <p:txBody>
          <a:bodyPr wrap="square" lIns="0" tIns="0" rIns="0" bIns="0" rtlCol="0" anchor="ctr"/>
          <a:lstStyle/>
          <a:p>
            <a:pPr indent="0" marL="0">
              <a:buNone/>
            </a:pPr>
            <a:r>
              <a:rPr lang="en-US" sz="1650" b="1" dirty="0">
                <a:solidFill>
                  <a:srgbClr val="1B64DA"/>
                </a:solidFill>
                <a:latin typeface="맑은 고딕" pitchFamily="34" charset="0"/>
                <a:ea typeface="맑은 고딕" pitchFamily="34" charset="-122"/>
                <a:cs typeface="맑은 고딕" pitchFamily="34" charset="-120"/>
              </a:rPr>
              <a:t>데이터 기반 AI 추천</a:t>
            </a:r>
            <a:endParaRPr lang="en-US" sz="1650" dirty="0"/>
          </a:p>
        </p:txBody>
      </p:sp>
      <p:sp>
        <p:nvSpPr>
          <p:cNvPr id="28" name="Shape 26"/>
          <p:cNvSpPr/>
          <p:nvPr/>
        </p:nvSpPr>
        <p:spPr>
          <a:xfrm>
            <a:off x="3767328" y="3255264"/>
            <a:ext cx="100584" cy="100584"/>
          </a:xfrm>
          <a:prstGeom prst="ellipse">
            <a:avLst/>
          </a:prstGeom>
          <a:solidFill>
            <a:srgbClr val="3182F6"/>
          </a:solidFill>
          <a:ln w="12700">
            <a:solidFill>
              <a:srgbClr val="3182F6"/>
            </a:solidFill>
            <a:prstDash val="solid"/>
          </a:ln>
        </p:spPr>
      </p:sp>
      <p:sp>
        <p:nvSpPr>
          <p:cNvPr id="29" name="Text 27"/>
          <p:cNvSpPr txBox="1"/>
          <p:nvPr/>
        </p:nvSpPr>
        <p:spPr>
          <a:xfrm>
            <a:off x="3968496" y="3145536"/>
            <a:ext cx="2450592" cy="310896"/>
          </a:xfrm>
          <a:prstGeom prst="rect">
            <a:avLst/>
          </a:prstGeom>
          <a:noFill/>
          <a:ln/>
        </p:spPr>
        <p:txBody>
          <a:bodyPr wrap="square" lIns="0" tIns="0" rIns="0" bIns="0" rtlCol="0" anchor="ctr"/>
          <a:lstStyle/>
          <a:p>
            <a:pPr indent="0" marL="0">
              <a:buNone/>
            </a:pPr>
            <a:r>
              <a:rPr lang="en-US" sz="1400" b="1" dirty="0">
                <a:solidFill>
                  <a:srgbClr val="191F28"/>
                </a:solidFill>
                <a:latin typeface="맑은 고딕" pitchFamily="34" charset="0"/>
                <a:ea typeface="맑은 고딕" pitchFamily="34" charset="-122"/>
                <a:cs typeface="맑은 고딕" pitchFamily="34" charset="-120"/>
              </a:rPr>
              <a:t>계약·동의·상령일·생일·CRM</a:t>
            </a:r>
            <a:endParaRPr lang="en-US" sz="1400" dirty="0"/>
          </a:p>
        </p:txBody>
      </p:sp>
      <p:sp>
        <p:nvSpPr>
          <p:cNvPr id="30" name="Shape 28"/>
          <p:cNvSpPr/>
          <p:nvPr/>
        </p:nvSpPr>
        <p:spPr>
          <a:xfrm>
            <a:off x="3767328" y="3639312"/>
            <a:ext cx="100584" cy="100584"/>
          </a:xfrm>
          <a:prstGeom prst="ellipse">
            <a:avLst/>
          </a:prstGeom>
          <a:solidFill>
            <a:srgbClr val="3182F6"/>
          </a:solidFill>
          <a:ln w="12700">
            <a:solidFill>
              <a:srgbClr val="3182F6"/>
            </a:solidFill>
            <a:prstDash val="solid"/>
          </a:ln>
        </p:spPr>
      </p:sp>
      <p:sp>
        <p:nvSpPr>
          <p:cNvPr id="31" name="Text 29"/>
          <p:cNvSpPr txBox="1"/>
          <p:nvPr/>
        </p:nvSpPr>
        <p:spPr>
          <a:xfrm>
            <a:off x="3968496" y="3529584"/>
            <a:ext cx="2450592" cy="310896"/>
          </a:xfrm>
          <a:prstGeom prst="rect">
            <a:avLst/>
          </a:prstGeom>
          <a:noFill/>
          <a:ln/>
        </p:spPr>
        <p:txBody>
          <a:bodyPr wrap="square" lIns="0" tIns="0" rIns="0" bIns="0" rtlCol="0" anchor="ctr"/>
          <a:lstStyle/>
          <a:p>
            <a:pPr indent="0" marL="0">
              <a:buNone/>
            </a:pPr>
            <a:r>
              <a:rPr lang="en-US" sz="1400" dirty="0">
                <a:solidFill>
                  <a:srgbClr val="191F28"/>
                </a:solidFill>
                <a:latin typeface="맑은 고딕" pitchFamily="34" charset="0"/>
                <a:ea typeface="맑은 고딕" pitchFamily="34" charset="-122"/>
                <a:cs typeface="맑은 고딕" pitchFamily="34" charset="-120"/>
              </a:rPr>
              <a:t>매일 밤 계산 · 다음 날 반영</a:t>
            </a:r>
            <a:endParaRPr lang="en-US" sz="1400" dirty="0"/>
          </a:p>
        </p:txBody>
      </p:sp>
      <p:sp>
        <p:nvSpPr>
          <p:cNvPr id="32" name="Shape 30"/>
          <p:cNvSpPr/>
          <p:nvPr/>
        </p:nvSpPr>
        <p:spPr>
          <a:xfrm>
            <a:off x="3767328" y="4023360"/>
            <a:ext cx="100584" cy="100584"/>
          </a:xfrm>
          <a:prstGeom prst="ellipse">
            <a:avLst/>
          </a:prstGeom>
          <a:solidFill>
            <a:srgbClr val="3182F6"/>
          </a:solidFill>
          <a:ln w="12700">
            <a:solidFill>
              <a:srgbClr val="3182F6"/>
            </a:solidFill>
            <a:prstDash val="solid"/>
          </a:ln>
        </p:spPr>
      </p:sp>
      <p:sp>
        <p:nvSpPr>
          <p:cNvPr id="33" name="Text 31"/>
          <p:cNvSpPr txBox="1"/>
          <p:nvPr/>
        </p:nvSpPr>
        <p:spPr>
          <a:xfrm>
            <a:off x="3968496" y="3913632"/>
            <a:ext cx="2450592" cy="310896"/>
          </a:xfrm>
          <a:prstGeom prst="rect">
            <a:avLst/>
          </a:prstGeom>
          <a:noFill/>
          <a:ln/>
        </p:spPr>
        <p:txBody>
          <a:bodyPr wrap="square" lIns="0" tIns="0" rIns="0" bIns="0" rtlCol="0" anchor="ctr"/>
          <a:lstStyle/>
          <a:p>
            <a:pPr indent="0" marL="0">
              <a:buNone/>
            </a:pPr>
            <a:r>
              <a:rPr lang="en-US" sz="1400" dirty="0">
                <a:solidFill>
                  <a:srgbClr val="191F28"/>
                </a:solidFill>
                <a:latin typeface="맑은 고딕" pitchFamily="34" charset="0"/>
                <a:ea typeface="맑은 고딕" pitchFamily="34" charset="-122"/>
                <a:cs typeface="맑은 고딕" pitchFamily="34" charset="-120"/>
              </a:rPr>
              <a:t>연락할 이유를 한 문장으로</a:t>
            </a:r>
            <a:endParaRPr lang="en-US" sz="1400" dirty="0"/>
          </a:p>
        </p:txBody>
      </p:sp>
      <p:sp>
        <p:nvSpPr>
          <p:cNvPr id="34" name="Shape 32"/>
          <p:cNvSpPr/>
          <p:nvPr/>
        </p:nvSpPr>
        <p:spPr>
          <a:xfrm>
            <a:off x="3675888" y="4334256"/>
            <a:ext cx="2679192" cy="585216"/>
          </a:xfrm>
          <a:prstGeom prst="roundRect">
            <a:avLst>
              <a:gd name="adj" fmla="val 18750"/>
            </a:avLst>
          </a:prstGeom>
          <a:solidFill>
            <a:srgbClr val="3182F6"/>
          </a:solidFill>
          <a:ln w="12700">
            <a:solidFill>
              <a:srgbClr val="3182F6"/>
            </a:solidFill>
            <a:prstDash val="solid"/>
          </a:ln>
        </p:spPr>
      </p:sp>
      <p:sp>
        <p:nvSpPr>
          <p:cNvPr id="35" name="Text 33"/>
          <p:cNvSpPr txBox="1"/>
          <p:nvPr/>
        </p:nvSpPr>
        <p:spPr>
          <a:xfrm>
            <a:off x="3675888" y="4334256"/>
            <a:ext cx="2679192"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전반적으로 타겟률이 더 높음</a:t>
            </a:r>
            <a:endParaRPr lang="en-US" sz="1600" dirty="0"/>
          </a:p>
        </p:txBody>
      </p:sp>
      <p:sp>
        <p:nvSpPr>
          <p:cNvPr id="36" name="Shape 34"/>
          <p:cNvSpPr/>
          <p:nvPr/>
        </p:nvSpPr>
        <p:spPr>
          <a:xfrm>
            <a:off x="6903720" y="2011680"/>
            <a:ext cx="4739335" cy="3090672"/>
          </a:xfrm>
          <a:prstGeom prst="roundRect">
            <a:avLst>
              <a:gd name="adj" fmla="val 4734"/>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37" name="Text 35"/>
          <p:cNvSpPr txBox="1"/>
          <p:nvPr/>
        </p:nvSpPr>
        <p:spPr>
          <a:xfrm>
            <a:off x="7159752" y="2194560"/>
            <a:ext cx="2103120" cy="292608"/>
          </a:xfrm>
          <a:prstGeom prst="rect">
            <a:avLst/>
          </a:prstGeom>
          <a:noFill/>
          <a:ln/>
        </p:spPr>
        <p:txBody>
          <a:bodyPr wrap="square" lIns="0" tIns="0" rIns="0" bIns="0" rtlCol="0" anchor="ctr"/>
          <a:lstStyle/>
          <a:p>
            <a:pPr indent="0" marL="0">
              <a:buNone/>
            </a:pPr>
            <a:r>
              <a:rPr lang="en-US" sz="1400" b="1" dirty="0">
                <a:solidFill>
                  <a:srgbClr val="3182F6"/>
                </a:solidFill>
                <a:latin typeface="맑은 고딕" pitchFamily="34" charset="0"/>
                <a:ea typeface="맑은 고딕" pitchFamily="34" charset="-122"/>
                <a:cs typeface="맑은 고딕" pitchFamily="34" charset="-120"/>
              </a:rPr>
              <a:t>MeAI 고객찾기 목록</a:t>
            </a:r>
            <a:endParaRPr lang="en-US" sz="1400" dirty="0"/>
          </a:p>
        </p:txBody>
      </p:sp>
      <p:sp>
        <p:nvSpPr>
          <p:cNvPr id="38" name="Shape 36"/>
          <p:cNvSpPr/>
          <p:nvPr/>
        </p:nvSpPr>
        <p:spPr>
          <a:xfrm>
            <a:off x="8866124" y="2194560"/>
            <a:ext cx="993775" cy="292608"/>
          </a:xfrm>
          <a:prstGeom prst="roundRect">
            <a:avLst>
              <a:gd name="adj" fmla="val 50000"/>
            </a:avLst>
          </a:prstGeom>
          <a:solidFill>
            <a:srgbClr val="E8F3FF"/>
          </a:solidFill>
          <a:ln w="12700">
            <a:solidFill>
              <a:srgbClr val="E8F3FF"/>
            </a:solidFill>
            <a:prstDash val="solid"/>
          </a:ln>
        </p:spPr>
      </p:sp>
      <p:sp>
        <p:nvSpPr>
          <p:cNvPr id="39" name="Text 37"/>
          <p:cNvSpPr txBox="1"/>
          <p:nvPr/>
        </p:nvSpPr>
        <p:spPr>
          <a:xfrm>
            <a:off x="8866124" y="2194560"/>
            <a:ext cx="993775" cy="292608"/>
          </a:xfrm>
          <a:prstGeom prst="rect">
            <a:avLst/>
          </a:prstGeom>
          <a:noFill/>
          <a:ln/>
        </p:spPr>
        <p:txBody>
          <a:bodyPr wrap="square" lIns="0" tIns="0" rIns="0" bIns="0" rtlCol="0" anchor="ctr"/>
          <a:lstStyle/>
          <a:p>
            <a:pPr algn="ctr" indent="0" marL="0">
              <a:buNone/>
            </a:pPr>
            <a:r>
              <a:rPr lang="en-US" sz="1150" b="1" dirty="0">
                <a:solidFill>
                  <a:srgbClr val="1B64DA"/>
                </a:solidFill>
                <a:latin typeface="맑은 고딕" pitchFamily="34" charset="0"/>
                <a:ea typeface="맑은 고딕" pitchFamily="34" charset="-122"/>
                <a:cs typeface="맑은 고딕" pitchFamily="34" charset="-120"/>
              </a:rPr>
              <a:t>기본 설정</a:t>
            </a:r>
            <a:endParaRPr lang="en-US" sz="1150" dirty="0"/>
          </a:p>
        </p:txBody>
      </p:sp>
      <p:sp>
        <p:nvSpPr>
          <p:cNvPr id="40" name="Text 38"/>
          <p:cNvSpPr txBox="1"/>
          <p:nvPr/>
        </p:nvSpPr>
        <p:spPr>
          <a:xfrm>
            <a:off x="7159752" y="2542032"/>
            <a:ext cx="4282135" cy="420624"/>
          </a:xfrm>
          <a:prstGeom prst="rect">
            <a:avLst/>
          </a:prstGeom>
          <a:noFill/>
          <a:ln/>
        </p:spPr>
        <p:txBody>
          <a:bodyPr wrap="square" lIns="0" tIns="0" rIns="0" bIns="0" rtlCol="0" anchor="ctr"/>
          <a:lstStyle/>
          <a:p>
            <a:pPr indent="0" marL="0">
              <a:buNone/>
            </a:pPr>
            <a:r>
              <a:rPr lang="en-US" sz="1900" b="1" dirty="0">
                <a:solidFill>
                  <a:srgbClr val="191F28"/>
                </a:solidFill>
                <a:latin typeface="맑은 고딕" pitchFamily="34" charset="0"/>
                <a:ea typeface="맑은 고딕" pitchFamily="34" charset="-122"/>
                <a:cs typeface="맑은 고딕" pitchFamily="34" charset="-120"/>
              </a:rPr>
              <a:t>보유 고객 중 타겟 가능성 높은 순</a:t>
            </a:r>
            <a:endParaRPr lang="en-US" sz="1900" dirty="0"/>
          </a:p>
        </p:txBody>
      </p:sp>
      <p:sp>
        <p:nvSpPr>
          <p:cNvPr id="41" name="Text 39"/>
          <p:cNvSpPr txBox="1"/>
          <p:nvPr/>
        </p:nvSpPr>
        <p:spPr>
          <a:xfrm>
            <a:off x="7598664" y="2980944"/>
            <a:ext cx="914400"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고객</a:t>
            </a:r>
            <a:endParaRPr lang="en-US" sz="1100" dirty="0"/>
          </a:p>
        </p:txBody>
      </p:sp>
      <p:sp>
        <p:nvSpPr>
          <p:cNvPr id="42" name="Text 40"/>
          <p:cNvSpPr txBox="1"/>
          <p:nvPr/>
        </p:nvSpPr>
        <p:spPr>
          <a:xfrm>
            <a:off x="8458200" y="2980944"/>
            <a:ext cx="1371600" cy="219456"/>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타겟 가능성</a:t>
            </a:r>
            <a:endParaRPr lang="en-US" sz="1100" dirty="0"/>
          </a:p>
        </p:txBody>
      </p:sp>
      <p:sp>
        <p:nvSpPr>
          <p:cNvPr id="43" name="Shape 41"/>
          <p:cNvSpPr/>
          <p:nvPr/>
        </p:nvSpPr>
        <p:spPr>
          <a:xfrm>
            <a:off x="7159752" y="3236976"/>
            <a:ext cx="4227271" cy="310896"/>
          </a:xfrm>
          <a:prstGeom prst="roundRect">
            <a:avLst>
              <a:gd name="adj" fmla="val 23529"/>
            </a:avLst>
          </a:prstGeom>
          <a:solidFill>
            <a:srgbClr val="E8F3FF"/>
          </a:solidFill>
          <a:ln w="12700">
            <a:solidFill>
              <a:srgbClr val="E8F3FF"/>
            </a:solidFill>
            <a:prstDash val="solid"/>
          </a:ln>
        </p:spPr>
      </p:sp>
      <p:sp>
        <p:nvSpPr>
          <p:cNvPr id="44" name="Shape 42"/>
          <p:cNvSpPr/>
          <p:nvPr/>
        </p:nvSpPr>
        <p:spPr>
          <a:xfrm>
            <a:off x="7232904" y="3264408"/>
            <a:ext cx="256032" cy="256032"/>
          </a:xfrm>
          <a:prstGeom prst="ellipse">
            <a:avLst/>
          </a:prstGeom>
          <a:solidFill>
            <a:srgbClr val="1B64DA"/>
          </a:solidFill>
          <a:ln w="12700">
            <a:solidFill>
              <a:srgbClr val="1B64DA"/>
            </a:solidFill>
            <a:prstDash val="solid"/>
          </a:ln>
        </p:spPr>
      </p:sp>
      <p:sp>
        <p:nvSpPr>
          <p:cNvPr id="45" name="Text 43"/>
          <p:cNvSpPr txBox="1"/>
          <p:nvPr/>
        </p:nvSpPr>
        <p:spPr>
          <a:xfrm>
            <a:off x="7232904" y="32644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46" name="Shape 44"/>
          <p:cNvSpPr/>
          <p:nvPr/>
        </p:nvSpPr>
        <p:spPr>
          <a:xfrm>
            <a:off x="7616952" y="3346704"/>
            <a:ext cx="457200" cy="109728"/>
          </a:xfrm>
          <a:prstGeom prst="roundRect">
            <a:avLst>
              <a:gd name="adj" fmla="val 50000"/>
            </a:avLst>
          </a:prstGeom>
          <a:solidFill>
            <a:srgbClr val="D1D6DB"/>
          </a:solidFill>
          <a:ln w="12700">
            <a:solidFill>
              <a:srgbClr val="D1D6DB"/>
            </a:solidFill>
            <a:prstDash val="solid"/>
          </a:ln>
        </p:spPr>
      </p:sp>
      <p:sp>
        <p:nvSpPr>
          <p:cNvPr id="47" name="Shape 45"/>
          <p:cNvSpPr/>
          <p:nvPr/>
        </p:nvSpPr>
        <p:spPr>
          <a:xfrm>
            <a:off x="8129016" y="3346704"/>
            <a:ext cx="201168" cy="109728"/>
          </a:xfrm>
          <a:prstGeom prst="roundRect">
            <a:avLst>
              <a:gd name="adj" fmla="val 50000"/>
            </a:avLst>
          </a:prstGeom>
          <a:solidFill>
            <a:srgbClr val="E5E8EB"/>
          </a:solidFill>
          <a:ln w="12700">
            <a:solidFill>
              <a:srgbClr val="E5E8EB"/>
            </a:solidFill>
            <a:prstDash val="solid"/>
          </a:ln>
        </p:spPr>
      </p:sp>
      <p:sp>
        <p:nvSpPr>
          <p:cNvPr id="48" name="Shape 46"/>
          <p:cNvSpPr/>
          <p:nvPr/>
        </p:nvSpPr>
        <p:spPr>
          <a:xfrm>
            <a:off x="8458200" y="3328416"/>
            <a:ext cx="1508760" cy="146304"/>
          </a:xfrm>
          <a:prstGeom prst="roundRect">
            <a:avLst>
              <a:gd name="adj" fmla="val 50000"/>
            </a:avLst>
          </a:prstGeom>
          <a:solidFill>
            <a:srgbClr val="1B64DA"/>
          </a:solidFill>
          <a:ln w="12700">
            <a:solidFill>
              <a:srgbClr val="1B64DA"/>
            </a:solidFill>
            <a:prstDash val="solid"/>
          </a:ln>
        </p:spPr>
      </p:sp>
      <p:sp>
        <p:nvSpPr>
          <p:cNvPr id="49" name="Text 47"/>
          <p:cNvSpPr txBox="1"/>
          <p:nvPr/>
        </p:nvSpPr>
        <p:spPr>
          <a:xfrm>
            <a:off x="10040112" y="3236976"/>
            <a:ext cx="1273759" cy="310896"/>
          </a:xfrm>
          <a:prstGeom prst="rect">
            <a:avLst/>
          </a:prstGeom>
          <a:noFill/>
          <a:ln/>
        </p:spPr>
        <p:txBody>
          <a:bodyPr wrap="square" lIns="0" tIns="0" rIns="0" bIns="0" rtlCol="0" anchor="ctr"/>
          <a:lstStyle/>
          <a:p>
            <a:pPr algn="r" indent="0" marL="0">
              <a:buNone/>
            </a:pPr>
            <a:r>
              <a:rPr lang="en-US" sz="1150" b="1" dirty="0">
                <a:solidFill>
                  <a:srgbClr val="1B64DA"/>
                </a:solidFill>
                <a:latin typeface="맑은 고딕" pitchFamily="34" charset="0"/>
                <a:ea typeface="맑은 고딕" pitchFamily="34" charset="-122"/>
                <a:cs typeface="맑은 고딕" pitchFamily="34" charset="-120"/>
              </a:rPr>
              <a:t>여기부터 연락</a:t>
            </a:r>
            <a:endParaRPr lang="en-US" sz="1150" dirty="0"/>
          </a:p>
        </p:txBody>
      </p:sp>
      <p:sp>
        <p:nvSpPr>
          <p:cNvPr id="50" name="Shape 48"/>
          <p:cNvSpPr/>
          <p:nvPr/>
        </p:nvSpPr>
        <p:spPr>
          <a:xfrm>
            <a:off x="7159752" y="3621024"/>
            <a:ext cx="4227271" cy="310896"/>
          </a:xfrm>
          <a:prstGeom prst="roundRect">
            <a:avLst>
              <a:gd name="adj" fmla="val 23529"/>
            </a:avLst>
          </a:prstGeom>
          <a:solidFill>
            <a:srgbClr val="F9FAFB"/>
          </a:solidFill>
          <a:ln w="12700">
            <a:solidFill>
              <a:srgbClr val="F9FAFB"/>
            </a:solidFill>
            <a:prstDash val="solid"/>
          </a:ln>
        </p:spPr>
      </p:sp>
      <p:sp>
        <p:nvSpPr>
          <p:cNvPr id="51" name="Shape 49"/>
          <p:cNvSpPr/>
          <p:nvPr/>
        </p:nvSpPr>
        <p:spPr>
          <a:xfrm>
            <a:off x="7232904" y="3648456"/>
            <a:ext cx="256032" cy="256032"/>
          </a:xfrm>
          <a:prstGeom prst="ellipse">
            <a:avLst/>
          </a:prstGeom>
          <a:solidFill>
            <a:srgbClr val="3182F6"/>
          </a:solidFill>
          <a:ln w="12700">
            <a:solidFill>
              <a:srgbClr val="3182F6"/>
            </a:solidFill>
            <a:prstDash val="solid"/>
          </a:ln>
        </p:spPr>
      </p:sp>
      <p:sp>
        <p:nvSpPr>
          <p:cNvPr id="52" name="Text 50"/>
          <p:cNvSpPr txBox="1"/>
          <p:nvPr/>
        </p:nvSpPr>
        <p:spPr>
          <a:xfrm>
            <a:off x="7232904" y="36484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53" name="Shape 51"/>
          <p:cNvSpPr/>
          <p:nvPr/>
        </p:nvSpPr>
        <p:spPr>
          <a:xfrm>
            <a:off x="7616952" y="3730752"/>
            <a:ext cx="429768" cy="109728"/>
          </a:xfrm>
          <a:prstGeom prst="roundRect">
            <a:avLst>
              <a:gd name="adj" fmla="val 50000"/>
            </a:avLst>
          </a:prstGeom>
          <a:solidFill>
            <a:srgbClr val="D1D6DB"/>
          </a:solidFill>
          <a:ln w="12700">
            <a:solidFill>
              <a:srgbClr val="D1D6DB"/>
            </a:solidFill>
            <a:prstDash val="solid"/>
          </a:ln>
        </p:spPr>
      </p:sp>
      <p:sp>
        <p:nvSpPr>
          <p:cNvPr id="54" name="Shape 52"/>
          <p:cNvSpPr/>
          <p:nvPr/>
        </p:nvSpPr>
        <p:spPr>
          <a:xfrm>
            <a:off x="8101584" y="3730752"/>
            <a:ext cx="201168" cy="109728"/>
          </a:xfrm>
          <a:prstGeom prst="roundRect">
            <a:avLst>
              <a:gd name="adj" fmla="val 50000"/>
            </a:avLst>
          </a:prstGeom>
          <a:solidFill>
            <a:srgbClr val="E5E8EB"/>
          </a:solidFill>
          <a:ln w="12700">
            <a:solidFill>
              <a:srgbClr val="E5E8EB"/>
            </a:solidFill>
            <a:prstDash val="solid"/>
          </a:ln>
        </p:spPr>
      </p:sp>
      <p:sp>
        <p:nvSpPr>
          <p:cNvPr id="55" name="Shape 53"/>
          <p:cNvSpPr/>
          <p:nvPr/>
        </p:nvSpPr>
        <p:spPr>
          <a:xfrm>
            <a:off x="8458200" y="3712464"/>
            <a:ext cx="1207008" cy="146304"/>
          </a:xfrm>
          <a:prstGeom prst="roundRect">
            <a:avLst>
              <a:gd name="adj" fmla="val 50000"/>
            </a:avLst>
          </a:prstGeom>
          <a:solidFill>
            <a:srgbClr val="3182F6"/>
          </a:solidFill>
          <a:ln w="12700">
            <a:solidFill>
              <a:srgbClr val="3182F6"/>
            </a:solidFill>
            <a:prstDash val="solid"/>
          </a:ln>
        </p:spPr>
      </p:sp>
      <p:sp>
        <p:nvSpPr>
          <p:cNvPr id="56" name="Shape 54"/>
          <p:cNvSpPr/>
          <p:nvPr/>
        </p:nvSpPr>
        <p:spPr>
          <a:xfrm>
            <a:off x="7159752" y="4005072"/>
            <a:ext cx="4227271" cy="310896"/>
          </a:xfrm>
          <a:prstGeom prst="roundRect">
            <a:avLst>
              <a:gd name="adj" fmla="val 23529"/>
            </a:avLst>
          </a:prstGeom>
          <a:solidFill>
            <a:srgbClr val="F9FAFB"/>
          </a:solidFill>
          <a:ln w="12700">
            <a:solidFill>
              <a:srgbClr val="F9FAFB"/>
            </a:solidFill>
            <a:prstDash val="solid"/>
          </a:ln>
        </p:spPr>
      </p:sp>
      <p:sp>
        <p:nvSpPr>
          <p:cNvPr id="57" name="Shape 55"/>
          <p:cNvSpPr/>
          <p:nvPr/>
        </p:nvSpPr>
        <p:spPr>
          <a:xfrm>
            <a:off x="7232904" y="4032504"/>
            <a:ext cx="256032" cy="256032"/>
          </a:xfrm>
          <a:prstGeom prst="ellipse">
            <a:avLst/>
          </a:prstGeom>
          <a:solidFill>
            <a:srgbClr val="5E9BF3"/>
          </a:solidFill>
          <a:ln w="12700">
            <a:solidFill>
              <a:srgbClr val="5E9BF3"/>
            </a:solidFill>
            <a:prstDash val="solid"/>
          </a:ln>
        </p:spPr>
      </p:sp>
      <p:sp>
        <p:nvSpPr>
          <p:cNvPr id="58" name="Text 56"/>
          <p:cNvSpPr txBox="1"/>
          <p:nvPr/>
        </p:nvSpPr>
        <p:spPr>
          <a:xfrm>
            <a:off x="7232904" y="40325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59" name="Shape 57"/>
          <p:cNvSpPr/>
          <p:nvPr/>
        </p:nvSpPr>
        <p:spPr>
          <a:xfrm>
            <a:off x="7616952" y="4114800"/>
            <a:ext cx="402336" cy="109728"/>
          </a:xfrm>
          <a:prstGeom prst="roundRect">
            <a:avLst>
              <a:gd name="adj" fmla="val 50000"/>
            </a:avLst>
          </a:prstGeom>
          <a:solidFill>
            <a:srgbClr val="D1D6DB"/>
          </a:solidFill>
          <a:ln w="12700">
            <a:solidFill>
              <a:srgbClr val="D1D6DB"/>
            </a:solidFill>
            <a:prstDash val="solid"/>
          </a:ln>
        </p:spPr>
      </p:sp>
      <p:sp>
        <p:nvSpPr>
          <p:cNvPr id="60" name="Shape 58"/>
          <p:cNvSpPr/>
          <p:nvPr/>
        </p:nvSpPr>
        <p:spPr>
          <a:xfrm>
            <a:off x="8074152" y="4114800"/>
            <a:ext cx="201168" cy="109728"/>
          </a:xfrm>
          <a:prstGeom prst="roundRect">
            <a:avLst>
              <a:gd name="adj" fmla="val 50000"/>
            </a:avLst>
          </a:prstGeom>
          <a:solidFill>
            <a:srgbClr val="E5E8EB"/>
          </a:solidFill>
          <a:ln w="12700">
            <a:solidFill>
              <a:srgbClr val="E5E8EB"/>
            </a:solidFill>
            <a:prstDash val="solid"/>
          </a:ln>
        </p:spPr>
      </p:sp>
      <p:sp>
        <p:nvSpPr>
          <p:cNvPr id="61" name="Shape 59"/>
          <p:cNvSpPr/>
          <p:nvPr/>
        </p:nvSpPr>
        <p:spPr>
          <a:xfrm>
            <a:off x="8458200" y="4096512"/>
            <a:ext cx="905256" cy="146304"/>
          </a:xfrm>
          <a:prstGeom prst="roundRect">
            <a:avLst>
              <a:gd name="adj" fmla="val 50000"/>
            </a:avLst>
          </a:prstGeom>
          <a:solidFill>
            <a:srgbClr val="5E9BF3"/>
          </a:solidFill>
          <a:ln w="12700">
            <a:solidFill>
              <a:srgbClr val="5E9BF3"/>
            </a:solidFill>
            <a:prstDash val="solid"/>
          </a:ln>
        </p:spPr>
      </p:sp>
      <p:sp>
        <p:nvSpPr>
          <p:cNvPr id="62" name="Shape 60"/>
          <p:cNvSpPr/>
          <p:nvPr/>
        </p:nvSpPr>
        <p:spPr>
          <a:xfrm>
            <a:off x="7159752" y="4389120"/>
            <a:ext cx="4227271" cy="310896"/>
          </a:xfrm>
          <a:prstGeom prst="roundRect">
            <a:avLst>
              <a:gd name="adj" fmla="val 23529"/>
            </a:avLst>
          </a:prstGeom>
          <a:solidFill>
            <a:srgbClr val="F9FAFB"/>
          </a:solidFill>
          <a:ln w="12700">
            <a:solidFill>
              <a:srgbClr val="F9FAFB"/>
            </a:solidFill>
            <a:prstDash val="solid"/>
          </a:ln>
        </p:spPr>
      </p:sp>
      <p:sp>
        <p:nvSpPr>
          <p:cNvPr id="63" name="Shape 61"/>
          <p:cNvSpPr/>
          <p:nvPr/>
        </p:nvSpPr>
        <p:spPr>
          <a:xfrm>
            <a:off x="7232904" y="4416552"/>
            <a:ext cx="256032" cy="256032"/>
          </a:xfrm>
          <a:prstGeom prst="ellipse">
            <a:avLst/>
          </a:prstGeom>
          <a:solidFill>
            <a:srgbClr val="8FB8F5"/>
          </a:solidFill>
          <a:ln w="12700">
            <a:solidFill>
              <a:srgbClr val="8FB8F5"/>
            </a:solidFill>
            <a:prstDash val="solid"/>
          </a:ln>
        </p:spPr>
      </p:sp>
      <p:sp>
        <p:nvSpPr>
          <p:cNvPr id="64" name="Text 62"/>
          <p:cNvSpPr txBox="1"/>
          <p:nvPr/>
        </p:nvSpPr>
        <p:spPr>
          <a:xfrm>
            <a:off x="7232904" y="4416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65" name="Shape 63"/>
          <p:cNvSpPr/>
          <p:nvPr/>
        </p:nvSpPr>
        <p:spPr>
          <a:xfrm>
            <a:off x="7616952" y="4498848"/>
            <a:ext cx="374904" cy="109728"/>
          </a:xfrm>
          <a:prstGeom prst="roundRect">
            <a:avLst>
              <a:gd name="adj" fmla="val 50000"/>
            </a:avLst>
          </a:prstGeom>
          <a:solidFill>
            <a:srgbClr val="D1D6DB"/>
          </a:solidFill>
          <a:ln w="12700">
            <a:solidFill>
              <a:srgbClr val="D1D6DB"/>
            </a:solidFill>
            <a:prstDash val="solid"/>
          </a:ln>
        </p:spPr>
      </p:sp>
      <p:sp>
        <p:nvSpPr>
          <p:cNvPr id="66" name="Shape 64"/>
          <p:cNvSpPr/>
          <p:nvPr/>
        </p:nvSpPr>
        <p:spPr>
          <a:xfrm>
            <a:off x="8046720" y="4498848"/>
            <a:ext cx="201168" cy="109728"/>
          </a:xfrm>
          <a:prstGeom prst="roundRect">
            <a:avLst>
              <a:gd name="adj" fmla="val 50000"/>
            </a:avLst>
          </a:prstGeom>
          <a:solidFill>
            <a:srgbClr val="E5E8EB"/>
          </a:solidFill>
          <a:ln w="12700">
            <a:solidFill>
              <a:srgbClr val="E5E8EB"/>
            </a:solidFill>
            <a:prstDash val="solid"/>
          </a:ln>
        </p:spPr>
      </p:sp>
      <p:sp>
        <p:nvSpPr>
          <p:cNvPr id="67" name="Shape 65"/>
          <p:cNvSpPr/>
          <p:nvPr/>
        </p:nvSpPr>
        <p:spPr>
          <a:xfrm>
            <a:off x="8458200" y="4480560"/>
            <a:ext cx="603504" cy="146304"/>
          </a:xfrm>
          <a:prstGeom prst="roundRect">
            <a:avLst>
              <a:gd name="adj" fmla="val 50000"/>
            </a:avLst>
          </a:prstGeom>
          <a:solidFill>
            <a:srgbClr val="8FB8F5"/>
          </a:solidFill>
          <a:ln w="12700">
            <a:solidFill>
              <a:srgbClr val="8FB8F5"/>
            </a:solidFill>
            <a:prstDash val="solid"/>
          </a:ln>
        </p:spPr>
      </p:sp>
      <p:sp>
        <p:nvSpPr>
          <p:cNvPr id="68" name="Text 66"/>
          <p:cNvSpPr txBox="1"/>
          <p:nvPr/>
        </p:nvSpPr>
        <p:spPr>
          <a:xfrm>
            <a:off x="7159752" y="4736592"/>
            <a:ext cx="4227271"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 순서를 보여 주는 도식 · 실제 화면 모양과 다름</a:t>
            </a:r>
            <a:endParaRPr lang="en-US" sz="1100" dirty="0"/>
          </a:p>
        </p:txBody>
      </p:sp>
      <p:sp>
        <p:nvSpPr>
          <p:cNvPr id="69" name="Shape 67"/>
          <p:cNvSpPr/>
          <p:nvPr/>
        </p:nvSpPr>
        <p:spPr>
          <a:xfrm>
            <a:off x="548640" y="5532120"/>
            <a:ext cx="11094415" cy="658368"/>
          </a:xfrm>
          <a:prstGeom prst="roundRect">
            <a:avLst>
              <a:gd name="adj" fmla="val 19444"/>
            </a:avLst>
          </a:prstGeom>
          <a:solidFill>
            <a:srgbClr val="191F28"/>
          </a:solidFill>
          <a:ln w="12700">
            <a:solidFill>
              <a:srgbClr val="191F28"/>
            </a:solidFill>
            <a:prstDash val="solid"/>
          </a:ln>
        </p:spPr>
      </p:sp>
      <p:sp>
        <p:nvSpPr>
          <p:cNvPr id="70" name="Text 68"/>
          <p:cNvSpPr txBox="1"/>
          <p:nvPr/>
        </p:nvSpPr>
        <p:spPr>
          <a:xfrm>
            <a:off x="868680" y="5532120"/>
            <a:ext cx="10454335" cy="658368"/>
          </a:xfrm>
          <a:prstGeom prst="rect">
            <a:avLst/>
          </a:prstGeom>
          <a:noFill/>
          <a:ln/>
        </p:spPr>
        <p:txBody>
          <a:bodyPr wrap="square" lIns="0" tIns="0" rIns="0" bIns="0" rtlCol="0" anchor="ctr"/>
          <a:lstStyle/>
          <a:p>
            <a:pPr indent="0" marL="0">
              <a:buNone/>
            </a:pPr>
            <a:r>
              <a:rPr lang="en-US" sz="1800" b="1" dirty="0">
                <a:solidFill>
                  <a:srgbClr val="C9E2FF"/>
                </a:solidFill>
                <a:latin typeface="맑은 고딕" pitchFamily="34" charset="0"/>
                <a:ea typeface="맑은 고딕" pitchFamily="34" charset="-122"/>
                <a:cs typeface="맑은 고딕" pitchFamily="34" charset="-120"/>
              </a:rPr>
              <a:t>기억할 것   </a:t>
            </a:r>
            <a:pPr indent="0" marL="0">
              <a:buNone/>
            </a:pPr>
            <a:r>
              <a:rPr lang="en-US" sz="1800" b="1" dirty="0">
                <a:solidFill>
                  <a:srgbClr val="FFFFFF"/>
                </a:solidFill>
                <a:latin typeface="맑은 고딕" pitchFamily="34" charset="0"/>
                <a:ea typeface="맑은 고딕" pitchFamily="34" charset="-122"/>
                <a:cs typeface="맑은 고딕" pitchFamily="34" charset="-120"/>
              </a:rPr>
              <a:t>추천 카드부터, 고객찾기 목록은 위에서부터 연락</a:t>
            </a:r>
            <a:endParaRPr lang="en-US" sz="1800" dirty="0"/>
          </a:p>
        </p:txBody>
      </p:sp>
      <p:sp>
        <p:nvSpPr>
          <p:cNvPr id="71" name="Text 69"/>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72" name="Text 7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852160" cy="310896"/>
          </a:xfrm>
          <a:prstGeom prst="rect">
            <a:avLst/>
          </a:prstGeom>
          <a:noFill/>
          <a:ln/>
        </p:spPr>
        <p:txBody>
          <a:bodyPr wrap="square" lIns="0" tIns="0" rIns="0" bIns="0" rtlCol="0" anchor="ctr"/>
          <a:lstStyle/>
          <a:p>
            <a:pPr indent="0" marL="0">
              <a:buNone/>
            </a:pPr>
            <a:r>
              <a:rPr lang="en-US" sz="1300" b="1" dirty="0">
                <a:solidFill>
                  <a:srgbClr val="3182F6"/>
                </a:solidFill>
                <a:latin typeface="맑은 고딕" pitchFamily="34" charset="0"/>
                <a:ea typeface="맑은 고딕" pitchFamily="34" charset="-122"/>
                <a:cs typeface="맑은 고딕" pitchFamily="34" charset="-120"/>
              </a:rPr>
              <a:t>2 · 고르기</a:t>
            </a:r>
            <a:endParaRPr lang="en-US" sz="1300" dirty="0"/>
          </a:p>
        </p:txBody>
      </p:sp>
      <p:sp>
        <p:nvSpPr>
          <p:cNvPr id="3" name="Shape 1"/>
          <p:cNvSpPr/>
          <p:nvPr/>
        </p:nvSpPr>
        <p:spPr>
          <a:xfrm>
            <a:off x="6668719" y="347472"/>
            <a:ext cx="1188720" cy="310896"/>
          </a:xfrm>
          <a:prstGeom prst="roundRect">
            <a:avLst>
              <a:gd name="adj" fmla="val 50000"/>
            </a:avLst>
          </a:prstGeom>
          <a:solidFill>
            <a:srgbClr val="F2F4F6"/>
          </a:solidFill>
          <a:ln w="12700">
            <a:solidFill>
              <a:srgbClr val="F2F4F6"/>
            </a:solidFill>
            <a:prstDash val="solid"/>
          </a:ln>
        </p:spPr>
      </p:sp>
      <p:sp>
        <p:nvSpPr>
          <p:cNvPr id="4" name="Text 2"/>
          <p:cNvSpPr txBox="1"/>
          <p:nvPr/>
        </p:nvSpPr>
        <p:spPr>
          <a:xfrm>
            <a:off x="6668719"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1 찾기</a:t>
            </a:r>
            <a:endParaRPr lang="en-US" sz="1150" dirty="0"/>
          </a:p>
        </p:txBody>
      </p:sp>
      <p:sp>
        <p:nvSpPr>
          <p:cNvPr id="5" name="Shape 3"/>
          <p:cNvSpPr/>
          <p:nvPr/>
        </p:nvSpPr>
        <p:spPr>
          <a:xfrm>
            <a:off x="7930591" y="347472"/>
            <a:ext cx="1188720" cy="310896"/>
          </a:xfrm>
          <a:prstGeom prst="roundRect">
            <a:avLst>
              <a:gd name="adj" fmla="val 50000"/>
            </a:avLst>
          </a:prstGeom>
          <a:solidFill>
            <a:srgbClr val="3182F6"/>
          </a:solidFill>
          <a:ln w="12700">
            <a:solidFill>
              <a:srgbClr val="3182F6"/>
            </a:solidFill>
            <a:prstDash val="solid"/>
          </a:ln>
        </p:spPr>
      </p:sp>
      <p:sp>
        <p:nvSpPr>
          <p:cNvPr id="6" name="Text 4"/>
          <p:cNvSpPr txBox="1"/>
          <p:nvPr/>
        </p:nvSpPr>
        <p:spPr>
          <a:xfrm>
            <a:off x="7930591" y="347472"/>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2 고르기</a:t>
            </a:r>
            <a:endParaRPr lang="en-US" sz="1150" dirty="0"/>
          </a:p>
        </p:txBody>
      </p:sp>
      <p:sp>
        <p:nvSpPr>
          <p:cNvPr id="7" name="Shape 5"/>
          <p:cNvSpPr/>
          <p:nvPr/>
        </p:nvSpPr>
        <p:spPr>
          <a:xfrm>
            <a:off x="9192463" y="347472"/>
            <a:ext cx="1188720" cy="310896"/>
          </a:xfrm>
          <a:prstGeom prst="roundRect">
            <a:avLst>
              <a:gd name="adj" fmla="val 50000"/>
            </a:avLst>
          </a:prstGeom>
          <a:solidFill>
            <a:srgbClr val="F2F4F6"/>
          </a:solidFill>
          <a:ln w="12700">
            <a:solidFill>
              <a:srgbClr val="F2F4F6"/>
            </a:solidFill>
            <a:prstDash val="solid"/>
          </a:ln>
        </p:spPr>
      </p:sp>
      <p:sp>
        <p:nvSpPr>
          <p:cNvPr id="8" name="Text 6"/>
          <p:cNvSpPr txBox="1"/>
          <p:nvPr/>
        </p:nvSpPr>
        <p:spPr>
          <a:xfrm>
            <a:off x="9192463"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3 묻기</a:t>
            </a:r>
            <a:endParaRPr lang="en-US" sz="1150" dirty="0"/>
          </a:p>
        </p:txBody>
      </p:sp>
      <p:sp>
        <p:nvSpPr>
          <p:cNvPr id="9" name="Shape 7"/>
          <p:cNvSpPr/>
          <p:nvPr/>
        </p:nvSpPr>
        <p:spPr>
          <a:xfrm>
            <a:off x="10454335" y="347472"/>
            <a:ext cx="1188720" cy="310896"/>
          </a:xfrm>
          <a:prstGeom prst="roundRect">
            <a:avLst>
              <a:gd name="adj" fmla="val 50000"/>
            </a:avLst>
          </a:prstGeom>
          <a:solidFill>
            <a:srgbClr val="F2F4F6"/>
          </a:solidFill>
          <a:ln w="12700">
            <a:solidFill>
              <a:srgbClr val="F2F4F6"/>
            </a:solidFill>
            <a:prstDash val="solid"/>
          </a:ln>
        </p:spPr>
      </p:sp>
      <p:sp>
        <p:nvSpPr>
          <p:cNvPr id="10" name="Text 8"/>
          <p:cNvSpPr txBox="1"/>
          <p:nvPr/>
        </p:nvSpPr>
        <p:spPr>
          <a:xfrm>
            <a:off x="10454335" y="347472"/>
            <a:ext cx="1188720" cy="310896"/>
          </a:xfrm>
          <a:prstGeom prst="rect">
            <a:avLst/>
          </a:prstGeom>
          <a:noFill/>
          <a:ln/>
        </p:spPr>
        <p:txBody>
          <a:bodyPr wrap="square" lIns="0" tIns="0" rIns="0" bIns="0" rtlCol="0" anchor="ctr"/>
          <a:lstStyle/>
          <a:p>
            <a:pPr algn="ctr" indent="0" marL="0">
              <a:buNone/>
            </a:pPr>
            <a:r>
              <a:rPr lang="en-US" sz="1150" dirty="0">
                <a:solidFill>
                  <a:srgbClr val="4E5968"/>
                </a:solidFill>
                <a:latin typeface="맑은 고딕" pitchFamily="34" charset="0"/>
                <a:ea typeface="맑은 고딕" pitchFamily="34" charset="-122"/>
                <a:cs typeface="맑은 고딕" pitchFamily="34" charset="-120"/>
              </a:rPr>
              <a:t>4 터치하기</a:t>
            </a:r>
            <a:endParaRPr lang="en-US" sz="1150" dirty="0"/>
          </a:p>
        </p:txBody>
      </p:sp>
      <p:sp>
        <p:nvSpPr>
          <p:cNvPr id="11" name="Text 9"/>
          <p:cNvSpPr txBox="1"/>
          <p:nvPr/>
        </p:nvSpPr>
        <p:spPr>
          <a:xfrm>
            <a:off x="548640" y="749808"/>
            <a:ext cx="11094415" cy="713232"/>
          </a:xfrm>
          <a:prstGeom prst="rect">
            <a:avLst/>
          </a:prstGeom>
          <a:noFill/>
          <a:ln/>
        </p:spPr>
        <p:txBody>
          <a:bodyPr wrap="square" lIns="0" tIns="0" rIns="0" bIns="0" rtlCol="0" anchor="ctr"/>
          <a:lstStyle/>
          <a:p>
            <a:pPr indent="0" marL="0">
              <a:buNone/>
            </a:pPr>
            <a:r>
              <a:rPr lang="en-US" sz="3400" b="1" dirty="0">
                <a:solidFill>
                  <a:srgbClr val="191F28"/>
                </a:solidFill>
                <a:latin typeface="맑은 고딕" pitchFamily="34" charset="0"/>
                <a:ea typeface="맑은 고딕" pitchFamily="34" charset="-122"/>
                <a:cs typeface="맑은 고딕" pitchFamily="34" charset="-120"/>
              </a:rPr>
              <a:t>동의가 없어도, 첫 연락 준비는 MeAI가</a:t>
            </a:r>
            <a:endParaRPr lang="en-US" sz="3400" dirty="0"/>
          </a:p>
        </p:txBody>
      </p:sp>
      <p:sp>
        <p:nvSpPr>
          <p:cNvPr id="12" name="Text 10"/>
          <p:cNvSpPr txBox="1"/>
          <p:nvPr/>
        </p:nvSpPr>
        <p:spPr>
          <a:xfrm>
            <a:off x="548640" y="1463040"/>
            <a:ext cx="11094415" cy="384048"/>
          </a:xfrm>
          <a:prstGeom prst="rect">
            <a:avLst/>
          </a:prstGeom>
          <a:noFill/>
          <a:ln/>
        </p:spPr>
        <p:txBody>
          <a:bodyPr wrap="square" lIns="0" tIns="0" rIns="0" bIns="0" rtlCol="0" anchor="ctr"/>
          <a:lstStyle/>
          <a:p>
            <a:pPr indent="0" marL="0">
              <a:buNone/>
            </a:pPr>
            <a:r>
              <a:rPr lang="en-US" sz="1700" dirty="0">
                <a:solidFill>
                  <a:srgbClr val="6B7684"/>
                </a:solidFill>
                <a:latin typeface="맑은 고딕" pitchFamily="34" charset="0"/>
                <a:ea typeface="맑은 고딕" pitchFamily="34" charset="-122"/>
                <a:cs typeface="맑은 고딕" pitchFamily="34" charset="-120"/>
              </a:rPr>
              <a:t>사전조회동의 필요 고객엔 일반대화 최적화 프롬프트가 자동 세팅</a:t>
            </a:r>
            <a:endParaRPr lang="en-US" sz="1700" dirty="0"/>
          </a:p>
        </p:txBody>
      </p:sp>
      <p:sp>
        <p:nvSpPr>
          <p:cNvPr id="13" name="Shape 11"/>
          <p:cNvSpPr/>
          <p:nvPr/>
        </p:nvSpPr>
        <p:spPr>
          <a:xfrm>
            <a:off x="548640" y="2011680"/>
            <a:ext cx="3147097" cy="3154680"/>
          </a:xfrm>
          <a:prstGeom prst="roundRect">
            <a:avLst>
              <a:gd name="adj" fmla="val 2000"/>
            </a:avLst>
          </a:prstGeom>
          <a:solidFill>
            <a:srgbClr val="FFFFFF"/>
          </a:solidFill>
          <a:ln w="12700">
            <a:solidFill>
              <a:srgbClr val="FFFFFF"/>
            </a:solidFill>
            <a:prstDash val="solid"/>
          </a:ln>
          <a:effectLst>
            <a:outerShdw sx="100000" sy="100000" kx="0" ky="0" algn="bl" rotWithShape="0" blurRad="127000" dist="38100" dir="5400000">
              <a:srgbClr val="000000">
                <a:alpha val="10000"/>
              </a:srgbClr>
            </a:outerShdw>
          </a:effectLst>
        </p:spPr>
      </p:sp>
      <p:pic>
        <p:nvPicPr>
          <p:cNvPr id="14" name="Image 0" descr="MeAI 화면 캡처">    </p:cNvPr>
          <p:cNvPicPr>
            <a:picLocks noChangeAspect="1"/>
          </p:cNvPicPr>
          <p:nvPr/>
        </p:nvPicPr>
        <p:blipFill>
          <a:blip r:embed="rId1"/>
          <a:stretch>
            <a:fillRect/>
          </a:stretch>
        </p:blipFill>
        <p:spPr>
          <a:xfrm>
            <a:off x="548640" y="2011680"/>
            <a:ext cx="3147097" cy="3154680"/>
          </a:xfrm>
          <a:prstGeom prst="rect">
            <a:avLst/>
          </a:prstGeom>
        </p:spPr>
      </p:pic>
      <p:sp>
        <p:nvSpPr>
          <p:cNvPr id="15" name="Shape 12"/>
          <p:cNvSpPr/>
          <p:nvPr/>
        </p:nvSpPr>
        <p:spPr>
          <a:xfrm>
            <a:off x="639640" y="2679016"/>
            <a:ext cx="2965096" cy="913796"/>
          </a:xfrm>
          <a:prstGeom prst="roundRect">
            <a:avLst>
              <a:gd name="adj" fmla="val 6004"/>
            </a:avLst>
          </a:prstGeom>
          <a:ln w="25400">
            <a:solidFill>
              <a:srgbClr val="3182F6"/>
            </a:solidFill>
            <a:prstDash val="solid"/>
          </a:ln>
        </p:spPr>
      </p:sp>
      <p:sp>
        <p:nvSpPr>
          <p:cNvPr id="16" name="Shape 13"/>
          <p:cNvSpPr/>
          <p:nvPr/>
        </p:nvSpPr>
        <p:spPr>
          <a:xfrm>
            <a:off x="3276212" y="2524909"/>
            <a:ext cx="384048" cy="384048"/>
          </a:xfrm>
          <a:prstGeom prst="ellipse">
            <a:avLst/>
          </a:prstGeom>
          <a:solidFill>
            <a:srgbClr val="3182F6"/>
          </a:solidFill>
          <a:ln w="19050">
            <a:solidFill>
              <a:srgbClr val="FFFFFF"/>
            </a:solidFill>
            <a:prstDash val="solid"/>
          </a:ln>
        </p:spPr>
      </p:sp>
      <p:sp>
        <p:nvSpPr>
          <p:cNvPr id="17" name="Text 14"/>
          <p:cNvSpPr txBox="1"/>
          <p:nvPr/>
        </p:nvSpPr>
        <p:spPr>
          <a:xfrm>
            <a:off x="3276212" y="2524909"/>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p>
        </p:txBody>
      </p:sp>
      <p:sp>
        <p:nvSpPr>
          <p:cNvPr id="18" name="Shape 15"/>
          <p:cNvSpPr/>
          <p:nvPr/>
        </p:nvSpPr>
        <p:spPr>
          <a:xfrm>
            <a:off x="3412712" y="3230162"/>
            <a:ext cx="384048" cy="384048"/>
          </a:xfrm>
          <a:prstGeom prst="ellipse">
            <a:avLst/>
          </a:prstGeom>
          <a:solidFill>
            <a:srgbClr val="3182F6"/>
          </a:solidFill>
          <a:ln w="19050">
            <a:solidFill>
              <a:srgbClr val="FFFFFF"/>
            </a:solidFill>
            <a:prstDash val="solid"/>
          </a:ln>
        </p:spPr>
      </p:sp>
      <p:sp>
        <p:nvSpPr>
          <p:cNvPr id="19" name="Text 16"/>
          <p:cNvSpPr txBox="1"/>
          <p:nvPr/>
        </p:nvSpPr>
        <p:spPr>
          <a:xfrm>
            <a:off x="3412712" y="323016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p>
        </p:txBody>
      </p:sp>
      <p:sp>
        <p:nvSpPr>
          <p:cNvPr id="20" name="Shape 17"/>
          <p:cNvSpPr/>
          <p:nvPr/>
        </p:nvSpPr>
        <p:spPr>
          <a:xfrm>
            <a:off x="447616" y="4223583"/>
            <a:ext cx="384048" cy="384048"/>
          </a:xfrm>
          <a:prstGeom prst="ellipse">
            <a:avLst/>
          </a:prstGeom>
          <a:solidFill>
            <a:srgbClr val="F04452"/>
          </a:solidFill>
          <a:ln w="19050">
            <a:solidFill>
              <a:srgbClr val="FFFFFF"/>
            </a:solidFill>
            <a:prstDash val="solid"/>
          </a:ln>
        </p:spPr>
      </p:sp>
      <p:sp>
        <p:nvSpPr>
          <p:cNvPr id="21" name="Text 18"/>
          <p:cNvSpPr txBox="1"/>
          <p:nvPr/>
        </p:nvSpPr>
        <p:spPr>
          <a:xfrm>
            <a:off x="447616" y="4223583"/>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p>
        </p:txBody>
      </p:sp>
      <p:sp>
        <p:nvSpPr>
          <p:cNvPr id="22" name="Text 19"/>
          <p:cNvSpPr txBox="1"/>
          <p:nvPr/>
        </p:nvSpPr>
        <p:spPr>
          <a:xfrm>
            <a:off x="548640" y="5221224"/>
            <a:ext cx="3512857" cy="237744"/>
          </a:xfrm>
          <a:prstGeom prst="rect">
            <a:avLst/>
          </a:prstGeom>
          <a:noFill/>
          <a:ln/>
        </p:spPr>
        <p:txBody>
          <a:bodyPr wrap="square" lIns="0" tIns="0" rIns="0" bIns="0" rtlCol="0" anchor="ctr"/>
          <a:lstStyle/>
          <a:p>
            <a:pPr indent="0" marL="0">
              <a:buNone/>
            </a:pPr>
            <a:r>
              <a:rPr lang="en-US" sz="1100" dirty="0">
                <a:solidFill>
                  <a:srgbClr val="8B95A1"/>
                </a:solidFill>
                <a:latin typeface="맑은 고딕" pitchFamily="34" charset="0"/>
                <a:ea typeface="맑은 고딕" pitchFamily="34" charset="-122"/>
                <a:cs typeface="맑은 고딕" pitchFamily="34" charset="-120"/>
              </a:rPr>
              <a:t>김민수 고객(사전조회동의 필요) · 고객찾기 오른쪽 · 이름은 예시</a:t>
            </a:r>
            <a:endParaRPr lang="en-US" sz="1100" dirty="0"/>
          </a:p>
        </p:txBody>
      </p:sp>
      <p:sp>
        <p:nvSpPr>
          <p:cNvPr id="23" name="Shape 20"/>
          <p:cNvSpPr/>
          <p:nvPr/>
        </p:nvSpPr>
        <p:spPr>
          <a:xfrm>
            <a:off x="4160520" y="2011680"/>
            <a:ext cx="7482535" cy="1847088"/>
          </a:xfrm>
          <a:prstGeom prst="roundRect">
            <a:avLst>
              <a:gd name="adj" fmla="val 7921"/>
            </a:avLst>
          </a:prstGeom>
          <a:solidFill>
            <a:srgbClr val="FFFFFF"/>
          </a:solidFill>
          <a:ln w="9525">
            <a:solidFill>
              <a:srgbClr val="E5E8EB"/>
            </a:solidFill>
            <a:prstDash val="solid"/>
          </a:ln>
          <a:effectLst>
            <a:outerShdw sx="100000" sy="100000" kx="0" ky="0" algn="bl" rotWithShape="0" blurRad="101600" dist="25400" dir="5400000">
              <a:srgbClr val="000000">
                <a:alpha val="7000"/>
              </a:srgbClr>
            </a:outerShdw>
          </a:effectLst>
        </p:spPr>
      </p:sp>
      <p:sp>
        <p:nvSpPr>
          <p:cNvPr id="24" name="Shape 21"/>
          <p:cNvSpPr/>
          <p:nvPr/>
        </p:nvSpPr>
        <p:spPr>
          <a:xfrm>
            <a:off x="4379976" y="2194560"/>
            <a:ext cx="329184" cy="329184"/>
          </a:xfrm>
          <a:prstGeom prst="ellipse">
            <a:avLst/>
          </a:prstGeom>
          <a:solidFill>
            <a:srgbClr val="3182F6"/>
          </a:solidFill>
          <a:ln w="19050">
            <a:solidFill>
              <a:srgbClr val="FFFFFF"/>
            </a:solidFill>
            <a:prstDash val="solid"/>
          </a:ln>
        </p:spPr>
      </p:sp>
      <p:sp>
        <p:nvSpPr>
          <p:cNvPr id="25" name="Text 22"/>
          <p:cNvSpPr txBox="1"/>
          <p:nvPr/>
        </p:nvSpPr>
        <p:spPr>
          <a:xfrm>
            <a:off x="4379976" y="21945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26" name="Text 23"/>
          <p:cNvSpPr txBox="1"/>
          <p:nvPr/>
        </p:nvSpPr>
        <p:spPr>
          <a:xfrm>
            <a:off x="4818888" y="2194560"/>
            <a:ext cx="3657600" cy="329184"/>
          </a:xfrm>
          <a:prstGeom prst="rect">
            <a:avLst/>
          </a:prstGeom>
          <a:noFill/>
          <a:ln/>
        </p:spPr>
        <p:txBody>
          <a:bodyPr wrap="square" lIns="0" tIns="0" rIns="0" bIns="0" rtlCol="0" anchor="ctr"/>
          <a:lstStyle/>
          <a:p>
            <a:pPr indent="0" marL="0">
              <a:buNone/>
            </a:pPr>
            <a:r>
              <a:rPr lang="en-US" sz="1600" b="1" dirty="0">
                <a:solidFill>
                  <a:srgbClr val="191F28"/>
                </a:solidFill>
                <a:latin typeface="맑은 고딕" pitchFamily="34" charset="0"/>
                <a:ea typeface="맑은 고딕" pitchFamily="34" charset="-122"/>
                <a:cs typeface="맑은 고딕" pitchFamily="34" charset="-120"/>
              </a:rPr>
              <a:t>MeAI가 자동으로 넣는 조건</a:t>
            </a:r>
            <a:endParaRPr lang="en-US" sz="1600" dirty="0"/>
          </a:p>
        </p:txBody>
      </p:sp>
      <p:sp>
        <p:nvSpPr>
          <p:cNvPr id="27" name="Shape 24"/>
          <p:cNvSpPr/>
          <p:nvPr/>
        </p:nvSpPr>
        <p:spPr>
          <a:xfrm>
            <a:off x="4434840" y="2688336"/>
            <a:ext cx="1535049" cy="384048"/>
          </a:xfrm>
          <a:prstGeom prst="roundRect">
            <a:avLst>
              <a:gd name="adj" fmla="val 50000"/>
            </a:avLst>
          </a:prstGeom>
          <a:solidFill>
            <a:srgbClr val="E8F3FF"/>
          </a:solidFill>
          <a:ln w="12700">
            <a:solidFill>
              <a:srgbClr val="E8F3FF"/>
            </a:solidFill>
            <a:prstDash val="solid"/>
          </a:ln>
        </p:spPr>
      </p:sp>
      <p:sp>
        <p:nvSpPr>
          <p:cNvPr id="28" name="Text 25"/>
          <p:cNvSpPr txBox="1"/>
          <p:nvPr/>
        </p:nvSpPr>
        <p:spPr>
          <a:xfrm>
            <a:off x="4434840" y="2688336"/>
            <a:ext cx="1535049" cy="384048"/>
          </a:xfrm>
          <a:prstGeom prst="rect">
            <a:avLst/>
          </a:prstGeom>
          <a:noFill/>
          <a:ln/>
        </p:spPr>
        <p:txBody>
          <a:bodyPr wrap="square" lIns="0" tIns="0" rIns="0" bIns="0" rtlCol="0" anchor="ctr"/>
          <a:lstStyle/>
          <a:p>
            <a:pPr algn="ctr" indent="0" marL="0">
              <a:buNone/>
            </a:pPr>
            <a:r>
              <a:rPr lang="en-US" sz="1350" b="1" dirty="0">
                <a:solidFill>
                  <a:srgbClr val="1B64DA"/>
                </a:solidFill>
                <a:latin typeface="맑은 고딕" pitchFamily="34" charset="0"/>
                <a:ea typeface="맑은 고딕" pitchFamily="34" charset="-122"/>
                <a:cs typeface="맑은 고딕" pitchFamily="34" charset="-120"/>
              </a:rPr>
              <a:t>#암진단비 부족</a:t>
            </a:r>
            <a:endParaRPr lang="en-US" sz="1350" dirty="0"/>
          </a:p>
        </p:txBody>
      </p:sp>
      <p:sp>
        <p:nvSpPr>
          <p:cNvPr id="29" name="Text 26"/>
          <p:cNvSpPr txBox="1"/>
          <p:nvPr/>
        </p:nvSpPr>
        <p:spPr>
          <a:xfrm>
            <a:off x="4434840" y="3118104"/>
            <a:ext cx="1657096" cy="237744"/>
          </a:xfrm>
          <a:prstGeom prst="rect">
            <a:avLst/>
          </a:prstGeom>
          <a:noFill/>
          <a:ln/>
        </p:spPr>
        <p:txBody>
          <a:bodyPr wrap="square" lIns="0" tIns="0" rIns="0" bIns="0" rtlCol="0" anchor="ctr"/>
          <a:lstStyle/>
          <a:p>
            <a:pPr indent="0" marL="0">
              <a:buNone/>
            </a:pPr>
            <a:r>
              <a:rPr lang="en-US" sz="1150" dirty="0">
                <a:solidFill>
                  <a:srgbClr val="6B7684"/>
                </a:solidFill>
                <a:latin typeface="맑은 고딕" pitchFamily="34" charset="0"/>
                <a:ea typeface="맑은 고딕" pitchFamily="34" charset="-122"/>
                <a:cs typeface="맑은 고딕" pitchFamily="34" charset="-120"/>
              </a:rPr>
              <a:t>고객 그룹 = 연락할 이유</a:t>
            </a:r>
            <a:endParaRPr lang="en-US" sz="1150" dirty="0"/>
          </a:p>
        </p:txBody>
      </p:sp>
      <p:sp>
        <p:nvSpPr>
          <p:cNvPr id="30" name="Shape 27"/>
          <p:cNvSpPr/>
          <p:nvPr/>
        </p:nvSpPr>
        <p:spPr>
          <a:xfrm>
            <a:off x="6256528" y="2688336"/>
            <a:ext cx="838962" cy="384048"/>
          </a:xfrm>
          <a:prstGeom prst="roundRect">
            <a:avLst>
              <a:gd name="adj" fmla="val 50000"/>
            </a:avLst>
          </a:prstGeom>
          <a:solidFill>
            <a:srgbClr val="E8F3FF"/>
          </a:solidFill>
          <a:ln w="12700">
            <a:solidFill>
              <a:srgbClr val="E8F3FF"/>
            </a:solidFill>
            <a:prstDash val="solid"/>
          </a:ln>
        </p:spPr>
      </p:sp>
      <p:sp>
        <p:nvSpPr>
          <p:cNvPr id="31" name="Text 28"/>
          <p:cNvSpPr txBox="1"/>
          <p:nvPr/>
        </p:nvSpPr>
        <p:spPr>
          <a:xfrm>
            <a:off x="6256528" y="2688336"/>
            <a:ext cx="838962" cy="384048"/>
          </a:xfrm>
          <a:prstGeom prst="rect">
            <a:avLst/>
          </a:prstGeom>
          <a:noFill/>
          <a:ln/>
        </p:spPr>
        <p:txBody>
          <a:bodyPr wrap="square" lIns="0" tIns="0" rIns="0" bIns="0" rtlCol="0" anchor="ctr"/>
          <a:lstStyle/>
          <a:p>
            <a:pPr algn="ctr" indent="0" marL="0">
              <a:buNone/>
            </a:pPr>
            <a:r>
              <a:rPr lang="en-US" sz="1350" b="1" dirty="0">
                <a:solidFill>
                  <a:srgbClr val="1B64DA"/>
                </a:solidFill>
                <a:latin typeface="맑은 고딕" pitchFamily="34" charset="0"/>
                <a:ea typeface="맑은 고딕" pitchFamily="34" charset="-122"/>
                <a:cs typeface="맑은 고딕" pitchFamily="34" charset="-120"/>
              </a:rPr>
              <a:t>#50대</a:t>
            </a:r>
            <a:endParaRPr lang="en-US" sz="1350" dirty="0"/>
          </a:p>
        </p:txBody>
      </p:sp>
      <p:sp>
        <p:nvSpPr>
          <p:cNvPr id="32" name="Text 29"/>
          <p:cNvSpPr txBox="1"/>
          <p:nvPr/>
        </p:nvSpPr>
        <p:spPr>
          <a:xfrm>
            <a:off x="6256528" y="3118104"/>
            <a:ext cx="838962" cy="237744"/>
          </a:xfrm>
          <a:prstGeom prst="rect">
            <a:avLst/>
          </a:prstGeom>
          <a:noFill/>
          <a:ln/>
        </p:spPr>
        <p:txBody>
          <a:bodyPr wrap="square" lIns="0" tIns="0" rIns="0" bIns="0" rtlCol="0" anchor="ctr"/>
          <a:lstStyle/>
          <a:p>
            <a:pPr indent="0" marL="0">
              <a:buNone/>
            </a:pPr>
            <a:r>
              <a:rPr lang="en-US" sz="1150" dirty="0">
                <a:solidFill>
                  <a:srgbClr val="6B7684"/>
                </a:solidFill>
                <a:latin typeface="맑은 고딕" pitchFamily="34" charset="0"/>
                <a:ea typeface="맑은 고딕" pitchFamily="34" charset="-122"/>
                <a:cs typeface="맑은 고딕" pitchFamily="34" charset="-120"/>
              </a:rPr>
              <a:t>나이대</a:t>
            </a:r>
            <a:endParaRPr lang="en-US" sz="1150" dirty="0"/>
          </a:p>
        </p:txBody>
      </p:sp>
      <p:sp>
        <p:nvSpPr>
          <p:cNvPr id="33" name="Shape 30"/>
          <p:cNvSpPr/>
          <p:nvPr/>
        </p:nvSpPr>
        <p:spPr>
          <a:xfrm>
            <a:off x="7260082" y="2688336"/>
            <a:ext cx="797814" cy="384048"/>
          </a:xfrm>
          <a:prstGeom prst="roundRect">
            <a:avLst>
              <a:gd name="adj" fmla="val 50000"/>
            </a:avLst>
          </a:prstGeom>
          <a:solidFill>
            <a:srgbClr val="E8F3FF"/>
          </a:solidFill>
          <a:ln w="12700">
            <a:solidFill>
              <a:srgbClr val="E8F3FF"/>
            </a:solidFill>
            <a:prstDash val="solid"/>
          </a:ln>
        </p:spPr>
      </p:sp>
      <p:sp>
        <p:nvSpPr>
          <p:cNvPr id="34" name="Text 31"/>
          <p:cNvSpPr txBox="1"/>
          <p:nvPr/>
        </p:nvSpPr>
        <p:spPr>
          <a:xfrm>
            <a:off x="7260082" y="2688336"/>
            <a:ext cx="797814" cy="384048"/>
          </a:xfrm>
          <a:prstGeom prst="rect">
            <a:avLst/>
          </a:prstGeom>
          <a:noFill/>
          <a:ln/>
        </p:spPr>
        <p:txBody>
          <a:bodyPr wrap="square" lIns="0" tIns="0" rIns="0" bIns="0" rtlCol="0" anchor="ctr"/>
          <a:lstStyle/>
          <a:p>
            <a:pPr algn="ctr" indent="0" marL="0">
              <a:buNone/>
            </a:pPr>
            <a:r>
              <a:rPr lang="en-US" sz="1350" b="1" dirty="0">
                <a:solidFill>
                  <a:srgbClr val="1B64DA"/>
                </a:solidFill>
                <a:latin typeface="맑은 고딕" pitchFamily="34" charset="0"/>
                <a:ea typeface="맑은 고딕" pitchFamily="34" charset="-122"/>
                <a:cs typeface="맑은 고딕" pitchFamily="34" charset="-120"/>
              </a:rPr>
              <a:t>#보유</a:t>
            </a:r>
            <a:endParaRPr lang="en-US" sz="1350" dirty="0"/>
          </a:p>
        </p:txBody>
      </p:sp>
      <p:sp>
        <p:nvSpPr>
          <p:cNvPr id="35" name="Text 32"/>
          <p:cNvSpPr txBox="1"/>
          <p:nvPr/>
        </p:nvSpPr>
        <p:spPr>
          <a:xfrm>
            <a:off x="7260082" y="3118104"/>
            <a:ext cx="1259840" cy="237744"/>
          </a:xfrm>
          <a:prstGeom prst="rect">
            <a:avLst/>
          </a:prstGeom>
          <a:noFill/>
          <a:ln/>
        </p:spPr>
        <p:txBody>
          <a:bodyPr wrap="square" lIns="0" tIns="0" rIns="0" bIns="0" rtlCol="0" anchor="ctr"/>
          <a:lstStyle/>
          <a:p>
            <a:pPr indent="0" marL="0">
              <a:buNone/>
            </a:pPr>
            <a:r>
              <a:rPr lang="en-US" sz="1150" dirty="0">
                <a:solidFill>
                  <a:srgbClr val="6B7684"/>
                </a:solidFill>
                <a:latin typeface="맑은 고딕" pitchFamily="34" charset="0"/>
                <a:ea typeface="맑은 고딕" pitchFamily="34" charset="-122"/>
                <a:cs typeface="맑은 고딕" pitchFamily="34" charset="-120"/>
              </a:rPr>
              <a:t>보유 · 가망 · 이관</a:t>
            </a:r>
            <a:endParaRPr lang="en-US" sz="1150" dirty="0"/>
          </a:p>
        </p:txBody>
      </p:sp>
      <p:sp>
        <p:nvSpPr>
          <p:cNvPr id="36" name="Text 33"/>
          <p:cNvSpPr txBox="1"/>
          <p:nvPr/>
        </p:nvSpPr>
        <p:spPr>
          <a:xfrm>
            <a:off x="8666226" y="2688336"/>
            <a:ext cx="274320" cy="384048"/>
          </a:xfrm>
          <a:prstGeom prst="rect">
            <a:avLst/>
          </a:prstGeom>
          <a:noFill/>
          <a:ln/>
        </p:spPr>
        <p:txBody>
          <a:bodyPr wrap="square" lIns="0" tIns="0" rIns="0" bIns="0" rtlCol="0" anchor="ctr"/>
          <a:lstStyle/>
          <a:p>
            <a:pPr algn="ctr" indent="0" marL="0">
              <a:buNone/>
            </a:pPr>
            <a:r>
              <a:rPr lang="en-US" sz="1600" b="1" dirty="0">
                <a:solidFill>
                  <a:srgbClr val="8B95A1"/>
                </a:solidFill>
                <a:latin typeface="맑은 고딕" pitchFamily="34" charset="0"/>
                <a:ea typeface="맑은 고딕" pitchFamily="34" charset="-122"/>
                <a:cs typeface="맑은 고딕" pitchFamily="34" charset="-120"/>
              </a:rPr>
              <a:t>→</a:t>
            </a:r>
            <a:endParaRPr lang="en-US" sz="1600" dirty="0"/>
          </a:p>
        </p:txBody>
      </p:sp>
      <p:sp>
        <p:nvSpPr>
          <p:cNvPr id="37" name="Shape 34"/>
          <p:cNvSpPr/>
          <p:nvPr/>
        </p:nvSpPr>
        <p:spPr>
          <a:xfrm>
            <a:off x="8977122" y="2651760"/>
            <a:ext cx="2437333" cy="713232"/>
          </a:xfrm>
          <a:prstGeom prst="roundRect">
            <a:avLst>
              <a:gd name="adj" fmla="val 15385"/>
            </a:avLst>
          </a:prstGeom>
          <a:solidFill>
            <a:srgbClr val="F9FAFB"/>
          </a:solidFill>
          <a:ln w="12700">
            <a:solidFill>
              <a:srgbClr val="F9FAFB"/>
            </a:solidFill>
            <a:prstDash val="solid"/>
          </a:ln>
        </p:spPr>
      </p:sp>
      <p:sp>
        <p:nvSpPr>
          <p:cNvPr id="38" name="Text 35"/>
          <p:cNvSpPr txBox="1"/>
          <p:nvPr/>
        </p:nvSpPr>
        <p:spPr>
          <a:xfrm>
            <a:off x="9095994" y="2651760"/>
            <a:ext cx="2181301" cy="713232"/>
          </a:xfrm>
          <a:prstGeom prst="rect">
            <a:avLst/>
          </a:prstGeom>
          <a:noFill/>
          <a:ln/>
        </p:spPr>
        <p:txBody>
          <a:bodyPr wrap="square" lIns="0" tIns="0" rIns="0" bIns="0" rtlCol="0" anchor="ctr"/>
          <a:lstStyle/>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안내 문자 문안 3~4줄</a:t>
            </a:r>
            <a:endParaRPr lang="en-US" sz="1300" dirty="0"/>
          </a:p>
          <a:p>
            <a:pPr indent="0" marL="0">
              <a:lnSpc>
                <a:spcPct val="110000"/>
              </a:lnSpc>
              <a:buNone/>
            </a:pPr>
            <a:r>
              <a:rPr lang="en-US" sz="1300" b="1" dirty="0">
                <a:solidFill>
                  <a:srgbClr val="191F28"/>
                </a:solidFill>
                <a:latin typeface="맑은 고딕" pitchFamily="34" charset="0"/>
                <a:ea typeface="맑은 고딕" pitchFamily="34" charset="-122"/>
                <a:cs typeface="맑은 고딕" pitchFamily="34" charset="-120"/>
              </a:rPr>
              <a:t>부담스럽지 않은 톤</a:t>
            </a:r>
            <a:endParaRPr lang="en-US" sz="1300" dirty="0"/>
          </a:p>
        </p:txBody>
      </p:sp>
      <p:sp>
        <p:nvSpPr>
          <p:cNvPr id="39" name="Shape 36"/>
          <p:cNvSpPr/>
          <p:nvPr/>
        </p:nvSpPr>
        <p:spPr>
          <a:xfrm>
            <a:off x="4379976" y="3383280"/>
            <a:ext cx="329184" cy="329184"/>
          </a:xfrm>
          <a:prstGeom prst="ellipse">
            <a:avLst/>
          </a:prstGeom>
          <a:solidFill>
            <a:srgbClr val="3182F6"/>
          </a:solidFill>
          <a:ln w="19050">
            <a:solidFill>
              <a:srgbClr val="FFFFFF"/>
            </a:solidFill>
            <a:prstDash val="solid"/>
          </a:ln>
        </p:spPr>
      </p:sp>
      <p:sp>
        <p:nvSpPr>
          <p:cNvPr id="40" name="Text 37"/>
          <p:cNvSpPr txBox="1"/>
          <p:nvPr/>
        </p:nvSpPr>
        <p:spPr>
          <a:xfrm>
            <a:off x="4379976" y="3383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41" name="Text 38"/>
          <p:cNvSpPr txBox="1"/>
          <p:nvPr/>
        </p:nvSpPr>
        <p:spPr>
          <a:xfrm>
            <a:off x="4818888" y="3355848"/>
            <a:ext cx="6659575" cy="384048"/>
          </a:xfrm>
          <a:prstGeom prst="rect">
            <a:avLst/>
          </a:prstGeom>
          <a:noFill/>
          <a:ln/>
        </p:spPr>
        <p:txBody>
          <a:bodyPr wrap="square" lIns="0" tIns="0" rIns="0" bIns="0" rtlCol="0" anchor="ctr"/>
          <a:lstStyle/>
          <a:p>
            <a:pPr indent="0" marL="0">
              <a:buNone/>
            </a:pPr>
            <a:r>
              <a:rPr lang="en-US" sz="1300" b="1" dirty="0">
                <a:solidFill>
                  <a:srgbClr val="F04452"/>
                </a:solidFill>
                <a:latin typeface="맑은 고딕" pitchFamily="34" charset="0"/>
                <a:ea typeface="맑은 고딕" pitchFamily="34" charset="-122"/>
                <a:cs typeface="맑은 고딕" pitchFamily="34" charset="-120"/>
              </a:rPr>
              <a:t>(고객 성명·연락처는 넣지 말 것)</a:t>
            </a:r>
            <a:pPr indent="0" marL="0">
              <a:buNone/>
            </a:pPr>
            <a:r>
              <a:rPr lang="en-US" sz="1250" dirty="0">
                <a:solidFill>
                  <a:srgbClr val="4E5968"/>
                </a:solidFill>
                <a:latin typeface="맑은 고딕" pitchFamily="34" charset="0"/>
                <a:ea typeface="맑은 고딕" pitchFamily="34" charset="-122"/>
                <a:cs typeface="맑은 고딕" pitchFamily="34" charset="-120"/>
              </a:rPr>
              <a:t>  이름 대신 조건으로 · 동의 전에도 일반대화로</a:t>
            </a:r>
            <a:endParaRPr lang="en-US" sz="1300" dirty="0"/>
          </a:p>
        </p:txBody>
      </p:sp>
      <p:sp>
        <p:nvSpPr>
          <p:cNvPr id="42" name="Shape 39"/>
          <p:cNvSpPr/>
          <p:nvPr/>
        </p:nvSpPr>
        <p:spPr>
          <a:xfrm>
            <a:off x="4160520" y="4023360"/>
            <a:ext cx="1774622" cy="1371600"/>
          </a:xfrm>
          <a:prstGeom prst="roundRect">
            <a:avLst>
              <a:gd name="adj" fmla="val 9333"/>
            </a:avLst>
          </a:prstGeom>
          <a:solidFill>
            <a:srgbClr val="E8F3FF"/>
          </a:solidFill>
          <a:ln w="12700">
            <a:solidFill>
              <a:srgbClr val="E8F3FF"/>
            </a:solidFill>
            <a:prstDash val="solid"/>
          </a:ln>
        </p:spPr>
      </p:sp>
      <p:sp>
        <p:nvSpPr>
          <p:cNvPr id="43" name="Text 40"/>
          <p:cNvSpPr txBox="1"/>
          <p:nvPr/>
        </p:nvSpPr>
        <p:spPr>
          <a:xfrm>
            <a:off x="4343400" y="4169664"/>
            <a:ext cx="1500302" cy="219456"/>
          </a:xfrm>
          <a:prstGeom prst="rect">
            <a:avLst/>
          </a:prstGeom>
          <a:noFill/>
          <a:ln/>
        </p:spPr>
        <p:txBody>
          <a:bodyPr wrap="square" lIns="0" tIns="0" rIns="0" bIns="0" rtlCol="0" anchor="ctr"/>
          <a:lstStyle/>
          <a:p>
            <a:pPr indent="0" marL="0">
              <a:buNone/>
            </a:pPr>
            <a:r>
              <a:rPr lang="en-US" sz="1100" b="1" dirty="0">
                <a:solidFill>
                  <a:srgbClr val="3182F6"/>
                </a:solidFill>
                <a:latin typeface="맑은 고딕" pitchFamily="34" charset="0"/>
                <a:ea typeface="맑은 고딕" pitchFamily="34" charset="-122"/>
                <a:cs typeface="맑은 고딕" pitchFamily="34" charset="-120"/>
              </a:rPr>
              <a:t>STEP 1</a:t>
            </a:r>
            <a:endParaRPr lang="en-US" sz="1100" dirty="0"/>
          </a:p>
        </p:txBody>
      </p:sp>
      <p:sp>
        <p:nvSpPr>
          <p:cNvPr id="44" name="Text 41"/>
          <p:cNvSpPr txBox="1"/>
          <p:nvPr/>
        </p:nvSpPr>
        <p:spPr>
          <a:xfrm>
            <a:off x="4343400" y="4407408"/>
            <a:ext cx="1500302"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파란 질문 누르기</a:t>
            </a:r>
            <a:endParaRPr lang="en-US" sz="1450" dirty="0"/>
          </a:p>
        </p:txBody>
      </p:sp>
      <p:sp>
        <p:nvSpPr>
          <p:cNvPr id="45" name="Text 42"/>
          <p:cNvSpPr txBox="1"/>
          <p:nvPr/>
        </p:nvSpPr>
        <p:spPr>
          <a:xfrm>
            <a:off x="4343400" y="4773168"/>
            <a:ext cx="1500302" cy="512064"/>
          </a:xfrm>
          <a:prstGeom prst="rect">
            <a:avLst/>
          </a:prstGeom>
          <a:noFill/>
          <a:ln/>
        </p:spPr>
        <p:txBody>
          <a:bodyPr wrap="square" lIns="0" tIns="0" rIns="0" bIns="0" rtlCol="0" anchor="t"/>
          <a:lstStyle/>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고객찾기 오른쪽</a:t>
            </a:r>
            <a:endParaRPr lang="en-US" sz="1150" dirty="0"/>
          </a:p>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[일반대화] 추천 질문</a:t>
            </a:r>
            <a:endParaRPr lang="en-US" sz="1150" dirty="0"/>
          </a:p>
        </p:txBody>
      </p:sp>
      <p:sp>
        <p:nvSpPr>
          <p:cNvPr id="46" name="Text 43"/>
          <p:cNvSpPr txBox="1"/>
          <p:nvPr/>
        </p:nvSpPr>
        <p:spPr>
          <a:xfrm>
            <a:off x="5916854" y="4526280"/>
            <a:ext cx="164592" cy="365760"/>
          </a:xfrm>
          <a:prstGeom prst="rect">
            <a:avLst/>
          </a:prstGeom>
          <a:noFill/>
          <a:ln/>
        </p:spPr>
        <p:txBody>
          <a:bodyPr wrap="square" lIns="0" tIns="0" rIns="0" bIns="0" rtlCol="0" anchor="ctr"/>
          <a:lstStyle/>
          <a:p>
            <a:pPr algn="ctr" indent="0" marL="0">
              <a:buNone/>
            </a:pPr>
            <a:r>
              <a:rPr lang="en-US" sz="1600" b="1" dirty="0">
                <a:solidFill>
                  <a:srgbClr val="B0B8C1"/>
                </a:solidFill>
                <a:latin typeface="맑은 고딕" pitchFamily="34" charset="0"/>
                <a:ea typeface="맑은 고딕" pitchFamily="34" charset="-122"/>
                <a:cs typeface="맑은 고딕" pitchFamily="34" charset="-120"/>
              </a:rPr>
              <a:t>›</a:t>
            </a:r>
            <a:endParaRPr lang="en-US" sz="1600" dirty="0"/>
          </a:p>
        </p:txBody>
      </p:sp>
      <p:sp>
        <p:nvSpPr>
          <p:cNvPr id="47" name="Shape 44"/>
          <p:cNvSpPr/>
          <p:nvPr/>
        </p:nvSpPr>
        <p:spPr>
          <a:xfrm>
            <a:off x="6063158" y="4023360"/>
            <a:ext cx="1774622" cy="1371600"/>
          </a:xfrm>
          <a:prstGeom prst="roundRect">
            <a:avLst>
              <a:gd name="adj" fmla="val 9333"/>
            </a:avLst>
          </a:prstGeom>
          <a:solidFill>
            <a:srgbClr val="E8F3FF"/>
          </a:solidFill>
          <a:ln w="12700">
            <a:solidFill>
              <a:srgbClr val="E8F3FF"/>
            </a:solidFill>
            <a:prstDash val="solid"/>
          </a:ln>
        </p:spPr>
      </p:sp>
      <p:sp>
        <p:nvSpPr>
          <p:cNvPr id="48" name="Text 45"/>
          <p:cNvSpPr txBox="1"/>
          <p:nvPr/>
        </p:nvSpPr>
        <p:spPr>
          <a:xfrm>
            <a:off x="6246038" y="4169664"/>
            <a:ext cx="1500302" cy="219456"/>
          </a:xfrm>
          <a:prstGeom prst="rect">
            <a:avLst/>
          </a:prstGeom>
          <a:noFill/>
          <a:ln/>
        </p:spPr>
        <p:txBody>
          <a:bodyPr wrap="square" lIns="0" tIns="0" rIns="0" bIns="0" rtlCol="0" anchor="ctr"/>
          <a:lstStyle/>
          <a:p>
            <a:pPr indent="0" marL="0">
              <a:buNone/>
            </a:pPr>
            <a:r>
              <a:rPr lang="en-US" sz="1100" b="1" dirty="0">
                <a:solidFill>
                  <a:srgbClr val="3182F6"/>
                </a:solidFill>
                <a:latin typeface="맑은 고딕" pitchFamily="34" charset="0"/>
                <a:ea typeface="맑은 고딕" pitchFamily="34" charset="-122"/>
                <a:cs typeface="맑은 고딕" pitchFamily="34" charset="-120"/>
              </a:rPr>
              <a:t>STEP 2</a:t>
            </a:r>
            <a:endParaRPr lang="en-US" sz="1100" dirty="0"/>
          </a:p>
        </p:txBody>
      </p:sp>
      <p:sp>
        <p:nvSpPr>
          <p:cNvPr id="49" name="Text 46"/>
          <p:cNvSpPr txBox="1"/>
          <p:nvPr/>
        </p:nvSpPr>
        <p:spPr>
          <a:xfrm>
            <a:off x="6246038" y="4407408"/>
            <a:ext cx="1500302"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입력창에 채워짐</a:t>
            </a:r>
            <a:endParaRPr lang="en-US" sz="1450" dirty="0"/>
          </a:p>
        </p:txBody>
      </p:sp>
      <p:sp>
        <p:nvSpPr>
          <p:cNvPr id="50" name="Text 47"/>
          <p:cNvSpPr txBox="1"/>
          <p:nvPr/>
        </p:nvSpPr>
        <p:spPr>
          <a:xfrm>
            <a:off x="6246038" y="4773168"/>
            <a:ext cx="1500302" cy="512064"/>
          </a:xfrm>
          <a:prstGeom prst="rect">
            <a:avLst/>
          </a:prstGeom>
          <a:noFill/>
          <a:ln/>
        </p:spPr>
        <p:txBody>
          <a:bodyPr wrap="square" lIns="0" tIns="0" rIns="0" bIns="0" rtlCol="0" anchor="t"/>
          <a:lstStyle/>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일반대화 화면이 열림</a:t>
            </a:r>
            <a:endParaRPr lang="en-US" sz="1150" dirty="0"/>
          </a:p>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전송(↑)만 누르기</a:t>
            </a:r>
            <a:endParaRPr lang="en-US" sz="1150" dirty="0"/>
          </a:p>
        </p:txBody>
      </p:sp>
      <p:sp>
        <p:nvSpPr>
          <p:cNvPr id="51" name="Text 48"/>
          <p:cNvSpPr txBox="1"/>
          <p:nvPr/>
        </p:nvSpPr>
        <p:spPr>
          <a:xfrm>
            <a:off x="7819492" y="4526280"/>
            <a:ext cx="164592" cy="365760"/>
          </a:xfrm>
          <a:prstGeom prst="rect">
            <a:avLst/>
          </a:prstGeom>
          <a:noFill/>
          <a:ln/>
        </p:spPr>
        <p:txBody>
          <a:bodyPr wrap="square" lIns="0" tIns="0" rIns="0" bIns="0" rtlCol="0" anchor="ctr"/>
          <a:lstStyle/>
          <a:p>
            <a:pPr algn="ctr" indent="0" marL="0">
              <a:buNone/>
            </a:pPr>
            <a:r>
              <a:rPr lang="en-US" sz="1600" b="1" dirty="0">
                <a:solidFill>
                  <a:srgbClr val="B0B8C1"/>
                </a:solidFill>
                <a:latin typeface="맑은 고딕" pitchFamily="34" charset="0"/>
                <a:ea typeface="맑은 고딕" pitchFamily="34" charset="-122"/>
                <a:cs typeface="맑은 고딕" pitchFamily="34" charset="-120"/>
              </a:rPr>
              <a:t>›</a:t>
            </a:r>
            <a:endParaRPr lang="en-US" sz="1600" dirty="0"/>
          </a:p>
        </p:txBody>
      </p:sp>
      <p:sp>
        <p:nvSpPr>
          <p:cNvPr id="52" name="Shape 49"/>
          <p:cNvSpPr/>
          <p:nvPr/>
        </p:nvSpPr>
        <p:spPr>
          <a:xfrm>
            <a:off x="7965796" y="4023360"/>
            <a:ext cx="1774622" cy="1371600"/>
          </a:xfrm>
          <a:prstGeom prst="roundRect">
            <a:avLst>
              <a:gd name="adj" fmla="val 9333"/>
            </a:avLst>
          </a:prstGeom>
          <a:solidFill>
            <a:srgbClr val="E8F3FF"/>
          </a:solidFill>
          <a:ln w="12700">
            <a:solidFill>
              <a:srgbClr val="E8F3FF"/>
            </a:solidFill>
            <a:prstDash val="solid"/>
          </a:ln>
        </p:spPr>
      </p:sp>
      <p:sp>
        <p:nvSpPr>
          <p:cNvPr id="53" name="Text 50"/>
          <p:cNvSpPr txBox="1"/>
          <p:nvPr/>
        </p:nvSpPr>
        <p:spPr>
          <a:xfrm>
            <a:off x="8148676" y="4169664"/>
            <a:ext cx="1500302" cy="219456"/>
          </a:xfrm>
          <a:prstGeom prst="rect">
            <a:avLst/>
          </a:prstGeom>
          <a:noFill/>
          <a:ln/>
        </p:spPr>
        <p:txBody>
          <a:bodyPr wrap="square" lIns="0" tIns="0" rIns="0" bIns="0" rtlCol="0" anchor="ctr"/>
          <a:lstStyle/>
          <a:p>
            <a:pPr indent="0" marL="0">
              <a:buNone/>
            </a:pPr>
            <a:r>
              <a:rPr lang="en-US" sz="1100" b="1" dirty="0">
                <a:solidFill>
                  <a:srgbClr val="3182F6"/>
                </a:solidFill>
                <a:latin typeface="맑은 고딕" pitchFamily="34" charset="0"/>
                <a:ea typeface="맑은 고딕" pitchFamily="34" charset="-122"/>
                <a:cs typeface="맑은 고딕" pitchFamily="34" charset="-120"/>
              </a:rPr>
              <a:t>STEP 3</a:t>
            </a:r>
            <a:endParaRPr lang="en-US" sz="1100" dirty="0"/>
          </a:p>
        </p:txBody>
      </p:sp>
      <p:sp>
        <p:nvSpPr>
          <p:cNvPr id="54" name="Text 51"/>
          <p:cNvSpPr txBox="1"/>
          <p:nvPr/>
        </p:nvSpPr>
        <p:spPr>
          <a:xfrm>
            <a:off x="8148676" y="4407408"/>
            <a:ext cx="1500302"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안내 문자 초안</a:t>
            </a:r>
            <a:endParaRPr lang="en-US" sz="1450" dirty="0"/>
          </a:p>
        </p:txBody>
      </p:sp>
      <p:sp>
        <p:nvSpPr>
          <p:cNvPr id="55" name="Text 52"/>
          <p:cNvSpPr txBox="1"/>
          <p:nvPr/>
        </p:nvSpPr>
        <p:spPr>
          <a:xfrm>
            <a:off x="8148676" y="4773168"/>
            <a:ext cx="1500302" cy="512064"/>
          </a:xfrm>
          <a:prstGeom prst="rect">
            <a:avLst/>
          </a:prstGeom>
          <a:noFill/>
          <a:ln/>
        </p:spPr>
        <p:txBody>
          <a:bodyPr wrap="square" lIns="0" tIns="0" rIns="0" bIns="0" rtlCol="0" anchor="t"/>
          <a:lstStyle/>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숫자·내용 확인 뒤</a:t>
            </a:r>
            <a:endParaRPr lang="en-US" sz="1150" dirty="0"/>
          </a:p>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내 말투로 다듬어 연락</a:t>
            </a:r>
            <a:endParaRPr lang="en-US" sz="1150" dirty="0"/>
          </a:p>
        </p:txBody>
      </p:sp>
      <p:sp>
        <p:nvSpPr>
          <p:cNvPr id="56" name="Text 53"/>
          <p:cNvSpPr txBox="1"/>
          <p:nvPr/>
        </p:nvSpPr>
        <p:spPr>
          <a:xfrm>
            <a:off x="9722129" y="4526280"/>
            <a:ext cx="164592" cy="365760"/>
          </a:xfrm>
          <a:prstGeom prst="rect">
            <a:avLst/>
          </a:prstGeom>
          <a:noFill/>
          <a:ln/>
        </p:spPr>
        <p:txBody>
          <a:bodyPr wrap="square" lIns="0" tIns="0" rIns="0" bIns="0" rtlCol="0" anchor="ctr"/>
          <a:lstStyle/>
          <a:p>
            <a:pPr algn="ctr" indent="0" marL="0">
              <a:buNone/>
            </a:pPr>
            <a:r>
              <a:rPr lang="en-US" sz="1600" b="1" dirty="0">
                <a:solidFill>
                  <a:srgbClr val="B0B8C1"/>
                </a:solidFill>
                <a:latin typeface="맑은 고딕" pitchFamily="34" charset="0"/>
                <a:ea typeface="맑은 고딕" pitchFamily="34" charset="-122"/>
                <a:cs typeface="맑은 고딕" pitchFamily="34" charset="-120"/>
              </a:rPr>
              <a:t>›</a:t>
            </a:r>
            <a:endParaRPr lang="en-US" sz="1600" dirty="0"/>
          </a:p>
        </p:txBody>
      </p:sp>
      <p:sp>
        <p:nvSpPr>
          <p:cNvPr id="57" name="Shape 54"/>
          <p:cNvSpPr/>
          <p:nvPr/>
        </p:nvSpPr>
        <p:spPr>
          <a:xfrm>
            <a:off x="9868433" y="4023360"/>
            <a:ext cx="1774622" cy="1371600"/>
          </a:xfrm>
          <a:prstGeom prst="roundRect">
            <a:avLst>
              <a:gd name="adj" fmla="val 9333"/>
            </a:avLst>
          </a:prstGeom>
          <a:solidFill>
            <a:srgbClr val="FFF0F0"/>
          </a:solidFill>
          <a:ln w="12700">
            <a:solidFill>
              <a:srgbClr val="FFF0F0"/>
            </a:solidFill>
            <a:prstDash val="solid"/>
          </a:ln>
        </p:spPr>
      </p:sp>
      <p:sp>
        <p:nvSpPr>
          <p:cNvPr id="58" name="Text 55"/>
          <p:cNvSpPr txBox="1"/>
          <p:nvPr/>
        </p:nvSpPr>
        <p:spPr>
          <a:xfrm>
            <a:off x="10051313" y="4169664"/>
            <a:ext cx="1500302" cy="219456"/>
          </a:xfrm>
          <a:prstGeom prst="rect">
            <a:avLst/>
          </a:prstGeom>
          <a:noFill/>
          <a:ln/>
        </p:spPr>
        <p:txBody>
          <a:bodyPr wrap="square" lIns="0" tIns="0" rIns="0" bIns="0" rtlCol="0" anchor="ctr"/>
          <a:lstStyle/>
          <a:p>
            <a:pPr indent="0" marL="0">
              <a:buNone/>
            </a:pPr>
            <a:r>
              <a:rPr lang="en-US" sz="1100" b="1" dirty="0">
                <a:solidFill>
                  <a:srgbClr val="F04452"/>
                </a:solidFill>
                <a:latin typeface="맑은 고딕" pitchFamily="34" charset="0"/>
                <a:ea typeface="맑은 고딕" pitchFamily="34" charset="-122"/>
                <a:cs typeface="맑은 고딕" pitchFamily="34" charset="-120"/>
              </a:rPr>
              <a:t>STEP 4</a:t>
            </a:r>
            <a:endParaRPr lang="en-US" sz="1100" dirty="0"/>
          </a:p>
        </p:txBody>
      </p:sp>
      <p:sp>
        <p:nvSpPr>
          <p:cNvPr id="59" name="Text 56"/>
          <p:cNvSpPr txBox="1"/>
          <p:nvPr/>
        </p:nvSpPr>
        <p:spPr>
          <a:xfrm>
            <a:off x="10051313" y="4407408"/>
            <a:ext cx="1500302" cy="329184"/>
          </a:xfrm>
          <a:prstGeom prst="rect">
            <a:avLst/>
          </a:prstGeom>
          <a:noFill/>
          <a:ln/>
        </p:spPr>
        <p:txBody>
          <a:bodyPr wrap="square" lIns="0" tIns="0" rIns="0" bIns="0" rtlCol="0" anchor="ctr"/>
          <a:lstStyle/>
          <a:p>
            <a:pPr indent="0" marL="0">
              <a:buNone/>
            </a:pPr>
            <a:r>
              <a:rPr lang="en-US" sz="1450" b="1" dirty="0">
                <a:solidFill>
                  <a:srgbClr val="191F28"/>
                </a:solidFill>
                <a:latin typeface="맑은 고딕" pitchFamily="34" charset="0"/>
                <a:ea typeface="맑은 고딕" pitchFamily="34" charset="-122"/>
                <a:cs typeface="맑은 고딕" pitchFamily="34" charset="-120"/>
              </a:rPr>
              <a:t>동의 요청</a:t>
            </a:r>
            <a:endParaRPr lang="en-US" sz="1450" dirty="0"/>
          </a:p>
        </p:txBody>
      </p:sp>
      <p:sp>
        <p:nvSpPr>
          <p:cNvPr id="60" name="Text 57"/>
          <p:cNvSpPr txBox="1"/>
          <p:nvPr/>
        </p:nvSpPr>
        <p:spPr>
          <a:xfrm>
            <a:off x="10051313" y="4773168"/>
            <a:ext cx="1500302" cy="512064"/>
          </a:xfrm>
          <a:prstGeom prst="rect">
            <a:avLst/>
          </a:prstGeom>
          <a:noFill/>
          <a:ln/>
        </p:spPr>
        <p:txBody>
          <a:bodyPr wrap="square" lIns="0" tIns="0" rIns="0" bIns="0" rtlCol="0" anchor="t"/>
          <a:lstStyle/>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[사전조회동의 요청하기]</a:t>
            </a:r>
            <a:endParaRPr lang="en-US" sz="1150" dirty="0"/>
          </a:p>
          <a:p>
            <a:pPr indent="0" marL="0">
              <a:lnSpc>
                <a:spcPct val="110000"/>
              </a:lnSpc>
              <a:buNone/>
            </a:pPr>
            <a:r>
              <a:rPr lang="en-US" sz="1150" dirty="0">
                <a:solidFill>
                  <a:srgbClr val="4E5968"/>
                </a:solidFill>
                <a:latin typeface="맑은 고딕" pitchFamily="34" charset="0"/>
                <a:ea typeface="맑은 고딕" pitchFamily="34" charset="-122"/>
                <a:cs typeface="맑은 고딕" pitchFamily="34" charset="-120"/>
              </a:rPr>
              <a:t>동의되면 맞춤대화</a:t>
            </a:r>
            <a:endParaRPr lang="en-US" sz="1150" dirty="0"/>
          </a:p>
        </p:txBody>
      </p:sp>
      <p:sp>
        <p:nvSpPr>
          <p:cNvPr id="61" name="Shape 58"/>
          <p:cNvSpPr/>
          <p:nvPr/>
        </p:nvSpPr>
        <p:spPr>
          <a:xfrm>
            <a:off x="11368735" y="3913632"/>
            <a:ext cx="329184" cy="329184"/>
          </a:xfrm>
          <a:prstGeom prst="ellipse">
            <a:avLst/>
          </a:prstGeom>
          <a:solidFill>
            <a:srgbClr val="F04452"/>
          </a:solidFill>
          <a:ln w="19050">
            <a:solidFill>
              <a:srgbClr val="FFFFFF"/>
            </a:solidFill>
            <a:prstDash val="solid"/>
          </a:ln>
        </p:spPr>
      </p:sp>
      <p:sp>
        <p:nvSpPr>
          <p:cNvPr id="62" name="Text 59"/>
          <p:cNvSpPr txBox="1"/>
          <p:nvPr/>
        </p:nvSpPr>
        <p:spPr>
          <a:xfrm>
            <a:off x="11368735" y="39136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63" name="Shape 60"/>
          <p:cNvSpPr/>
          <p:nvPr/>
        </p:nvSpPr>
        <p:spPr>
          <a:xfrm>
            <a:off x="548640" y="5577840"/>
            <a:ext cx="11094415" cy="621792"/>
          </a:xfrm>
          <a:prstGeom prst="roundRect">
            <a:avLst>
              <a:gd name="adj" fmla="val 20588"/>
            </a:avLst>
          </a:prstGeom>
          <a:solidFill>
            <a:srgbClr val="191F28"/>
          </a:solidFill>
          <a:ln w="12700">
            <a:solidFill>
              <a:srgbClr val="191F28"/>
            </a:solidFill>
            <a:prstDash val="solid"/>
          </a:ln>
        </p:spPr>
      </p:sp>
      <p:sp>
        <p:nvSpPr>
          <p:cNvPr id="64" name="Text 61"/>
          <p:cNvSpPr txBox="1"/>
          <p:nvPr/>
        </p:nvSpPr>
        <p:spPr>
          <a:xfrm>
            <a:off x="868680" y="5577840"/>
            <a:ext cx="10454335" cy="621792"/>
          </a:xfrm>
          <a:prstGeom prst="rect">
            <a:avLst/>
          </a:prstGeom>
          <a:noFill/>
          <a:ln/>
        </p:spPr>
        <p:txBody>
          <a:bodyPr wrap="square" lIns="0" tIns="0" rIns="0" bIns="0" rtlCol="0" anchor="ctr"/>
          <a:lstStyle/>
          <a:p>
            <a:pPr indent="0" marL="0">
              <a:buNone/>
            </a:pPr>
            <a:r>
              <a:rPr lang="en-US" sz="1800" b="1" dirty="0">
                <a:solidFill>
                  <a:srgbClr val="C9E2FF"/>
                </a:solidFill>
                <a:latin typeface="맑은 고딕" pitchFamily="34" charset="0"/>
                <a:ea typeface="맑은 고딕" pitchFamily="34" charset="-122"/>
                <a:cs typeface="맑은 고딕" pitchFamily="34" charset="-120"/>
              </a:rPr>
              <a:t>기억할 것   </a:t>
            </a:r>
            <a:pPr indent="0" marL="0">
              <a:buNone/>
            </a:pPr>
            <a:r>
              <a:rPr lang="en-US" sz="1800" b="1" dirty="0">
                <a:solidFill>
                  <a:srgbClr val="FFFFFF"/>
                </a:solidFill>
                <a:latin typeface="맑은 고딕" pitchFamily="34" charset="0"/>
                <a:ea typeface="맑은 고딕" pitchFamily="34" charset="-122"/>
                <a:cs typeface="맑은 고딕" pitchFamily="34" charset="-120"/>
              </a:rPr>
              <a:t>동의 전엔 일반대화로 다가가고, 동의 후엔 맞춤대화로 깊게</a:t>
            </a:r>
            <a:endParaRPr lang="en-US" sz="1800" dirty="0"/>
          </a:p>
        </p:txBody>
      </p:sp>
      <p:sp>
        <p:nvSpPr>
          <p:cNvPr id="65" name="Text 62"/>
          <p:cNvSpPr txBox="1"/>
          <p:nvPr/>
        </p:nvSpPr>
        <p:spPr>
          <a:xfrm>
            <a:off x="548640" y="6473952"/>
            <a:ext cx="5486400" cy="228600"/>
          </a:xfrm>
          <a:prstGeom prst="rect">
            <a:avLst/>
          </a:prstGeom>
          <a:noFill/>
          <a:ln/>
        </p:spPr>
        <p:txBody>
          <a:bodyPr wrap="square" lIns="0" tIns="0" rIns="0" bIns="0" rtlCol="0" anchor="t"/>
          <a:lstStyle/>
          <a:p>
            <a:pPr indent="0" marL="0">
              <a:buNone/>
            </a:pPr>
            <a:r>
              <a:rPr lang="en-US" sz="1000" dirty="0">
                <a:solidFill>
                  <a:srgbClr val="8B95A1"/>
                </a:solidFill>
                <a:latin typeface="맑은 고딕" pitchFamily="34" charset="0"/>
                <a:ea typeface="맑은 고딕" pitchFamily="34" charset="-122"/>
                <a:cs typeface="맑은 고딕" pitchFamily="34" charset="-120"/>
              </a:rPr>
              <a:t>MeAI 홈 · 영업가족 방송 · 2026.10</a:t>
            </a:r>
            <a:endParaRPr lang="en-US" sz="1000" dirty="0"/>
          </a:p>
        </p:txBody>
      </p:sp>
      <p:sp>
        <p:nvSpPr>
          <p:cNvPr id="66" name="Text 6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1000" dirty="0">
                <a:solidFill>
                  <a:srgbClr val="8B95A1"/>
                </a:solidFill>
                <a:latin typeface="맑은 고딕" pitchFamily="34" charset="0"/>
                <a:ea typeface="맑은 고딕" pitchFamily="34" charset="-122"/>
                <a:cs typeface="맑은 고딕"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9348</Words>
  <Application>Microsoft Office PowerPoint</Application>
  <PresentationFormat>와이드스크린</PresentationFormat>
  <Paragraphs>748</Paragraphs>
  <Slides>25</Slides>
  <Notes>25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25</vt:i4>
      </vt:variant>
    </vt:vector>
  </HeadingPairs>
  <TitlesOfParts>
    <vt:vector size="29"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dc:title>
  <dc:subject>MeAI 홈 활용 방송 대본은 발표자 노트에 있어요</dc:subject>
  <dc:creator>세일즈혁신TF</dc:creator>
  <cp:lastModifiedBy>user</cp:lastModifiedBy>
  <cp:revision>6</cp:revision>
  <dcterms:created xsi:type="dcterms:W3CDTF">2026-09-30T05:43:33Z</dcterms:created>
  <dcterms:modified xsi:type="dcterms:W3CDTF">2026-09-30T07:42:11Z</dcterms:modified>
</cp:coreProperties>
</file>