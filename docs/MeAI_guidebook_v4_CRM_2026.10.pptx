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notesMasterIdLst>
    <p:notesMasterId r:id="rId7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notesMaster" Target="notesMasters/notesMaster1.xml"/><Relationship Id="rId80" Type="http://schemas.openxmlformats.org/officeDocument/2006/relationships/presProps" Target="presProps.xml"/><Relationship Id="rId81" Type="http://schemas.openxmlformats.org/officeDocument/2006/relationships/viewProps" Target="viewProps.xml"/><Relationship Id="rId82" Type="http://schemas.openxmlformats.org/officeDocument/2006/relationships/theme" Target="theme/theme1.xml"/><Relationship Id="rId8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image" Target="../media/image-35-8.png"/><Relationship Id="rId9" Type="http://schemas.openxmlformats.org/officeDocument/2006/relationships/image" Target="../media/image-35-9.png"/><Relationship Id="rId10" Type="http://schemas.openxmlformats.org/officeDocument/2006/relationships/image" Target="../media/image-35-10.png"/><Relationship Id="rId11" Type="http://schemas.openxmlformats.org/officeDocument/2006/relationships/image" Target="../media/image-35-11.png"/><Relationship Id="rId12" Type="http://schemas.openxmlformats.org/officeDocument/2006/relationships/image" Target="../media/image-35-12.png"/><Relationship Id="rId13" Type="http://schemas.openxmlformats.org/officeDocument/2006/relationships/image" Target="../media/image-35-13.png"/><Relationship Id="rId14" Type="http://schemas.openxmlformats.org/officeDocument/2006/relationships/image" Target="../media/image-35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image" Target="../media/image-5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영업에서,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고객과 첫 마디를 MeAI 홈이 먼저 준비해요.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5166360"/>
            <a:ext cx="127000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166360"/>
            <a:ext cx="127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v4 · MeAI 홈 편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1248" y="5166360"/>
            <a:ext cx="148844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11248" y="5166360"/>
            <a:ext cx="148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 오픈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09416" y="5166360"/>
            <a:ext cx="14198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416" y="5166360"/>
            <a:ext cx="1419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966787"/>
            <a:ext cx="5394960" cy="4832985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966787"/>
            <a:ext cx="5394960" cy="48329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가이드북, 이렇게 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영업가족이 직접 보는 책이에요. 내 상황에 맞는 곳부터 펼쳐 보세요.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처음이라면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7296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들어가는 길,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화면과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 읽는 법.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920240"/>
            <a:ext cx="384048" cy="384048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93592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078224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 · 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317296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 맞춤대화까지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번. 매일 아침 루틴.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9944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94576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기능이 궁금하다면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317296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누르면 열리는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일반대화·맞춤대화, 새 기능,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리포트.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920240"/>
            <a:ext cx="384048" cy="384048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262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710928" y="194767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4688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어떻게 물을지 궁금하다면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3172968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고르는 것,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+ 무엇을 묻는 법,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초안까지.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4370832"/>
            <a:ext cx="11094415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4462272"/>
            <a:ext cx="106372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→ 고르기 → 묻기 → 터치하기. 앞의 세 걸음은 MeAI 홈에서 시작해 누르기만 하면 돼요.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157216"/>
            <a:ext cx="11094415" cy="475488"/>
          </a:xfrm>
          <a:prstGeom prst="roundRect">
            <a:avLst>
              <a:gd name="adj" fmla="val 2307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기준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화면이에요. PART 6의 새 기능(용어 설명·모드 변경)은 개발 중이라 바뀔 수 있어요.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5724144"/>
            <a:ext cx="11094415" cy="475488"/>
          </a:xfrm>
          <a:prstGeom prst="roundRect">
            <a:avLst>
              <a:gd name="adj" fmla="val 2307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" y="5815584"/>
            <a:ext cx="106372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데이터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고객 이름·나이·숫자는 모두 예시예요.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방향이 바뀝니다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하루가 시작되는 곳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그룹으로 묶어줘요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98348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498348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98348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169164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169164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169164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 · 일반대화 · 맞춤대화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0" y="169164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51460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46520" y="251460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51460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0" y="251460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p.60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333756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6520" y="333756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333756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 · 이렇게 물어보세요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789920" y="333756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p.67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4160520"/>
            <a:ext cx="544068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46520" y="4160520"/>
            <a:ext cx="640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7132320" y="4160520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 · 용어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789920" y="4160520"/>
            <a:ext cx="6858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p.73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17920" y="4983480"/>
            <a:ext cx="5440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칸(PART 2·3·4·8)부터 보면 MeAI 홈을 바로 쓸 수 있어요.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방향이 바뀝니다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왜, 무슨 말로 연락할지, 이제 MeAI가 먼저 골라요.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절반이 "찾는 일"이었던 이유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바꾸는 하루의 순서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 · 매일 아침 루틴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지금까지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영업의 절반은 "찾는 일"이었어요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 세 가지를 스스로 정해야 했어요.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연락하지?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목록을 하나씩 뒤져 오늘 연락할 사람을 골라야 했어요.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지금이지?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명분을 스스로 만들어야 했어요.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7532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말로 시작하지?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마디를 고민하다 하루를 넘기기 일쑤였어요.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영업 시도 비율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 넘게 연락조차 못 하고 있어요.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9768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3712" y="4041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46451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고객 중 영업 시도 비율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53712" y="4919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넘겨받은 고객은 더 묵혀 두게 돼요.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75320" y="393192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의지가 아니라 순서예요. 찾는 일이 앞에 있으면 만나는 일은 뒤로 밀려요.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852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세일즈혁신TF 「MeAI CRM 대문 고도화 제안」 2026.09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이제는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이제는 MeAI가 먼저 찾아옵니다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것은 화면이 아니라 하루의 순서예요.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영업 (지금까지)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찾아가는 영업 (MeAI 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누구에게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목록을 뒤져 내가 고른다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홈이 오늘의 추천 고객을 보여준다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지금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명분을 스스로 만든다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"상령일이 2주 남았고…" 이유가 붙는다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마디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고민하다 미룬다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문장이 곧 첫 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행동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메뉴를 찾아 헤맨다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[MeAI 고객찾기에서 열기] →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[이 고객으로 맞춤대화 시작]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815359" y="1691640"/>
            <a:ext cx="3754562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5359" y="1691640"/>
            <a:ext cx="3754562" cy="4069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5833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「오늘의 추천 고객」 김민수 카드 (예시)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48640" y="5120640"/>
            <a:ext cx="6949440" cy="731520"/>
          </a:xfrm>
          <a:prstGeom prst="roundRect">
            <a:avLst>
              <a:gd name="adj" fmla="val 15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2120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시스템이, 설득은 사람이 해요. 오른쪽 김민수 고객처럼 "사전조회동의 필요"가 붙으면 맞춤대화 전에 동의 알림톡부터 보내요(PART 5).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한 흐름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대화가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고객(예시) 한 분으로 따라가 봐요. 화면 속 추천 질문 문장은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212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2126"/>
            <a:ext cx="2240280" cy="242794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문장을 읽고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763469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058058" y="1894804"/>
            <a:ext cx="3429000" cy="238259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058" y="1894804"/>
            <a:ext cx="3429000" cy="238259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58058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058058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423818" y="461772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058058" y="495604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파악해요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461608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756197" y="183867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197" y="1838671"/>
            <a:ext cx="2240280" cy="249485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756197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756197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7121957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6756197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확인하고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971026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9265615" y="2024516"/>
            <a:ext cx="2377440" cy="2123168"/>
          </a:xfrm>
          <a:prstGeom prst="roundRect">
            <a:avLst>
              <a:gd name="adj" fmla="val 22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5615" y="2024516"/>
            <a:ext cx="2377440" cy="2123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265615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9265615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9631375" y="4617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</a:t>
            </a:r>
            <a:endParaRPr lang="en-US" sz="1350" dirty="0"/>
          </a:p>
        </p:txBody>
      </p:sp>
      <p:sp>
        <p:nvSpPr>
          <p:cNvPr id="33" name="Text 27"/>
          <p:cNvSpPr txBox="1"/>
          <p:nvPr/>
        </p:nvSpPr>
        <p:spPr>
          <a:xfrm>
            <a:off x="9265615" y="49560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답만 골라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보내요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48640" y="5596128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77240" y="5687568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고객은 사전조회 동의가 아직 유효해서(D-7) [이 고객으로 맞춤대화 시작]을 누르면 바로 열려요.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필요"가 붙은 고객은 동의 알림톡부터 보내요(PART 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MeAI가 하는 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매일 이렇게 준비해요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정보를 모아 그룹을 다시 계산하고, MeAI 홈 카드로 알려줘요.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모으기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계약·보상·동의·상령일·생일·접촉 이력을 모아요.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8830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2721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2721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묶기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2721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부족"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 임박" 같은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매일 다시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계산해요.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47417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86329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86329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카드로 알려주기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86329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카드를 3장씩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세트로 보여줘요.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문장·태그·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상태가 붙어요.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6534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4544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4544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 · 묻고 · 터치하기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544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고르고,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묻고,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문장으로 연락해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리포트까지 보내요.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565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80456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80456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다시 계산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0456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바뀐 계약·동의 상태를 반영해 다음 날 MeAI 홈에 보여줘요.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시간을 없애고, 만나는 일에 집중해요.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52628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추천에는 반드시 이유가 붙어요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"상령일이 2주 남았고…"처럼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지금인지 한 문장으로 알려줘요.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672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7532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시작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064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데이터·추천 결과는 다음 날 반영돼요. 화면의 "최근 업데이트" 시각을 확인하세요.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숫자로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MeAI를 쓴 경우 계약 성사율이 2.8배 높았어요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분이 써봤어요. MeAI 홈은 매일 아침 열어 볼 이유를 만들어 줘요.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 한 번 이상 사용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성사율(체결전환율)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12.7% → 활용 35.4%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1344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37376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FP의 고객끼리 비교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37376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 9.0% → 활용 36.0%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97696" y="1691640"/>
            <a:ext cx="265176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53728" y="18928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pPr indent="0" marL="0">
              <a:buNone/>
            </a:pP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253728" y="2496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3개 이상 이어 쓰면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253728" y="2770632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11.99건 → 27.79건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1개 → 3개 이상)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69494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37160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7월 활동일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 보유율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 가계약(건)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E596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매출자 평균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미사용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5,987명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10.22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256,194원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1,835명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79.6%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310,383원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2~4일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2,487명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26.35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328,237원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5~9일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1,372명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92.5%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38.47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378,083원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10일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362명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94.8%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55.04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408,166원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680960" y="3611880"/>
            <a:ext cx="3931920" cy="1975104"/>
          </a:xfrm>
          <a:prstGeom prst="roundRect">
            <a:avLst>
              <a:gd name="adj" fmla="val 555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3703320"/>
            <a:ext cx="347472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 1.8배 · 평균 가계약 5.4배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(10일 이상 vs 미사용)</a:t>
            </a:r>
            <a:endParaRPr lang="en-US" sz="1200" dirty="0"/>
          </a:p>
          <a:p>
            <a:pPr indent="0" marL="0">
              <a:lnSpc>
                <a:spcPct val="135000"/>
              </a:lnSpc>
              <a:spcAft>
                <a:spcPts val="200"/>
              </a:spcAft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홈을 아침마다 여는 습관이 곧 활동일이에요.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74243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책은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MeAI 홈에서 시작해요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다음 화면으로 이어져요(화면 속 질문 문장은 예시). PART 2~4 화면 · PART 7 루틴 · PART 8 묻는 법.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520364"/>
            <a:ext cx="2514600" cy="1040033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0364"/>
            <a:ext cx="2514600" cy="1040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필요"를 봐요.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053029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362858" y="182640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858" y="1826406"/>
            <a:ext cx="2240280" cy="242794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62858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362858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3728618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· 추천 카드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362858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고객과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문장을 읽어요.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92928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5902757" y="1928504"/>
            <a:ext cx="3200400" cy="22237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0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757" y="1928504"/>
            <a:ext cx="3200400" cy="222375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902757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5902757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6268517" y="44805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 · 고객찾기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5902757" y="481888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보고 한 분을 골라요.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92946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1"/>
          <p:cNvSpPr/>
          <p:nvPr/>
        </p:nvSpPr>
        <p:spPr>
          <a:xfrm>
            <a:off x="9402775" y="179295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2775" y="1792951"/>
            <a:ext cx="2240280" cy="2494857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9402775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9402775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768535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· 추천 질문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9402775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누르거나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504688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596128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→ 고르기 → 묻기 → 터치하기. 터치는 카드 문장으로 연락하고 요약 리포트를 보내는 거예요.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시작되는 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내 고객과 첫 마디가 이미 준비돼 있어요. 누르기만 하면 돼요.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들어가는 문 6개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다섯 구역 · 스위치와 버튼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추천 카드 읽는 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· 동의 · 유형 범례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영업포탈에서 들어가기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홈으로 가는 문, 6개예요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2일부터 새 문 3개(③④⑤)가 열려요.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7589520" cy="413973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413973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36676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6676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750808" y="16916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50808" y="1984248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36676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6676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2294763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[보장분석]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50808" y="2587371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6676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36676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750808" y="289788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롤링배너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190494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홈 바로가기]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36676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6676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750808" y="3501009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CRM 리스트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750808" y="3793617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일반대화] [MeAI 맞춤대화]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36676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410413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떠 있는 MeAI 버튼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4396740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목록 위 둥근 버튼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72554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4725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4707255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[MeAI 홈]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4999863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 필요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366760" y="5532120"/>
            <a:ext cx="3273552" cy="804672"/>
          </a:xfrm>
          <a:prstGeom prst="roundRect">
            <a:avLst>
              <a:gd name="adj" fmla="val 1363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95360" y="5623560"/>
            <a:ext cx="28163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③④⑤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권한과 상관없이 누구나. 적용 시점은 IT 개발 일정에 따라 달라질 수 있어요.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새로 생긴 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문 3개, 이렇게 생겼어요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바로 대화를 시작하는 ④가 핵심이에요.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롤링배너 → [MeAI 홈 바로가기]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206240" cy="1150144"/>
          </a:xfrm>
          <a:prstGeom prst="roundRect">
            <a:avLst>
              <a:gd name="adj" fmla="val 73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4206240" cy="11501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364992"/>
            <a:ext cx="4206240" cy="256032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4992"/>
            <a:ext cx="4206240" cy="2560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029200" y="169164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CRM 리스트 [MeAI 일반대화] [MeAI 맞춤대화] · ⑤ 떠 있는 MeAI 버튼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011680"/>
            <a:ext cx="6611112" cy="3105892"/>
          </a:xfrm>
          <a:prstGeom prst="roundRect">
            <a:avLst>
              <a:gd name="adj" fmla="val 4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11680"/>
            <a:ext cx="6611112" cy="310589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5349240"/>
            <a:ext cx="6611112" cy="960120"/>
          </a:xfrm>
          <a:prstGeom prst="roundRect">
            <a:avLst>
              <a:gd name="adj" fmla="val 1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57800" y="5440680"/>
            <a:ext cx="6153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핵심일까요?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생일·상령일 목록에서 [MeAI 맞춤대화]를 누르면,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대화가 바로 열려요.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 홈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홈은 다섯 구역과 스위치·버튼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11918" cy="4937760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511918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2855" y="163720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22855" y="16372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49151" y="1851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149151" y="1851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2855" y="29080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2855" y="29080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49151" y="352426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49151" y="35242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2855" y="57022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22855" y="57022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14683" y="13769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514683" y="1376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922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876288" y="137160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최근 업데이트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876288" y="16642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안녕하세요" · 오른쪽 '최근 업데이트' = 데이터 기준 시각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92240" y="20939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9224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76288" y="2075688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카드 두 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76288" y="236829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바로 질문 창이, 맞춤대화는 고객 검색 팝업이 먼저 떠요.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92240" y="27980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9224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876288" y="2779776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876288" y="307238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맞춤대화 가능 · 동의 필요 · 상품제안 가능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3502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49224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876288" y="348386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876288" y="377647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붙은 카드 3장 × 세트 3개.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92240" y="42062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9224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76288" y="418795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6288" y="4480560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 · 동의 상태 · 고객 유형의 뜻.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922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922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876288" y="489204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스위치·버튼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6288" y="518464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 ON/OFF · [고객 동의] · [게시판]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492240" y="5760720"/>
            <a:ext cx="5148072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20840" y="585216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추천 결과는 매일 새로 계산돼 다음 날 반영돼요.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973775" y="10241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예시, 정재민 카드 문구와 업데이트 시각은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NEW 글씨 확대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작으면, 오른쪽 위 스위치 하나로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홈·고객찾기·게시판 오른쪽 위 [글씨 확대]. 기본은 ON이에요.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· 기본 (글씨 한 단계 크게)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4297680" cy="59506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2971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 · 원래 크기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9184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4297680" cy="59506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48640" y="42062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297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번만 바꾸면 돼요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화면이 같이 바뀌고, 이 PC에서는 다음에도 그대로예요.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4297680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55778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OFF는 언제?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더 많이 보고 싶을 때.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25780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57800" y="2103120"/>
            <a:ext cx="3063240" cy="366017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103120"/>
            <a:ext cx="3063240" cy="3660179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549640" y="2103120"/>
            <a:ext cx="3063240" cy="33067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063240" cy="330672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57800" y="5989320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예시예요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대화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대화를 시작할지 먼저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카드 하나만 누르면 돼요. 나머지는 MeAI가 준비해요.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508451"/>
          </a:xfrm>
          <a:prstGeom prst="roundRect">
            <a:avLst>
              <a:gd name="adj" fmla="val 8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5084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520440"/>
            <a:ext cx="54406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7216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왼쪽 카드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776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않은 질문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834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바로 질문 창이 열려요.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상품·특약, 화법, 약관, 자사·타사 보장 비교까지.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3520440"/>
            <a:ext cx="5422392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3721608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오른쪽(검은) 카드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977640"/>
            <a:ext cx="4965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보장을 함께 봐요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361688"/>
            <a:ext cx="49651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고객 검색 팝업이 떠요.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고르면 그 고객 대화가 열려요. (PART 3)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9496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내 고객을 만나기 전엔 꼭 맞춤대화.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내 고객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숫자 4개만 훑어보세요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숫자가 오늘 할 일의 크기예요.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97729"/>
          </a:xfrm>
          <a:prstGeom prst="roundRect">
            <a:avLst>
              <a:gd name="adj" fmla="val 6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977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보유·가망·이관을 모두 더한 수예요.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992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593592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93592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고객. 지금 바로 시작.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81344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9944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9944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만료된 고객. 동의 알림톡부터 보낼 고객이에요.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97696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26296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 "AI 추천 고객" 리본.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숫자는 예시예요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156655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누른 뒤 화면은 PART 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오늘의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사람을 MeAI가 먼저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3개. 화살표로 넘겨요.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92715" y="1691640"/>
            <a:ext cx="8806265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2715" y="1691640"/>
            <a:ext cx="8806265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927730" y="17138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927730" y="1713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545714" y="22468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45714" y="22468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622240" y="273353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622240" y="27335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004978" y="393087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004978" y="39308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824528" y="420124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824528" y="42012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52171" y="47188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252171" y="47188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068219" y="19147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68219" y="19147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372988" y="521319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372988" y="5213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48640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77824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구역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322244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3322244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3651428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095848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095848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25032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+ 근거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869451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869451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98635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77824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 / 필요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322244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3322244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3651428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095848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095848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425032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869451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869451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9198635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위치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156655" y="1252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예시, 일부 카드 문구는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카드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장에 누구·왜·언제·다음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문장이 곧 고객에게 건넬 첫 말이에요. 내 말로 풀어 전해요.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260795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60795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38193" y="207102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38193" y="2071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49364" y="197063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449364" y="19706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8193" y="258410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8193" y="2584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8193" y="349872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38193" y="3498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8193" y="451372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38193" y="45137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8193" y="49041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8193" y="49041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8193" y="564027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38193" y="56402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3212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53212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6168" y="169164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6168" y="198424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유형은 보유·가망·이관 중 하나. 긴 이름은 줄여서 보여요.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532120" y="23225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5321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916168" y="230428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916168" y="259689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 상품 제안까지 할 수 있어요.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532120" y="29352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5532120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916168" y="2916936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16168" y="320954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굵은 한 문장. "상령일이 2주 남았고 암진단비가 1천만원뿐입니다."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32120" y="35478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532120" y="3547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916168" y="352958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설명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916168" y="382219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좋은 기회인지. 상담 방향이 여기서 정해져요.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532120" y="4160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532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16168" y="414223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916168" y="443484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임박(파랑) #보장 공백(빨강) #당월 타겟(보라)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3212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53212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916168" y="475488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D-n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916168" y="504748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'필요'면 알림톡으로 동의부터, D-n이면 바로 시작해요.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532120" y="53858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532120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916168" y="536752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5916168" y="566013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고객찾기의 이 고객 카드로 바로 가요.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532120" y="6053328"/>
            <a:ext cx="610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예시예요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세트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계산되는 카드 9장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83080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371600"/>
            <a:ext cx="2102358" cy="22677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42232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371600"/>
            <a:ext cx="2102358" cy="226771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01384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371600"/>
            <a:ext cx="2102358" cy="22677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783080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776472"/>
            <a:ext cx="2089196" cy="226771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142232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776472"/>
            <a:ext cx="2089196" cy="226771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6501384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3776472"/>
            <a:ext cx="2089196" cy="22677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48640" y="22768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4681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3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869680" y="1371600"/>
            <a:ext cx="2770632" cy="4672584"/>
          </a:xfrm>
          <a:prstGeom prst="roundRect">
            <a:avLst>
              <a:gd name="adj" fmla="val 462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9144000" y="1783080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4400" dirty="0"/>
          </a:p>
        </p:txBody>
      </p:sp>
      <p:sp>
        <p:nvSpPr>
          <p:cNvPr id="22" name="Text 14"/>
          <p:cNvSpPr txBox="1"/>
          <p:nvPr/>
        </p:nvSpPr>
        <p:spPr>
          <a:xfrm>
            <a:off x="9144000" y="2633472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144000" y="301752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누를 때마다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세트 3장이 나와요.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9144000" y="4023360"/>
            <a:ext cx="2221992" cy="0"/>
          </a:xfrm>
          <a:prstGeom prst="line">
            <a:avLst/>
          </a:prstGeom>
          <a:noFill/>
          <a:ln w="12700">
            <a:solidFill>
              <a:srgbClr val="C9E2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9144000" y="43434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반영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9144000" y="4681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데이터와 추천 결과가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MeAI 홈에 보여요.</a:t>
            </a:r>
            <a:endParaRPr lang="en-US" sz="1250" dirty="0"/>
          </a:p>
        </p:txBody>
      </p:sp>
      <p:sp>
        <p:nvSpPr>
          <p:cNvPr id="27" name="Text 19"/>
          <p:cNvSpPr txBox="1"/>
          <p:nvPr/>
        </p:nvSpPr>
        <p:spPr>
          <a:xfrm>
            <a:off x="9144000" y="5303520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고객찾기의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고객으로 바로 가요.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080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예시예요 · 세트 1은 생략했어요 · 정재민 카드 문구 일부는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이유의 종류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MeAI는 이런 이유로 추천해요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9장의 이유를 세 갈래로 나눴어요. 카드 태그와는 다른 분류예요.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120640"/>
                <a:gridCol w="3867912"/>
              </a:tblGrid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유형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 (예시)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보고 골랐나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일정형 · 이벤트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자동차보험 만기가 9일 뒤이고 운전자보험은 없습니다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동의 만료 · 만기 · 상령일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공백형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실손이 없어 의료비 본인부담이 큽니다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실손 · 수술비 · 진단비, 비어 있는 담보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관계형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보상 완료 후 후속 상담이 없었습니다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보상 이력 · 접촉 공백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52120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일정형은 오늘 연락 · 공백형은 제안이 정해진 카드 · 관계형은 만남의 명분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범례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태그·동의·유형, 색으로 읽어요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맨 아래 범례예요. 태그 3종은 아래에 따로 정리했어요.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15450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15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931920"/>
            <a:ext cx="1109441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8680" y="41879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태그 3종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#보장 공백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있어요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53458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3458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#당월 타겟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53458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838237" y="4800600"/>
            <a:ext cx="1235202" cy="38404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8237" y="4800600"/>
            <a:ext cx="1235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38237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만기·동의 만료·상령일이 코앞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태그는 PART 4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길 안내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가는 곳, 다섯 군데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카드나 버튼을 한 번 누르면 가요. 돌아올 땐 어디서든 왼쪽 위 [MeAI 홈].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3291840"/>
            <a:ext cx="2697480" cy="1188720"/>
          </a:xfrm>
          <a:prstGeom prst="roundRect">
            <a:avLst>
              <a:gd name="adj" fmla="val 1230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54880" y="33375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886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578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46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창. 상품·약관·화법.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87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고객 검색 팝업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고르면 그 고객의 대화가 열려요. (PART 3)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66760" y="1847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버튼 · 추천 카드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고객 목록과 다음 행동. (PART 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24612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66760" y="3355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721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[게시판] 버튼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공지·이슈·기능안내. 빨간 점은 새 글. (PART 5)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38160" y="4754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66760" y="4864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동의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230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[고객 동의]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→ 동의 요청 알림톡. (PART 5)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069080" y="313182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4069080" y="420624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7452360" y="2395728"/>
            <a:ext cx="685800" cy="1033272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452360" y="3904488"/>
            <a:ext cx="685800" cy="9144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452360" y="4343400"/>
            <a:ext cx="685800" cy="1069848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팝업과 추천 카드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고민이면 추천 카드.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 · 고객 검색 팝업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 · 추천 카드 → 고객찾기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알면, 고객 검색 팝업으로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검은 맞춤대화 카드를 누르면 떠요. 고객을 고르면 바로 시작해요.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3667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43667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330251" y="18155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30251" y="18155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79873" y="23020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79873" y="23020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68956" y="2630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068956" y="2630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037551" y="285167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037551" y="28516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32288" y="262191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32288" y="26219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50048" y="592865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50048" y="59286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77339" y="178847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3177339" y="17884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4340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34340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727448" y="169164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27448" y="19842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"고객을 선택하면 맞춤대화를 시작합니다"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34340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34340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727448" y="234086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27448" y="263347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넣어도, 담당자 이름으로도 찾아져요.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34340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43434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990088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61명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27448" y="3282696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고객만, 가나다순.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4340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43434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727448" y="3639312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727448" y="39319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만료까지 남은 날. 오늘 철회한 고객은 회색.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340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3434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727448" y="4288536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버튼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727448" y="4581144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팝업이 닫히고 그 고객의 맞춤대화가 열려요.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34340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434340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4727448" y="493776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727448" y="52303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쪽에 10명. 이름으로 찾으면 넘길 일이 거의 없어요.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34340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434340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727448" y="558698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닫기(X)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727448" y="587959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홈으로 돌아와요. 검색어는 지워져요.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이름으로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목록이 좁혀져요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성만 알아도 괜찮아요. 담당자 이름으로도 찾아요.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045032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045032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304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 입력 → 김씨 고객 + 담당자 김OO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34531" y="22551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4531" y="22551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577371" y="318558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577371" y="3185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9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069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53128" y="16916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글자부터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453128" y="19842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"김"만 넣어도 김씨 고객이 모두 보여요. 즉시 걸러져요.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69080" y="2395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453128" y="23774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같아도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453128" y="26700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나이·담당자가 함께 보여서 구분돼요.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69080" y="3291840"/>
            <a:ext cx="4434214" cy="269748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291840"/>
            <a:ext cx="4434214" cy="26974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069080" y="6035040"/>
            <a:ext cx="44342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이름 → "조건에 맞는 고객이 없습니다"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609557" y="51441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4609557" y="51441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823334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8823334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7382" y="3291840"/>
            <a:ext cx="24356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없으면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9207382" y="3584448"/>
            <a:ext cx="2435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"조건에 맞는 고객이 없습니다."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등록·동의부터 확인해요.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동의 상태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목록에 없고, 오늘 철회한 고객은 회색.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8632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5877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유효 · D-26 · [맞춤대화] 활성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7315200" cy="8632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39136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하루 전 · D-1 · 아직 시작 가능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7315200" cy="8632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2395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철회 · 회색 · [맞춤대화] 비활성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5577840"/>
            <a:ext cx="7315200" cy="731520"/>
          </a:xfrm>
          <a:prstGeom prst="roundRect">
            <a:avLst>
              <a:gd name="adj" fmla="val 1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69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다시 받기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전이면 고객찾기 [사전동의 만료] 그룹에서 미리 챙기고,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만료됐으면 고객찾기 [사전조회동의 요청하기]나 MeAI 홈 [고객 동의]로 다시 요청해요.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1691640"/>
            <a:ext cx="3502152" cy="192024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66760" y="1783080"/>
            <a:ext cx="3044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동의가 먼저인가요?  </a:t>
            </a:r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읽어요.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약 15분 내외로 반영돼요.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(게시판 공지)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138160" y="379476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3886200"/>
            <a:ext cx="304495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indent="0" marL="0">
              <a:lnSpc>
                <a:spcPct val="130000"/>
              </a:lnSpc>
              <a:buNone/>
            </a:pP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"보장을 정확히 보고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말씀드리려면 동의가 필요해요.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알림톡으로 금방 끝나요."</a:t>
            </a:r>
            <a:endParaRPr lang="en-US" sz="14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고민이면 추천 카드, 클릭 두 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한 번, 추천 질문에서 한 번. 고객과 질문이 정해진 채로 맞춤대화가 열려요.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534095" y="1252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이름·질문 문장은 예시예요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717732"/>
            <a:ext cx="2651760" cy="287389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7732"/>
            <a:ext cx="2651760" cy="287389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2266" y="4142727"/>
            <a:ext cx="2253765" cy="259160"/>
          </a:xfrm>
          <a:prstGeom prst="roundRect">
            <a:avLst>
              <a:gd name="adj" fmla="val 2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9412" y="3939101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79412" y="3939101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1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48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아래 [MeAI 고객찾기에서 열기]를 눌러요.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127248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3364992" y="2233411"/>
            <a:ext cx="2651760" cy="1842537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233411"/>
            <a:ext cx="2651760" cy="1842537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364992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3364992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30752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364992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이유·태그와 한눈에 보기 6칸을 훑어봐요.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943600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6181344" y="1678132"/>
            <a:ext cx="2651760" cy="29530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78132"/>
            <a:ext cx="2651760" cy="295309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313932" y="3016065"/>
            <a:ext cx="2392611" cy="491178"/>
          </a:xfrm>
          <a:prstGeom prst="roundRect">
            <a:avLst>
              <a:gd name="adj" fmla="val 1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031711" y="2925664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031711" y="2925664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2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181344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6181344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547104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맞춤대화 질문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181344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오른쪽의 빨간 맞춤대화 질문을 눌러요.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없이 열 땐 아래 빨간 버튼.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875995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8997696" y="1784886"/>
            <a:ext cx="2651760" cy="27395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6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784886"/>
            <a:ext cx="2651760" cy="2739589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034854" y="4071817"/>
            <a:ext cx="2594333" cy="249975"/>
          </a:xfrm>
          <a:prstGeom prst="roundRect">
            <a:avLst>
              <a:gd name="adj" fmla="val 21948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10474123" y="3820154"/>
            <a:ext cx="1155065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474123" y="3820154"/>
            <a:ext cx="11550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채워져요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8997696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5"/>
          <p:cNvSpPr txBox="1"/>
          <p:nvPr/>
        </p:nvSpPr>
        <p:spPr>
          <a:xfrm>
            <a:off x="8997696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6"/>
          <p:cNvSpPr txBox="1"/>
          <p:nvPr/>
        </p:nvSpPr>
        <p:spPr>
          <a:xfrm>
            <a:off x="9363456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질문까지 준비</a:t>
            </a:r>
            <a:endParaRPr lang="en-US" sz="1300" dirty="0"/>
          </a:p>
        </p:txBody>
      </p:sp>
      <p:sp>
        <p:nvSpPr>
          <p:cNvPr id="43" name="Text 37"/>
          <p:cNvSpPr txBox="1"/>
          <p:nvPr/>
        </p:nvSpPr>
        <p:spPr>
          <a:xfrm>
            <a:off x="8997696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서은아님 맞춤대화가 열리고, 입력창에 질문이 들어 있어요. 보내기만 누르면 돼요.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94360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77240" y="603504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길의 차이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1은 연락할 고객이 이미 정해진 날, 길 2는 "오늘 누구에게 연락할까?"가 고민인 날. 둘 다 그 고객의 맞춤대화로 이어져요.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고객을 MeAI가 그룹으로 묶어줘요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35명", 그룹을 누르면 그 고객만 모여요.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· 가운데 · 오른쪽 3단 화면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14개와 설명 문구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· 한눈에 보기 6칸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동의별 다음 행동 · 검색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고객찾기는 세 단으로 읽어요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7772400" cy="4857750"/>
          </a:xfrm>
          <a:prstGeom prst="roundRect">
            <a:avLst>
              <a:gd name="adj" fmla="val 26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772400" cy="48577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202817" y="171018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202817" y="17101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77505" y="23902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877505" y="2390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10687" y="173717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210687" y="17371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547805" y="235788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5547805" y="23578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061020" y="45816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061020" y="45816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29565" y="19584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929565" y="19584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079232" y="356692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079232" y="35669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525205" y="13377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2525205" y="13377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600317" y="157524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600317" y="15752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8595360" y="131673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8595360" y="1316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8979408" y="1298448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979408" y="1591056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목록이 바뀌어요.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8595360" y="186423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8595360" y="186423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979408" y="1845945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전환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8979408" y="2138553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595360" y="241173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595360" y="241173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979408" y="2393442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</a:t>
            </a:r>
            <a:endParaRPr 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8979408" y="2686050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묶인 이유 한 줄 · [전체] 필터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8595360" y="295922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8595360" y="295922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979408" y="2940939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979408" y="3233547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· 태그 · 한눈에 보기 6칸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8595360" y="35067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595360" y="35067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979408" y="3488436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8979408" y="3781044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펼쳐지고 패널이 바뀌어요.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595360" y="405422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595360" y="4054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8979408" y="4035933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</a:t>
            </a:r>
            <a:endParaRPr lang="en-US" sz="1250" dirty="0"/>
          </a:p>
        </p:txBody>
      </p:sp>
      <p:sp>
        <p:nvSpPr>
          <p:cNvPr id="49" name="Text 46"/>
          <p:cNvSpPr txBox="1"/>
          <p:nvPr/>
        </p:nvSpPr>
        <p:spPr>
          <a:xfrm>
            <a:off x="8979408" y="4328541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· 맞춤대화용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8595360" y="460171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8595360" y="46017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8979408" y="4583430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버튼</a:t>
            </a:r>
            <a:endParaRPr lang="en-US" sz="1250" dirty="0"/>
          </a:p>
        </p:txBody>
      </p:sp>
      <p:sp>
        <p:nvSpPr>
          <p:cNvPr id="53" name="Text 50"/>
          <p:cNvSpPr txBox="1"/>
          <p:nvPr/>
        </p:nvSpPr>
        <p:spPr>
          <a:xfrm>
            <a:off x="8979408" y="4876038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· [맞춤대화 시작]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8595360" y="51492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5" name="Text 52"/>
          <p:cNvSpPr txBox="1"/>
          <p:nvPr/>
        </p:nvSpPr>
        <p:spPr>
          <a:xfrm>
            <a:off x="8595360" y="51492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8979408" y="5130927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50" dirty="0"/>
          </a:p>
        </p:txBody>
      </p:sp>
      <p:sp>
        <p:nvSpPr>
          <p:cNvPr id="57" name="Text 54"/>
          <p:cNvSpPr txBox="1"/>
          <p:nvPr/>
        </p:nvSpPr>
        <p:spPr>
          <a:xfrm>
            <a:off x="8979408" y="5423535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이름·조건으로 검색해요.</a:t>
            </a:r>
            <a:endParaRPr lang="en-US" sz="1050" dirty="0"/>
          </a:p>
        </p:txBody>
      </p:sp>
      <p:sp>
        <p:nvSpPr>
          <p:cNvPr id="58" name="Shape 55"/>
          <p:cNvSpPr/>
          <p:nvPr/>
        </p:nvSpPr>
        <p:spPr>
          <a:xfrm>
            <a:off x="8595360" y="56967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8595360" y="56967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8979408" y="5678424"/>
            <a:ext cx="2660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</a:t>
            </a:r>
            <a:endParaRPr lang="en-US" sz="1250" dirty="0"/>
          </a:p>
        </p:txBody>
      </p:sp>
      <p:sp>
        <p:nvSpPr>
          <p:cNvPr id="61" name="Text 58"/>
          <p:cNvSpPr txBox="1"/>
          <p:nvPr/>
        </p:nvSpPr>
        <p:spPr>
          <a:xfrm>
            <a:off x="8979408" y="5971032"/>
            <a:ext cx="2660904" cy="245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ON, 끄면 원래 크기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그룹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이름이 곧 연락 이유예요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 · 신규 등록. 인원은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53328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77440" y="1691640"/>
            <a:ext cx="1965960" cy="26680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91640"/>
            <a:ext cx="1965960" cy="266808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77440" y="440544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965960" cy="502920"/>
          </a:xfrm>
          <a:prstGeom prst="roundRect">
            <a:avLst>
              <a:gd name="adj" fmla="val 218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49377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색은 35쪽에서 봐요.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91640"/>
          <a:ext cx="70683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39312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들어오나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분류 전인 신규 고객 · 다음 날 반영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암·뇌·심진단비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2천만원 이하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· 종수술비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5천만원 이하 · 종수술비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 · 치아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간병인지원 입원일당 · 치아보철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회사 전략 담보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(최상)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 · 월 50만원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증권이 많거나 보험료가 큰 우량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· 생일 임박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 안에 보험 나이가 오름 · 곧 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임박 · 재동의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572000" y="5897880"/>
            <a:ext cx="7068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들 수 있어요.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줄이 곧 상담 화법이에요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묶인 이유가 한 줄로 붙어요.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249211"/>
          </a:xfrm>
          <a:prstGeom prst="roundRect">
            <a:avLst>
              <a:gd name="adj" fmla="val 102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766560" cy="1249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15468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6766560" cy="118621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93034" y="19109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293034" y="19109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43823" y="25511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43823" y="2551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017785" y="39585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2017785" y="39585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61772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6766560" cy="118621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680960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680960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8065008" y="18288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 · 인원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065008" y="212140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35명". [전체]로 동의 고객만 걸러요.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680960" y="28712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7680960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8065008" y="285292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065008" y="314553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묶였는지, 어떻게 말할지.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7680960" y="38953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7680960" y="38953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065008" y="38770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첫마디로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8065008" y="416966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"재활·간병 기간이 길어 진단비가 곧 생활비예요."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680960" y="49194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7"/>
          <p:cNvSpPr txBox="1"/>
          <p:nvPr/>
        </p:nvSpPr>
        <p:spPr>
          <a:xfrm>
            <a:off x="7680960" y="4919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8065008" y="490118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문자 초안은 MeAI에게</a:t>
            </a:r>
            <a:endParaRPr lang="en-US" sz="1400" dirty="0"/>
          </a:p>
        </p:txBody>
      </p:sp>
      <p:sp>
        <p:nvSpPr>
          <p:cNvPr id="34" name="Text 29"/>
          <p:cNvSpPr txBox="1"/>
          <p:nvPr/>
        </p:nvSpPr>
        <p:spPr>
          <a:xfrm>
            <a:off x="8065008" y="5193792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일반대화 추천 질문을 누르면 이 그룹에 보낼 안내 문자를 써 줘요(PART 8).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 문구 모음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한 줄 화법 모음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 문구에서 기준 문장 뒤의 화법만 모았어요.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8855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화면의 화법 문장 (그대로)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치료비 실제 부담액을 기준으로 설명하면 필요가 분명해집니다.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뇌질환은 재활·간병 기간이 길어 진단비가 곧 생활비 대체 수단이 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심장질환은 시술 반복과 재발이 잦아 한 번의 진단비로는 부족합니다.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표적·면역 항암은 회차당 비용이 커서 별도 특약 없이는 감당이 어렵습니다.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종수술비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수술은 암보다 발생 빈도가 높아 실제 청구가 가장 많이 일어나는 담보입니다.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간병비는 하루 단위로 나가는 실지출이라 일당이 없으면 부담이 그대로 남습니다.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임플란트·브릿지는 실손으로 보장되지 않아 전액 본인 부담입니다.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안에 우선 접촉하는 것이 유리합니다.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보험에 대한 관심과 니즈가 높은 고객입니다.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50만원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규모가 큰 편이므로 보험료 대비 보장 수준을 점검할 대상입니다.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보장을 더 싸게 준비할 수 있는 마지막 구간입니다.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축하 인사로 대화를 열고 자연스럽게 보장 점검으로 이어가기 좋은 시점입니다.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전에 재동의를 받아야 이후에도 안내와 연락을 이어갈 수 있습니다.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 정보는 익일 반영됩니다.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0350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 기준 · 오픈 시 바뀔 수 있어요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여섯 칸이 펼쳐져요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766560" cy="1148644"/>
          </a:xfrm>
          <a:prstGeom prst="roundRect">
            <a:avLst>
              <a:gd name="adj" fmla="val 111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11486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5568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 · AI 추천 고객 리본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5550292" cy="3383280"/>
          </a:xfrm>
          <a:prstGeom prst="roundRect">
            <a:avLst>
              <a:gd name="adj" fmla="val 32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0"/>
            <a:ext cx="5550292" cy="3383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01757" y="30532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01757" y="3053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1757" y="34558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01757" y="34558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892093" y="339589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892093" y="3395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01757" y="384129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1757" y="3841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01757" y="4269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401757" y="4269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892093" y="51260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892093" y="51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6809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6809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065008" y="14630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065008" y="17556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다르면 "담당 OOO"이 붙어요.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680960" y="2304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68096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8065008" y="22860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065008" y="257860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"암진단비가 1천만원대에 머물러 있습니다."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680960" y="31272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76809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8065008" y="31089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065008" y="340156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만료면 "필요", 철회면 "철회"로 바뀌어요.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68096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6809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065008" y="39319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(우선순위 순)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065008" y="422452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 = 당월 타겟. 부족 그룹은 그룹마다 색이 달라요.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768096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768096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8065008" y="47548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한눈에 보기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065008" y="504748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칸은 36쪽에서 자세히 봐요.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768096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768096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8065008" y="55778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 칸 · 미확인</a:t>
            </a:r>
            <a:endParaRPr lang="en-US" sz="1350" dirty="0"/>
          </a:p>
        </p:txBody>
      </p:sp>
      <p:sp>
        <p:nvSpPr>
          <p:cNvPr id="46" name="Text 42"/>
          <p:cNvSpPr txBox="1"/>
          <p:nvPr/>
        </p:nvSpPr>
        <p:spPr>
          <a:xfrm>
            <a:off x="8065008" y="58704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"미확인". 추정하지 않아요.</a:t>
            </a:r>
            <a:endParaRPr lang="en-US" sz="11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NEW 태그 색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태그가 이제 색으로 구분돼요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7개가 저마다 다른 색이에요. 여러 개 붙어도 한눈에 보여요.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5257800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8745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· 색 7가지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pic>
        <p:nvPicPr>
          <p:cNvPr id="1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1012874" cy="329184"/>
          </a:xfrm>
          <a:prstGeom prst="rect">
            <a:avLst/>
          </a:prstGeom>
        </p:spPr>
      </p:pic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06624"/>
            <a:ext cx="1012874" cy="329184"/>
          </a:xfrm>
          <a:prstGeom prst="rect">
            <a:avLst/>
          </a:prstGeom>
        </p:spPr>
      </p:pic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27248"/>
            <a:ext cx="1012874" cy="329184"/>
          </a:xfrm>
          <a:prstGeom prst="rect">
            <a:avLst/>
          </a:prstGeom>
        </p:spPr>
      </p:pic>
      <p:pic>
        <p:nvPicPr>
          <p:cNvPr id="15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47872"/>
            <a:ext cx="1012874" cy="329184"/>
          </a:xfrm>
          <a:prstGeom prst="rect">
            <a:avLst/>
          </a:prstGeom>
        </p:spPr>
      </p:pic>
      <p:pic>
        <p:nvPicPr>
          <p:cNvPr id="16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286000"/>
            <a:ext cx="1012874" cy="329184"/>
          </a:xfrm>
          <a:prstGeom prst="rect">
            <a:avLst/>
          </a:prstGeom>
        </p:spPr>
      </p:pic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706624"/>
            <a:ext cx="1012874" cy="329184"/>
          </a:xfrm>
          <a:prstGeom prst="rect">
            <a:avLst/>
          </a:prstGeom>
        </p:spPr>
      </p:pic>
      <p:pic>
        <p:nvPicPr>
          <p:cNvPr id="18" name="Image 6" descr="MeAI 화면 캡처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127248"/>
            <a:ext cx="739398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772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77724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000" dirty="0"/>
          </a:p>
        </p:txBody>
      </p:sp>
      <p:pic>
        <p:nvPicPr>
          <p:cNvPr id="21" name="Image 7" descr="MeAI 화면 캡처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1043260" cy="32918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24688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납입</a:t>
            </a:r>
            <a:endParaRPr lang="en-US" sz="1150" dirty="0"/>
          </a:p>
        </p:txBody>
      </p:sp>
      <p:sp>
        <p:nvSpPr>
          <p:cNvPr id="23" name="Text 13"/>
          <p:cNvSpPr txBox="1"/>
          <p:nvPr/>
        </p:nvSpPr>
        <p:spPr>
          <a:xfrm>
            <a:off x="246888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4" name="Image 8" descr="MeAI 화면 캡처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709160"/>
            <a:ext cx="997681" cy="329184"/>
          </a:xfrm>
          <a:prstGeom prst="rect">
            <a:avLst/>
          </a:prstGeom>
        </p:spPr>
      </p:pic>
      <p:pic>
        <p:nvPicPr>
          <p:cNvPr id="25" name="Image 9" descr="MeAI 화면 캡처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8880" y="5129784"/>
            <a:ext cx="1088839" cy="32918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16052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임박</a:t>
            </a:r>
            <a:endParaRPr lang="en-US" sz="1150" dirty="0"/>
          </a:p>
        </p:txBody>
      </p:sp>
      <p:sp>
        <p:nvSpPr>
          <p:cNvPr id="27" name="Text 15"/>
          <p:cNvSpPr txBox="1"/>
          <p:nvPr/>
        </p:nvSpPr>
        <p:spPr>
          <a:xfrm>
            <a:off x="416052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8" name="Image 10" descr="MeAI 화면 캡처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0520" y="4709160"/>
            <a:ext cx="860943" cy="329184"/>
          </a:xfrm>
          <a:prstGeom prst="rect">
            <a:avLst/>
          </a:prstGeom>
        </p:spPr>
      </p:pic>
      <p:pic>
        <p:nvPicPr>
          <p:cNvPr id="29" name="Image 11" descr="MeAI 화면 캡처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0520" y="5129784"/>
            <a:ext cx="724205" cy="329184"/>
          </a:xfrm>
          <a:prstGeom prst="rect">
            <a:avLst/>
          </a:prstGeom>
        </p:spPr>
      </p:pic>
      <p:pic>
        <p:nvPicPr>
          <p:cNvPr id="30" name="Image 12" descr="MeAI 화면 캡처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520" y="5550408"/>
            <a:ext cx="1271157" cy="329184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6080760" y="1783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카드에서는 우선순위 순서로 붙어요</a:t>
            </a:r>
            <a:endParaRPr lang="en-US" sz="1200" dirty="0"/>
          </a:p>
        </p:txBody>
      </p:sp>
      <p:sp>
        <p:nvSpPr>
          <p:cNvPr id="32" name="Shape 17"/>
          <p:cNvSpPr/>
          <p:nvPr/>
        </p:nvSpPr>
        <p:spPr>
          <a:xfrm>
            <a:off x="6080760" y="2103120"/>
            <a:ext cx="5559552" cy="2009992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13" descr="MeAI 화면 캡처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0760" y="2103120"/>
            <a:ext cx="5559552" cy="2009992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6345908" y="3548604"/>
            <a:ext cx="4404876" cy="410552"/>
          </a:xfrm>
          <a:prstGeom prst="roundRect">
            <a:avLst>
              <a:gd name="adj" fmla="val 13363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5" name="Shape 19"/>
          <p:cNvSpPr/>
          <p:nvPr/>
        </p:nvSpPr>
        <p:spPr>
          <a:xfrm>
            <a:off x="6080760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36" name="Text 20"/>
          <p:cNvSpPr txBox="1"/>
          <p:nvPr/>
        </p:nvSpPr>
        <p:spPr>
          <a:xfrm>
            <a:off x="6263640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100" dirty="0"/>
          </a:p>
        </p:txBody>
      </p:sp>
      <p:sp>
        <p:nvSpPr>
          <p:cNvPr id="37" name="Text 21"/>
          <p:cNvSpPr txBox="1"/>
          <p:nvPr/>
        </p:nvSpPr>
        <p:spPr>
          <a:xfrm>
            <a:off x="6263640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</a:t>
            </a:r>
            <a:endParaRPr lang="en-US" sz="1800" dirty="0"/>
          </a:p>
        </p:txBody>
      </p:sp>
      <p:sp>
        <p:nvSpPr>
          <p:cNvPr id="38" name="Text 22"/>
          <p:cNvSpPr txBox="1"/>
          <p:nvPr/>
        </p:nvSpPr>
        <p:spPr>
          <a:xfrm>
            <a:off x="6263640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목표</a:t>
            </a:r>
            <a:endParaRPr lang="en-US" sz="1300" dirty="0"/>
          </a:p>
        </p:txBody>
      </p:sp>
      <p:sp>
        <p:nvSpPr>
          <p:cNvPr id="39" name="Shape 23"/>
          <p:cNvSpPr/>
          <p:nvPr/>
        </p:nvSpPr>
        <p:spPr>
          <a:xfrm>
            <a:off x="7973568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0" name="Text 24"/>
          <p:cNvSpPr txBox="1"/>
          <p:nvPr/>
        </p:nvSpPr>
        <p:spPr>
          <a:xfrm>
            <a:off x="8156448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100" dirty="0"/>
          </a:p>
        </p:txBody>
      </p:sp>
      <p:sp>
        <p:nvSpPr>
          <p:cNvPr id="41" name="Text 25"/>
          <p:cNvSpPr txBox="1"/>
          <p:nvPr/>
        </p:nvSpPr>
        <p:spPr>
          <a:xfrm>
            <a:off x="8156448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· 주황</a:t>
            </a:r>
            <a:endParaRPr lang="en-US" sz="1800" dirty="0"/>
          </a:p>
        </p:txBody>
      </p:sp>
      <p:sp>
        <p:nvSpPr>
          <p:cNvPr id="42" name="Text 26"/>
          <p:cNvSpPr txBox="1"/>
          <p:nvPr/>
        </p:nvSpPr>
        <p:spPr>
          <a:xfrm>
            <a:off x="8156448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우량 · 날짜 임박</a:t>
            </a:r>
            <a:endParaRPr lang="en-US" sz="1300" dirty="0"/>
          </a:p>
        </p:txBody>
      </p:sp>
      <p:sp>
        <p:nvSpPr>
          <p:cNvPr id="43" name="Shape 27"/>
          <p:cNvSpPr/>
          <p:nvPr/>
        </p:nvSpPr>
        <p:spPr>
          <a:xfrm>
            <a:off x="9866376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4" name="Text 28"/>
          <p:cNvSpPr txBox="1"/>
          <p:nvPr/>
        </p:nvSpPr>
        <p:spPr>
          <a:xfrm>
            <a:off x="10049256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sp>
        <p:nvSpPr>
          <p:cNvPr id="45" name="Text 29"/>
          <p:cNvSpPr txBox="1"/>
          <p:nvPr/>
        </p:nvSpPr>
        <p:spPr>
          <a:xfrm>
            <a:off x="10049256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7가지</a:t>
            </a:r>
            <a:endParaRPr lang="en-US" sz="1800" dirty="0"/>
          </a:p>
        </p:txBody>
      </p:sp>
      <p:sp>
        <p:nvSpPr>
          <p:cNvPr id="46" name="Text 30"/>
          <p:cNvSpPr txBox="1"/>
          <p:nvPr/>
        </p:nvSpPr>
        <p:spPr>
          <a:xfrm>
            <a:off x="10049256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이 고객 한눈에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칸이면 이 고객의 상황이 잡혀요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92258" y="1371600"/>
            <a:ext cx="80071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258" y="1371600"/>
            <a:ext cx="8007178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92258" y="3877056"/>
            <a:ext cx="8007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예시예요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 수. "지금 세 건 갖고 계세요"로 대화를 열어요.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1396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12564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12564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납입액. 예산 감각을 잡는 기준이에요.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74152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753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고객 행동. 계약변경조회는 관심 신호예요.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9808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부족한 진단비. 제안 크기가 여기서 나와요.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11396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12564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4512564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 담보 유무. "없음"이 곧 제안 포인트예요.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074152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827532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표적항암약물허가치료비(비급여)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미확인. 보장분석에서 확인해요.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다음 행동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패널에서 다음 행동을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526280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2628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1772" y="1521333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61772" y="1521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1772" y="2426589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1772" y="2426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" y="373303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1772" y="3733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05756" y="47514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905756" y="4751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05756" y="5389245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905756" y="5389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1772" y="58933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61772" y="58933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66928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053328" y="14630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7556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바꾸면 패널도 바뀌어요.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56692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053328" y="224028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추천 질문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053328" y="253288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조건에 맞는 안내 문자 문안을 요청해요.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566928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053328" y="301752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추천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53328" y="331012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이 고객의 맞춤대화에 채워져 열려요.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566928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053328" y="379476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53328" y="408736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이 고객 보장분석 화면으로 가요.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56692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053328" y="457200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53328" y="486460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고른 상태로 맞춤대화에 들어가요.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669280" y="53675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5669280" y="5367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053328" y="5349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문구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53328" y="56418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다시 찾을 필요가 없다는 뜻이에요.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추천 질문 →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대화가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51485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45148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23594" y="20111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323594" y="2011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08148" y="18856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708148" y="1885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61810" y="186061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861810" y="18606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708148" y="395751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708148" y="39575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708148" y="497084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708148" y="49708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708148" y="52467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708148" y="52467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587619" y="138404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587619" y="13840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93217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김도윤 패널에서 맞춤대화 추천 질문을 누른 화면 · 이름·계약·남은 날은 예시예요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092440" y="14356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92440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476488" y="141732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476488" y="1709928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고객이 이미 들어와 있어요.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날(화면엔 '보장분석 동의')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092440" y="23134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92440" y="2313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476488" y="229514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계약 리스트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476488" y="258775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보험료 · 납입기간 · 기납입보험료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2971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0924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476488" y="295351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자료 준비 상태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476488" y="324612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 · 구성 중 · 미확보.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완료가 아닌 상품은 답이 부정확할 수 있어요.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092440" y="38496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092440" y="3849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476488" y="3831336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안내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8476488" y="4123944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"김도윤님의 보험 가입 내역이에요…"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092440" y="45079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809244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476488" y="448970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 해줘]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8476488" y="478231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버튼 하나로 전체 그림부터.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092440" y="51663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0924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76488" y="514807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질문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476488" y="544068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누른 추천 질문이 들어가 있어요. 전송(↑)만 누르세요.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092440" y="5824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092440" y="5824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476488" y="580644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8476488" y="6099048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동의 상태별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상태별로 다음 행동이 달라요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D-30 · 유효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3109152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9072"/>
            <a:ext cx="3109152" cy="3566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4223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시작]으로 바로 시작해요.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311396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만료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11396" y="1719072"/>
            <a:ext cx="3557588" cy="35661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96" y="1719072"/>
            <a:ext cx="3557588" cy="35661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1396" y="54223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 → 휴대폰 번호 입력 → 알림톡.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807415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074152" y="1719072"/>
            <a:ext cx="3566160" cy="1237415"/>
          </a:xfrm>
          <a:prstGeom prst="roundRect">
            <a:avLst>
              <a:gd name="adj" fmla="val 5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719072"/>
            <a:ext cx="3566160" cy="123741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74152" y="3093647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버튼이 없어요. 새 동의 없이는 진행할 수 없어요.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074152" y="3840480"/>
            <a:ext cx="3566160" cy="1783080"/>
          </a:xfrm>
          <a:prstGeom prst="roundRect">
            <a:avLst>
              <a:gd name="adj" fmla="val 717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 rot="16200000">
            <a:off x="7827264" y="4405418"/>
            <a:ext cx="310896" cy="182880"/>
          </a:xfrm>
          <a:prstGeom prst="triangl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348472" y="3968496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· 만료 고객 수는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"사전조회 동의 필요"에 떠요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348472" y="449884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예시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8348472" y="5184648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받아야 맞춤대화가 열리는 고객이에요.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검색 · 필터 · 페이지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이름으로도, 조건으로도 찾아요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검색창을 누르면 추천 속성, 글자를 치면 연관검색어가 떠요.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1229868"/>
          </a:xfrm>
          <a:prstGeom prst="roundRect">
            <a:avLst>
              <a:gd name="adj" fmla="val 8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12298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9580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검색창 → 추천 속성(암진단비 · 실손 · 상령일 · 자동차)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5422392" cy="215976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22392" cy="21597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17920" y="388798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"암진단비" 입력 → 연관검색어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566160"/>
            <a:ext cx="1921514" cy="2103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1921514" cy="2103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8036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88036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3264408" y="361188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[전체] 드롭다운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264408" y="390448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· 상품소개동의 고객만 걸러요.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2880360" y="43616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88036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3264408" y="434340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 N명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4408" y="463600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제목이 "검색 결과 8명"으로 바뀌어요.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5093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2880360" y="5093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264408" y="507492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264408" y="5367528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아래 ‹ 1 2 ›로 넘겨요.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4315968"/>
            <a:ext cx="5422392" cy="1653168"/>
          </a:xfrm>
          <a:prstGeom prst="roundRect">
            <a:avLst>
              <a:gd name="adj" fmla="val 65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315968"/>
            <a:ext cx="5422392" cy="1653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7920" y="600571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없을 때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활용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하나가 곧 연락 목록이에요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 · 매주 · 매달 · 수시, 네 그룹을 습관으로. 인원은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1위.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이유를 첫마디로 써요.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2249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0849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0849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90849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0849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 · 7명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90849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보험료가 오르기 전 점검, 생일엔 축하 인사로 열어요.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5858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4458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4458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4458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4458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404458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 미리 안내해요.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89466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18066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8066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218066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18066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218066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상세는 다음 날 반영돼요.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보려면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66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부족 그룹은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주력 상품이 정해지면 그 담보의 부족 그룹부터 열어요.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동의는 알림톡 한 통으로 받아요.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목록과 글 상세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먼저인 이유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요청부터 반영까지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게시판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공지·이슈·기능안내를 한 곳에서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04213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504213" cy="4709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55042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글 제목·날짜·내용은 예시예요. MeAI 홈으로 가는 실제 문 6개(10/2부터)는 PART 2에서 봐요.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56302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356302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230724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30724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954" y="20388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954" y="2038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55323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255323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21292" y="184311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21292" y="184311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490849" y="57021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490849" y="57021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5836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967728" y="13716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필터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16642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공지사항 · 이슈 · 기능안내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8368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58368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201168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67728" y="230428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최신순이 기본, 조회순으로도 봐요.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58368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8368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26517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표시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294436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 파랑 · 이슈 주황 · 기능안내 초록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583680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58368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967728" y="329184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· NEW · 첨부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67728" y="358444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= 고정 글 · NEW = 7일 이내 · 클립 = 첨부 수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58368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58368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931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· 조회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22452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게시일과 조회수예요.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5836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967728" y="45720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967728" y="48646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 6건, ‹ 1 2 ›로 넘겨요.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583680" y="5230368"/>
            <a:ext cx="5059375" cy="1078992"/>
          </a:xfrm>
          <a:prstGeom prst="roundRect">
            <a:avLst>
              <a:gd name="adj" fmla="val 101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4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376672"/>
            <a:ext cx="2824399" cy="329184"/>
          </a:xfrm>
          <a:prstGeom prst="rect">
            <a:avLst/>
          </a:prstGeom>
        </p:spPr>
      </p:pic>
      <p:pic>
        <p:nvPicPr>
          <p:cNvPr id="4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5" y="5376672"/>
            <a:ext cx="895380" cy="32918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9590959" y="5376672"/>
            <a:ext cx="973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· ·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66560" y="58155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위쪽  </a:t>
            </a:r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홈]을 누르면 MeAI 홈으로, [글씨 확대]는 기본 ON이에요.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글 상세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누르면 본문과 첨부파일이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127147" cy="466344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127147" cy="4663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89904"/>
            <a:ext cx="6127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오픈 안내 공지를 예로 든 화면이고, 글 내용은 예시예요. MeAI 홈으로 가는 실제 문 6개(10/2부터)는 PART 2에서 봐요.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37811" y="13978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37811" y="1397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84431" y="22215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284431" y="2221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5294" y="300450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5294" y="30045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24828" y="462479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624828" y="46247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475054" y="551663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475054" y="55166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9951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9951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146304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 목록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79208" y="175564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분류·정렬 상태 그대로 목록으로 돌아가요.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9516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9516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79208" y="224028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 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79208" y="253288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· NEW · 날짜 · 조회. 핀은 고정 글이에요.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9516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9516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79208" y="301752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79208" y="331012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 조건 같은 운영 기준이 적혀요.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9516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951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79208" y="379476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79208" y="408736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바로 내려받아요.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99516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9516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457200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글 · 다음 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379208" y="486460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나가지 않고 이어서 읽어요.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995160" y="5349240"/>
            <a:ext cx="4645152" cy="960120"/>
          </a:xfrm>
          <a:prstGeom prst="roundRect">
            <a:avLst>
              <a:gd name="adj" fmla="val 114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3760" y="5440680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글이 오면 MeAI 홈 [게시판] 버튼에 빨간 점이 붙어요. 보이면 먼저 읽어요.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사전조회 동의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알림톡 한 통으로 받아요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읽어요. 그래서 사전조회 동의가 먼저예요.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번호를 넣고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[보내기]를 눌러요.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5172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99063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99063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동의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9063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안내 문자에서 동의를 완료해요.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10841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49753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49753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15분 · D-n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49753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금방 반영돼요.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1년간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D-n으로 보여요.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69958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508870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08870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재요청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08870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 그룹으로 미리 챙겨요.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29075" y="228600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767987" y="1856232"/>
            <a:ext cx="169218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철회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767987" y="2112264"/>
            <a:ext cx="1692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확인 불가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67987" y="2514600"/>
            <a:ext cx="17379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회색으로 표시되고 정보 확인이 막혀요.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3611880"/>
            <a:ext cx="3931920" cy="1982343"/>
          </a:xfrm>
          <a:prstGeom prst="roundRect">
            <a:avLst>
              <a:gd name="adj" fmla="val 39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11880"/>
            <a:ext cx="3931920" cy="1982343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548640" y="563994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[고객 동의] 팝업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709160" y="3611880"/>
            <a:ext cx="3429000" cy="1076255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611880"/>
            <a:ext cx="3429000" cy="1076255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4709160" y="473385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요청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4709160" y="5145335"/>
            <a:ext cx="3429000" cy="459988"/>
          </a:xfrm>
          <a:prstGeom prst="roundRect">
            <a:avLst>
              <a:gd name="adj" fmla="val 14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5145335"/>
            <a:ext cx="3429000" cy="45998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709160" y="565104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뒤 뜨는 알림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8366760" y="3611880"/>
            <a:ext cx="3276295" cy="1982343"/>
          </a:xfrm>
          <a:prstGeom prst="roundRect">
            <a:avLst>
              <a:gd name="adj" fmla="val 553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595360" y="3703320"/>
            <a:ext cx="2819095" cy="1799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상품소개 동의  </a:t>
            </a:r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고객에게는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 추천 고객" 리본이 붙어요.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"상품제안 가능"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숫자에도 들어가요.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맞춤대화와 새 기능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들어온 대화 화면과 새 기능을 익혀요.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열리는 대화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 화면 구성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용어 설명 · 모드 변경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요약 리포트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6089904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60167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들어가기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대화 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MeAI가 열려요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어렵지 않아요. 길은 세 가지예요 · 흰 카드, 검은 카드, 추천 카드.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760720" cy="1288582"/>
          </a:xfrm>
          <a:prstGeom prst="roundRect">
            <a:avLst>
              <a:gd name="adj" fmla="val 8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760720" cy="12885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9066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320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3725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43725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13978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313978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44814"/>
            <a:ext cx="5760720" cy="896112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26368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문구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556294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“어떤 대화를 시작할지만 고르면, 나머지는 MeAI가 준비합니다.”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178086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21317"/>
            <a:ext cx="1188720" cy="42793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0" y="429695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458956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화면이든 왼쪽 위 [MeAI 홈]을 누르면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화면으로 돌아와요.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14735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이름과 숫자는 예시예요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537960" y="1691640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0070287" y="1828800"/>
            <a:ext cx="1463040" cy="9144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0287" y="1828800"/>
            <a:ext cx="1463040" cy="91440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02552" y="18196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6702552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104888" y="1801368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7104888" y="2148840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질문 예시 누르기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104888" y="2569464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물어요 · 바로 시작돼요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537960" y="2990088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10070287" y="3085592"/>
            <a:ext cx="1463040" cy="997712"/>
          </a:xfrm>
          <a:prstGeom prst="roundRect">
            <a:avLst>
              <a:gd name="adj" fmla="val 29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287" y="3085592"/>
            <a:ext cx="1463040" cy="9977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702552" y="311810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702552" y="3118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7104888" y="3099816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450" dirty="0"/>
          </a:p>
        </p:txBody>
      </p:sp>
      <p:sp>
        <p:nvSpPr>
          <p:cNvPr id="37" name="Text 31"/>
          <p:cNvSpPr txBox="1"/>
          <p:nvPr/>
        </p:nvSpPr>
        <p:spPr>
          <a:xfrm>
            <a:off x="7104888" y="3447288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이름 한 글자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[맞춤대화]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7104888" y="3867912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 내역으로 답해요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537960" y="4288536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10070287" y="4495102"/>
            <a:ext cx="1463040" cy="775587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1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0287" y="4495102"/>
            <a:ext cx="1463040" cy="775587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6702552" y="44165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6702552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7104888" y="4398264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</a:t>
            </a:r>
            <a:endParaRPr lang="en-US" sz="1450" dirty="0"/>
          </a:p>
        </p:txBody>
      </p:sp>
      <p:sp>
        <p:nvSpPr>
          <p:cNvPr id="45" name="Text 38"/>
          <p:cNvSpPr txBox="1"/>
          <p:nvPr/>
        </p:nvSpPr>
        <p:spPr>
          <a:xfrm>
            <a:off x="7104888" y="4745736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추천 질문 → 전송(↑)</a:t>
            </a:r>
            <a:endParaRPr lang="en-US" sz="1200" dirty="0"/>
          </a:p>
        </p:txBody>
      </p:sp>
      <p:sp>
        <p:nvSpPr>
          <p:cNvPr id="46" name="Text 39"/>
          <p:cNvSpPr txBox="1"/>
          <p:nvPr/>
        </p:nvSpPr>
        <p:spPr>
          <a:xfrm>
            <a:off x="7104888" y="5166360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열려요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548640" y="5614416"/>
            <a:ext cx="11094415" cy="603504"/>
          </a:xfrm>
          <a:prstGeom prst="roundRect">
            <a:avLst>
              <a:gd name="adj" fmla="val 2121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22960" y="5614416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누르고 → 고르고 → 보내기. 클릭만으로 편하게 써요.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두 가지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vs 맞춤대화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않으면 일반대화, 정하면 맞춤대화예요.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 · 모바일 [MeAI 일반대화]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일반대화] (10/2부터)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고객에게 무엇을 제안할까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→ 보장분석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31152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· 제안 우선순위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31152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 요청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565392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31152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565392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[맞춤대화] 카드 · 고객찾기 · 모바일 [MeAI]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맞춤대화] (10/2부터)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전에는 꼭 맞춤대화로 준비하세요.</a:t>
            </a:r>
            <a:endParaRPr lang="en-US" sz="12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일반대화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무엇이든 물어보는 창이에요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않고 상품·약관·화법을 물어요.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035040" cy="4310743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035040" cy="431074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264920" y="176609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264920" y="17660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183495" y="23073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183495" y="2307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183495" y="290126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183495" y="29012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524615" y="386878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524615" y="386878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524615" y="52530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2524615" y="52530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11649" y="521469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11649" y="52146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866862" y="4991753"/>
            <a:ext cx="1982942" cy="129322"/>
          </a:xfrm>
          <a:prstGeom prst="roundRect">
            <a:avLst>
              <a:gd name="adj" fmla="val 2121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6029815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카드로 들어온 첫 화면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949440" y="17007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49440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169164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333488" y="198424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MeAI 홈으로 돌아가요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49440" y="22684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49440" y="22684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33488" y="225933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333488" y="255193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원문과 화면 안내를 봐요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949440" y="28361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49440" y="28361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33488" y="282702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333488" y="311962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월별로 쌓여요 · 누르면 이어서 물어요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949440" y="340385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49440" y="34038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33488" y="339471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 3개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7333488" y="368731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 → 누르면 시작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949440" y="39715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6949440" y="3971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7333488" y="396240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7333488" y="4255008"/>
            <a:ext cx="4309567" cy="422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쓰고 전송(↑) · [상품 선택]으로 상품 고르기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테두리 안내대로 이름·연락처는 넣지 않아요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949440" y="47320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949440" y="47320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7333488" y="4722876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[새로 대화하기]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7333488" y="5015484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바뀌면 새로 열어요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49440" y="5308854"/>
            <a:ext cx="4693615" cy="768096"/>
          </a:xfrm>
          <a:prstGeom prst="roundRect">
            <a:avLst>
              <a:gd name="adj" fmla="val 1666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132320" y="5400294"/>
            <a:ext cx="108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써요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8214360" y="5400294"/>
            <a:ext cx="126517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4360" y="5400294"/>
            <a:ext cx="12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70974" y="5400294"/>
            <a:ext cx="15864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570974" y="5400294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14360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14360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557004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557004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PC 맞춤대화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메뉴·대화·입력창, 세 덩어리예요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973568" cy="4983480"/>
          </a:xfrm>
          <a:prstGeom prst="roundRect">
            <a:avLst>
              <a:gd name="adj" fmla="val 256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973568" cy="4983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99310" y="207441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899310" y="207441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899310" y="290499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1899310" y="29049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899310" y="38740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899310" y="3874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23772" y="557946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1223772" y="557946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996838" y="13656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96838" y="136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918155" y="240665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918155" y="2406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918155" y="39847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2918155" y="398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25436" y="523615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25436" y="523615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918155" y="564591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2918155" y="5645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401568" y="1042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개발 중 화면이라 왼쪽 위 [MeAI 홈] 자리에 로고가 보여요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73252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73252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116568" y="137160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9116568" y="1673352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일수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(화면엔 '보장분석 동의')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732520" y="21305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732520" y="2130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9116568" y="211226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검색·사용 가이드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116568" y="241401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 원문과 화면 안내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732520" y="26791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732520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9116568" y="266090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9116568" y="296265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목록, 누르면 이어가요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732520" y="32278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8732520" y="32278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9116568" y="320954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8732520" y="37764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732520" y="3776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9116568" y="375818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3개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9116568" y="405993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8732520" y="43251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732520" y="43251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9116568" y="430682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116568" y="460857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복사·편집·저장 아이콘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8732520" y="48737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8732520" y="4873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9116568" y="485546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116568" y="515721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할 일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8732520" y="54223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5" name="Text 52"/>
          <p:cNvSpPr txBox="1"/>
          <p:nvPr/>
        </p:nvSpPr>
        <p:spPr>
          <a:xfrm>
            <a:off x="8732520" y="54223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9116568" y="540410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[용어] 버튼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9116568" y="5705856"/>
            <a:ext cx="25237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8732520" y="59710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8732520" y="59710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9116568" y="5952744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맞춤대화 시작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고객 정보와 상품을 정해요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21808" cy="2187621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21808" cy="218762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668949"/>
            <a:ext cx="5321808" cy="2673605"/>
          </a:xfrm>
          <a:prstGeom prst="roundRect">
            <a:avLst>
              <a:gd name="adj" fmla="val 39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68949"/>
            <a:ext cx="5321808" cy="26736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10310" y="18261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1310310" y="18261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370465" y="15064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370465" y="150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70465" y="238568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2370465" y="238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370465" y="31429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2370465" y="31429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2762" y="397074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602762" y="397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95331" y="395804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95331" y="3958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02762" y="49296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02762" y="49296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02762" y="5386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02762" y="5386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236208" y="1024128"/>
            <a:ext cx="5404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정보 칸이 열려 있으면 아래가 흐려요(^로 접으면 밝아져요)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236208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36208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6620256" y="13716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6620256" y="1664208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열렸다는 표시예요.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36208" y="195643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236208" y="195643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6620256" y="1938147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6620256" y="2230755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넣으면 고객 맥락을 살려 답해요.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36208" y="252298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6236208" y="252298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6620256" y="2504694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6620256" y="2797302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병력·가족력이 핵심, 이름·연락처는 넣지 않아요.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36208" y="308952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6236208" y="30895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6620256" y="3071241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완료]로 반영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6620256" y="3363849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비울 땐 [입력하지 않고 넘어가기].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236208" y="376038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236208" y="37603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6620256" y="3742101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계약 총 보험료</a:t>
            </a:r>
            <a:endParaRPr lang="en-US" sz="1350" dirty="0"/>
          </a:p>
        </p:txBody>
      </p:sp>
      <p:sp>
        <p:nvSpPr>
          <p:cNvPr id="46" name="Text 42"/>
          <p:cNvSpPr txBox="1"/>
          <p:nvPr/>
        </p:nvSpPr>
        <p:spPr>
          <a:xfrm>
            <a:off x="6620256" y="4034709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 매달 이만큼 내고 계세요"로 시작해요.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6236208" y="4400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4"/>
          <p:cNvSpPr txBox="1"/>
          <p:nvPr/>
        </p:nvSpPr>
        <p:spPr>
          <a:xfrm>
            <a:off x="6236208" y="4400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9" name="Text 45"/>
          <p:cNvSpPr txBox="1"/>
          <p:nvPr/>
        </p:nvSpPr>
        <p:spPr>
          <a:xfrm>
            <a:off x="6620256" y="4381800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약관DB 준비 상태</a:t>
            </a:r>
            <a:endParaRPr lang="en-US" sz="1350" dirty="0"/>
          </a:p>
        </p:txBody>
      </p:sp>
      <p:sp>
        <p:nvSpPr>
          <p:cNvPr id="50" name="Text 46"/>
          <p:cNvSpPr txBox="1"/>
          <p:nvPr/>
        </p:nvSpPr>
        <p:spPr>
          <a:xfrm>
            <a:off x="6620256" y="4674408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구성이 끝나지 않은 상품은 답이 부정확할 수 있어요.</a:t>
            </a:r>
            <a:endParaRPr lang="en-US" sz="1150" dirty="0"/>
          </a:p>
        </p:txBody>
      </p:sp>
      <p:sp>
        <p:nvSpPr>
          <p:cNvPr id="51" name="Shape 47"/>
          <p:cNvSpPr/>
          <p:nvPr/>
        </p:nvSpPr>
        <p:spPr>
          <a:xfrm>
            <a:off x="6236208" y="503978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2" name="Text 48"/>
          <p:cNvSpPr txBox="1"/>
          <p:nvPr/>
        </p:nvSpPr>
        <p:spPr>
          <a:xfrm>
            <a:off x="6236208" y="503978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3" name="Text 49"/>
          <p:cNvSpPr txBox="1"/>
          <p:nvPr/>
        </p:nvSpPr>
        <p:spPr>
          <a:xfrm>
            <a:off x="6620256" y="5021499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담보별로 거르기</a:t>
            </a:r>
            <a:endParaRPr lang="en-US" sz="1350" dirty="0"/>
          </a:p>
        </p:txBody>
      </p:sp>
      <p:sp>
        <p:nvSpPr>
          <p:cNvPr id="54" name="Text 50"/>
          <p:cNvSpPr txBox="1"/>
          <p:nvPr/>
        </p:nvSpPr>
        <p:spPr>
          <a:xfrm>
            <a:off x="6620256" y="5314107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등 버튼으로 골라요.</a:t>
            </a:r>
            <a:endParaRPr lang="en-US" sz="1150" dirty="0"/>
          </a:p>
        </p:txBody>
      </p:sp>
      <p:sp>
        <p:nvSpPr>
          <p:cNvPr id="55" name="Shape 51"/>
          <p:cNvSpPr/>
          <p:nvPr/>
        </p:nvSpPr>
        <p:spPr>
          <a:xfrm>
            <a:off x="6236208" y="567948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6" name="Text 52"/>
          <p:cNvSpPr txBox="1"/>
          <p:nvPr/>
        </p:nvSpPr>
        <p:spPr>
          <a:xfrm>
            <a:off x="6236208" y="56794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6620256" y="5661198"/>
            <a:ext cx="50200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전체 선택</a:t>
            </a:r>
            <a:endParaRPr lang="en-US" sz="1350" dirty="0"/>
          </a:p>
        </p:txBody>
      </p:sp>
      <p:sp>
        <p:nvSpPr>
          <p:cNvPr id="58" name="Text 54"/>
          <p:cNvSpPr txBox="1"/>
          <p:nvPr/>
        </p:nvSpPr>
        <p:spPr>
          <a:xfrm>
            <a:off x="6620256" y="5953806"/>
            <a:ext cx="5020056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계약은 체크를 풀면 분석에서 빠져요.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이 순서로 와요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이제 할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16951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31695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91640"/>
            <a:ext cx="5440680" cy="3409915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40680" cy="3409915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0861" y="244649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70861" y="24464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670861" y="313607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70861" y="31360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70861" y="433175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670861" y="433175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10319429" y="234527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10319429" y="234527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340141" y="356626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340141" y="356626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340141" y="45848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6340141" y="45848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7985455" y="1252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금액은 예시예요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48640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48640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결론 = 상담 주제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2397709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2397709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2726893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갖춘 것 → 안심부터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4246778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246778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4575962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것 → 제안 주제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095848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6095848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6425032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"미가입" 줄 = 제안 포인트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7944917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7944917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4"/>
          <p:cNvSpPr txBox="1"/>
          <p:nvPr/>
        </p:nvSpPr>
        <p:spPr>
          <a:xfrm>
            <a:off x="8274101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할 일 → 다음 행동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9793986" y="57972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9793986" y="57972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10123170" y="5779008"/>
            <a:ext cx="14650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 설명 N] · 복사·출처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 버튼 하나로 뜻이 풀려요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1383323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138332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2355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 [용어] 버튼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394960" cy="2669814"/>
          </a:xfrm>
          <a:prstGeom prst="roundRect">
            <a:avLst>
              <a:gd name="adj" fmla="val 40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5394960" cy="266981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85192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어려운 말에 표시가 붙어요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60224" y="1371600"/>
            <a:ext cx="5092065" cy="329184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224" y="1371600"/>
            <a:ext cx="5092065" cy="3291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0224" y="4690872"/>
            <a:ext cx="50920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· 뜻을 한 번에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5029200"/>
            <a:ext cx="2377440" cy="981166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29200"/>
            <a:ext cx="2377440" cy="9811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603779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용어를 누르면 뜻이 떠요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823960" y="5029200"/>
            <a:ext cx="2816352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052560" y="512064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뜻풀이는 고객 눈높이 문장이라 그대로 읽어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 [용어]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화면 · 오른쪽 아래 [용어]</a:t>
            </a:r>
            <a:endParaRPr lang="en-US" sz="1000" dirty="0"/>
          </a:p>
        </p:txBody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[용어]를 켜면 용어에 표시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361636" y="2049989"/>
            <a:ext cx="1686281" cy="1162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목록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16184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68680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160020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달라요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9070848" y="189280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입력창 오른쪽 위,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0" y="2624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2624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260604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끄기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8986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표시,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누르면 원래대로.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36118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보기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90448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N]에서 한 번에.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43891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그대로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468172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뜻풀이를 그대로 읽어 주세요.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간편·상세를 골라요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때는 상세예요.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6828817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28817" cy="4114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7202" y="2602149"/>
            <a:ext cx="2848259" cy="14591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7202" y="2978609"/>
            <a:ext cx="3379389" cy="7879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05654" y="2978609"/>
            <a:ext cx="930937" cy="154670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833872"/>
            <a:ext cx="68288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분석]을 누르면 두 가지가 펼쳐져요 · ※ 답 아래 질문 버튼 일부는 가렸어요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635240" y="16916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863840" y="18928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상담 · 직관적 검토용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148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 분석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5328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모드예요. 고객과 함께 보는 화면, 첫 상담에 맞아요.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635240" y="32918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863840" y="34930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· 담보 정밀 검토용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490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분석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1330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근거를 확인하거나 자사·타사 담보를 숫자로 비교할 때.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635240" y="4892040"/>
            <a:ext cx="4005072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98348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대화에 아래 안내줄이 붙고, 다음 질문부터 그 모드로 답해요.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635240" y="5760720"/>
            <a:ext cx="4005072" cy="421587"/>
          </a:xfrm>
          <a:prstGeom prst="roundRect">
            <a:avLst>
              <a:gd name="adj" fmla="val 1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5760720"/>
            <a:ext cx="4005072" cy="421587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모바일도 입력창 아래에 있어요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84700" y="3982354"/>
            <a:ext cx="1579583" cy="20855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84700" y="4341526"/>
            <a:ext cx="1579583" cy="21434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[간편 분석] · [상품 선택]</a:t>
            </a:r>
            <a:endParaRPr lang="en-US" sz="1000" dirty="0"/>
          </a:p>
        </p:txBody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782180" y="3982354"/>
            <a:ext cx="1579583" cy="65655"/>
          </a:xfrm>
          <a:prstGeom prst="rect">
            <a:avLst/>
          </a:prstGeom>
          <a:solidFill>
            <a:srgbClr val="8B8C8D"/>
          </a:solidFill>
          <a:ln w="12700">
            <a:solidFill>
              <a:srgbClr val="8B8C8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"분석 모드" 선택창 · 간편 / 상세</a:t>
            </a:r>
            <a:endParaRPr lang="en-US" sz="1000" dirty="0"/>
          </a:p>
        </p:txBody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869" y="3689752"/>
            <a:ext cx="1585492" cy="20933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79869" y="4050268"/>
            <a:ext cx="1585492" cy="215146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 · 버튼과 안내줄이 바뀌어요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686800" y="17556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173736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누르면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"분석 모드" 선택창이 올라와요.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28163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279806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끝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090672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선택창이 닫히고 버튼 이름이 바뀌어요.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38770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38770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385876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바꿔도 돼요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4151376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땐 상세.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686800" y="6071616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답 아래 질문 버튼 일부는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아래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버튼으로 이어가세요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타이핑 없이 버튼만 누르면 대화가 깊어져요.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483927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83927" cy="4572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6567" y="3221182"/>
            <a:ext cx="2704407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6567" y="3578629"/>
            <a:ext cx="3208713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28255" y="1252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꼬리질문 둘째·셋째 줄 글자는 가렸어요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0065" y="17606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10065" y="1760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0065" y="28163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0065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10065" y="401338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10065" y="40133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10065" y="49444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10065" y="49444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10065" y="53600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10065" y="53600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출처 · 좋아요 · 싫어요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49808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49808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882128" y="2294763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3개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2587371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글자는 ‘질문 예시’ · 누르면 바로 전송돼요.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49808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749808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2897886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7882128" y="3190494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만든 질문 모음에서 골라 써요.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49808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749808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501009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882128" y="3793617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모바일은 마이크로 말해요.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49808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749808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7882128" y="4104132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 · 상품 선택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396740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간편/상세를 고르고 분석할 상품을 좁혀요.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7498080" y="4846320"/>
            <a:ext cx="4142232" cy="1463040"/>
          </a:xfrm>
          <a:prstGeom prst="roundRect">
            <a:avLst>
              <a:gd name="adj" fmla="val 875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0" y="5010912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중요할까요?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7772400" y="5266944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45" name="Text 42"/>
          <p:cNvSpPr txBox="1"/>
          <p:nvPr/>
        </p:nvSpPr>
        <p:spPr>
          <a:xfrm>
            <a:off x="9144000" y="5266944"/>
            <a:ext cx="2313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이어 쓴 분의 가계약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(질문 1개만 쓴 분 대비)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772400" y="5943600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데이터분석팀 「MeAI 효과 분석」 2026.08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요약 리포트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리포트는 네 단계로 보내요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하나로 발송까지 끝나요. PC는 오른쪽 위 [요약 리포트].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734" y="1691640"/>
            <a:ext cx="1753573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98901" y="3074265"/>
            <a:ext cx="1509084" cy="21076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09410" y="2172186"/>
            <a:ext cx="282426" cy="126460"/>
          </a:xfrm>
          <a:prstGeom prst="roundRect">
            <a:avLst>
              <a:gd name="adj" fmla="val 2169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4864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127248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086" y="1691640"/>
            <a:ext cx="1753573" cy="35661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64992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364992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730752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→ 편집하기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364992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답변만 체크, 내부용은 빼요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38" y="1691640"/>
            <a:ext cx="1753573" cy="356616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181344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6181344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6547104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6181344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링크가 전송돼요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8759952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364835"/>
            <a:ext cx="2651760" cy="2219769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997696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997696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363456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도착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8997696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[요약레포트 확인하기] · 받은 날부터 7일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548640" y="5980176"/>
            <a:ext cx="6766560" cy="365760"/>
          </a:xfrm>
          <a:prstGeom prst="roundRect">
            <a:avLst>
              <a:gd name="adj" fmla="val 30000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607161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숫자·약관 근거·개인정보 확인. "AI로 생성된 보조자료" 표시가 붙어요.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7498080" y="6035040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실제 화면 · 이름과 일부 글자는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모바일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MeAI 홈·고객찾기·게시판은 PC 오픈 뒤 순차 적용 예정이에요.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528" y="1691640"/>
            <a:ext cx="2142785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 · [보장분석]</a:t>
            </a:r>
            <a:endParaRPr lang="en-US" sz="1000" dirty="0"/>
          </a:p>
        </p:txBody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91640"/>
            <a:ext cx="2194560" cy="4295067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58829" y="2271631"/>
            <a:ext cx="702259" cy="100323"/>
          </a:xfrm>
          <a:prstGeom prst="rect">
            <a:avLst/>
          </a:prstGeom>
          <a:solidFill>
            <a:srgbClr val="37383C"/>
          </a:solidFill>
          <a:ln w="12700">
            <a:solidFill>
              <a:srgbClr val="37383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8036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상단 버튼 · ③ 카드 [MeAI]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39" y="1691640"/>
            <a:ext cx="2068801" cy="4343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2080" y="60716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대화 화면 ≡ 메뉴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터치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아이콘 묶음의 첫 번째예요.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498080" y="238620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498080" y="2386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7882128" y="236791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일반대화]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7882128" y="266052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무엇이든 묻는 창이에요.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498080" y="30624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498080" y="30624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7882128" y="304419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[MeAI]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7882128" y="333679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고객 맞춤대화가 열려요.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7498080" y="373875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7498080" y="37387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7882128" y="372046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350" dirty="0"/>
          </a:p>
        </p:txBody>
      </p:sp>
      <p:sp>
        <p:nvSpPr>
          <p:cNvPr id="29" name="Text 24"/>
          <p:cNvSpPr txBox="1"/>
          <p:nvPr/>
        </p:nvSpPr>
        <p:spPr>
          <a:xfrm>
            <a:off x="7882128" y="401307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 · 월별 대화 목록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7498080" y="4389120"/>
            <a:ext cx="4142232" cy="713232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726680" y="4480560"/>
            <a:ext cx="3685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이력·저장한 나의 질문은 PC와 모바일이 같아요.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7498080" y="5230368"/>
            <a:ext cx="4142232" cy="768096"/>
          </a:xfrm>
          <a:prstGeom prst="roundRect">
            <a:avLst>
              <a:gd name="adj" fmla="val 1428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726680" y="53218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 "오늘 보장분석 활용"에서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쓴 횟수를 봐요.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7498080" y="6071616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이름은 예시 · 일부 글자는 가렸어요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루틴과 시나리오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홈을 열면 오늘 연락할 고객과 첫 말이 정해져요.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루틴 4단계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시작하는 시나리오 3가지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주간·월간 루틴 · 첫 5일 미션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아침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홈만 열면 첫 말까지 정해져요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화면 순서대로 누르기만 하면 돼요. 서은아 고객(예시)으로 따라가 봐요. 화면 속 질문 문장도 예시예요.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8368" y="2659571"/>
            <a:ext cx="2432304" cy="2178939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59571"/>
            <a:ext cx="2432304" cy="217893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08999" y="2592070"/>
            <a:ext cx="219456" cy="219456"/>
          </a:xfrm>
          <a:prstGeom prst="ellips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게시판 빨간 점을 확인해요.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56616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636220" y="2606040"/>
            <a:ext cx="2109304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6220" y="2606040"/>
            <a:ext cx="2109304" cy="2286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566160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임박, #당월 타겟 카드부터 읽어요.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81344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82512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82512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291072" y="2904014"/>
            <a:ext cx="2432304" cy="16900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904014"/>
            <a:ext cx="2432304" cy="169005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382512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펼쳐져요. 상황을 보고 추천 질문을 골라요.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997696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9198864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198864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9297209" y="2606040"/>
            <a:ext cx="2052735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0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209" y="2606040"/>
            <a:ext cx="2052735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98864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질문을 누르면 맞춤대화가 열려요. 리포트는 카카오톡으로.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1 · 이벤트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 전, 운전자 보장까지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안내를 계기로 비어 있는 운전자 보장을 함께 점검해요.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2) · #이벤트 임박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운전자보험 없음.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D-18로 유효.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펼치기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확인.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운전자 보장 빈 곳.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이유를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자동차보험 만기가 9일 뒤예요.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 안내 드리면서 운전자 보장도 같이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"자동차보험만 있고 운전자보험이 없는 고객에게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 필요한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2 · 동의 만료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전, 재동의로 보장 점검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재동의를 계기로 신담보와 보장 공백을 함께 점검해요.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D-90은 사전조회동의(가입설계동의와 별개)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 명분이 돼요.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먼저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부탁.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점검도 약속.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신담보와 비교.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결과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신담보 기준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요약을 보내요.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이달 말 동의가 만료돼 연장 부탁드려요.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"최근 신담보 기준으로 이 고객 보장의 빈 곳을 알려줘"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3 · 동의부터 · AI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전, 동의부터 받아요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고객이지만 사전조회동의가 필요해요. 알림톡부터 보내요.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3) · AI 추천 고객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 1천만원,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필요 표시.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요청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보내기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요청하기] 누르고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입력.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 제안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인상 전 가입의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이점을 리포트로.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2주 뒤 보험 나이가 올라가요.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동의 알림톡 보내요."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 전에 암진단비를 늘려야 하는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주간 · 월간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카드로, 한 주는 그룹으로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카드는 매일, 고객찾기 그룹은 주기별로 챙겨요.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611880"/>
                <a:gridCol w="3291840"/>
                <a:gridCol w="2587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해 보세요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아침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· 오늘의 추천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3~9장 읽고 1명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고객 1명 접촉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매주 월요일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상령일 임박 · 생일 임박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주 연락할 고객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가까운 고객부터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당월 영업 타겟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이달 타겟 고객 확인 · 연락 순서 정하기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이유를 첫 말로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사전동의 만료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D-n 짧은 순으로 재동의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"사전조회 동의 필요" 줄이기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신규 등록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→ 동의 → 첫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등록한 날 동의 요청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36008"/>
            <a:ext cx="237744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49808" y="47640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" y="5111496"/>
            <a:ext cx="98107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9808" y="5111496"/>
            <a:ext cx="9810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2240280" y="511149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9808" y="5449824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9808" y="5449824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544982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49808" y="5788152"/>
            <a:ext cx="11144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788152"/>
            <a:ext cx="11144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5788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108960" y="4636008"/>
            <a:ext cx="4343400" cy="1554480"/>
          </a:xfrm>
          <a:prstGeom prst="roundRect">
            <a:avLst>
              <a:gd name="adj" fmla="val 705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4727448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10/2~ 영업포탈 CRM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 [MeAI 맞춤대화]를 누르면 고객 대화가 바로 열려요.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635240" y="4636008"/>
            <a:ext cx="4007815" cy="1554480"/>
          </a:xfrm>
          <a:prstGeom prst="roundRect">
            <a:avLst>
              <a:gd name="adj" fmla="val 705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63840" y="4727448"/>
            <a:ext cx="35506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인원은 화면 예시예요. 실제로는 내 고객 기준으로 매일 새로 계산돼요.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첫 5일 미션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해보세요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사용까지 짧을수록 정착률이 높았어요(데이터분석팀 2026.08).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질문 예시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눌러 보기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7180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고객찾기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93522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15468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한눈에 보기 6칸 확인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3522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눌러 보기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1208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7550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2번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7550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3개 메모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6948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5236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찾기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41578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확인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1578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3524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1명께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 부탁하기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50976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69264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보내기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5606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카톡으로 받아 보기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5606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질문으로 저장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486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뒤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 홈에서 하루를 시작하는 사람"이 됐어요. 이제 매일 아침 루틴으로 이어가요.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물어보세요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만드는 게 아니라 고르는 거예요.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창구 네 곳 · 누르기만 하면 돼요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"누구에게 + 무엇을"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 · 이렇게는 묻지 마세요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카드마다 고객에게 첫 말, MeAI에게 첫 질문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질문 고르기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만드는 게 아니라 고르는 거예요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시작하면 질문 창구가 네 곳 있어요. 타이핑 없이 누르기만 하면 돼요.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시작할 때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2240280"/>
            <a:ext cx="985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2240280"/>
            <a:ext cx="98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 차이 · 용어 뜻 · 많이 물은 질문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예시를 누르면 바로 대화가 시작돼요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964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32556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532556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0028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정해졌을 때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532556" y="2240280"/>
            <a:ext cx="179578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32556" y="2240280"/>
            <a:ext cx="1795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이렇게 물어보세요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532556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 추천 질문을 누르면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입력창에 채워져요 · 전송(↑)만 눌러요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7288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1880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51880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99352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받은 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351880" y="2240280"/>
            <a:ext cx="152146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1880" y="2240280"/>
            <a:ext cx="152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질문 버튼 3개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1880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질문이 바로 전송돼요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책에서는 ‘꼬리질문’이라고 불러요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611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71203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171203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9518675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필요할 때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9171203" y="2240280"/>
            <a:ext cx="1620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71203" y="2240280"/>
            <a:ext cx="162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 · 나의 질문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171203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[질문 더보기]에서 골라 써요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질문은 저장 → 나의 질문</a:t>
            </a:r>
            <a:endParaRPr lang="en-US" sz="1050" dirty="0"/>
          </a:p>
        </p:txBody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79" y="2606040"/>
            <a:ext cx="2193765" cy="1627632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32254" y="3489207"/>
            <a:ext cx="1370042" cy="144364"/>
          </a:xfrm>
          <a:prstGeom prst="roundRect">
            <a:avLst>
              <a:gd name="adj" fmla="val 25336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225068" y="342422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225068" y="34242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pic>
        <p:nvPicPr>
          <p:cNvPr id="3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980" y="2608352"/>
            <a:ext cx="2380412" cy="162300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622214" y="2960004"/>
            <a:ext cx="829537" cy="93774"/>
          </a:xfrm>
          <a:prstGeom prst="roundRect">
            <a:avLst>
              <a:gd name="adj" fmla="val 39004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12959" y="28697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8"/>
          <p:cNvSpPr txBox="1"/>
          <p:nvPr/>
        </p:nvSpPr>
        <p:spPr>
          <a:xfrm>
            <a:off x="4512959" y="28697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000" y="2606040"/>
            <a:ext cx="1993019" cy="1627632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390294" y="286563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5" name="Text 40"/>
          <p:cNvSpPr txBox="1"/>
          <p:nvPr/>
        </p:nvSpPr>
        <p:spPr>
          <a:xfrm>
            <a:off x="6390294" y="28656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390294" y="393596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2"/>
          <p:cNvSpPr txBox="1"/>
          <p:nvPr/>
        </p:nvSpPr>
        <p:spPr>
          <a:xfrm>
            <a:off x="6390294" y="39359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pic>
        <p:nvPicPr>
          <p:cNvPr id="4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3021" y="2606040"/>
            <a:ext cx="1563624" cy="868680"/>
          </a:xfrm>
          <a:prstGeom prst="rect">
            <a:avLst/>
          </a:prstGeom>
        </p:spPr>
      </p:pic>
      <p:sp>
        <p:nvSpPr>
          <p:cNvPr id="49" name="Shape 43"/>
          <p:cNvSpPr/>
          <p:nvPr/>
        </p:nvSpPr>
        <p:spPr>
          <a:xfrm>
            <a:off x="10552862" y="2910078"/>
            <a:ext cx="238887" cy="249746"/>
          </a:xfrm>
          <a:prstGeom prst="roundRect">
            <a:avLst>
              <a:gd name="adj" fmla="val 15311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10828325" y="268605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5"/>
          <p:cNvSpPr txBox="1"/>
          <p:nvPr/>
        </p:nvSpPr>
        <p:spPr>
          <a:xfrm>
            <a:off x="10828325" y="26860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6"/>
          <p:cNvSpPr txBox="1"/>
          <p:nvPr/>
        </p:nvSpPr>
        <p:spPr>
          <a:xfrm>
            <a:off x="9171203" y="3511296"/>
            <a:ext cx="236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복사 · 편집 · 저장</a:t>
            </a:r>
            <a:endParaRPr 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9171203" y="3794760"/>
            <a:ext cx="23072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9171203" y="3794760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 · 나의 질문은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· 휴대폰에서 똑같이 보여요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548640" y="5074920"/>
            <a:ext cx="11094415" cy="731520"/>
          </a:xfrm>
          <a:prstGeom prst="roundRect">
            <a:avLst>
              <a:gd name="adj" fmla="val 175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22960" y="50749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이어 쓸수록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</a:t>
            </a:r>
            <a:endParaRPr lang="en-US" sz="1300" dirty="0"/>
          </a:p>
        </p:txBody>
      </p:sp>
      <p:sp>
        <p:nvSpPr>
          <p:cNvPr id="57" name="Shape 51"/>
          <p:cNvSpPr/>
          <p:nvPr/>
        </p:nvSpPr>
        <p:spPr>
          <a:xfrm>
            <a:off x="2926080" y="5475782"/>
            <a:ext cx="274320" cy="220930"/>
          </a:xfrm>
          <a:prstGeom prst="roundRect">
            <a:avLst>
              <a:gd name="adj" fmla="val 12417"/>
            </a:avLst>
          </a:prstGeom>
          <a:solidFill>
            <a:srgbClr val="B9A8F5"/>
          </a:solidFill>
          <a:ln w="12700">
            <a:solidFill>
              <a:srgbClr val="B9A8F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329184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· 11.99건</a:t>
            </a:r>
            <a:endParaRPr lang="en-US" sz="1200" dirty="0"/>
          </a:p>
        </p:txBody>
      </p:sp>
      <p:sp>
        <p:nvSpPr>
          <p:cNvPr id="59" name="Shape 53"/>
          <p:cNvSpPr/>
          <p:nvPr/>
        </p:nvSpPr>
        <p:spPr>
          <a:xfrm>
            <a:off x="4846320" y="5383098"/>
            <a:ext cx="274320" cy="313614"/>
          </a:xfrm>
          <a:prstGeom prst="roundRect">
            <a:avLst>
              <a:gd name="adj" fmla="val 10000"/>
            </a:avLst>
          </a:prstGeom>
          <a:solidFill>
            <a:srgbClr val="B9A8F5"/>
          </a:solidFill>
          <a:ln w="12700">
            <a:solidFill>
              <a:srgbClr val="B9A8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521208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17.02건</a:t>
            </a:r>
            <a:endParaRPr lang="en-US" sz="1200" dirty="0"/>
          </a:p>
        </p:txBody>
      </p:sp>
      <p:sp>
        <p:nvSpPr>
          <p:cNvPr id="61" name="Shape 55"/>
          <p:cNvSpPr/>
          <p:nvPr/>
        </p:nvSpPr>
        <p:spPr>
          <a:xfrm>
            <a:off x="6766560" y="5184648"/>
            <a:ext cx="274320" cy="512064"/>
          </a:xfrm>
          <a:prstGeom prst="roundRect">
            <a:avLst>
              <a:gd name="adj" fmla="val 10000"/>
            </a:avLst>
          </a:prstGeom>
          <a:solidFill>
            <a:srgbClr val="7048E8"/>
          </a:solidFill>
          <a:ln w="12700">
            <a:solidFill>
              <a:srgbClr val="7048E8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7132320" y="5166360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 · 27.79건</a:t>
            </a:r>
            <a:endParaRPr lang="en-US" sz="1200" dirty="0"/>
          </a:p>
        </p:txBody>
      </p:sp>
      <p:sp>
        <p:nvSpPr>
          <p:cNvPr id="63" name="Text 57"/>
          <p:cNvSpPr txBox="1"/>
          <p:nvPr/>
        </p:nvSpPr>
        <p:spPr>
          <a:xfrm>
            <a:off x="8945575" y="50749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000" dirty="0"/>
          </a:p>
        </p:txBody>
      </p:sp>
      <p:sp>
        <p:nvSpPr>
          <p:cNvPr id="64" name="Text 58"/>
          <p:cNvSpPr txBox="1"/>
          <p:nvPr/>
        </p:nvSpPr>
        <p:spPr>
          <a:xfrm>
            <a:off x="10180015" y="50749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대비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</a:t>
            </a:r>
            <a:endParaRPr lang="en-US" sz="1150" dirty="0"/>
          </a:p>
        </p:txBody>
      </p:sp>
      <p:sp>
        <p:nvSpPr>
          <p:cNvPr id="65" name="Text 59"/>
          <p:cNvSpPr txBox="1"/>
          <p:nvPr/>
        </p:nvSpPr>
        <p:spPr>
          <a:xfrm>
            <a:off x="548640" y="589788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데이터분석팀 「MeAI 사용 실태 분석」·「MeAI 효과 분석」, 2026.08 · TA 개인영업 채널 기준</a:t>
            </a:r>
            <a:endParaRPr lang="en-US" sz="1000" dirty="0"/>
          </a:p>
        </p:txBody>
      </p:sp>
      <p:sp>
        <p:nvSpPr>
          <p:cNvPr id="66" name="Text 60"/>
          <p:cNvSpPr txBox="1"/>
          <p:nvPr/>
        </p:nvSpPr>
        <p:spPr>
          <a:xfrm>
            <a:off x="8534095" y="5897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 · 질문 문장은 예시예요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직접 묻기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“누구에게 + 무엇을”이면 돼요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써도 MeAI가 알아들어요. 형식은 덧붙이면 좋고, 없어도 괜찮아요.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788920" cy="1188720"/>
          </a:xfrm>
          <a:prstGeom prst="roundRect">
            <a:avLst>
              <a:gd name="adj" fmla="val 1076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653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128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“40대 자녀 둘 가장,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있는 고객에게”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511296" y="1737360"/>
            <a:ext cx="25146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712464" y="1865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712464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“암 통합치료비가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필요한지 설명해줘”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025896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199632" y="1737360"/>
            <a:ext cx="251460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86537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 · 있으면 좋아요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21284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“표로” · “구어체로”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“카톡 6줄로”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887968" y="1737360"/>
            <a:ext cx="2743200" cy="118872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89136" y="18653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 한 마디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89136" y="2212848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“자료에 없으면 추정하지 말고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‘확인필요’로 표시해”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바꿔도 답이 달라져요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3291840" cy="118872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6B7684"/>
          </a:solidFill>
          <a:ln w="12700">
            <a:solidFill>
              <a:srgbClr val="6B768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39502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“실손 설명해줘”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315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실손의 일반 개념을 길게 설명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349300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4251960" y="3493008"/>
            <a:ext cx="7391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318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5312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312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453128" y="3913632"/>
            <a:ext cx="7025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실손 가입한 50대 고객에게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4세대와 비교해서 자기부담과 비급여 한도의 차이를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1개로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정리하고, 유지가 유리한 경우 3가지를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구어체로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알려줘”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453128" y="4370832"/>
            <a:ext cx="7025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세대 기준 비교표 + 바로 말할 수 있는 3가지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28032"/>
            <a:ext cx="11094415" cy="1097280"/>
          </a:xfrm>
          <a:prstGeom prst="roundRect">
            <a:avLst>
              <a:gd name="adj" fmla="val 1166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01184"/>
            <a:ext cx="2323652" cy="768096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586676" y="482964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2586676" y="48296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819041" y="523843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2819041" y="5238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2960" y="5696712"/>
            <a:ext cx="2323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MeAI 입력창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3611880" y="4828032"/>
            <a:ext cx="7802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괜찮아요. 안 맞으면 “더 쉽게” · “표로 다시” 한 마디면 돼요.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휴대폰은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마이크를 누르고 평소 말투로 말해요. 오타만 확인하고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전송(↑).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문장 출처: 이전 판 「MeAI 활용 가이드북 · 영업가족 편」(2026.09)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고객에게 할 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말도 MeAI가 초안을 써요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부탁하면 초안이 나와요. 이름 대신 조건으로 물어요.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추천 질문 한 번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488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 파란 [일반대화]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누르면 이렇게 채워져요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" y="2807208"/>
            <a:ext cx="219456" cy="0"/>
          </a:xfrm>
          <a:prstGeom prst="line">
            <a:avLst/>
          </a:prstGeom>
          <a:noFill/>
          <a:ln w="38100">
            <a:solidFill>
              <a:srgbClr val="31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· 나이대 · 유형 조건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3044952"/>
            <a:ext cx="219456" cy="0"/>
          </a:xfrm>
          <a:prstGeom prst="line">
            <a:avLst/>
          </a:prstGeom>
          <a:noFill/>
          <a:ln w="38100">
            <a:solidFill>
              <a:srgbClr val="7048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78992" y="287121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3~4줄 · 부담스럽지 않은 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3282696"/>
            <a:ext cx="219456" cy="0"/>
          </a:xfrm>
          <a:prstGeom prst="line">
            <a:avLst/>
          </a:prstGeom>
          <a:noFill/>
          <a:ln w="381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310896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성명 · 연락처는 빼요</a:t>
            </a:r>
            <a:endParaRPr lang="en-US" sz="1050" dirty="0"/>
          </a:p>
        </p:txBody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787212"/>
            <a:ext cx="7802575" cy="150049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013422" y="2292379"/>
            <a:ext cx="1970650" cy="0"/>
          </a:xfrm>
          <a:prstGeom prst="line">
            <a:avLst/>
          </a:prstGeom>
          <a:noFill/>
          <a:ln w="28575">
            <a:solidFill>
              <a:srgbClr val="3182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105433" y="2292379"/>
            <a:ext cx="10653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18424" y="2517453"/>
            <a:ext cx="19756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09081" y="2517453"/>
            <a:ext cx="1965649" cy="0"/>
          </a:xfrm>
          <a:prstGeom prst="line">
            <a:avLst/>
          </a:prstGeom>
          <a:noFill/>
          <a:ln w="28575">
            <a:solidFill>
              <a:srgbClr val="F0445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5478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부탁해도 돼요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93192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39959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 안내문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" y="42153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 결과를 고객에게 보낼 카톡 안내문 6줄로 써줘. 존댓말, 단정 표현은 빼고”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5488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" y="48188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만남 전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503834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고객에게 첫 만남에서 꺼낼 질문 3개 만들어줘”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55080" y="3547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두 버튼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9984435" y="3575304"/>
            <a:ext cx="1658620" cy="256032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984435" y="3575304"/>
            <a:ext cx="1658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· 바뀔 수 있어요</a:t>
            </a:r>
            <a:endParaRPr lang="en-US" sz="1000" dirty="0"/>
          </a:p>
        </p:txBody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018941"/>
            <a:ext cx="2552548" cy="630629"/>
          </a:xfrm>
          <a:prstGeom prst="rect">
            <a:avLst/>
          </a:prstGeom>
        </p:spPr>
      </p:pic>
      <p:pic>
        <p:nvPicPr>
          <p:cNvPr id="3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517" y="3931920"/>
            <a:ext cx="1772529" cy="73152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206197" y="4672584"/>
            <a:ext cx="23211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숫자는 예시예요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6355080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6355080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보험 용어를 일상 언어로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따질 땐 상세 분석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9090508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9090508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표시된 말을 누르면 뜻풀이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 문장, 그대로 읽어요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48640" y="5669280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77240" y="5669280"/>
            <a:ext cx="10637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초안이에요 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약관 근거를 확인하고, 내 말투로 다듬어 보내요.</a:t>
            </a:r>
            <a:endParaRPr lang="en-US" sz="125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확정 화면 · 이전 판 「MeAI 활용 가이드북 · 영업가족 편」(2026.09) · [간편 분석]·[용어] 자세히는 PART 6</a:t>
            </a:r>
            <a:endParaRPr lang="en-US" sz="9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묻지 말 것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이렇게는 묻지 마세요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답도 나빠지고, 규정에도 어긋나요.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개인정보를 넣는 질문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“김OO(연락처) 고객 보장분석”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맞춤대화에선 “이 고객”이라고만 해요</a:t>
            </a:r>
            <a:endParaRPr lang="en-US" sz="1250" dirty="0"/>
          </a:p>
        </p:txBody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715768"/>
            <a:ext cx="3587773" cy="23774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132858" y="2733058"/>
            <a:ext cx="3553192" cy="203163"/>
          </a:xfrm>
          <a:prstGeom prst="roundRect">
            <a:avLst>
              <a:gd name="adj" fmla="val 900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59856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61024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361024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726784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질문을 한 번에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26784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“보장분석하고 화법도 만들고 카톡도 써줘”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726784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이어서 물어요 · 고객·주제가 바뀌면 [새로 대화하기]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49808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115568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고객에게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복사 → 바로 카톡 전송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1115568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· 약관 근거를 확인하고 내 말로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59856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361024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361024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26784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단정을 강요하는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26784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“무조건 가입 가능하다고 말해줘”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726784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“가능성과 확인할 조건을 알려줘”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48640" y="4572000"/>
            <a:ext cx="201168" cy="201168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548640" y="45720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22960" y="45537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안내문 (화면 그대로)</a:t>
            </a:r>
            <a:endParaRPr lang="en-US" sz="1050" dirty="0"/>
          </a:p>
        </p:txBody>
      </p:sp>
      <p:pic>
        <p:nvPicPr>
          <p:cNvPr id="3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28032"/>
            <a:ext cx="9328543" cy="566928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3563666" y="5353729"/>
            <a:ext cx="2561484" cy="0"/>
          </a:xfrm>
          <a:prstGeom prst="lin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4146" y="510833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6194146" y="510833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548640" y="5559552"/>
            <a:ext cx="11094415" cy="438912"/>
          </a:xfrm>
          <a:prstGeom prst="roundRect">
            <a:avLst>
              <a:gd name="adj" fmla="val 2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685800" y="5650992"/>
            <a:ext cx="1154430" cy="256032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85800" y="5650992"/>
            <a:ext cx="11544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약속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2023110" y="5559552"/>
            <a:ext cx="9482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 · 자료 외부 반출 금지 · 미검증 책임은 사용자에게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548640" y="607161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이전 판 「MeAI 활용 가이드북 · 영업가족 편」(2026.09) · MeAI 화면 안내문 · 다섯 가지 약속은 PART 9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첫 말 · 첫 질문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카드가 달라도 짝은 같아요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말, MeAI에게 첫 질문. 오늘 한 분께 터치해 보세요.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26974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1907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719072"/>
            <a:ext cx="47548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71907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83880" y="1719072"/>
            <a:ext cx="3456432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719072"/>
            <a:ext cx="3273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21408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2121408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2121408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384" y="2185416"/>
            <a:ext cx="764072" cy="87782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40675" y="2799249"/>
            <a:ext cx="237163" cy="51510"/>
          </a:xfrm>
          <a:prstGeom prst="roundRect">
            <a:avLst>
              <a:gd name="adj" fmla="val 1775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720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2212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572768" y="25328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필요 · 김민수 고객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572768" y="2816352"/>
            <a:ext cx="909320" cy="23774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72768" y="2816352"/>
            <a:ext cx="909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알림톡부터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474720" y="212140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2주 뒤 보험 나이가 올라가요.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동의 알림톡 보내요.”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76272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293608" y="2423160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21624" y="2423160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전에 암진단비를 늘려야 하는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쉽게 설명해줘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2004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37560" y="3200400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83880" y="3200400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264408"/>
            <a:ext cx="813816" cy="877824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718947" y="3861054"/>
            <a:ext cx="273177" cy="52578"/>
          </a:xfrm>
          <a:prstGeom prst="roundRect">
            <a:avLst>
              <a:gd name="adj" fmla="val 17391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7200" y="31089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457200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1572768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임박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1572768" y="36118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 · 윤태기 고객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3474720" y="3200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이달 말 동의가 만료돼 연장 부탁드려요.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드릴게요.”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8293608" y="3291840"/>
            <a:ext cx="323697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421624" y="329184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신담보 기준으로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보장의 빈 곳을 알려줘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548640" y="4279392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3337560" y="4279392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183880" y="4279392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2522"/>
            <a:ext cx="868680" cy="79958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66404" y="4777376"/>
            <a:ext cx="812742" cy="164523"/>
          </a:xfrm>
          <a:prstGeom prst="roundRect">
            <a:avLst>
              <a:gd name="adj" fmla="val 5558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457200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572768" y="43708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 그룹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1572768" y="469087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영업 기회 탭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3474720" y="4370832"/>
            <a:ext cx="180086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3474720" y="4370832"/>
            <a:ext cx="18008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 → 내 말로 풀어요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3474720" y="4663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안내: 축하 인사로 대화를 열고 자연스럽게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점검으로 이어가기 좋은 시점입니다.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8321040" y="4334256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일반대화 추천 질문(틀)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8293608" y="4581144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E8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421624" y="458114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#생일 임박, #나이대, #고객유형 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 안내 문자 문안을 작성해줘 …</a:t>
            </a:r>
            <a:endParaRPr lang="en-US" sz="1200" dirty="0"/>
          </a:p>
        </p:txBody>
      </p:sp>
      <p:sp>
        <p:nvSpPr>
          <p:cNvPr id="55" name="Shape 50"/>
          <p:cNvSpPr/>
          <p:nvPr/>
        </p:nvSpPr>
        <p:spPr>
          <a:xfrm>
            <a:off x="548640" y="5431536"/>
            <a:ext cx="11094415" cy="475488"/>
          </a:xfrm>
          <a:prstGeom prst="roundRect">
            <a:avLst>
              <a:gd name="adj" fmla="val 2692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822960" y="54315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300" dirty="0"/>
          </a:p>
        </p:txBody>
      </p:sp>
      <p:sp>
        <p:nvSpPr>
          <p:cNvPr id="57" name="Text 52"/>
          <p:cNvSpPr txBox="1"/>
          <p:nvPr/>
        </p:nvSpPr>
        <p:spPr>
          <a:xfrm>
            <a:off x="548640" y="598017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2번 카드의 빨간 네모 = 사전조회동의 D-90(이달 말 만료되는 가입설계동의와 별개) · 화면의 이름·숫자는 예시 · 출처: MeAI 확정 화면 · 자세한 흐름: 1번 줄은 PART 7 시나리오 3, 2번 줄은 시나리오 2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정리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조건, 한 번만 제대로 읽어 두세요.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한 장 정리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꼭 지켜주세요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다섯 가지 약속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1·4번은 화면 하단 안내문에도 나와요.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검증 후 사용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있을 수 있어요. 약관·증권으로 직접 확인한 뒤 안내해요.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5371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5371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 질문에도, 메모에도 넣지 않아요.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0275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5139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철회된 고객은 막혀요. 우회하지 말고 동의부터 받아요.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안내하면 금융소비자보호법 등 법령상 책임은 사용자에게 있어요.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5371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0235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답변·화면 캡처·이 가이드북,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제공·배포·게시는 금지예요.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904488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75320" y="3995928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FAQ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가장 많이 묻는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아홉 개면 첫 주 질문은 대부분 해결돼요.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홈은 어디서 열어요?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PC 영업포탈에서 MeAI로 들어오면 먼저 열려요(모바일은 순차 적용). 어느 화면이든 왼쪽 위 [MeAI 홈]을 누르면 돌아와요.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 안 보여요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고객은 CRM 데이터 반입이 끝난 뒤부터 보여요(게시판 공지). 추천은 매일 새로 계산돼 다음 날 반영돼요.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788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1847088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분이 아닌 것 같아요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247802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지시가 아니라 "이유가 있는 고객"이에요. 고객 그룹에서 직접 골라도 돼요.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없는 고객은요?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[고객 동의]나 [사전조회동의 요청하기]를 눌러 번호를 넣으면 알림톡이 가요. 반영까지 약 15분 걸려요.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9884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팝업에 고객이 없어요 · 회색이에요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팝업엔 동의가 유효한 고객만 나와요. 회색은 오늘 동의를 철회한 고객이에요.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04672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4788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54964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내 고객 수와 달라요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788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홈에는 사전조회 동의일로부터 1년 이내 고객만 보여요(범례 안내). 다음 날 반영돼요.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있어요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정상이에요. 우선순위는 당월 영업 타겟 →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5건 이상·월 50만원 이상·상령일·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생일·동의 만료 → 보장 부족 순이에요.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29768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9884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0060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대화를 폰에서 이어가나요?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9884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0060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네. 대화 이력과 나의 질문이 PC·모바일에 똑같이 보여요.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04672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너무 커요 · 작아요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[글씨 확대]를 끄면 원래 크기, 켜면 한 단계 커요(기본 ON).</a:t>
            </a:r>
            <a:endParaRPr lang="en-US" sz="11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용어 정리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책에 나온 말, 한 장 정리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화면에 그대로 쓰이는 이름이에요.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937760"/>
                <a:gridCol w="350215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보나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MeAI에 들어오면 처음 열리는 화면. 추천 고객·고객 그룹·대화 카드가 한곳에 있어요.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첫 화면 · 어느 화면이든 왼쪽 위 [MeAI 홈]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 · 맞춤대화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일반대화는 무엇이든 묻는 창. 맞춤대화는 고객 한 명의 보장 내역으로 답해요.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대화 카드(흰색 · 검은색)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내역 조회 동의. 1년 유효, 있어야 맞춤대화가 열려요.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D-n 칩 · MeAI 홈 "사전조회 동의 필요"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사전조회동의 D-n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만료까지 남은 날. 만료되면 "필요", 철회하면 "철회".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카드 · 검색 팝업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상품소개 동의 · AI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소개에 동의한 고객. 카드에 빨간 리본이 붙어요.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"상품제안 가능" · 카드 리본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보유 · 가망 · 이관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있음 · 등록만 · 넘겨받음. 고객마다 셋 중 하나예요.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유형 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오늘의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이유가 붙은 카드 3장 × 세트 3개. 매일 새로 계산돼요.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기준 · 영업 기회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그룹 탭. 보장 부족 7종 등 10개 / 날짜형 3개.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왼쪽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영업 목표 대상. 우선순위 1(보라 태그).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그룹 · 카드 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나이가 한 살 오르는 날. 그 전 가입이 유리해요.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[상령일 임박]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고객 한눈에 보기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펼친 카드의 여섯 칸. 가입·납입·부족 금액 등.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간편 분석 · 상세 분석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모드. 일상 언어 / 약관·담보 정밀 비교.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대화 입력창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 설명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속 전문용어의 뜻을 목록으로 보여줘요.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입력창 오른쪽 위 · 모바일 오른쪽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글씨 확대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글씨를 한 단계 크게. 기본 ON, 이 PC에 기억돼요.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홈·고객찾기·게시판 오른쪽 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48095" y="10972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60576" y="896112"/>
            <a:ext cx="8717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60576" y="896112"/>
            <a:ext cx="871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42032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71088" y="896112"/>
            <a:ext cx="10241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71088" y="896112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터치하기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15087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만날 고객은,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 있어요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일은 MeAI가, 만나는 일은 여러분이.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572000"/>
            <a:ext cx="2892552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 · 오늘 한 분께 터치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1232" y="45720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61232" y="457200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세일즈혁신TF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1389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홈을 만든 분들 · AI추진파트 문현우님 · 이경복님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607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포함)의 외부 제공·배포·게시(온/오프라인)는 금지됩니다. 미검증으로 인한 금융소비자보호법 등 관련 법령상 책임은 사용자에게 있습니다. 화면 속 고객 이름·숫자는 예시 데이터입니다.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</dc:title>
  <dc:subject>PptxGenJS Presentation</dc:subject>
  <dc:creator>세일즈혁신TF</dc:creator>
  <cp:lastModifiedBy>세일즈혁신TF</cp:lastModifiedBy>
  <cp:revision>1</cp:revision>
  <dcterms:created xsi:type="dcterms:W3CDTF">2026-09-30T07:10:30Z</dcterms:created>
  <dcterms:modified xsi:type="dcterms:W3CDTF">2026-09-30T07:10:30Z</dcterms:modified>
</cp:coreProperties>
</file>