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charts/chart6.xml" ContentType="application/vnd.openxmlformats-officedocument.drawingml.chart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charts/chart7.xml" ContentType="application/vnd.openxmlformats-officedocument.drawingml.chart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</p:sldIdLst>
  <p:notesMasterIdLst>
    <p:notesMasterId r:id="rId8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notesMaster" Target="notesMasters/notesMaster1.xml"/><Relationship Id="rId82" Type="http://schemas.openxmlformats.org/officeDocument/2006/relationships/presProps" Target="presProps.xml"/><Relationship Id="rId83" Type="http://schemas.openxmlformats.org/officeDocument/2006/relationships/viewProps" Target="viewProps.xml"/><Relationship Id="rId84" Type="http://schemas.openxmlformats.org/officeDocument/2006/relationships/theme" Target="theme/theme1.xml"/><Relationship Id="rId8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.0652173913043478"/>
          <c:y val="0.0652173913043478"/>
          <c:w val="0.8695652173913044"/>
          <c:h val="0.8695652173913044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사용 경험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3182F6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F2F4F6"/>
              </a:solidFill>
              <a:ln w="19050" cap="flat">
                <a:solidFill>
                  <a:srgbClr val="FFFFFF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사용</c:v>
                </c:pt>
                <c:pt idx="1">
                  <c:v>미사용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91.1</c:v>
                </c:pt>
                <c:pt idx="1">
                  <c:v>8.9</c:v>
                </c:pt>
              </c:numCache>
            </c:numRef>
          </c:val>
        </c:ser>
        <c:firstSliceAng val="0"/>
        <c:holeSize val="7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D1D6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1D6D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182F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미활용</c:v>
                  </c:pt>
                  <c:pt idx="1">
                    <c:v>활용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12.7</c:v>
                </c:pt>
                <c:pt idx="1">
                  <c:v>35.4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D1D6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1D6D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182F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미활용</c:v>
                  </c:pt>
                  <c:pt idx="1">
                    <c:v>활용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</c:v>
                </c:pt>
                <c:pt idx="1">
                  <c:v>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D1D6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1D6D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1D6D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048E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질문 1개</c:v>
                  </c:pt>
                  <c:pt idx="1">
                    <c:v>2개</c:v>
                  </c:pt>
                  <c:pt idx="2">
                    <c:v>3개 이상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11.99</c:v>
                </c:pt>
                <c:pt idx="1">
                  <c:v>17.02</c:v>
                </c:pt>
                <c:pt idx="2">
                  <c:v>27.79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1"/>
          <c:w val="1"/>
          <c:h val="0.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D1D6D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1D6D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E2F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9E2FF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E2F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3182F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미사용</c:v>
                  </c:pt>
                  <c:pt idx="1">
                    <c:v>1일</c:v>
                  </c:pt>
                  <c:pt idx="2">
                    <c:v>2~4일</c:v>
                  </c:pt>
                  <c:pt idx="3">
                    <c:v>5~9일</c:v>
                  </c:pt>
                  <c:pt idx="4">
                    <c:v>10일 이상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10.22</c:v>
                </c:pt>
                <c:pt idx="1">
                  <c:v>19.81</c:v>
                </c:pt>
                <c:pt idx="2">
                  <c:v>26.35</c:v>
                </c:pt>
                <c:pt idx="3">
                  <c:v>38.47</c:v>
                </c:pt>
                <c:pt idx="4">
                  <c:v>55.04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2"/>
          <c:w val="1"/>
          <c:h val="0.8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4E59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E59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E59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048E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1개</c:v>
                  </c:pt>
                  <c:pt idx="1">
                    <c:v>2개</c:v>
                  </c:pt>
                  <c:pt idx="2">
                    <c:v>3개 이상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11.99</c:v>
                </c:pt>
                <c:pt idx="1">
                  <c:v>17.02</c:v>
                </c:pt>
                <c:pt idx="2">
                  <c:v>27.79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0.8"/>
          <c:h val="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</c:v>
                </c:pt>
              </c:strCache>
            </c:strRef>
          </c:tx>
          <c:spPr>
            <a:solidFill>
              <a:srgbClr val="7048E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7048E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0B8C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0B8C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질문 3개 이상</c:v>
                  </c:pt>
                  <c:pt idx="1">
                    <c:v>질문 2개</c:v>
                  </c:pt>
                  <c:pt idx="2">
                    <c:v>질문 1개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27.79</c:v>
                </c:pt>
                <c:pt idx="1">
                  <c:v>17.02</c:v>
                </c:pt>
                <c:pt idx="2">
                  <c:v>11.99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image" Target="../media/image-36-5.png"/><Relationship Id="rId6" Type="http://schemas.openxmlformats.org/officeDocument/2006/relationships/image" Target="../media/image-36-6.png"/><Relationship Id="rId7" Type="http://schemas.openxmlformats.org/officeDocument/2006/relationships/image" Target="../media/image-36-7.png"/><Relationship Id="rId8" Type="http://schemas.openxmlformats.org/officeDocument/2006/relationships/image" Target="../media/image-36-8.png"/><Relationship Id="rId9" Type="http://schemas.openxmlformats.org/officeDocument/2006/relationships/image" Target="../media/image-36-9.png"/><Relationship Id="rId10" Type="http://schemas.openxmlformats.org/officeDocument/2006/relationships/image" Target="../media/image-36-10.png"/><Relationship Id="rId11" Type="http://schemas.openxmlformats.org/officeDocument/2006/relationships/image" Target="../media/image-36-11.png"/><Relationship Id="rId12" Type="http://schemas.openxmlformats.org/officeDocument/2006/relationships/image" Target="../media/image-36-12.png"/><Relationship Id="rId13" Type="http://schemas.openxmlformats.org/officeDocument/2006/relationships/image" Target="../media/image-36-13.png"/><Relationship Id="rId14" Type="http://schemas.openxmlformats.org/officeDocument/2006/relationships/image" Target="../media/image-36-14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image" Target="../media/image-41-3.png"/><Relationship Id="rId4" Type="http://schemas.openxmlformats.org/officeDocument/2006/relationships/image" Target="../media/image-4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image" Target="../media/image-4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image" Target="../media/image-48-4.png"/><Relationship Id="rId5" Type="http://schemas.openxmlformats.org/officeDocument/2006/relationships/image" Target="../media/image-4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image" Target="../media/image-54-3.png"/><Relationship Id="rId4" Type="http://schemas.openxmlformats.org/officeDocument/2006/relationships/image" Target="../media/image-5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image" Target="../media/image-5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image" Target="../media/image-5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5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image" Target="../media/image-59-3.png"/><Relationship Id="rId4" Type="http://schemas.openxmlformats.org/officeDocument/2006/relationships/image" Target="../media/image-5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image" Target="../media/image-6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image" Target="../media/image-6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7.xml"/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image" Target="../media/image-69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image" Target="../media/image-7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image" Target="../media/image-7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731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메리츠화재 · 세일즈혁신TF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6035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4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 가이드북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154680"/>
            <a:ext cx="6035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1148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나만의 영업비서, “MeAI 홈” OPEN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5166360"/>
            <a:ext cx="127000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5166360"/>
            <a:ext cx="1270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v4 · MeAI 홈 편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11248" y="5166360"/>
            <a:ext cx="148844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11248" y="5166360"/>
            <a:ext cx="1488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2026.10 오픈 화면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709416" y="5166360"/>
            <a:ext cx="1419860" cy="292608"/>
          </a:xfrm>
          <a:prstGeom prst="roundRect">
            <a:avLst>
              <a:gd name="adj" fmla="val 50000"/>
            </a:avLst>
          </a:prstGeom>
          <a:solidFill>
            <a:srgbClr val="2B3340"/>
          </a:solidFill>
          <a:ln w="12700">
            <a:solidFill>
              <a:srgbClr val="2B334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709416" y="5166360"/>
            <a:ext cx="14198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537960" y="966787"/>
            <a:ext cx="5394960" cy="4832985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966787"/>
            <a:ext cx="5394960" cy="4832985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HOW TO USE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가이드북 읽는 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영업가족이 직접 보는 책. 내 상황에 맞는 곳부터 펼쳐 보기.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홈이 처음이라면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가는 진입로, 화면 구성과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 읽는 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64992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3592" y="1856232"/>
            <a:ext cx="365760" cy="36576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93592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059936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 · 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593592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바로 써보고 싶다면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593592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 맞춤대화까지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 · 매일 아침 루틴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81344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9944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09944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876288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409944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기능이 궁금하다면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6409944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누르면 열리는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일반대화·맞춤대화, 새 기능,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리포트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997696" y="1691640"/>
            <a:ext cx="265176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26296" y="1856232"/>
            <a:ext cx="365760" cy="36576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226296" y="1856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187452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226296" y="2295144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법이 궁금하다면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9226296" y="2679192"/>
            <a:ext cx="22860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질문은 클릭으로 고르기,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+ 무엇을 묻는 법,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 초안까지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36393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MeAI로 완성된 영업 사이클</a:t>
            </a:r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내 고객을 MeAI 홈에서 찾아, MeAI에게 묻고, 고객 연락까지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48640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49808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2147240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49808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749808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고객을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카드로 찾기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3372536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3573704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71136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4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3573704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3573704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한눈에 보고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고객 선택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196432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97600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7795031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8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397600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6397600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기능으로 확인하기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9020327" y="4005072"/>
            <a:ext cx="2622728" cy="1225296"/>
          </a:xfrm>
          <a:prstGeom prst="roundRect">
            <a:avLst>
              <a:gd name="adj" fmla="val 1044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8" name="Text 46"/>
          <p:cNvSpPr txBox="1"/>
          <p:nvPr/>
        </p:nvSpPr>
        <p:spPr>
          <a:xfrm>
            <a:off x="9221495" y="4114800"/>
            <a:ext cx="1525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10618927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7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9221495" y="4434840"/>
            <a:ext cx="22569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연락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221495" y="4718304"/>
            <a:ext cx="225696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첫 말로 연락하고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리포트까지 발송하기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548640" y="5340096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77240" y="5431536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 찾기·고르기·묻기는 MeAI 홈에서 시작해 누르기만 하면 됨.</a:t>
            </a:r>
            <a:endParaRPr lang="en-US" sz="1150" dirty="0"/>
          </a:p>
        </p:txBody>
      </p:sp>
      <p:sp>
        <p:nvSpPr>
          <p:cNvPr id="54" name="Shape 52"/>
          <p:cNvSpPr/>
          <p:nvPr/>
        </p:nvSpPr>
        <p:spPr>
          <a:xfrm>
            <a:off x="548640" y="5833872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777240" y="5833872"/>
            <a:ext cx="10637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기준  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화면. PART 6의 새 기능(용어 설명·모드 변경)은 개발 중이라 바뀔 수 있음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</a:t>
            </a:r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데이터  </a:t>
            </a:r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고객 이름·나이·숫자는 모두 예시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영업가족 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16916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16916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영업의 방향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120640" y="16916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368296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2368296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463040" y="236829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하루가 시작되는 곳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236829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3044952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3044952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04495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04495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721608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77240" y="372160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7216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MeAI가 그룹으로 묶어 둔 내 고객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120640" y="372160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p.30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4398264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77240" y="4398264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1463040" y="439826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5120640" y="439826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p.43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17920" y="1691640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446520" y="1691640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132320" y="169164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 · 일반대화 · 맞춤대화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10789920" y="1691640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p.47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217920" y="2368296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446520" y="2368296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132320" y="236829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0789920" y="2368296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217920" y="3044952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446520" y="3044952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20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0" y="3044952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 · 이렇게 묻기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0789920" y="3044952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p.68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17920" y="3721608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446520" y="3721608"/>
            <a:ext cx="640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2000" dirty="0"/>
          </a:p>
        </p:txBody>
      </p:sp>
      <p:sp>
        <p:nvSpPr>
          <p:cNvPr id="41" name="Text 39"/>
          <p:cNvSpPr txBox="1"/>
          <p:nvPr/>
        </p:nvSpPr>
        <p:spPr>
          <a:xfrm>
            <a:off x="7132320" y="37216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 · 용어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10789920" y="3721608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p.74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6217920" y="4398264"/>
            <a:ext cx="5440680" cy="566928"/>
          </a:xfrm>
          <a:prstGeom prst="roundRect">
            <a:avLst>
              <a:gd name="adj" fmla="val 19355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446520" y="4398264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바쁘면 한 장 요약부터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10789920" y="4398264"/>
            <a:ext cx="685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>
                    <a:alpha val="7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땐 여기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4327855" y="5074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칸(PART 2·3·4·8) = MeAI 홈 화면과 묻는 법 · FAQ p.76 · 용어 p.77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548640" y="5440680"/>
            <a:ext cx="2670734" cy="365760"/>
          </a:xfrm>
          <a:prstGeom prst="roundRect">
            <a:avLst>
              <a:gd name="adj" fmla="val 25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713232" y="5440680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"사전조회동의 필요"가 뜸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2506142" y="5440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356534" y="5440680"/>
            <a:ext cx="2670734" cy="365760"/>
          </a:xfrm>
          <a:prstGeom prst="roundRect">
            <a:avLst>
              <a:gd name="adj" fmla="val 25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3521126" y="5440680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4개의 뜻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314036" y="5440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p.18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6164428" y="5440680"/>
            <a:ext cx="2670734" cy="365760"/>
          </a:xfrm>
          <a:prstGeom prst="roundRect">
            <a:avLst>
              <a:gd name="adj" fmla="val 25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329020" y="5440680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장 읽기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8121929" y="5440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p.20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972321" y="5440680"/>
            <a:ext cx="2670734" cy="365760"/>
          </a:xfrm>
          <a:prstGeom prst="roundRect">
            <a:avLst>
              <a:gd name="adj" fmla="val 25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136913" y="5440680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팝업에 없음 · 회색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10929823" y="54406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p.28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48640" y="5879592"/>
            <a:ext cx="2670734" cy="365760"/>
          </a:xfrm>
          <a:prstGeom prst="roundRect">
            <a:avLst>
              <a:gd name="adj" fmla="val 25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13232" y="5879592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한 줄 화법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2506142" y="58795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p.34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3356534" y="5879592"/>
            <a:ext cx="2670734" cy="365760"/>
          </a:xfrm>
          <a:prstGeom prst="roundRect">
            <a:avLst>
              <a:gd name="adj" fmla="val 25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3521126" y="5879592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묻는 공식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5314036" y="58795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p.70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6164428" y="5879592"/>
            <a:ext cx="2670734" cy="365760"/>
          </a:xfrm>
          <a:prstGeom prst="roundRect">
            <a:avLst>
              <a:gd name="adj" fmla="val 25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6329020" y="5879592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 모음</a:t>
            </a:r>
            <a:endParaRPr lang="en-US" sz="1100" dirty="0"/>
          </a:p>
        </p:txBody>
      </p:sp>
      <p:sp>
        <p:nvSpPr>
          <p:cNvPr id="68" name="Text 66"/>
          <p:cNvSpPr txBox="1"/>
          <p:nvPr/>
        </p:nvSpPr>
        <p:spPr>
          <a:xfrm>
            <a:off x="8121929" y="58795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p.73</a:t>
            </a:r>
            <a:endParaRPr lang="en-US" sz="1100" dirty="0"/>
          </a:p>
        </p:txBody>
      </p:sp>
      <p:sp>
        <p:nvSpPr>
          <p:cNvPr id="69" name="Shape 67"/>
          <p:cNvSpPr/>
          <p:nvPr/>
        </p:nvSpPr>
        <p:spPr>
          <a:xfrm>
            <a:off x="8972321" y="5879592"/>
            <a:ext cx="2670734" cy="365760"/>
          </a:xfrm>
          <a:prstGeom prst="roundRect">
            <a:avLst>
              <a:gd name="adj" fmla="val 25000"/>
            </a:avLst>
          </a:prstGeom>
          <a:solidFill>
            <a:srgbClr val="F9FAFB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9136913" y="5879592"/>
            <a:ext cx="198493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쓰기</a:t>
            </a:r>
            <a:endParaRPr lang="en-US" sz="1100" dirty="0"/>
          </a:p>
        </p:txBody>
      </p:sp>
      <p:sp>
        <p:nvSpPr>
          <p:cNvPr id="71" name="Text 69"/>
          <p:cNvSpPr txBox="1"/>
          <p:nvPr/>
        </p:nvSpPr>
        <p:spPr>
          <a:xfrm>
            <a:off x="10929823" y="58795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p.60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영업의 방향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누구에게, 왜, 무슨 말로 연락할지 이제 MeAI가 먼저 골라 줌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열에 아홉이 방치상태인 이유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홈이 바꾸는 하루의 순서 · 작동 원리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보는 효과 · 매일 아침 루틴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사이클 네 걸음 · 미리보기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지금까지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열에 아홉은 방치상태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 영업하려면 누구에게 · 왜 지금 · 무슨 말을 할지 고민해야 했던 현실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연락하지?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목록을 하나씩 뒤져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사람을 직접 골라야 했음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2628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2628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지금이지?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2628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명분을 스스로 만들어야 했음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275320" y="1892808"/>
            <a:ext cx="420624" cy="420624"/>
          </a:xfrm>
          <a:prstGeom prst="ellipse">
            <a:avLst/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75320" y="18928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44144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말로 시작하지?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2825496"/>
            <a:ext cx="3108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마디를 고민하다 하루를 넘기기 일쑤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77240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0859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84478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38098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391717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45336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98955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52574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6194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159813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7240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30859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84478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238098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91717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545336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98955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852574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006194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159813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77240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30859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084478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238098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391717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545336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698955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852574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006194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159813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7240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30859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84478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1238098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1391717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545336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698955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852574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006194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159813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77240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30859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084478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238098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391717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545336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698955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852574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006194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2159813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777240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30859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84478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238098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1391717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1545336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698955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852574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006194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2159813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7240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30859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084478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238098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391717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1545336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698955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1852574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2006194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2159813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777240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30859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1084478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238098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1391717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545336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1698955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852574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006194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159813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77240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30859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1084478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1238098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1391717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1545336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698955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1852574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006194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159813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777240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30859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84478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238098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1391717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1545336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1698955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1852574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2006194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2159813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23" name="Text 121"/>
          <p:cNvSpPr txBox="1"/>
          <p:nvPr/>
        </p:nvSpPr>
        <p:spPr>
          <a:xfrm>
            <a:off x="777240" y="5541264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1개 = 1%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2468880" y="402336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125" name="Text 123"/>
          <p:cNvSpPr txBox="1"/>
          <p:nvPr/>
        </p:nvSpPr>
        <p:spPr>
          <a:xfrm>
            <a:off x="2468880" y="45720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고객 중 영업 시도</a:t>
            </a:r>
            <a:endParaRPr lang="en-US" sz="1150" dirty="0"/>
          </a:p>
        </p:txBody>
      </p:sp>
      <p:sp>
        <p:nvSpPr>
          <p:cNvPr id="126" name="Text 124"/>
          <p:cNvSpPr txBox="1"/>
          <p:nvPr/>
        </p:nvSpPr>
        <p:spPr>
          <a:xfrm>
            <a:off x="2468880" y="4892040"/>
            <a:ext cx="157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100명 중 7명도 안 됨</a:t>
            </a:r>
            <a:endParaRPr lang="en-US" sz="1050" dirty="0"/>
          </a:p>
        </p:txBody>
      </p:sp>
      <p:sp>
        <p:nvSpPr>
          <p:cNvPr id="127" name="Shape 125"/>
          <p:cNvSpPr/>
          <p:nvPr/>
        </p:nvSpPr>
        <p:spPr>
          <a:xfrm>
            <a:off x="4297680" y="3840480"/>
            <a:ext cx="3566160" cy="1874520"/>
          </a:xfrm>
          <a:prstGeom prst="roundRect">
            <a:avLst>
              <a:gd name="adj" fmla="val 682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526280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4679899" y="4023360"/>
            <a:ext cx="118872" cy="118872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4833518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4987138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140757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294376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447995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601614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755234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5908853" y="4023360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4526280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4679899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4833518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987138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5140757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5294376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5447995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5601614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5755234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908853" y="4176979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4526280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4679899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4833518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4987138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140757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294376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447995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601614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755234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908853" y="433059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4526280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4679899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4833518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4987138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140757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294376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447995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601614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755234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5908853" y="4484218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526280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4679899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4833518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4987138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140757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294376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447995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601614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755234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5908853" y="4637837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4526280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4679899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4833518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4987138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5140757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5294376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5447995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5601614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755234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5908853" y="4791456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4526280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4679899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4833518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4987138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140757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294376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447995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601614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755234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5908853" y="4945075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4526280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679899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4833518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4987138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>
            <a:off x="5140757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5294376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5447995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5601614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>
            <a:off x="5755234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5908853" y="509869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>
            <a:off x="4526280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>
            <a:off x="4679899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4833518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4987138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>
            <a:off x="5140757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5294376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5447995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>
            <a:off x="5601614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755234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5908853" y="5252314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4526280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79899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4833518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4987138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5140757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5294376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5447995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5601614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6" name="Shape 224"/>
          <p:cNvSpPr/>
          <p:nvPr/>
        </p:nvSpPr>
        <p:spPr>
          <a:xfrm>
            <a:off x="5755234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5908853" y="5405933"/>
            <a:ext cx="118872" cy="118872"/>
          </a:xfrm>
          <a:prstGeom prst="ellipse">
            <a:avLst/>
          </a:prstGeom>
          <a:solidFill>
            <a:srgbClr val="E5E8EB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28" name="Text 226"/>
          <p:cNvSpPr txBox="1"/>
          <p:nvPr/>
        </p:nvSpPr>
        <p:spPr>
          <a:xfrm>
            <a:off x="4526280" y="5541264"/>
            <a:ext cx="155448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1개 = 1%</a:t>
            </a:r>
            <a:endParaRPr lang="en-US" sz="900" dirty="0"/>
          </a:p>
        </p:txBody>
      </p:sp>
      <p:sp>
        <p:nvSpPr>
          <p:cNvPr id="229" name="Text 227"/>
          <p:cNvSpPr txBox="1"/>
          <p:nvPr/>
        </p:nvSpPr>
        <p:spPr>
          <a:xfrm>
            <a:off x="6217920" y="402336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2%</a:t>
            </a:r>
            <a:pPr indent="0" marL="0"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미만</a:t>
            </a:r>
            <a:endParaRPr lang="en-US" sz="3000" dirty="0"/>
          </a:p>
        </p:txBody>
      </p:sp>
      <p:sp>
        <p:nvSpPr>
          <p:cNvPr id="230" name="Text 228"/>
          <p:cNvSpPr txBox="1"/>
          <p:nvPr/>
        </p:nvSpPr>
        <p:spPr>
          <a:xfrm>
            <a:off x="6217920" y="4572000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이관 고객 중 영업 시도</a:t>
            </a:r>
            <a:endParaRPr lang="en-US" sz="1150" dirty="0"/>
          </a:p>
        </p:txBody>
      </p:sp>
      <p:sp>
        <p:nvSpPr>
          <p:cNvPr id="231" name="Text 229"/>
          <p:cNvSpPr txBox="1"/>
          <p:nvPr/>
        </p:nvSpPr>
        <p:spPr>
          <a:xfrm>
            <a:off x="6217920" y="4892040"/>
            <a:ext cx="15727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100명 중 2명도 안 됨.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넘겨받은 고객은</a:t>
            </a:r>
            <a:endParaRPr lang="en-US" sz="10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묵혀 두게 됨</a:t>
            </a:r>
            <a:endParaRPr lang="en-US" sz="1050" dirty="0"/>
          </a:p>
        </p:txBody>
      </p:sp>
      <p:sp>
        <p:nvSpPr>
          <p:cNvPr id="232" name="Shape 230"/>
          <p:cNvSpPr/>
          <p:nvPr/>
        </p:nvSpPr>
        <p:spPr>
          <a:xfrm>
            <a:off x="8046720" y="3840480"/>
            <a:ext cx="3566160" cy="1874520"/>
          </a:xfrm>
          <a:prstGeom prst="roundRect">
            <a:avLst>
              <a:gd name="adj" fmla="val 585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33" name="Text 231"/>
          <p:cNvSpPr txBox="1"/>
          <p:nvPr/>
        </p:nvSpPr>
        <p:spPr>
          <a:xfrm>
            <a:off x="8302752" y="41330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누구, 왜, 무엇을</a:t>
            </a:r>
            <a:endParaRPr lang="en-US" sz="1800" dirty="0"/>
          </a:p>
        </p:txBody>
      </p:sp>
      <p:sp>
        <p:nvSpPr>
          <p:cNvPr id="234" name="Text 232"/>
          <p:cNvSpPr txBox="1"/>
          <p:nvPr/>
        </p:nvSpPr>
        <p:spPr>
          <a:xfrm>
            <a:off x="8302752" y="4681728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1명에게 영업하기 위해</a:t>
            </a:r>
            <a:endParaRPr lang="en-US" sz="12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FFFFFF">
                    <a:alpha val="8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준비해야 하는 많은 고민과 결정</a:t>
            </a:r>
            <a:endParaRPr lang="en-US" sz="1250" dirty="0"/>
          </a:p>
        </p:txBody>
      </p:sp>
      <p:sp>
        <p:nvSpPr>
          <p:cNvPr id="235" name="Text 233"/>
          <p:cNvSpPr txBox="1"/>
          <p:nvPr/>
        </p:nvSpPr>
        <p:spPr>
          <a:xfrm>
            <a:off x="548640" y="585216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3월 TA채널 보유고객 대비 설계/청약 진행 고객 비율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이제는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먼저 찾아오는 영업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바뀌는 것은 화면이 아니라 하루의 순서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194560"/>
                <a:gridCol w="36576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찾는 영업 (지금까지)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찾아가는 영업 (MeAI 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누구에게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목록을 뒤져 내가 고름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홈이 오늘의 추천 고객을 보여 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왜 지금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명분을 스스로 만듦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"상령일이 2주 남았고…" 이유가 붙음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첫 마디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고민하다 미룸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이유 문장이 곧 첫 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다음 행동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메뉴를 찾아 헤맴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[MeAI 고객찾기에서 열기] →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64D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[이 고객으로 맞춤대화 시작]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3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815359" y="1691640"/>
            <a:ext cx="3754562" cy="40690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5359" y="1691640"/>
            <a:ext cx="3754562" cy="40690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772400" y="5833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「오늘의 추천 고객」 김민수 카드 (예시)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48640" y="5120640"/>
            <a:ext cx="6949440" cy="731520"/>
          </a:xfrm>
          <a:prstGeom prst="roundRect">
            <a:avLst>
              <a:gd name="adj" fmla="val 15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5212080"/>
            <a:ext cx="6492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시스템이, 설득은 사람이. 오른쪽 김민수 고객처럼 "사전조회동의 필요"가 붙으면 맞춤대화 전에 동의 알림톡부터 발송(PART 5).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한 흐름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두 번이면 대화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 고객(예시) 한 분으로 따라가 보기 · 화면 속 추천 질문 문장은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872126"/>
            <a:ext cx="2240280" cy="24279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2126"/>
            <a:ext cx="2240280" cy="2427947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48640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46177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추천 카드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495604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문장을 읽고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763469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3058058" y="1894804"/>
            <a:ext cx="3429000" cy="238259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8058" y="1894804"/>
            <a:ext cx="3429000" cy="238259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058058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058058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423818" y="461772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3058058" y="4956048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 파악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6461608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1" name="Shape 17"/>
          <p:cNvSpPr/>
          <p:nvPr/>
        </p:nvSpPr>
        <p:spPr>
          <a:xfrm>
            <a:off x="6756197" y="1838671"/>
            <a:ext cx="2240280" cy="24948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6197" y="1838671"/>
            <a:ext cx="2240280" cy="2494857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6756197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6756197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7121957" y="461772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350" dirty="0"/>
          </a:p>
        </p:txBody>
      </p:sp>
      <p:sp>
        <p:nvSpPr>
          <p:cNvPr id="26" name="Text 21"/>
          <p:cNvSpPr txBox="1"/>
          <p:nvPr/>
        </p:nvSpPr>
        <p:spPr>
          <a:xfrm>
            <a:off x="6756197" y="495604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확인하고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8971026" y="28575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8" name="Shape 23"/>
          <p:cNvSpPr/>
          <p:nvPr/>
        </p:nvSpPr>
        <p:spPr>
          <a:xfrm>
            <a:off x="9265615" y="2024516"/>
            <a:ext cx="2377440" cy="2123168"/>
          </a:xfrm>
          <a:prstGeom prst="roundRect">
            <a:avLst>
              <a:gd name="adj" fmla="val 224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9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5615" y="2024516"/>
            <a:ext cx="2377440" cy="2123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9265615" y="46268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9265615" y="46268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2" name="Text 26"/>
          <p:cNvSpPr txBox="1"/>
          <p:nvPr/>
        </p:nvSpPr>
        <p:spPr>
          <a:xfrm>
            <a:off x="9631375" y="461772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</a:t>
            </a:r>
            <a:endParaRPr lang="en-US" sz="1350" dirty="0"/>
          </a:p>
        </p:txBody>
      </p:sp>
      <p:sp>
        <p:nvSpPr>
          <p:cNvPr id="33" name="Text 27"/>
          <p:cNvSpPr txBox="1"/>
          <p:nvPr/>
        </p:nvSpPr>
        <p:spPr>
          <a:xfrm>
            <a:off x="9265615" y="4956048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답만 골라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발송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548640" y="5596128"/>
            <a:ext cx="11094415" cy="658368"/>
          </a:xfrm>
          <a:prstGeom prst="roundRect">
            <a:avLst>
              <a:gd name="adj" fmla="val 16667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777240" y="5687568"/>
            <a:ext cx="1063721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 고객은 사전조회 동의 기간이 남아 있어(D-7) [이 고객으로 맞춤대화 시작]을 누르면 바로 열림.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"사전조회동의 필요"가 붙은 고객은 동의 알림톡부터 발송(PART 5).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MeAI가 하는 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홈의 작동 원리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밤 계산하고, 다음 날 이유와 함께 화면 구성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6809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6809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· 동의 · 상령일 ·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· CRM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8830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80775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302721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2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02721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밤 계산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02721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고객과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그룹을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자동으로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계산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47417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066873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5286329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286329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 9명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86329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× 3세트로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 표시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06534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25990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45446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545446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 대신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545446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이 고객인지,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문장과 태그로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(동의 상태 칩도 함께)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65651" y="267462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9585107" y="1691640"/>
            <a:ext cx="2057949" cy="2331720"/>
          </a:xfrm>
          <a:prstGeom prst="roundRect">
            <a:avLst>
              <a:gd name="adj" fmla="val 622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804563" y="1892808"/>
            <a:ext cx="161903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9804563" y="2167128"/>
            <a:ext cx="161903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804563" y="2697480"/>
            <a:ext cx="161903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버튼으로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이동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동의 고객은</a:t>
            </a:r>
            <a:endParaRPr lang="en-US" sz="11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맞춤대화 시작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77724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발굴은 시스템, 설득은 사람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고르는 시간을 없애고,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만나는 일에 집중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29768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452628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그룹은 두 갈래</a:t>
            </a:r>
            <a:endParaRPr lang="en-US" sz="1500" dirty="0"/>
          </a:p>
        </p:txBody>
      </p:sp>
      <p:sp>
        <p:nvSpPr>
          <p:cNvPr id="36" name="Text 34"/>
          <p:cNvSpPr txBox="1"/>
          <p:nvPr/>
        </p:nvSpPr>
        <p:spPr>
          <a:xfrm>
            <a:off x="452628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· 영업 기회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(예: 암진단비 부족 · 상령일 임박)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046720" y="4251960"/>
            <a:ext cx="3566160" cy="1417320"/>
          </a:xfrm>
          <a:prstGeom prst="roundRect">
            <a:avLst>
              <a:gd name="adj" fmla="val 903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8275320" y="4453128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결과는 다음 날 반영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8275320" y="4837176"/>
            <a:ext cx="31089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데이터와 추천 결과 모두 해당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 시각은 화면의 "최근 업데이트"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548640" y="58064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MeAI 홈에 노출되는 고객은 사전조회 동의일로부터 1년 이내 · 맞춤대화는 동의일부터 90일 동안 가능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숫자로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MeAI를 쓴 경우, 체결전환율 2.8배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열 명 중 아홉 명이 사용 경험 있음 · MeAI 홈은 매일 아침 열어 볼 이유를 만들어 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926080" cy="4069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04108" y="1691640"/>
            <a:ext cx="4846320" cy="4069080"/>
          </a:xfrm>
          <a:prstGeom prst="roundRect">
            <a:avLst>
              <a:gd name="adj" fmla="val 3146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579815" y="1691640"/>
            <a:ext cx="3063240" cy="4069080"/>
          </a:xfrm>
          <a:prstGeom prst="roundRect">
            <a:avLst>
              <a:gd name="adj" fmla="val 417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" y="1892808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 경험</a:t>
            </a:r>
            <a:endParaRPr lang="en-US" sz="13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960120" y="2350008"/>
          <a:ext cx="210312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1307592" y="2697480"/>
            <a:ext cx="1408176" cy="140817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60120" y="31089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91.1%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804672" y="4709160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10,968명이</a:t>
            </a:r>
            <a:endParaRPr lang="en-US" sz="12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이상 사용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860140" y="189280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체결전환율 · 미활용 → 활용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3924148" y="24048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2.8배</a:t>
            </a:r>
            <a:endParaRPr lang="en-US" sz="28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3969868" y="2926080"/>
          <a:ext cx="19202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3969868" y="4135625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12.7%</a:t>
            </a:r>
            <a:endParaRPr lang="en-US" sz="1300" dirty="0"/>
          </a:p>
        </p:txBody>
      </p:sp>
      <p:sp>
        <p:nvSpPr>
          <p:cNvPr id="19" name="Text 15"/>
          <p:cNvSpPr txBox="1"/>
          <p:nvPr/>
        </p:nvSpPr>
        <p:spPr>
          <a:xfrm>
            <a:off x="3969868" y="506577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4929988" y="3061457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35.4%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4929988" y="506577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3969868" y="5029200"/>
            <a:ext cx="1920240" cy="0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3832708" y="5349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6118708" y="2404872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4배</a:t>
            </a:r>
            <a:endParaRPr lang="en-US" sz="2800" dirty="0"/>
          </a:p>
        </p:txBody>
      </p:sp>
      <p:graphicFrame>
        <p:nvGraphicFramePr>
          <p:cNvPr id="25" name="Chart 2" descr=""/>
          <p:cNvGraphicFramePr/>
          <p:nvPr/>
        </p:nvGraphicFramePr>
        <p:xfrm>
          <a:off x="6164428" y="2926080"/>
          <a:ext cx="192024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6" name="Text 21"/>
          <p:cNvSpPr txBox="1"/>
          <p:nvPr/>
        </p:nvSpPr>
        <p:spPr>
          <a:xfrm>
            <a:off x="6164428" y="431071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9.0%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6164428" y="506577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미활용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7124548" y="3033065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36.0%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7124548" y="5065776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활용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6164428" y="5029200"/>
            <a:ext cx="1920240" cy="0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6027268" y="5349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FP 고객끼리</a:t>
            </a:r>
            <a:endParaRPr lang="en-US" sz="1200" dirty="0"/>
          </a:p>
        </p:txBody>
      </p:sp>
      <p:sp>
        <p:nvSpPr>
          <p:cNvPr id="32" name="Text 27"/>
          <p:cNvSpPr txBox="1"/>
          <p:nvPr/>
        </p:nvSpPr>
        <p:spPr>
          <a:xfrm>
            <a:off x="8835847" y="1892808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늘어나는 영업기회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8835847" y="2404872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28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8762695" y="2926080"/>
          <a:ext cx="26974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762695" y="4027381"/>
            <a:ext cx="89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</a:t>
            </a:r>
            <a:endParaRPr lang="en-US" sz="1200" dirty="0"/>
          </a:p>
        </p:txBody>
      </p:sp>
      <p:sp>
        <p:nvSpPr>
          <p:cNvPr id="36" name="Text 30"/>
          <p:cNvSpPr txBox="1"/>
          <p:nvPr/>
        </p:nvSpPr>
        <p:spPr>
          <a:xfrm>
            <a:off x="8762695" y="5065776"/>
            <a:ext cx="89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1개</a:t>
            </a:r>
            <a:endParaRPr lang="en-US" sz="1100" dirty="0"/>
          </a:p>
        </p:txBody>
      </p:sp>
      <p:sp>
        <p:nvSpPr>
          <p:cNvPr id="37" name="Text 31"/>
          <p:cNvSpPr txBox="1"/>
          <p:nvPr/>
        </p:nvSpPr>
        <p:spPr>
          <a:xfrm>
            <a:off x="9661855" y="3729855"/>
            <a:ext cx="89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17.02건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9661855" y="5065776"/>
            <a:ext cx="89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</a:t>
            </a:r>
            <a:endParaRPr lang="en-US" sz="1100" dirty="0"/>
          </a:p>
        </p:txBody>
      </p:sp>
      <p:sp>
        <p:nvSpPr>
          <p:cNvPr id="39" name="Text 33"/>
          <p:cNvSpPr txBox="1"/>
          <p:nvPr/>
        </p:nvSpPr>
        <p:spPr>
          <a:xfrm>
            <a:off x="10561015" y="3092807"/>
            <a:ext cx="89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27.79건</a:t>
            </a:r>
            <a:endParaRPr lang="en-US" sz="1200" dirty="0"/>
          </a:p>
        </p:txBody>
      </p:sp>
      <p:sp>
        <p:nvSpPr>
          <p:cNvPr id="40" name="Text 34"/>
          <p:cNvSpPr txBox="1"/>
          <p:nvPr/>
        </p:nvSpPr>
        <p:spPr>
          <a:xfrm>
            <a:off x="10561015" y="5065776"/>
            <a:ext cx="899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8762695" y="5029200"/>
            <a:ext cx="2697480" cy="0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8716975" y="53492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 3건 이상 · 평균 가계약 수</a:t>
            </a:r>
            <a:endParaRPr lang="en-US" sz="1050" dirty="0"/>
          </a:p>
        </p:txBody>
      </p:sp>
      <p:sp>
        <p:nvSpPr>
          <p:cNvPr id="43" name="Text 37"/>
          <p:cNvSpPr txBox="1"/>
          <p:nvPr/>
        </p:nvSpPr>
        <p:spPr>
          <a:xfrm>
            <a:off x="548640" y="5870448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1000" dirty="0"/>
          </a:p>
        </p:txBody>
      </p:sp>
      <p:sp>
        <p:nvSpPr>
          <p:cNvPr id="44" name="Text 38"/>
          <p:cNvSpPr txBox="1"/>
          <p:nvPr/>
        </p:nvSpPr>
        <p:spPr>
          <a:xfrm>
            <a:off x="7982712" y="5870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활동일별 비교는 다음 쪽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숫자로 보기 · 활동일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10일 이상 쓰면, 평균 가계약 5.4배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MeAI 활동일별 비교 · 10일 이상 vs 미사용 · MeAI 홈을 아침마다 여는 습관이 곧 활동일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가계약(건)</a:t>
            </a:r>
            <a:endParaRPr lang="en-US" sz="11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1965960" y="1783080"/>
          <a:ext cx="749808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1965960" y="3813139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10.22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465576" y="341853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19.81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965192" y="3149422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26.35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64808" y="2650708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38.47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64424" y="1968886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55.04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1965960" y="4526280"/>
            <a:ext cx="7498080" cy="0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48640" y="4599432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활동일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965960" y="459943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미사용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3465576" y="459943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1일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4965192" y="459943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2~4일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459943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5~9일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7964424" y="4599432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 이상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4910328"/>
            <a:ext cx="891540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9103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인원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1965960" y="4910328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5,987명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3465576" y="4910328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1,835명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4965192" y="4910328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2,487명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6464808" y="4910328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1,372명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7964424" y="4910328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362명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48640" y="5221224"/>
            <a:ext cx="891540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548640" y="522122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1965960" y="5257800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53.1%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250887" y="5532120"/>
            <a:ext cx="929762" cy="640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2250887" y="5532120"/>
            <a:ext cx="493704" cy="64008"/>
          </a:xfrm>
          <a:prstGeom prst="roundRect">
            <a:avLst>
              <a:gd name="adj" fmla="val 50000"/>
            </a:avLst>
          </a:prstGeom>
          <a:solidFill>
            <a:srgbClr val="B0B8C1"/>
          </a:solidFill>
          <a:ln w="12700">
            <a:solidFill>
              <a:srgbClr val="B0B8C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465576" y="5257800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79.6%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3750503" y="5532120"/>
            <a:ext cx="929762" cy="640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3750503" y="5532120"/>
            <a:ext cx="740090" cy="640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965192" y="5257800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85.7%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250119" y="5532120"/>
            <a:ext cx="929762" cy="640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5250119" y="5532120"/>
            <a:ext cx="796806" cy="640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64808" y="5257800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92.5%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749735" y="5532120"/>
            <a:ext cx="929762" cy="640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749735" y="5532120"/>
            <a:ext cx="860030" cy="640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964424" y="5257800"/>
            <a:ext cx="1499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94.8%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8249351" y="5532120"/>
            <a:ext cx="929762" cy="64008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249351" y="5532120"/>
            <a:ext cx="881414" cy="64008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548640" y="5678424"/>
            <a:ext cx="8915400" cy="0"/>
          </a:xfrm>
          <a:prstGeom prst="line">
            <a:avLst/>
          </a:prstGeom>
          <a:noFill/>
          <a:ln w="9525">
            <a:solidFill>
              <a:srgbClr val="E5E8E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48640" y="5678424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매출자 평균</a:t>
            </a:r>
            <a:endParaRPr lang="en-US" sz="1050" dirty="0"/>
          </a:p>
        </p:txBody>
      </p:sp>
      <p:sp>
        <p:nvSpPr>
          <p:cNvPr id="47" name="Text 44"/>
          <p:cNvSpPr txBox="1"/>
          <p:nvPr/>
        </p:nvSpPr>
        <p:spPr>
          <a:xfrm>
            <a:off x="1965960" y="5678424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256,194원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3465576" y="5678424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310,383원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965192" y="5678424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328,237원</a:t>
            </a:r>
            <a:endParaRPr lang="en-US" sz="1100" dirty="0"/>
          </a:p>
        </p:txBody>
      </p:sp>
      <p:sp>
        <p:nvSpPr>
          <p:cNvPr id="50" name="Text 47"/>
          <p:cNvSpPr txBox="1"/>
          <p:nvPr/>
        </p:nvSpPr>
        <p:spPr>
          <a:xfrm>
            <a:off x="6464808" y="5678424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378,083원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964424" y="5678424"/>
            <a:ext cx="14996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408,166원</a:t>
            </a:r>
            <a:endParaRPr lang="en-US" sz="1100" dirty="0"/>
          </a:p>
        </p:txBody>
      </p:sp>
      <p:sp>
        <p:nvSpPr>
          <p:cNvPr id="52" name="Shape 49"/>
          <p:cNvSpPr/>
          <p:nvPr/>
        </p:nvSpPr>
        <p:spPr>
          <a:xfrm>
            <a:off x="9646920" y="1783080"/>
            <a:ext cx="1993392" cy="4160520"/>
          </a:xfrm>
          <a:prstGeom prst="roundRect">
            <a:avLst>
              <a:gd name="adj" fmla="val 6422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875520" y="1965960"/>
            <a:ext cx="1627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 이상 vs 미사용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9875520" y="2286000"/>
            <a:ext cx="16276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5.4배</a:t>
            </a:r>
            <a:endParaRPr lang="en-US" sz="4000" dirty="0"/>
          </a:p>
        </p:txBody>
      </p:sp>
      <p:sp>
        <p:nvSpPr>
          <p:cNvPr id="55" name="Text 52"/>
          <p:cNvSpPr txBox="1"/>
          <p:nvPr/>
        </p:nvSpPr>
        <p:spPr>
          <a:xfrm>
            <a:off x="9875520" y="297180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10.22건 → 55.04건</a:t>
            </a:r>
            <a:endParaRPr lang="en-US" sz="1150" dirty="0"/>
          </a:p>
        </p:txBody>
      </p:sp>
      <p:sp>
        <p:nvSpPr>
          <p:cNvPr id="56" name="Shape 53"/>
          <p:cNvSpPr/>
          <p:nvPr/>
        </p:nvSpPr>
        <p:spPr>
          <a:xfrm>
            <a:off x="9875520" y="3703320"/>
            <a:ext cx="1536192" cy="0"/>
          </a:xfrm>
          <a:prstGeom prst="line">
            <a:avLst/>
          </a:prstGeom>
          <a:noFill/>
          <a:ln w="9525">
            <a:solidFill>
              <a:srgbClr val="C9E2FF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875520" y="384048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1.8배</a:t>
            </a:r>
            <a:endParaRPr lang="en-US" sz="3000" dirty="0"/>
          </a:p>
        </p:txBody>
      </p:sp>
      <p:sp>
        <p:nvSpPr>
          <p:cNvPr id="58" name="Text 55"/>
          <p:cNvSpPr txBox="1"/>
          <p:nvPr/>
        </p:nvSpPr>
        <p:spPr>
          <a:xfrm>
            <a:off x="9875520" y="4389120"/>
            <a:ext cx="16276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매출 보유율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53.1% → 94.8%</a:t>
            </a:r>
            <a:endParaRPr lang="en-US" sz="1150" dirty="0"/>
          </a:p>
        </p:txBody>
      </p:sp>
      <p:sp>
        <p:nvSpPr>
          <p:cNvPr id="59" name="Text 56"/>
          <p:cNvSpPr txBox="1"/>
          <p:nvPr/>
        </p:nvSpPr>
        <p:spPr>
          <a:xfrm>
            <a:off x="9875520" y="5257800"/>
            <a:ext cx="1627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달에 며칠 쓰느냐</a:t>
            </a:r>
            <a:endParaRPr lang="en-US" sz="1150" dirty="0"/>
          </a:p>
        </p:txBody>
      </p:sp>
      <p:sp>
        <p:nvSpPr>
          <p:cNvPr id="60" name="Text 57"/>
          <p:cNvSpPr txBox="1"/>
          <p:nvPr/>
        </p:nvSpPr>
        <p:spPr>
          <a:xfrm>
            <a:off x="548640" y="605332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 · 그래서 이 책은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MeAI 홈에서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버튼만 누르면 다음 화면으로 연결(화면 속 질문 문장은 예시) · PART 2~4 화면 · PART 7 루틴 · PART 8 묻는 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2520364"/>
            <a:ext cx="2514600" cy="1040033"/>
          </a:xfrm>
          <a:prstGeom prst="roundRect">
            <a:avLst>
              <a:gd name="adj" fmla="val 483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20364"/>
            <a:ext cx="2514600" cy="104003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4480560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818888"/>
            <a:ext cx="2514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 동의 필요" 확인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053029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Shape 9"/>
          <p:cNvSpPr/>
          <p:nvPr/>
        </p:nvSpPr>
        <p:spPr>
          <a:xfrm>
            <a:off x="3362858" y="1826406"/>
            <a:ext cx="2240280" cy="242794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2858" y="1826406"/>
            <a:ext cx="2240280" cy="2427947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362858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3362858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2"/>
          <p:cNvSpPr txBox="1"/>
          <p:nvPr/>
        </p:nvSpPr>
        <p:spPr>
          <a:xfrm>
            <a:off x="3728618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· 추천 카드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3362858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카드로 찾기</a:t>
            </a:r>
            <a:endParaRPr lang="en-US" sz="1200" dirty="0"/>
          </a:p>
        </p:txBody>
      </p:sp>
      <p:sp>
        <p:nvSpPr>
          <p:cNvPr id="18" name="Text 14"/>
          <p:cNvSpPr txBox="1"/>
          <p:nvPr/>
        </p:nvSpPr>
        <p:spPr>
          <a:xfrm>
            <a:off x="5592928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5902757" y="1928504"/>
            <a:ext cx="3200400" cy="222375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0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757" y="1928504"/>
            <a:ext cx="3200400" cy="2223752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5902757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5902757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6268517" y="448056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고르기 · 고객찾기</a:t>
            </a:r>
            <a:endParaRPr lang="en-US" sz="1350" dirty="0"/>
          </a:p>
        </p:txBody>
      </p:sp>
      <p:sp>
        <p:nvSpPr>
          <p:cNvPr id="24" name="Text 19"/>
          <p:cNvSpPr txBox="1"/>
          <p:nvPr/>
        </p:nvSpPr>
        <p:spPr>
          <a:xfrm>
            <a:off x="5902757" y="4818888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6칸과 태그로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보고 연락할 고객 선택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092946" y="28117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6" name="Shape 21"/>
          <p:cNvSpPr/>
          <p:nvPr/>
        </p:nvSpPr>
        <p:spPr>
          <a:xfrm>
            <a:off x="9402775" y="1792951"/>
            <a:ext cx="2240280" cy="249485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7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2775" y="1792951"/>
            <a:ext cx="2240280" cy="2494857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9402775" y="44897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9402775" y="44897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9768535" y="4480560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· 추천 질문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9402775" y="4818888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누르거나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504688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596128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 → 고르기 → 묻기 → 연락하기. 마지막 걸음은 카드의 첫 말로 연락하고 리포트까지 발송.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시작되는 곳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내 고객과 첫 마디가 미리 준비된 곳 · 누르기만 하면 시작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 가는 진입로 6곳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다섯 구역 · 스위치와 버튼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추천 카드 읽는 법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· 동의 · 유형 범례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사이클에서 이 파트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영업포탈에서 들어가기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영업포탈에서 MeAI 홈으로 가는 진입로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 배너와 CRM 통해 들어가는 MeAI는 누구나 사용 가능 · 10월 2일부터 새 문 ③④⑤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7589520" cy="4139738"/>
          </a:xfrm>
          <a:prstGeom prst="roundRect">
            <a:avLst>
              <a:gd name="adj" fmla="val 30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589520" cy="413973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836676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36676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8750808" y="16916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[MeAI 홈]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750808" y="1984248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366760" y="231305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366760" y="231305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8750808" y="2294763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위 [보장분석]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8750808" y="2587371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366760" y="29161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366760" y="29161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8750808" y="289788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중앙 롤링배너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8750808" y="3190494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홈 바로가기]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366760" y="351929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366760" y="351929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750808" y="3501009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CRM 리스트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750808" y="3793617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[MeAI 일반대화] [MeAI 맞춤대화]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8366760" y="41224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366760" y="41224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750808" y="410413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떠 있는 MeAI 버튼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4396740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· 목록 위 둥근 버튼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8366760" y="472554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366760" y="472554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750808" y="4707255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[MeAI 홈]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4999863"/>
            <a:ext cx="28895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· 사용권한이 있어야 사용 가능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366760" y="5349240"/>
            <a:ext cx="3273552" cy="475488"/>
          </a:xfrm>
          <a:prstGeom prst="roundRect">
            <a:avLst>
              <a:gd name="adj" fmla="val 2307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595360" y="5440680"/>
            <a:ext cx="2816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신설 ③④⑤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권한과 상관없이 누구나 사용 가능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새로 생긴 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생긴 문 ③④⑤ 한눈에 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목록에서 바로 대화를 시작하는 ④가 핵심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712653" y="384048"/>
            <a:ext cx="930402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12653" y="384048"/>
            <a:ext cx="9304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 반영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69164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롤링배너 → [MeAI 홈 바로가기]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48640" y="2011680"/>
            <a:ext cx="4206240" cy="1150144"/>
          </a:xfrm>
          <a:prstGeom prst="roundRect">
            <a:avLst>
              <a:gd name="adj" fmla="val 73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4206240" cy="1150144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48640" y="3364992"/>
            <a:ext cx="4206240" cy="256032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364992"/>
            <a:ext cx="4206240" cy="2560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5029200" y="1691640"/>
            <a:ext cx="6611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CRM 리스트 [MeAI 일반대화] [MeAI 맞춤대화] · ⑤ 떠 있는 MeAI 버튼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029200" y="2011680"/>
            <a:ext cx="6611112" cy="3105892"/>
          </a:xfrm>
          <a:prstGeom prst="roundRect">
            <a:avLst>
              <a:gd name="adj" fmla="val 412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011680"/>
            <a:ext cx="6611112" cy="3105892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029200" y="5349240"/>
            <a:ext cx="6611112" cy="960120"/>
          </a:xfrm>
          <a:prstGeom prst="roundRect">
            <a:avLst>
              <a:gd name="adj" fmla="val 11429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57800" y="5440680"/>
            <a:ext cx="6153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④가 핵심인 이유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생일·상령일 목록에서 바로 [MeAI 맞춤대화]를 눌러서 시작.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대화가 한 번에 열림.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MeAI 홈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한 화면에 담길 오늘 연락할 고객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511918" cy="4937760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511918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22855" y="163720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622855" y="163720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149151" y="1851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149151" y="1851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22855" y="29080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22855" y="29080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49151" y="352426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49151" y="35242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2855" y="57022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22855" y="57022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514683" y="13769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514683" y="13769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9224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649224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876288" y="137160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인사 + 최근 업데이트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876288" y="166420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"OO님 안녕하세요" · 오른쪽 '최근 업데이트' = 데이터 기준 시각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92240" y="20939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92240" y="20939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876288" y="2075688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카드 두 장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876288" y="2368296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바로 질문 창, 맞춤대화는 고객 검색 팝업이 먼저 뜸.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6492240" y="27980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9224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876288" y="2779776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고객 숫자 4개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876288" y="307238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맞춤대화 가능 · 동의 필요 · 상품제안 가능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6492240" y="3502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6492240" y="3502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876288" y="3483864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876288" y="3776472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이유가 붙은 카드 3장 × 세트 3개. 화살표로 넘김.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6492240" y="420624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649224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876288" y="4187952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범례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876288" y="4480560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 · 동의 상태 · 고객 유형의 뜻.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6492240" y="4910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6492240" y="4910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876288" y="4892040"/>
            <a:ext cx="47640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스위치·버튼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876288" y="5184648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 ON/OFF · [고객 동의] · [게시판]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6492240" y="5760720"/>
            <a:ext cx="5148072" cy="548640"/>
          </a:xfrm>
          <a:prstGeom prst="roundRect">
            <a:avLst>
              <a:gd name="adj" fmla="val 2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720840" y="5852160"/>
            <a:ext cx="4690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추천 결과는 매일 새로 계산해 다음 날 반영.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5973775" y="1024128"/>
            <a:ext cx="5669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 · 업데이트 시각은 가림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NEW 글씨 확대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작으면, 오른쪽 위 스위치 하나로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홈·고객찾기·게시판 오른쪽 위 [글씨 확대]. 기본은 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78308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· 기본 (글씨 한 단계 크게)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0312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4297680" cy="595063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29718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 · 원래 크기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91840"/>
            <a:ext cx="4297680" cy="595063"/>
          </a:xfrm>
          <a:prstGeom prst="roundRect">
            <a:avLst>
              <a:gd name="adj" fmla="val 1444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291840"/>
            <a:ext cx="4297680" cy="595063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48640" y="4206240"/>
            <a:ext cx="4297680" cy="1143000"/>
          </a:xfrm>
          <a:prstGeom prst="roundRect">
            <a:avLst>
              <a:gd name="adj" fmla="val 96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777240" y="429768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번만 바꾸면 끝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화면이 같이 바뀜.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PC에서는 다음에도 그대로 유지.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5486400"/>
            <a:ext cx="4297680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5577840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OFF는 언제?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더 많이 보고 싶을 때.</a:t>
            </a:r>
            <a:endParaRPr lang="en-US" sz="1150" dirty="0"/>
          </a:p>
        </p:txBody>
      </p:sp>
      <p:sp>
        <p:nvSpPr>
          <p:cNvPr id="19" name="Text 15"/>
          <p:cNvSpPr txBox="1"/>
          <p:nvPr/>
        </p:nvSpPr>
        <p:spPr>
          <a:xfrm>
            <a:off x="525780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57800" y="2103120"/>
            <a:ext cx="3063240" cy="366017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103120"/>
            <a:ext cx="3063240" cy="3660179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549640" y="1783080"/>
            <a:ext cx="3063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OFF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549640" y="2103120"/>
            <a:ext cx="3063240" cy="330672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9640" y="2103120"/>
            <a:ext cx="3063240" cy="330672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57800" y="5989320"/>
            <a:ext cx="6355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대화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대화를 시작할지 먼저 고르기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카드 하나만 누르면, 나머지는 MeAI가 준비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508451"/>
          </a:xfrm>
          <a:prstGeom prst="roundRect">
            <a:avLst>
              <a:gd name="adj" fmla="val 848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50845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520440"/>
            <a:ext cx="544068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3721608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왼쪽 카드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97764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않은 질문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361688"/>
            <a:ext cx="49834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바로 질문 창이 열림.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상품·특약, 화법, 약관, 자사·타사 보장 비교까지.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6217920" y="3520440"/>
            <a:ext cx="5422392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446520" y="3721608"/>
            <a:ext cx="4965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오른쪽(검은) 카드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446520" y="3977640"/>
            <a:ext cx="49651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보장을 함께 보기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446520" y="4361688"/>
            <a:ext cx="496519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고객 검색 팝업이 뜸.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고르면 그 고객 대화가 열림. (PART 3)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48640" y="5303520"/>
            <a:ext cx="11094415" cy="685800"/>
          </a:xfrm>
          <a:prstGeom prst="roundRect">
            <a:avLst>
              <a:gd name="adj" fmla="val 16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5394960"/>
            <a:ext cx="106372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처음엔 일반대화로 감을 익히고, 내 고객을 만나기 전엔 꼭 맞춤대화.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내 고객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아침, 숫자 4개만 훑어보기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숫자가 오늘 할 일의 크기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97729"/>
          </a:xfrm>
          <a:prstGeom prst="roundRect">
            <a:avLst>
              <a:gd name="adj" fmla="val 67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9772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77240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342명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전체 고객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보유·가망·이관을 모두 더한 수.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364992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593592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137명</a:t>
            </a:r>
            <a:endParaRPr lang="en-US" sz="2600" dirty="0"/>
          </a:p>
        </p:txBody>
      </p:sp>
      <p:sp>
        <p:nvSpPr>
          <p:cNvPr id="15" name="Text 12"/>
          <p:cNvSpPr txBox="1"/>
          <p:nvPr/>
        </p:nvSpPr>
        <p:spPr>
          <a:xfrm>
            <a:off x="3593592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3593592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동의일부터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90일이 지나지 않은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바로 시작.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81344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6409944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186명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6409944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 필요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9944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만료된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알림톡부터 보낼 고객.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997696" y="3840480"/>
            <a:ext cx="2651760" cy="19202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9226296" y="4023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84명</a:t>
            </a:r>
            <a:endParaRPr lang="en-US" sz="2600" dirty="0"/>
          </a:p>
        </p:txBody>
      </p:sp>
      <p:sp>
        <p:nvSpPr>
          <p:cNvPr id="23" name="Text 20"/>
          <p:cNvSpPr txBox="1"/>
          <p:nvPr/>
        </p:nvSpPr>
        <p:spPr>
          <a:xfrm>
            <a:off x="9226296" y="45720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상품제안 가능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9226296" y="4919472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"AI 추천 고객" 리본.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숫자는 예시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6156655" y="58978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누른 뒤 화면은 PART 4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오늘의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먼저 고른 오늘 연락할 고객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 · 화살표로 다음 세트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692715" y="1691640"/>
            <a:ext cx="8806265" cy="3931920"/>
          </a:xfrm>
          <a:prstGeom prst="roundRect">
            <a:avLst>
              <a:gd name="adj" fmla="val 32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2715" y="1691640"/>
            <a:ext cx="8806265" cy="39319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927730" y="17138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927730" y="17138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545714" y="224687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45714" y="224687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622240" y="273353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622240" y="27335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004978" y="393087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004978" y="393087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824528" y="420124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824528" y="420124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252171" y="471880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3252171" y="47188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068219" y="191470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068219" y="191470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372988" y="521319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372988" y="521319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48640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548640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877824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구역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3322244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3322244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3651428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095848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095848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6425032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 + 근거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8869451" y="57790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869451" y="57790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9198635" y="5760720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548640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548640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877824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 / 필요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3322244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3322244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3651428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095848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095848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6425032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869451" y="6062472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4"/>
          <p:cNvSpPr txBox="1"/>
          <p:nvPr/>
        </p:nvSpPr>
        <p:spPr>
          <a:xfrm>
            <a:off x="8869451" y="606247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48" name="Text 45"/>
          <p:cNvSpPr txBox="1"/>
          <p:nvPr/>
        </p:nvSpPr>
        <p:spPr>
          <a:xfrm>
            <a:off x="9198635" y="6044184"/>
            <a:ext cx="238955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위치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6156655" y="12527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카드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한 문장이 고객에게 건네는 명분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· 왜 · 언제 · 다음이 카드 한 장에. 이유 문장을 내 말로 풀면 곧 첫 말.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260795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4260795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38193" y="207102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38193" y="207102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449364" y="197063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449364" y="197063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8193" y="258410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38193" y="25841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38193" y="349872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38193" y="349872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38193" y="451372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38193" y="451372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38193" y="49041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38193" y="49041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38193" y="564027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38193" y="56402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53212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53212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916168" y="169164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 · 담당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5916168" y="198424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유형은 보유·가망·이관 중 하나. 긴 이름은 줄여서 표시.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532120" y="23225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553212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5916168" y="230428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추천 고객 리본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916168" y="259689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고객. 상품 제안까지 가능.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532120" y="29352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5532120" y="29352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5916168" y="2916936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916168" y="3209544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아래 굵은 한 문장. "상령일이 2주 남았고 암진단비가 1천만원뿐입니다."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5532120" y="35478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532120" y="35478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5916168" y="3529584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 설명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5916168" y="3822192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지금 좋은 기회인지. 여기서 상담 방향이 정해짐.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5532120" y="41605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55321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5916168" y="4142232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5916168" y="4434840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임박(파랑) #보장 공백(빨강) #당월 타겟(보라)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553212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53212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5916168" y="4754880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D-n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5916168" y="5047488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'필요'면 알림톡으로 동의부터, D-n(남은 날)이 보이면 바로 시작.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5532120" y="53858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5532120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916168" y="5367528"/>
            <a:ext cx="5724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5916168" y="5660136"/>
            <a:ext cx="5724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고객찾기의 이 고객 카드로 바로 이동.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532120" y="6053328"/>
            <a:ext cx="61081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세트 3개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계산되는 카드 9장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783080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3080" y="1371600"/>
            <a:ext cx="2102358" cy="226771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42232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371600"/>
            <a:ext cx="2102358" cy="226771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501384" y="1371600"/>
            <a:ext cx="2102358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1384" y="1371600"/>
            <a:ext cx="2102358" cy="226771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783080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3080" y="3776472"/>
            <a:ext cx="2089196" cy="226771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142232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42232" y="3776472"/>
            <a:ext cx="2089196" cy="2267712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6501384" y="3776472"/>
            <a:ext cx="2089196" cy="226771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384" y="3776472"/>
            <a:ext cx="2089196" cy="2267712"/>
          </a:xfrm>
          <a:prstGeom prst="rect">
            <a:avLst/>
          </a:prstGeom>
        </p:spPr>
      </p:pic>
      <p:sp>
        <p:nvSpPr>
          <p:cNvPr id="18" name="Text 10"/>
          <p:cNvSpPr txBox="1"/>
          <p:nvPr/>
        </p:nvSpPr>
        <p:spPr>
          <a:xfrm>
            <a:off x="548640" y="227685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2</a:t>
            </a:r>
            <a:endParaRPr lang="en-US" sz="1600" dirty="0"/>
          </a:p>
        </p:txBody>
      </p:sp>
      <p:sp>
        <p:nvSpPr>
          <p:cNvPr id="19" name="Text 11"/>
          <p:cNvSpPr txBox="1"/>
          <p:nvPr/>
        </p:nvSpPr>
        <p:spPr>
          <a:xfrm>
            <a:off x="548640" y="468172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세트 3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8869680" y="1371600"/>
            <a:ext cx="2770632" cy="4672584"/>
          </a:xfrm>
          <a:prstGeom prst="roundRect">
            <a:avLst>
              <a:gd name="adj" fmla="val 462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9144000" y="1783080"/>
            <a:ext cx="22219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9장</a:t>
            </a:r>
            <a:endParaRPr lang="en-US" sz="4400" dirty="0"/>
          </a:p>
        </p:txBody>
      </p:sp>
      <p:sp>
        <p:nvSpPr>
          <p:cNvPr id="22" name="Text 14"/>
          <p:cNvSpPr txBox="1"/>
          <p:nvPr/>
        </p:nvSpPr>
        <p:spPr>
          <a:xfrm>
            <a:off x="9144000" y="2633472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3장 × 세트 3개</a:t>
            </a:r>
            <a:endParaRPr lang="en-US" sz="1500" dirty="0"/>
          </a:p>
        </p:txBody>
      </p:sp>
      <p:sp>
        <p:nvSpPr>
          <p:cNvPr id="23" name="Text 15"/>
          <p:cNvSpPr txBox="1"/>
          <p:nvPr/>
        </p:nvSpPr>
        <p:spPr>
          <a:xfrm>
            <a:off x="9144000" y="3017520"/>
            <a:ext cx="22219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화살표를 누를 때마다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세트 3장이 나옴.</a:t>
            </a:r>
            <a:endParaRPr lang="en-US" sz="1250" dirty="0"/>
          </a:p>
        </p:txBody>
      </p:sp>
      <p:sp>
        <p:nvSpPr>
          <p:cNvPr id="24" name="Shape 16"/>
          <p:cNvSpPr/>
          <p:nvPr/>
        </p:nvSpPr>
        <p:spPr>
          <a:xfrm>
            <a:off x="9144000" y="4023360"/>
            <a:ext cx="2221992" cy="0"/>
          </a:xfrm>
          <a:prstGeom prst="line">
            <a:avLst/>
          </a:prstGeom>
          <a:noFill/>
          <a:ln w="12700">
            <a:solidFill>
              <a:srgbClr val="C9E2FF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9144000" y="4343400"/>
            <a:ext cx="22219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반영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9144000" y="4681728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데이터와 추천 결과는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날 MeAI 홈에 반영.</a:t>
            </a:r>
            <a:endParaRPr lang="en-US" sz="1250" dirty="0"/>
          </a:p>
        </p:txBody>
      </p:sp>
      <p:sp>
        <p:nvSpPr>
          <p:cNvPr id="27" name="Text 19"/>
          <p:cNvSpPr txBox="1"/>
          <p:nvPr/>
        </p:nvSpPr>
        <p:spPr>
          <a:xfrm>
            <a:off x="9144000" y="5303520"/>
            <a:ext cx="22219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고객찾기의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고객으로 바로 이동.</a:t>
            </a:r>
            <a:endParaRPr lang="en-US" sz="1150" dirty="0"/>
          </a:p>
        </p:txBody>
      </p:sp>
      <p:sp>
        <p:nvSpPr>
          <p:cNvPr id="28" name="Text 20"/>
          <p:cNvSpPr txBox="1"/>
          <p:nvPr/>
        </p:nvSpPr>
        <p:spPr>
          <a:xfrm>
            <a:off x="548640" y="608076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숫자는 예시 · 세트 1은 생략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추천 이유의 종류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고객을 추천하는 이유 세 갈래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9장의 이유를 세 갈래로 나눔. 카드 태그와는 다른 분류.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05610" y="1691640"/>
            <a:ext cx="1252220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705610" y="1691640"/>
            <a:ext cx="12522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일정형 · 이벤트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0299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129417" y="2395728"/>
            <a:ext cx="2404607" cy="26060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417" y="2395728"/>
            <a:ext cx="2404607" cy="2606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1206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골랐나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3400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· 만기 · 상령일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587111" y="1691640"/>
            <a:ext cx="1014730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587111" y="1691640"/>
            <a:ext cx="1014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공백형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311396" y="20299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제안이 정해진 카드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4894031" y="2395728"/>
            <a:ext cx="2400890" cy="26060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4031" y="2395728"/>
            <a:ext cx="2400890" cy="26060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4311396" y="51206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골랐나</a:t>
            </a:r>
            <a:endParaRPr lang="en-US" sz="1000" dirty="0"/>
          </a:p>
        </p:txBody>
      </p:sp>
      <p:sp>
        <p:nvSpPr>
          <p:cNvPr id="20" name="Text 16"/>
          <p:cNvSpPr txBox="1"/>
          <p:nvPr/>
        </p:nvSpPr>
        <p:spPr>
          <a:xfrm>
            <a:off x="4311396" y="53400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실손 · 수술비 · 진단비, 비어 있는 담보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9510522" y="1691640"/>
            <a:ext cx="693420" cy="256032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510522" y="1691640"/>
            <a:ext cx="6934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관계형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8074152" y="202996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만남의 명분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654929" y="2395728"/>
            <a:ext cx="2404607" cy="260604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4929" y="2395728"/>
            <a:ext cx="2404607" cy="260604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074152" y="5120640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보고 골랐나</a:t>
            </a:r>
            <a:endParaRPr lang="en-US" sz="1000" dirty="0"/>
          </a:p>
        </p:txBody>
      </p:sp>
      <p:sp>
        <p:nvSpPr>
          <p:cNvPr id="27" name="Text 22"/>
          <p:cNvSpPr txBox="1"/>
          <p:nvPr/>
        </p:nvSpPr>
        <p:spPr>
          <a:xfrm>
            <a:off x="8074152" y="534009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CRM 상담 이력 · 접촉 공백</a:t>
            </a:r>
            <a:endParaRPr lang="en-US" sz="115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585216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이름과 문구는 예시 · 정재민 카드 태그는 #당월 타겟, 이유는 보장 공백 → 태그와 이유 갈래는 다른 분류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범례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태그·동의·유형, 색으로 읽기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맨 아래 범례. 추천 카드 태그 3종은 아래에 따로 정리.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815450"/>
          </a:xfrm>
          <a:prstGeom prst="roundRect">
            <a:avLst>
              <a:gd name="adj" fmla="val 705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1094415" cy="181545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931920"/>
            <a:ext cx="11094415" cy="237744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868680" y="41879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태그 3종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68680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68680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#보장 공백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담보가 있음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4353458" y="4800600"/>
            <a:ext cx="1070102" cy="38404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3458" y="4800600"/>
            <a:ext cx="10701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#당월 타겟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4353458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영업 목표 대상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7838237" y="4800600"/>
            <a:ext cx="1235202" cy="38404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838237" y="4800600"/>
            <a:ext cx="123520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838237" y="5330952"/>
            <a:ext cx="321045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만기·동의 만료·상령일이 코앞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그룹 태그는 PART 4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 · 길 안내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가는 곳, 다섯 군데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카드나 버튼을 한 번 누르면 이동. 돌아올 땐 어디서든 왼쪽 위 [MeAI 홈].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3291840"/>
            <a:ext cx="2697480" cy="1188720"/>
          </a:xfrm>
          <a:prstGeom prst="roundRect">
            <a:avLst>
              <a:gd name="adj" fmla="val 1230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754880" y="333756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38862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→ MeAI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468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578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2944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246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창. 상품·약관·화법.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8736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4531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고객 검색 팝업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47548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고르면 그 고객의 대화가 열림. (PART 3)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138160" y="173736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66760" y="18470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고객찾기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221284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 →] 버튼 · 추천 카드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8366760" y="25146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고객 목록과 다음 행동. (PART 4)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8160" y="324612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8366760" y="33558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8366760" y="37216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[게시판] 버튼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836676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공지·이슈·기능안내. 빨간 점은 새 글. (PART 5)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38160" y="4754880"/>
            <a:ext cx="352044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366760" y="48646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동의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8366760" y="52303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[고객 동의] 버튼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5532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→ 동의 요청 알림톡. (PART 5)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4069080" y="313182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 flipV="1">
            <a:off x="4069080" y="4206240"/>
            <a:ext cx="685800" cy="434340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7452360" y="2395728"/>
            <a:ext cx="685800" cy="1033272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7452360" y="3904488"/>
            <a:ext cx="685800" cy="9144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7452360" y="4343400"/>
            <a:ext cx="685800" cy="1069848"/>
          </a:xfrm>
          <a:prstGeom prst="line">
            <a:avLst/>
          </a:prstGeom>
          <a:noFill/>
          <a:ln w="15875">
            <a:solidFill>
              <a:srgbClr val="D1D6DB"/>
            </a:solidFill>
            <a:prstDash val="dash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맞춤대화로 가는 두 길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팝업과 추천 카드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 검색 팝업, 고민이면 추천 카드.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 · 고객 검색 팝업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2 · 추천 카드 → 고객찾기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사이클에서 이 파트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1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알면, 고객 검색 팝업으로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홈의 검은 맞춤대화 카드를 누르면 열림. 고객을 고르면 바로 시작.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243667" cy="46177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243667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330251" y="181550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330251" y="18155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79873" y="23020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79873" y="23020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68956" y="2630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068956" y="2630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037551" y="285167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037551" y="285167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132288" y="262191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132288" y="262191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50048" y="592865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50048" y="592865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3177339" y="178847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3177339" y="178847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34340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434340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4727448" y="169164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4727448" y="198424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"고객을 선택하면 맞춤대화를 시작합니다"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343400" y="23591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343400" y="2359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4727448" y="234086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4727448" y="263347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검색됨. 담당자 이름으로도 검색 가능.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343400" y="30083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4343400" y="30083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4727448" y="2990088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61명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4727448" y="3282696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유효한 고객만 · 가나다순.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4343400" y="36576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4343400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4727448" y="3639312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4727448" y="3931920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 만료까지 남은 날. 오늘 철회한 고객은 회색.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343400" y="43068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4343400" y="43068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4727448" y="4288536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버튼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4727448" y="4581144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팝업이 닫히고 그 고객의 맞춤대화 시작.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343400" y="4956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4343400" y="4956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4727448" y="4937760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6" name="Text 43"/>
          <p:cNvSpPr txBox="1"/>
          <p:nvPr/>
        </p:nvSpPr>
        <p:spPr>
          <a:xfrm>
            <a:off x="4727448" y="5230368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쪽에 10명. 이름으로 찾으면 넘길 일이 거의 없음.</a:t>
            </a:r>
            <a:endParaRPr lang="en-US" sz="1200" dirty="0"/>
          </a:p>
        </p:txBody>
      </p:sp>
      <p:sp>
        <p:nvSpPr>
          <p:cNvPr id="47" name="Shape 44"/>
          <p:cNvSpPr/>
          <p:nvPr/>
        </p:nvSpPr>
        <p:spPr>
          <a:xfrm>
            <a:off x="4343400" y="5605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4343400" y="5605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4727448" y="5586984"/>
            <a:ext cx="69128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닫기(X)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4727448" y="5879592"/>
            <a:ext cx="6912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홈으로 이동. 검색어는 지워짐.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이름으로 찾기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글자만 넣어도 좁혀지는 목록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성만 알아도 검색 가능. 담당자 이름으로도 검색.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045032" cy="4343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045032" cy="43434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62472"/>
            <a:ext cx="304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 입력 → 김씨 고객 + 담당자 김OO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934531" y="22551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934531" y="22551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1577371" y="318558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1577371" y="3185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069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069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4453128" y="16916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글자부터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453128" y="19842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"김"만 넣어도 김씨 고객이 모두 보임. 입력하는 즉시 걸러짐.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069080" y="2395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069080" y="2395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4453128" y="2377440"/>
            <a:ext cx="7187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이름이 같아도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453128" y="2670048"/>
            <a:ext cx="7187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나이·담당자가 함께 보여 구분 가능.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069080" y="3291840"/>
            <a:ext cx="4434214" cy="2697480"/>
          </a:xfrm>
          <a:prstGeom prst="roundRect">
            <a:avLst>
              <a:gd name="adj" fmla="val 328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9080" y="3291840"/>
            <a:ext cx="4434214" cy="269748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4069080" y="6035040"/>
            <a:ext cx="44342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없는 이름 → "조건에 맞는 고객이 없습니다"</a:t>
            </a:r>
            <a:endParaRPr lang="en-US" sz="1000" dirty="0"/>
          </a:p>
        </p:txBody>
      </p:sp>
      <p:sp>
        <p:nvSpPr>
          <p:cNvPr id="25" name="Shape 21"/>
          <p:cNvSpPr/>
          <p:nvPr/>
        </p:nvSpPr>
        <p:spPr>
          <a:xfrm>
            <a:off x="4609557" y="514410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4609557" y="514410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8823334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8823334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9207382" y="3291840"/>
            <a:ext cx="243567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없으면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9207382" y="3584448"/>
            <a:ext cx="243567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"조건에 맞는 고객이 없습니다."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등록·동의 여부부터 확인.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동의 상태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D-n이면 바로, 회색이면 동의부터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만료된 고객은 목록에 없고, 오늘 철회한 고객은 회색.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15200" cy="86321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58775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유효 · D-26 · [맞춤대화] 활성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01752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17520"/>
            <a:ext cx="7315200" cy="86321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8640" y="391363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하루 전 · D-1 · 아직 시작 가능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4343400"/>
            <a:ext cx="7315200" cy="863216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343400"/>
            <a:ext cx="7315200" cy="86321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48640" y="523951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철회 · 회색 · 정보를 볼 수 없음 · [맞춤대화] 비활성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48640" y="5577840"/>
            <a:ext cx="7315200" cy="731520"/>
          </a:xfrm>
          <a:prstGeom prst="roundRect">
            <a:avLst>
              <a:gd name="adj" fmla="val 1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777240" y="566928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다시 받기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전이면 고객찾기 [사전동의 만료] 그룹에서 미리 챙기기.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만료됐으면 고객찾기 [사전조회동의 요청하기] 또는 MeAI 홈 [고객 동의]로 다시 발송.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138160" y="1691640"/>
            <a:ext cx="3502152" cy="1920240"/>
          </a:xfrm>
          <a:prstGeom prst="roundRect">
            <a:avLst>
              <a:gd name="adj" fmla="val 5714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366760" y="1783080"/>
            <a:ext cx="30449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먼저인 이유  </a:t>
            </a:r>
            <a:pPr indent="0" marL="0">
              <a:lnSpc>
                <a:spcPct val="130000"/>
              </a:lnSpc>
              <a:buNone/>
            </a:pP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읽고 답변.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90일 동안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가능.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동의하면 15분 안팎으로 반영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(게시판 공지)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8138160" y="3794760"/>
            <a:ext cx="3502152" cy="2514600"/>
          </a:xfrm>
          <a:prstGeom prst="roundRect">
            <a:avLst>
              <a:gd name="adj" fmla="val 4364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66760" y="3886200"/>
            <a:ext cx="3044952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화법  </a:t>
            </a:r>
            <a:pPr indent="0" marL="0">
              <a:lnSpc>
                <a:spcPct val="130000"/>
              </a:lnSpc>
              <a:buNone/>
            </a:pP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"보장을 정확히 보고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말씀드리려면 동의가 필요해요.</a:t>
            </a:r>
            <a:endParaRPr lang="en-US" sz="14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알림톡으로 금방 끝나요."</a:t>
            </a:r>
            <a:endParaRPr lang="en-US" sz="14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 · 길 2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고민이면 추천 카드, 클릭 두 번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한 번, 추천 질문에서 한 번. 고객과 질문이 정해진 채로 맞춤대화 시작.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534095" y="125272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이름·질문 문장은 예시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717732"/>
            <a:ext cx="2651760" cy="2873897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17732"/>
            <a:ext cx="2651760" cy="2873897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752266" y="4142727"/>
            <a:ext cx="2253765" cy="259160"/>
          </a:xfrm>
          <a:prstGeom prst="roundRect">
            <a:avLst>
              <a:gd name="adj" fmla="val 21170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379412" y="3939101"/>
            <a:ext cx="626618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379412" y="3939101"/>
            <a:ext cx="6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1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48640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48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추천 카드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맨 아래 버튼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 누르기.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3127248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8" name="Shape 15"/>
          <p:cNvSpPr/>
          <p:nvPr/>
        </p:nvSpPr>
        <p:spPr>
          <a:xfrm>
            <a:off x="3364992" y="2233411"/>
            <a:ext cx="2651760" cy="1842537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233411"/>
            <a:ext cx="2651760" cy="1842537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364992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3364992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730752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펼친 카드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3364992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이유·태그와 한눈에 보기 6칸 훑어보기.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5943600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25" name="Shape 21"/>
          <p:cNvSpPr/>
          <p:nvPr/>
        </p:nvSpPr>
        <p:spPr>
          <a:xfrm>
            <a:off x="6181344" y="1678132"/>
            <a:ext cx="2651760" cy="29530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78132"/>
            <a:ext cx="2651760" cy="2953096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6313932" y="3016065"/>
            <a:ext cx="2392611" cy="491178"/>
          </a:xfrm>
          <a:prstGeom prst="roundRect">
            <a:avLst>
              <a:gd name="adj" fmla="val 11170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031711" y="2925664"/>
            <a:ext cx="626618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031711" y="2925664"/>
            <a:ext cx="6266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클릭 2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6181344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6"/>
          <p:cNvSpPr txBox="1"/>
          <p:nvPr/>
        </p:nvSpPr>
        <p:spPr>
          <a:xfrm>
            <a:off x="6181344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6547104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맞춤대화 질문</a:t>
            </a:r>
            <a:endParaRPr lang="en-US" sz="1300" dirty="0"/>
          </a:p>
        </p:txBody>
      </p:sp>
      <p:sp>
        <p:nvSpPr>
          <p:cNvPr id="33" name="Text 28"/>
          <p:cNvSpPr txBox="1"/>
          <p:nvPr/>
        </p:nvSpPr>
        <p:spPr>
          <a:xfrm>
            <a:off x="6181344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오른쪽의 빨간 맞춤대화 질문 누르기.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없이 열 땐 아래 빨간 버튼.</a:t>
            </a:r>
            <a:endParaRPr lang="en-US" sz="1200" dirty="0"/>
          </a:p>
        </p:txBody>
      </p:sp>
      <p:sp>
        <p:nvSpPr>
          <p:cNvPr id="34" name="Text 29"/>
          <p:cNvSpPr txBox="1"/>
          <p:nvPr/>
        </p:nvSpPr>
        <p:spPr>
          <a:xfrm>
            <a:off x="8759952" y="29260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35" name="Shape 30"/>
          <p:cNvSpPr/>
          <p:nvPr/>
        </p:nvSpPr>
        <p:spPr>
          <a:xfrm>
            <a:off x="8997696" y="1784886"/>
            <a:ext cx="2651760" cy="27395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6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1784886"/>
            <a:ext cx="2651760" cy="2739589"/>
          </a:xfrm>
          <a:prstGeom prst="rect">
            <a:avLst/>
          </a:prstGeom>
        </p:spPr>
      </p:pic>
      <p:sp>
        <p:nvSpPr>
          <p:cNvPr id="37" name="Shape 31"/>
          <p:cNvSpPr/>
          <p:nvPr/>
        </p:nvSpPr>
        <p:spPr>
          <a:xfrm>
            <a:off x="9034854" y="4071817"/>
            <a:ext cx="2594333" cy="249975"/>
          </a:xfrm>
          <a:prstGeom prst="roundRect">
            <a:avLst>
              <a:gd name="adj" fmla="val 21948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8" name="Shape 32"/>
          <p:cNvSpPr/>
          <p:nvPr/>
        </p:nvSpPr>
        <p:spPr>
          <a:xfrm>
            <a:off x="10594773" y="3820154"/>
            <a:ext cx="1034415" cy="237744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10594773" y="3820154"/>
            <a:ext cx="103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채워짐</a:t>
            </a:r>
            <a:endParaRPr lang="en-US" sz="950" dirty="0"/>
          </a:p>
        </p:txBody>
      </p:sp>
      <p:sp>
        <p:nvSpPr>
          <p:cNvPr id="40" name="Shape 34"/>
          <p:cNvSpPr/>
          <p:nvPr/>
        </p:nvSpPr>
        <p:spPr>
          <a:xfrm>
            <a:off x="8997696" y="4791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5"/>
          <p:cNvSpPr txBox="1"/>
          <p:nvPr/>
        </p:nvSpPr>
        <p:spPr>
          <a:xfrm>
            <a:off x="8997696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Text 36"/>
          <p:cNvSpPr txBox="1"/>
          <p:nvPr/>
        </p:nvSpPr>
        <p:spPr>
          <a:xfrm>
            <a:off x="9363456" y="4773168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질문까지 준비</a:t>
            </a:r>
            <a:endParaRPr lang="en-US" sz="1300" dirty="0"/>
          </a:p>
        </p:txBody>
      </p:sp>
      <p:sp>
        <p:nvSpPr>
          <p:cNvPr id="43" name="Text 37"/>
          <p:cNvSpPr txBox="1"/>
          <p:nvPr/>
        </p:nvSpPr>
        <p:spPr>
          <a:xfrm>
            <a:off x="8997696" y="5175504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서은아님 맞춤대화가 열리고, 입력창에 질문이 채워져 있음. 보내기만 누르면 끝.</a:t>
            </a:r>
            <a:endParaRPr lang="en-US" sz="1200" dirty="0"/>
          </a:p>
        </p:txBody>
      </p:sp>
      <p:sp>
        <p:nvSpPr>
          <p:cNvPr id="44" name="Shape 38"/>
          <p:cNvSpPr/>
          <p:nvPr/>
        </p:nvSpPr>
        <p:spPr>
          <a:xfrm>
            <a:off x="548640" y="5943600"/>
            <a:ext cx="11094415" cy="384048"/>
          </a:xfrm>
          <a:prstGeom prst="roundRect">
            <a:avLst>
              <a:gd name="adj" fmla="val 28571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777240" y="6035040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길의 차이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 1은 연락할 고객이 이미 정해진 날, 길 2는 "오늘 누구에게 연락할까?"가 고민인 날. 둘 다 그 고객의 맞춤대화로 이어짐.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MeAI가 그룹으로 묶어 둔 내 고객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35명", 그룹을 누르면 그 고객만 모아 보기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왼쪽에서 오른쪽으로 읽는 3단 화면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14개와 설명 문구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 · 한눈에 보기 6칸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동의별 다음 행동 · 검색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사이클에서 이 파트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화면 구성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고객찾기는 왼쪽에서 오른쪽으로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고르고 → 펼쳐 보고 → MeAI 대화하고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388352" cy="4617720"/>
          </a:xfrm>
          <a:prstGeom prst="roundRect">
            <a:avLst>
              <a:gd name="adj" fmla="val 27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388352" cy="461772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162812" y="204927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162812" y="20492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04162" y="26957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04162" y="26957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071470" y="207492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071470" y="207492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293106" y="266496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93106" y="2664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978609" y="477885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1978609" y="477885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606591" y="2285289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606591" y="2285289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7699451" y="381426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699451" y="381426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2419858" y="16952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2419858" y="16952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293612" y="192100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293612" y="192100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7040880" y="1796796"/>
            <a:ext cx="667512" cy="1097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66760" y="1664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366760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8750808" y="164592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8750808" y="1938528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연락할 이유별로 묶인 그룹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8366760" y="21838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8366760" y="21838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8750808" y="2165604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탭 전환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8750808" y="2458212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8366760" y="270357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8366760" y="2703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8750808" y="268528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50808" y="2977896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묶인 이유 한 줄 · [전체] 필터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8366760" y="32232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366760" y="32232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8750808" y="320497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펼친 카드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750808" y="3497580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· 태그 · 한눈에 보기 6칸</a:t>
            </a:r>
            <a:endParaRPr lang="en-US" sz="1000" dirty="0"/>
          </a:p>
        </p:txBody>
      </p:sp>
      <p:sp>
        <p:nvSpPr>
          <p:cNvPr id="44" name="Shape 41"/>
          <p:cNvSpPr/>
          <p:nvPr/>
        </p:nvSpPr>
        <p:spPr>
          <a:xfrm>
            <a:off x="8366760" y="37429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5" name="Text 42"/>
          <p:cNvSpPr txBox="1"/>
          <p:nvPr/>
        </p:nvSpPr>
        <p:spPr>
          <a:xfrm>
            <a:off x="8366760" y="37429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8750808" y="3724656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750808" y="4017264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펼쳐지고 오른쪽 패널도 바뀜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8366760" y="42626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9" name="Text 46"/>
          <p:cNvSpPr txBox="1"/>
          <p:nvPr/>
        </p:nvSpPr>
        <p:spPr>
          <a:xfrm>
            <a:off x="8366760" y="42626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8750808" y="4244340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750808" y="4536948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· 맞춤대화용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8366760" y="478231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8366760" y="4782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750808" y="4764024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버튼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8750808" y="5056632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· [맞춤대화 시작]</a:t>
            </a:r>
            <a:endParaRPr lang="en-US" sz="1000" dirty="0"/>
          </a:p>
        </p:txBody>
      </p:sp>
      <p:sp>
        <p:nvSpPr>
          <p:cNvPr id="56" name="Shape 53"/>
          <p:cNvSpPr/>
          <p:nvPr/>
        </p:nvSpPr>
        <p:spPr>
          <a:xfrm>
            <a:off x="8366760" y="530199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7" name="Text 54"/>
          <p:cNvSpPr txBox="1"/>
          <p:nvPr/>
        </p:nvSpPr>
        <p:spPr>
          <a:xfrm>
            <a:off x="8366760" y="53019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750808" y="5283708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8750808" y="5576316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이름·조건으로 검색</a:t>
            </a:r>
            <a:endParaRPr lang="en-US" sz="1000" dirty="0"/>
          </a:p>
        </p:txBody>
      </p:sp>
      <p:sp>
        <p:nvSpPr>
          <p:cNvPr id="60" name="Shape 57"/>
          <p:cNvSpPr/>
          <p:nvPr/>
        </p:nvSpPr>
        <p:spPr>
          <a:xfrm>
            <a:off x="8366760" y="582168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61" name="Text 58"/>
          <p:cNvSpPr txBox="1"/>
          <p:nvPr/>
        </p:nvSpPr>
        <p:spPr>
          <a:xfrm>
            <a:off x="8366760" y="5821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2" name="Text 59"/>
          <p:cNvSpPr txBox="1"/>
          <p:nvPr/>
        </p:nvSpPr>
        <p:spPr>
          <a:xfrm>
            <a:off x="8750808" y="5803392"/>
            <a:ext cx="2889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[글씨 확대]</a:t>
            </a:r>
            <a:endParaRPr lang="en-US" sz="1200" dirty="0"/>
          </a:p>
        </p:txBody>
      </p:sp>
      <p:sp>
        <p:nvSpPr>
          <p:cNvPr id="63" name="Text 60"/>
          <p:cNvSpPr txBox="1"/>
          <p:nvPr/>
        </p:nvSpPr>
        <p:spPr>
          <a:xfrm>
            <a:off x="8750808" y="6096000"/>
            <a:ext cx="2889504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ON, 끄면 원래 크기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그룹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이름이 곧 연락 이유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10개 · 영업 기회 3개 · 신규 등록. 인원은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611295" cy="4315968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1611295" cy="43159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53328"/>
            <a:ext cx="16112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기준 탭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377440" y="1691640"/>
            <a:ext cx="1965960" cy="2668089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691640"/>
            <a:ext cx="1965960" cy="266808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377440" y="4405449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2377440" y="4846320"/>
            <a:ext cx="1965960" cy="502920"/>
          </a:xfrm>
          <a:prstGeom prst="roundRect">
            <a:avLst>
              <a:gd name="adj" fmla="val 2181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606040" y="4937760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색은 36쪽 참고</a:t>
            </a:r>
            <a:endParaRPr lang="en-US" sz="10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0" y="1691640"/>
          <a:ext cx="706831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3639312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누가 들어오나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우선순위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아직 분류 전인 신규 고객 · 다음 날 반영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암·뇌·심진단비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진단비 2천만원 이하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· 종수술비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5천만원 이하 · 종수술비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 · 치아 부족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간병인지원 입원일당 · 치아보철 없음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회사 전략 담보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 (최상)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 · 월 50만원 이상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증권이 많거나 보험료가 큰 우량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· 생일 임박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 안에 보험 나이가 오름 · 곧 생일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04452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 NEW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임박 · 재동의 대상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1"/>
          <p:cNvSpPr txBox="1"/>
          <p:nvPr/>
        </p:nvSpPr>
        <p:spPr>
          <a:xfrm>
            <a:off x="4572000" y="5897880"/>
            <a:ext cx="70683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들 수 있음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설명 한 줄이 곧 상담 화법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그룹을 누르면 설명이 생성. 앞은 그룹 기준, 뒤는 고객 맞춤 화법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766560" cy="1249211"/>
          </a:xfrm>
          <a:prstGeom prst="roundRect">
            <a:avLst>
              <a:gd name="adj" fmla="val 102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766560" cy="124921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315468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6766560" cy="1186211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293034" y="191095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2293034" y="191095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043823" y="255117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1043823" y="25511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2017785" y="395851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2017785" y="39585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548640" y="4617720"/>
            <a:ext cx="6766560" cy="1186211"/>
          </a:xfrm>
          <a:prstGeom prst="roundRect">
            <a:avLst>
              <a:gd name="adj" fmla="val 107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617720"/>
            <a:ext cx="6766560" cy="1186211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1177123" y="54215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1177123" y="54215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7680960" y="18013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7"/>
          <p:cNvSpPr txBox="1"/>
          <p:nvPr/>
        </p:nvSpPr>
        <p:spPr>
          <a:xfrm>
            <a:off x="7680960" y="18013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18"/>
          <p:cNvSpPr txBox="1"/>
          <p:nvPr/>
        </p:nvSpPr>
        <p:spPr>
          <a:xfrm>
            <a:off x="8065008" y="17830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이름 · 인원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065008" y="207568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 부족 35명" · [전체]로 동의 고객만 골라 보기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768096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1"/>
          <p:cNvSpPr txBox="1"/>
          <p:nvPr/>
        </p:nvSpPr>
        <p:spPr>
          <a:xfrm>
            <a:off x="768096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2"/>
          <p:cNvSpPr txBox="1"/>
          <p:nvPr/>
        </p:nvSpPr>
        <p:spPr>
          <a:xfrm>
            <a:off x="8065008" y="26517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 한 줄</a:t>
            </a:r>
            <a:endParaRPr lang="en-US" sz="1400" dirty="0"/>
          </a:p>
        </p:txBody>
      </p:sp>
      <p:sp>
        <p:nvSpPr>
          <p:cNvPr id="28" name="Text 23"/>
          <p:cNvSpPr txBox="1"/>
          <p:nvPr/>
        </p:nvSpPr>
        <p:spPr>
          <a:xfrm>
            <a:off x="8065008" y="294436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앞은 묶인 기준, 뒤는 말할 방향(화법)</a:t>
            </a:r>
            <a:endParaRPr lang="en-US" sz="1200" dirty="0"/>
          </a:p>
        </p:txBody>
      </p:sp>
      <p:sp>
        <p:nvSpPr>
          <p:cNvPr id="29" name="Shape 24"/>
          <p:cNvSpPr/>
          <p:nvPr/>
        </p:nvSpPr>
        <p:spPr>
          <a:xfrm>
            <a:off x="7680960" y="3538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5"/>
          <p:cNvSpPr txBox="1"/>
          <p:nvPr/>
        </p:nvSpPr>
        <p:spPr>
          <a:xfrm>
            <a:off x="7680960" y="3538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6"/>
          <p:cNvSpPr txBox="1"/>
          <p:nvPr/>
        </p:nvSpPr>
        <p:spPr>
          <a:xfrm>
            <a:off x="8065008" y="35204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첫 말로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065008" y="381304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"재활·간병 기간이 길어 진단비가 곧 생활비예요."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768096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29"/>
          <p:cNvSpPr txBox="1"/>
          <p:nvPr/>
        </p:nvSpPr>
        <p:spPr>
          <a:xfrm>
            <a:off x="768096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0"/>
          <p:cNvSpPr txBox="1"/>
          <p:nvPr/>
        </p:nvSpPr>
        <p:spPr>
          <a:xfrm>
            <a:off x="8065008" y="43891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임박이면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8065008" y="4681728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축하 인사로 열고, MeAI 맞춤대화 보장 점검</a:t>
            </a:r>
            <a:endParaRPr lang="en-US" sz="1200" dirty="0"/>
          </a:p>
        </p:txBody>
      </p:sp>
      <p:sp>
        <p:nvSpPr>
          <p:cNvPr id="37" name="Shape 32"/>
          <p:cNvSpPr/>
          <p:nvPr/>
        </p:nvSpPr>
        <p:spPr>
          <a:xfrm>
            <a:off x="7680960" y="5276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3"/>
          <p:cNvSpPr txBox="1"/>
          <p:nvPr/>
        </p:nvSpPr>
        <p:spPr>
          <a:xfrm>
            <a:off x="7680960" y="5276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4"/>
          <p:cNvSpPr txBox="1"/>
          <p:nvPr/>
        </p:nvSpPr>
        <p:spPr>
          <a:xfrm>
            <a:off x="8065008" y="52578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문자 초안은 MeAI에게</a:t>
            </a:r>
            <a:endParaRPr lang="en-US" sz="1400" dirty="0"/>
          </a:p>
        </p:txBody>
      </p:sp>
      <p:sp>
        <p:nvSpPr>
          <p:cNvPr id="40" name="Text 35"/>
          <p:cNvSpPr txBox="1"/>
          <p:nvPr/>
        </p:nvSpPr>
        <p:spPr>
          <a:xfrm>
            <a:off x="8065008" y="5550408"/>
            <a:ext cx="3575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일반대화 추천 질문을 누르면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그룹에 보낼 안내 문자 초안이 완성(PART 8)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설명 문구 모음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그룹별 한 줄 화법 모음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설명 문구에서 기준 문장 뒤의 화법만 모음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8988552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그룹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화면의 화법 문장 (그대로)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암진단비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치료비 실제 부담액을 기준으로 설명하면 필요가 분명해집니다.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뇌질환은 재활·간병 기간이 길어 진단비가 곧 생활비 대체 수단이 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심진단비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심장질환은 시술 반복과 재발이 잦아 한 번의 진단비로는 부족합니다.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표적항암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표적·면역 항암은 회차당 비용이 커서 별도 특약 없이는 감당이 어렵습니다.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종수술비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수술은 암보다 발생 빈도가 높아 실제 청구가 가장 많이 일어나는 담보입니다.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지원일당 없음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간병비는 하루 단위로 나가는 실지출이라 일당이 없으면 부담이 그대로 남습니다.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치아 부족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임플란트·브릿지는 실손으로 보장되지 않아 전액 본인 부담입니다.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안에 우선 접촉하는 것이 유리합니다.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증권 5건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보험에 대한 관심과 니즈가 높은 고객입니다.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 50만원 이상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납입 규모가 큰 편이므로 보험료 대비 보장 수준을 점검할 대상입니다.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보장을 더 싸게 준비할 수 있는 마지막 구간입니다.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생일 임박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축하 인사로 대화를 열고 자연스럽게 보장 점검으로 이어가기 좋은 시점입니다.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사전동의 만료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만료 전에 재동의를 받아야 이후에도 안내와 연락을 이어갈 수 있습니다.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신규 등록 고객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상세 정보는 익일 반영됩니다.</a:t>
                      </a:r>
                      <a:endParaRPr lang="en-US" sz="11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27000" marR="127000" marT="25400" marB="254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8640" y="603504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2026.09.29 확정 화면 기준 · 오픈 시 바뀔 수 있음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고객 카드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펼쳐지는 여섯 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766560" cy="1148644"/>
          </a:xfrm>
          <a:prstGeom prst="roundRect">
            <a:avLst>
              <a:gd name="adj" fmla="val 111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766560" cy="11486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25568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접힌 카드 · AI 추천 고객 리본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5550292" cy="3383280"/>
          </a:xfrm>
          <a:prstGeom prst="roundRect">
            <a:avLst>
              <a:gd name="adj" fmla="val 32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26080"/>
            <a:ext cx="5550292" cy="3383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01757" y="30532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401757" y="30532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01757" y="345585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401757" y="345585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892093" y="339589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892093" y="33958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01757" y="384129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401757" y="384129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01757" y="426955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401757" y="42695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892093" y="51260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5892093" y="51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76809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76809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1"/>
          <p:cNvSpPr txBox="1"/>
          <p:nvPr/>
        </p:nvSpPr>
        <p:spPr>
          <a:xfrm>
            <a:off x="8065008" y="14630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나이 · 유형</a:t>
            </a:r>
            <a:endParaRPr lang="en-US" sz="1350" dirty="0"/>
          </a:p>
        </p:txBody>
      </p:sp>
      <p:sp>
        <p:nvSpPr>
          <p:cNvPr id="26" name="Text 22"/>
          <p:cNvSpPr txBox="1"/>
          <p:nvPr/>
        </p:nvSpPr>
        <p:spPr>
          <a:xfrm>
            <a:off x="8065008" y="17556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담당자가 다르면 "담당 OOO" 표시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7680960" y="2304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680960" y="2304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8065008" y="228600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 한 문장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065008" y="257860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"암진단비가 1천만원대에 머물러 있습니다."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7680960" y="31272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76809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8065008" y="310896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065008" y="3401568"/>
            <a:ext cx="3575304" cy="483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만료(90일)까지 남은 날. 만료면 "필요", 철회면 "철회"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768096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768096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8065008" y="393192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태그 (우선순위 순)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065008" y="422452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 = 당월 타겟. 부족 그룹은 그룹마다 색이 다름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7680960" y="4773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7680960" y="4773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8065008" y="475488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한눈에 보기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065008" y="504748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 자세한 설명은 37쪽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768096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768096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1"/>
          <p:cNvSpPr txBox="1"/>
          <p:nvPr/>
        </p:nvSpPr>
        <p:spPr>
          <a:xfrm>
            <a:off x="8065008" y="5577840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점선 칸 · 미확인</a:t>
            </a:r>
            <a:endParaRPr lang="en-US" sz="1350" dirty="0"/>
          </a:p>
        </p:txBody>
      </p:sp>
      <p:sp>
        <p:nvSpPr>
          <p:cNvPr id="46" name="Text 42"/>
          <p:cNvSpPr txBox="1"/>
          <p:nvPr/>
        </p:nvSpPr>
        <p:spPr>
          <a:xfrm>
            <a:off x="8065008" y="5870448"/>
            <a:ext cx="357530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"미확인". 추정하지 않음</a:t>
            </a:r>
            <a:endParaRPr lang="en-US" sz="11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NEW 태그 색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태그는 이제 색으로 구분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7개가 저마다 다른 색. 여러 개 붙어도 한눈에 구분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1052886" y="384048"/>
            <a:ext cx="590169" cy="27432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1052886" y="384048"/>
            <a:ext cx="5901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737360"/>
            <a:ext cx="5257800" cy="4526280"/>
          </a:xfrm>
          <a:prstGeom prst="roundRect">
            <a:avLst>
              <a:gd name="adj" fmla="val 2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18745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그룹 · 색 7가지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8745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pic>
        <p:nvPicPr>
          <p:cNvPr id="12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286000"/>
            <a:ext cx="1012874" cy="329184"/>
          </a:xfrm>
          <a:prstGeom prst="rect">
            <a:avLst/>
          </a:prstGeom>
        </p:spPr>
      </p:pic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06624"/>
            <a:ext cx="1012874" cy="329184"/>
          </a:xfrm>
          <a:prstGeom prst="rect">
            <a:avLst/>
          </a:prstGeom>
        </p:spPr>
      </p:pic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27248"/>
            <a:ext cx="1012874" cy="329184"/>
          </a:xfrm>
          <a:prstGeom prst="rect">
            <a:avLst/>
          </a:prstGeom>
        </p:spPr>
      </p:pic>
      <p:pic>
        <p:nvPicPr>
          <p:cNvPr id="15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547872"/>
            <a:ext cx="1012874" cy="329184"/>
          </a:xfrm>
          <a:prstGeom prst="rect">
            <a:avLst/>
          </a:prstGeom>
        </p:spPr>
      </p:pic>
      <p:pic>
        <p:nvPicPr>
          <p:cNvPr id="16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60320" y="2286000"/>
            <a:ext cx="1012874" cy="329184"/>
          </a:xfrm>
          <a:prstGeom prst="rect">
            <a:avLst/>
          </a:prstGeom>
        </p:spPr>
      </p:pic>
      <p:pic>
        <p:nvPicPr>
          <p:cNvPr id="17" name="Image 5" descr="MeAI 화면 캡처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60320" y="2706624"/>
            <a:ext cx="1012874" cy="329184"/>
          </a:xfrm>
          <a:prstGeom prst="rect">
            <a:avLst/>
          </a:prstGeom>
        </p:spPr>
      </p:pic>
      <p:pic>
        <p:nvPicPr>
          <p:cNvPr id="18" name="Image 6" descr="MeAI 화면 캡처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60320" y="3127248"/>
            <a:ext cx="739398" cy="329184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77724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150" dirty="0"/>
          </a:p>
        </p:txBody>
      </p:sp>
      <p:sp>
        <p:nvSpPr>
          <p:cNvPr id="20" name="Text 11"/>
          <p:cNvSpPr txBox="1"/>
          <p:nvPr/>
        </p:nvSpPr>
        <p:spPr>
          <a:xfrm>
            <a:off x="77724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000" dirty="0"/>
          </a:p>
        </p:txBody>
      </p:sp>
      <p:pic>
        <p:nvPicPr>
          <p:cNvPr id="21" name="Image 7" descr="MeAI 화면 캡처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4709160"/>
            <a:ext cx="1043260" cy="329184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246888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· 납입</a:t>
            </a:r>
            <a:endParaRPr lang="en-US" sz="1150" dirty="0"/>
          </a:p>
        </p:txBody>
      </p:sp>
      <p:sp>
        <p:nvSpPr>
          <p:cNvPr id="23" name="Text 13"/>
          <p:cNvSpPr txBox="1"/>
          <p:nvPr/>
        </p:nvSpPr>
        <p:spPr>
          <a:xfrm>
            <a:off x="246888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4" name="Image 8" descr="MeAI 화면 캡처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68880" y="4709160"/>
            <a:ext cx="997681" cy="329184"/>
          </a:xfrm>
          <a:prstGeom prst="rect">
            <a:avLst/>
          </a:prstGeom>
        </p:spPr>
      </p:pic>
      <p:pic>
        <p:nvPicPr>
          <p:cNvPr id="25" name="Image 9" descr="MeAI 화면 캡처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468880" y="5129784"/>
            <a:ext cx="1088839" cy="329184"/>
          </a:xfrm>
          <a:prstGeom prst="rect">
            <a:avLst/>
          </a:prstGeom>
        </p:spPr>
      </p:pic>
      <p:sp>
        <p:nvSpPr>
          <p:cNvPr id="26" name="Text 14"/>
          <p:cNvSpPr txBox="1"/>
          <p:nvPr/>
        </p:nvSpPr>
        <p:spPr>
          <a:xfrm>
            <a:off x="4160520" y="4114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임박</a:t>
            </a:r>
            <a:endParaRPr lang="en-US" sz="1150" dirty="0"/>
          </a:p>
        </p:txBody>
      </p:sp>
      <p:sp>
        <p:nvSpPr>
          <p:cNvPr id="27" name="Text 15"/>
          <p:cNvSpPr txBox="1"/>
          <p:nvPr/>
        </p:nvSpPr>
        <p:spPr>
          <a:xfrm>
            <a:off x="4160520" y="43891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000" dirty="0"/>
          </a:p>
        </p:txBody>
      </p:sp>
      <p:pic>
        <p:nvPicPr>
          <p:cNvPr id="28" name="Image 10" descr="MeAI 화면 캡처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60520" y="4709160"/>
            <a:ext cx="860943" cy="329184"/>
          </a:xfrm>
          <a:prstGeom prst="rect">
            <a:avLst/>
          </a:prstGeom>
        </p:spPr>
      </p:pic>
      <p:pic>
        <p:nvPicPr>
          <p:cNvPr id="29" name="Image 11" descr="MeAI 화면 캡처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60520" y="5129784"/>
            <a:ext cx="724205" cy="329184"/>
          </a:xfrm>
          <a:prstGeom prst="rect">
            <a:avLst/>
          </a:prstGeom>
        </p:spPr>
      </p:pic>
      <p:pic>
        <p:nvPicPr>
          <p:cNvPr id="30" name="Image 12" descr="MeAI 화면 캡처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160520" y="5550408"/>
            <a:ext cx="1271157" cy="329184"/>
          </a:xfrm>
          <a:prstGeom prst="rect">
            <a:avLst/>
          </a:prstGeom>
        </p:spPr>
      </p:pic>
      <p:sp>
        <p:nvSpPr>
          <p:cNvPr id="31" name="Text 16"/>
          <p:cNvSpPr txBox="1"/>
          <p:nvPr/>
        </p:nvSpPr>
        <p:spPr>
          <a:xfrm>
            <a:off x="6080760" y="1783080"/>
            <a:ext cx="5577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카드에는 우선순위 순서대로 표시</a:t>
            </a:r>
            <a:endParaRPr lang="en-US" sz="1200" dirty="0"/>
          </a:p>
        </p:txBody>
      </p:sp>
      <p:sp>
        <p:nvSpPr>
          <p:cNvPr id="32" name="Shape 17"/>
          <p:cNvSpPr/>
          <p:nvPr/>
        </p:nvSpPr>
        <p:spPr>
          <a:xfrm>
            <a:off x="6080760" y="2103120"/>
            <a:ext cx="5559552" cy="2009992"/>
          </a:xfrm>
          <a:prstGeom prst="roundRect">
            <a:avLst>
              <a:gd name="adj" fmla="val 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13" descr="MeAI 화면 캡처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80760" y="2103120"/>
            <a:ext cx="5559552" cy="2009992"/>
          </a:xfrm>
          <a:prstGeom prst="rect">
            <a:avLst/>
          </a:prstGeom>
        </p:spPr>
      </p:pic>
      <p:sp>
        <p:nvSpPr>
          <p:cNvPr id="34" name="Shape 18"/>
          <p:cNvSpPr/>
          <p:nvPr/>
        </p:nvSpPr>
        <p:spPr>
          <a:xfrm>
            <a:off x="6345908" y="3548604"/>
            <a:ext cx="4404876" cy="410552"/>
          </a:xfrm>
          <a:prstGeom prst="roundRect">
            <a:avLst>
              <a:gd name="adj" fmla="val 13363"/>
            </a:avLst>
          </a:prstGeom>
          <a:ln w="25400">
            <a:solidFill>
              <a:srgbClr val="3182F6"/>
            </a:solidFill>
            <a:prstDash val="solid"/>
          </a:ln>
        </p:spPr>
      </p:sp>
      <p:sp>
        <p:nvSpPr>
          <p:cNvPr id="35" name="Shape 19"/>
          <p:cNvSpPr/>
          <p:nvPr/>
        </p:nvSpPr>
        <p:spPr>
          <a:xfrm>
            <a:off x="6080760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36" name="Text 20"/>
          <p:cNvSpPr txBox="1"/>
          <p:nvPr/>
        </p:nvSpPr>
        <p:spPr>
          <a:xfrm>
            <a:off x="6263640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</a:t>
            </a:r>
            <a:endParaRPr lang="en-US" sz="1100" dirty="0"/>
          </a:p>
        </p:txBody>
      </p:sp>
      <p:sp>
        <p:nvSpPr>
          <p:cNvPr id="37" name="Text 21"/>
          <p:cNvSpPr txBox="1"/>
          <p:nvPr/>
        </p:nvSpPr>
        <p:spPr>
          <a:xfrm>
            <a:off x="6263640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보라</a:t>
            </a:r>
            <a:endParaRPr lang="en-US" sz="1800" dirty="0"/>
          </a:p>
        </p:txBody>
      </p:sp>
      <p:sp>
        <p:nvSpPr>
          <p:cNvPr id="38" name="Text 22"/>
          <p:cNvSpPr txBox="1"/>
          <p:nvPr/>
        </p:nvSpPr>
        <p:spPr>
          <a:xfrm>
            <a:off x="6263640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이번 달 목표</a:t>
            </a:r>
            <a:endParaRPr lang="en-US" sz="1300" dirty="0"/>
          </a:p>
        </p:txBody>
      </p:sp>
      <p:sp>
        <p:nvSpPr>
          <p:cNvPr id="39" name="Shape 23"/>
          <p:cNvSpPr/>
          <p:nvPr/>
        </p:nvSpPr>
        <p:spPr>
          <a:xfrm>
            <a:off x="7973568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0" name="Text 24"/>
          <p:cNvSpPr txBox="1"/>
          <p:nvPr/>
        </p:nvSpPr>
        <p:spPr>
          <a:xfrm>
            <a:off x="8156448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2</a:t>
            </a:r>
            <a:endParaRPr lang="en-US" sz="1100" dirty="0"/>
          </a:p>
        </p:txBody>
      </p:sp>
      <p:sp>
        <p:nvSpPr>
          <p:cNvPr id="41" name="Text 25"/>
          <p:cNvSpPr txBox="1"/>
          <p:nvPr/>
        </p:nvSpPr>
        <p:spPr>
          <a:xfrm>
            <a:off x="8156448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· 주황</a:t>
            </a:r>
            <a:endParaRPr lang="en-US" sz="1800" dirty="0"/>
          </a:p>
        </p:txBody>
      </p:sp>
      <p:sp>
        <p:nvSpPr>
          <p:cNvPr id="42" name="Text 26"/>
          <p:cNvSpPr txBox="1"/>
          <p:nvPr/>
        </p:nvSpPr>
        <p:spPr>
          <a:xfrm>
            <a:off x="8156448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우량 · 날짜 임박</a:t>
            </a:r>
            <a:endParaRPr lang="en-US" sz="1300" dirty="0"/>
          </a:p>
        </p:txBody>
      </p:sp>
      <p:sp>
        <p:nvSpPr>
          <p:cNvPr id="43" name="Shape 27"/>
          <p:cNvSpPr/>
          <p:nvPr/>
        </p:nvSpPr>
        <p:spPr>
          <a:xfrm>
            <a:off x="9866376" y="4526280"/>
            <a:ext cx="1773936" cy="1737360"/>
          </a:xfrm>
          <a:prstGeom prst="roundRect">
            <a:avLst>
              <a:gd name="adj" fmla="val 73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4" name="Text 28"/>
          <p:cNvSpPr txBox="1"/>
          <p:nvPr/>
        </p:nvSpPr>
        <p:spPr>
          <a:xfrm>
            <a:off x="10049256" y="4690872"/>
            <a:ext cx="1408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3</a:t>
            </a:r>
            <a:endParaRPr lang="en-US" sz="1100" dirty="0"/>
          </a:p>
        </p:txBody>
      </p:sp>
      <p:sp>
        <p:nvSpPr>
          <p:cNvPr id="45" name="Text 29"/>
          <p:cNvSpPr txBox="1"/>
          <p:nvPr/>
        </p:nvSpPr>
        <p:spPr>
          <a:xfrm>
            <a:off x="10049256" y="5074920"/>
            <a:ext cx="14081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 7가지</a:t>
            </a:r>
            <a:endParaRPr lang="en-US" sz="1800" dirty="0"/>
          </a:p>
        </p:txBody>
      </p:sp>
      <p:sp>
        <p:nvSpPr>
          <p:cNvPr id="46" name="Text 30"/>
          <p:cNvSpPr txBox="1"/>
          <p:nvPr/>
        </p:nvSpPr>
        <p:spPr>
          <a:xfrm>
            <a:off x="10049256" y="557784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부족한 보장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이 고객 한눈에 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칸으로 보는 이 고객의 상황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092258" y="1371600"/>
            <a:ext cx="8007178" cy="246888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2258" y="1371600"/>
            <a:ext cx="8007178" cy="24688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2092258" y="3877056"/>
            <a:ext cx="800717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48640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49808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가입한 보험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749808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계약 수. "지금 세 건 갖고 계세요"로 대화 시작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311396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12564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납입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512564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납입액. 예산 감각을 잡는 기준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8074152" y="422452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275320" y="43434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접촉기회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8275320" y="46634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고객 행동. 계약변경조회는 관심 신호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9808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금액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749808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권장 기준 대비 부족한 진단비. 이 금액이 곧 제안 크기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4311396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512564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1-5종수술비(plus)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4512564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수술 담보 유무. "없음"이 곧 제안 포인트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8074152" y="5321808"/>
            <a:ext cx="3566160" cy="987552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8275320" y="54406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표적항암약물허가치료비(비급여)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8275320" y="576072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자료가 없으면 미확인. 보장분석에서 확인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다음 행동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패널에서 고르는 다음 행동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4526280" cy="493776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4526280" cy="49377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61772" y="1521333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61772" y="1521333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1772" y="2426589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1772" y="2426589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461772" y="373303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61772" y="373303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905756" y="47514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4905756" y="47514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905756" y="5389245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905756" y="5389245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461772" y="58933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61772" y="58933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66928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66928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6053328" y="14630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6053328" y="17556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바꾸면 패널도 바뀜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66928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566928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6" name="Text 23"/>
          <p:cNvSpPr txBox="1"/>
          <p:nvPr/>
        </p:nvSpPr>
        <p:spPr>
          <a:xfrm>
            <a:off x="6053328" y="224028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일반대화용 추천 질문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053328" y="253288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조건에 맞는 안내 문자 문안 요청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566928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053328" y="301752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맞춤대화용 추천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053328" y="331012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질문이 채워진 채로 이 고객의 맞춤대화 시작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566928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566928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6053328" y="379476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6053328" y="408736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영업포탈의 이 고객 보장분석 화면으로 이동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56692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6053328" y="457200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6053328" y="4864608"/>
            <a:ext cx="55595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고른 상태로 맞춤대화 시작.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필요한 고객은 이 자리에 [사전조회동의 요청하기]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669280" y="5596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5669280" y="5596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6053328" y="55778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안내 문구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6053328" y="5870448"/>
            <a:ext cx="5559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다시 찾을 필요가 없다는 뜻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추천 질문 →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열리는 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7223760" cy="4514850"/>
          </a:xfrm>
          <a:prstGeom prst="roundRect">
            <a:avLst>
              <a:gd name="adj" fmla="val 2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223760" cy="451485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323594" y="2011108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1323594" y="20111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08148" y="188569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708148" y="18856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861810" y="1860614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861810" y="186061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2708148" y="395751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2708148" y="395751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2708148" y="4970844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2708148" y="49708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2708148" y="5246751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2708148" y="5246751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5587619" y="1384046"/>
            <a:ext cx="256032" cy="256032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5587619" y="138404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932170"/>
            <a:ext cx="7223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김도윤 패널에서 맞춤대화 추천 질문을 누른 화면 · 이름·계약·남은 날은 예시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8092440" y="14356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8092440" y="1435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8476488" y="1417320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8476488" y="1709928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고객이 이미 들어와 있음.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날(화면엔 '보장분석 동의')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092440" y="231343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92440" y="231343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8476488" y="2295144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계약 리스트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8476488" y="2587752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상품명 · 보험료 · 납입기간 · 기납입보험료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92440" y="2971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8092440" y="2971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8476488" y="2953512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자료 준비 상태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8476488" y="3246120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 · 구성 중 · 미확보.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완료가 아닌 상품은 답이 부정확할 수 있음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092440" y="384962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092440" y="38496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8476488" y="3831336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안내</a:t>
            </a:r>
            <a:endParaRPr lang="en-US" sz="1300" dirty="0"/>
          </a:p>
        </p:txBody>
      </p:sp>
      <p:sp>
        <p:nvSpPr>
          <p:cNvPr id="38" name="Text 35"/>
          <p:cNvSpPr txBox="1"/>
          <p:nvPr/>
        </p:nvSpPr>
        <p:spPr>
          <a:xfrm>
            <a:off x="8476488" y="4123944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"김도윤님의 보험 가입 내역이에요…"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092440" y="45079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8092440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476488" y="4489704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 해줘]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8476488" y="4782312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버튼 하나로 전체 그림부터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8092440" y="51663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092440" y="51663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76488" y="5148072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채워진 질문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476488" y="5440680"/>
            <a:ext cx="3166567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누른 추천 질문이 이미 입력됨. 전송(↑)만 누르면 시작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092440" y="58247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092440" y="58247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476488" y="5806440"/>
            <a:ext cx="3166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8476488" y="6099048"/>
            <a:ext cx="3166567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동의 상태별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상태별로 달라지는 다음 행동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읽기 때문에 동의가 먼저. "D-n"이면 바로, "필요"면 알림톡 한 통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D-30 · 유효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011680"/>
            <a:ext cx="2750404" cy="3154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2750404" cy="315468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시작]으로 바로 시작.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동의일부터 90일 동안 MeAI 맞춤대화 가능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311396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 · 만료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11396" y="2011680"/>
            <a:ext cx="3147097" cy="315468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1396" y="2011680"/>
            <a:ext cx="3147097" cy="31546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311396" y="5276088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 → 휴대폰 번호 입력 → 알림톡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김민수 고객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8074152" y="169164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8074152" y="2011680"/>
            <a:ext cx="3566160" cy="1237415"/>
          </a:xfrm>
          <a:prstGeom prst="roundRect">
            <a:avLst>
              <a:gd name="adj" fmla="val 57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2011680"/>
            <a:ext cx="3566160" cy="1237415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074152" y="3358823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 · 정보를 볼 수 없음. 버튼도 없음.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 말고 새 동의부터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074152" y="4023360"/>
            <a:ext cx="3566160" cy="1691640"/>
          </a:xfrm>
          <a:prstGeom prst="roundRect">
            <a:avLst>
              <a:gd name="adj" fmla="val 7568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 rot="16200000">
            <a:off x="7827264" y="4377250"/>
            <a:ext cx="310896" cy="182880"/>
          </a:xfrm>
          <a:prstGeom prst="triangl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348472" y="4133088"/>
            <a:ext cx="3154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 · 만료 고객 수는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"사전조회 동의 필요"에 표시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348472" y="4626864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186</a:t>
            </a:r>
            <a:pPr indent="0" marL="0">
              <a:buNone/>
            </a:pPr>
            <a:r>
              <a:rPr lang="en-US" sz="16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</a:t>
            </a:r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예시</a:t>
            </a:r>
            <a:endParaRPr lang="en-US" sz="4000" dirty="0"/>
          </a:p>
        </p:txBody>
      </p:sp>
      <p:sp>
        <p:nvSpPr>
          <p:cNvPr id="23" name="Text 18"/>
          <p:cNvSpPr txBox="1"/>
          <p:nvPr/>
        </p:nvSpPr>
        <p:spPr>
          <a:xfrm>
            <a:off x="8348472" y="528523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동의를 받아야 맞춤대화가 열리는 고객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동의하면 15분 안팎으로 반영 · MeAI 홈 [고객 동의]에서도 사전조회동의 발송 가능</a:t>
            </a:r>
            <a:endParaRPr lang="en-US" sz="11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검색 · 필터 · 페이지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이름으로도, 조건으로도 검색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검색창을 누르면 추천 속성, 글자를 치면 연관검색어 표시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1229868"/>
          </a:xfrm>
          <a:prstGeom prst="roundRect">
            <a:avLst>
              <a:gd name="adj" fmla="val 88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12298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2958084"/>
            <a:ext cx="5440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검색창 → 추천 속성(암진단비 · 실손 · 상령일 · 자동차)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217920" y="1691640"/>
            <a:ext cx="5422392" cy="2159766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422392" cy="215976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217920" y="388798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"암진단비" 입력 → 연관검색어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548640" y="3566160"/>
            <a:ext cx="1921514" cy="2103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566160"/>
            <a:ext cx="1921514" cy="210312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288036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288036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3264408" y="361188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[전체] 드롭다운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264408" y="390448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· 상품소개동의 고객만 골라 보기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2880360" y="43616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2880360" y="43616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3264408" y="4343400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결과 N명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3264408" y="4636008"/>
            <a:ext cx="2770632" cy="4648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제목이 "검색 결과 N명"으로 바뀜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없으면 0명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2880360" y="53035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2880360" y="5303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3264408" y="5285232"/>
            <a:ext cx="2770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3264408" y="5577840"/>
            <a:ext cx="2770632" cy="255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 아래 ‹ 1 2 ›로 넘기기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217920" y="4315968"/>
            <a:ext cx="5422392" cy="1653168"/>
          </a:xfrm>
          <a:prstGeom prst="roundRect">
            <a:avLst>
              <a:gd name="adj" fmla="val 65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4315968"/>
            <a:ext cx="5422392" cy="1653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6217920" y="6005712"/>
            <a:ext cx="5422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없을 때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 · 그룹 활용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타이밍에 따라 활용하는 그룹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하나가 곧 연락 목록. 월초 · 매주 · 매달 · 수시, 네 그룹을 습관으로. 인원은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당월 영업 타겟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우선순위 1위.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이유를 그대로 첫 말로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362249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590849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590849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90849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· 생일 임박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90849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 · 7명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3590849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보험료가 오르기 전 점검.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생일엔 축하 인사로 열고,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맞춤대화 보장 점검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175858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04458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4458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6404458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404458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3000" dirty="0"/>
          </a:p>
        </p:txBody>
      </p:sp>
      <p:sp>
        <p:nvSpPr>
          <p:cNvPr id="24" name="Text 22"/>
          <p:cNvSpPr txBox="1"/>
          <p:nvPr/>
        </p:nvSpPr>
        <p:spPr>
          <a:xfrm>
            <a:off x="6404458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 미리 안내.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989466" y="1737360"/>
            <a:ext cx="2651760" cy="306324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218066" y="1965960"/>
            <a:ext cx="553720" cy="292608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218066" y="1965960"/>
            <a:ext cx="553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수시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9218066" y="24505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등록 고객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218066" y="2816352"/>
            <a:ext cx="21945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4명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9218066" y="361188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상세는 다음 날 반영.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보려면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48640" y="50749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7240" y="516636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부족 그룹은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주력 상품 담보부터. 이번 달 주력 상품이 정해지면 그 담보의 부족 그룹을 먼저 열기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· 사전조회 동의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공지는 게시판에서, 동의는 알림톡 한 통으로.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게시판 목록과 글 상세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 동의가 먼저인 이유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요청부터 반영까지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고르기와 묻기 사이 · 동의 먼저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게시판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공지·이슈·기능안내를 한 곳에서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504213" cy="4709160"/>
          </a:xfrm>
          <a:prstGeom prst="roundRect">
            <a:avLst>
              <a:gd name="adj" fmla="val 233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504213" cy="47091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55042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글 제목·날짜·내용은 예시.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356302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356302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230724" y="14150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30724" y="14150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4954" y="203881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4954" y="203881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863913" y="181864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863913" y="18186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521292" y="1818647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4521292" y="1818647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490849" y="57021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490849" y="57021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0" y="13898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6583680" y="13898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967728" y="13716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필터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967728" y="16642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· 공지사항 · 이슈 · 기능안내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58368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658368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6967728" y="201168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정렬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6967728" y="230428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최신순이 기본, 조회순도 가능.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583680" y="2670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83680" y="2670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1" name="Text 28"/>
          <p:cNvSpPr txBox="1"/>
          <p:nvPr/>
        </p:nvSpPr>
        <p:spPr>
          <a:xfrm>
            <a:off x="6967728" y="265176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표시</a:t>
            </a:r>
            <a:endParaRPr lang="en-US" sz="1400" dirty="0"/>
          </a:p>
        </p:txBody>
      </p:sp>
      <p:sp>
        <p:nvSpPr>
          <p:cNvPr id="32" name="Text 29"/>
          <p:cNvSpPr txBox="1"/>
          <p:nvPr/>
        </p:nvSpPr>
        <p:spPr>
          <a:xfrm>
            <a:off x="6967728" y="294436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공지사항 파랑 · 이슈 주황 · 기능안내 초록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6583680" y="33101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6583680" y="33101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6967728" y="329184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· NEW · 첨부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6967728" y="358444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 = 고정 글 · NEW = 7일 이내 · 클립 = 첨부 수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583680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583680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9" name="Text 36"/>
          <p:cNvSpPr txBox="1"/>
          <p:nvPr/>
        </p:nvSpPr>
        <p:spPr>
          <a:xfrm>
            <a:off x="6967728" y="393192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· 조회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6967728" y="422452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게시일과 조회수.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58368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658368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3" name="Text 40"/>
          <p:cNvSpPr txBox="1"/>
          <p:nvPr/>
        </p:nvSpPr>
        <p:spPr>
          <a:xfrm>
            <a:off x="6967728" y="4572000"/>
            <a:ext cx="4672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페이지</a:t>
            </a:r>
            <a:endParaRPr lang="en-US" sz="1400" dirty="0"/>
          </a:p>
        </p:txBody>
      </p:sp>
      <p:sp>
        <p:nvSpPr>
          <p:cNvPr id="44" name="Text 41"/>
          <p:cNvSpPr txBox="1"/>
          <p:nvPr/>
        </p:nvSpPr>
        <p:spPr>
          <a:xfrm>
            <a:off x="6967728" y="4864608"/>
            <a:ext cx="4672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쪽 6건, ‹ 1 2 ›로 넘기기.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583680" y="5230368"/>
            <a:ext cx="5059375" cy="1078992"/>
          </a:xfrm>
          <a:prstGeom prst="roundRect">
            <a:avLst>
              <a:gd name="adj" fmla="val 101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pic>
        <p:nvPicPr>
          <p:cNvPr id="4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5376672"/>
            <a:ext cx="2824399" cy="329184"/>
          </a:xfrm>
          <a:prstGeom prst="rect">
            <a:avLst/>
          </a:prstGeom>
        </p:spPr>
      </p:pic>
      <p:pic>
        <p:nvPicPr>
          <p:cNvPr id="47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4795" y="5376672"/>
            <a:ext cx="895380" cy="329184"/>
          </a:xfrm>
          <a:prstGeom prst="rect">
            <a:avLst/>
          </a:prstGeom>
        </p:spPr>
      </p:pic>
      <p:sp>
        <p:nvSpPr>
          <p:cNvPr id="48" name="Text 43"/>
          <p:cNvSpPr txBox="1"/>
          <p:nvPr/>
        </p:nvSpPr>
        <p:spPr>
          <a:xfrm>
            <a:off x="9590959" y="5376672"/>
            <a:ext cx="9731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· ·</a:t>
            </a:r>
            <a:endParaRPr lang="en-US" sz="1100" dirty="0"/>
          </a:p>
        </p:txBody>
      </p:sp>
      <p:sp>
        <p:nvSpPr>
          <p:cNvPr id="49" name="Text 44"/>
          <p:cNvSpPr txBox="1"/>
          <p:nvPr/>
        </p:nvSpPr>
        <p:spPr>
          <a:xfrm>
            <a:off x="6766560" y="5815584"/>
            <a:ext cx="46936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위쪽  </a:t>
            </a:r>
            <a:pPr indent="0" marL="0"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홈]을 누르면 MeAI 홈으로 이동, [글씨 확대]는 기본 ON.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글 상세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누르면 열리는 본문과 첨부파일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127147" cy="4663440"/>
          </a:xfrm>
          <a:prstGeom prst="roundRect">
            <a:avLst>
              <a:gd name="adj" fmla="val 262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6127147" cy="46634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89904"/>
            <a:ext cx="612714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오픈 안내 공지를 예로 든 화면 · 글 내용은 예시.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1037811" y="139783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037811" y="13978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2671717" y="222159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671717" y="2221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95294" y="300450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595294" y="30045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3624828" y="442736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3624828" y="442736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475054" y="531920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3475054" y="531920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6995160" y="1481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995160" y="1481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379208" y="146304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‹ 목록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7379208" y="175564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분류·정렬 상태 그대로 목록으로 이동.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995160" y="22585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95160" y="2258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79208" y="224028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 줄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7379208" y="253288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 · NEW · 날짜 · 조회. 핀은 고정 글.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6995160" y="30358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95160" y="3035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79208" y="301752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본문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379208" y="331012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 조건 같은 운영 기준 안내.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6995160" y="38130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95160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79208" y="379476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첨부파일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79208" y="408736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바로 내려받기.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995160" y="45902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95160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79208" y="4572000"/>
            <a:ext cx="4261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이전 글 · 다음 글</a:t>
            </a:r>
            <a:endParaRPr lang="en-US" sz="1400" dirty="0"/>
          </a:p>
        </p:txBody>
      </p:sp>
      <p:sp>
        <p:nvSpPr>
          <p:cNvPr id="38" name="Text 35"/>
          <p:cNvSpPr txBox="1"/>
          <p:nvPr/>
        </p:nvSpPr>
        <p:spPr>
          <a:xfrm>
            <a:off x="7379208" y="4864608"/>
            <a:ext cx="4261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나가지 않고 이어서 읽기.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6995160" y="5349240"/>
            <a:ext cx="4645152" cy="960120"/>
          </a:xfrm>
          <a:prstGeom prst="roundRect">
            <a:avLst>
              <a:gd name="adj" fmla="val 11429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223760" y="5440680"/>
            <a:ext cx="41879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점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 글이 오면 MeAI 홈 [게시판] 버튼에 빨간 점 표시.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보이면 먼저 읽기.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5 · 사전조회 동의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동의는 알림톡 한 통으로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보장 내역을 읽고 답변. 그래서 사전조회 동의가 먼저.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481328" cy="1188720"/>
          </a:xfrm>
          <a:prstGeom prst="roundRect">
            <a:avLst>
              <a:gd name="adj" fmla="val 10769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928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57984"/>
            <a:ext cx="1280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한 통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52374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→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동의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011680" y="210312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331720" y="17190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 · 동의일부터 90일 · 칩의 D-n = 남은 날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0891" y="1709928"/>
            <a:ext cx="2499421" cy="292608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268907" y="1801368"/>
            <a:ext cx="109728" cy="109728"/>
          </a:xfrm>
          <a:prstGeom prst="ellipse">
            <a:avLst/>
          </a:prstGeom>
          <a:solidFill>
            <a:srgbClr val="F04452"/>
          </a:solidFill>
          <a:ln w="127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470075" y="1709928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철회 → 즉시 회색 · 정보를 볼 수 없음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331720" y="2029968"/>
            <a:ext cx="0" cy="713232"/>
          </a:xfrm>
          <a:prstGeom prst="line">
            <a:avLst/>
          </a:prstGeom>
          <a:noFill/>
          <a:ln w="9525">
            <a:solidFill>
              <a:srgbClr val="B0B8C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86405" y="2029968"/>
            <a:ext cx="0" cy="713232"/>
          </a:xfrm>
          <a:prstGeom prst="line">
            <a:avLst/>
          </a:prstGeom>
          <a:noFill/>
          <a:ln w="9525">
            <a:solidFill>
              <a:srgbClr val="B0B8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475720" y="2450592"/>
            <a:ext cx="0" cy="292608"/>
          </a:xfrm>
          <a:prstGeom prst="line">
            <a:avLst/>
          </a:prstGeom>
          <a:noFill/>
          <a:ln w="9525">
            <a:solidFill>
              <a:srgbClr val="B0B8C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31720" y="2084832"/>
            <a:ext cx="2254685" cy="310896"/>
          </a:xfrm>
          <a:prstGeom prst="roundRect">
            <a:avLst>
              <a:gd name="adj" fmla="val 17647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22397" y="2176272"/>
            <a:ext cx="128016" cy="128016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69285" y="2084832"/>
            <a:ext cx="6583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 → [사전동의 만료] 그룹에서 미리 재요청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331720" y="2505456"/>
            <a:ext cx="9144000" cy="182880"/>
          </a:xfrm>
          <a:prstGeom prst="roundRect">
            <a:avLst>
              <a:gd name="adj" fmla="val 25000"/>
            </a:avLst>
          </a:prstGeom>
          <a:solidFill>
            <a:srgbClr val="C9E2FF"/>
          </a:solidFill>
          <a:ln w="12700">
            <a:solidFill>
              <a:srgbClr val="C9E2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55080" y="272491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노출 · 사전조회 동의일로부터 1년 이내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2331720" y="301752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동의일 · 15분 안팎 반영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86405" y="301752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 · 만료 → "사전조회동의 필요"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10561320" y="30175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068312" y="3291840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길이는 기간에 비례 (90일 : 1년)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48640" y="3611880"/>
            <a:ext cx="3931920" cy="1982343"/>
          </a:xfrm>
          <a:prstGeom prst="roundRect">
            <a:avLst>
              <a:gd name="adj" fmla="val 39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11880"/>
            <a:ext cx="3931920" cy="1982343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48640" y="5639943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[고객 동의]에서도 사전조회동의 발송 가능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709160" y="3611880"/>
            <a:ext cx="3429000" cy="1076255"/>
          </a:xfrm>
          <a:prstGeom prst="roundRect">
            <a:avLst>
              <a:gd name="adj" fmla="val 637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3611880"/>
            <a:ext cx="3429000" cy="1076255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4709160" y="4733855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요청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709160" y="5145335"/>
            <a:ext cx="3429000" cy="459988"/>
          </a:xfrm>
          <a:prstGeom prst="roundRect">
            <a:avLst>
              <a:gd name="adj" fmla="val 14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5145335"/>
            <a:ext cx="3429000" cy="459988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4709160" y="5651043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[보내기] 뒤 뜨는 알림</a:t>
            </a:r>
            <a:endParaRPr lang="en-US" sz="1000" dirty="0"/>
          </a:p>
        </p:txBody>
      </p:sp>
      <p:sp>
        <p:nvSpPr>
          <p:cNvPr id="37" name="Shape 32"/>
          <p:cNvSpPr/>
          <p:nvPr/>
        </p:nvSpPr>
        <p:spPr>
          <a:xfrm>
            <a:off x="8366760" y="3611880"/>
            <a:ext cx="3276295" cy="1982343"/>
          </a:xfrm>
          <a:prstGeom prst="roundRect">
            <a:avLst>
              <a:gd name="adj" fmla="val 5535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8595360" y="3703320"/>
            <a:ext cx="2819095" cy="17994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상품소개 동의  </a:t>
            </a:r>
            <a:pPr indent="0" marL="0">
              <a:lnSpc>
                <a:spcPct val="130000"/>
              </a:lnSpc>
              <a:buNone/>
            </a:pP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소개에 동의한 고객은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"AI 추천 고객" 리본 표시.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"상품제안 가능"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숫자에도 포함.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이어가기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맞춤대화와 새 기능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들어온 대화 화면과 새 기능 익히기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누르기만 하면 열리는 대화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· 맞춤대화 화면 구성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용어 설명 · 모드 변경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· 요약 리포트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31520" y="6089904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5840" y="601675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모바일에서 들어가기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사이클에서 이 파트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대화 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홈에서 누르기만 하면 MeAI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즉시 대화 = 흰 카드, 검은 카드, 추천 카드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760720" cy="1288582"/>
          </a:xfrm>
          <a:prstGeom prst="roundRect">
            <a:avLst>
              <a:gd name="adj" fmla="val 89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760720" cy="128858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89066" y="2262659"/>
            <a:ext cx="2809614" cy="687244"/>
          </a:xfrm>
          <a:prstGeom prst="roundRect">
            <a:avLst>
              <a:gd name="adj" fmla="val 7983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59320" y="2262659"/>
            <a:ext cx="2809614" cy="687244"/>
          </a:xfrm>
          <a:prstGeom prst="roundRect">
            <a:avLst>
              <a:gd name="adj" fmla="val 7983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3725" y="21173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43725" y="21173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3313978" y="211731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3313978" y="211731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3144814"/>
            <a:ext cx="5760720" cy="896112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7240" y="326368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문구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" y="3556294"/>
            <a:ext cx="5349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“어떤 대화를 시작할지만 고르면, 나머지는 MeAI가 준비합니다.”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48640" y="4178086"/>
            <a:ext cx="5760720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1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421317"/>
            <a:ext cx="1188720" cy="427939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2194560" y="429695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길을 잃으면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2194560" y="458956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화면이든 왼쪽 위 [MeAI 홈]을 누르면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화면으로 이동</a:t>
            </a:r>
            <a:endParaRPr lang="en-US" sz="115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5147350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화면의 이름·숫자는 예시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6537960" y="1691640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10070287" y="1828800"/>
            <a:ext cx="1463040" cy="9144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0287" y="1828800"/>
            <a:ext cx="1463040" cy="91440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6702552" y="181965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6702552" y="1819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7104888" y="1801368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450" dirty="0"/>
          </a:p>
        </p:txBody>
      </p:sp>
      <p:sp>
        <p:nvSpPr>
          <p:cNvPr id="29" name="Text 24"/>
          <p:cNvSpPr txBox="1"/>
          <p:nvPr/>
        </p:nvSpPr>
        <p:spPr>
          <a:xfrm>
            <a:off x="7104888" y="2148840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[일반대화] 카드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질문 예시 누르기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104888" y="2569464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질문 · 바로 시작</a:t>
            </a:r>
            <a:endParaRPr lang="en-US" sz="1100" dirty="0"/>
          </a:p>
        </p:txBody>
      </p:sp>
      <p:sp>
        <p:nvSpPr>
          <p:cNvPr id="31" name="Shape 26"/>
          <p:cNvSpPr/>
          <p:nvPr/>
        </p:nvSpPr>
        <p:spPr>
          <a:xfrm>
            <a:off x="6537960" y="2990088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2" name="Shape 27"/>
          <p:cNvSpPr/>
          <p:nvPr/>
        </p:nvSpPr>
        <p:spPr>
          <a:xfrm>
            <a:off x="10070287" y="3085592"/>
            <a:ext cx="1463040" cy="997712"/>
          </a:xfrm>
          <a:prstGeom prst="roundRect">
            <a:avLst>
              <a:gd name="adj" fmla="val 29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3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0287" y="3085592"/>
            <a:ext cx="1463040" cy="997712"/>
          </a:xfrm>
          <a:prstGeom prst="rect">
            <a:avLst/>
          </a:prstGeom>
        </p:spPr>
      </p:pic>
      <p:sp>
        <p:nvSpPr>
          <p:cNvPr id="34" name="Shape 28"/>
          <p:cNvSpPr/>
          <p:nvPr/>
        </p:nvSpPr>
        <p:spPr>
          <a:xfrm>
            <a:off x="6702552" y="311810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29"/>
          <p:cNvSpPr txBox="1"/>
          <p:nvPr/>
        </p:nvSpPr>
        <p:spPr>
          <a:xfrm>
            <a:off x="6702552" y="3118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6" name="Text 30"/>
          <p:cNvSpPr txBox="1"/>
          <p:nvPr/>
        </p:nvSpPr>
        <p:spPr>
          <a:xfrm>
            <a:off x="7104888" y="3099816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450" dirty="0"/>
          </a:p>
        </p:txBody>
      </p:sp>
      <p:sp>
        <p:nvSpPr>
          <p:cNvPr id="37" name="Text 31"/>
          <p:cNvSpPr txBox="1"/>
          <p:nvPr/>
        </p:nvSpPr>
        <p:spPr>
          <a:xfrm>
            <a:off x="7104888" y="3447288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[맞춤대화] 카드 → 이름 한 글자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[맞춤대화]</a:t>
            </a:r>
            <a:endParaRPr lang="en-US" sz="1200" dirty="0"/>
          </a:p>
        </p:txBody>
      </p:sp>
      <p:sp>
        <p:nvSpPr>
          <p:cNvPr id="38" name="Text 32"/>
          <p:cNvSpPr txBox="1"/>
          <p:nvPr/>
        </p:nvSpPr>
        <p:spPr>
          <a:xfrm>
            <a:off x="7104888" y="3867912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한 명의 보장 내역으로 답변</a:t>
            </a:r>
            <a:endParaRPr lang="en-US" sz="1100" dirty="0"/>
          </a:p>
        </p:txBody>
      </p:sp>
      <p:sp>
        <p:nvSpPr>
          <p:cNvPr id="39" name="Shape 33"/>
          <p:cNvSpPr/>
          <p:nvPr/>
        </p:nvSpPr>
        <p:spPr>
          <a:xfrm>
            <a:off x="6537960" y="4288536"/>
            <a:ext cx="5105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40" name="Shape 34"/>
          <p:cNvSpPr/>
          <p:nvPr/>
        </p:nvSpPr>
        <p:spPr>
          <a:xfrm>
            <a:off x="10070287" y="4495102"/>
            <a:ext cx="1463040" cy="775587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41" name="Image 4" descr="MeAI 화면 캡처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70287" y="4495102"/>
            <a:ext cx="1463040" cy="775587"/>
          </a:xfrm>
          <a:prstGeom prst="rect">
            <a:avLst/>
          </a:prstGeom>
        </p:spPr>
      </p:pic>
      <p:sp>
        <p:nvSpPr>
          <p:cNvPr id="42" name="Shape 35"/>
          <p:cNvSpPr/>
          <p:nvPr/>
        </p:nvSpPr>
        <p:spPr>
          <a:xfrm>
            <a:off x="6702552" y="44165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6"/>
          <p:cNvSpPr txBox="1"/>
          <p:nvPr/>
        </p:nvSpPr>
        <p:spPr>
          <a:xfrm>
            <a:off x="6702552" y="44165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44" name="Text 37"/>
          <p:cNvSpPr txBox="1"/>
          <p:nvPr/>
        </p:nvSpPr>
        <p:spPr>
          <a:xfrm>
            <a:off x="7104888" y="4398264"/>
            <a:ext cx="285567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카드에서</a:t>
            </a:r>
            <a:endParaRPr lang="en-US" sz="1450" dirty="0"/>
          </a:p>
        </p:txBody>
      </p:sp>
      <p:sp>
        <p:nvSpPr>
          <p:cNvPr id="45" name="Text 38"/>
          <p:cNvSpPr txBox="1"/>
          <p:nvPr/>
        </p:nvSpPr>
        <p:spPr>
          <a:xfrm>
            <a:off x="7104888" y="4745736"/>
            <a:ext cx="285567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추천 질문 → 전송(↑)</a:t>
            </a:r>
            <a:endParaRPr lang="en-US" sz="1200" dirty="0"/>
          </a:p>
        </p:txBody>
      </p:sp>
      <p:sp>
        <p:nvSpPr>
          <p:cNvPr id="46" name="Text 39"/>
          <p:cNvSpPr txBox="1"/>
          <p:nvPr/>
        </p:nvSpPr>
        <p:spPr>
          <a:xfrm>
            <a:off x="7104888" y="5166360"/>
            <a:ext cx="28556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채워진 채로 열림</a:t>
            </a:r>
            <a:endParaRPr lang="en-US" sz="1100" dirty="0"/>
          </a:p>
        </p:txBody>
      </p:sp>
      <p:sp>
        <p:nvSpPr>
          <p:cNvPr id="47" name="Shape 40"/>
          <p:cNvSpPr/>
          <p:nvPr/>
        </p:nvSpPr>
        <p:spPr>
          <a:xfrm>
            <a:off x="548640" y="5614416"/>
            <a:ext cx="11094415" cy="603504"/>
          </a:xfrm>
          <a:prstGeom prst="roundRect">
            <a:avLst>
              <a:gd name="adj" fmla="val 2121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8" name="Text 41"/>
          <p:cNvSpPr txBox="1"/>
          <p:nvPr/>
        </p:nvSpPr>
        <p:spPr>
          <a:xfrm>
            <a:off x="822960" y="5614416"/>
            <a:ext cx="1054577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 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누르고 → 고르고 → 보내기. 클릭만으로 편하게 시작하는 MeAI 대화</a:t>
            </a:r>
            <a:endParaRPr lang="en-US" sz="14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두 가지 대화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vs 맞춤대화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않으면 일반대화, 정하면 맞춤대화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무엇이든 물어보는 창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 질문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 만들기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[일반대화] 카드 · 모바일 [MeAI 일반대화]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일반대화] (10/2부터)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99632" y="1691640"/>
            <a:ext cx="5440680" cy="3931920"/>
          </a:xfrm>
          <a:prstGeom prst="roundRect">
            <a:avLst>
              <a:gd name="adj" fmla="val 3721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65392" y="19202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565392" y="221284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1명에 맞춘 보장분석부터 설계까지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6565392" y="2852928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931152" y="285292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선택 → 보장분석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6565392" y="3282696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931152" y="32826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· 제안 우선순위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6565392" y="3712464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931152" y="371246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상세설계 · 가계약 요청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6565392" y="4142232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931152" y="41422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→ 카카오톡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565392" y="464515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곳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6565392" y="49194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[맞춤대화] 카드 · 고객찾기 · 모바일 [MeAI]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영업포탈 CRM 리스트 [MeAI 맞춤대화] (10/2부터)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만나기 전에는 꼭 맞춤대화로 준비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일반대화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일반대화는 “무엇이든 물어보세요”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고객을 정하지 않고 상품·약관·화법을 일반대화에서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035040" cy="4310743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035040" cy="4310743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264920" y="176609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264920" y="176609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183495" y="23073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183495" y="23073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183495" y="290126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183495" y="290126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2524615" y="386878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2524615" y="386878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524615" y="52530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2524615" y="52530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1111649" y="521469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1111649" y="52146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866862" y="4991753"/>
            <a:ext cx="1982942" cy="129322"/>
          </a:xfrm>
          <a:prstGeom prst="roundRect">
            <a:avLst>
              <a:gd name="adj" fmla="val 21212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6029815"/>
            <a:ext cx="6035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[일반대화] 카드로 들어온 첫 화면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949440" y="17007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49440" y="17007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7333488" y="169164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홈]</a:t>
            </a:r>
            <a:endParaRPr lang="en-US" sz="1350" dirty="0"/>
          </a:p>
        </p:txBody>
      </p:sp>
      <p:sp>
        <p:nvSpPr>
          <p:cNvPr id="26" name="Text 23"/>
          <p:cNvSpPr txBox="1"/>
          <p:nvPr/>
        </p:nvSpPr>
        <p:spPr>
          <a:xfrm>
            <a:off x="7333488" y="198424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MeAI 홈으로 이동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6949440" y="226847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6949440" y="226847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7333488" y="225933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333488" y="255193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원문 찾기 · 화면 사용법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949440" y="28361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949440" y="28361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3" name="Text 30"/>
          <p:cNvSpPr txBox="1"/>
          <p:nvPr/>
        </p:nvSpPr>
        <p:spPr>
          <a:xfrm>
            <a:off x="7333488" y="282702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50" dirty="0"/>
          </a:p>
        </p:txBody>
      </p:sp>
      <p:sp>
        <p:nvSpPr>
          <p:cNvPr id="34" name="Text 31"/>
          <p:cNvSpPr txBox="1"/>
          <p:nvPr/>
        </p:nvSpPr>
        <p:spPr>
          <a:xfrm>
            <a:off x="7333488" y="311962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월별로 쌓임 · 누르면 이어서 질문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6949440" y="340385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6949440" y="340385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7333488" y="339471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 3개</a:t>
            </a:r>
            <a:endParaRPr lang="en-US" sz="1350" dirty="0"/>
          </a:p>
        </p:txBody>
      </p:sp>
      <p:sp>
        <p:nvSpPr>
          <p:cNvPr id="38" name="Text 35"/>
          <p:cNvSpPr txBox="1"/>
          <p:nvPr/>
        </p:nvSpPr>
        <p:spPr>
          <a:xfrm>
            <a:off x="7333488" y="3687318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비교 · 지식 검색 · 자주하는 질문 → 누르면 시작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949440" y="39715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6949440" y="39715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7333488" y="3962400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7333488" y="4255008"/>
            <a:ext cx="4309567" cy="4221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쓰고 전송(↑) · [상품 선택]으로 상품 고르기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테두리 안내대로 이름·연락처는 넣지 않음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6949440" y="47320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6949440" y="47320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7333488" y="4722876"/>
            <a:ext cx="43095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[새로 대화하기]</a:t>
            </a:r>
            <a:endParaRPr lang="en-US" sz="1350" dirty="0"/>
          </a:p>
        </p:txBody>
      </p:sp>
      <p:sp>
        <p:nvSpPr>
          <p:cNvPr id="46" name="Text 43"/>
          <p:cNvSpPr txBox="1"/>
          <p:nvPr/>
        </p:nvSpPr>
        <p:spPr>
          <a:xfrm>
            <a:off x="7333488" y="5015484"/>
            <a:ext cx="4309567" cy="2293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주제가 바뀌면 새로 열기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6949440" y="5308854"/>
            <a:ext cx="4693615" cy="768096"/>
          </a:xfrm>
          <a:prstGeom prst="roundRect">
            <a:avLst>
              <a:gd name="adj" fmla="val 1666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7132320" y="5400294"/>
            <a:ext cx="108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이럴 때 사용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8214360" y="5400294"/>
            <a:ext cx="126517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14360" y="5400294"/>
            <a:ext cx="12651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상품·특약 개념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9570974" y="5400294"/>
            <a:ext cx="15864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9570974" y="5400294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자사·타사 보장 비교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8214360" y="5747766"/>
            <a:ext cx="1251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214360" y="5747766"/>
            <a:ext cx="125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설득 화법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9557004" y="5747766"/>
            <a:ext cx="12512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E2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9557004" y="5747766"/>
            <a:ext cx="12512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지식 확인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PC 맞춤대화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“고객 1명에 맞춘 보장분석부터 설계까지”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선택한 고객의 보장 내역을 읽고 답변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7461504" cy="466344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7461504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802587" y="233934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1802587" y="23393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802587" y="311658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1802587" y="31165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802587" y="402336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1802587" y="40233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1170432" y="561929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1170432" y="5619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636971" y="167609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636971" y="167609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2756002" y="26502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756002" y="2650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2756002" y="412699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2756002" y="41269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973824" y="529803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6973824" y="529803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2756002" y="568147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756002" y="5681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6156655" y="125272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이름·숫자는 예시 · 개발 중 화면이라 왼쪽 위 [MeAI 홈] 자리에 로고가 보임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8421624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8421624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8805672" y="1691640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8805672" y="1993392"/>
            <a:ext cx="283738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남은 일수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(화면엔 '보장분석 동의')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8421624" y="24140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3" name="Text 30"/>
          <p:cNvSpPr txBox="1"/>
          <p:nvPr/>
        </p:nvSpPr>
        <p:spPr>
          <a:xfrm>
            <a:off x="8421624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8805672" y="2395728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검색·사용 가이드</a:t>
            </a:r>
            <a:endParaRPr lang="en-US" sz="1300" dirty="0"/>
          </a:p>
        </p:txBody>
      </p:sp>
      <p:sp>
        <p:nvSpPr>
          <p:cNvPr id="35" name="Text 32"/>
          <p:cNvSpPr txBox="1"/>
          <p:nvPr/>
        </p:nvSpPr>
        <p:spPr>
          <a:xfrm>
            <a:off x="8805672" y="2697480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전사 약관 원문과 화면 안내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8421624" y="292608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8421624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8805672" y="2907792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8805672" y="3209544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월별 목록 · 누르면 이어서 질문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8421624" y="343814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421624" y="34381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8805672" y="3419856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대화하기</a:t>
            </a:r>
            <a:endParaRPr lang="en-US" sz="1300" dirty="0"/>
          </a:p>
        </p:txBody>
      </p:sp>
      <p:sp>
        <p:nvSpPr>
          <p:cNvPr id="43" name="Shape 40"/>
          <p:cNvSpPr/>
          <p:nvPr/>
        </p:nvSpPr>
        <p:spPr>
          <a:xfrm>
            <a:off x="8421624" y="39502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8421624" y="3950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805672" y="3931920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상단 버튼 3개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8805672" y="4233672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분석 · 사용중인 정보 수정 · 요약 리포트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8421624" y="446227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8" name="Text 45"/>
          <p:cNvSpPr txBox="1"/>
          <p:nvPr/>
        </p:nvSpPr>
        <p:spPr>
          <a:xfrm>
            <a:off x="8421624" y="44622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8805672" y="4443984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</a:t>
            </a:r>
            <a:endParaRPr lang="en-US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8805672" y="4745736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복사·편집·저장 아이콘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8421624" y="497433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2" name="Text 49"/>
          <p:cNvSpPr txBox="1"/>
          <p:nvPr/>
        </p:nvSpPr>
        <p:spPr>
          <a:xfrm>
            <a:off x="8421624" y="4974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3" name="Text 50"/>
          <p:cNvSpPr txBox="1"/>
          <p:nvPr/>
        </p:nvSpPr>
        <p:spPr>
          <a:xfrm>
            <a:off x="8805672" y="4956048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8805672" y="5257800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 → 비어 있는 것 → 할 일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8421624" y="54864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8421624" y="54864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7" name="Text 54"/>
          <p:cNvSpPr txBox="1"/>
          <p:nvPr/>
        </p:nvSpPr>
        <p:spPr>
          <a:xfrm>
            <a:off x="8805672" y="5468112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NEW [용어] 버튼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8805672" y="5769864"/>
            <a:ext cx="28373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8421624" y="599846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60" name="Text 57"/>
          <p:cNvSpPr txBox="1"/>
          <p:nvPr/>
        </p:nvSpPr>
        <p:spPr>
          <a:xfrm>
            <a:off x="8421624" y="59984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8805672" y="5980176"/>
            <a:ext cx="28373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맞춤대화 시작 화면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“보장분석 해줘” 한 마디로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21808" cy="2187621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21808" cy="2187621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3668949"/>
            <a:ext cx="5321808" cy="2673605"/>
          </a:xfrm>
          <a:prstGeom prst="roundRect">
            <a:avLst>
              <a:gd name="adj" fmla="val 398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668949"/>
            <a:ext cx="5321808" cy="2673605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310310" y="182616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1310310" y="182616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370465" y="150643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370465" y="15064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2370465" y="2385688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2370465" y="23856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370465" y="3142941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2370465" y="3142941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02762" y="3970744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602762" y="3970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2895331" y="3958043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2895331" y="395804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02762" y="492968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9"/>
          <p:cNvSpPr txBox="1"/>
          <p:nvPr/>
        </p:nvSpPr>
        <p:spPr>
          <a:xfrm>
            <a:off x="602762" y="492968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602762" y="538693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02762" y="538693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6236208" y="1024128"/>
            <a:ext cx="5404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이름·숫자는 예시 · 정보 칸이 열려 있으면 아래가 흐림(^로 접으면 밝아짐)</a:t>
            </a:r>
            <a:endParaRPr lang="en-US" sz="1000" dirty="0"/>
          </a:p>
        </p:txBody>
      </p:sp>
      <p:sp>
        <p:nvSpPr>
          <p:cNvPr id="27" name="Shape 23"/>
          <p:cNvSpPr/>
          <p:nvPr/>
        </p:nvSpPr>
        <p:spPr>
          <a:xfrm>
            <a:off x="6236208" y="14447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6236208" y="14447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9" name="Text 25"/>
          <p:cNvSpPr txBox="1"/>
          <p:nvPr/>
        </p:nvSpPr>
        <p:spPr>
          <a:xfrm>
            <a:off x="6620256" y="14173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고객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8906256" y="1417320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정해진 채로 열렸다는 표시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236208" y="19019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236208" y="1901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3" name="Text 29"/>
          <p:cNvSpPr txBox="1"/>
          <p:nvPr/>
        </p:nvSpPr>
        <p:spPr>
          <a:xfrm>
            <a:off x="6620256" y="187452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정보 입력</a:t>
            </a:r>
            <a:endParaRPr lang="en-US" sz="1350" dirty="0"/>
          </a:p>
        </p:txBody>
      </p:sp>
      <p:sp>
        <p:nvSpPr>
          <p:cNvPr id="34" name="Text 30"/>
          <p:cNvSpPr txBox="1"/>
          <p:nvPr/>
        </p:nvSpPr>
        <p:spPr>
          <a:xfrm>
            <a:off x="8906256" y="1874520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넣으면 고객 맥락을 살려 답변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6236208" y="243230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6" name="Text 32"/>
          <p:cNvSpPr txBox="1"/>
          <p:nvPr/>
        </p:nvSpPr>
        <p:spPr>
          <a:xfrm>
            <a:off x="6236208" y="243230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7" name="Text 33"/>
          <p:cNvSpPr txBox="1"/>
          <p:nvPr/>
        </p:nvSpPr>
        <p:spPr>
          <a:xfrm>
            <a:off x="6620256" y="2331720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칸, 아는 것만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8906256" y="2331720"/>
            <a:ext cx="27340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병력·가족력이 핵심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이름·연락처는 넣지 않음</a:t>
            </a:r>
            <a:endParaRPr lang="en-US" sz="1150" dirty="0"/>
          </a:p>
        </p:txBody>
      </p:sp>
      <p:sp>
        <p:nvSpPr>
          <p:cNvPr id="39" name="Shape 35"/>
          <p:cNvSpPr/>
          <p:nvPr/>
        </p:nvSpPr>
        <p:spPr>
          <a:xfrm>
            <a:off x="6236208" y="29626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0" name="Text 36"/>
          <p:cNvSpPr txBox="1"/>
          <p:nvPr/>
        </p:nvSpPr>
        <p:spPr>
          <a:xfrm>
            <a:off x="6236208" y="2962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41" name="Text 37"/>
          <p:cNvSpPr txBox="1"/>
          <p:nvPr/>
        </p:nvSpPr>
        <p:spPr>
          <a:xfrm>
            <a:off x="6620256" y="2935224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[입력 완료]로 반영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8906256" y="2935224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땐 [사용중인 정보 수정]</a:t>
            </a:r>
            <a:endParaRPr lang="en-US" sz="1150" dirty="0"/>
          </a:p>
        </p:txBody>
      </p:sp>
      <p:sp>
        <p:nvSpPr>
          <p:cNvPr id="43" name="Shape 39"/>
          <p:cNvSpPr/>
          <p:nvPr/>
        </p:nvSpPr>
        <p:spPr>
          <a:xfrm>
            <a:off x="6236208" y="3355848"/>
            <a:ext cx="5404104" cy="420624"/>
          </a:xfrm>
          <a:prstGeom prst="roundRect">
            <a:avLst>
              <a:gd name="adj" fmla="val 26087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437376" y="3355848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아직 고객에 대한 정보를 잘 모르겠다면 </a:t>
            </a:r>
            <a:pPr indent="0" marL="0"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“입력하지 않고 넘어가기”</a:t>
            </a:r>
            <a:endParaRPr lang="en-US" sz="1150" dirty="0"/>
          </a:p>
        </p:txBody>
      </p:sp>
      <p:sp>
        <p:nvSpPr>
          <p:cNvPr id="45" name="Shape 41"/>
          <p:cNvSpPr/>
          <p:nvPr/>
        </p:nvSpPr>
        <p:spPr>
          <a:xfrm>
            <a:off x="6236208" y="39319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2"/>
          <p:cNvSpPr txBox="1"/>
          <p:nvPr/>
        </p:nvSpPr>
        <p:spPr>
          <a:xfrm>
            <a:off x="6236208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7" name="Text 43"/>
          <p:cNvSpPr txBox="1"/>
          <p:nvPr/>
        </p:nvSpPr>
        <p:spPr>
          <a:xfrm>
            <a:off x="6620256" y="39044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계약 총 보험료</a:t>
            </a:r>
            <a:endParaRPr lang="en-US" sz="1350" dirty="0"/>
          </a:p>
        </p:txBody>
      </p:sp>
      <p:sp>
        <p:nvSpPr>
          <p:cNvPr id="48" name="Text 44"/>
          <p:cNvSpPr txBox="1"/>
          <p:nvPr/>
        </p:nvSpPr>
        <p:spPr>
          <a:xfrm>
            <a:off x="8906256" y="39044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"지금 매달 이만큼 내고 계세요"로 시작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6236208" y="43891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6236208" y="4389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50" dirty="0"/>
          </a:p>
        </p:txBody>
      </p:sp>
      <p:sp>
        <p:nvSpPr>
          <p:cNvPr id="51" name="Text 47"/>
          <p:cNvSpPr txBox="1"/>
          <p:nvPr/>
        </p:nvSpPr>
        <p:spPr>
          <a:xfrm>
            <a:off x="6620256" y="43616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약관DB 준비 상태</a:t>
            </a:r>
            <a:endParaRPr lang="en-US" sz="1350" dirty="0"/>
          </a:p>
        </p:txBody>
      </p:sp>
      <p:sp>
        <p:nvSpPr>
          <p:cNvPr id="52" name="Text 48"/>
          <p:cNvSpPr txBox="1"/>
          <p:nvPr/>
        </p:nvSpPr>
        <p:spPr>
          <a:xfrm>
            <a:off x="8906256" y="43616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 안 된 상품은 답이 부정확할 수 있음</a:t>
            </a:r>
            <a:endParaRPr lang="en-US" sz="1150" dirty="0"/>
          </a:p>
        </p:txBody>
      </p:sp>
      <p:sp>
        <p:nvSpPr>
          <p:cNvPr id="53" name="Shape 49"/>
          <p:cNvSpPr/>
          <p:nvPr/>
        </p:nvSpPr>
        <p:spPr>
          <a:xfrm>
            <a:off x="6236208" y="48463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4" name="Text 50"/>
          <p:cNvSpPr txBox="1"/>
          <p:nvPr/>
        </p:nvSpPr>
        <p:spPr>
          <a:xfrm>
            <a:off x="6236208" y="48463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50" dirty="0"/>
          </a:p>
        </p:txBody>
      </p:sp>
      <p:sp>
        <p:nvSpPr>
          <p:cNvPr id="55" name="Text 51"/>
          <p:cNvSpPr txBox="1"/>
          <p:nvPr/>
        </p:nvSpPr>
        <p:spPr>
          <a:xfrm>
            <a:off x="6620256" y="48188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담보별로 거르기</a:t>
            </a:r>
            <a:endParaRPr lang="en-US" sz="1350" dirty="0"/>
          </a:p>
        </p:txBody>
      </p:sp>
      <p:sp>
        <p:nvSpPr>
          <p:cNvPr id="56" name="Text 52"/>
          <p:cNvSpPr txBox="1"/>
          <p:nvPr/>
        </p:nvSpPr>
        <p:spPr>
          <a:xfrm>
            <a:off x="8906256" y="48188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 · 뇌/심장 · 치료비 등 버튼으로 고르기</a:t>
            </a:r>
            <a:endParaRPr lang="en-US" sz="1150" dirty="0"/>
          </a:p>
        </p:txBody>
      </p:sp>
      <p:sp>
        <p:nvSpPr>
          <p:cNvPr id="57" name="Shape 53"/>
          <p:cNvSpPr/>
          <p:nvPr/>
        </p:nvSpPr>
        <p:spPr>
          <a:xfrm>
            <a:off x="6236208" y="530352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8" name="Text 54"/>
          <p:cNvSpPr txBox="1"/>
          <p:nvPr/>
        </p:nvSpPr>
        <p:spPr>
          <a:xfrm>
            <a:off x="6236208" y="5303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50" dirty="0"/>
          </a:p>
        </p:txBody>
      </p:sp>
      <p:sp>
        <p:nvSpPr>
          <p:cNvPr id="59" name="Text 55"/>
          <p:cNvSpPr txBox="1"/>
          <p:nvPr/>
        </p:nvSpPr>
        <p:spPr>
          <a:xfrm>
            <a:off x="6620256" y="527608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상품 전체 선택</a:t>
            </a:r>
            <a:endParaRPr lang="en-US" sz="1350" dirty="0"/>
          </a:p>
        </p:txBody>
      </p:sp>
      <p:sp>
        <p:nvSpPr>
          <p:cNvPr id="60" name="Text 56"/>
          <p:cNvSpPr txBox="1"/>
          <p:nvPr/>
        </p:nvSpPr>
        <p:spPr>
          <a:xfrm>
            <a:off x="8906256" y="5276088"/>
            <a:ext cx="2734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관계없는 계약은 체크를 풀면 분석에서 빠짐</a:t>
            </a:r>
            <a:endParaRPr lang="en-US" sz="1150" dirty="0"/>
          </a:p>
        </p:txBody>
      </p:sp>
      <p:sp>
        <p:nvSpPr>
          <p:cNvPr id="61" name="Shape 57"/>
          <p:cNvSpPr/>
          <p:nvPr/>
        </p:nvSpPr>
        <p:spPr>
          <a:xfrm>
            <a:off x="6236208" y="5760720"/>
            <a:ext cx="5404104" cy="594360"/>
          </a:xfrm>
          <a:prstGeom prst="roundRect">
            <a:avLst>
              <a:gd name="adj" fmla="val 18462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62" name="Text 58"/>
          <p:cNvSpPr txBox="1"/>
          <p:nvPr/>
        </p:nvSpPr>
        <p:spPr>
          <a:xfrm>
            <a:off x="6464808" y="5760720"/>
            <a:ext cx="50383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질문은 버튼 하나   </a:t>
            </a:r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위 [보장분석 해줘]로 전체 그림부터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읽는 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맞춤대화는 분석 → 제안 → 다음 행동 순서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순서에 맞춘 답변 구성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40680" cy="3169512"/>
          </a:xfrm>
          <a:prstGeom prst="roundRect">
            <a:avLst>
              <a:gd name="adj" fmla="val 34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440680" cy="31695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217920" y="1691640"/>
            <a:ext cx="5281466" cy="3310128"/>
          </a:xfrm>
          <a:prstGeom prst="roundRect">
            <a:avLst>
              <a:gd name="adj" fmla="val 319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91640"/>
            <a:ext cx="5281466" cy="33101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15570" y="3159358"/>
            <a:ext cx="4959876" cy="1164052"/>
          </a:xfrm>
          <a:prstGeom prst="roundRect">
            <a:avLst>
              <a:gd name="adj" fmla="val 4713"/>
            </a:avLst>
          </a:prstGeom>
          <a:ln w="22225">
            <a:solidFill>
              <a:srgbClr val="00A86B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9755274" y="2225928"/>
            <a:ext cx="1572157" cy="479017"/>
          </a:xfrm>
          <a:prstGeom prst="roundRect">
            <a:avLst>
              <a:gd name="adj" fmla="val 11453"/>
            </a:avLst>
          </a:prstGeom>
          <a:ln w="22225">
            <a:solidFill>
              <a:srgbClr val="F04452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610959" y="3552436"/>
            <a:ext cx="958033" cy="196520"/>
          </a:xfrm>
          <a:prstGeom prst="roundRect">
            <a:avLst>
              <a:gd name="adj" fmla="val 27918"/>
            </a:avLst>
          </a:prstGeom>
          <a:ln w="22225">
            <a:solidFill>
              <a:srgbClr val="3182F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70861" y="2446498"/>
            <a:ext cx="274320" cy="274320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670861" y="24464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70861" y="3136073"/>
            <a:ext cx="274320" cy="274320"/>
          </a:xfrm>
          <a:prstGeom prst="ellipse">
            <a:avLst/>
          </a:prstGeom>
          <a:solidFill>
            <a:srgbClr val="00A86B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670861" y="313607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9489148" y="2328276"/>
            <a:ext cx="274320" cy="274320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9489148" y="23282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332551" y="350739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32551" y="350739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7985455" y="12527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금액은 예시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48640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191F28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94944" y="5330952"/>
            <a:ext cx="310896" cy="310896"/>
          </a:xfrm>
          <a:prstGeom prst="ellipse">
            <a:avLst/>
          </a:prstGeom>
          <a:solidFill>
            <a:srgbClr val="191F28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694944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1115568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결론</a:t>
            </a:r>
            <a:endParaRPr lang="en-US" sz="1350" dirty="0"/>
          </a:p>
        </p:txBody>
      </p:sp>
      <p:sp>
        <p:nvSpPr>
          <p:cNvPr id="27" name="Text 23"/>
          <p:cNvSpPr txBox="1"/>
          <p:nvPr/>
        </p:nvSpPr>
        <p:spPr>
          <a:xfrm>
            <a:off x="1115568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상담 주제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3111932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3386252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00A86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3532556" y="5330952"/>
            <a:ext cx="310896" cy="310896"/>
          </a:xfrm>
          <a:prstGeom prst="ellipse">
            <a:avLst/>
          </a:prstGeom>
          <a:solidFill>
            <a:srgbClr val="00A86B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3532556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3953180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 갖춰진 것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3953180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보장분석</a:t>
            </a:r>
            <a:endParaRPr lang="en-US" sz="1100" dirty="0"/>
          </a:p>
        </p:txBody>
      </p:sp>
      <p:sp>
        <p:nvSpPr>
          <p:cNvPr id="34" name="Text 30"/>
          <p:cNvSpPr txBox="1"/>
          <p:nvPr/>
        </p:nvSpPr>
        <p:spPr>
          <a:xfrm>
            <a:off x="5949544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35" name="Shape 31"/>
          <p:cNvSpPr/>
          <p:nvPr/>
        </p:nvSpPr>
        <p:spPr>
          <a:xfrm>
            <a:off x="6223864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F0445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6370168" y="5330952"/>
            <a:ext cx="310896" cy="310896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3"/>
          <p:cNvSpPr txBox="1"/>
          <p:nvPr/>
        </p:nvSpPr>
        <p:spPr>
          <a:xfrm>
            <a:off x="6370168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6790792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있는 것</a:t>
            </a:r>
            <a:endParaRPr lang="en-US" sz="1350" dirty="0"/>
          </a:p>
        </p:txBody>
      </p:sp>
      <p:sp>
        <p:nvSpPr>
          <p:cNvPr id="39" name="Text 35"/>
          <p:cNvSpPr txBox="1"/>
          <p:nvPr/>
        </p:nvSpPr>
        <p:spPr>
          <a:xfrm>
            <a:off x="6790792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'미가입' 줄이 제안 포인트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8787155" y="5266944"/>
            <a:ext cx="292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41" name="Shape 37"/>
          <p:cNvSpPr/>
          <p:nvPr/>
        </p:nvSpPr>
        <p:spPr>
          <a:xfrm>
            <a:off x="9061475" y="5184648"/>
            <a:ext cx="2581580" cy="603504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9525">
            <a:solidFill>
              <a:srgbClr val="3182F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9207779" y="53309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3" name="Text 39"/>
          <p:cNvSpPr txBox="1"/>
          <p:nvPr/>
        </p:nvSpPr>
        <p:spPr>
          <a:xfrm>
            <a:off x="9207779" y="5330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9628403" y="5248656"/>
            <a:ext cx="19232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이제 하면 되는 일</a:t>
            </a:r>
            <a:endParaRPr lang="en-US" sz="1350" dirty="0"/>
          </a:p>
        </p:txBody>
      </p:sp>
      <p:sp>
        <p:nvSpPr>
          <p:cNvPr id="45" name="Text 41"/>
          <p:cNvSpPr txBox="1"/>
          <p:nvPr/>
        </p:nvSpPr>
        <p:spPr>
          <a:xfrm>
            <a:off x="9628403" y="5522976"/>
            <a:ext cx="19232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해야 할 액션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548640" y="5916168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777240" y="5916168"/>
            <a:ext cx="10637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사용자가 가장 많이 사용하는 질문  </a:t>
            </a:r>
            <a:pPr indent="0" marL="0"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“가입증권 별로 핵심만 표로 요약해줘”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 버튼 하나로 바로 뜻풀이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371600"/>
            <a:ext cx="5394960" cy="1383323"/>
          </a:xfrm>
          <a:prstGeom prst="roundRect">
            <a:avLst>
              <a:gd name="adj" fmla="val 7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9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5394960" cy="1383323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48640" y="2782355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오른쪽 위 [용어] 버튼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3154680"/>
            <a:ext cx="5394960" cy="2669814"/>
          </a:xfrm>
          <a:prstGeom prst="roundRect">
            <a:avLst>
              <a:gd name="adj" fmla="val 40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154680"/>
            <a:ext cx="5394960" cy="266981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8640" y="5851926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어려운 말에 표시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360224" y="1371600"/>
            <a:ext cx="5092065" cy="3291840"/>
          </a:xfrm>
          <a:prstGeom prst="roundRect">
            <a:avLst>
              <a:gd name="adj" fmla="val 30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60224" y="1371600"/>
            <a:ext cx="5092065" cy="329184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360224" y="4690872"/>
            <a:ext cx="509206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· 뜻을 한 번에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172200" y="5029200"/>
            <a:ext cx="2377440" cy="981166"/>
          </a:xfrm>
          <a:prstGeom prst="roundRect">
            <a:avLst>
              <a:gd name="adj" fmla="val 48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5029200"/>
            <a:ext cx="2377440" cy="98116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172200" y="603779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용어를 누르면 뜻 표시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8823960" y="5029200"/>
            <a:ext cx="2816352" cy="1051560"/>
          </a:xfrm>
          <a:prstGeom prst="roundRect">
            <a:avLst>
              <a:gd name="adj" fmla="val 1043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9052560" y="5120640"/>
            <a:ext cx="23591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현장에서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 뜻풀이라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그대로 읽어 주기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용어 설명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 [용어]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화면 · 오른쪽 아래 [용어]</a:t>
            </a:r>
            <a:endParaRPr lang="en-US" sz="1000" dirty="0"/>
          </a:p>
        </p:txBody>
      </p:sp>
      <p:pic>
        <p:nvPicPr>
          <p:cNvPr id="10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[용어]를 켜면 용어에 표시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361636" y="2049989"/>
            <a:ext cx="1686281" cy="1162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6] 목록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8686800" y="16184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1"/>
          <p:cNvSpPr txBox="1"/>
          <p:nvPr/>
        </p:nvSpPr>
        <p:spPr>
          <a:xfrm>
            <a:off x="8686800" y="16184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9070848" y="160020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위치만 다름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9070848" y="189280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PC는 입력창 오른쪽 위,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모바일은 오른쪽 아래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686800" y="26243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0" y="26243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260604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끄기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070848" y="289864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누르면 표시,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누르면 원래대로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36301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686800" y="36301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36118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목록으로 보기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70848" y="390448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끝 [용어 설명 N]에서 한 번에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686800" y="4407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8686800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43891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그대로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9070848" y="4681728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뜻풀이를 그대로 읽어 주기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(PC)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간편·상세 선택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때는 상세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1691640"/>
            <a:ext cx="6828817" cy="4114800"/>
          </a:xfrm>
          <a:prstGeom prst="roundRect">
            <a:avLst>
              <a:gd name="adj" fmla="val 311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0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828817" cy="41148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957202" y="2602149"/>
            <a:ext cx="2848259" cy="14591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57202" y="2978609"/>
            <a:ext cx="3379389" cy="78794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405654" y="2978609"/>
            <a:ext cx="930937" cy="154670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5833872"/>
            <a:ext cx="682881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분석]을 누르면 두 가지가 펼쳐짐 · ※ 답 아래 질문 버튼 일부는 가림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635240" y="16916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863840" y="18928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상담 · 직관적 검토용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7863840" y="21488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 분석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863840" y="25328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모드. 고객과 함께 보는 화면, 첫 상담용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635240" y="3291840"/>
            <a:ext cx="4005072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863840" y="3493008"/>
            <a:ext cx="3547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· 담보 정밀 검토용</a:t>
            </a:r>
            <a:endParaRPr lang="en-US" sz="950" dirty="0"/>
          </a:p>
        </p:txBody>
      </p:sp>
      <p:sp>
        <p:nvSpPr>
          <p:cNvPr id="21" name="Text 18"/>
          <p:cNvSpPr txBox="1"/>
          <p:nvPr/>
        </p:nvSpPr>
        <p:spPr>
          <a:xfrm>
            <a:off x="7863840" y="3749040"/>
            <a:ext cx="35478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분석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7863840" y="4133088"/>
            <a:ext cx="35478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근거를 확인하거나 자사·타사 담보를 숫자로 비교할 때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7635240" y="4892040"/>
            <a:ext cx="4005072" cy="777240"/>
          </a:xfrm>
          <a:prstGeom prst="roundRect">
            <a:avLst>
              <a:gd name="adj" fmla="val 1411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863840" y="4983480"/>
            <a:ext cx="35478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바꾸면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대화에 아래 안내줄이 붙고,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질문부터 그 모드로 답변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7635240" y="5760720"/>
            <a:ext cx="4005072" cy="421587"/>
          </a:xfrm>
          <a:prstGeom prst="roundRect">
            <a:avLst>
              <a:gd name="adj" fmla="val 19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6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5760720"/>
            <a:ext cx="4005072" cy="421587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NEW 모드 변경 (모바일)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모바일도 입력창 아래 [간편 분석]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9250375" y="384048"/>
            <a:ext cx="2392680" cy="274320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250375" y="384048"/>
            <a:ext cx="2392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진행 중 · 오픈 시 세부 변경 가능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770" y="1371600"/>
            <a:ext cx="2230341" cy="46634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84700" y="3982354"/>
            <a:ext cx="1579583" cy="208551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84700" y="4341526"/>
            <a:ext cx="1579583" cy="214344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4864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[간편 분석] · [상품 선택]</a:t>
            </a:r>
            <a:endParaRPr lang="en-US" sz="1000" dirty="0"/>
          </a:p>
        </p:txBody>
      </p:sp>
      <p:pic>
        <p:nvPicPr>
          <p:cNvPr id="12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8250" y="1371600"/>
            <a:ext cx="2230341" cy="4663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782180" y="3982354"/>
            <a:ext cx="1579583" cy="65655"/>
          </a:xfrm>
          <a:prstGeom prst="rect">
            <a:avLst/>
          </a:prstGeom>
          <a:solidFill>
            <a:srgbClr val="8B8C8D"/>
          </a:solidFill>
          <a:ln w="12700">
            <a:solidFill>
              <a:srgbClr val="8B8C8D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24612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"분석 모드" 선택창 · 간편 / 상세</a:t>
            </a:r>
            <a:endParaRPr lang="en-US" sz="1000" dirty="0"/>
          </a:p>
        </p:txBody>
      </p:sp>
      <p:pic>
        <p:nvPicPr>
          <p:cNvPr id="15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0280" y="1371600"/>
            <a:ext cx="2221240" cy="466344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6479869" y="3689752"/>
            <a:ext cx="1585492" cy="209331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479869" y="4050268"/>
            <a:ext cx="1585492" cy="215146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943600" y="6071616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뒤 · 버튼과 안내줄이 바뀜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686800" y="175564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686800" y="17556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1" name="Text 16"/>
          <p:cNvSpPr txBox="1"/>
          <p:nvPr/>
        </p:nvSpPr>
        <p:spPr>
          <a:xfrm>
            <a:off x="9070848" y="173736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버튼을 누르면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9070848" y="2029968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"분석 모드" 선택창이 올라옴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8686800" y="28163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686800" y="28163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9070848" y="279806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고르면 끝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9070848" y="3090672"/>
            <a:ext cx="2569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선택창이 닫히고 버튼 이름이 바뀜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8686800" y="364845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8686800" y="3648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9" name="Text 24"/>
          <p:cNvSpPr txBox="1"/>
          <p:nvPr/>
        </p:nvSpPr>
        <p:spPr>
          <a:xfrm>
            <a:off x="9070848" y="363016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질문마다 바꾸기 가능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9070848" y="3922776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간편, 약관을 따질 땐 상세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8686800" y="6071616"/>
            <a:ext cx="2953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답 아래 질문 버튼 일부는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답변 아래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버튼으로 이어가기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이어서 물을 질문은 꼬리질문이 제시 · 타이핑 없이 버튼만 누르기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6483927" cy="4572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6483927" cy="45720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36567" y="3221182"/>
            <a:ext cx="2704407" cy="13854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36567" y="3578629"/>
            <a:ext cx="3208713" cy="138545"/>
          </a:xfrm>
          <a:prstGeom prst="rect">
            <a:avLst/>
          </a:prstGeom>
          <a:solidFill>
            <a:srgbClr val="F8F9FA"/>
          </a:solidFill>
          <a:ln w="12700">
            <a:solidFill>
              <a:srgbClr val="F8F9F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28255" y="1252728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꼬리질문 둘째·셋째 줄 글자는 가림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10065" y="1760636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10065" y="17606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310065" y="2816352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10065" y="28163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310065" y="4013385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310065" y="401338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310065" y="4944410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310065" y="494441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310065" y="5360047"/>
            <a:ext cx="310896" cy="31089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310065" y="5360047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아래 아이콘</a:t>
            </a:r>
            <a:endParaRPr lang="en-US" sz="1350" dirty="0"/>
          </a:p>
        </p:txBody>
      </p:sp>
      <p:sp>
        <p:nvSpPr>
          <p:cNvPr id="25" name="Text 22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복사 · 출처 · 좋아요/싫어요 평가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498080" y="2276475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4"/>
          <p:cNvSpPr txBox="1"/>
          <p:nvPr/>
        </p:nvSpPr>
        <p:spPr>
          <a:xfrm>
            <a:off x="7498080" y="227647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7882128" y="2258187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3개</a:t>
            </a:r>
            <a:endParaRPr lang="en-US" sz="1350" dirty="0"/>
          </a:p>
        </p:txBody>
      </p:sp>
      <p:sp>
        <p:nvSpPr>
          <p:cNvPr id="29" name="Text 26"/>
          <p:cNvSpPr txBox="1"/>
          <p:nvPr/>
        </p:nvSpPr>
        <p:spPr>
          <a:xfrm>
            <a:off x="7882128" y="2550795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글자는 ‘질문 예시’ · 누르면 바로 전송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7498080" y="284302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1" name="Text 28"/>
          <p:cNvSpPr txBox="1"/>
          <p:nvPr/>
        </p:nvSpPr>
        <p:spPr>
          <a:xfrm>
            <a:off x="7498080" y="284302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7882128" y="2824734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더보기</a:t>
            </a:r>
            <a:endParaRPr 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7882128" y="3117342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만든 질문 모음에서 골라 쓰기</a:t>
            </a:r>
            <a:endParaRPr lang="en-US" sz="1150" dirty="0"/>
          </a:p>
        </p:txBody>
      </p:sp>
      <p:sp>
        <p:nvSpPr>
          <p:cNvPr id="34" name="Shape 31"/>
          <p:cNvSpPr/>
          <p:nvPr/>
        </p:nvSpPr>
        <p:spPr>
          <a:xfrm>
            <a:off x="7498080" y="340956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7498080" y="340956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6" name="Text 33"/>
          <p:cNvSpPr txBox="1"/>
          <p:nvPr/>
        </p:nvSpPr>
        <p:spPr>
          <a:xfrm>
            <a:off x="7882128" y="3391281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882128" y="3683889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쓰거나, 모바일은 마이크로 말하기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7498080" y="3976116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7498080" y="39761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7882128" y="3957828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모드 · 상품 선택</a:t>
            </a:r>
            <a:endParaRPr lang="en-US" sz="1350" dirty="0"/>
          </a:p>
        </p:txBody>
      </p:sp>
      <p:sp>
        <p:nvSpPr>
          <p:cNvPr id="41" name="Text 38"/>
          <p:cNvSpPr txBox="1"/>
          <p:nvPr/>
        </p:nvSpPr>
        <p:spPr>
          <a:xfrm>
            <a:off x="7882128" y="4250436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간편/상세를 고르고 분석할 상품 좁히기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7498080" y="4617720"/>
            <a:ext cx="4142232" cy="1737360"/>
          </a:xfrm>
          <a:prstGeom prst="roundRect">
            <a:avLst>
              <a:gd name="adj" fmla="val 7368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72400" y="4745736"/>
            <a:ext cx="3593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 늘어나는 영업기회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7772400" y="502920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400" dirty="0"/>
          </a:p>
        </p:txBody>
      </p:sp>
      <p:sp>
        <p:nvSpPr>
          <p:cNvPr id="45" name="Text 42"/>
          <p:cNvSpPr txBox="1"/>
          <p:nvPr/>
        </p:nvSpPr>
        <p:spPr>
          <a:xfrm>
            <a:off x="7772400" y="5596128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D1D6D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3건 이상 평균 가계약 수</a:t>
            </a:r>
            <a:endParaRPr lang="en-US" sz="10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9464040" y="4983480"/>
          <a:ext cx="1920240" cy="868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7" name="Text 43"/>
          <p:cNvSpPr txBox="1"/>
          <p:nvPr/>
        </p:nvSpPr>
        <p:spPr>
          <a:xfrm>
            <a:off x="9464040" y="528180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</a:t>
            </a:r>
            <a:endParaRPr lang="en-US" sz="1000" dirty="0"/>
          </a:p>
        </p:txBody>
      </p:sp>
      <p:sp>
        <p:nvSpPr>
          <p:cNvPr id="48" name="Text 44"/>
          <p:cNvSpPr txBox="1"/>
          <p:nvPr/>
        </p:nvSpPr>
        <p:spPr>
          <a:xfrm>
            <a:off x="9464040" y="58887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1개</a:t>
            </a:r>
            <a:endParaRPr lang="en-US" sz="950" dirty="0"/>
          </a:p>
        </p:txBody>
      </p:sp>
      <p:sp>
        <p:nvSpPr>
          <p:cNvPr id="49" name="Text 45"/>
          <p:cNvSpPr txBox="1"/>
          <p:nvPr/>
        </p:nvSpPr>
        <p:spPr>
          <a:xfrm>
            <a:off x="10104120" y="5165287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17.02건</a:t>
            </a:r>
            <a:endParaRPr lang="en-US" sz="1000" dirty="0"/>
          </a:p>
        </p:txBody>
      </p:sp>
      <p:sp>
        <p:nvSpPr>
          <p:cNvPr id="50" name="Text 46"/>
          <p:cNvSpPr txBox="1"/>
          <p:nvPr/>
        </p:nvSpPr>
        <p:spPr>
          <a:xfrm>
            <a:off x="10104120" y="58887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</a:t>
            </a:r>
            <a:endParaRPr lang="en-US" sz="950" dirty="0"/>
          </a:p>
        </p:txBody>
      </p:sp>
      <p:sp>
        <p:nvSpPr>
          <p:cNvPr id="51" name="Text 47"/>
          <p:cNvSpPr txBox="1"/>
          <p:nvPr/>
        </p:nvSpPr>
        <p:spPr>
          <a:xfrm>
            <a:off x="10744200" y="491580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27.79건</a:t>
            </a:r>
            <a:endParaRPr lang="en-US" sz="1000" dirty="0"/>
          </a:p>
        </p:txBody>
      </p:sp>
      <p:sp>
        <p:nvSpPr>
          <p:cNvPr id="52" name="Text 48"/>
          <p:cNvSpPr txBox="1"/>
          <p:nvPr/>
        </p:nvSpPr>
        <p:spPr>
          <a:xfrm>
            <a:off x="10744200" y="588873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이상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9464040" y="5852160"/>
            <a:ext cx="1920240" cy="0"/>
          </a:xfrm>
          <a:prstGeom prst="line">
            <a:avLst/>
          </a:prstGeom>
          <a:noFill/>
          <a:ln w="9525">
            <a:solidFill>
              <a:srgbClr val="4E5968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7772400" y="6126480"/>
            <a:ext cx="35935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9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요약 리포트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리포트는 네 단계로 발송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하나로 발송까지 완료 · PC는 오른쪽 위 [요약 리포트]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7734" y="1691640"/>
            <a:ext cx="1753573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098901" y="3074265"/>
            <a:ext cx="1509084" cy="21076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09410" y="2172186"/>
            <a:ext cx="282426" cy="126460"/>
          </a:xfrm>
          <a:prstGeom prst="roundRect">
            <a:avLst>
              <a:gd name="adj" fmla="val 21692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48640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914400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생성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화면 상단 [요약 생성]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3127248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15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4086" y="1691640"/>
            <a:ext cx="1753573" cy="356616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3364992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3364992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4"/>
          <p:cNvSpPr txBox="1"/>
          <p:nvPr/>
        </p:nvSpPr>
        <p:spPr>
          <a:xfrm>
            <a:off x="3730752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→ 편집하기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3364992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넣을 답변만 체크, 내부용은 빼기</a:t>
            </a:r>
            <a:endParaRPr lang="en-US" sz="1150" dirty="0"/>
          </a:p>
        </p:txBody>
      </p:sp>
      <p:sp>
        <p:nvSpPr>
          <p:cNvPr id="20" name="Text 16"/>
          <p:cNvSpPr txBox="1"/>
          <p:nvPr/>
        </p:nvSpPr>
        <p:spPr>
          <a:xfrm>
            <a:off x="5943600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1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0438" y="1691640"/>
            <a:ext cx="1753573" cy="3566160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181344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6181344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6547104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생성하기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6181344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 링크 전송</a:t>
            </a:r>
            <a:endParaRPr lang="en-US" sz="1150" dirty="0"/>
          </a:p>
        </p:txBody>
      </p:sp>
      <p:sp>
        <p:nvSpPr>
          <p:cNvPr id="26" name="Text 21"/>
          <p:cNvSpPr txBox="1"/>
          <p:nvPr/>
        </p:nvSpPr>
        <p:spPr>
          <a:xfrm>
            <a:off x="8759952" y="324612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200" dirty="0"/>
          </a:p>
        </p:txBody>
      </p:sp>
      <p:pic>
        <p:nvPicPr>
          <p:cNvPr id="27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7696" y="2364835"/>
            <a:ext cx="2651760" cy="2219769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8997696" y="5358384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997696" y="5358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4"/>
          <p:cNvSpPr txBox="1"/>
          <p:nvPr/>
        </p:nvSpPr>
        <p:spPr>
          <a:xfrm>
            <a:off x="9363456" y="534009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도착</a:t>
            </a:r>
            <a:endParaRPr lang="en-US" sz="1350" dirty="0"/>
          </a:p>
        </p:txBody>
      </p:sp>
      <p:sp>
        <p:nvSpPr>
          <p:cNvPr id="31" name="Text 25"/>
          <p:cNvSpPr txBox="1"/>
          <p:nvPr/>
        </p:nvSpPr>
        <p:spPr>
          <a:xfrm>
            <a:off x="8997696" y="566013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[요약레포트 확인하기] · 받은 날부터 7일</a:t>
            </a:r>
            <a:endParaRPr lang="en-US" sz="1150" dirty="0"/>
          </a:p>
        </p:txBody>
      </p:sp>
      <p:sp>
        <p:nvSpPr>
          <p:cNvPr id="32" name="Shape 26"/>
          <p:cNvSpPr/>
          <p:nvPr/>
        </p:nvSpPr>
        <p:spPr>
          <a:xfrm>
            <a:off x="548640" y="5980176"/>
            <a:ext cx="6766560" cy="365760"/>
          </a:xfrm>
          <a:prstGeom prst="roundRect">
            <a:avLst>
              <a:gd name="adj" fmla="val 30000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6071616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보내기 전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숫자·약관 근거·개인정보 확인. "AI로 생성된 보조자료" 표시가 붙음</a:t>
            </a:r>
            <a:endParaRPr lang="en-US" sz="1100" dirty="0"/>
          </a:p>
        </p:txBody>
      </p:sp>
      <p:sp>
        <p:nvSpPr>
          <p:cNvPr id="34" name="Text 28"/>
          <p:cNvSpPr txBox="1"/>
          <p:nvPr/>
        </p:nvSpPr>
        <p:spPr>
          <a:xfrm>
            <a:off x="7498080" y="6035040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2026.06 실제 화면 · 이름과 일부 글자는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6 · 모바일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→ 보장분석 → MeAI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모바일 MeAI 홈·고객찾기·게시판은 PC 오픈 뒤 순차 적용 예정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pic>
        <p:nvPicPr>
          <p:cNvPr id="7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4528" y="1691640"/>
            <a:ext cx="2142785" cy="43434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4864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앱 홈 · [보장분석]</a:t>
            </a:r>
            <a:endParaRPr lang="en-US" sz="1000" dirty="0"/>
          </a:p>
        </p:txBody>
      </p:sp>
      <p:pic>
        <p:nvPicPr>
          <p:cNvPr id="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1691640"/>
            <a:ext cx="2194560" cy="4295067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3958829" y="2271631"/>
            <a:ext cx="702259" cy="100323"/>
          </a:xfrm>
          <a:prstGeom prst="rect">
            <a:avLst/>
          </a:prstGeom>
          <a:solidFill>
            <a:srgbClr val="37383C"/>
          </a:solidFill>
          <a:ln w="12700">
            <a:solidFill>
              <a:srgbClr val="37383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880360" y="60716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상단 버튼 · ③ 카드 [MeAI]</a:t>
            </a:r>
            <a:endParaRPr lang="en-US" sz="1000" dirty="0"/>
          </a:p>
        </p:txBody>
      </p:sp>
      <p:pic>
        <p:nvPicPr>
          <p:cNvPr id="1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239" y="1691640"/>
            <a:ext cx="2068801" cy="43434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212080" y="60716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대화 화면 ≡ 메뉴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7498080" y="170992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7498080" y="17099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1"/>
          <p:cNvSpPr txBox="1"/>
          <p:nvPr/>
        </p:nvSpPr>
        <p:spPr>
          <a:xfrm>
            <a:off x="7882128" y="169164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[보장분석] 누르기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7882128" y="198424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홈 아이콘 묶음의 첫 번째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7498080" y="238620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4"/>
          <p:cNvSpPr txBox="1"/>
          <p:nvPr/>
        </p:nvSpPr>
        <p:spPr>
          <a:xfrm>
            <a:off x="7498080" y="238620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5"/>
          <p:cNvSpPr txBox="1"/>
          <p:nvPr/>
        </p:nvSpPr>
        <p:spPr>
          <a:xfrm>
            <a:off x="7882128" y="236791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일반대화]</a:t>
            </a:r>
            <a:endParaRPr lang="en-US" sz="1350" dirty="0"/>
          </a:p>
        </p:txBody>
      </p:sp>
      <p:sp>
        <p:nvSpPr>
          <p:cNvPr id="21" name="Text 16"/>
          <p:cNvSpPr txBox="1"/>
          <p:nvPr/>
        </p:nvSpPr>
        <p:spPr>
          <a:xfrm>
            <a:off x="7882128" y="266052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위, 무엇이든 묻는 창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7498080" y="306247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18"/>
          <p:cNvSpPr txBox="1"/>
          <p:nvPr/>
        </p:nvSpPr>
        <p:spPr>
          <a:xfrm>
            <a:off x="7498080" y="306247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19"/>
          <p:cNvSpPr txBox="1"/>
          <p:nvPr/>
        </p:nvSpPr>
        <p:spPr>
          <a:xfrm>
            <a:off x="7882128" y="3044190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카드의 [MeAI]</a:t>
            </a:r>
            <a:endParaRPr lang="en-US" sz="1350" dirty="0"/>
          </a:p>
        </p:txBody>
      </p:sp>
      <p:sp>
        <p:nvSpPr>
          <p:cNvPr id="25" name="Text 20"/>
          <p:cNvSpPr txBox="1"/>
          <p:nvPr/>
        </p:nvSpPr>
        <p:spPr>
          <a:xfrm>
            <a:off x="7882128" y="3336798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고객 맞춤대화가 열림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7498080" y="373875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7498080" y="373875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28" name="Text 23"/>
          <p:cNvSpPr txBox="1"/>
          <p:nvPr/>
        </p:nvSpPr>
        <p:spPr>
          <a:xfrm>
            <a:off x="7882128" y="3720465"/>
            <a:ext cx="37581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≡ 메뉴</a:t>
            </a:r>
            <a:endParaRPr lang="en-US" sz="1350" dirty="0"/>
          </a:p>
        </p:txBody>
      </p:sp>
      <p:sp>
        <p:nvSpPr>
          <p:cNvPr id="29" name="Text 24"/>
          <p:cNvSpPr txBox="1"/>
          <p:nvPr/>
        </p:nvSpPr>
        <p:spPr>
          <a:xfrm>
            <a:off x="7882128" y="4013073"/>
            <a:ext cx="3758184" cy="2647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 검색 · 사용 가이드 · 월별 대화 목록</a:t>
            </a:r>
            <a:endParaRPr lang="en-US" sz="1150" dirty="0"/>
          </a:p>
        </p:txBody>
      </p:sp>
      <p:sp>
        <p:nvSpPr>
          <p:cNvPr id="30" name="Shape 25"/>
          <p:cNvSpPr/>
          <p:nvPr/>
        </p:nvSpPr>
        <p:spPr>
          <a:xfrm>
            <a:off x="7498080" y="4389120"/>
            <a:ext cx="4142232" cy="713232"/>
          </a:xfrm>
          <a:prstGeom prst="roundRect">
            <a:avLst>
              <a:gd name="adj" fmla="val 15385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7726680" y="4480560"/>
            <a:ext cx="3685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이력·저장한 나의 질문은 PC와 모바일이 같음</a:t>
            </a:r>
            <a:endParaRPr lang="en-US" sz="1150" dirty="0"/>
          </a:p>
        </p:txBody>
      </p:sp>
      <p:sp>
        <p:nvSpPr>
          <p:cNvPr id="32" name="Shape 27"/>
          <p:cNvSpPr/>
          <p:nvPr/>
        </p:nvSpPr>
        <p:spPr>
          <a:xfrm>
            <a:off x="7498080" y="5230368"/>
            <a:ext cx="4142232" cy="768096"/>
          </a:xfrm>
          <a:prstGeom prst="roundRect">
            <a:avLst>
              <a:gd name="adj" fmla="val 14286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7726680" y="5321808"/>
            <a:ext cx="368503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TIP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목록 위 "오늘 보장분석 활용"에서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쓴 횟수 확인</a:t>
            </a:r>
            <a:endParaRPr lang="en-US" sz="1150" dirty="0"/>
          </a:p>
        </p:txBody>
      </p:sp>
      <p:sp>
        <p:nvSpPr>
          <p:cNvPr id="34" name="Text 29"/>
          <p:cNvSpPr txBox="1"/>
          <p:nvPr/>
        </p:nvSpPr>
        <p:spPr>
          <a:xfrm>
            <a:off x="7498080" y="6071616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 속 이름은 예시 · 일부 글자는 가림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07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영업의 하루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루틴과 시나리오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MeAI 홈을 열면 오늘 연락할 고객과 첫 말까지 한 화면에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아침 루틴 4단계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시작하는 시나리오 3가지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주간·월간 루틴 · 첫 5일 미션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사이클에서 이 파트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아침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홈만 열면 첫 말까지 정해짐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화면 순서대로 누르기만 하면 끝 · 서은아 고객(예시)으로 따라가 보기 · 화면 속 질문 문장도 예시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58368" y="2659571"/>
            <a:ext cx="2432304" cy="2178939"/>
          </a:xfrm>
          <a:prstGeom prst="roundRect">
            <a:avLst>
              <a:gd name="adj" fmla="val 22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1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59571"/>
            <a:ext cx="2432304" cy="2178939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2708999" y="2592070"/>
            <a:ext cx="219456" cy="219456"/>
          </a:xfrm>
          <a:prstGeom prst="ellips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 게시판 빨간 점 확인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3364992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3566160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566160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636220" y="2606040"/>
            <a:ext cx="2109304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18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6220" y="2606040"/>
            <a:ext cx="2109304" cy="22860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566160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#이벤트 임박, #당월 타겟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카드부터 읽기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181344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6382512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6382512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고객찾기에서 열기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6291072" y="2904014"/>
            <a:ext cx="2432304" cy="1690052"/>
          </a:xfrm>
          <a:prstGeom prst="roundRect">
            <a:avLst>
              <a:gd name="adj" fmla="val 28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24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904014"/>
            <a:ext cx="2432304" cy="1690052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6382512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카드를 누르면 펼쳐짐.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보고 추천 질문 선택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997696" y="1691640"/>
            <a:ext cx="2651760" cy="3931920"/>
          </a:xfrm>
          <a:prstGeom prst="roundRect">
            <a:avLst>
              <a:gd name="adj" fmla="val 482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7" name="Text 22"/>
          <p:cNvSpPr txBox="1"/>
          <p:nvPr/>
        </p:nvSpPr>
        <p:spPr>
          <a:xfrm>
            <a:off x="9198864" y="18288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800" dirty="0"/>
          </a:p>
        </p:txBody>
      </p:sp>
      <p:sp>
        <p:nvSpPr>
          <p:cNvPr id="28" name="Text 23"/>
          <p:cNvSpPr txBox="1"/>
          <p:nvPr/>
        </p:nvSpPr>
        <p:spPr>
          <a:xfrm>
            <a:off x="9198864" y="2194560"/>
            <a:ext cx="2249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→ 리포트</a:t>
            </a:r>
            <a:endParaRPr lang="en-US" sz="1450" dirty="0"/>
          </a:p>
        </p:txBody>
      </p:sp>
      <p:sp>
        <p:nvSpPr>
          <p:cNvPr id="29" name="Shape 24"/>
          <p:cNvSpPr/>
          <p:nvPr/>
        </p:nvSpPr>
        <p:spPr>
          <a:xfrm>
            <a:off x="9297209" y="2606040"/>
            <a:ext cx="2052735" cy="2286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30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7209" y="2606040"/>
            <a:ext cx="2052735" cy="2286000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9198864" y="4983480"/>
            <a:ext cx="22494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빨간 질문을 누르면 맞춤대화 시작.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리포트는 카카오톡으로 발송</a:t>
            </a:r>
            <a:endParaRPr lang="en-US" sz="1200" dirty="0"/>
          </a:p>
        </p:txBody>
      </p:sp>
      <p:sp>
        <p:nvSpPr>
          <p:cNvPr id="32" name="Shape 26"/>
          <p:cNvSpPr/>
          <p:nvPr/>
        </p:nvSpPr>
        <p:spPr>
          <a:xfrm>
            <a:off x="548640" y="5760720"/>
            <a:ext cx="11094415" cy="54864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77240" y="5852160"/>
            <a:ext cx="106372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1 · 이벤트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자동차보험 만기 9일 전, 운전자 보장까지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만기 안내를 계기로 비어 있는 운전자 보장까지 함께 점검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648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64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29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추천 카드(세트 2) · #이벤트 임박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자동차보험 만기 9일,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운전자보험 없음.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D-18로 유효.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펼치기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보기 6칸,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확인.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운전자 보장 빈 곳.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이유를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자동차보험 만기가 9일 뒤예요.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갱신 안내 드리면서 운전자 보장도 같이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"자동차보험만 있고 운전자보험이 없는 고객에게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운전자 보장이 필요한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2 · 동의 만료 임박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전, 재동의로 보장 점검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재동의를 계기로 신담보와 보장 공백까지 함께 점검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46644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4664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114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D-90은 사전조회동의(가입설계동의와 별개)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가입설계동의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연락 명분.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먼저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전에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부탁.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점검도 약속.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공백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신담보와 비교.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결과 발송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신담보 기준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점검 요약 발송.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이달 말 동의가 만료돼 연장 부탁드려요.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"최근 신담보 기준으로 이 고객 보장의 빈 곳을 알려줘"</a:t>
            </a:r>
            <a:endParaRPr lang="en-US" sz="125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시나리오 3 · 동의부터 · AI 추천 고객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김민수 고객, 동의만 받으면 MeAI로 계약까지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 · AI 추천 고객 · MeAI 홈에서 설계 및 계약체결까지 한큐에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3864896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000000">
                <a:alpha val="10000"/>
              </a:srgbClr>
            </a:outerShdw>
          </a:effectLst>
        </p:spPr>
      </p:sp>
      <p:pic>
        <p:nvPicPr>
          <p:cNvPr id="8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566160" cy="3864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29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추천 카드(세트 3) · AI 추천 고객 · 예시 화면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0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읽기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 1천만원,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필요 표시.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033440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252896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35776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요청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6435776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알림톡 보내기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6435776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요청하기] 누르고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번호 입력.</a:t>
            </a:r>
            <a:endParaRPr lang="en-US" sz="1150" dirty="0"/>
          </a:p>
        </p:txBody>
      </p:sp>
      <p:sp>
        <p:nvSpPr>
          <p:cNvPr id="19" name="Text 16"/>
          <p:cNvSpPr txBox="1"/>
          <p:nvPr/>
        </p:nvSpPr>
        <p:spPr>
          <a:xfrm>
            <a:off x="7897216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6672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8299552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8299552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진단비 점검</a:t>
            </a:r>
            <a:endParaRPr lang="en-US" sz="1450" dirty="0"/>
          </a:p>
        </p:txBody>
      </p:sp>
      <p:sp>
        <p:nvSpPr>
          <p:cNvPr id="23" name="Text 20"/>
          <p:cNvSpPr txBox="1"/>
          <p:nvPr/>
        </p:nvSpPr>
        <p:spPr>
          <a:xfrm>
            <a:off x="8299552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(15분 안팎)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"보장분석 해줘".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9760991" y="2491740"/>
            <a:ext cx="237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600" dirty="0"/>
          </a:p>
        </p:txBody>
      </p:sp>
      <p:sp>
        <p:nvSpPr>
          <p:cNvPr id="25" name="Shape 22"/>
          <p:cNvSpPr/>
          <p:nvPr/>
        </p:nvSpPr>
        <p:spPr>
          <a:xfrm>
            <a:off x="9980447" y="1691640"/>
            <a:ext cx="1662608" cy="1965960"/>
          </a:xfrm>
          <a:prstGeom prst="roundRect">
            <a:avLst>
              <a:gd name="adj" fmla="val 77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0163327" y="1874520"/>
            <a:ext cx="1388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163327" y="2148840"/>
            <a:ext cx="1388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 제안</a:t>
            </a:r>
            <a:endParaRPr lang="en-US" sz="1450" dirty="0"/>
          </a:p>
        </p:txBody>
      </p:sp>
      <p:sp>
        <p:nvSpPr>
          <p:cNvPr id="28" name="Text 25"/>
          <p:cNvSpPr txBox="1"/>
          <p:nvPr/>
        </p:nvSpPr>
        <p:spPr>
          <a:xfrm>
            <a:off x="10163327" y="2606040"/>
            <a:ext cx="13882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인상 전 가입의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이점을 요약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리포트로 발송.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389120" y="3840480"/>
            <a:ext cx="7253935" cy="1234440"/>
          </a:xfrm>
          <a:prstGeom prst="roundRect">
            <a:avLst>
              <a:gd name="adj" fmla="val 888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617720" y="3931920"/>
            <a:ext cx="67967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말 → 고객에게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"고객님, 2주 뒤 보험 나이가 올라가요.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사전조회동의 알림톡 보내요."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4389120" y="5230368"/>
            <a:ext cx="7253935" cy="822960"/>
          </a:xfrm>
          <a:prstGeom prst="roundRect">
            <a:avLst>
              <a:gd name="adj" fmla="val 13333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617720" y="5321808"/>
            <a:ext cx="67967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 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"상령일 전에 암진단비를 늘려야 하는 이유를 쉽게 설명해줘"</a:t>
            </a:r>
            <a:endParaRPr lang="en-US" sz="12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주간 · 월간 루틴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하루는 카드로, 한 주는 그룹으로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카드는 매일, 고객찾기 그룹은 주기별로 확인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3017520"/>
                <a:gridCol w="2743200"/>
                <a:gridCol w="2240280"/>
                <a:gridCol w="16733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주기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무엇을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이렇게 해 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달 리듬(도식)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매일 아침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· 오늘의 추천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3~9장 읽고 1명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고객 1명에게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매주 월요일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상령일 임박 · 생일 임박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주 연락할 고객 정리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 가까운 고객부터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월초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당월 영업 타겟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이달 타겟 고객 확인 · 연락 순서 정하기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 이유를 첫 말로 연락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매달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사전동의 만료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D-n 짧은 순으로 재동의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"사전조회 동의 필요" 줄이기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3182F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· 신규 등록 고객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 → 동의 → 첫 맞춤대화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등록한 날 동의 요청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10076688" y="2377440"/>
            <a:ext cx="1463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442448" y="23225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808208" y="23225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73968" y="23225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076688" y="2377440"/>
            <a:ext cx="1463040" cy="0"/>
          </a:xfrm>
          <a:prstGeom prst="line">
            <a:avLst/>
          </a:prstGeom>
          <a:noFill/>
          <a:ln w="31750">
            <a:solidFill>
              <a:srgbClr val="3182F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0076688" y="2834640"/>
            <a:ext cx="1463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442448" y="27797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808208" y="27797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173968" y="27797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030968" y="2788920"/>
            <a:ext cx="91440" cy="91440"/>
          </a:xfrm>
          <a:prstGeom prst="ellipse">
            <a:avLst/>
          </a:prstGeom>
          <a:solidFill>
            <a:srgbClr val="FF8A00"/>
          </a:solidFill>
          <a:ln/>
        </p:spPr>
      </p:sp>
      <p:sp>
        <p:nvSpPr>
          <p:cNvPr id="18" name="Shape 15"/>
          <p:cNvSpPr/>
          <p:nvPr/>
        </p:nvSpPr>
        <p:spPr>
          <a:xfrm>
            <a:off x="10396728" y="2788920"/>
            <a:ext cx="91440" cy="91440"/>
          </a:xfrm>
          <a:prstGeom prst="ellipse">
            <a:avLst/>
          </a:prstGeom>
          <a:solidFill>
            <a:srgbClr val="FF8A00"/>
          </a:solidFill>
          <a:ln/>
        </p:spPr>
      </p:sp>
      <p:sp>
        <p:nvSpPr>
          <p:cNvPr id="19" name="Shape 16"/>
          <p:cNvSpPr/>
          <p:nvPr/>
        </p:nvSpPr>
        <p:spPr>
          <a:xfrm>
            <a:off x="10762488" y="2788920"/>
            <a:ext cx="91440" cy="91440"/>
          </a:xfrm>
          <a:prstGeom prst="ellipse">
            <a:avLst/>
          </a:prstGeom>
          <a:solidFill>
            <a:srgbClr val="FF8A00"/>
          </a:solidFill>
          <a:ln/>
        </p:spPr>
      </p:sp>
      <p:sp>
        <p:nvSpPr>
          <p:cNvPr id="20" name="Shape 17"/>
          <p:cNvSpPr/>
          <p:nvPr/>
        </p:nvSpPr>
        <p:spPr>
          <a:xfrm>
            <a:off x="11128248" y="2788920"/>
            <a:ext cx="91440" cy="91440"/>
          </a:xfrm>
          <a:prstGeom prst="ellipse">
            <a:avLst/>
          </a:prstGeom>
          <a:solidFill>
            <a:srgbClr val="FF8A00"/>
          </a:solidFill>
          <a:ln/>
        </p:spPr>
      </p:sp>
      <p:sp>
        <p:nvSpPr>
          <p:cNvPr id="21" name="Shape 18"/>
          <p:cNvSpPr/>
          <p:nvPr/>
        </p:nvSpPr>
        <p:spPr>
          <a:xfrm>
            <a:off x="10076688" y="3291840"/>
            <a:ext cx="1463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076688" y="3236976"/>
            <a:ext cx="365760" cy="109728"/>
          </a:xfrm>
          <a:prstGeom prst="rect">
            <a:avLst/>
          </a:prstGeom>
          <a:solidFill>
            <a:srgbClr val="F0EDFF"/>
          </a:solidFill>
          <a:ln/>
        </p:spPr>
      </p:sp>
      <p:sp>
        <p:nvSpPr>
          <p:cNvPr id="23" name="Shape 20"/>
          <p:cNvSpPr/>
          <p:nvPr/>
        </p:nvSpPr>
        <p:spPr>
          <a:xfrm>
            <a:off x="10442448" y="32369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808208" y="32369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173968" y="32369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021824" y="3236976"/>
            <a:ext cx="109728" cy="109728"/>
          </a:xfrm>
          <a:prstGeom prst="ellipse">
            <a:avLst/>
          </a:prstGeom>
          <a:solidFill>
            <a:srgbClr val="7048E8"/>
          </a:solidFill>
          <a:ln/>
        </p:spPr>
      </p:sp>
      <p:sp>
        <p:nvSpPr>
          <p:cNvPr id="27" name="Shape 24"/>
          <p:cNvSpPr/>
          <p:nvPr/>
        </p:nvSpPr>
        <p:spPr>
          <a:xfrm>
            <a:off x="10076688" y="3749040"/>
            <a:ext cx="1463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10076688" y="3694176"/>
            <a:ext cx="1463040" cy="109728"/>
          </a:xfrm>
          <a:prstGeom prst="rect">
            <a:avLst/>
          </a:prstGeom>
          <a:solidFill>
            <a:srgbClr val="FFF4E6"/>
          </a:solidFill>
          <a:ln/>
        </p:spPr>
      </p:sp>
      <p:sp>
        <p:nvSpPr>
          <p:cNvPr id="29" name="Shape 26"/>
          <p:cNvSpPr/>
          <p:nvPr/>
        </p:nvSpPr>
        <p:spPr>
          <a:xfrm>
            <a:off x="10442448" y="36941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808208" y="36941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173968" y="36941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076688" y="3694176"/>
            <a:ext cx="1463040" cy="109728"/>
          </a:xfrm>
          <a:prstGeom prst="rect">
            <a:avLst/>
          </a:prstGeom>
          <a:noFill/>
          <a:ln w="9525">
            <a:solidFill>
              <a:srgbClr val="FF8A0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076688" y="4206240"/>
            <a:ext cx="1463040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0442448" y="41513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808208" y="41513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1173968" y="4151376"/>
            <a:ext cx="0" cy="109728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0076688" y="4206240"/>
            <a:ext cx="1463040" cy="0"/>
          </a:xfrm>
          <a:prstGeom prst="line">
            <a:avLst/>
          </a:prstGeom>
          <a:noFill/>
          <a:ln w="12700">
            <a:solidFill>
              <a:srgbClr val="B0B8C1"/>
            </a:solidFill>
            <a:prstDash val="dash"/>
          </a:ln>
        </p:spPr>
      </p:sp>
      <p:sp>
        <p:nvSpPr>
          <p:cNvPr id="38" name="Shape 35"/>
          <p:cNvSpPr/>
          <p:nvPr/>
        </p:nvSpPr>
        <p:spPr>
          <a:xfrm>
            <a:off x="548640" y="4636008"/>
            <a:ext cx="2377440" cy="155448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749808" y="476402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기회 탭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749808" y="5111496"/>
            <a:ext cx="98107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9808" y="5111496"/>
            <a:ext cx="98107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임박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2240280" y="5111496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11명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49808" y="5449824"/>
            <a:ext cx="8477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49808" y="5449824"/>
            <a:ext cx="8477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2240280" y="544982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</a:t>
            </a:r>
            <a:endParaRPr lang="en-US" sz="1200" dirty="0"/>
          </a:p>
        </p:txBody>
      </p:sp>
      <p:sp>
        <p:nvSpPr>
          <p:cNvPr id="46" name="Shape 43"/>
          <p:cNvSpPr/>
          <p:nvPr/>
        </p:nvSpPr>
        <p:spPr>
          <a:xfrm>
            <a:off x="749808" y="5788152"/>
            <a:ext cx="1114425" cy="292608"/>
          </a:xfrm>
          <a:prstGeom prst="roundRect">
            <a:avLst>
              <a:gd name="adj" fmla="val 50000"/>
            </a:avLst>
          </a:prstGeom>
          <a:solidFill>
            <a:srgbClr val="FFF4E6"/>
          </a:solidFill>
          <a:ln w="12700">
            <a:solidFill>
              <a:srgbClr val="FFF4E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49808" y="5788152"/>
            <a:ext cx="111442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8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사전동의 만료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2240280" y="578815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35명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3108960" y="4636008"/>
            <a:ext cx="4343400" cy="1554480"/>
          </a:xfrm>
          <a:prstGeom prst="roundRect">
            <a:avLst>
              <a:gd name="adj" fmla="val 705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3337560" y="4727448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10/2~ 영업포탈 CRM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생일·상령일 목록에서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맞춤대화]를 눌러서 시작.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고객 대화가 바로 열림.</a:t>
            </a:r>
            <a:endParaRPr lang="en-US" sz="1200" dirty="0"/>
          </a:p>
        </p:txBody>
      </p:sp>
      <p:sp>
        <p:nvSpPr>
          <p:cNvPr id="51" name="Shape 48"/>
          <p:cNvSpPr/>
          <p:nvPr/>
        </p:nvSpPr>
        <p:spPr>
          <a:xfrm>
            <a:off x="7635240" y="4636008"/>
            <a:ext cx="4007815" cy="1554480"/>
          </a:xfrm>
          <a:prstGeom prst="roundRect">
            <a:avLst>
              <a:gd name="adj" fmla="val 705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7863840" y="4727448"/>
            <a:ext cx="35506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숫자는 예시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인원은 화면 예시.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실제로는 내 고객 기준으로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새로 계산됨.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7 · 첫 5일 미션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오늘부터, 고객 찾기는 그만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5일, 하루 하나씩만 해 보기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8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열기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4개와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카드 3장 읽기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일반대화 질문 예시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눌러 보기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8892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97180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97180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카드에서 고객찾기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293522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15468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한눈에 보기 6칸 확인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3522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315468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 눌러 보기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521208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3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21208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시작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517550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39496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 →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꼬리질문 2번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7550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539496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부족 보장 3개 메모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26948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45236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45236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그룹으로 찾기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741578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[사전동의 만료]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확인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41578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763524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D-n 짧은 1명께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재동의 부탁하기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509760" y="1691640"/>
            <a:ext cx="2103120" cy="347472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9692640" y="189280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DAY 5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9692640" y="21945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리포트 보내기</a:t>
            </a:r>
            <a:endParaRPr lang="en-US" sz="1600" dirty="0"/>
          </a:p>
        </p:txBody>
      </p:sp>
      <p:sp>
        <p:nvSpPr>
          <p:cNvPr id="38" name="Text 36"/>
          <p:cNvSpPr txBox="1"/>
          <p:nvPr/>
        </p:nvSpPr>
        <p:spPr>
          <a:xfrm>
            <a:off x="9656064" y="288036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9875520" y="288036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발송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9656064" y="40690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9875520" y="4069080"/>
            <a:ext cx="17007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질문을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질문으로 저장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5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77240" y="5486400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찾아가는 영업으로  </a:t>
            </a:r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 홈에서 영업을 시작"</a:t>
            </a:r>
            <a:endParaRPr lang="en-US" sz="15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08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방법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묻기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고민할 필요 없이 클릭으로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창구 네 곳 · 추천 프롬프트 · 꼬리질문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물을 땐 "누구에게 + 무엇을"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 초안 · 이렇게는 묻지 않기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31520" y="5705856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563270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카드마다 고객에게 첫 말, MeAI에게 첫 질문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사이클에서 이 파트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질문 고르기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질문을 고민할 필요 없이 클릭으로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프롬프트와 프롬프트 라이브러리, 꼬리질문을 통해 클릭으로 진행하는 MeAI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060704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시작할 때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713232" y="2240280"/>
            <a:ext cx="98552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2240280"/>
            <a:ext cx="98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예시 탭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보장비교 · 지식검색 · 자주하는 질문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예시를 누르면 바로 대화 시작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964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32556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532556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880028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고객이 정해졌을 때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532556" y="2240280"/>
            <a:ext cx="179578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532556" y="2240280"/>
            <a:ext cx="17957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 이렇게 물어보세요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532556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고객찾기에 고객별 맞춤 프롬프트 세팅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입력창에 채워짐 → 전송(↑)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187288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51880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351880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6699352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받은 뒤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351880" y="2240280"/>
            <a:ext cx="152146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51880" y="2240280"/>
            <a:ext cx="15214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질문 버튼 3개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6351880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프롬프트를 꼬리질문이 제시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누르면 그 질문이 바로 전송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06611" y="1691640"/>
            <a:ext cx="2636444" cy="3246120"/>
          </a:xfrm>
          <a:prstGeom prst="roundRect">
            <a:avLst>
              <a:gd name="adj" fmla="val 4856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171203" y="184708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9171203" y="18470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9518675" y="1819656"/>
            <a:ext cx="20329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필요할 때</a:t>
            </a:r>
            <a:endParaRPr lang="en-US" sz="1350" dirty="0"/>
          </a:p>
        </p:txBody>
      </p:sp>
      <p:sp>
        <p:nvSpPr>
          <p:cNvPr id="32" name="Shape 30"/>
          <p:cNvSpPr/>
          <p:nvPr/>
        </p:nvSpPr>
        <p:spPr>
          <a:xfrm>
            <a:off x="9171203" y="2240280"/>
            <a:ext cx="2128520" cy="256032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71203" y="2240280"/>
            <a:ext cx="2128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라이브러리 · 나의 질문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171203" y="4325112"/>
            <a:ext cx="23621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[질문 더보기]에서 클릭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좋았던 질문은 저장 → 나의 질문</a:t>
            </a:r>
            <a:endParaRPr lang="en-US" sz="1050" dirty="0"/>
          </a:p>
        </p:txBody>
      </p:sp>
      <p:pic>
        <p:nvPicPr>
          <p:cNvPr id="35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979" y="2606040"/>
            <a:ext cx="2193765" cy="1627632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832254" y="3489207"/>
            <a:ext cx="1370042" cy="144364"/>
          </a:xfrm>
          <a:prstGeom prst="roundRect">
            <a:avLst>
              <a:gd name="adj" fmla="val 25336"/>
            </a:avLst>
          </a:prstGeom>
          <a:ln w="19050">
            <a:solidFill>
              <a:srgbClr val="3182F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225068" y="3424229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225068" y="342422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pic>
        <p:nvPicPr>
          <p:cNvPr id="39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5980" y="2608352"/>
            <a:ext cx="2380412" cy="162300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3622214" y="2960004"/>
            <a:ext cx="829537" cy="93774"/>
          </a:xfrm>
          <a:prstGeom prst="roundRect">
            <a:avLst>
              <a:gd name="adj" fmla="val 39004"/>
            </a:avLst>
          </a:prstGeom>
          <a:ln w="19050">
            <a:solidFill>
              <a:srgbClr val="3182F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12959" y="2869731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2" name="Text 38"/>
          <p:cNvSpPr txBox="1"/>
          <p:nvPr/>
        </p:nvSpPr>
        <p:spPr>
          <a:xfrm>
            <a:off x="4512959" y="286973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pic>
        <p:nvPicPr>
          <p:cNvPr id="43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000" y="2606040"/>
            <a:ext cx="1993019" cy="1627632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6390294" y="286563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5" name="Text 40"/>
          <p:cNvSpPr txBox="1"/>
          <p:nvPr/>
        </p:nvSpPr>
        <p:spPr>
          <a:xfrm>
            <a:off x="6390294" y="286563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6" name="Shape 41"/>
          <p:cNvSpPr/>
          <p:nvPr/>
        </p:nvSpPr>
        <p:spPr>
          <a:xfrm>
            <a:off x="6390294" y="3935963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7" name="Text 42"/>
          <p:cNvSpPr txBox="1"/>
          <p:nvPr/>
        </p:nvSpPr>
        <p:spPr>
          <a:xfrm>
            <a:off x="6390294" y="3935963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pic>
        <p:nvPicPr>
          <p:cNvPr id="48" name="Image 3" descr="MeAI 화면 캡처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3021" y="2606040"/>
            <a:ext cx="1563624" cy="868680"/>
          </a:xfrm>
          <a:prstGeom prst="rect">
            <a:avLst/>
          </a:prstGeom>
        </p:spPr>
      </p:pic>
      <p:sp>
        <p:nvSpPr>
          <p:cNvPr id="49" name="Shape 43"/>
          <p:cNvSpPr/>
          <p:nvPr/>
        </p:nvSpPr>
        <p:spPr>
          <a:xfrm>
            <a:off x="10552862" y="2910078"/>
            <a:ext cx="238887" cy="249746"/>
          </a:xfrm>
          <a:prstGeom prst="roundRect">
            <a:avLst>
              <a:gd name="adj" fmla="val 15311"/>
            </a:avLst>
          </a:prstGeom>
          <a:ln w="19050">
            <a:solidFill>
              <a:srgbClr val="F04452"/>
            </a:solidFill>
            <a:prstDash val="solid"/>
          </a:ln>
        </p:spPr>
      </p:sp>
      <p:sp>
        <p:nvSpPr>
          <p:cNvPr id="50" name="Shape 44"/>
          <p:cNvSpPr/>
          <p:nvPr/>
        </p:nvSpPr>
        <p:spPr>
          <a:xfrm>
            <a:off x="10828325" y="268605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51" name="Text 45"/>
          <p:cNvSpPr txBox="1"/>
          <p:nvPr/>
        </p:nvSpPr>
        <p:spPr>
          <a:xfrm>
            <a:off x="10828325" y="268605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52" name="Text 46"/>
          <p:cNvSpPr txBox="1"/>
          <p:nvPr/>
        </p:nvSpPr>
        <p:spPr>
          <a:xfrm>
            <a:off x="9171203" y="3511296"/>
            <a:ext cx="23621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질문 아래 복사 · 편집 · 저장</a:t>
            </a:r>
            <a:endParaRPr lang="en-US" sz="950" dirty="0"/>
          </a:p>
        </p:txBody>
      </p:sp>
      <p:sp>
        <p:nvSpPr>
          <p:cNvPr id="53" name="Shape 47"/>
          <p:cNvSpPr/>
          <p:nvPr/>
        </p:nvSpPr>
        <p:spPr>
          <a:xfrm>
            <a:off x="9171203" y="3794760"/>
            <a:ext cx="23072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54" name="Text 48"/>
          <p:cNvSpPr txBox="1"/>
          <p:nvPr/>
        </p:nvSpPr>
        <p:spPr>
          <a:xfrm>
            <a:off x="9171203" y="3794760"/>
            <a:ext cx="23072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대화 이력 · 나의 질문은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· 휴대폰에서 똑같이 보임</a:t>
            </a:r>
            <a:endParaRPr lang="en-US" sz="1000" dirty="0"/>
          </a:p>
        </p:txBody>
      </p:sp>
      <p:sp>
        <p:nvSpPr>
          <p:cNvPr id="55" name="Shape 49"/>
          <p:cNvSpPr/>
          <p:nvPr/>
        </p:nvSpPr>
        <p:spPr>
          <a:xfrm>
            <a:off x="548640" y="5074920"/>
            <a:ext cx="11094415" cy="731520"/>
          </a:xfrm>
          <a:prstGeom prst="roundRect">
            <a:avLst>
              <a:gd name="adj" fmla="val 17500"/>
            </a:avLst>
          </a:prstGeom>
          <a:solidFill>
            <a:srgbClr val="F0EDFF"/>
          </a:solidFill>
          <a:ln w="12700">
            <a:solidFill>
              <a:srgbClr val="F0EDFF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822960" y="507492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질문할수록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7048E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늘어나는 영업기회</a:t>
            </a:r>
            <a:endParaRPr lang="en-US" sz="1300" dirty="0"/>
          </a:p>
        </p:txBody>
      </p:sp>
      <p:graphicFrame>
        <p:nvGraphicFramePr>
          <p:cNvPr id="57" name="Chart 0" descr=""/>
          <p:cNvGraphicFramePr/>
          <p:nvPr/>
        </p:nvGraphicFramePr>
        <p:xfrm>
          <a:off x="3703320" y="5129784"/>
          <a:ext cx="4206240" cy="6217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58" name="Text 51"/>
          <p:cNvSpPr txBox="1"/>
          <p:nvPr/>
        </p:nvSpPr>
        <p:spPr>
          <a:xfrm>
            <a:off x="5084771" y="5129784"/>
            <a:ext cx="100584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11.99건</a:t>
            </a:r>
            <a:endParaRPr lang="en-US" sz="1100" dirty="0"/>
          </a:p>
        </p:txBody>
      </p:sp>
      <p:sp>
        <p:nvSpPr>
          <p:cNvPr id="59" name="Text 52"/>
          <p:cNvSpPr txBox="1"/>
          <p:nvPr/>
        </p:nvSpPr>
        <p:spPr>
          <a:xfrm>
            <a:off x="2651760" y="5129784"/>
            <a:ext cx="978408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1개</a:t>
            </a:r>
            <a:endParaRPr lang="en-US" sz="1100" dirty="0"/>
          </a:p>
        </p:txBody>
      </p:sp>
      <p:sp>
        <p:nvSpPr>
          <p:cNvPr id="60" name="Text 53"/>
          <p:cNvSpPr txBox="1"/>
          <p:nvPr/>
        </p:nvSpPr>
        <p:spPr>
          <a:xfrm>
            <a:off x="5648968" y="5337048"/>
            <a:ext cx="100584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17.02건</a:t>
            </a:r>
            <a:endParaRPr lang="en-US" sz="1100" dirty="0"/>
          </a:p>
        </p:txBody>
      </p:sp>
      <p:sp>
        <p:nvSpPr>
          <p:cNvPr id="61" name="Text 54"/>
          <p:cNvSpPr txBox="1"/>
          <p:nvPr/>
        </p:nvSpPr>
        <p:spPr>
          <a:xfrm>
            <a:off x="2651760" y="5337048"/>
            <a:ext cx="978408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2개</a:t>
            </a:r>
            <a:endParaRPr lang="en-US" sz="1100" dirty="0"/>
          </a:p>
        </p:txBody>
      </p:sp>
      <p:sp>
        <p:nvSpPr>
          <p:cNvPr id="62" name="Text 55"/>
          <p:cNvSpPr txBox="1"/>
          <p:nvPr/>
        </p:nvSpPr>
        <p:spPr>
          <a:xfrm>
            <a:off x="6857000" y="5544312"/>
            <a:ext cx="1005840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27.79건</a:t>
            </a:r>
            <a:endParaRPr lang="en-US" sz="1100" dirty="0"/>
          </a:p>
        </p:txBody>
      </p:sp>
      <p:sp>
        <p:nvSpPr>
          <p:cNvPr id="63" name="Text 56"/>
          <p:cNvSpPr txBox="1"/>
          <p:nvPr/>
        </p:nvSpPr>
        <p:spPr>
          <a:xfrm>
            <a:off x="2651760" y="5544312"/>
            <a:ext cx="978408" cy="207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3개 이상</a:t>
            </a:r>
            <a:endParaRPr lang="en-US" sz="1100" dirty="0"/>
          </a:p>
        </p:txBody>
      </p:sp>
      <p:sp>
        <p:nvSpPr>
          <p:cNvPr id="64" name="Shape 57"/>
          <p:cNvSpPr/>
          <p:nvPr/>
        </p:nvSpPr>
        <p:spPr>
          <a:xfrm>
            <a:off x="3703320" y="5129784"/>
            <a:ext cx="0" cy="621792"/>
          </a:xfrm>
          <a:prstGeom prst="line">
            <a:avLst/>
          </a:prstGeom>
          <a:noFill/>
          <a:ln w="9525">
            <a:solidFill>
              <a:srgbClr val="D1D6DB"/>
            </a:solidFill>
            <a:prstDash val="solid"/>
          </a:ln>
        </p:spPr>
      </p:sp>
      <p:sp>
        <p:nvSpPr>
          <p:cNvPr id="65" name="Text 58"/>
          <p:cNvSpPr txBox="1"/>
          <p:nvPr/>
        </p:nvSpPr>
        <p:spPr>
          <a:xfrm>
            <a:off x="8549640" y="507492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2.3배</a:t>
            </a:r>
            <a:endParaRPr lang="en-US" sz="3000" dirty="0"/>
          </a:p>
        </p:txBody>
      </p:sp>
      <p:sp>
        <p:nvSpPr>
          <p:cNvPr id="66" name="Text 59"/>
          <p:cNvSpPr txBox="1"/>
          <p:nvPr/>
        </p:nvSpPr>
        <p:spPr>
          <a:xfrm>
            <a:off x="9738360" y="5074920"/>
            <a:ext cx="185897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 1건 대비 3건 이상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 가계약 수</a:t>
            </a:r>
            <a:endParaRPr lang="en-US" sz="1150" dirty="0"/>
          </a:p>
        </p:txBody>
      </p:sp>
      <p:sp>
        <p:nvSpPr>
          <p:cNvPr id="67" name="Text 60"/>
          <p:cNvSpPr txBox="1"/>
          <p:nvPr/>
        </p:nvSpPr>
        <p:spPr>
          <a:xfrm>
            <a:off x="548640" y="5897880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2026년 8월 TA채널 MeAI 사용 데이터 분석</a:t>
            </a:r>
            <a:endParaRPr lang="en-US" sz="1000" dirty="0"/>
          </a:p>
        </p:txBody>
      </p:sp>
      <p:sp>
        <p:nvSpPr>
          <p:cNvPr id="68" name="Text 61"/>
          <p:cNvSpPr txBox="1"/>
          <p:nvPr/>
        </p:nvSpPr>
        <p:spPr>
          <a:xfrm>
            <a:off x="8534095" y="589788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화면의 이름 · 질문 문장은 예시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직접 묻기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물을 땐 “누구에게 + 무엇을”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말하듯 편하게 입력하면 MeAI가 답변 · 형식은 없어도 괜찮음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697480" cy="1188720"/>
          </a:xfrm>
          <a:prstGeom prst="roundRect">
            <a:avLst>
              <a:gd name="adj" fmla="val 10769"/>
            </a:avLst>
          </a:prstGeom>
          <a:solidFill>
            <a:srgbClr val="E8F3FF"/>
          </a:solidFill>
          <a:ln w="12700">
            <a:solidFill>
              <a:srgbClr val="E8F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21284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“40대 자녀 둘 가장,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암진단비만 있는 고객에게”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246120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419856" y="1737360"/>
            <a:ext cx="242316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5875">
            <a:solidFill>
              <a:srgbClr val="191F2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621024" y="186537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621024" y="2212848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“암 통합치료비가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필요한지 설명해줘”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843016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016752" y="1737360"/>
            <a:ext cx="2697480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2700">
            <a:solidFill>
              <a:srgbClr val="D1D6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형식 추가하면 더 깔끔하게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21284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“표로” · “구어체로”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“카톡 6줄로”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714232" y="1737360"/>
            <a:ext cx="1737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8887968" y="1737360"/>
            <a:ext cx="2743200" cy="1188720"/>
          </a:xfrm>
          <a:prstGeom prst="roundRect">
            <a:avLst>
              <a:gd name="adj" fmla="val 10769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089136" y="18653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안전장치 한 마디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089136" y="2212848"/>
            <a:ext cx="2423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“자료에 없으면 추정하지 말고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‘확인필요’로 표시해”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바꿔도 달라지는 답변의 수준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3493008"/>
            <a:ext cx="3291840" cy="1188720"/>
          </a:xfrm>
          <a:prstGeom prst="roundRect">
            <a:avLst>
              <a:gd name="adj" fmla="val 10769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" y="3639312"/>
            <a:ext cx="407670" cy="256032"/>
          </a:xfrm>
          <a:prstGeom prst="roundRect">
            <a:avLst>
              <a:gd name="adj" fmla="val 50000"/>
            </a:avLst>
          </a:prstGeom>
          <a:solidFill>
            <a:srgbClr val="6B7684"/>
          </a:solidFill>
          <a:ln w="12700">
            <a:solidFill>
              <a:srgbClr val="6B768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9808" y="3639312"/>
            <a:ext cx="407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49808" y="39502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“실손 설명해줘”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315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실손의 일반 개념을 길게 설명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840480" y="3493008"/>
            <a:ext cx="411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600" dirty="0"/>
          </a:p>
        </p:txBody>
      </p:sp>
      <p:sp>
        <p:nvSpPr>
          <p:cNvPr id="29" name="Shape 27"/>
          <p:cNvSpPr/>
          <p:nvPr/>
        </p:nvSpPr>
        <p:spPr>
          <a:xfrm>
            <a:off x="4251960" y="3493008"/>
            <a:ext cx="7391095" cy="1188720"/>
          </a:xfrm>
          <a:prstGeom prst="roundRect">
            <a:avLst>
              <a:gd name="adj" fmla="val 10769"/>
            </a:avLst>
          </a:prstGeom>
          <a:solidFill>
            <a:srgbClr val="FFFFFF"/>
          </a:solidFill>
          <a:ln w="19050">
            <a:solidFill>
              <a:srgbClr val="3182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453128" y="3639312"/>
            <a:ext cx="407670" cy="256032"/>
          </a:xfrm>
          <a:prstGeom prst="roundRect">
            <a:avLst>
              <a:gd name="adj" fmla="val 50000"/>
            </a:avLst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453128" y="3639312"/>
            <a:ext cx="40767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후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453128" y="3913632"/>
            <a:ext cx="7025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3세대 실손 가입한 50대 고객에게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 4세대와 비교해서 자기부담과 비급여 한도의 차이를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1개로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정리하고, 유지가 유리한 경우 3가지를 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구어체로</a:t>
            </a:r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알려줘”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4453128" y="4370832"/>
            <a:ext cx="7025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고객 세대 기준 비교표 + 바로 말할 수 있는 3가지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48640" y="4828032"/>
            <a:ext cx="11094415" cy="1097280"/>
          </a:xfrm>
          <a:prstGeom prst="roundRect">
            <a:avLst>
              <a:gd name="adj" fmla="val 11667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pic>
        <p:nvPicPr>
          <p:cNvPr id="35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901184"/>
            <a:ext cx="2323652" cy="768096"/>
          </a:xfrm>
          <a:prstGeom prst="rect">
            <a:avLst/>
          </a:prstGeom>
        </p:spPr>
      </p:pic>
      <p:sp>
        <p:nvSpPr>
          <p:cNvPr id="36" name="Shape 33"/>
          <p:cNvSpPr/>
          <p:nvPr/>
        </p:nvSpPr>
        <p:spPr>
          <a:xfrm>
            <a:off x="2586676" y="4829646"/>
            <a:ext cx="237744" cy="237744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7" name="Text 34"/>
          <p:cNvSpPr txBox="1"/>
          <p:nvPr/>
        </p:nvSpPr>
        <p:spPr>
          <a:xfrm>
            <a:off x="2586676" y="482964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819041" y="5238436"/>
            <a:ext cx="237744" cy="237744"/>
          </a:xfrm>
          <a:prstGeom prst="ellipse">
            <a:avLst/>
          </a:prstGeom>
          <a:solidFill>
            <a:srgbClr val="F04452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2819041" y="52384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822960" y="5696712"/>
            <a:ext cx="23236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 MeAI 입력창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3611880" y="4828032"/>
            <a:ext cx="78025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맞으면 “더 쉽게” · “표로 다시” 한 마디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휴대폰이라 타이핑이 어렵다면? 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마이크를 눌러 말하고 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pPr indent="0" marL="0">
              <a:lnSpc>
                <a:spcPct val="14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전송(↑)</a:t>
            </a:r>
            <a:endParaRPr lang="en-US" sz="1300" dirty="0"/>
          </a:p>
        </p:txBody>
      </p:sp>
      <p:sp>
        <p:nvSpPr>
          <p:cNvPr id="42" name="Text 39"/>
          <p:cNvSpPr txBox="1"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 문장 출처: 이전 판 「MeAI 활용 가이드북 · 영업가족 편」(2026.09)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고객에게 할 말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할 말도 MeAI가 초안 작성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줄만 부탁하면 초안이 완성 · 이름 대신 조건으로 요청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1691640"/>
          </a:xfrm>
          <a:prstGeom prst="roundRect">
            <a:avLst>
              <a:gd name="adj" fmla="val 7568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19656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카톡용 / 전화용 요청만 하면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14884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오른쪽 파란 [일반대화]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질문을 누르면 이렇게 채워짐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777240" y="2807208"/>
            <a:ext cx="219456" cy="0"/>
          </a:xfrm>
          <a:prstGeom prst="line">
            <a:avLst/>
          </a:prstGeom>
          <a:noFill/>
          <a:ln w="38100">
            <a:solidFill>
              <a:srgbClr val="318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78992" y="263347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그룹 · 나이대 · 유형 조건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77240" y="3044952"/>
            <a:ext cx="219456" cy="0"/>
          </a:xfrm>
          <a:prstGeom prst="line">
            <a:avLst/>
          </a:prstGeom>
          <a:noFill/>
          <a:ln w="38100">
            <a:solidFill>
              <a:srgbClr val="7048E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78992" y="2871216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3~4줄 · 부담스럽지 않은 톤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77240" y="3282696"/>
            <a:ext cx="219456" cy="0"/>
          </a:xfrm>
          <a:prstGeom prst="line">
            <a:avLst/>
          </a:prstGeom>
          <a:noFill/>
          <a:ln w="38100">
            <a:solidFill>
              <a:srgbClr val="F0445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078992" y="310896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성명 · 연락처는 제외</a:t>
            </a:r>
            <a:endParaRPr lang="en-US" sz="1050" dirty="0"/>
          </a:p>
        </p:txBody>
      </p:sp>
      <p:pic>
        <p:nvPicPr>
          <p:cNvPr id="16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3320" y="1787212"/>
            <a:ext cx="7802575" cy="1500495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4013422" y="2292379"/>
            <a:ext cx="1970650" cy="0"/>
          </a:xfrm>
          <a:prstGeom prst="line">
            <a:avLst/>
          </a:prstGeom>
          <a:noFill/>
          <a:ln w="28575">
            <a:solidFill>
              <a:srgbClr val="3182F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105433" y="2292379"/>
            <a:ext cx="1065352" cy="0"/>
          </a:xfrm>
          <a:prstGeom prst="line">
            <a:avLst/>
          </a:prstGeom>
          <a:noFill/>
          <a:ln w="28575">
            <a:solidFill>
              <a:srgbClr val="7048E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018424" y="2517453"/>
            <a:ext cx="1975652" cy="0"/>
          </a:xfrm>
          <a:prstGeom prst="line">
            <a:avLst/>
          </a:prstGeom>
          <a:noFill/>
          <a:ln w="28575">
            <a:solidFill>
              <a:srgbClr val="7048E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009081" y="2517453"/>
            <a:ext cx="1965649" cy="0"/>
          </a:xfrm>
          <a:prstGeom prst="line">
            <a:avLst/>
          </a:prstGeom>
          <a:noFill/>
          <a:ln w="28575">
            <a:solidFill>
              <a:srgbClr val="F0445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48640" y="3547872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부탁해도 가능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548640" y="3931920"/>
            <a:ext cx="54864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49808" y="399592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카톡 안내문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749808" y="421538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“보장분석 결과를 고객에게 보낼 카톡 안내문 6줄로 써줘. 존댓말, 단정 표현은 빼고”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548640" y="4754880"/>
            <a:ext cx="5486400" cy="73152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9808" y="481888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미팅 전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749808" y="503834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“이 고객에게 첫 만남에서 꺼낼 질문 3개 만들어줘”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6355080" y="35478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앞에서는 두 버튼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10111435" y="3575304"/>
            <a:ext cx="1531620" cy="256032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111435" y="3575304"/>
            <a:ext cx="1531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개발 중 · 바뀔 수 있음</a:t>
            </a:r>
            <a:endParaRPr lang="en-US" sz="1000" dirty="0"/>
          </a:p>
        </p:txBody>
      </p:sp>
      <p:pic>
        <p:nvPicPr>
          <p:cNvPr id="3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4018941"/>
            <a:ext cx="2552548" cy="630629"/>
          </a:xfrm>
          <a:prstGeom prst="rect">
            <a:avLst/>
          </a:prstGeom>
        </p:spPr>
      </p:pic>
      <p:pic>
        <p:nvPicPr>
          <p:cNvPr id="32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517" y="3931920"/>
            <a:ext cx="1772529" cy="731520"/>
          </a:xfrm>
          <a:prstGeom prst="rect">
            <a:avLst/>
          </a:prstGeom>
        </p:spPr>
      </p:pic>
      <p:sp>
        <p:nvSpPr>
          <p:cNvPr id="33" name="Text 28"/>
          <p:cNvSpPr txBox="1"/>
          <p:nvPr/>
        </p:nvSpPr>
        <p:spPr>
          <a:xfrm>
            <a:off x="9206197" y="4672584"/>
            <a:ext cx="23211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속 숫자는 예시</a:t>
            </a:r>
            <a:endParaRPr lang="en-US" sz="900" dirty="0"/>
          </a:p>
        </p:txBody>
      </p:sp>
      <p:sp>
        <p:nvSpPr>
          <p:cNvPr id="34" name="Text 29"/>
          <p:cNvSpPr txBox="1"/>
          <p:nvPr/>
        </p:nvSpPr>
        <p:spPr>
          <a:xfrm>
            <a:off x="6355080" y="491947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[간편 분석]</a:t>
            </a:r>
            <a:endParaRPr lang="en-US" sz="1300" dirty="0"/>
          </a:p>
        </p:txBody>
      </p:sp>
      <p:sp>
        <p:nvSpPr>
          <p:cNvPr id="35" name="Text 30"/>
          <p:cNvSpPr txBox="1"/>
          <p:nvPr/>
        </p:nvSpPr>
        <p:spPr>
          <a:xfrm>
            <a:off x="6355080" y="5193792"/>
            <a:ext cx="2552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어려운 보험 용어를 일상 언어로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약관을 따질 땐 상세 분석</a:t>
            </a:r>
            <a:endParaRPr lang="en-US" sz="1000" dirty="0"/>
          </a:p>
        </p:txBody>
      </p:sp>
      <p:sp>
        <p:nvSpPr>
          <p:cNvPr id="36" name="Text 31"/>
          <p:cNvSpPr txBox="1"/>
          <p:nvPr/>
        </p:nvSpPr>
        <p:spPr>
          <a:xfrm>
            <a:off x="9090508" y="4919472"/>
            <a:ext cx="25525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[용어]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9090508" y="5193792"/>
            <a:ext cx="25525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켜고 표시된 말을 누르면 뜻풀이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눈높이 문장, 그대로 읽기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548640" y="5669280"/>
            <a:ext cx="11094415" cy="402336"/>
          </a:xfrm>
          <a:prstGeom prst="roundRect">
            <a:avLst>
              <a:gd name="adj" fmla="val 27273"/>
            </a:avLst>
          </a:prstGeom>
          <a:solidFill>
            <a:srgbClr val="FFF8E1"/>
          </a:solidFill>
          <a:ln w="12700">
            <a:solidFill>
              <a:srgbClr val="FFF8E1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777240" y="5669280"/>
            <a:ext cx="1063721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7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초안 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숫자와 약관 근거를 확인하고, 내 말투로 다듬어 발송</a:t>
            </a:r>
            <a:endParaRPr lang="en-US" sz="1250" dirty="0"/>
          </a:p>
        </p:txBody>
      </p:sp>
      <p:sp>
        <p:nvSpPr>
          <p:cNvPr id="40" name="Text 35"/>
          <p:cNvSpPr txBox="1"/>
          <p:nvPr/>
        </p:nvSpPr>
        <p:spPr>
          <a:xfrm>
            <a:off x="548640" y="612648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MeAI 확정 화면 · 이전 판 「MeAI 활용 가이드북 · 영업가족 편」(2026.09) · [간편 분석]·[용어] 자세히는 PART 6</a:t>
            </a:r>
            <a:endParaRPr lang="en-US" sz="9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묻지 말 것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이렇게는 묻지 않기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답도 나빠지고, 규정에도 어긋남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9808" y="1828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49808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115568" y="1801368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개인정보를 넣는 질문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" y="2167128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“김OO(연락처) 고객 보장분석”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459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맞춤대화에선 “이 고객”이라고만</a:t>
            </a:r>
            <a:endParaRPr lang="en-US" sz="1250" dirty="0"/>
          </a:p>
        </p:txBody>
      </p:sp>
      <p:pic>
        <p:nvPicPr>
          <p:cNvPr id="13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715768"/>
            <a:ext cx="3587773" cy="237744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132858" y="2733058"/>
            <a:ext cx="3553192" cy="203163"/>
          </a:xfrm>
          <a:prstGeom prst="roundRect">
            <a:avLst>
              <a:gd name="adj" fmla="val 9002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59856" y="1691640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361024" y="182880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6361024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6726784" y="1801368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질문을 한 번에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6726784" y="2167128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“보장분석하고 화법도 만들고 카톡도 써줘”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6726784" y="2459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하나씩 이어서 묻기 · 고객·주제가 바뀌면 [새로 대화하기]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48640" y="3127248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749808" y="3264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9808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1115568" y="3236976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고객에게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115568" y="3602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 복사 → 바로 카톡 전송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1115568" y="3895344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 · 약관 근거를 확인하고 내 말로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6159856" y="3127248"/>
            <a:ext cx="5483200" cy="1325880"/>
          </a:xfrm>
          <a:prstGeom prst="roundRect">
            <a:avLst>
              <a:gd name="adj" fmla="val 965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361024" y="326440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361024" y="3264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50" dirty="0"/>
          </a:p>
        </p:txBody>
      </p:sp>
      <p:sp>
        <p:nvSpPr>
          <p:cNvPr id="30" name="Text 27"/>
          <p:cNvSpPr txBox="1"/>
          <p:nvPr/>
        </p:nvSpPr>
        <p:spPr>
          <a:xfrm>
            <a:off x="6726784" y="3236976"/>
            <a:ext cx="475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단정을 강요하는 질문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726784" y="3602736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 </a:t>
            </a:r>
            <a:pPr indent="0" marL="0">
              <a:buNone/>
            </a:pPr>
            <a:r>
              <a:rPr lang="en-US" sz="12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“무조건 가입 가능하다고 말해줘”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6726784" y="3895344"/>
            <a:ext cx="475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 </a:t>
            </a:r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“가능성과 확인할 조건을 알려줘”</a:t>
            </a:r>
            <a:endParaRPr 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4553712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입력창 아래 안내문 (화면 그대로)</a:t>
            </a:r>
            <a:endParaRPr lang="en-US" sz="1050" dirty="0"/>
          </a:p>
        </p:txBody>
      </p:sp>
      <p:pic>
        <p:nvPicPr>
          <p:cNvPr id="34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28032"/>
            <a:ext cx="9328543" cy="566928"/>
          </a:xfrm>
          <a:prstGeom prst="rect">
            <a:avLst/>
          </a:prstGeom>
        </p:spPr>
      </p:pic>
      <p:sp>
        <p:nvSpPr>
          <p:cNvPr id="35" name="Shape 31"/>
          <p:cNvSpPr/>
          <p:nvPr/>
        </p:nvSpPr>
        <p:spPr>
          <a:xfrm>
            <a:off x="3563666" y="5353729"/>
            <a:ext cx="2561484" cy="0"/>
          </a:xfrm>
          <a:prstGeom prst="line">
            <a:avLst/>
          </a:prstGeom>
          <a:noFill/>
          <a:ln w="22225">
            <a:solidFill>
              <a:srgbClr val="F04452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48640" y="5559552"/>
            <a:ext cx="11094415" cy="438912"/>
          </a:xfrm>
          <a:prstGeom prst="roundRect">
            <a:avLst>
              <a:gd name="adj" fmla="val 25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85800" y="5650992"/>
            <a:ext cx="1154430" cy="256032"/>
          </a:xfrm>
          <a:prstGeom prst="roundRect">
            <a:avLst>
              <a:gd name="adj" fmla="val 5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5800" y="5650992"/>
            <a:ext cx="11544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지킬 약속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2023110" y="5559552"/>
            <a:ext cx="948278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 · 자료 외부 반출 금지 · 미검증 책임은 사용자에게</a:t>
            </a:r>
            <a:endParaRPr lang="en-US" sz="1200" dirty="0"/>
          </a:p>
        </p:txBody>
      </p:sp>
      <p:sp>
        <p:nvSpPr>
          <p:cNvPr id="40" name="Text 36"/>
          <p:cNvSpPr txBox="1"/>
          <p:nvPr/>
        </p:nvSpPr>
        <p:spPr>
          <a:xfrm>
            <a:off x="548640" y="607161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출처: 이전 판 「MeAI 활용 가이드북 · 영업가족 편」(2026.09) · MeAI 화면 안내문 · 다섯 가지 약속은 PART 9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8 · 첫 말 · 첫 질문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말, MeAI에게 첫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오늘부터 시작하는 손쉬운 영업 타겟 탐색 · 카드가 달라도 짝은 같음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19072"/>
            <a:ext cx="2697480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1719072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37560" y="1719072"/>
            <a:ext cx="4754880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719072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고객에게 첫 말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183880" y="1719072"/>
            <a:ext cx="3456432" cy="329184"/>
          </a:xfrm>
          <a:prstGeom prst="roundRect">
            <a:avLst>
              <a:gd name="adj" fmla="val 27778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21040" y="1719072"/>
            <a:ext cx="3273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MeAI에게 첫 질문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121408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37560" y="2121408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183880" y="2121408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16" name="Image 0" descr="MeAI 화면 캡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2384" y="2185416"/>
            <a:ext cx="764072" cy="877824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40675" y="2799249"/>
            <a:ext cx="237163" cy="51510"/>
          </a:xfrm>
          <a:prstGeom prst="roundRect">
            <a:avLst>
              <a:gd name="adj" fmla="val 17752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2029968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7200" y="20299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1572768" y="221284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2주 전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572768" y="25328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만료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1572768" y="2816352"/>
            <a:ext cx="1328420" cy="237744"/>
          </a:xfrm>
          <a:prstGeom prst="roundRect">
            <a:avLst>
              <a:gd name="adj" fmla="val 50000"/>
            </a:avLst>
          </a:prstGeom>
          <a:solidFill>
            <a:srgbClr val="FFF0F0"/>
          </a:solidFill>
          <a:ln w="12700">
            <a:solidFill>
              <a:srgbClr val="FFF0F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1572768" y="2816352"/>
            <a:ext cx="13284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3474720" y="2121408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2주 뒤 보험 나이가 올라가요.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전에 점검하려고 사전조회동의 알림톡 보내요.”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8321040" y="2176272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 뒤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293608" y="2423160"/>
            <a:ext cx="3236976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21624" y="2423160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상령일 전에 암진단비를 늘려야 하는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쉽게 설명해줘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3200400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337560" y="3200400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8183880" y="3200400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31" name="Image 1" descr="MeAI 화면 캡처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" y="3264408"/>
            <a:ext cx="813816" cy="877824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718947" y="3861054"/>
            <a:ext cx="273177" cy="52578"/>
          </a:xfrm>
          <a:prstGeom prst="roundRect">
            <a:avLst>
              <a:gd name="adj" fmla="val 17391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7200" y="3108960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457200" y="3108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1572768" y="32918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만료 임박</a:t>
            </a:r>
            <a:endParaRPr lang="en-US" sz="1350" dirty="0"/>
          </a:p>
        </p:txBody>
      </p:sp>
      <p:sp>
        <p:nvSpPr>
          <p:cNvPr id="36" name="Text 32"/>
          <p:cNvSpPr txBox="1"/>
          <p:nvPr/>
        </p:nvSpPr>
        <p:spPr>
          <a:xfrm>
            <a:off x="1572768" y="361188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이달 말 만료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3474720" y="32004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“고객님, 이달 말 동의가 만료돼 연장 부탁드려요.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나온 보장도 봐 드릴게요.”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8293608" y="3291840"/>
            <a:ext cx="3236976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8421624" y="329184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신담보 기준으로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고객 보장의 빈 곳을 알려줘</a:t>
            </a:r>
            <a:endParaRPr lang="en-US" sz="1200" dirty="0"/>
          </a:p>
        </p:txBody>
      </p:sp>
      <p:sp>
        <p:nvSpPr>
          <p:cNvPr id="40" name="Shape 36"/>
          <p:cNvSpPr/>
          <p:nvPr/>
        </p:nvSpPr>
        <p:spPr>
          <a:xfrm>
            <a:off x="548640" y="4279392"/>
            <a:ext cx="26974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3337560" y="4279392"/>
            <a:ext cx="475488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8183880" y="4279392"/>
            <a:ext cx="3456432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pic>
        <p:nvPicPr>
          <p:cNvPr id="43" name="Image 2" descr="MeAI 화면 캡처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382522"/>
            <a:ext cx="868680" cy="799580"/>
          </a:xfrm>
          <a:prstGeom prst="rect">
            <a:avLst/>
          </a:prstGeom>
        </p:spPr>
      </p:pic>
      <p:sp>
        <p:nvSpPr>
          <p:cNvPr id="44" name="Shape 39"/>
          <p:cNvSpPr/>
          <p:nvPr/>
        </p:nvSpPr>
        <p:spPr>
          <a:xfrm>
            <a:off x="666404" y="4777376"/>
            <a:ext cx="812742" cy="164523"/>
          </a:xfrm>
          <a:prstGeom prst="roundRect">
            <a:avLst>
              <a:gd name="adj" fmla="val 5558"/>
            </a:avLst>
          </a:prstGeom>
          <a:ln w="15875">
            <a:solidFill>
              <a:srgbClr val="F04452"/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457200" y="4187952"/>
            <a:ext cx="274320" cy="274320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46" name="Text 41"/>
          <p:cNvSpPr txBox="1"/>
          <p:nvPr/>
        </p:nvSpPr>
        <p:spPr>
          <a:xfrm>
            <a:off x="457200" y="4187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50" dirty="0"/>
          </a:p>
        </p:txBody>
      </p:sp>
      <p:sp>
        <p:nvSpPr>
          <p:cNvPr id="47" name="Text 42"/>
          <p:cNvSpPr txBox="1"/>
          <p:nvPr/>
        </p:nvSpPr>
        <p:spPr>
          <a:xfrm>
            <a:off x="1572768" y="43708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 임박 그룹</a:t>
            </a:r>
            <a:endParaRPr lang="en-US" sz="1350" dirty="0"/>
          </a:p>
        </p:txBody>
      </p:sp>
      <p:sp>
        <p:nvSpPr>
          <p:cNvPr id="48" name="Text 43"/>
          <p:cNvSpPr txBox="1"/>
          <p:nvPr/>
        </p:nvSpPr>
        <p:spPr>
          <a:xfrm>
            <a:off x="1572768" y="469087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영업 기회 탭</a:t>
            </a:r>
            <a:endParaRPr lang="en-US" sz="1050" dirty="0"/>
          </a:p>
        </p:txBody>
      </p:sp>
      <p:sp>
        <p:nvSpPr>
          <p:cNvPr id="49" name="Shape 44"/>
          <p:cNvSpPr/>
          <p:nvPr/>
        </p:nvSpPr>
        <p:spPr>
          <a:xfrm>
            <a:off x="3474720" y="4370832"/>
            <a:ext cx="1673860" cy="237744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3474720" y="4370832"/>
            <a:ext cx="16738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안내 → 내 말로 풀기</a:t>
            </a:r>
            <a:endParaRPr lang="en-US" sz="1000" dirty="0"/>
          </a:p>
        </p:txBody>
      </p:sp>
      <p:sp>
        <p:nvSpPr>
          <p:cNvPr id="51" name="Text 46"/>
          <p:cNvSpPr txBox="1"/>
          <p:nvPr/>
        </p:nvSpPr>
        <p:spPr>
          <a:xfrm>
            <a:off x="3474720" y="466344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안내: 축하 인사로 대화를 열고 자연스럽게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보장 점검으로 이어가기 좋은 시점입니다.</a:t>
            </a:r>
            <a:endParaRPr lang="en-US" sz="1200" dirty="0"/>
          </a:p>
        </p:txBody>
      </p:sp>
      <p:sp>
        <p:nvSpPr>
          <p:cNvPr id="52" name="Text 47"/>
          <p:cNvSpPr txBox="1"/>
          <p:nvPr/>
        </p:nvSpPr>
        <p:spPr>
          <a:xfrm>
            <a:off x="8321040" y="4334256"/>
            <a:ext cx="3182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파란 일반대화 추천 질문(틀)</a:t>
            </a:r>
            <a:endParaRPr lang="en-US" sz="1000" dirty="0"/>
          </a:p>
        </p:txBody>
      </p:sp>
      <p:sp>
        <p:nvSpPr>
          <p:cNvPr id="53" name="Shape 48"/>
          <p:cNvSpPr/>
          <p:nvPr/>
        </p:nvSpPr>
        <p:spPr>
          <a:xfrm>
            <a:off x="8293608" y="4581144"/>
            <a:ext cx="3236976" cy="621792"/>
          </a:xfrm>
          <a:prstGeom prst="roundRect">
            <a:avLst>
              <a:gd name="adj" fmla="val 14706"/>
            </a:avLst>
          </a:prstGeom>
          <a:solidFill>
            <a:srgbClr val="E8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421624" y="4581144"/>
            <a:ext cx="3044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#생일 임박, #나이대, #고객유형 —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… 안내 문자 문안을 작성해줘 …</a:t>
            </a:r>
            <a:endParaRPr lang="en-US" sz="1200" dirty="0"/>
          </a:p>
        </p:txBody>
      </p:sp>
      <p:sp>
        <p:nvSpPr>
          <p:cNvPr id="55" name="Shape 50"/>
          <p:cNvSpPr/>
          <p:nvPr/>
        </p:nvSpPr>
        <p:spPr>
          <a:xfrm>
            <a:off x="548640" y="5431536"/>
            <a:ext cx="11094415" cy="475488"/>
          </a:xfrm>
          <a:prstGeom prst="roundRect">
            <a:avLst>
              <a:gd name="adj" fmla="val 2692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6" name="Text 51"/>
          <p:cNvSpPr txBox="1"/>
          <p:nvPr/>
        </p:nvSpPr>
        <p:spPr>
          <a:xfrm>
            <a:off x="822960" y="5431536"/>
            <a:ext cx="1054577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것   </a:t>
            </a:r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문장은 고객에게 첫 말, 추천 질문은 MeAI에게 첫 질문.</a:t>
            </a:r>
            <a:endParaRPr lang="en-US" sz="1300" dirty="0"/>
          </a:p>
        </p:txBody>
      </p:sp>
      <p:sp>
        <p:nvSpPr>
          <p:cNvPr id="57" name="Text 52"/>
          <p:cNvSpPr txBox="1"/>
          <p:nvPr/>
        </p:nvSpPr>
        <p:spPr>
          <a:xfrm>
            <a:off x="548640" y="5980176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1번 김민수 · 2번 윤태기 고객 카드(이름·숫자는 예시) · 2번 빨간 네모 = 사전조회동의 D-90(이달 말 만료되는 가입설계동의와 별개) · 출처: MeAI 확정 화면 · 자세한 흐름: 1번 PART 7 시나리오 3, 2번 시나리오 2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22415" y="822960"/>
            <a:ext cx="5120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71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09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737360"/>
            <a:ext cx="7772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지켜야 할 것 · FAQ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정리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24612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조건, 한 번만 제대로 읽어 두기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파트에서 배우는 것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4553712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05840" y="448056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 약속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31520" y="4937760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05840" y="486460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31520" y="5321808"/>
            <a:ext cx="146304" cy="1463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05840" y="5248656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용어 한 장 정리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4526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>
                    <a:alpha val="7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걸음 모두에 해당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053578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86600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86600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249156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82178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82178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444734" y="5102352"/>
            <a:ext cx="228600" cy="0"/>
          </a:xfrm>
          <a:prstGeom prst="line">
            <a:avLst/>
          </a:prstGeom>
          <a:noFill/>
          <a:ln w="1905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477756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77756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673334" y="4892040"/>
            <a:ext cx="966978" cy="420624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673334" y="4892040"/>
            <a:ext cx="9669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>
                    <a:alpha val="6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꼭 지킬 것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잘 쓰는 다섯 가지 약속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1·4번은 화면 하단 안내문에도 있음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0467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0467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35331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답변은 검증 후 사용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0467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오류가 있을 수 있음.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약관·증권으로 직접 확인한 뒤 안내.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5371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5371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개인정보 입력 금지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5371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이름·연락처·주소·주민번호는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질문에도, 메모에도 넣지 않음.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302752" y="1965960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8302752" y="19659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851392" y="1947672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없으면 보지 않기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302752" y="2606040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동의가 없거나 철회된 고객은 막힘.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우회 말고 동의부터 받기.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467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0467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35331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미검증 책임은 사용자에게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0467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없이 안내하면 금융소비자보호법 등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법령상 책임은 사용자에게 있음.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297680" y="3904488"/>
            <a:ext cx="3566160" cy="2057400"/>
          </a:xfrm>
          <a:prstGeom prst="roundRect">
            <a:avLst>
              <a:gd name="adj" fmla="val 6222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7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53712" y="4178808"/>
            <a:ext cx="402336" cy="402336"/>
          </a:xfrm>
          <a:prstGeom prst="ellipse">
            <a:avLst/>
          </a:prstGeom>
          <a:solidFill>
            <a:srgbClr val="3182F6"/>
          </a:solidFill>
          <a:ln w="1905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553712" y="41788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02352" y="416052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 외부 반출 금지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4553712" y="4818888"/>
            <a:ext cx="305409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답변·화면 캡처·이 가이드북,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외부 제공·배포·게시 모두 금지.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3904488"/>
            <a:ext cx="3566160" cy="2057400"/>
          </a:xfrm>
          <a:prstGeom prst="roundRect">
            <a:avLst>
              <a:gd name="adj" fmla="val 5333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75320" y="3995928"/>
            <a:ext cx="310896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하단 안내문 원문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"MeAI의 답변은 생성형 AI를 통해 작성되어 오류가 있을 수 있으므로, 반드시 직접 근거자료를 확인하여 진위를 검증하시기 바랍니다. 미검증으로 인한 금융소비자보호법 등 관련 법령상 책임은 사용자에게 있습니다."</a:t>
            </a:r>
            <a:endParaRPr lang="en-US" sz="11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FAQ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가장 많이 묻는 질문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아홉 개면 첫 주 질문은 대부분 해결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4980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홈은 어디서 열리나?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10월부터 PC 영업포탈에서 MeAI로 들어오면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먼저 열림(모바일은 순차 적용).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화면에선 왼쪽 위 [MeAI 홈]을 누르면 이동.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29768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49884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47088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 안 보임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98848" y="22402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224028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고객은 CRM 데이터 반입이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끝난 뒤부터 보임(게시판 공지).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매일 밤 새로 계산해 다음 날 반영.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046720" y="1691640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47888" y="1847088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549640" y="1847088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 고객이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연락할 분이 아닌 것 같음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47888" y="24780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49640" y="2478024"/>
            <a:ext cx="2907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추천은 지시가 아니라 "이유가 있는 고객".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그룹에서 직접 골라도 됨.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5156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없는 고객은?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05156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[고객 동의]나 [사전조회동의 요청하기]를 눌러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번호를 넣으면 알림톡 발송. 동의하면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안팎으로 반영, 90일 동안 맞춤대화 가능.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29768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49884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80060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검색 팝업에 고객이 없거나 회색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9884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480060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검색 팝업엔 동의가 유효한 고객만 나옴.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회색은 오늘 동의를 철회한 고객으로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정보를 볼 수 없음.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046720" y="3264408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47888" y="3419856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549640" y="3419856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숫자가 내 고객 수와 다름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7888" y="38130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8549640" y="3813048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홈에는 사전조회 동의일로부터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이내 고객만 보임(범례 안내).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 데이터는 다음 날 반영.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4864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4980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105156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고객이 여러 그룹에 있음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74980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105156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정상. 우선순위는 당월 영업 타겟 →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증권 5건 이상·월 50만원 이상·상령일·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생일·동의 만료 → 보장 부족 순.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429768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9884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480060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 대화를 폰에서 이어갈 수 있나?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9884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480060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가능. 대화 이력과 나의 질문이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PC·모바일에 똑같이 보임.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8046720" y="4837176"/>
            <a:ext cx="3566160" cy="1444752"/>
          </a:xfrm>
          <a:prstGeom prst="roundRect">
            <a:avLst>
              <a:gd name="adj" fmla="val 7595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992624"/>
            <a:ext cx="274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</a:t>
            </a:r>
            <a:endParaRPr lang="en-US" sz="1300" dirty="0"/>
          </a:p>
        </p:txBody>
      </p:sp>
      <p:sp>
        <p:nvSpPr>
          <p:cNvPr id="49" name="Text 47"/>
          <p:cNvSpPr txBox="1"/>
          <p:nvPr/>
        </p:nvSpPr>
        <p:spPr>
          <a:xfrm>
            <a:off x="8549640" y="4992624"/>
            <a:ext cx="29077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글씨가 너무 크거나 작음</a:t>
            </a:r>
            <a:endParaRPr lang="en-US" sz="130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5385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1150" dirty="0"/>
          </a:p>
        </p:txBody>
      </p:sp>
      <p:sp>
        <p:nvSpPr>
          <p:cNvPr id="51" name="Text 49"/>
          <p:cNvSpPr txBox="1"/>
          <p:nvPr/>
        </p:nvSpPr>
        <p:spPr>
          <a:xfrm>
            <a:off x="8549640" y="5385816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위 [글씨 확대]를 끄면 원래 크기,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켜면 한 단계 커짐(기본 ON).</a:t>
            </a:r>
            <a:endParaRPr lang="en-US" sz="11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9 · 용어 정리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책에 나온 말, 한 장 정리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화면에 그대로 쓰이는 이름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graphicFrame>
        <p:nvGraphicFramePr>
          <p:cNvPr id="7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4937760"/>
                <a:gridCol w="35021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뜻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B768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보나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MeAI에 들어오면 처음 열리는 화면. 추천 고객·고객 그룹·대화 카드가 한곳에 있음.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첫 화면 · 어느 화면이든 왼쪽 위 [MeAI 홈]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일반대화 · 맞춤대화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일반대화는 무엇이든 묻는 창. 맞춤대화는 선택한 고객의 보장 내역을 읽고 답변.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대화 카드(흰색 · 검은색)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내역 조회 동의. 동의일부터 90일 동안 MeAI 맞춤대화 가능.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 D-n 칩 · MeAI 홈 "사전조회 동의 필요"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사전조회동의 D-n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동의 만료(90일)까지 남은 날. 만료되면 "필요", 철회하면 "철회".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카드 · 검색 팝업 · 고객찾기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노출 기간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사전조회 동의일로부터 1년 이내 고객만 MeAI 홈에 보임(맞춤대화 90일과 별개).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범례 안내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상품소개 동의 · AI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상품 소개에 동의한 고객. 카드에 빨간 리본이 붙음.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"상품제안 가능" · 카드 리본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보유 · 가망 · 이관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계약 있음 · 등록만 · 넘겨받음. 고객마다 셋 중 하나.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카드의 유형 칩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오늘의 추천 고객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이유가 붙은 카드 3장 × 세트 3개. 매일 밤 새로 계산해 다음 날 반영.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보장 기준 · 영업 기회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 그룹 탭. 보장 부족 7종 등 10개 / 날짜형 3개.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왼쪽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당월 영업 타겟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이번 달 영업 목표 대상. 우선순위 1(보라 태그).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그룹 · 카드 태그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상령일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보험 나이가 한 살 오르는 날. 그 전에 가입하면 유리.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[상령일 임박]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고객 한눈에 보기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펼친 카드의 여섯 칸. 가입·납입·부족 금액 등.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고객찾기 가운데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간편 분석 · 상세 분석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모드. 일상 언어 / 약관·담보 정밀 비교.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대화 입력창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용어 설명 (개발 중)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답변 속 전문용어의 뜻을 목록으로 보여 줌.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PC 입력창 오른쪽 위 · 모바일 오른쪽 아래 (NEW)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1F28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글씨 확대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작은 글씨를 한 단계 크게. 기본 ON, 이 PC에 기억됨.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33D4B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MeAI 홈·고객찾기·게시판 오른쪽 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101600" marR="101600" marT="38100" marB="38100" anchor="ctr">
                    <a:lnL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E8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장 요약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홈, 이 한 장이면 시작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네 걸음 · 동의 칩 읽는 법 · 기억할 숫자 · 지킬 것 — 뽑아서 책상 옆에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49808" y="1892808"/>
            <a:ext cx="8577072" cy="0"/>
          </a:xfrm>
          <a:prstGeom prst="line">
            <a:avLst/>
          </a:prstGeom>
          <a:noFill/>
          <a:ln w="38100">
            <a:solidFill>
              <a:srgbClr val="C9E2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2688" y="1737360"/>
            <a:ext cx="614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691640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16916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22402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· 오늘의 추천 고객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560320"/>
            <a:ext cx="1877187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560320"/>
            <a:ext cx="18771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[MeAI 고객찾기에서 열기]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카드 문장 = 고객에게 첫 말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383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p.12 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49040" y="1737360"/>
            <a:ext cx="80772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64992" y="1691640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364992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867912" y="16916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고르기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364992" y="22402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고객찾기 · 한눈에 보기 6칸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64992" y="2560320"/>
            <a:ext cx="1999869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64992" y="2560320"/>
            <a:ext cx="19998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[이 고객으로 맞춤대화 시작]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364992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"사전조회동의 필요"면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3364992" y="3383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p.30 →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65392" y="1737360"/>
            <a:ext cx="61468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81344" y="1691640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181344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684264" y="16916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6181344" y="22402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· 추천 질문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181344" y="2560320"/>
            <a:ext cx="1253109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81344" y="2560320"/>
            <a:ext cx="1253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"보장분석 해줘"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181344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아래 꼬리질문 버튼으로 이어 묻기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181344" y="3383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p.47 →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9381744" y="1737360"/>
            <a:ext cx="100076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997696" y="1691640"/>
            <a:ext cx="402336" cy="402336"/>
          </a:xfrm>
          <a:prstGeom prst="ellipse">
            <a:avLst/>
          </a:prstGeom>
          <a:solidFill>
            <a:srgbClr val="3182F6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997696" y="1691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9500616" y="16916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연락하기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8997696" y="224028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 리포트 · 카카오톡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997696" y="2560320"/>
            <a:ext cx="1119759" cy="274320"/>
          </a:xfrm>
          <a:prstGeom prst="roundRect">
            <a:avLst>
              <a:gd name="adj" fmla="val 50000"/>
            </a:avLst>
          </a:prstGeom>
          <a:solidFill>
            <a:srgbClr val="F2F4F6"/>
          </a:solidFill>
          <a:ln w="12700">
            <a:solidFill>
              <a:srgbClr val="F2F4F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997696" y="2560320"/>
            <a:ext cx="11197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[요약 리포트]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8997696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숫자·약관 근거 확인 뒤 내 말로 발송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8997696" y="33832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p.59 →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칩 → 다음 행동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489204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p.46 →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48640" y="4133088"/>
            <a:ext cx="5440680" cy="457200"/>
          </a:xfrm>
          <a:prstGeom prst="roundRect">
            <a:avLst>
              <a:gd name="adj" fmla="val 2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58368" y="4215384"/>
            <a:ext cx="16002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58368" y="421538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182F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D-n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2331720" y="413308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2670048" y="4133088"/>
            <a:ext cx="3227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[이 고객으로 맞춤대화 시작]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48640" y="4681728"/>
            <a:ext cx="5440680" cy="457200"/>
          </a:xfrm>
          <a:prstGeom prst="roundRect">
            <a:avLst>
              <a:gd name="adj" fmla="val 2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58368" y="4764024"/>
            <a:ext cx="16002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F04452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58368" y="476402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445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필요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2331720" y="468172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50" dirty="0"/>
          </a:p>
        </p:txBody>
      </p:sp>
      <p:sp>
        <p:nvSpPr>
          <p:cNvPr id="55" name="Text 53"/>
          <p:cNvSpPr txBox="1"/>
          <p:nvPr/>
        </p:nvSpPr>
        <p:spPr>
          <a:xfrm>
            <a:off x="2670048" y="4681728"/>
            <a:ext cx="3227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[사전조회동의 요청하기] → 15분 안팎 반영</a:t>
            </a:r>
            <a:endParaRPr lang="en-US" sz="1150" dirty="0"/>
          </a:p>
        </p:txBody>
      </p:sp>
      <p:sp>
        <p:nvSpPr>
          <p:cNvPr id="56" name="Shape 54"/>
          <p:cNvSpPr/>
          <p:nvPr/>
        </p:nvSpPr>
        <p:spPr>
          <a:xfrm>
            <a:off x="548640" y="5230368"/>
            <a:ext cx="5440680" cy="457200"/>
          </a:xfrm>
          <a:prstGeom prst="roundRect">
            <a:avLst>
              <a:gd name="adj" fmla="val 20000"/>
            </a:avLst>
          </a:prstGeom>
          <a:solidFill>
            <a:srgbClr val="F9FAFB"/>
          </a:solidFill>
          <a:ln w="12700">
            <a:solidFill>
              <a:srgbClr val="F9FAF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58368" y="5312664"/>
            <a:ext cx="1600200" cy="292608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1D6DB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58368" y="5312664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사전조회동의 철회</a:t>
            </a:r>
            <a:endParaRPr lang="en-US" sz="1050" dirty="0"/>
          </a:p>
        </p:txBody>
      </p:sp>
      <p:sp>
        <p:nvSpPr>
          <p:cNvPr id="59" name="Text 57"/>
          <p:cNvSpPr txBox="1"/>
          <p:nvPr/>
        </p:nvSpPr>
        <p:spPr>
          <a:xfrm>
            <a:off x="2331720" y="52303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B0B8C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2670048" y="5230368"/>
            <a:ext cx="3227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D4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회색 · 정보를 볼 수 없음 · 새 동의부터</a:t>
            </a:r>
            <a:endParaRPr lang="en-US" sz="1150" dirty="0"/>
          </a:p>
        </p:txBody>
      </p:sp>
      <p:sp>
        <p:nvSpPr>
          <p:cNvPr id="61" name="Text 59"/>
          <p:cNvSpPr txBox="1"/>
          <p:nvPr/>
        </p:nvSpPr>
        <p:spPr>
          <a:xfrm>
            <a:off x="6181344" y="37947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기억할 숫자</a:t>
            </a:r>
            <a:endParaRPr lang="en-US" sz="1250" dirty="0"/>
          </a:p>
        </p:txBody>
      </p:sp>
      <p:sp>
        <p:nvSpPr>
          <p:cNvPr id="62" name="Shape 60"/>
          <p:cNvSpPr/>
          <p:nvPr/>
        </p:nvSpPr>
        <p:spPr>
          <a:xfrm>
            <a:off x="6181344" y="4133088"/>
            <a:ext cx="2645359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364224" y="4187952"/>
            <a:ext cx="23710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90일</a:t>
            </a:r>
            <a:endParaRPr lang="en-US" sz="2200" dirty="0"/>
          </a:p>
        </p:txBody>
      </p:sp>
      <p:sp>
        <p:nvSpPr>
          <p:cNvPr id="64" name="Text 62"/>
          <p:cNvSpPr txBox="1"/>
          <p:nvPr/>
        </p:nvSpPr>
        <p:spPr>
          <a:xfrm>
            <a:off x="6364224" y="4572000"/>
            <a:ext cx="2371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맞춤대화 가능 · 동의일부터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8997696" y="4133088"/>
            <a:ext cx="2645359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80576" y="4187952"/>
            <a:ext cx="23710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이내</a:t>
            </a:r>
            <a:endParaRPr lang="en-US" sz="2200" dirty="0"/>
          </a:p>
        </p:txBody>
      </p:sp>
      <p:sp>
        <p:nvSpPr>
          <p:cNvPr id="67" name="Text 65"/>
          <p:cNvSpPr txBox="1"/>
          <p:nvPr/>
        </p:nvSpPr>
        <p:spPr>
          <a:xfrm>
            <a:off x="9180576" y="4572000"/>
            <a:ext cx="2371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홈 노출 · 동의일부터</a:t>
            </a:r>
            <a:endParaRPr lang="en-US" sz="1050" dirty="0"/>
          </a:p>
        </p:txBody>
      </p:sp>
      <p:sp>
        <p:nvSpPr>
          <p:cNvPr id="68" name="Shape 66"/>
          <p:cNvSpPr/>
          <p:nvPr/>
        </p:nvSpPr>
        <p:spPr>
          <a:xfrm>
            <a:off x="6181344" y="4956048"/>
            <a:ext cx="2645359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364224" y="5010912"/>
            <a:ext cx="23710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15분 안팎</a:t>
            </a:r>
            <a:endParaRPr lang="en-US" sz="2200" dirty="0"/>
          </a:p>
        </p:txBody>
      </p:sp>
      <p:sp>
        <p:nvSpPr>
          <p:cNvPr id="70" name="Text 68"/>
          <p:cNvSpPr txBox="1"/>
          <p:nvPr/>
        </p:nvSpPr>
        <p:spPr>
          <a:xfrm>
            <a:off x="6364224" y="5394960"/>
            <a:ext cx="2371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동의 반영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8997696" y="4956048"/>
            <a:ext cx="2645359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8EB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180576" y="5010912"/>
            <a:ext cx="23710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F2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9명</a:t>
            </a:r>
            <a:endParaRPr lang="en-US" sz="2200" dirty="0"/>
          </a:p>
        </p:txBody>
      </p:sp>
      <p:sp>
        <p:nvSpPr>
          <p:cNvPr id="73" name="Text 71"/>
          <p:cNvSpPr txBox="1"/>
          <p:nvPr/>
        </p:nvSpPr>
        <p:spPr>
          <a:xfrm>
            <a:off x="9180576" y="5394960"/>
            <a:ext cx="23710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6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오늘의 추천 고객 · 3명 × 3세트</a:t>
            </a:r>
            <a:endParaRPr lang="en-US" sz="1050" dirty="0"/>
          </a:p>
        </p:txBody>
      </p:sp>
      <p:sp>
        <p:nvSpPr>
          <p:cNvPr id="74" name="Shape 72"/>
          <p:cNvSpPr/>
          <p:nvPr/>
        </p:nvSpPr>
        <p:spPr>
          <a:xfrm>
            <a:off x="548640" y="5806440"/>
            <a:ext cx="11094415" cy="457200"/>
          </a:xfrm>
          <a:prstGeom prst="roundRect">
            <a:avLst>
              <a:gd name="adj" fmla="val 20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777240" y="5806440"/>
            <a:ext cx="9631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지킬 것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개인정보 넣지 않기 · 답변은 검증 후 사용 · 동의 없으면 보지 않기 · 자료 외부 반출 금지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454335" y="5806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p.75 →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3182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248095" y="1097280"/>
            <a:ext cx="5394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0" b="1" dirty="0">
                <a:solidFill>
                  <a:srgbClr val="FFFFFF">
                    <a:alpha val="18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</a:t>
            </a:r>
            <a:endParaRPr lang="en-US" sz="1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5029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E2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마무리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896112"/>
            <a:ext cx="7193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896112"/>
            <a:ext cx="71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찾기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1560576" y="896112"/>
            <a:ext cx="8717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560576" y="896112"/>
            <a:ext cx="8717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고르기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542032" y="896112"/>
            <a:ext cx="7193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2032" y="896112"/>
            <a:ext cx="7193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묻기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71088" y="896112"/>
            <a:ext cx="1024128" cy="347472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371088" y="896112"/>
            <a:ext cx="10241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연락하기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1508760"/>
            <a:ext cx="8229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나만의 영업비서,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“MeAI 홈” OPEN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611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찾는 영업에서 찾아가는 영업으로, MeAI가 함께합니다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731520" y="4572000"/>
            <a:ext cx="2892552" cy="36576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572000"/>
            <a:ext cx="2892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아침 MeAI 홈 · 오늘 한 분께 연락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761232" y="4572000"/>
            <a:ext cx="1682496" cy="365760"/>
          </a:xfrm>
          <a:prstGeom prst="roundRect">
            <a:avLst>
              <a:gd name="adj" fmla="val 50000"/>
            </a:avLst>
          </a:prstGeom>
          <a:solidFill>
            <a:srgbClr val="1B64DA"/>
          </a:solidFill>
          <a:ln w="12700">
            <a:solidFill>
              <a:srgbClr val="1B64D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61232" y="4572000"/>
            <a:ext cx="1682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· 세일즈혁신TF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55778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>
                    <a:alpha val="9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전부·일부(수정 포함) 외부 제공·배포·게시(온/오프라인) 금지. 미검증으로 인한 금융소비자보호법 등 관련 법령상 책임은 사용자에게 있음. 화면 속 고객 이름·숫자는 예시 데이터.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>
                    <a:alpha val="85000"/>
                  </a:srgbClr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MeAI 활용 가이드북 v4 · MeAI 홈 편 · 2026.10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79</Slides>
  <Notes>79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MeAI 활용 가이드북 v4 · MeAI 홈 편</dc:title>
  <dc:subject>PptxGenJS Presentation</dc:subject>
  <dc:creator>세일즈혁신TF</dc:creator>
  <cp:lastModifiedBy>세일즈혁신TF</cp:lastModifiedBy>
  <cp:revision>1</cp:revision>
  <dcterms:created xsi:type="dcterms:W3CDTF">2026-10-01T00:46:49Z</dcterms:created>
  <dcterms:modified xsi:type="dcterms:W3CDTF">2026-10-01T00:46:49Z</dcterms:modified>
</cp:coreProperties>
</file>