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pn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 “MeAI 홈” OPEN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27000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27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MeAI 홈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124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1124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941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41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 읽는 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영업가족이 직접 보는 책. 내 상황에 맞는 곳부터 펼쳐 보기.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진입로, 화면 구성과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 읽는 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856232"/>
            <a:ext cx="365760" cy="36576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 · 매일 아침 루틴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누르면 열리는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새 기능,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리포트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법이 궁금하다면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클릭으로 고르기,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+ 무엇을 묻는 법,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초안까지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639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MeAI로 완성된 영업 사이클</a:t>
            </a:r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내 고객을 MeAI 홈에서 찾아, MeAI에게 묻고, 고객 연락까지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9808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14724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372536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573704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71136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573704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573704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한눈에 보고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고객 선택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96432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97600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795031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397600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397600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기능으로 확인하기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20327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21495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618927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7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221495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연락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221495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첫 말로 연락하고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리포트까지 발송하기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0096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7240" y="5431536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 찾기·고르기·묻기는 MeAI 홈에서 시작해 누르기만 하면 됨.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48640" y="5833872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7240" y="5833872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화면. PART 6의 새 기능(용어 설명·모드 변경)은 개발 중이라 바뀔 수 있음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</a:t>
            </a:r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하루가 시작되는 곳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MeAI가 그룹으로 묶어 둔 내 고객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98348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98348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98348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일반대화 · 맞춤대화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p.60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 · 이렇게 묻기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4983480"/>
            <a:ext cx="5440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2·3·4·8)부터 보면 MeAI 홈 바로 사용 가능.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 이제 MeAI가 먼저 골라 줌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아홉이 방치상태인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바꾸는 하루의 순서 · 작동 원리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매일 아침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아홉은 방치상태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영업하려면 누구에게 · 왜 지금 · 무슨 말을 할지 고민해야 했던 현실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사람을 직접 골라야 했음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 넘게 설계·청약 없이 방치상태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371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 더 묵혀 두게 됨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02752" y="41330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누구, 왜, 무엇을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302752" y="46817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1명에게 영업하기 위해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준비해야 하는 많은 고민과 결정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3월 TA채널 보유고객 대비 설계/청약 진행 고객 비율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찾아오는 영업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홈이 오늘의 추천 고객을 보여 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만듦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"상령일이 2주 남았고…" 이유가 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15359" y="1691640"/>
            <a:ext cx="3754562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5359" y="1691640"/>
            <a:ext cx="3754562" cy="4069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김민수 카드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사람이. 오른쪽 김민수 고객처럼 "사전조회동의 필요"가 붙으면 맞춤대화 전에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고객(예시) 한 분으로 따라가 보기 · 화면 속 추천 질문 문장은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212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2126"/>
            <a:ext cx="2240280" cy="24279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63469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58058" y="1894804"/>
            <a:ext cx="3429000" cy="238259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058" y="1894804"/>
            <a:ext cx="3429000" cy="238259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58058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58058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423818" y="46177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058058" y="495604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 파악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61608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756197" y="183867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197" y="1838671"/>
            <a:ext cx="2240280" cy="249485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756197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756197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7121957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6756197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971026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9265615" y="2024516"/>
            <a:ext cx="2377440" cy="2123168"/>
          </a:xfrm>
          <a:prstGeom prst="roundRect">
            <a:avLst>
              <a:gd name="adj" fmla="val 22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5615" y="2024516"/>
            <a:ext cx="2377440" cy="2123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265615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9265615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631375" y="4617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3" name="Text 27"/>
          <p:cNvSpPr txBox="1"/>
          <p:nvPr/>
        </p:nvSpPr>
        <p:spPr>
          <a:xfrm>
            <a:off x="9265615" y="49560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발송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59612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5687568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고객은 사전조회 동의 기간이 남아 있어(D-7) [이 고객으로 맞춤대화 시작]을 누르면 바로 열림.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필요"가 붙은 고객은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작동 원리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계산하고, 다음 날 이유와 함께 화면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· 동의 · 상령일 ·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· CRM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고객과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그룹을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자동으로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계산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9명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× 3세트로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 표시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대신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이 고객인지,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문장과 태그로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(동의 상태 칩도 함께)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버튼으로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이동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동의 고객은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맞춤대화 시작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만나는 일에 집중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그룹은 두 갈래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· 영업 기회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암진단비 부족 · 상령일 임박)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다음 날 반영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 모두 해당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시각은 화면의 "최근 업데이트"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MeAI 홈에 노출되는 고객은 사전조회 동의일로부터 1년 이내 · 맞춤대화는 동의일부터 90일 동안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쓴 경우, 체결전환율 2.8배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명이 사용 경험 있음 · MeAI 홈은 매일 아침 열어 볼 이유를 만들어 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5698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81730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481730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81730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02757" y="169164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58789" y="1892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58789" y="24963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158789" y="27706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579815" y="1691640"/>
            <a:ext cx="3063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35847" y="18928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835847" y="249631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 늘어나는 영업기회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8835847" y="277063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 · 평균 가계약 수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 → 27.79건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7월 활동일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 보유율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가계약(건)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매출자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5,987명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256,194원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1,835명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310,383원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2~4일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328,237원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5~9일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38.47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378,083원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408,166원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680960" y="3611880"/>
            <a:ext cx="3931920" cy="1975104"/>
          </a:xfrm>
          <a:prstGeom prst="roundRect">
            <a:avLst>
              <a:gd name="adj" fmla="val 555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3703320"/>
            <a:ext cx="34747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· 평균 가계약 5.4배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(10일 이상 vs 미사용)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홈을 아침마다 여는 습관이 곧 활동일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MeAI 홈에서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다음 화면으로 연결(화면 속 질문 문장은 예시) · PART 2~4 화면 · PART 7 루틴 · PART 8 묻는 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 확인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5302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362858" y="182640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858" y="1826406"/>
            <a:ext cx="2240280" cy="242794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2858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2858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28618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· 추천 카드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285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9292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5902757" y="1928504"/>
            <a:ext cx="3200400" cy="22237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57" y="1928504"/>
            <a:ext cx="3200400" cy="222375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902757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5902757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6268517" y="44805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 · 고객찾기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90275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연락할 고객 선택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929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9402775" y="179295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775" y="1792951"/>
            <a:ext cx="2240280" cy="2494857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402775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9402775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768535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· 추천 질문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9402775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누르거나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504688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596128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→ 고르기 → 묻기 → 연락하기. 마지막 걸음은 카드의 첫 말로 연락하고 리포트까지 발송.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고객과 첫 마디가 미리 준비된 곳 · 누르기만 하면 시작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 6곳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배너와 CRM 통해 들어가는 MeAI는 누구나 사용 가능 · 10월 2일부터 새 문 ③④⑤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349240"/>
            <a:ext cx="3273552" cy="475488"/>
          </a:xfrm>
          <a:prstGeom prst="roundRect">
            <a:avLst>
              <a:gd name="adj" fmla="val 2307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440680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 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생긴 문 ③④⑤ 한눈에 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④가 핵심인 이유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생일·상령일 목록에서 바로 [MeAI 맞춤대화]를 눌러서 시작.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한 번에 열림.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 홈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한 화면에 담길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9080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9080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242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24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7022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702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'최근 업데이트' = 데이터 기준 시각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바로 질문 창, 맞춤대화는 고객 검색 팝업이 먼저 뜸.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 화살표로 넘김.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계산해 다음 날 반영.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973775" y="1024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업데이트 시각은 가림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홈·고객찾기·게시판 오른쪽 위 [글씨 확대]. 기본은 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끝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PC에서는 다음에도 그대로 유지.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66017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660179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3067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30672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57800" y="5989320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고르기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카드 하나만 누르면, 나머지는 MeAI가 준비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바로 질문 창이 열림.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비교까지.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보기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뜸.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고르면 그 고객 대화가 열림. (PART 3)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내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동의일부터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90일이 지나지 않은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알림톡부터 보낼 고객.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누른 뒤 화면은 PART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고른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 · 화살표로 다음 세트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92715" y="1691640"/>
            <a:ext cx="8806265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715" y="1691640"/>
            <a:ext cx="8806265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927730" y="17138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927730" y="1713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545714" y="22468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45714" y="22468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622240" y="27335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622240" y="2733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04978" y="393087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004978" y="39308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24528" y="420124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824528" y="42012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52171" y="47188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252171" y="4718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068219" y="19147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68219" y="19147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372988" y="521319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72988" y="5213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/ 필요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문장이 고객에게 건네는 명분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· 왜 · 언제 · 다음이 카드 한 장에. 이유 문장을 내 말로 풀면 곧 첫 말.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260795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60795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8193" y="207102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8193" y="2071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49364" y="197063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49364" y="1970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8193" y="25841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8193" y="2584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8193" y="349872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38193" y="3498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8193" y="451372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38193" y="45137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8193" y="49041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8193" y="49041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8193" y="564027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38193" y="56402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유형은 보유·가망·이관 중 하나. 긴 이름은 줄여서 표시.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22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042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5968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상품 제안까지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29352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169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095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"상령일이 2주 남았고 암진단비가 1천만원뿐입니다."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5478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5295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8221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여기서 상담 방향이 정해짐.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160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14223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43484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75488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04748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'필요'면 알림톡으로 동의부터, D-n(남은 날)이 보이면 바로 시작.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3858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36752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66013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고객찾기의 이 고객 카드로 바로 이동.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532120" y="6053328"/>
            <a:ext cx="610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089196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089196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089196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세트 3장이 나옴.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681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MeAI 홈에 반영.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303520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고객찾기의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고객으로 바로 이동.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세트 1은 생략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고객을 추천하는 이유 세 갈래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나눔. 카드 태그와는 다른 분류.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67912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 (예시)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보고 골랐나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일정형 · 이벤트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"자동차보험 만기가 9일 뒤이고 운전자보험은 없습니다"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 · 만기 · 상령일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공백형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"실손이 없어 의료비 본인부담이 큽니다"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 · 수술비 · 진단비, 비어 있는 담보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관계형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"보상 완료 후 후속 상담이 없었습니다"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CRM 상담 이력 · 접촉 공백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52120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일정형은 오늘 연락 · 공백형은 제안이 정해진 카드 · 관계형은 만남의 명분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맨 아래 범례. 추천 카드 태그 3종은 아래에 따로 정리.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있음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만기·동의 만료·상령일이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카드나 버튼을 한 번 누르면 이동. 돌아올 땐 어디서든 왼쪽 위 [MeAI 홈].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열림.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추천 카드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검은 맞춤대화 카드를 누르면 열림. 고객을 고르면 바로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검색됨. 담당자 이름으로도 검색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 ·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 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 시작.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없음.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이동. 검색어는 지워짐.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좁혀지는 목록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검색 가능. 담당자 이름으로도 검색.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보임. 입력하는 즉시 걸러짐.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 구분 가능.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 여부부터 확인.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정보를 볼 수 없음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다시 받기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전이면 고객찾기 [사전동의 만료] 그룹에서 미리 챙기기.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만료됐으면 고객찾기 [사전조회동의 요청하기] 또는 MeAI 홈 [고객 동의]로 다시 발송.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먼저인 이유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가능.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한 번, 추천 질문에서 한 번. 고객과 질문이 정해진 채로 맞춤대화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534095" y="1252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이름·질문 문장은 예시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17732"/>
            <a:ext cx="2651760" cy="287389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7732"/>
            <a:ext cx="2651760" cy="287389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2266" y="4142727"/>
            <a:ext cx="2253765" cy="259160"/>
          </a:xfrm>
          <a:prstGeom prst="roundRect">
            <a:avLst>
              <a:gd name="adj" fmla="val 2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9412" y="3939101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79412" y="3939101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48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맨 아래 버튼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누르기.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27248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3364992" y="223341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233411"/>
            <a:ext cx="2651760" cy="18425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364992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3364992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30752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364992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이유·태그와 한눈에 보기 6칸 훑어보기.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0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181344" y="167813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78132"/>
            <a:ext cx="2651760" cy="295309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313932" y="3016065"/>
            <a:ext cx="2392611" cy="491178"/>
          </a:xfrm>
          <a:prstGeom prst="roundRect">
            <a:avLst>
              <a:gd name="adj" fmla="val 1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31711" y="2925664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1711" y="2925664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2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181344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181344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547104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맞춤대화 질문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181344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오른쪽의 빨간 맞춤대화 질문 누르기.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없이 열 땐 아래 빨간 버튼.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875995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8997696" y="178488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6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4886"/>
            <a:ext cx="2651760" cy="2739589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034854" y="4071817"/>
            <a:ext cx="2594333" cy="249975"/>
          </a:xfrm>
          <a:prstGeom prst="roundRect">
            <a:avLst>
              <a:gd name="adj" fmla="val 21948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594773" y="3820154"/>
            <a:ext cx="1034415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594773" y="3820154"/>
            <a:ext cx="103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채워짐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8997696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5"/>
          <p:cNvSpPr txBox="1"/>
          <p:nvPr/>
        </p:nvSpPr>
        <p:spPr>
          <a:xfrm>
            <a:off x="8997696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9363456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질문까지 준비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8997696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서은아님 맞춤대화가 열리고, 입력창에 질문이 채워져 있음. 보내기만 누르면 끝.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연락할 고객이 이미 정해진 날, 길 2는 "오늘 누구에게 연락할까?"가 고민인 날. 둘 다 그 고객의 맞춤대화로 이어짐.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그룹으로 묶어 둔 내 고객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모아 보기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읽는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왼쪽에서 오른쪽으로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→ 펼쳐 보고 → MeAI 대화하고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88352" cy="4617720"/>
          </a:xfrm>
          <a:prstGeom prst="roundRect">
            <a:avLst>
              <a:gd name="adj" fmla="val 2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88352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62812" y="20492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162812" y="204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4162" y="26957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4162" y="26957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71470" y="207492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071470" y="20749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293106" y="26649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93106" y="2664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978609" y="47788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978609" y="47788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06591" y="228528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06591" y="22852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99451" y="3814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699451" y="3814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419858" y="16952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2419858" y="16952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93612" y="19210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93612" y="19210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366760" y="1664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164592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193852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이유별로 묶인 그룹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366760" y="21838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21838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216560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245821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366760" y="2703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366760" y="2703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750808" y="268528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750808" y="297789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366760" y="32232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366760" y="3223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20497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9758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7429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366760" y="3742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72465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17264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오른쪽 패널도 바뀜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2626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366760" y="42626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2443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53694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47823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366760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476402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05663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8366760" y="530199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366760" y="53019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8750808" y="528370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8750808" y="557631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8366760" y="58216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8366760" y="582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750808" y="580339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8750808" y="609600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35쪽 참고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 한 줄이 곧 상담 화법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설명이 생성. 앞은 그룹 기준, 뒤는 고객 맞춤 화법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77123" y="54215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177123" y="54215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680960" y="18013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680960" y="1801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8065008" y="17830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065008" y="207568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 · [전체]로 동의 고객만 골라 보기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68096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68096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065008" y="26517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065008" y="294436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앞은 묶인 기준, 뒤는 말할 방향(화법)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80960" y="3538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7680960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6"/>
          <p:cNvSpPr txBox="1"/>
          <p:nvPr/>
        </p:nvSpPr>
        <p:spPr>
          <a:xfrm>
            <a:off x="8065008" y="35204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 말로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065008" y="381304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768096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768096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065008" y="43891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임박이면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8065008" y="468172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 인사로 열고, MeAI 맞춤대화 보장 점검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680960" y="5276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7680960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4"/>
          <p:cNvSpPr txBox="1"/>
          <p:nvPr/>
        </p:nvSpPr>
        <p:spPr>
          <a:xfrm>
            <a:off x="8065008" y="5257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문자 초안은 MeAI에게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8065008" y="5550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일반대화 추천 질문을 누르면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그룹에 보낼 안내 문자 초안이 완성(PART 8)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펼쳐지는 여섯 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 표시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48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만료(90일)까지 남은 날. 만료면 "필요", 철회면 "철회"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다름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 자세한 설명은 36쪽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않음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태그는 이제 색으로 구분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색. 여러 개 붙어도 한눈에 구분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MeAI 화면 캡처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MeAI 화면 캡처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MeAI 화면 캡처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MeAI 화면 캡처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MeAI 화면 캡처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MeAI 화면 캡처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MeAI 화면 캡처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카드에는 우선순위 순서대로 표시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MeAI 화면 캡처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칸으로 보는 이 고객의 상황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 시작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이 금액이 곧 제안 크기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고르는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 요청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질문이 채워진 채로 이 고객의 맞춤대화 시작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이동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필요한 고객은 이 자리에 [사전조회동의 요청하기]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5778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8704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열리는 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51485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5148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23594" y="20111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23594" y="2011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08148" y="18856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708148" y="188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61810" y="186061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861810" y="18606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08148" y="395751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708148" y="3957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08148" y="497084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708148" y="49708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08148" y="52467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708148" y="52467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87619" y="138404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587619" y="13840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93217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김도윤 패널에서 맞춤대화 추천 질문을 누른 화면 · 이름·계약·남은 날은 예시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92440" y="14356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92440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476488" y="141732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476488" y="1709928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고객이 이미 들어와 있음.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날(화면엔 '보장분석 동의')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092440" y="23134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92440" y="2313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476488" y="229514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476488" y="258775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2971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0924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476488" y="295351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324612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완료가 아닌 상품은 답이 부정확할 수 있음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092440" y="38496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092440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476488" y="3831336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8476488" y="4123944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"김도윤님의 보험 가입 내역이에요…"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92440" y="45079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09244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476488" y="448970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8476488" y="478231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092440" y="51663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0924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76488" y="514807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476488" y="544068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누른 추천 질문이 이미 입력됨. 전송(↑)만 누르면 시작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092440" y="5824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092440" y="5824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476488" y="580644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476488" y="6099048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달라지는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읽기 때문에 동의가 먼저. "D-n"이면 바로, "필요"면 알림톡 한 통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50404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2750404" cy="31546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 MeAI 맞춤대화 가능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11396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11396" y="2011680"/>
            <a:ext cx="3147097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2011680"/>
            <a:ext cx="3147097" cy="31546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11396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김민수 고객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74152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74152" y="2011680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2011680"/>
            <a:ext cx="3566160" cy="12374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74152" y="3358823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없음. 버튼도 없음.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새 동의부터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074152" y="4023360"/>
            <a:ext cx="3566160" cy="1691640"/>
          </a:xfrm>
          <a:prstGeom prst="roundRect">
            <a:avLst>
              <a:gd name="adj" fmla="val 75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rot="16200000">
            <a:off x="7827264" y="4377250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48472" y="413308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수는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"사전조회 동의 필요"에 표시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46268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받아야 맞춤대화가 열리는 고객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 · MeAI 홈 [고객 동의]에서도 사전조회동의 발송 가능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검색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 표시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속성(암진단비 · 실손 · 상령일 · 자동차)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골라 보기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8명"으로 바뀜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093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0749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36752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넘기기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타이밍에 따라 활용하는 그룹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목록. 월초 · 매주 · 매달 · 수시, 네 그룹을 습관으로.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그대로 첫 말로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생일엔 축하 인사로 열고,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보장 점검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 상품 담보부터. 이번 달 주력 상품이 정해지면 그 담보의 부족 그룹을 먼저 열기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글 제목·날짜·내용은 예시. MeAI 홈으로 가는 실제 진입로 6곳(10/2부터)은 PART 2 참고.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55323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55323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조회순도 가능.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넘기기.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홈]을 누르면 MeAI 홈으로 이동, [글씨 확대]는 기본 ON.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열리는 본문과 첨부파일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127147" cy="466344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1271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6127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오픈 안내 공지를 예로 든 화면 · 글 내용은 예시. MeAI 홈으로 가는 실제 진입로 6곳(10/2부터)은 PART 2 참고.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37811" y="13978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37811" y="1397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84431" y="22215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284431" y="2221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5294" y="30045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5294" y="30045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24828" y="462479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624828" y="46247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475054" y="55166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475054" y="55166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이동.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 안내.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내려받기.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읽기.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MeAI 홈 [게시판] 버튼에 빨간 점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보이면 먼저 읽기.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 그래서 사전조회 동의가 먼저.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번호를 넣고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누르기.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5172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99063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9063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동의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063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알림톡 안내에서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완료.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0841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49753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49753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 · D-n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9753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가능.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= 만료까지 남은 날.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69958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0887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0887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재요청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887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 그룹으로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챙기기.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2907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6798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76798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확인 불가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6798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[고객 동의]에서도 사전조회동의 발송 가능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"상품제안 가능"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숫자에도 포함.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548640" y="598932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777240" y="608076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구분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동의일부터 90일 동안 가능 · MeAI 홈에 노출되는 고객은 사전조회 동의일로부터 1년 이내(MeAI 홈 범례)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들어온 대화 화면과 새 기능 익히기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열리는 대화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 화면 구성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6089904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60167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대화 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MeAI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즉시 대화 = 흰 카드, 검은 카드, 추천 카드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760720" cy="1288582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760720" cy="12885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9066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320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725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43725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13978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313978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44814"/>
            <a:ext cx="5760720" cy="896112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26368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문구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55629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“어떤 대화를 시작할지만 고르면, 나머지는 MeAI가 준비합니다.”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178086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21317"/>
            <a:ext cx="1188720" cy="4279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0" y="429695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458956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화면이든 왼쪽 위 [MeAI 홈]을 누르면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화면으로 이동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14735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이름·숫자는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37960" y="1691640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0070287" y="1828800"/>
            <a:ext cx="1463040" cy="9144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0287" y="1828800"/>
            <a:ext cx="1463040" cy="914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02552" y="1819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6702552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104888" y="1801368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104888" y="2148840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질문 예시 누르기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104888" y="2569464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질문 · 바로 시작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537960" y="2990088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0070287" y="3085592"/>
            <a:ext cx="1463040" cy="997712"/>
          </a:xfrm>
          <a:prstGeom prst="roundRect">
            <a:avLst>
              <a:gd name="adj" fmla="val 29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085592"/>
            <a:ext cx="1463040" cy="9977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702552" y="31181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702552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7104888" y="3099816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450" dirty="0"/>
          </a:p>
        </p:txBody>
      </p:sp>
      <p:sp>
        <p:nvSpPr>
          <p:cNvPr id="37" name="Text 31"/>
          <p:cNvSpPr txBox="1"/>
          <p:nvPr/>
        </p:nvSpPr>
        <p:spPr>
          <a:xfrm>
            <a:off x="7104888" y="3447288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이름 한 글자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[맞춤대화]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7104888" y="3867912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 내역으로 답변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537960" y="4288536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10070287" y="4495102"/>
            <a:ext cx="1463040" cy="775587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1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0287" y="4495102"/>
            <a:ext cx="1463040" cy="775587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6702552" y="44165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670255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7104888" y="4398264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</a:t>
            </a:r>
            <a:endParaRPr lang="en-US" sz="1450" dirty="0"/>
          </a:p>
        </p:txBody>
      </p:sp>
      <p:sp>
        <p:nvSpPr>
          <p:cNvPr id="45" name="Text 38"/>
          <p:cNvSpPr txBox="1"/>
          <p:nvPr/>
        </p:nvSpPr>
        <p:spPr>
          <a:xfrm>
            <a:off x="7104888" y="4745736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추천 질문 → 전송(↑)</a:t>
            </a:r>
            <a:endParaRPr lang="en-US" sz="1200" dirty="0"/>
          </a:p>
        </p:txBody>
      </p:sp>
      <p:sp>
        <p:nvSpPr>
          <p:cNvPr id="46" name="Text 39"/>
          <p:cNvSpPr txBox="1"/>
          <p:nvPr/>
        </p:nvSpPr>
        <p:spPr>
          <a:xfrm>
            <a:off x="7104888" y="5166360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열림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548640" y="5614416"/>
            <a:ext cx="11094415" cy="603504"/>
          </a:xfrm>
          <a:prstGeom prst="roundRect">
            <a:avLst>
              <a:gd name="adj" fmla="val 2121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22960" y="5614416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누르고 → 고르고 → 보내기. 클릭만으로 편하게 시작하는 MeAI 대화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1명에 맞춘 보장분석부터 설계까지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일반대화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“무엇이든 물어보세요”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상품·약관·화법을 일반대화에서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035040" cy="4310743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3107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64920" y="17660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64920" y="17660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83495" y="23073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183495" y="2307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183495" y="290126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183495" y="2901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24615" y="386878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524615" y="38687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24615" y="52530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524615" y="52530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11649" y="52146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11649" y="52146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866862" y="4991753"/>
            <a:ext cx="1982942" cy="129322"/>
          </a:xfrm>
          <a:prstGeom prst="roundRect">
            <a:avLst>
              <a:gd name="adj" fmla="val 2121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29815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카드로 들어온 첫 화면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49440" y="17007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49440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169164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333488" y="198424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MeAI 홈으로 이동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49440" y="22684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49440" y="22684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33488" y="225933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333488" y="255193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원문 찾기 · 화면 사용법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49440" y="28361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49440" y="28361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33488" y="282702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333488" y="311962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월별로 쌓임 · 누르면 이어서 질문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949440" y="340385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49440" y="34038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33488" y="339471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3개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333488" y="368731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→ 누르면 시작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49440" y="39715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949440" y="3971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333488" y="396240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7333488" y="4255008"/>
            <a:ext cx="4309567" cy="422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쓰고 전송(↑) · [상품 선택]으로 상품 고르기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테두리 안내대로 이름·연락처는 넣지 않음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949440" y="47320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949440" y="47320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333488" y="4722876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[새로 대화하기]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7333488" y="5015484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새로 열기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49440" y="5308854"/>
            <a:ext cx="4693615" cy="768096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32320" y="5400294"/>
            <a:ext cx="108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214360" y="5400294"/>
            <a:ext cx="126517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4360" y="5400294"/>
            <a:ext cx="12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70974" y="5400294"/>
            <a:ext cx="15864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570974" y="5400294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14360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14360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557004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557004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“고객 1명에 맞춘 보장분석부터 설계까지”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고객의 보장 내역을 읽고 답변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461504" cy="466344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461504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02587" y="233934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02587" y="23393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2587" y="31165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2587" y="31165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802587" y="402336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802587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70432" y="56192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1170432" y="5619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36971" y="167609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36971" y="16760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756002" y="26502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756002" y="2650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56002" y="412699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2756002" y="4126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973824" y="529803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73824" y="52980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756002" y="56814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756002" y="5681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개발 중 화면이라 왼쪽 위 [MeAI 홈] 자리에 로고가 보임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421624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421624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805672" y="169164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805672" y="1993392"/>
            <a:ext cx="283738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421624" y="24140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421624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805672" y="239572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805672" y="269748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421624" y="29260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8421624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805672" y="290779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805672" y="320954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 · 누르면 이어서 질문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421624" y="34381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421624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805672" y="341985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421624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421624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805672" y="393192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805672" y="4233672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421624" y="4462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421624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805672" y="4443984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805672" y="4745736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421624" y="49743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421624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8805672" y="495604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8805672" y="525780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8421624" y="54864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421624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8805672" y="546811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805672" y="576986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8421624" y="59984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8421624" y="5998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805672" y="598017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“보장분석 해줘” 한 마디로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236208" y="1024128"/>
            <a:ext cx="5404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정보 칸이 열려 있으면 아래가 흐림(^로 접으면 밝아짐)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236208" y="1444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36208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4173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906256" y="14173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36208" y="1901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236208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18745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906256" y="18745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답변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36208" y="2432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236208" y="2432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33172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906256" y="2331720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이름·연락처는 넣지 않음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36208" y="29626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6236208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29352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906256" y="29352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땐 [사용중인 정보 수정]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236208" y="3355848"/>
            <a:ext cx="5404104" cy="420624"/>
          </a:xfrm>
          <a:prstGeom prst="roundRect">
            <a:avLst>
              <a:gd name="adj" fmla="val 2608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37376" y="3355848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고객에 대한 정보를 잘 모르겠다면 </a:t>
            </a:r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“입력하지 않고 넘어가기”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6236208" y="39319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2"/>
          <p:cNvSpPr txBox="1"/>
          <p:nvPr/>
        </p:nvSpPr>
        <p:spPr>
          <a:xfrm>
            <a:off x="623620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6620256" y="39044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8" name="Text 44"/>
          <p:cNvSpPr txBox="1"/>
          <p:nvPr/>
        </p:nvSpPr>
        <p:spPr>
          <a:xfrm>
            <a:off x="8906256" y="39044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6236208" y="43891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6236208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51" name="Text 47"/>
          <p:cNvSpPr txBox="1"/>
          <p:nvPr/>
        </p:nvSpPr>
        <p:spPr>
          <a:xfrm>
            <a:off x="6620256" y="43616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준비 상태</a:t>
            </a:r>
            <a:endParaRPr lang="en-US" sz="1350" dirty="0"/>
          </a:p>
        </p:txBody>
      </p:sp>
      <p:sp>
        <p:nvSpPr>
          <p:cNvPr id="52" name="Text 48"/>
          <p:cNvSpPr txBox="1"/>
          <p:nvPr/>
        </p:nvSpPr>
        <p:spPr>
          <a:xfrm>
            <a:off x="8906256" y="43616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안 된 상품은 답이 부정확할 수 있음</a:t>
            </a:r>
            <a:endParaRPr lang="en-US" sz="1150" dirty="0"/>
          </a:p>
        </p:txBody>
      </p:sp>
      <p:sp>
        <p:nvSpPr>
          <p:cNvPr id="53" name="Shape 49"/>
          <p:cNvSpPr/>
          <p:nvPr/>
        </p:nvSpPr>
        <p:spPr>
          <a:xfrm>
            <a:off x="6236208" y="48463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4" name="Text 50"/>
          <p:cNvSpPr txBox="1"/>
          <p:nvPr/>
        </p:nvSpPr>
        <p:spPr>
          <a:xfrm>
            <a:off x="6236208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5" name="Text 51"/>
          <p:cNvSpPr txBox="1"/>
          <p:nvPr/>
        </p:nvSpPr>
        <p:spPr>
          <a:xfrm>
            <a:off x="6620256" y="48188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6" name="Text 52"/>
          <p:cNvSpPr txBox="1"/>
          <p:nvPr/>
        </p:nvSpPr>
        <p:spPr>
          <a:xfrm>
            <a:off x="8906256" y="48188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고르기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6236208" y="5303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8" name="Text 54"/>
          <p:cNvSpPr txBox="1"/>
          <p:nvPr/>
        </p:nvSpPr>
        <p:spPr>
          <a:xfrm>
            <a:off x="6236208" y="5303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620256" y="5276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60" name="Text 56"/>
          <p:cNvSpPr txBox="1"/>
          <p:nvPr/>
        </p:nvSpPr>
        <p:spPr>
          <a:xfrm>
            <a:off x="8906256" y="52760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빠짐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6236208" y="5760720"/>
            <a:ext cx="5404104" cy="594360"/>
          </a:xfrm>
          <a:prstGeom prst="roundRect">
            <a:avLst>
              <a:gd name="adj" fmla="val 1846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464808" y="5760720"/>
            <a:ext cx="5038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질문은 버튼 하나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[보장분석 해줘]로 전체 그림부터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분석 → 제안 → 다음 행동 순서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순서에 맞춘 답변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16951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1695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281466" cy="3310128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81466" cy="33101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5570" y="3159358"/>
            <a:ext cx="4959876" cy="1164052"/>
          </a:xfrm>
          <a:prstGeom prst="roundRect">
            <a:avLst>
              <a:gd name="adj" fmla="val 4713"/>
            </a:avLst>
          </a:prstGeom>
          <a:ln w="22225">
            <a:solidFill>
              <a:srgbClr val="00A86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755274" y="2225928"/>
            <a:ext cx="1572157" cy="479017"/>
          </a:xfrm>
          <a:prstGeom prst="roundRect">
            <a:avLst>
              <a:gd name="adj" fmla="val 11453"/>
            </a:avLst>
          </a:prstGeom>
          <a:ln w="22225">
            <a:solidFill>
              <a:srgbClr val="F044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10959" y="3552436"/>
            <a:ext cx="958033" cy="196520"/>
          </a:xfrm>
          <a:prstGeom prst="roundRect">
            <a:avLst>
              <a:gd name="adj" fmla="val 27918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70861" y="2446498"/>
            <a:ext cx="274320" cy="27432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70861" y="24464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70861" y="3136073"/>
            <a:ext cx="274320" cy="274320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70861" y="31360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9489148" y="2328276"/>
            <a:ext cx="274320" cy="274320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9148" y="2328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332551" y="350739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32551" y="35073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985455" y="1252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금액은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48640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4944" y="5330952"/>
            <a:ext cx="310896" cy="310896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94944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15568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115568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상담 주제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3111932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3386252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0A8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32556" y="5330952"/>
            <a:ext cx="310896" cy="310896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3532556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3953180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3953180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49544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6223864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0445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370168" y="5330952"/>
            <a:ext cx="310896" cy="310896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37016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6790792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6790792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'미가입' 줄이 제안 포인트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787155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9061475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9207779" y="53309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9207779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9628403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하면 되는 일</a:t>
            </a:r>
            <a:endParaRPr lang="en-US" sz="1350" dirty="0"/>
          </a:p>
        </p:txBody>
      </p:sp>
      <p:sp>
        <p:nvSpPr>
          <p:cNvPr id="45" name="Text 41"/>
          <p:cNvSpPr txBox="1"/>
          <p:nvPr/>
        </p:nvSpPr>
        <p:spPr>
          <a:xfrm>
            <a:off x="9628403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해야 할 액션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548640" y="5916168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77240" y="5916168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사용자가 가장 많이 사용하는 질문  </a:t>
            </a:r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“가입증권 별로 핵심만 표로 요약해줘”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바로 뜻풀이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 표시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뜻풀이라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361636" y="2049989"/>
            <a:ext cx="1686281" cy="1162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다름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누르면 원래대로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 선택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7202" y="2602149"/>
            <a:ext cx="2848259" cy="14591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7202" y="2978609"/>
            <a:ext cx="3379389" cy="7879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05654" y="2978609"/>
            <a:ext cx="930937" cy="154670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펼쳐짐 · ※ 답 아래 질문 버튼 일부는 가림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모드. 고객과 함께 보는 화면, 첫 상담용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질문부터 그 모드로 답변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 [간편 분석]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84700" y="3982354"/>
            <a:ext cx="1579583" cy="20855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84700" y="4341526"/>
            <a:ext cx="1579583" cy="21434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782180" y="3982354"/>
            <a:ext cx="1579583" cy="65655"/>
          </a:xfrm>
          <a:prstGeom prst="rect">
            <a:avLst/>
          </a:prstGeom>
          <a:solidFill>
            <a:srgbClr val="8B8C8D"/>
          </a:solidFill>
          <a:ln w="12700">
            <a:solidFill>
              <a:srgbClr val="8B8C8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869" y="3689752"/>
            <a:ext cx="1585492" cy="20933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79869" y="4050268"/>
            <a:ext cx="1585492" cy="215146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바뀜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올라옴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09067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바뀜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3648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36301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바꾸기 가능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39227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686800" y="6071616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 아래 질문 버튼 일부는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물을 질문은 꼬리질문이 제시 · 타이핑 없이 버튼만 누르기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6567" y="3221182"/>
            <a:ext cx="2704407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6567" y="3578629"/>
            <a:ext cx="3208713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28255" y="1252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꼬리질문 둘째·셋째 줄 글자는 가림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좋아요/싫어요 평가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498080" y="22764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498080" y="2276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882128" y="2258187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550795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글자는 ‘질문 예시’ · 누르면 바로 전송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498080" y="284302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7498080" y="28430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2824734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117342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쓰기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498080" y="340956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7498080" y="34095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391281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3683889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말하기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498080" y="39761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498080" y="3976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7882128" y="3957828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250436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 좁히기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7498080" y="4617720"/>
            <a:ext cx="4142232" cy="1737360"/>
          </a:xfrm>
          <a:prstGeom prst="roundRect">
            <a:avLst>
              <a:gd name="adj" fmla="val 736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0" y="4745736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 늘어나는 영업기회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772400" y="502005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9144000" y="5020056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수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7772400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0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11.99건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9000744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000744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17.02건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10229088" y="5650992"/>
            <a:ext cx="1136904" cy="310896"/>
          </a:xfrm>
          <a:prstGeom prst="roundRect">
            <a:avLst>
              <a:gd name="adj" fmla="val 23529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10229088" y="5650992"/>
            <a:ext cx="1136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· 27.79건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7772400" y="603504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발송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하나로 발송까지 완료 · PC는 오른쪽 위 [요약 리포트]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98901" y="3074265"/>
            <a:ext cx="1509084" cy="21076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09410" y="2172186"/>
            <a:ext cx="282426" cy="126460"/>
          </a:xfrm>
          <a:prstGeom prst="roundRect">
            <a:avLst>
              <a:gd name="adj" fmla="val 2169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 전송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받은 날부터 7일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붙음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이름과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MeAI 홈·고객찾기·게시판은 PC 오픈 뒤 순차 적용 예정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58829" y="2271631"/>
            <a:ext cx="702259" cy="100323"/>
          </a:xfrm>
          <a:prstGeom prst="rect">
            <a:avLst/>
          </a:prstGeom>
          <a:solidFill>
            <a:srgbClr val="37383C"/>
          </a:solidFill>
          <a:ln w="12700">
            <a:solidFill>
              <a:srgbClr val="37383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누르기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열림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9" name="Text 24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7498080" y="4389120"/>
            <a:ext cx="4142232" cy="713232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726680" y="4480560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같음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7498080" y="5230368"/>
            <a:ext cx="4142232" cy="768096"/>
          </a:xfrm>
          <a:prstGeom prst="roundRect">
            <a:avLst>
              <a:gd name="adj" fmla="val 1428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726680" y="53218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쓴 횟수 확인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498080" y="6071616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이름은 예시 ·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홈을 열면 오늘 연락할 고객과 첫 말까지 한 화면에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홈만 열면 첫 말까지 정해짐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화면 순서대로 누르기만 하면 끝 · 서은아 고객(예시)으로 따라가 보기 · 화면 속 질문 문장도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 확인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6220" y="2606040"/>
            <a:ext cx="2109304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220" y="2606040"/>
            <a:ext cx="2109304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카드부터 읽기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904014"/>
            <a:ext cx="2432304" cy="16900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904014"/>
            <a:ext cx="2432304" cy="169005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펼쳐짐.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추천 질문 선택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97209" y="2606040"/>
            <a:ext cx="2052735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209" y="2606040"/>
            <a:ext cx="2052735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질문을 누르면 맞춤대화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카카오톡으로 발송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 전, 운전자 보장까지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안내를 계기로 비어 있는 운전자 보장까지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2) · #이벤트 임박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운전자보험 없음.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D-18로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운전자 보장 빈 곳.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이유를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자동차보험 만기가 9일 뒤예요.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안내 드리면서 운전자 보장도 같이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"자동차보험만 있고 운전자보험이 없는 고객에게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 필요한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연락 명분.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부탁.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점검도 약속.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신담보 기준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김민수 고객, 동의만 받으면 MeAI로 계약까지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 · AI 추천 고객 · MeAI 홈에서 설계 및 계약체결까지 한큐에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3) · AI 추천 고객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(15분 안팎)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요약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카드는 매일, 고객찾기 그룹은 주기별로 확인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329184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해 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1명에게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가까운 고객부터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이달 타겟 고객 확인 · 연락 순서 정하기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이유를 첫 말로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등록한 날 동의 요청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맞춤대화]를 눌러서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바로 열림.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실제로는 내 고객 기준으로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계산됨.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오늘부터, 고객 찾기는 그만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 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질문 예시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눌러 보기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눌러 보기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1명께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부탁하기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발송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 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 홈에서 영업을 시작"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묻기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창구 네 곳 · 추천 프롬프트 · 꼬리질문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"누구에게 + 무엇을"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 · 이렇게는 묻지 않기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고객에게 첫 말, MeAI에게 첫 질문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질문 고르기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프롬프트와 프롬프트 라이브러리, 꼬리질문을 통해 클릭으로 진행하는 MeAI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시작할 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2240280"/>
            <a:ext cx="985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0280"/>
            <a:ext cx="98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보장비교 · 지식검색 · 자주하는 질문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예시를 누르면 바로 대화 시작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964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32556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32556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0028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정해졌을 때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532556" y="2240280"/>
            <a:ext cx="17957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2556" y="2240280"/>
            <a:ext cx="1795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이렇게 물어보세요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532556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 고객별 맞춤 프롬프트 세팅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입력창에 채워짐 → 전송(↑)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188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5188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99352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받은 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51880" y="2240280"/>
            <a:ext cx="15214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1880" y="2240280"/>
            <a:ext cx="152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질문 버튼 3개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1880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프롬프트를 꼬리질문이 제시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71203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71203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9518675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필요할 때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9171203" y="2240280"/>
            <a:ext cx="2128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71203" y="2240280"/>
            <a:ext cx="212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 · 나의 질문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171203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더보기]에서 클릭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질문은 저장 → 나의 질문</a:t>
            </a:r>
            <a:endParaRPr lang="en-US" sz="1050" dirty="0"/>
          </a:p>
        </p:txBody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79" y="2606040"/>
            <a:ext cx="2193765" cy="162763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32254" y="3489207"/>
            <a:ext cx="1370042" cy="144364"/>
          </a:xfrm>
          <a:prstGeom prst="roundRect">
            <a:avLst>
              <a:gd name="adj" fmla="val 25336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25068" y="34242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225068" y="34242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pic>
        <p:nvPicPr>
          <p:cNvPr id="3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980" y="2608352"/>
            <a:ext cx="2380412" cy="162300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622214" y="2960004"/>
            <a:ext cx="829537" cy="93774"/>
          </a:xfrm>
          <a:prstGeom prst="roundRect">
            <a:avLst>
              <a:gd name="adj" fmla="val 39004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12959" y="28697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4512959" y="28697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000" y="2606040"/>
            <a:ext cx="1993019" cy="1627632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390294" y="286563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390294" y="28656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390294" y="393596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390294" y="3935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pic>
        <p:nvPicPr>
          <p:cNvPr id="4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021" y="2606040"/>
            <a:ext cx="1563624" cy="86868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10552862" y="2910078"/>
            <a:ext cx="238887" cy="249746"/>
          </a:xfrm>
          <a:prstGeom prst="roundRect">
            <a:avLst>
              <a:gd name="adj" fmla="val 15311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0828325" y="268605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5"/>
          <p:cNvSpPr txBox="1"/>
          <p:nvPr/>
        </p:nvSpPr>
        <p:spPr>
          <a:xfrm>
            <a:off x="10828325" y="26860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6"/>
          <p:cNvSpPr txBox="1"/>
          <p:nvPr/>
        </p:nvSpPr>
        <p:spPr>
          <a:xfrm>
            <a:off x="9171203" y="3511296"/>
            <a:ext cx="236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복사 · 편집 · 저장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9171203" y="3794760"/>
            <a:ext cx="23072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171203" y="3794760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 · 나의 질문은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휴대폰에서 똑같이 보임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548640" y="5074920"/>
            <a:ext cx="11094415" cy="731520"/>
          </a:xfrm>
          <a:prstGeom prst="roundRect">
            <a:avLst>
              <a:gd name="adj" fmla="val 175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22960" y="5074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늘어나는 영업기회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2926080" y="5475782"/>
            <a:ext cx="274320" cy="220930"/>
          </a:xfrm>
          <a:prstGeom prst="roundRect">
            <a:avLst>
              <a:gd name="adj" fmla="val 12417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329184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11.99건</a:t>
            </a:r>
            <a:endParaRPr lang="en-US" sz="1200" dirty="0"/>
          </a:p>
        </p:txBody>
      </p:sp>
      <p:sp>
        <p:nvSpPr>
          <p:cNvPr id="59" name="Shape 53"/>
          <p:cNvSpPr/>
          <p:nvPr/>
        </p:nvSpPr>
        <p:spPr>
          <a:xfrm>
            <a:off x="4709160" y="5383098"/>
            <a:ext cx="274320" cy="313614"/>
          </a:xfrm>
          <a:prstGeom prst="roundRect">
            <a:avLst>
              <a:gd name="adj" fmla="val 10000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507492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17.02건</a:t>
            </a:r>
            <a:endParaRPr lang="en-US" sz="1200" dirty="0"/>
          </a:p>
        </p:txBody>
      </p:sp>
      <p:sp>
        <p:nvSpPr>
          <p:cNvPr id="61" name="Shape 55"/>
          <p:cNvSpPr/>
          <p:nvPr/>
        </p:nvSpPr>
        <p:spPr>
          <a:xfrm>
            <a:off x="6492240" y="5184648"/>
            <a:ext cx="274320" cy="512064"/>
          </a:xfrm>
          <a:prstGeom prst="roundRect">
            <a:avLst>
              <a:gd name="adj" fmla="val 10000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85800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· 27.79건</a:t>
            </a:r>
            <a:endParaRPr lang="en-US" sz="1200" dirty="0"/>
          </a:p>
        </p:txBody>
      </p:sp>
      <p:sp>
        <p:nvSpPr>
          <p:cNvPr id="63" name="Text 57"/>
          <p:cNvSpPr txBox="1"/>
          <p:nvPr/>
        </p:nvSpPr>
        <p:spPr>
          <a:xfrm>
            <a:off x="8549640" y="50749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000" dirty="0"/>
          </a:p>
        </p:txBody>
      </p:sp>
      <p:sp>
        <p:nvSpPr>
          <p:cNvPr id="64" name="Text 58"/>
          <p:cNvSpPr txBox="1"/>
          <p:nvPr/>
        </p:nvSpPr>
        <p:spPr>
          <a:xfrm>
            <a:off x="9738360" y="5074920"/>
            <a:ext cx="1858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수</a:t>
            </a:r>
            <a:endParaRPr lang="en-US" sz="1150" dirty="0"/>
          </a:p>
        </p:txBody>
      </p:sp>
      <p:sp>
        <p:nvSpPr>
          <p:cNvPr id="65" name="Text 59"/>
          <p:cNvSpPr txBox="1"/>
          <p:nvPr/>
        </p:nvSpPr>
        <p:spPr>
          <a:xfrm>
            <a:off x="548640" y="58978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  <p:sp>
        <p:nvSpPr>
          <p:cNvPr id="66" name="Text 60"/>
          <p:cNvSpPr txBox="1"/>
          <p:nvPr/>
        </p:nvSpPr>
        <p:spPr>
          <a:xfrm>
            <a:off x="8534095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 · 질문 문장은 예시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직접 묻기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“누구에게 + 무엇을”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편하게 입력하면 MeAI가 답변 · 형식은 없어도 괜찮음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“40대 자녀 둘 가장,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고객에게”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19856" y="1737360"/>
            <a:ext cx="242316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65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2128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“암 통합치료비가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필요한지 설명해줘”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43016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16752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추가하면 더 깔끔하게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“표로” · “구어체로”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“카톡 6줄로”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887968" y="1737360"/>
            <a:ext cx="2743200" cy="118872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653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 한 마디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21284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“자료에 없으면 추정하지 말고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‘확인필요’로 표시해”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달라지는 답변의 수준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6B7684"/>
          </a:solidFill>
          <a:ln w="12700">
            <a:solidFill>
              <a:srgbClr val="6B768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9502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“실손 설명해줘”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15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349300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4251960" y="3493008"/>
            <a:ext cx="7391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5312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312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453128" y="3913632"/>
            <a:ext cx="7025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실손 가입한 50대 고객에게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4세대와 비교해서 자기부담과 비급여 한도의 차이를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정리하고, 유지가 유리한 경우 3가지를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구어체로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알려줘”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453128" y="4370832"/>
            <a:ext cx="7025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28032"/>
            <a:ext cx="11094415" cy="1097280"/>
          </a:xfrm>
          <a:prstGeom prst="roundRect">
            <a:avLst>
              <a:gd name="adj" fmla="val 11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01184"/>
            <a:ext cx="2323652" cy="768096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586676" y="482964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2586676" y="48296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819041" y="523843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2819041" y="5238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2960" y="5696712"/>
            <a:ext cx="2323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MeAI 입력창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611880" y="4828032"/>
            <a:ext cx="7802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맞으면 “더 쉽게” · “표로 다시” 한 마디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휴대폰이라 타이핑이 어렵다면?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마이크를 눌러 말하고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전송(↑)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문장 출처: 이전 판 「MeAI 활용 가이드북 · 영업가족 편」(2026.09)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고객에게 할 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 작성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부탁하면 초안이 완성 · 이름 대신 조건으로 요청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카톡용 / 전화용 요청만 하면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488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 파란 [일반대화]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누르면 이렇게 채워짐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" y="2807208"/>
            <a:ext cx="219456" cy="0"/>
          </a:xfrm>
          <a:prstGeom prst="line">
            <a:avLst/>
          </a:prstGeom>
          <a:noFill/>
          <a:ln w="381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· 나이대 · 유형 조건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219456" cy="0"/>
          </a:xfrm>
          <a:prstGeom prst="line">
            <a:avLst/>
          </a:prstGeom>
          <a:noFill/>
          <a:ln w="38100">
            <a:solidFill>
              <a:srgbClr val="7048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28712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3~4줄 · 부담스럽지 않은 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282696"/>
            <a:ext cx="219456" cy="0"/>
          </a:xfrm>
          <a:prstGeom prst="line">
            <a:avLst/>
          </a:prstGeom>
          <a:noFill/>
          <a:ln w="381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310896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성명 · 연락처는 제외</a:t>
            </a:r>
            <a:endParaRPr lang="en-US" sz="1050" dirty="0"/>
          </a:p>
        </p:txBody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787212"/>
            <a:ext cx="7802575" cy="15004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013422" y="2292379"/>
            <a:ext cx="1970650" cy="0"/>
          </a:xfrm>
          <a:prstGeom prst="line">
            <a:avLst/>
          </a:prstGeom>
          <a:noFill/>
          <a:ln w="28575">
            <a:solidFill>
              <a:srgbClr val="318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05433" y="2292379"/>
            <a:ext cx="10653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18424" y="2517453"/>
            <a:ext cx="19756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09081" y="2517453"/>
            <a:ext cx="1965649" cy="0"/>
          </a:xfrm>
          <a:prstGeom prst="line">
            <a:avLst/>
          </a:prstGeom>
          <a:noFill/>
          <a:ln w="28575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478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부탁해도 가능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93192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3995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42153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 결과를 고객에게 보낼 카톡 안내문 6줄로 써줘. 존댓말, 단정 표현은 빼고”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5488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" y="48188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미팅 전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503834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고객에게 첫 만남에서 꺼낼 질문 3개 만들어줘”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55080" y="3547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두 버튼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0111435" y="3575304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11435" y="3575304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· 바뀔 수 있음</a:t>
            </a:r>
            <a:endParaRPr lang="en-US" sz="1000" dirty="0"/>
          </a:p>
        </p:txBody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18941"/>
            <a:ext cx="2552548" cy="630629"/>
          </a:xfrm>
          <a:prstGeom prst="rect">
            <a:avLst/>
          </a:prstGeom>
        </p:spPr>
      </p:pic>
      <p:pic>
        <p:nvPicPr>
          <p:cNvPr id="3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517" y="3931920"/>
            <a:ext cx="1772529" cy="73152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206197" y="4672584"/>
            <a:ext cx="23211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숫자는 예시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355080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355080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보험 용어를 일상 언어로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따질 땐 상세 분석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9090508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9090508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표시된 말을 누르면 뜻풀이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문장, 그대로 읽기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48640" y="5669280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669280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초안 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근거를 확인하고, 내 말투로 다듬어 발송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확정 화면 · 이전 판 「MeAI 활용 가이드북 · 영업가족 편」(2026.09) · [간편 분석]·[용어] 자세히는 PART 6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묻지 말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이렇게는 묻지 않기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답도 나빠지고, 규정에도 어긋남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“김OO(연락처) 고객 보장분석”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맞춤대화에선 “이 고객”이라고만</a:t>
            </a:r>
            <a:endParaRPr lang="en-US" sz="1250" dirty="0"/>
          </a:p>
        </p:txBody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715768"/>
            <a:ext cx="3587773" cy="2377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132858" y="2733058"/>
            <a:ext cx="3553192" cy="203163"/>
          </a:xfrm>
          <a:prstGeom prst="roundRect">
            <a:avLst>
              <a:gd name="adj" fmla="val 900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59856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61024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3610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726784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26784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“보장분석하고 화법도 만들고 카톡도 써줘”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726784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이어서 묻기 · 고객·주제가 바뀌면 [새로 대화하기]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115568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· 약관 근거를 확인하고 내 말로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59856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61024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361024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26784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26784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“무조건 가입 가능하다고 말해줘”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726784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“가능성과 확인할 조건을 알려줘”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48640" y="4572000"/>
            <a:ext cx="201168" cy="20116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548640" y="45720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22960" y="45537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안내문 (화면 그대로)</a:t>
            </a:r>
            <a:endParaRPr lang="en-US" sz="1050" dirty="0"/>
          </a:p>
        </p:txBody>
      </p:sp>
      <p:pic>
        <p:nvPicPr>
          <p:cNvPr id="3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28032"/>
            <a:ext cx="9328543" cy="566928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3563666" y="5353729"/>
            <a:ext cx="2561484" cy="0"/>
          </a:xfrm>
          <a:prstGeom prst="lin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4146" y="510833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6194146" y="51083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559552"/>
            <a:ext cx="11094415" cy="438912"/>
          </a:xfrm>
          <a:prstGeom prst="roundRect">
            <a:avLst>
              <a:gd name="adj" fmla="val 2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85800" y="5650992"/>
            <a:ext cx="1154430" cy="256032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85800" y="5650992"/>
            <a:ext cx="11544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2023110" y="5559552"/>
            <a:ext cx="9482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 · 자료 외부 반출 금지 · 미검증 책임은 사용자에게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607161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이전 판 「MeAI 활용 가이드북 · 영업가족 편」(2026.09) · MeAI 화면 안내문 · 다섯 가지 약속은 PART 9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첫 말 · 첫 질문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말, MeAI에게 첫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시작하는 손쉬운 영업 타겟 탐색 · 카드가 달라도 짝은 같음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26974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190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719072"/>
            <a:ext cx="47548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190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83880" y="1719072"/>
            <a:ext cx="3456432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719072"/>
            <a:ext cx="3273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21408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2121408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2121408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384" y="2185416"/>
            <a:ext cx="764072" cy="87782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40675" y="2799249"/>
            <a:ext cx="237163" cy="51510"/>
          </a:xfrm>
          <a:prstGeom prst="roundRect">
            <a:avLst>
              <a:gd name="adj" fmla="val 1775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720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2212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572768" y="2532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만료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572768" y="2816352"/>
            <a:ext cx="1328420" cy="23774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72768" y="2816352"/>
            <a:ext cx="1328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212140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2주 뒤 보험 나이가 올라가요.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보내요.”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76272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293608" y="2423160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21624" y="2423160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전에 암진단비를 늘려야 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쉽게 설명해줘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2004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37560" y="3200400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83880" y="3200400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264408"/>
            <a:ext cx="813816" cy="87782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718947" y="3861054"/>
            <a:ext cx="273177" cy="52578"/>
          </a:xfrm>
          <a:prstGeom prst="roundRect">
            <a:avLst>
              <a:gd name="adj" fmla="val 17391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31089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457200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1572768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임박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1572768" y="36118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3474720" y="3200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이달 말 동의가 만료돼 연장 부탁드려요.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드릴게요.”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8293608" y="3291840"/>
            <a:ext cx="323697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421624" y="32918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신담보 기준으로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보장의 빈 곳을 알려줘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548640" y="4279392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337560" y="4279392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83880" y="4279392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2522"/>
            <a:ext cx="868680" cy="7995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66404" y="4777376"/>
            <a:ext cx="812742" cy="164523"/>
          </a:xfrm>
          <a:prstGeom prst="roundRect">
            <a:avLst>
              <a:gd name="adj" fmla="val 5558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45720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572768" y="4370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 그룹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572768" y="46908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영업 기회 탭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3474720" y="4370832"/>
            <a:ext cx="167386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3474720" y="4370832"/>
            <a:ext cx="16738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 → 내 말로 풀기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3474720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안내: 축하 인사로 대화를 열고 자연스럽게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점검으로 이어가기 좋은 시점입니다.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8321040" y="4334256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일반대화 추천 질문(틀)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8293608" y="4581144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E8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1624" y="458114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#생일 임박, #나이대, #고객유형 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 안내 문자 문안을 작성해줘 …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548640" y="5431536"/>
            <a:ext cx="11094415" cy="475488"/>
          </a:xfrm>
          <a:prstGeom prst="roundRect">
            <a:avLst>
              <a:gd name="adj" fmla="val 2692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822960" y="54315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300" dirty="0"/>
          </a:p>
        </p:txBody>
      </p:sp>
      <p:sp>
        <p:nvSpPr>
          <p:cNvPr id="57" name="Text 52"/>
          <p:cNvSpPr txBox="1"/>
          <p:nvPr/>
        </p:nvSpPr>
        <p:spPr>
          <a:xfrm>
            <a:off x="548640" y="598017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1번 김민수 · 2번 윤태기 고객 카드(이름·숫자는 예시) · 2번 빨간 네모 = 사전조회동의 D-90(이달 말 만료되는 가입설계동의와 별개) · 출처: MeAI 확정 화면 · 자세한 흐름: 1번 PART 7 시나리오 3, 2번 시나리오 2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지킬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있음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있음.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약관·증권으로 직접 확인한 뒤 안내.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질문에도, 메모에도 넣지 않음.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막힘.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동의부터 받기.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법령상 책임은 사용자에게 있음.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 모두 금지.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홈은 어디서 열리나?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열림(모바일은 순차 적용).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화면에선 왼쪽 위 [MeAI 홈]을 누르면 이동.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CRM 데이터 반입이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뒤부터 보임(게시판 공지).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매일 밤 새로 계산해 다음 날 반영.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같음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그룹에서 직접 골라도 됨.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요청하기]를 눌러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넣으면 알림톡 발송. 동의하면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안팎으로 반영, 90일 동안 맞춤대화 가능.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팝업에 고객이 없거나 회색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팝업엔 동의가 유효한 고객만 나옴.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회색은 오늘 동의를 철회한 고객으로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볼 수 없음.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다름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홈에는 사전조회 동의일로부터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이내 고객만 보임(범례 안내).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데이터는 다음 날 반영.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있음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5건 이상·월 50만원 이상·상령일·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생일·동의 만료 → 보장 부족 순.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이어갈 수 있나?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가능. 대화 이력과 나의 질문이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PC·모바일에 똑같이 보임.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크거나 작음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한 단계 커짐(기본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화면에 그대로 쓰이는 이름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MeAI에 들어오면 처음 열리는 화면. 추천 고객·고객 그룹·대화 카드가 한곳에 있음.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첫 화면 · 어느 화면이든 왼쪽 위 [MeAI 홈]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 · 맞춤대화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일반대화는 무엇이든 묻는 창. 맞춤대화는 선택한 고객의 보장 내역을 읽고 답변.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대화 카드(흰색 · 검은색)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동의일부터 90일 동안 MeAI 맞춤대화 가능.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MeAI 홈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만료(90일)까지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노출 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동의일로부터 1년 이내 고객만 MeAI 홈에 보임(맞춤대화 90일과 별개).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범례 안내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고객마다 셋 중 하나.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밤 새로 계산해 다음 날 반영.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전에 가입하면 유리.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 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기억됨.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60576" y="896112"/>
            <a:ext cx="8717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0576" y="896112"/>
            <a:ext cx="87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42032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71088" y="896112"/>
            <a:ext cx="10241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1088" y="896112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15087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“MeAI 홈” OPEN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영업으로, MeAI가 함께합니다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892552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 · 오늘 한 분께 연락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1232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61232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 외부 제공·배포·게시(온/오프라인) 금지. 미검증으로 인한 금융소비자보호법 등 관련 법령상 책임은 사용자에게 있음. 화면 속 고객 이름·숫자는 예시 데이터.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</dc:title>
  <dc:subject>PptxGenJS Presentation</dc:subject>
  <dc:creator>세일즈혁신TF</dc:creator>
  <cp:lastModifiedBy>세일즈혁신TF</cp:lastModifiedBy>
  <cp:revision>1</cp:revision>
  <dcterms:created xsi:type="dcterms:W3CDTF">2026-09-30T09:52:15Z</dcterms:created>
  <dcterms:modified xsi:type="dcterms:W3CDTF">2026-09-30T09:52:15Z</dcterms:modified>
</cp:coreProperties>
</file>