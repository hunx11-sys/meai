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가이드북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영업에서,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찾아가는 영업으로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만날 고객을 MeAI 대문이 먼저 추천하고, 첫 마디와 다음 행동까지 준비해 둡니다.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편 + 관리자 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5166360"/>
            <a:ext cx="1330960" cy="292608"/>
          </a:xfrm>
          <a:prstGeom prst="roundRect">
            <a:avLst>
              <a:gd name="adj" fmla="val 50000"/>
            </a:avLst>
          </a:prstGeom>
          <a:solidFill>
            <a:srgbClr val="2B3340"/>
          </a:solidFill>
          <a:ln w="12700">
            <a:solidFill>
              <a:srgbClr val="2B33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166360"/>
            <a:ext cx="133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v4 · CRM 대문 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2208" y="5166360"/>
            <a:ext cx="1780540" cy="292608"/>
          </a:xfrm>
          <a:prstGeom prst="roundRect">
            <a:avLst>
              <a:gd name="adj" fmla="val 50000"/>
            </a:avLst>
          </a:prstGeom>
          <a:solidFill>
            <a:srgbClr val="2B3340"/>
          </a:solidFill>
          <a:ln w="12700">
            <a:solidFill>
              <a:srgbClr val="2B33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2208" y="5166360"/>
            <a:ext cx="17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 오픈 화면 기준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2476" y="5166360"/>
            <a:ext cx="1711960" cy="292608"/>
          </a:xfrm>
          <a:prstGeom prst="roundRect">
            <a:avLst>
              <a:gd name="adj" fmla="val 50000"/>
            </a:avLst>
          </a:prstGeom>
          <a:solidFill>
            <a:srgbClr val="2B3340"/>
          </a:solidFill>
          <a:ln w="12700">
            <a:solidFill>
              <a:srgbClr val="2B33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62476" y="5166360"/>
            <a:ext cx="171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확정 화면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966787"/>
            <a:ext cx="5394960" cy="4832985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/tmp/claude-0/-home-user-MeAI/f5d765e8-a442-5f2c-87c4-ad64e47ba212/scratchpad/build/img/gate_full_2744ea00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966787"/>
            <a:ext cx="5394960" cy="483298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USE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가이드북, 이렇게 보세요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영업가족과 영업관리자가 함께 보는 책이에요. 이번 판은 10월에 열리는 MeAI 대문(CRM)을 중심으로 다시 썼어요.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11680"/>
            <a:ext cx="365760" cy="365760"/>
          </a:xfrm>
          <a:prstGeom prst="ellipse">
            <a:avLst/>
          </a:prstGeom>
          <a:solidFill>
            <a:srgbClr val="191F2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391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대문이 처음이라면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영업의 방향이 바뀌는지, 대문 화면이 어떻게 생겼는지부터. 카드 한 장 읽는 법만 알면 절반은 끝이에요.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4992" y="178308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201168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9359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20391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4 · 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바로 써보고 싶다면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카드에서 맞춤대화까지 클릭 두 번. 고객찾기 그룹으로 이번 달 연락할 사람을 정하고, 아침 3분 루틴을 시작하세요.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178308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2011680"/>
            <a:ext cx="365760" cy="365760"/>
          </a:xfrm>
          <a:prstGeom prst="ellipse">
            <a:avLst/>
          </a:prstGeom>
          <a:solidFill>
            <a:srgbClr val="191F2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994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20391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기능이 궁금하다면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일반대화·맞춤대화 화면 구성과 새로 추가되는 용어 설명·모드 변경, 요약 리포트를 카카오톡으로 보내기까지.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97696" y="178308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26296" y="2011680"/>
            <a:ext cx="365760" cy="365760"/>
          </a:xfrm>
          <a:prstGeom prst="ellipse">
            <a:avLst/>
          </a:prstGeom>
          <a:solidFill>
            <a:srgbClr val="191F2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2629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83496" y="20391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8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본부장·조직장이라면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효과, 대문을 조회 자료로 쓰는 법, 누구부터 챙길지, 4주 도입 플랜.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94415" cy="658368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709160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기준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책의 대문·고객찾기·게시판 화면은 2026년 9월 29일 확정된 MeAI 대문 화면이에요. 용어 설명·모드 변경은 개발이 진행 중인 기능이라 오픈 시 세부가 조금 달라질 수 있어요.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4864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데이터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고객 이름·나이·숫자(342명, D-25 등)는 모두 예시예요. 실제 화면에는 내 고객 데이터가 보여요.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 개 파트예요. 영업가족 편(1~7, 9)과 관리자 편(8)을 함께 담았어요.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83080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영업의 방향이 바뀝니다 · 찾는 영업에서 찾아가는 영업으로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78308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58775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 · 하루가 시작되는 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5877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9242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9242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맞춤대화로 가는 두 길 · 고객 검색 팝업과 추천 카드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9242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9709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9709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· 내 고객을 MeAI가 그룹으로 묶어줘요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197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001768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500176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001768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사전조회 동의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0017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46520" y="178308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1783080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이어가기 · 일반대화·맞춤대화와 새 기능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0" y="178308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2587752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446520" y="258775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258775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찾아가는 영업의 하루 · 루틴과 시나리오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789920" y="25877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p.54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392424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46520" y="339242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339242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영업관리자 편 · 대문을 조회 자료로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0" y="339242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p.61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4197096"/>
            <a:ext cx="54406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446520" y="419709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4197096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지켜야 할 것 · FAQ · 용어 정리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789920" y="4197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p.68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001768"/>
            <a:ext cx="5440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칸(PART 2·3·4)이 이번 판의 핵심이에요. 10월 오픈 화면을 크게 실었어요.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영업의 방향이 바뀝니다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영업에서 찾아가는 영업으로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누구에게, 왜, 무슨 말로 연락할지 고르는 일을 이제 MeAI가 먼저 해요.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영업의 절반이 "찾는 일"이었던 이유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대문이 바꾸는 네 가지 · 카드 한 장의 구조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MeAI 효과와 아침 3분 루틴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지금까지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영업의 절반은 "찾는 일"이었어요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만나기 전에 세 가지를 스스로 정해야 했어요. 여기서 힘을 다 쓰면 정작 만나는 일이 뒤로 밀려요.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84248"/>
            <a:ext cx="420624" cy="420624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연락하지?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1693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내고객다나와·자동차 만기 목록을 하나씩 뒤지며 오늘 연락할 사람을 골라야 했어요. 고르는 데만 시간이 갔어요.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984248"/>
            <a:ext cx="420624" cy="420624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지금이지?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1693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명분을 스스로 만들어야 했어요. "그냥 안부 전화"로는 다음 말이 이어지지 않아요.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984248"/>
            <a:ext cx="420624" cy="420624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32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말로 시작하지?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91693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마디를 고민하다 하루를 넘기기 일쑤였어요. 자료를 찾으려면 메뉴 3단계를 내려가야 했고요.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5661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7%</a:t>
            </a:r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미만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828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고객 중 실제 영업 시도 비율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51023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명 중 아홉 명에게는 아직 연락조차 못 하고 있어요.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5661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3712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2%</a:t>
            </a:r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미만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828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고객 중 영업 시도 비율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넘겨받은 고객은 어디서부터 시작할지 몰라 더 묵혀 두게 돼요.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148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의지가 아니라 순서예요. 찾는 일이 앞에 있으면 만나는 일은 언제나 뒤로 밀려요. 순서를 바꾸는 것이 이번 대문의 목적이에요.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세일즈혁신TF 「MeAI CRM 대문 고도화 제안」 2026.09 (2026.08 MeAI 워크샵 자료 기준)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이제는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이제는 MeAI가 먼저 찾아옵니다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"찾는 영업"에서 "찾아가는 영업"으로. 바뀌는 것은 화면이 아니라 하루의 순서예요.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찾는 영업 (지금까지)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찾아가는 영업 (MeAI 대문)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누구에게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목록을 뒤져 내가 고른다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64D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대문이 오늘의 추천 고객을 먼저 보여준다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지금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명분을 스스로 만든다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64D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"부담보 해제가 5일 남았습니다"처럼 이유가 한 문장으로 붙는다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마디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고민하다 미룬다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64D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카드의 이유 문장이 곧 첫 말이 된다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행동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메뉴를 찾아 헤맨다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64D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[MeAI 고객찾기에서 열기] → [이 고객으로 맞춤대화 시작] 클릭 두 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준비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 3단계 아래에서 찾는다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64D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MeAI가 추천 질문과 보장분석을 옆에 준비해 둔다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783080"/>
            <a:ext cx="3749040" cy="38163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tmp/claude-0/-home-user-MeAI/f5d765e8-a442-5f2c-87c4-ad64e47ba212/scratchpad/build/img/gate_card_z_24dd9d0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783080"/>
            <a:ext cx="3749040" cy="38163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5669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「오늘의 추천 고객」 카드 한 장 (예시 데이터)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534924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440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발굴은 시스템이, 설득은 사람이 해요. MeAI가 "누구·왜·첫 마디"를 준비하면, 영업가족은 고객을 만나는 일에만 집중하면 돼요.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한 흐름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카드에서 시작해 리포트로 끝나요. 클릭 두 번이면 대화가 열려요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카드 → 고객찾기 → 맞춤대화 → 요약 리포트. 화면마다 다음 버튼이 준비돼 있어서 헤맬 곳이 없어요.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9561" y="1783080"/>
            <a:ext cx="2649917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card_z_24dd9d0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61" y="1783080"/>
            <a:ext cx="2649917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6268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48640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617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· 추천 카드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문장을 읽고 [MeAI 고객찾기에서 열기]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64992" y="2323606"/>
            <a:ext cx="2651760" cy="1616428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/tmp/claude-0/-home-user-MeAI/f5d765e8-a442-5f2c-87c4-ad64e47ba212/scratchpad/build/img/find_card_z_8d8ac58d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323606"/>
            <a:ext cx="2651760" cy="16164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64992" y="46268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364992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4617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· 펼친 카드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364992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 6칸으로 상황 파악, 태그로 부족한 보장 확인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270879" y="1783080"/>
            <a:ext cx="2472690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/tmp/claude-0/-home-user-MeAI/f5d765e8-a442-5f2c-87c4-ad64e47ba212/scratchpad/build/img/find_right_z_a14c31d6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879" y="1783080"/>
            <a:ext cx="2472690" cy="2697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81344" y="46268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181344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6547104" y="4617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 · 맞춤대화 시작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181344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질문을 그대로 쓰고 [이 고객으로 맞춤대화 시작]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75995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8997696" y="2021935"/>
            <a:ext cx="2651760" cy="2219769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/tmp/claude-0/-home-user-MeAI/f5d765e8-a442-5f2c-87c4-ad64e47ba212/scratchpad/build/img/report_kakao_crop_189c9b7f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021935"/>
            <a:ext cx="2651760" cy="2219769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997696" y="46268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8997696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9363456" y="4617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· 카카오톡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8997696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답만 골라 리포트로 만들어 고객에게 보내요.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571500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77240" y="58064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화면에서 시작해도 고객이 이미 정해진 상태로 대화가 열려요. 고객을 다시 찾거나 정보를 다시 입력할 일이 없어요.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MeAI가 하는 일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찾아가는 영업, MeAI는 매일 이렇게 준비해요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계약·보상·부담보·동의·상령일 같은 정보를 모아 그룹을 다시 계산하고, 대문 카드로 알려줘요.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96596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2199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모으기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715768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계약·보상·부담보·동의 상태·상령일·생일·접촉 이력을 고객 단위로 모아요.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88301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07757" y="178308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08925" y="196596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008925" y="222199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그룹으로 묶기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008925" y="2715768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부족", "상령일 임박"처럼 조건별 그룹을 매일 다시 계산해요.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7417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6873" y="178308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8041" y="196596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268041" y="222199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카드로 알려주기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68041" y="2715768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3장 × 세트 3개. 이유 한 문장과 태그, 동의 D-n을 함께 보여줘요.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106534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5990" y="178308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27158" y="196596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527158" y="222199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실행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27158" y="2715768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카드에서 고객찾기 → 맞춤대화 → 리포트까지 버튼으로 이어져요.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65651" y="2583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85107" y="1783080"/>
            <a:ext cx="205794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86275" y="196596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786275" y="222199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날 다시 계산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86275" y="2715768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바뀐 계약·동의 상태를 반영해 그룹과 추천을 다시 계산하고, 다음 날 대문에 보여줘요.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발굴은 시스템, 설득은 사람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562856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연락할지 고르는 시간을 없애고, 영업가족은 고객을 만나는 일에 집중해요.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397764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52628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타겟에는 반드시 이유가 있어요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26280" y="4562856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 해제가 5일 남았습니다"처럼 연락 사유가 한 문장으로 붙어요. 첫 말을 고민할 필요가 없어요.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46720" y="397764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7532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세 번이면 시작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562856"/>
            <a:ext cx="3108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 → [이 고객으로 맞춤대화 시작]. 고객이 정해진 상태로 대화가 열려요.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692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고객 데이터와 추천 결과는 매일 새로 계산되어 익일에 반영돼요(대문 「데이터 갱신 안내」 기준). 화면의 "최근 업데이트" 시각을 확인하세요.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숫자로 보기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명 중 아홉 분이 써봤고, 쓴 분의 계약 성사율이 2.8배 높았어요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이미 손에 있어요. 대문은 그 도구를 "매일 아침 켜게" 만드는 장치예요.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91.1%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사용 경험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620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10,968명이 한 번 이상 사용. 한 번도 안 써본 분은 1,075명(8.9%)뿐.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1783080"/>
            <a:ext cx="26517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2.8배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체결전환율 차이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8620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12.7% → 활용 35.4%. 병목이던 설계 단계를 MeAI가 뚫었어요.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783080"/>
            <a:ext cx="26517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7376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 고객 간 비교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8620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9.0% → 활용 36.0%. FP 역량·조직 차이로는 설명되지 않아요.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7696" y="1783080"/>
            <a:ext cx="26517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53728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2.3배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하나만 더 하면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8620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1개 11.99건 → 3개 이상 27.79건(평균 가계약). 꼬리질문 한 번의 차이.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37160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 활동일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보유율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가계약(건)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매출자 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미사용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5,987명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53.1%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10.22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256,194원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1,835명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79.6%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19.81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310,383원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2,487명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85.7%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26.35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328,237원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5~9일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1,372명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92.5%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38.47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378,083원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10일 이상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362명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94.8%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408,166원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680960" y="39776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40690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달에 며칠 쓰느냐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지표가 한 방향으로 움직여요. 매출 보유율 1.8배, 평균 가계약 5.4배. 대문을 아침마다 여는 습관이 곧 "활동일"이에요.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그래서 이 책은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3분, 대문에서 시작하는 습관을 제안해요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2~4에서 화면을 익히고, PART 7에서 루틴으로 굳혀요. 익숙해지면 정말 3분이에요.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345356"/>
            <a:ext cx="2651760" cy="1070008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top_fde968d3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5356"/>
            <a:ext cx="2651760" cy="10700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114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대문 열기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439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숫자 4개를 훑어요. "사전조회 동의 필요"가 늘었는지 확인.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127248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673602" y="1783080"/>
            <a:ext cx="203454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/tmp/claude-0/-home-user-MeAI/f5d765e8-a442-5f2c-87c4-ad64e47ba212/scratchpad/build/img/reco1_card1_0f05115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1783080"/>
            <a:ext cx="2034540" cy="2194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64992" y="4114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추천 카드 읽기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364992" y="44439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카드의 이유 문장과 태그를 읽어요.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181344" y="2072146"/>
            <a:ext cx="2651760" cy="1616428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/tmp/claude-0/-home-user-MeAI/f5d765e8-a442-5f2c-87c4-ad64e47ba212/scratchpad/build/img/find_card_z_8d8ac58d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072146"/>
            <a:ext cx="2651760" cy="16164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81344" y="4114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고객찾기에서 열기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181344" y="44439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펼친 카드의 한눈에 보기 6칸으로 상황 파악, 추천 질문 확인.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759952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317736" y="1783080"/>
            <a:ext cx="20116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/tmp/claude-0/-home-user-MeAI/f5d765e8-a442-5f2c-87c4-ad64e47ba212/scratchpad/build/img/find_right_z_a14c31d64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783080"/>
            <a:ext cx="2011680" cy="21945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97696" y="4114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맞춤대화 → 리포트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8997696" y="44439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 → "보장분석 해줘" → 요약 리포트.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7240" y="55321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카드의 이유 문장은 고객에게 하는 첫 말이 되고, 고객찾기의 추천 질문은 MeAI에게 하는 첫 질문이 돼요. 두 문장이 준비돼 있으니 망설일 이유가 없어요.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시작되는 곳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영업포탈에서 MeAI로 들어오면 이 화면이 먼저 열려요. 오늘 만날 고객과 첫 마디가 이미 준비돼 있어요.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다섯 구역과 오른쪽 위 버튼 두 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숫자 4개의 뜻 · 오늘의 추천 고객 읽는 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· 동의 표시 · 고객 유형 범례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대문 화면 구성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대문, 한 화면에 오늘 할 일이 다 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 다섯 구역, 오른쪽 위에 버튼 두 개예요. 이름만 익혀 두면 다음 장부터는 술술 읽혀요.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103628" cy="4572000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full_2744ea00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103628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5843" y="197177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05843" y="1971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45006" y="252112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45006" y="25211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843" y="299958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5843" y="29995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45006" y="374386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945006" y="37438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843" y="583493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05843" y="58349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95611" y="172367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795611" y="17236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35240" y="17556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6352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019288" y="1737360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+ 최근 업데이트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019288" y="2029968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"OO님 안녕하세요, 무엇을 도와드릴까요?" 오른쪽 시각이 데이터 기준 시점이에요.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35240" y="2557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635240" y="2557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019288" y="2538984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맞춤대화 카드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019288" y="2831592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묻는 일반대화, 고객 한 명을 위한 맞춤대화. 맞춤대화를 누르면 고객 검색 팝업이 떠요.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635240" y="335889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635240" y="3358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019288" y="334060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찾기 · 숫자 4개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019288" y="3633216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전체 고객 · 맞춤대화 가능 · 사전조회 동의 필요 · 상품제안 가능. [MeAI 고객찾기 →] 버튼으로 그룹 화면 이동.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35240" y="41605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635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8019288" y="4142232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019288" y="4434840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이유가 한 문장으로 붙은 카드 3장. 화살표로 세트 3개를 넘겨 봐요.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635240" y="49621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635240" y="496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8019288" y="4943856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019288" y="5236464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색, 사전조회 동의 상태, 고객 유형(보유·가망·이관)의 뜻.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35240" y="57637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7635240" y="5763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019288" y="5745480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동의 · 게시판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19288" y="6038088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버튼 두 개. 고객 동의는 휴대폰 번호로 동의 요청 알림톡을 보내는 창, 게시판의 빨간 점은 새 글 표시.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대화 카드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어떤 대화를 시작할지 골라요. 나머지는 MeAI가 준비해요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맨 위 카드 두 장. 고객을 정하지 않은 질문은 왼쪽, 고객 한 명을 위한 질문은 오른쪽이에요.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508451"/>
          </a:xfrm>
          <a:prstGeom prst="roundRect">
            <a:avLst>
              <a:gd name="adj" fmla="val 84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cards_0607ee65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15084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61188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381304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왼쪽 카드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690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약관, 보장내용, 상담 포인트를 확인할 수 있어요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53128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특정하지 않아요. 상품·특약 개념, 화법, 약관 지식, 자사·타사 보장 비교처럼 공부하고 준비할 때 써요. 누르면 바로 일반대화 화면이 열려요.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61188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81304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오른쪽(검은) 카드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0690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 내역을 기반으로 맞춤형 답변을 받을 수 있어요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453128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명의 보장분석을 MeAI가 함께 봐요. 누르면 고객 검색 팝업이 먼저 뜨고, 고객을 고르면 그 고객의 맞춤대화가 시작돼요(PART 3).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57784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6692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일반대화로 감을 익히고, 고객을 만나기 전에는 꼭 맞춤대화로 준비하세요. 어느 카드든 화면 왼쪽 위 [MeAI 홈]으로 대문에 돌아와요.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내 고객 찾기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숫자 4개, 매일 아침 한 번만 훑어보세요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"사전조회 동의 필요"가 늘었는지, "맞춤대화 가능"이 몇 명인지. 이 숫자가 오늘 할 일의 크기예요.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6481" y="1737360"/>
            <a:ext cx="109587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stats_eb41df24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81" y="1737360"/>
            <a:ext cx="10958732" cy="1874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4048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342명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전체 고객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담당하는 고객 전부. 보유·가망·이관을 모두 더한 수예요.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64992" y="384048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593592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137명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593592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가능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93592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동의가 유효한 고객. 지금 바로 맞춤대화를 시작할 수 있어요.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81344" y="384048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9944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186명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9944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 필요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9944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없거나 만료된 고객. 이 숫자가 곧 동의 재취득 캠페인 목록이에요.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97696" y="384048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226296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84명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226296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상품제안 가능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226296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고객. 카드에 "AI 추천 고객" 리본이 붙어요.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숫자는 예시예요. [MeAI 고객찾기 →] 빨간 버튼을 누르면 그룹별 고객 목록(PART 4)으로 이동해요. 데이터는 매일 새로 계산되어 익일 반영돼요.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오늘의 추천 고객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연락할 사람을 MeAI가 먼저 골라 놓았어요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3장이 한 세트, 세트 3개. 좌우 화살표로 넘기고, 카드 아래 [MeAI 고객찾기에서 열기]로 들어가요.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67033" y="1691640"/>
            <a:ext cx="985763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reco1_31994341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033" y="1691640"/>
            <a:ext cx="9857630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11288" y="170913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611288" y="17091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28992" y="233172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2899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81285" y="309266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081285" y="30926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52995" y="400059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152995" y="40005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11288" y="430324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611288" y="4303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31228" y="486530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931228" y="486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814275" y="225389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814275" y="22538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774097" y="317913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0774097" y="31791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59222" y="542736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59222" y="54273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48640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77824" y="5760720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"오늘의 추천 고객" 구역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67523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2767523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3096707" y="5760720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 · 담당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986406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986406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315590" y="5760720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 한 문장 + 근거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205289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7205289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7534473" y="5760720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태그(#이벤트 임박 등)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424172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9424172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9753356" y="5760720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48640" y="608990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548640" y="6089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877824" y="6071616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767523" y="608990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2767523" y="6089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3096707" y="6071616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고객 리본(상품제안 가능)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986406" y="608990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4986406" y="6089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315590" y="6071616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세트로 넘기기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205289" y="608990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7205289" y="6089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7534473" y="6071616"/>
            <a:ext cx="183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위치(3개)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추천 카드 읽는 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한 장에 "누구 · 왜 · 언제까지 · 다음"이 다 들어 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카드를 읽을 수 있으면 대문의 절반은 끝이에요. 이유 문장은 그대로 첫 말로 써도 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49138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card_z_24dd9d0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491385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7741" y="207746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27741" y="20774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27570" y="207746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27570" y="20774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7741" y="260721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27741" y="26072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7741" y="343639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7741" y="34363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7741" y="431163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27741" y="431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7741" y="471471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27741" y="47147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7741" y="546327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27741" y="5463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4864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870448" y="16916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1984248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이름과 나이. 긴 이름은 줄여서 보여요.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0" y="23027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486400" y="2302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870448" y="228447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· 담당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2577084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/ 가망 / 이관 중 하나와 담당자. 한 고객은 하나의 유형으로만 분류돼요.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0" y="28956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486400" y="2895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870448" y="2877312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 (굵은 한 문장)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70448" y="3169920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 해제가 5일 남았습니다." 이 문장이 고객에게 하는 첫 말이에요.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0" y="34884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5486400" y="34884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870448" y="3470148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설명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870448" y="3762756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좋은 기회인지 서너 줄로 풀어 줘요. 상담 방향이 여기서 정해져요.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0" y="4081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5486400" y="4081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870448" y="4062984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870448" y="4355592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#이벤트 임박(파랑) · #보장 공백(빨강) · #당월 타겟(보라). 색으로 성격을 구분해요.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0" y="46741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486400" y="4674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870448" y="465582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870448" y="4948428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만료까지 남은 날. 만료되면 "사전조회동의 필요"로 바뀌고 재동의부터 받아야 해요.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86400" y="52669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5486400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870448" y="524865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870448" y="5541264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화면의 이 고객 카드로 바로 이동. 거기서 [이 고객으로 맞춤대화 시작].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추천 세트 3개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추천은 매일 새로 계산돼요. 세트 3개, 카드 9장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두 번 누르면 세트 2·3이 나와요. 세트 2·3의 카드 여섯 장이에요. 이유의 종류를 보면 MeAI가 무엇을 보고 고르는지 알 수 있어요.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reco2_card1_a9ad078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949768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0" y="1691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tmp/claude-0/-home-user-MeAI/f5d765e8-a442-5f2c-87c4-ad64e47ba212/scratchpad/build/img/reco2_card2_bc0e67aa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91640"/>
            <a:ext cx="1949768" cy="2103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46720" y="1691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tmp/claude-0/-home-user-MeAI/f5d765e8-a442-5f2c-87c4-ad64e47ba212/scratchpad/build/img/reco2_card3_1931eb757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91640"/>
            <a:ext cx="1949768" cy="21031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977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/tmp/claude-0/-home-user-MeAI/f5d765e8-a442-5f2c-87c4-ad64e47ba212/scratchpad/build/img/reco3_card1_a2bbcc64a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77640"/>
            <a:ext cx="1949768" cy="21031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97680" y="3977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/tmp/claude-0/-home-user-MeAI/f5d765e8-a442-5f2c-87c4-ad64e47ba212/scratchpad/build/img/reco3_card2_e92856788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977640"/>
            <a:ext cx="1949768" cy="21031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46720" y="3977640"/>
            <a:ext cx="1949768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5" descr="/tmp/claude-0/-home-user-MeAI/f5d765e8-a442-5f2c-87c4-ad64e47ba212/scratchpad/build/img/reco3_card3_0b7d3ee8f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977640"/>
            <a:ext cx="1949768" cy="21031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줄: 세트 2 (박준호 · 노현정 · 오미선) · 아래 줄: 세트 3 (김민수 · 정재민 · 서은아) · 이름과 숫자는 예시예요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추천 이유의 종류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MeAI는 이런 이유로 추천해요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9장의 이유 문장을 세 갈래로 나눠 봤어요. 어떤 정보를 보고 고르는지 알면 카드가 더 잘 읽혀요.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583680"/>
                <a:gridCol w="27706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카드의 이유 문장 (예시)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보고 골랐나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일정형 · 이벤트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부담보 해제가 5일 남았습니다 / 가입설계동의가 이달 말 만료됩니다 / 자동차보험 만기가 9일 뒤이고 운전자보험은 없습니다 / 상령일이 2주 남았고 암진단비가 1천만원뿐입니다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부담보 해제일 · 동의 만료일 · 자동차 만기 · 상령일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공백형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실손이 없어 의료비 본인부담이 큽니다 / 상령일이 25일 남았고 수술비 담보가 비어 있습니다 / 8개월간 접촉이 없었던 우량 고객입니다(뇌·심장 진단비 공백)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실손 · 수술비 · 진단비처럼 비어 있는 담보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관계·정리형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암진단비가 중복 가입돼 있어 보험료 부담이 큽니다 / 보상 완료 후 후속 상담이 없었습니다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중복 · 보상 이력 · 접촉 공백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6634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일정형은 "언제까지"가 정해진 카드라 오늘 연락해야 해요. 보장 공백형은 "무엇을 제안할지"가 이미 정해진 카드예요. 관계·정리형은 만남의 명분이 있는 카드예요. 태그와 동의 D-n은 카드에서 함께 확인하세요.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5778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게시판 공지 기준, 오늘의 추천 고객은 CRM 데이터 반입이 완료되는 2차 오픈부터 보여요. 일정은 대문 게시판 공지를 확인하세요.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범례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3종 · 동의 표시 3종 · 고객 유형 3종, 색으로 읽어요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맨 아래 범례예요. 카드에 붙는 표시의 뜻이 전부 여기 있어요.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459791"/>
          </a:xfrm>
          <a:prstGeom prst="roundRect">
            <a:avLst>
              <a:gd name="adj" fmla="val 8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legend_z_f9923b15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94415" cy="14597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429000"/>
            <a:ext cx="356616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태그 3종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4023360"/>
            <a:ext cx="855853" cy="25603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8558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#보장 공백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담보가 있어요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4590288"/>
            <a:ext cx="855853" cy="256032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590288"/>
            <a:ext cx="8558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#당월 타겟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148840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영업 목표 대상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5157216"/>
            <a:ext cx="976503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157216"/>
            <a:ext cx="976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#이벤트 임박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5157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만기·해제·상령일이 코앞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760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태그 분류표 기준 · 고객찾기 그룹 태그는 PART 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97680" y="3429000"/>
            <a:ext cx="356616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262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표시 3종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26280" y="4023360"/>
            <a:ext cx="123469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4023360"/>
            <a:ext cx="1234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4023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 · 만료까지 남은 일수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26280" y="4590288"/>
            <a:ext cx="1275715" cy="25603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590288"/>
            <a:ext cx="1275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4590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· 재동의가 필요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26280" y="5157216"/>
            <a:ext cx="978916" cy="256032"/>
          </a:xfrm>
          <a:prstGeom prst="roundRect">
            <a:avLst>
              <a:gd name="adj" fmla="val 50000"/>
            </a:avLst>
          </a:prstGeom>
          <a:solidFill>
            <a:srgbClr val="E4262C"/>
          </a:solidFill>
          <a:ln w="12700">
            <a:solidFill>
              <a:srgbClr val="E426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26280" y="5157216"/>
            <a:ext cx="978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고객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035040" y="51572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 동의 · 제안 가능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526280" y="5760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 보이는 고객은 사전조회 동의일로부터 1년 이내 고객이에요.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046720" y="3429000"/>
            <a:ext cx="3593592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27532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유형 3종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275320" y="402336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75320" y="402336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9052560" y="4023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있는 내 고객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275320" y="4590288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75320" y="4590288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가망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905256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계약 전, 등록만 된 고객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75320" y="5157216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5157216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9052560" y="5157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담당자에게서 넘겨받은 고객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8275320" y="5760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고객은 보유·가망·이관 중 하나로만 분류돼요.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길 안내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대문에서 갈 수 있는 곳은 다섯 군데예요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대문으로 돌아오는 [MeAI 홈] 버튼이 왼쪽 위에 있어요. 길을 잃을 걱정은 없어요.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3291840"/>
            <a:ext cx="2697480" cy="1188720"/>
          </a:xfrm>
          <a:prstGeom prst="roundRect">
            <a:avLst>
              <a:gd name="adj" fmla="val 12308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3337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18562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[일반대화] 카드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창. 상품·약관·화법.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599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[맞춤대화] 카드 → 고객 검색 팝업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230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고르면 그 고객의 대화가 열려요. (PART 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66760" y="18562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 →] 버튼 · 카드의 [열기]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그룹별 고객 목록과 다음 행동. (PART 4)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66760" y="3364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[게시판] 버튼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995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공지·이슈·기능안내. 빨간 점은 새 글. (PART 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475488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66760" y="48737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동의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[고객 동의] 버튼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504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번호를 넣고 [보내기] → 동의 요청 알림톡. (PART 5)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69080" y="2395728"/>
            <a:ext cx="685800" cy="1033272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4069080" y="4343400"/>
            <a:ext cx="685800" cy="795528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7452360" y="2395728"/>
            <a:ext cx="685800" cy="1033272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452360" y="3904488"/>
            <a:ext cx="685800" cy="9144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52360" y="4343400"/>
            <a:ext cx="685800" cy="1069848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48640" y="598932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6080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이후 화면의 왼쪽 위 [MeAI 홈]으로 언제든 돌아와요.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맞춤대화로 가는 두 길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 팝업과 추천 카드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알면 검색 팝업, 누구를 만날지 고민이면 추천 카드. 어느 길이든 고객이 정해진 상태로 대화가 열려요.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1 · [맞춤대화] 카드 → 고객 검색 팝업 → [맞춤대화]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2 · 추천 카드 → 고객찾기 → [이 고객으로 맞춤대화 시작]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D-n이 보이면 바로, 회색이면 동의부터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길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알면, [맞춤대화] 카드 → 고객 검색 팝업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대문의 검은 카드를 누르면 팝업이 떠요. 고객을 고르는 순간 그 고객의 맞춤대화가 시작돼요.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980329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search_77f7977da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980329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22745" y="193960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522745" y="19396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54957" y="250438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754957" y="25043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226910" y="289703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226910" y="28970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17827" y="316059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517827" y="31605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01399" y="316059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201399" y="31605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51545" y="573167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351545" y="57316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061550" y="215475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061550" y="21547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4864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870448" y="16916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1984248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"고객을 선택하면 맞춤대화를 시작합니다". 팝업 제목 아래 안내 그대로예요.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0" y="23027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486400" y="2302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870448" y="228447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2577084"/>
            <a:ext cx="57424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입력하면 목록이 즉시 좁혀져요. 한 글자만 넣어도 되고, 담당자 이름으로도 찾아져요. (예: 홍길동)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0" y="30861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48640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870448" y="3067812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61명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70448" y="3360420"/>
            <a:ext cx="57424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동의가 유효한 내 고객 수. 이름 가나다순이고, 담당자가 여럿이면 담당마다 한 줄씩 보여요.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0" y="38694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5486400" y="38694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870448" y="3851148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870448" y="4143756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만료까지 남은 날. D-1까지는 바로 시작할 수 있어요. 오늘 철회한 고객은 회색으로 표시돼요.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0" y="4462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548640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870448" y="4443984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[맞춤대화] 버튼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870448" y="4736592"/>
            <a:ext cx="57424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팝업이 닫히고 그 고객의 맞춤대화 화면으로 들어가요. 목록 아래 안내: "고객을 선택하면 팝업이 닫히고 해당 고객의 맞춤대화가 시작됩니다."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0" y="52456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486400" y="524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870448" y="522732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870448" y="5519928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페이지에 10명. 이름으로 검색하면 페이지를 넘길 일이 거의 없어요.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86400" y="58384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5486400" y="5838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870448" y="582015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닫기(X)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870448" y="6112764"/>
            <a:ext cx="57424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대문으로 돌아와요. 검색어와 페이지는 초기화돼요.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이름으로 찾기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한 글자만 넣어도 목록이 좁혀져요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성만 알아도, 이름 일부만 알아도 괜찮아요. 담당자 이름을 넣으면 그 담당자의 고객이 나와요.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61903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search_kim_d66f419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661903" cy="4206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943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"김"을 입력한 상태 · 김씨 고객과 담당자가 김OO인 고객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37760" y="1691640"/>
            <a:ext cx="4206240" cy="2544097"/>
          </a:xfrm>
          <a:prstGeom prst="roundRect">
            <a:avLst>
              <a:gd name="adj" fmla="val 33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search_noresult_crop_9b0f657e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206240" cy="25440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5943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이름을 넣은 상태 · "조건에 맞는 고객이 없습니다"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3726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93726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9756648" y="16916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글자부터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756648" y="1984248"/>
            <a:ext cx="1901952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"김"만 넣어도 김씨 고객이 모두 보여요. 타이핑하는 즉시 걸러져요.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372600" y="269176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9372600" y="26917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9756648" y="2673477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같아도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9756648" y="2966085"/>
            <a:ext cx="19019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나이·담당자가 함께 보여서 구분할 수 있어요.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372600" y="349262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9372600" y="349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9756648" y="3474339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없으면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9756648" y="3766947"/>
            <a:ext cx="1901952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"조건에 맞는 고객이 없습니다. 다른 이름으로 찾아보세요." 등록됐는지, 동의가 있는지 먼저 확인해요.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9372600" y="4655439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372600" y="46554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9756648" y="4637151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시작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9756648" y="4929759"/>
            <a:ext cx="19019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찾았으면 오른쪽 [맞춤대화]. 두 번 누를 일이 없어요.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동의 상태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D-n이 보이면 바로 시작, 회색이면 동의부터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팝업에는 사전조회 동의가 유효한 고객만 나와요. 만료된 고객은 목록에 없고, 오늘 철회한 고객은 회색으로 남아요.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858000" cy="80926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31_row_normal_zoom_4aed83de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8092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32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유효 · 사전조회동의 D-26 · [맞춤대화] 활성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6858000" cy="80926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33_row_d1_zoom_6ca9af77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6858000" cy="8092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3675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하루 전 · D-1 · 아직 시작할 수 있어요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6858000" cy="80926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tmp/claude-0/-home-user-MeAI/f5d765e8-a442-5f2c-87c4-ad64e47ba212/scratchpad/build/img/34_row_revoked_zoom_7ab63a6c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6858000" cy="8092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4818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철회 · 회색 · [맞춤대화] 비활성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 모양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4E59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글씨 · 사전조회동의 D-n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동의가 유효해요. n일 뒤 만료.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[맞춤대화]로 바로 시작. D-7 이하면 재동의도 함께 안내.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회색 · 사전조회동의 철회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고객이 오늘 동의를 철회했어요.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확인이 막혀요. 새 동의 없이는 진행할 수 없어요.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목록에 없음 · 동의 만료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만료된 고객은 팝업에 나오지 않아요.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[사전동의 만료] 그룹이나 대문 [고객 동의]로 재동의 요청.</a:t>
                      </a:r>
                      <a:endParaRPr lang="en-US" sz="93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7680960" y="16916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90956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동의가 먼저인가요?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고객의 보장 내역을 읽어서 답해요. 사전조회 동의가 있어야 그 내역을 볼 수 있어요. 동의는 준실시간(약 15분)으로 반영돼요(게시판 공지 기준).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680960" y="384048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909560" y="39319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화법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 보장을 정확히 보고 말씀드리려면 사전조회 동의가 필요해요. 알림톡 보내드릴게요, 1분이면 끝나요." 동의는 상담의 시작이지, 절차가 아니에요. 재동의를 받으면 D-n이 다시 채워져요.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길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만날지 고민이면, 추천 카드 → 고객찾기 → 맞춤대화 시작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두 번이에요. 고객 타겟팅이 끝난 상태로 맞춤대화 화면에 들어가요.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96442"/>
            <a:ext cx="2651760" cy="269935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card_z_24dd9d00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6442"/>
            <a:ext cx="2651760" cy="26993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910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4864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· 추천 카드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열기]를 눌러요.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64992" y="2058353"/>
            <a:ext cx="2651760" cy="2375535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/tmp/claude-0/-home-user-MeAI/f5d765e8-a442-5f2c-87c4-ad64e47ba212/scratchpad/build/img/25_find_from_card_choi_db014a54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058353"/>
            <a:ext cx="2651760" cy="237553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64992" y="4910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364992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· 그 고객이 맨 위에 펼쳐져요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3364992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 한눈에 보기 6칸과 태그를 확인해요.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181344" y="1769572"/>
            <a:ext cx="2651760" cy="29530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/tmp/claude-0/-home-user-MeAI/f5d765e8-a442-5f2c-87c4-ad64e47ba212/scratchpad/build/img/find_right_choi_57d173aa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769572"/>
            <a:ext cx="2651760" cy="295309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81344" y="4910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181344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6547104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 · [이 고객으로 맞춤대화 시작]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181344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고객의 오른쪽 패널. 추천 질문을 그대로 쓰면 돼요.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759952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8997696" y="2493407"/>
            <a:ext cx="2651760" cy="150542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/tmp/claude-0/-home-user-MeAI/f5d765e8-a442-5f2c-87c4-ad64e47ba212/scratchpad/build/img/custom_start_crop_ef92c47fb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493407"/>
            <a:ext cx="2651760" cy="150542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997696" y="4910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8997696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9363456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화면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8997696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정해진 채로 열려요. 정보 입력 → 상품 선택 → 질문.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5989320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77240" y="6080760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길의 차이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1은 "이 고객"이 정해진 날, 길 2는 "누구든 오늘 한 명"인 날. 어느 길이든 도착하는 화면은 같아요.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고객을 MeAI가 그룹으로 묶어줘요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부족 35명"처럼 그룹을 누르면 그 조건의 고객만 나열돼요. 그룹 분류와 고객 정보는 매일 새로 계산돼 다음 날 반영돼요.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그룹 · 가운데 목록 · 오른쪽 다음 행동, 3단 구조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14개의 뜻과 설명 문구 · 펼친 카드의 한눈에 보기 6칸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상태별로 달라지는 다음 행동 · 검색과 필터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화면 구성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고객찾기는 왼쪽 → 가운데 → 오른쪽, 세 단으로 읽어요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01000" cy="5000625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MeAI/f5d765e8-a442-5f2c-87c4-ad64e47ba212/scratchpad/build/img/find_full_49926de1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01000" cy="5000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26630" y="172605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26630" y="17260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93380" y="230390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893380" y="23039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3555" y="175383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293555" y="17538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99411" y="239280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99411" y="23928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82567" y="458752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282567" y="45875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38442" y="173717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38442" y="17371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6348" y="409857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866348" y="409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87911" y="134267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587911" y="13426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778240" y="1344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77824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162288" y="13258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그룹 (왼쪽)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162288" y="1618488"/>
            <a:ext cx="2496312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등록 고객 + 보장 기준 / 영업 기회 탭.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778240" y="189052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778240" y="18905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162288" y="187223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162288" y="2164842"/>
            <a:ext cx="24963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기준(담보 부족·당월 타겟·증권·납입) / 영업 기회(상령일·생일·사전동의 만료).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778240" y="260832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778240" y="26083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162288" y="259003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제목 · 인원 · 설명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162288" y="2882646"/>
            <a:ext cx="24963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그룹인지 한 줄. [전체]는 동의 조건 필터.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778240" y="332613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778240" y="33261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162288" y="330784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펼친 고객 카드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162288" y="3600450"/>
            <a:ext cx="24963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· 태그 · 한눈에 보기 6칸. 한 번에 한 장만.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778240" y="404393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778240" y="4043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9162288" y="402564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카드 · AI 추천 리본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162288" y="4318254"/>
            <a:ext cx="2496312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펼쳐지고 오른쪽 패널이 바뀌어요.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778240" y="45902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77824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9162288" y="457200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 이렇게 물어보세요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9162288" y="4864608"/>
            <a:ext cx="2496312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일반대화용 · 맞춤대화용 추천 질문.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778240" y="513664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8778240" y="51366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9162288" y="511835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[보장분석] · [맞춤대화 시작]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9162288" y="5410962"/>
            <a:ext cx="24963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없으면 [사전조회동의 요청하기]로 바뀌어요.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778240" y="585444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8778240" y="58544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9162288" y="583615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9162288" y="6128766"/>
            <a:ext cx="24963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또는 조건으로 검색. 왼쪽 위 [MeAI 홈]으로 대문 복귀.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고객 그룹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14개, 이름만 보면 왜 연락할지 알 수 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10개, 영업 기회 3개, 그리고 신규 등록 고객. 인원 숫자는 예시이고, 매일 새로 계산돼 다음 날 반영돼요.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57033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find_groups_z_70686193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570330" cy="4206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943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탭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23160" y="1691640"/>
            <a:ext cx="1737360" cy="23578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find_left_opp_top_z_b89fb3a2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91640"/>
            <a:ext cx="1737360" cy="23578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23160" y="5943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기회 탭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91640"/>
          <a:ext cx="72511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9418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 (누가 들어오나)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등록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그룹으로 분류되지 않은 신규 고객. "AI가 이 고객을 분석하고 있어요" · 상세는 익일 반영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암·뇌·심진단비 부족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진단비가 2천만원 이하인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 부족 · 종수술비 부족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표적항암치료비 5천만원 이하 · 질병 종수술비 없음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지원일당 없음 · 치아 부족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간병인지원 입원일당 없음 · 치아보철치료비 없음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영업 타겟 NEW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회사 전략 담보(수술비·표적항암 등) 대상 (보라 태그)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(최상)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증권 5건 이상 · 월 50만원 이상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증권 5건 이상 · 월납 보험료 50만원 이상인 우량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상령일 임박 NEW · 생일 임박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 안에 보험 나이가 오르는 고객 · 곧 생일인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사전동의 만료 NEW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사전동의 만료가 임박한 고객. 재동의 캠페인 목록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389120" y="5486400"/>
            <a:ext cx="7251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우선순위: 화면 태그 분류표 기준. 카드의 태그 칩은 우선순위 순으로 보여요(1=최상). 한 고객이 여러 그룹에 들어갈 수 있어요.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89120" y="5760720"/>
            <a:ext cx="7251192" cy="457200"/>
          </a:xfrm>
          <a:prstGeom prst="roundRect">
            <a:avLst>
              <a:gd name="adj" fmla="val 24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617720" y="5852160"/>
            <a:ext cx="679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그룹은 "무엇이 부족한가", 파란(증권·납입)·주황(상령일·생일·사전동의 만료) 그룹은 "언제 연락하면 좋은가", 보라 그룹은 "이번 달 목표"예요.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그룹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그룹을 누르면 "왜 이 고객인지"가 한 줄로 설명돼요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문구는 곧 상담 화법이에요. "치료비 실제 부담액을 기준으로 설명하면 필요가 분명해집니다"처럼요.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66560" cy="1249211"/>
          </a:xfrm>
          <a:prstGeom prst="roundRect">
            <a:avLst>
              <a:gd name="adj" fmla="val 10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find_header_0be3e4ae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12492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154680"/>
            <a:ext cx="6766560" cy="1186211"/>
          </a:xfrm>
          <a:prstGeom prst="roundRect">
            <a:avLst>
              <a:gd name="adj" fmla="val 10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tmp/claude-0/-home-user-MeAI/f5d765e8-a442-5f2c-87c4-ad64e47ba212/scratchpad/build/img/11_group_brain_header_8817e769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6766560" cy="118621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617720"/>
            <a:ext cx="6766560" cy="1186211"/>
          </a:xfrm>
          <a:prstGeom prst="roundRect">
            <a:avLst>
              <a:gd name="adj" fmla="val 10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tmp/claude-0/-home-user-MeAI/f5d765e8-a442-5f2c-87c4-ad64e47ba212/scratchpad/build/img/17_group_monthly_target_header_2dbd84200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6766560" cy="118621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8096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6809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806500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이름 · 인원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8065008" y="1984248"/>
            <a:ext cx="35478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부족 35명". 오른쪽 [전체] 드롭다운으로 사전조회동의·상품소개동의 고객만 걸러요.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680960" y="25115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680960" y="2511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8065008" y="24932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한 줄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065008" y="2785872"/>
            <a:ext cx="354787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묶였는지, 어떻게 설명하면 좋은지가 붙어요.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680960" y="31226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680960" y="31226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8065008" y="31043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첫 말로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065008" y="3396996"/>
            <a:ext cx="35478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문구를 고객에게 하는 말로 바꾸기만 하면 돼요. "뇌질환은 재활·간병 기간이 길어서 진단비가 곧 생활비예요."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80960" y="39243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680960" y="39243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065008" y="390601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자료로 활용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8065008" y="4198620"/>
            <a:ext cx="35478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조직장이 조회에서 그룹 인원과 설명 문구를 함께 읽어 주면, 그날의 영업 방향이 정리돼요(PART 8).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그룹 설명 문구 모음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14개의 설명 문구, 한 장에 모았어요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화면의 설명 문구 (그대로)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암진단비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진단비가 2천만원 이하인 고객입니다. 치료비 실제 부담액을 기준으로 설명하면 필요가 분명해집니다.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뇌진단비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 진단비가 2천만원 이하인 고객입니다. 뇌질환은 재활·간병 기간이 길어 진단비가 곧 생활비 대체 수단이 됩니다.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심진단비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허혈성 심장질환 진단비가 2천만원 이하인 고객입니다. 심장질환은 시술 반복과 재발이 잦아 한 번의 진단비로는 부족합니다.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표적항암치료비가 5천만원 이하인 고객입니다. 표적,면역 항암은 회차당 비용이 커서 별도 특약 없이는 감당이 어렵습니다.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종수술비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질병 종수술비 보장이 없는 고객입니다. 수술은 암보다 발생 빈도가 높아 실제 청구가 가장 많이 일어나는 담보입니다.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지원일당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간병인지원 입원일당 보장이 없는 고객입니다. 간병비는 하루 단위로 나가는 실지출이라 일당이 없으면 부담이 그대로 남습니다.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치아 부족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치아보철치료비 보장이 없는 고객입니다. 임플란트,브릿지는 실손으로 보장되지 않아 전액 본인 부담입니다.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영업 타겟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회사 전략 담보(수술비·표적항암 등) 대상 고객입니다. 이번 달 안에 우선 접촉하는 것이 유리합니다.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증권 5건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증권이 5건 이상인 고객입니다. 보험에 대한 관심과 니즈가 높은 고객입니다.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50만원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월납 보험료가 50만원 이상인 고객입니다. 납입 규모가 큰 편이므로 보험료 대비 보장 수준을 점검할 대상입니다.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상령일 임박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 안에 보험 나이가 오르는 고객입니다. 같은 보장을 더 싸게 준비할 수 있는 마지막 구간입니다.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생일 임박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곧 생일을 맞는 고객입니다. 축하 인사로 대화를 열고 자연스럽게 보장 점검으로 이어가기 좋은 시점입니다.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사전동의 만료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사전동의 만료가 임박한 고객입니다. 만료 전에 재동의를 받아야 이후에도 안내와 연락을 이어갈 수 있습니다.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등록 고객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그룹으로 분류되지 않은 신규 등록 고객입니다. 상세 정보는 익일 반영됩니다.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확정 화면의 문구예요. 오픈 시 문구가 다듬어질 수 있으니 화면의 설명을 우선하세요.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고객 카드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카드는 한 줄, 누르면 펼쳐져 여섯 칸이 나와요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목록의 카드예요. 한 번에 한 장만 펼쳐지고, 오른쪽 패널이 그 고객으로 바뀌어요.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66560" cy="1148644"/>
          </a:xfrm>
          <a:prstGeom prst="roundRect">
            <a:avLst>
              <a:gd name="adj" fmla="val 111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find_aicard_z_536427da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11486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8803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카드 · AI 추천 고객 리본 · 이유 한 줄 · 동의 상태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025265" cy="306324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find_card_z_8d8ac58d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5025265" cy="3063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9722" y="335515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39722" y="33551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9722" y="361107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39722" y="36110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371926" y="361107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371926" y="36110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9722" y="405310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39722" y="40531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9722" y="436330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439722" y="4363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71926" y="517758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5371926" y="51775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68096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6809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806500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065008" y="1984248"/>
            <a:ext cx="354787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다른 고객은 "담당 OOO"이 함께 보여요.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7680960" y="229895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7680960" y="22989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8065008" y="228066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한 문장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8065008" y="2573274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"암진단비가 1천만원대에 머물러 있습니다. 상향 여지가 큽니다."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7680960" y="307467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7680960" y="30746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8065008" y="305638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8065008" y="3348990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만료면 "사전조회동의 필요", 철회한 고객은 "사전조회동의 철회"로 바뀌어요.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7680960" y="385038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7680960" y="38503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8065008" y="383209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칩 (우선순위 순)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8065008" y="4124706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#당월 영업 타겟(보라) → #암진단비 부족 · #종수술비 부족 · #지원일당 없음(빨강). 한 고객이 여러 그룹에 속할 수 있어요.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7680960" y="46261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7680960" y="46261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8065008" y="460781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 한눈에 보기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8065008" y="4900422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· 납입 · 접촉기회 · 부족 금액 · 주요 담보 유무. 다음 장에서 자세히.</a:t>
            </a:r>
            <a:endParaRPr lang="en-US" sz="980" dirty="0"/>
          </a:p>
        </p:txBody>
      </p:sp>
      <p:sp>
        <p:nvSpPr>
          <p:cNvPr id="44" name="Shape 40"/>
          <p:cNvSpPr/>
          <p:nvPr/>
        </p:nvSpPr>
        <p:spPr>
          <a:xfrm>
            <a:off x="7680960" y="540181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5" name="Text 41"/>
          <p:cNvSpPr txBox="1"/>
          <p:nvPr/>
        </p:nvSpPr>
        <p:spPr>
          <a:xfrm>
            <a:off x="7680960" y="54018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8065008" y="538353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칸 · 미확인</a:t>
            </a:r>
            <a:endParaRPr lang="en-US" sz="1150" dirty="0"/>
          </a:p>
        </p:txBody>
      </p:sp>
      <p:sp>
        <p:nvSpPr>
          <p:cNvPr id="47" name="Text 43"/>
          <p:cNvSpPr txBox="1"/>
          <p:nvPr/>
        </p:nvSpPr>
        <p:spPr>
          <a:xfrm>
            <a:off x="8065008" y="5676138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없는 항목은 "미확인"으로 비워 둬요. 추정하지 않아요.</a:t>
            </a:r>
            <a:endParaRPr lang="en-US" sz="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이 고객 한눈에 보기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칸이면 이 고객의 상황이 잡혀요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전에 볼 것은 이 여섯 개면 충분해요. 숫자는 예시예요.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37102" y="1691640"/>
            <a:ext cx="711749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find_six_z_1bba6adc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102" y="1691640"/>
            <a:ext cx="7117492" cy="2194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가입한 보험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443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3건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4206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계약 수. "지금 세 건 갖고 계세요"로 대화를 열어요. 자동차보험이 있으면 "장기 2건 · 자동차 1건"처럼 보여요.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4297680" y="41148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80560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납입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4443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142만원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4206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납입액. 예산 감각을 잡는 기준이에요.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8046720" y="41148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0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접촉기회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443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계약변경조회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0" y="4206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고객이 한 행동. 계약 변경을 조회했다면 관심이 있다는 신호예요.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48640" y="516636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" y="5257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금액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5495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377440" y="5257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부족한 진단비. 제안의 크기가 여기서 나와요.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297680" y="516636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480560" y="5257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1-5종수술비(plus)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5495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5257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 담보 유무. "없음"은 곧 제안 포인트.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8046720" y="516636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29600" y="5257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표적항암약물허가치료비(비급여)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5495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미확인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5257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없으면 미확인. 보장분석에서 확인해요.</a:t>
            </a:r>
            <a:endParaRPr lang="en-US" sz="9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다음 행동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패널에는 물어볼 질문과 다음 버튼이 준비돼 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질문은 일반대화용·맞춤대화용 두 가지예요. 누르면 질문이 채워진 채로 대화가 열려요.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1910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find_right_z_a14c31d6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19100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8724" y="1820799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8724" y="18207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8724" y="2658999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8724" y="26589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8724" y="386867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8724" y="38686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3524" y="4811649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573524" y="48116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3524" y="5402199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73524" y="54021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8724" y="586892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8724" y="58689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3035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169164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고객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87568" y="1984248"/>
            <a:ext cx="592531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목록에서 누른 고객의 이름·나이. 카드를 바꾸면 패널도 바뀌어요.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03520" y="23027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303520" y="2302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687568" y="2284476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일반대화용 추천 질문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687568" y="2577084"/>
            <a:ext cx="59253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"#암진단비 부족, #40대, #보유 — 이 조건에 해당하는 고객에게 보낼 안내 문자 문안을 작성해줘…" 그룹을 바꾸면 조건 태그도 바뀌어요. 누르면 일반대화 화면에 이 질문이 채워져요.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03520" y="30861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30352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687568" y="3067812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맞춤대화용 추천 질문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687568" y="3360420"/>
            <a:ext cx="59253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암진단비를 왜 지금 늘려야 하는지 설명해줘". 누르면 이 고객의 맞춤대화에 질문이 채워진 채로 열려요.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03520" y="38694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5303520" y="38694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687568" y="3851148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[보장분석]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687568" y="4143756"/>
            <a:ext cx="592531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영업포탈의 이 고객 보장분석 화면으로 이동해요. 부족·충분·미가입이 색으로 보여요.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03520" y="4462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530352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687568" y="4443984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687568" y="4736592"/>
            <a:ext cx="592531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버튼. 고객 타겟팅이 끝난 상태로 맞춤대화 화면에 들어가요.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303520" y="50551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5303520" y="5055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687568" y="503682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687568" y="5329428"/>
            <a:ext cx="592531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 타겟팅이 끝난 상태로 맞춤대화 화면에 진입합니다." 고객을 다시 찾을 일이 없다는 뜻이에요.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추천 질문 → 대화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질문을 누르면, 질문이 채워진 채로 대화가 열려요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맞춤대화용 질문을 누른 직후 화면이에요. 계약 목록이 먼저 보이고, 입력창에 질문이 들어가 있어요. 전송만 누르면 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026152" cy="443484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custom_q_crop_213d4f43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026152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3946" y="218521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83946" y="21852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55008" y="19486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55008" y="194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3946" y="42153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83946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3946" y="5210759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83946" y="52107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3946" y="548177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83946" y="54817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17316" y="168752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17316" y="16875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58952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5895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973568" y="169164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정상 계약 리스트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973568" y="1984248"/>
            <a:ext cx="363931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· 보험료 · 납입기간 · 납입횟수 · 기납입보험료. 왼쪽에는 담당 고객 이름과 동의 남은 일수가 보여요.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589520" y="24856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589520" y="2485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973568" y="246735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약관DB 상태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973568" y="2759964"/>
            <a:ext cx="363931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완료 · 구성 중 · 미확보. 약관DB가 없는 상품은 답이 부정확할 수 있어요.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7589520" y="32613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589520" y="3261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973568" y="324307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안내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973568" y="3535680"/>
            <a:ext cx="363931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"이번 대화에서 활용될 보험 가입 내역이에요… 추가 고객정보를 입력해주시면 더 상세하게 답변해드릴 수 있어요."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589520" y="40370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589520" y="40370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7973568" y="401878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· [보장분석 해줘]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7973568" y="4311396"/>
            <a:ext cx="36393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위 버튼 하나로 전체 그림부터.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7589520" y="46261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589520" y="46261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973568" y="460781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질문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7973568" y="4900422"/>
            <a:ext cx="363931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암진단비를 왜 지금 늘려야 하는지 설명해줘" → 전송(↑).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7589520" y="540181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7589520" y="54018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7973568" y="538353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7973568" y="5676138"/>
            <a:ext cx="36393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 · 사용중인 정보 수정 · 요약 리포트.</a:t>
            </a:r>
            <a:endParaRPr lang="en-US" sz="98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61630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예시 화면이라 안내 문장의 고객 이름이 담당 고객과 다를 수 있어요. 실제 화면에는 같은 고객이 보여요.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동의 상태별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상태에 따라 오른쪽 패널의 다음 행동이 달라져요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D-n이면 맞춤대화 시작, 동의 필요면 그 자리에서 알림톡 요청, 철회면 정보 확인 불가. 세 가지뿐이에요.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D-30 · 유효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471377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/tmp/claude-0/-home-user-MeAI/f5d765e8-a442-5f2c-87c4-ad64e47ba212/scratchpad/build/img/30_right_panel_kimdoyun_0adf07f7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2471377" cy="2834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49560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 두 가지 + [보장분석] + [이 고객으로 맞춤대화 시작]. 바로 시작해요.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 · 만료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2827826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/tmp/claude-0/-home-user-MeAI/f5d765e8-a442-5f2c-87c4-ad64e47ba212/scratchpad/build/img/32_right_panel_kimminsu_851579af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011680"/>
            <a:ext cx="2827826" cy="2834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7680" y="49560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일반대화용 질문 + [보장분석] + [사전조회동의 요청하기]. 안내 문구: 사전조회동의를 받아야 맞춤대화를 시작할 수 있습니다. 위 버튼 선택 시 고객의 휴대폰 번호를 입력하는 팝업이 열립니다.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철회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2011680"/>
            <a:ext cx="3566160" cy="1237415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/tmp/claude-0/-home-user-MeAI/f5d765e8-a442-5f2c-87c4-ad64e47ba212/scratchpad/build/img/34_right_panel_kimboram_536d51115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11680"/>
            <a:ext cx="3566160" cy="12374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46720" y="3358823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동의가 철회되어 정보를 확인할 수 없는 고객입니다." 버튼이 없어요. 새 동의 없이는 진행할 수 없어요.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5943600"/>
            <a:ext cx="11094415" cy="411480"/>
          </a:xfrm>
          <a:prstGeom prst="roundRect">
            <a:avLst>
              <a:gd name="adj" fmla="val 2666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603504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"사전조회 동의 필요" 고객이 대문 숫자로 186명이라면, 그 186명이 이번 달 동의 캠페인 목록이에요. 만료된 고객은 [사전조회동의 요청하기]로, 만료가 가까운 고객(D-n)은 만료 전에 미리 안내해요.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검색 · 필터 · 페이지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이름으로도, 조건으로도 찾아요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검색창을 누르면 추천 속성이, 조건을 치면 연관검색어가 떠요. 목록 위 [전체]는 동의 조건 필터예요.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1360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search_attr_crop_05e28345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40680" cy="13601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1089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검색창을 누르면 · 추천 속성: 암진단비 · 실손 · 상령일 · 자동차 · 부담보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440680" cy="2167051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search_suggest_crop_7b8bd2fb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40680" cy="21670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39319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"암진단비"를 치면 · 연관검색어: 없음 / 1천만원 이하 / 2천만원 이하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48640" y="4206240"/>
            <a:ext cx="2011680" cy="1915886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tmp/claude-0/-home-user-MeAI/f5d765e8-a442-5f2c-87c4-ad64e47ba212/scratchpad/build/img/55_filter_dropdown_open_eb3176ef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2011680" cy="191588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43200" y="42245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27432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3127248" y="420624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[전체] 드롭다운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3127248" y="4498848"/>
            <a:ext cx="28620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· 사전조회동의 · 상품소개동의. 동의 조건으로 걸러요.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2743200" y="496290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2743200" y="49629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3127248" y="494461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N명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3127248" y="5237226"/>
            <a:ext cx="28620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검색하면 그룹 대신 "검색 결과 8명"처럼 제목이 바뀌어요.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2743200" y="57012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2743200" y="57012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3127248" y="568299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3127248" y="5975604"/>
            <a:ext cx="28620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아래 ‹ 1 2 › 로 넘겨요.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>
            <a:off x="6217920" y="4297680"/>
            <a:ext cx="4798771" cy="1463040"/>
          </a:xfrm>
          <a:prstGeom prst="roundRect">
            <a:avLst>
              <a:gd name="adj" fmla="val 65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3" descr="/tmp/claude-0/-home-user-MeAI/f5d765e8-a442-5f2c-87c4-ad64e47ba212/scratchpad/build/img/53_search_no_result_ea80fa098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97680"/>
            <a:ext cx="4798771" cy="1463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17920" y="577900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없으면 "검색 결과가 없습니다. 다른 이름이나 속성으로 찾아보세요."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그룹 활용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하나가 곧 이번 주 연락 목록이에요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쓰게 될 네 그룹이에요. 월초·매주·매달·수시로 나눠 습관으로 만들어요.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6596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월초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영업 타겟 7명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1. 당월 회사 전략 담보(수술비·표적항암 등) 대상이에요. 월초 조회에서 이 그룹을 먼저 열어 보세요. 카드에 적힌 추천 이유를 첫마디로 쓰면 돼요.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73736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6596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93592" y="196596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임박 11명 · 생일 임박 7명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108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안에 보험 나이가 오르는 고객. 보험료가 오르기 전에 점검해 드린다는 말로 시작해요. 생일은 축하 인사로 대화를 열어요.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196596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196596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매달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사전동의 만료 35명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3108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만료된 고객은 [사전조회동의 요청하기]로 재동의를 받고, 만료가 가까운 고객은 미리 안내해요. 대문 숫자 "사전조회 동의 필요"와 함께 봐요.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97696" y="173736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26296" y="196596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26296" y="196596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등록 고객 4명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31089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"AI가 이 고객을 분석하고 있어요" · 상세 정보는 다음 날 반영. 지금 보려면 [이 고객으로 맞춤대화 시작]을 눌러요.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7492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그룹은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"무엇이 부족한가"로 묶여요. 암·뇌·심진단비 부족, 표적항암·종수술비 부족, 지원일당 없음, 치아 부족. 이번 달 주력 상품이 정해지면 그 담보의 그룹부터 열어 보세요. 인원 숫자는 예시이고 매일 새로 계산돼요.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사전조회 동의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공지는 게시판에서, 동의는 알림톡 요청으로. 대문 오른쪽 위 버튼 두 개만 알면 돼요.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목록과 글 상세 · 새 글 빨간 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동의가 왜 먼저인지 · 요청부터 반영까지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[고객 동의] 버튼과 [사전조회동의 요청하기]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게시판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 · 이슈 · 기능안내, 게시판 한 곳에서 봐요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878286" cy="50292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MeAI/f5d765e8-a442-5f2c-87c4-ad64e47ba212/scratchpad/build/img/board_list_crop_1f23b228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78286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88474" y="143038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488474" y="14303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58246" y="143038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558246" y="14303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7423" y="2096589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07423" y="20965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48594" y="188758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448594" y="18875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00600" y="188758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00600" y="18875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697480" y="600891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697480" y="60089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78240" y="1344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77824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162288" y="13258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필터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1618488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· 공지사항 · 이슈 · 기능안내.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778240" y="191833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778240" y="19183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162288" y="1900047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62288" y="2192655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최신순이 기본, 조회순으로 바꿀 수 있어요.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778240" y="24925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778240" y="24925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162288" y="247421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표시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62288" y="2766822"/>
            <a:ext cx="249631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공지사항(파랑) · 이슈(노랑) · 기능안내(초록).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778240" y="32476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778240" y="3247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162288" y="322935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핀 · NEW · 첨부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162288" y="3521964"/>
            <a:ext cx="249631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핀은 고정 글(항상 맨 위), NEW는 7일 이내 새 글, 클립은 첨부 수.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778240" y="400278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778240" y="40027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162288" y="398449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· 조회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162288" y="4277106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게시일과 조회수.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778240" y="457695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778240" y="45769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9162288" y="4558665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162288" y="4851273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쪽 6건. ‹ 1 2 › 로 넘겨요.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778240" y="512064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006840" y="52120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홈]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왼쪽 위 빨간 [MeAI 홈] 버튼으로 대문에 돌아가요. 오른쪽에는 "게시판 · MeAI 공지와 활용 안내를 확인하세요" 제목이 있어요.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글 상세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누르면 본문과 첨부파일이 열려요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오픈 안내, 동의 절차 변경, 고객찾기 사용 방법처럼 꼭 읽어야 할 공지가 올라와요.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41075" cy="4572000"/>
          </a:xfrm>
          <a:prstGeom prst="roundRect">
            <a:avLst>
              <a:gd name="adj" fmla="val 24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board_detail_crop_67862033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641075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1898" y="169095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11898" y="16909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27301" y="245068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027301" y="24506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4352" y="364713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84352" y="36471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32101" y="49664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332101" y="4966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162943" y="578528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162943" y="57852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008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169164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 목록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1984248"/>
            <a:ext cx="48280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목록으로 돌아가요. 분류·정렬 상태는 그대로 유지돼요.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23027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0" y="2302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22844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· 제목 · NEW · 날짜 · 조회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2577084"/>
            <a:ext cx="48280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앞 핀은 고정 글이에요.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0" y="28956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400800" y="2895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28773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84848" y="3169920"/>
            <a:ext cx="4828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"맞춤대화는 고객을 먼저 선택해야 시작되며, 사전조회동의가 없는 고객은 동의를 받은 뒤 진행할 수 있습니다." 같은 운영 기준이 여기 적혀요.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00800" y="36789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400800" y="3678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784848" y="3660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784848" y="3953256"/>
            <a:ext cx="48280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바로 내려받아요(PDF·엑셀·PPT·워드·한글). 파일명·용량이 함께 보여요.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0" y="4462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0080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784848" y="4443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글 · 다음 글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784848" y="4736592"/>
            <a:ext cx="482803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목록으로 나가지 않고 이어서 읽어요.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00800" y="489204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29400" y="49834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점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글이 올라오면 대문 오른쪽 위 [게시판] 버튼에 빨간 점이 붙어요. 아침에 대문을 열 때 점이 보이면 먼저 읽어 두세요. 이슈(응답 지연·결과 누락 조치)는 여기서 확인해요.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사전조회 동의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있어야 맞춤대화가 열려요. 요청은 알림톡 한 통이면 돼요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고객의 보장 내역을 읽어서 답해요. 그 내역을 보려면 사전조회 동의가 필요해요.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057949" cy="1783080"/>
          </a:xfrm>
          <a:prstGeom prst="roundRect">
            <a:avLst>
              <a:gd name="adj" fmla="val 717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87452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3055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요청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2432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[고객 동의] 또는 고객찾기 [사전조회동의 요청하기]에 휴대폰 번호 입력 → [보내기].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88301" y="24003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07757" y="1691640"/>
            <a:ext cx="2057949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08925" y="187452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008925" y="213055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동의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008925" y="262432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안내 문자에서 동의를 완료하면 상태가 바뀌어요.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7417" y="24003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6873" y="1691640"/>
            <a:ext cx="2057949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68041" y="187452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268041" y="213055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15분 · D-n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68041" y="262432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준실시간(약 15분 내외) 반영. 동의일로부터 1년 동안 D-n으로 보여요.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106534" y="24003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5990" y="1691640"/>
            <a:ext cx="2057949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27158" y="187452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전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527158" y="213055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재요청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527158" y="262432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[사전동의 만료] 그룹과 대문 "사전조회 동의 필요" 숫자로 챙겨요.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65651" y="24003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85107" y="1691640"/>
            <a:ext cx="2057949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86275" y="1874520"/>
            <a:ext cx="1692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786275" y="2130552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확인 불가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86275" y="262432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철회하면 회색으로 표시되고 정보 확인이 막혀요.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3566160" cy="1951932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0" descr="/tmp/claude-0/-home-user-MeAI/f5d765e8-a442-5f2c-87c4-ad64e47ba212/scratchpad/build/img/12_consent_modal_cbda4db2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3566160" cy="195193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48640" y="5687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[고객 동의] → 팝업 · 번호를 넣으면 [보내기]가 켜져요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297680" y="3703320"/>
            <a:ext cx="2234895" cy="2240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1" descr="/tmp/claude-0/-home-user-MeAI/f5d765e8-a442-5f2c-87c4-ad64e47ba212/scratchpad/build/img/32_right_panel_kimminsu_851579af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703320"/>
            <a:ext cx="2234895" cy="224028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4297680" y="5961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· 동의 필요 고객의 [사전조회동의 요청하기]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046720" y="3703320"/>
            <a:ext cx="3593592" cy="482067"/>
          </a:xfrm>
          <a:prstGeom prst="roundRect">
            <a:avLst>
              <a:gd name="adj" fmla="val 14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2" descr="/tmp/claude-0/-home-user-MeAI/f5d765e8-a442-5f2c-87c4-ad64e47ba212/scratchpad/build/img/consent_toast_crop_bc2c39ed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03320"/>
            <a:ext cx="3593592" cy="48206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046720" y="4370832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뒤 알림 · 고객에게 사전조회동의 요청 알림톡을 발송했습니다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8046720" y="480060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275320" y="489204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상품소개 동의  </a:t>
            </a:r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고객은 상품 제안이 가능해요. 대문 숫자 "상품제안 가능"이 이 고객 수이고, 카드에 "AI 추천 고객" 리본이 붙어요.</a:t>
            </a:r>
            <a:endParaRPr lang="en-US" sz="9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이어가기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맞춤대화와 새 기능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대문에서 들어온 대화 화면이에요. 새로 추가되는 용어 설명과 모드 변경까지 함께 익혀요.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대화의 차이 · PC 대화 화면 구성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용어 설명 · NEW 모드 변경(간편/상세) · 상품 선택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· 질문 더보기 · 요약 리포트 → 카카오톡 · 모바일 진입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두 가지 대화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맞춤대화, 두 가지만 구분하면 돼요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않고 묻는 대화와, 특정 고객의 보장분석을 옆에 두고 하는 대화예요.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4023360"/>
          </a:xfrm>
          <a:prstGeom prst="roundRect">
            <a:avLst>
              <a:gd name="adj" fmla="val 363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889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88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 개념 질문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729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729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보장 비교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5570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570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설득 화법 만들기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410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41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지식 확인 · 여러 고객용 안내 문안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대문 [일반대화] 카드 · 고객찾기 오른쪽 "일반대화용" 추천 질문 · 모바일 고객 목록 상단 [MeAI 일반대화]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5440680" cy="4023360"/>
          </a:xfrm>
          <a:prstGeom prst="roundRect">
            <a:avLst>
              <a:gd name="adj" fmla="val 3636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고객에게 무엇을 제안할 것인가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7889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788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선택 → 보장분석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1729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1729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보장 · 제안 우선순위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5570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5570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· 가계약 요청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9410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41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대문 [맞춤대화] 카드 → 고객 검색 팝업 · 고객찾기 [이 고객으로 맞춤대화 시작] · 모바일 고객 카드 [MeAI]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1094415" cy="411480"/>
          </a:xfrm>
          <a:prstGeom prst="roundRect">
            <a:avLst>
              <a:gd name="adj" fmla="val 2666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603504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일반대화로 감을 익히고, 고객을 만나기 전에는 꼭 맞춤대화로 준비하세요. 대문 이후로는 맞춤대화가 고객이 정해진 상태로 열려요.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PC 맞춤대화 화면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메뉴, 가운데는 대화, 아래는 입력창. 세 덩어리예요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01000" cy="5000625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MeAI/f5d765e8-a442-5f2c-87c4-ad64e47ba212/scratchpad/build/img/term_pc_full_eaf2f0f3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01000" cy="5000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04492" y="203165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904492" y="20316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04492" y="286508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904492" y="2865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04492" y="383743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904492" y="3837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26630" y="554875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226630" y="55487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16117" y="132045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016117" y="13204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842" y="236502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926842" y="23650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926842" y="394855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926842" y="39485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49630" y="520427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49630" y="5204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926842" y="561543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926842" y="5615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1344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77824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162288" y="13258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고객 · 동의 남은 일수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162288" y="1618488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"이민호님 · 보장분석 동의 79일 남음".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778240" y="1909191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778240" y="19091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162288" y="1890903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162288" y="2183511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약관 원문과 화면 안내.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778240" y="247421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778240" y="24742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162288" y="245592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 (월별)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162288" y="2748534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대화를 눌러 이어가요.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778240" y="303923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8778240" y="30392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9162288" y="3020949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162288" y="3313557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바뀌면 새 대화.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778240" y="36042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778240" y="36042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9162288" y="358597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 3개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162288" y="3878580"/>
            <a:ext cx="249631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 · 사용중인 정보 수정 · 요약 리포트.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778240" y="435025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8778240" y="43502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9162288" y="433197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9162288" y="4624578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복사·편집·저장 아이콘이 붙어요.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778240" y="4915281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8778240" y="49152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9162288" y="4896993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162288" y="5189601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갖춰진 것 → 비어 있는 것 → 할 일 순서.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778240" y="54803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8778240" y="5480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9162288" y="54620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[용어] 버튼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9162288" y="5754624"/>
            <a:ext cx="249631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위. 이 파트의 용어 설명 장에서 자세히.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8778240" y="62263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9" name="Text 56"/>
          <p:cNvSpPr txBox="1"/>
          <p:nvPr/>
        </p:nvSpPr>
        <p:spPr>
          <a:xfrm>
            <a:off x="8778240" y="62263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9162288" y="620801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9162288" y="6500622"/>
            <a:ext cx="249631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"궁금한 점을 자유롭게 질문해 주세요".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맞춤대화 시작 화면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맞춤대화가 열리면 고객 정보와 분석할 상품부터 정해요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613991" cy="5029200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MeAI/f5d765e8-a442-5f2c-87c4-ad64e47ba212/scratchpad/build/img/custom_start_full_d2ef4974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13991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43088" y="178251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43088" y="1782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25536" y="148621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225536" y="14862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25536" y="230102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225536" y="23010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25536" y="300277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225536" y="300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25536" y="411777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225536" y="41177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21429" y="410218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921429" y="41021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25536" y="472206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225536" y="47220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25536" y="529515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225536" y="5295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1344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13258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고객 · 보장분석 동의 남은 일수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784848" y="1618488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"김도윤님 · 79일 남음". 고객이 정해진 채로 열렸다는 표시예요.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400800" y="192405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400800" y="19240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84848" y="190576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고객 정보를 입력하세요 (미입력)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6784848" y="2198370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 정보를 미리 설정하고 시작하면 고객의 맥락을 고려한 답변을 할 수 있습니다."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6400800" y="250393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400800" y="2503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784848" y="248564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칸, 아는 것만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784848" y="2778252"/>
            <a:ext cx="482803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· 병력 · 가족력 · 설계사 희망 보험료 · 메모. 병력과 가족력이 답의 방향을 가장 크게 바꿔요. 이름·연락처 같은 개인정보는 넣지 않아요.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6400800" y="32705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400800" y="3270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784848" y="325221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[입력하지 않고 넘어가기] · [입력 완료]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3544824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비워도 대화는 돼요. 채웠으면 꼭 [입력 완료]를 눌러야 반영돼요.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6400800" y="385038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6400800" y="38503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84848" y="383209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정상 계약의 총 보험료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6784848" y="4124706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매달 이만큼 내고 계세요"로 대화를 열 수 있는 숫자예요.</a:t>
            </a:r>
            <a:endParaRPr lang="en-US" sz="980" dirty="0"/>
          </a:p>
        </p:txBody>
      </p:sp>
      <p:sp>
        <p:nvSpPr>
          <p:cNvPr id="44" name="Shape 41"/>
          <p:cNvSpPr/>
          <p:nvPr/>
        </p:nvSpPr>
        <p:spPr>
          <a:xfrm>
            <a:off x="6400800" y="44302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400800" y="44302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784848" y="44119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약관DB 구성 완료 · 구성 중 · 미확보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6784848" y="4704588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옆 점 색. 약관DB가 없는 상품은 답이 부정확할 수 있어요.</a:t>
            </a:r>
            <a:endParaRPr lang="en-US" sz="980" dirty="0"/>
          </a:p>
        </p:txBody>
      </p:sp>
      <p:sp>
        <p:nvSpPr>
          <p:cNvPr id="48" name="Shape 45"/>
          <p:cNvSpPr/>
          <p:nvPr/>
        </p:nvSpPr>
        <p:spPr>
          <a:xfrm>
            <a:off x="6400800" y="501015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6400800" y="50101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784848" y="499186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버튼으로 걸러요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6784848" y="5284470"/>
            <a:ext cx="482803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· 뇌/심장 · 치료비 · 수술비 · 입원일당 · 실비 · 운전자 · 치매/간병 · 사망/후유장해.</a:t>
            </a:r>
            <a:endParaRPr lang="en-US" sz="980" dirty="0"/>
          </a:p>
        </p:txBody>
      </p:sp>
      <p:sp>
        <p:nvSpPr>
          <p:cNvPr id="52" name="Shape 49"/>
          <p:cNvSpPr/>
          <p:nvPr/>
        </p:nvSpPr>
        <p:spPr>
          <a:xfrm>
            <a:off x="6400800" y="577672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6400800" y="57767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784848" y="575843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목록 · 전체 선택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6784848" y="6051042"/>
            <a:ext cx="482803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전체 선택. 이번 상담과 관계없는 계약은 체크를 풀면 분석에서 빠져요.</a:t>
            </a:r>
            <a:endParaRPr lang="en-US" sz="9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답변 읽는 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"잘 갖춰진 것 → 비어 있는 것 → 이제 할 일" 순서로 와요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 보험 어디가 부족한지 알려줘" 한 마디에 대한 실제 답변이에요. 왼쪽이 앞부분, 오른쪽이 뒷부분이에요.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06080" cy="406908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term_answer_top_0685433c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060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91640"/>
            <a:ext cx="5440680" cy="3671625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tmp/claude-0/-home-user-MeAI/f5d765e8-a442-5f2c-87c4-ad64e47ba212/scratchpad/build/img/term_answer_bottom_c4b60eae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40680" cy="3671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1901" y="242038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71901" y="2420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71901" y="383316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71901" y="38331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71901" y="508969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71901" y="50896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47787" y="1955021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347787" y="19550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347787" y="412461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347787" y="41246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347787" y="499245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347787" y="499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48640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548640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77824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결론이 곧 상담 주제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397709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2397709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2726893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갖춰진 것 → 안심시키는 말부터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246778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4246778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4575962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것 → 제안 주제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095848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6095848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6425032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"미가입" 두 줄이 제안 포인트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7944917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944917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274101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하면 되는 일 → 다음 행동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9793986" y="587044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9793986" y="5870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10123170" y="5852160"/>
            <a:ext cx="1465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 설명 N] · 복사·출처·좋아요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NEW 용어 설명 (PC)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용어가 나오면 [용어] 버튼 하나로 바로 풀려요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위 [용어]를 켜면 답변 속 전문용어에 표시가 붙고, 답변 끝 [용어 설명 N]에서 뜻을 한꺼번에 볼 수 있어요.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50375" y="384048"/>
            <a:ext cx="2392680" cy="27432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50375" y="384048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진행 중 · 오픈 시 세부 변경 가능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94960" cy="1383323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tmp/claude-0/-home-user-MeAI/f5d765e8-a442-5f2c-87c4-ad64e47ba212/scratchpad/build/img/term_pc_input_z_d3931b0e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138332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1089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위 [용어] 버튼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5094514" cy="27432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/tmp/claude-0/-home-user-MeAI/f5d765e8-a442-5f2c-87c4-ad64e47ba212/scratchpad/build/img/term_pc_on_z_d87b0cce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5094514" cy="2743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172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[용어]를 켠 뒤 · 일반암 진단비 · 비급여 · 실손 의료비에 표시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72200" y="1691640"/>
            <a:ext cx="4031218" cy="2606040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/tmp/claude-0/-home-user-MeAI/f5d765e8-a442-5f2c-87c4-ad64e47ba212/scratchpad/build/img/14_pc_glossary6_open_dcf4b965c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4031218" cy="2606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43159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 설명 6]을 누르면 · 용어와 뜻이 목록으로. "용어를 누르면 본문 위치로 이동해요"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72200" y="4617720"/>
            <a:ext cx="2377440" cy="1229710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/tmp/claude-0/-home-user-MeAI/f5d765e8-a442-5f2c-87c4-ad64e47ba212/scratchpad/build/img/term_tooltip_crop_d1560a2d0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617720"/>
            <a:ext cx="2377440" cy="122971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72200" y="5870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표시된 용어를 누르면 뜻이 떠요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732520" y="4617720"/>
            <a:ext cx="2880360" cy="1600200"/>
          </a:xfrm>
          <a:prstGeom prst="roundRect">
            <a:avLst>
              <a:gd name="adj" fmla="val 685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961120" y="47091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비급여가 뭐냐고 물으면 [용어 설명]의 문장을 그대로 읽어 주세요. 예: 건강보험이 적용되지 않아 병원비 전액을 환자가 직접 부담해야 하는 치료. 고객 눈높이 문장이에요.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NEW 용어 설명 (모바일)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모바일에서는 화면 오른쪽 아래 [용어] 버튼이에요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PC와 같아요. 위치만 달라요. 엄지로 닿는 자리에 있어요.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50375" y="384048"/>
            <a:ext cx="2392680" cy="27432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50375" y="384048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진행 중 · 오픈 시 세부 변경 가능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900" dirty="0"/>
          </a:p>
        </p:txBody>
      </p:sp>
      <p:pic>
        <p:nvPicPr>
          <p:cNvPr id="9" name="Image 0" descr="/tmp/claude-0/-home-user-MeAI/f5d765e8-a442-5f2c-87c4-ad64e47ba212/scratchpad/final/hero/term_mo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881" y="1691640"/>
            <a:ext cx="2077278" cy="4343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화면 · 오른쪽 아래 [용어]</a:t>
            </a:r>
            <a:endParaRPr lang="en-US" sz="950" dirty="0"/>
          </a:p>
        </p:txBody>
      </p:sp>
      <p:pic>
        <p:nvPicPr>
          <p:cNvPr id="11" name="Image 1" descr="/tmp/claude-0/-home-user-MeAI/f5d765e8-a442-5f2c-87c4-ad64e47ba212/scratchpad/final/hero/term_mo_phone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521" y="1691640"/>
            <a:ext cx="2077278" cy="4343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[용어]를 켜면 용어에 표시</a:t>
            </a:r>
            <a:endParaRPr lang="en-US" sz="950" dirty="0"/>
          </a:p>
        </p:txBody>
      </p:sp>
      <p:pic>
        <p:nvPicPr>
          <p:cNvPr id="13" name="Image 2" descr="/tmp/claude-0/-home-user-MeAI/f5d765e8-a442-5f2c-87c4-ad64e47ba212/scratchpad/final/term/70_mo_glossary6_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99" y="1691640"/>
            <a:ext cx="2068801" cy="4343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 [용어 설명 6]을 펼친 목록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91440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91440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9528048" y="16916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PC는 입력창 오른쪽 위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528048" y="1984248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화면 오른쪽 아래. 같은 아이콘이에요.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44000" y="251079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144000" y="25107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9528048" y="249250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켜고 끄기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9528048" y="2785110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누르면 표시, 다시 누르면 원래대로.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144000" y="33116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9144000" y="33116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528048" y="329336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목록으로 보기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9528048" y="3585972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 [용어 설명 N]을 누르면 용어와 뜻을 한 번에.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144000" y="411251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9144000" y="41125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9528048" y="409422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그대로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9528048" y="4386834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뜻풀이는 고객 눈높이 문장이라 읽어 주기만 하면 돼요.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NEW 모드 변경 (PC)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"간편 분석"과 "상세 분석"을 골라요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아래 [간편 분석] 버튼을 누르면 두 가지 중 고를 수 있어요. 고객 앞에서는 간편, 약관을 따질 때는 상세. 질문할 때마다 바꿔도 돼요.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50375" y="384048"/>
            <a:ext cx="2392680" cy="27432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50375" y="384048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진행 중 · 오픈 시 세부 변경 가능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126480" cy="3691597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tmp/claude-0/-home-user-MeAI/f5d765e8-a442-5f2c-87c4-ad64e47ba212/scratchpad/build/img/mode_pc_dropdown_z_6b612d50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126480" cy="369159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4406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[간편 분석 ⌄]을 누르면 두 가지가 펼쳐져요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949440" y="5166360"/>
            <a:ext cx="4663440" cy="376662"/>
          </a:xfrm>
          <a:prstGeom prst="roundRect">
            <a:avLst>
              <a:gd name="adj" fmla="val 2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/tmp/claude-0/-home-user-MeAI/f5d765e8-a442-5f2c-87c4-ad64e47ba212/scratchpad/build/img/24_pc_zoom_mode_notice_36d30f9c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5166360"/>
            <a:ext cx="4663440" cy="3766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49440" y="1691640"/>
            <a:ext cx="4663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178040" y="18928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 분석 · 고객 상담 · 직관적 검토용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보험 용어를 일상 언어로 풀어서 보여줍니다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178040" y="25328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설정이에요. 고객과 함께 보는 화면, 첫 상담, 안내 문안 만들기에 맞아요.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49440" y="3429000"/>
            <a:ext cx="4663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178040" y="36301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분석 · 약관 · 담보 정밀 검토용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금액, 지급 조건, 세부 담보를 전문적으로 비교합니다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178040" y="427024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근거를 확인하거나 자사·타사 담보를 숫자로 비교할 때. 리모델링 판단에 맞아요.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5715000"/>
            <a:ext cx="11094415" cy="502920"/>
          </a:xfrm>
          <a:prstGeom prst="roundRect">
            <a:avLst>
              <a:gd name="adj" fmla="val 218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240" y="58064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끝에 "지금부터 상세 분석 모드로 답변합니다" 안내줄이 붙고, 다음 질문부터 그 모드로 답해요. 옆의 [상품 선택]은 분석할 상품을 고르는 버튼이에요(세부 화면은 오픈 시 안내).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NEW 모드 변경 (모바일)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모바일에서도 입력창 아래 같은 자리에 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[간편 분석] 버튼을 누르면 아래에서 "분석 모드" 선택창이 올라와요. 고르면 선택창이 닫히고 다음 질문부터 그 모드로 답해요.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50375" y="384048"/>
            <a:ext cx="2392680" cy="27432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50375" y="384048"/>
            <a:ext cx="239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진행 중 · 오픈 시 세부 변경 가능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900" dirty="0"/>
          </a:p>
        </p:txBody>
      </p:sp>
      <p:pic>
        <p:nvPicPr>
          <p:cNvPr id="9" name="Image 0" descr="/tmp/claude-0/-home-user-MeAI/f5d765e8-a442-5f2c-87c4-ad64e47ba212/scratchpad/final/hero/mode_mo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881" y="1691640"/>
            <a:ext cx="2077278" cy="4343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아래 [간편 분석] · [상품 선택]</a:t>
            </a:r>
            <a:endParaRPr lang="en-US" sz="950" dirty="0"/>
          </a:p>
        </p:txBody>
      </p:sp>
      <p:pic>
        <p:nvPicPr>
          <p:cNvPr id="11" name="Image 1" descr="/tmp/claude-0/-home-user-MeAI/f5d765e8-a442-5f2c-87c4-ad64e47ba212/scratchpad/final/hero/mode_mo_phone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521" y="1691640"/>
            <a:ext cx="2077278" cy="4343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"분석 모드" 선택창 · 간편 / 상세</a:t>
            </a:r>
            <a:endParaRPr lang="en-US" sz="950" dirty="0"/>
          </a:p>
        </p:txBody>
      </p:sp>
      <p:pic>
        <p:nvPicPr>
          <p:cNvPr id="13" name="Image 2" descr="/tmp/claude-0/-home-user-MeAI/f5d765e8-a442-5f2c-87c4-ad64e47ba212/scratchpad/final/mode/47_mo_mode_detail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99" y="1691640"/>
            <a:ext cx="2068801" cy="4343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6053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분석 선택 뒤 · 버튼과 안내줄이 바뀌어요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91440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91440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9528048" y="169164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누르면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528048" y="1984248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"분석 모드" 선택창이 올라와요. 체크가 현재 모드예요.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44000" y="251079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144000" y="25107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9528048" y="249250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고르면 끝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9528048" y="2785110"/>
            <a:ext cx="2130552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선택창이 닫히고 버튼 이름이 "상세 분석"으로 바뀌어요. 대화에는 지금부터 상세 분석 모드로 답변한다는 안내줄이 붙어요.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144000" y="36736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9144000" y="36736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528048" y="365531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바꿔도 돼요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9528048" y="3947922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앞에서는 간편, 약관을 따질 땐 상세. 되돌리면 안내줄이 다시 붙어요.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144000" y="44744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9144000" y="4474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9528048" y="445617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· 전송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9528048" y="4748784"/>
            <a:ext cx="21305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마이크로 말하고, 글자가 들어가면 전송 버튼이 켜져요.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답변 아래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오면, 꼬리질문 버튼으로 이어가세요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MeAI가 다음 질문 3개를 미리 만들어 둬요. 타이핑 없이 버튼만 누르면 대화가 깊어져요.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83927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mode_pc_bottom2_z_cbbc2c6e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483927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065" y="176063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10065" y="17606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065" y="281635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10065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065" y="401338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10065" y="40133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065" y="494441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10065" y="49444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065" y="536004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10065" y="53600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8096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6809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06500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아이콘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065008" y="1984248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출처 · 좋아요 · 싫어요. 복사로 답을 메모장이나 카톡에 옮겨요. 출처로 근거를 확인해요.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7680960" y="24856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680960" y="2485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065008" y="24673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3개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065008" y="2759964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흐름을 읽고 다음 질문을 제안해요. 누르면 그 질문이 바로 전송돼요.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7680960" y="32613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680960" y="3261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065008" y="32430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더보기 (프롬프트 라이브러리)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065008" y="3535680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만들어 둔 질문 모음이에요. 추천 · 최신 · 나의 질문 탭에서 골라 [이 질문 사용하기].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7680960" y="40370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680960" y="40370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065008" y="40187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065008" y="4311396"/>
            <a:ext cx="354787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쓰거나(모바일은 마이크) 그대로 보내요.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7680960" y="462610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7680960" y="46261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065008" y="460781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모드 · 상품 선택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065008" y="4900422"/>
            <a:ext cx="354787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간편/상세를 고르고 분석할 상품을 좁혀요.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7680960" y="49834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09560" y="5074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중요할까요?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하나만 쓴 분보다 두 개 이상 이어 쓴 분의 가계약이 2.3배였어요(2026.08). 버튼 한 번 더가 차이를 만들어요.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요약 리포트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→ 선택·편집 → 리포트 생성 → 카카오톡 도착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 하나로 상담부터 발송까지 끝나요. PC에서는 오른쪽 위 [요약 리포트] 버튼이에요.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900" dirty="0"/>
          </a:p>
        </p:txBody>
      </p:sp>
      <p:pic>
        <p:nvPicPr>
          <p:cNvPr id="7" name="Image 0" descr="/tmp/claude-0/-home-user-MeAI/f5d765e8-a442-5f2c-87c4-ad64e47ba212/scratchpad/final/legacy/report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493" y="1691640"/>
            <a:ext cx="1776054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3949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376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버튼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678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화면 상단 [요약 생성]. 대화가 어느 정도 쌓인 뒤가 좋아요.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127248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13" name="Image 1" descr="/tmp/claude-0/-home-user-MeAI/f5d765e8-a442-5f2c-87c4-ad64e47ba212/scratchpad/final/legacy/report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845" y="1691640"/>
            <a:ext cx="1776054" cy="3611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64992" y="53949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364992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3730752" y="5376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질문·답변 선택 → 편집하기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364992" y="5678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 넣을 답변만 체크해요. 내부 판단용 답변은 빼요.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594360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19" name="Image 2" descr="/tmp/claude-0/-home-user-MeAI/f5d765e8-a442-5f2c-87c4-ad64e47ba212/scratchpad/final/legacy/report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197" y="1691640"/>
            <a:ext cx="1776054" cy="3611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81344" y="53949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181344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547104" y="5376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생성하기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181344" y="5678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"완료되면 카카오톡으로 다운로드 링크가 전송됩니다" 안내가 떠요.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8759952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25" name="Image 3" descr="/tmp/claude-0/-home-user-MeAI/f5d765e8-a442-5f2c-87c4-ad64e47ba212/scratchpad/final/hero/report_kakao_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691640"/>
            <a:ext cx="2651760" cy="2219769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997696" y="53949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997696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363456" y="5376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알림톡 도착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97696" y="5678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"MeAI 요약레포트 안내" [요약레포트 확인하기]. 열람 기간 D+7일. (이름은 가렸어요)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18134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모바일 화면(2026.06, v3 가이드북과 같은 캡처) · 리포트에는 "AI로 생성된 보조자료입니다" 문구가 표시돼요. 보내기 전 숫자·약관 근거·개인정보를 확인하세요.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모바일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핸드폰에서는 앱 홈 → 보장분석 → MeAI, 세 번 터치예요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대문·고객찾기·게시판은 PC 오픈 뒤 순차 적용 예정이에요. 우선 PC 대문에서 시작하고, 현장에서는 모바일로 이어가세요.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900" dirty="0"/>
          </a:p>
        </p:txBody>
      </p:sp>
      <p:pic>
        <p:nvPicPr>
          <p:cNvPr id="7" name="Image 0" descr="/tmp/claude-0/-home-user-MeAI/f5d765e8-a442-5f2c-87c4-ad64e47ba212/scratchpad/final/legacy/mobile_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528" y="1691640"/>
            <a:ext cx="2142785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앱 홈 · [보장분석]</a:t>
            </a:r>
            <a:endParaRPr lang="en-US" sz="900" dirty="0"/>
          </a:p>
        </p:txBody>
      </p:sp>
      <p:pic>
        <p:nvPicPr>
          <p:cNvPr id="9" name="Image 1" descr="/tmp/claude-0/-home-user-MeAI/f5d765e8-a442-5f2c-87c4-ad64e47ba212/scratchpad/final/hero/mobile_customer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91640"/>
            <a:ext cx="2194560" cy="4264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8036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③ 고객 목록 · [MeAI 일반대화] · 카드 [MeAI]</a:t>
            </a:r>
            <a:endParaRPr lang="en-US" sz="900" dirty="0"/>
          </a:p>
        </p:txBody>
      </p:sp>
      <p:pic>
        <p:nvPicPr>
          <p:cNvPr id="11" name="Image 2" descr="/tmp/claude-0/-home-user-MeAI/f5d765e8-a442-5f2c-87c4-ad64e47ba212/scratchpad/final/mode/55_mo_menu_dra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39" y="1691640"/>
            <a:ext cx="2068801" cy="4343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6053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대화 화면 ≡ 메뉴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749808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4980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7882128" y="16916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홈에서 [보장분석] 아이콘 터치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7882128" y="1984248"/>
            <a:ext cx="37307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가운데 아이콘 묶음의 첫 번째. 여기가 MeAI로 들어가는 문이에요.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498080" y="245592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498080" y="24559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7882128" y="243763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[MeAI 일반대화] = 무엇이든 묻는 창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7882128" y="2730246"/>
            <a:ext cx="373075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위, 고객등록 버튼 옆에 있어요.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498080" y="3020949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498080" y="30209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7882128" y="3002661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= 그 고객 맞춤대화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7882128" y="3295269"/>
            <a:ext cx="37307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보라색 MeAI 버튼을 누르면 그 고객의 보장분석을 옆에 둔 맞춤대화가 열려요.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498080" y="376694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498080" y="37669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7882128" y="3748659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화면의 ≡ 메뉴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882128" y="4041267"/>
            <a:ext cx="3730752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 · 월별 대화 목록, 맨 아래 [영업지원 모바일]로 나가기.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498080" y="470916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726680" y="4800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이력과 저장한 나의 질문은 PC와 모바일에서 똑같이 보여요. 사무실에서 대문으로 준비하고, 현장에서 폰으로 이어가세요.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498080" y="557784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726680" y="5669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상단에 "오늘 보장분석 활용 : N회 (제한 횟수 : 일일 300회)"가 보여요. 하루 한도를 확인하는 곳이에요.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찾아가는 영업의 하루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루틴과 시나리오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3분 루틴, 카드 세 장으로 보는 시나리오, 주간·월간 그룹 루틴, 첫 5일 미션.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3분 · 대문 → 카드 → 고객찾기 → 맞춤대화 → 리포트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3가지 · 카드의 이유가 곧 첫 말이 되는 과정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주간·월간 그룹 루틴 · 첫 5일 미션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아침 3분 루틴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3분, 대문만 열면 오늘 연락할 사람과 첫 말이 정해져요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권해 드리는 아침 루틴이에요. 화면 순서 그대로예요.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51760" cy="4160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12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열기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77678"/>
            <a:ext cx="2194560" cy="885524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tmp/claude-0/-home-user-MeAI/f5d765e8-a442-5f2c-87c4-ad64e47ba212/scratchpad/build/img/gate_top_fde968d3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77678"/>
            <a:ext cx="2194560" cy="8855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4480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MeAI. 숫자 4개를 훑고 게시판 빨간 점을 확인해요.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64992" y="1691640"/>
            <a:ext cx="2651760" cy="4160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593592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93592" y="2212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3장 읽기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885533" y="2651760"/>
            <a:ext cx="1610678" cy="1737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/tmp/claude-0/-home-user-MeAI/f5d765e8-a442-5f2c-87c4-ad64e47ba212/scratchpad/build/img/reco1_card1_0f05115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533" y="2651760"/>
            <a:ext cx="1610678" cy="17373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93592" y="4480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문장과 태그를 읽어요. #이벤트 임박·#당월 타겟부터.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81344" y="1691640"/>
            <a:ext cx="2651760" cy="4160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409944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09944" y="2212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고객찾기에서 열기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9944" y="2851573"/>
            <a:ext cx="2194560" cy="1337733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/tmp/claude-0/-home-user-MeAI/f5d765e8-a442-5f2c-87c4-ad64e47ba212/scratchpad/build/img/find_card_z_8d8ac58d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51573"/>
            <a:ext cx="2194560" cy="133773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09944" y="4480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펼친 카드의 한눈에 보기 6칸으로 상황 파악, 추천 질문을 복사해요.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997696" y="1691640"/>
            <a:ext cx="2651760" cy="4160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9226296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226296" y="2212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→ 리포트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9527286" y="2651760"/>
            <a:ext cx="1592580" cy="1737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/tmp/claude-0/-home-user-MeAI/f5d765e8-a442-5f2c-87c4-ad64e47ba212/scratchpad/build/img/find_right_z_a14c31d64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286" y="2651760"/>
            <a:ext cx="1592580" cy="17373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26296" y="4480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 → "보장분석 해줘" → 꼬리질문 → 요약 리포트를 카카오톡으로.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48640" y="5989320"/>
            <a:ext cx="11094415" cy="411480"/>
          </a:xfrm>
          <a:prstGeom prst="roundRect">
            <a:avLst>
              <a:gd name="adj" fmla="val 2666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60807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카드의 이유 문장은 고객에게 하는 첫 말, 고객찾기의 추천 질문은 MeAI에게 하는 첫 질문. 두 문장이 준비돼 있으니 망설일 이유가 없어요.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시나리오 1 · 이벤트 임박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 해제가 5일 남았습니다" — 재설계 제안의 타이밍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시점에 맞춰 부족한 보장을 다시 설계하고 필요한 특약을 함께 제안하기 좋은 기회예요.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306128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reco1_card1_0f05115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306128" cy="3566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85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추천 카드 · #이벤트 임박 · 사전조회동의 D-25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53128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읽기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이유: 부담보 해제 D-5. 동의 D-25라 바로 진행.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23026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42482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43650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43650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펼치기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343650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보험·납입·부족 금액 확인. 추천 질문 복사.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813548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33004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34172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34172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설계안 요청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34172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해제되는 담보와 채울 특약을 정리해 달라고 해요.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704070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923526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0124694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124694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발송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0124694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일정과 제안 요약을 리포트로.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51960" y="4251960"/>
            <a:ext cx="7360920" cy="1234440"/>
          </a:xfrm>
          <a:prstGeom prst="roundRect">
            <a:avLst>
              <a:gd name="adj" fmla="val 888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80560" y="4343400"/>
            <a:ext cx="6903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말 (카드의 이유 문장 → 고객에게)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"고객님, 그동안 보장이 제한됐던 담보가 5일 뒤 정상화돼요. 이 시점에 맞춰 부족한 보장을 함께 점검해 드리고 싶어요."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51960" y="5577840"/>
            <a:ext cx="7360920" cy="73152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566928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MeAI에게 첫 질문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"부담보가 해제되는 담보와, 해제 시점에 맞춰 다시 설계할 특약을 정리해줘"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시나리오 2 · 동의 만료 임박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"가입설계동의가 이달 말 만료됩니다" — 재동의를 계기로 보장 점검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전에 재동의를 받아야 이후에도 안내와 제안을 이어갈 수 있어요. 갱신을 계기로 신담보와 보장 공백을 함께 점검해요.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306128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reco1_card2_170cfe5e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306128" cy="3566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85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추천 카드 · #이벤트 임박 · 사전조회동의 D-90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53128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읽기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이유: 가입설계동의 이달 말 만료. 연락 명분이 분명해요.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23026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42482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43650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재동의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43650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먼저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343650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재동의 안내 → 동의 상태는 약 15분 안에 반영.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813548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33004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34172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34172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공백 점검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34172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→ 최근 신담보와 비교.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704070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923526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0124694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124694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결과 발송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0124694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재동의 감사 인사와 점검 요약을 함께.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51960" y="4251960"/>
            <a:ext cx="7360920" cy="1234440"/>
          </a:xfrm>
          <a:prstGeom prst="roundRect">
            <a:avLst>
              <a:gd name="adj" fmla="val 888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80560" y="4343400"/>
            <a:ext cx="6903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말 (카드의 이유 문장 → 고객에게)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"고객님, 이달 말에 동의가 만료돼서 연장 부탁드리려고요. 겸사겸사 최근에 새로 나온 보장이 고객님께 맞는지도 한번 봐 드릴게요." ※ 가입설계동의(설계용)와 사전조회동의(보장 조회용, 카드의 D-90)는 서로 다른 동의예요.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51960" y="5577840"/>
            <a:ext cx="7360920" cy="73152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566928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MeAI에게 첫 질문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고객의 보장에서 최근 신담보 기준으로 비어 있는 곳을 알려줘"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시나리오 3 · 동의부터 · AI 추천 고객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"상령일이 2주 남았고 암진단비가 1천만원뿐입니다" — 동의부터 받고 상령일 전에 제안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AI 추천 고객이지만 사전조회동의가 만료됐어요. 알림톡으로 동의를 받은 뒤, 보험 나이가 오르기 전에 진단비 공백을 채워요.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306128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reco3_card1_a2bbcc64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306128" cy="3566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85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추천 카드(세트 3) · AI 추천 고객 · 사전조회동의 필요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53128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읽기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이유: 상령일 2주 · 암진단비 1천만원. 동의 필요 표시.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23026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42482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43650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요청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43650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보내기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343650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오른쪽 [사전조회동의 요청하기] → 휴대폰 번호 → [보내기].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813548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33004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34172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34172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진단비 공백 점검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34172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반영 뒤 [이 고객으로 맞춤대화 시작] → "보장분석 해줘".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704070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923526" y="1691640"/>
            <a:ext cx="1689354" cy="2377440"/>
          </a:xfrm>
          <a:prstGeom prst="roundRect">
            <a:avLst>
              <a:gd name="adj" fmla="val 75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0124694" y="187452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124694" y="2130552"/>
            <a:ext cx="132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전 제안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0124694" y="2624328"/>
            <a:ext cx="13235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인상 전 가입의 이점과 제안 요약을 리포트로.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51960" y="4251960"/>
            <a:ext cx="7360920" cy="1234440"/>
          </a:xfrm>
          <a:prstGeom prst="roundRect">
            <a:avLst>
              <a:gd name="adj" fmla="val 888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80560" y="4343400"/>
            <a:ext cx="6903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말 (카드의 이유 문장 → 고객에게)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"고객님, 2주 뒤에 보험 나이가 한 살 올라가요. 그 전에 진단비를 점검해 드리고 싶은데, 먼저 동의 알림톡 하나만 보내 드릴게요."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51960" y="5577840"/>
            <a:ext cx="7360920" cy="73152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5669280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MeAI에게 첫 질문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상령일 전에 암진단비를 늘려야 하는 이유를 쉽게 설명해줘"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주간 · 월간 루틴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추천 카드로, 한 주와 한 달은 그룹으로 움직여요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카드는 매일, 고객찾기 그룹은 주기별로. 달력에 넣어 두면 잊지 않아요.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en-US" sz="9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657600"/>
                <a:gridCol w="2313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예시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아침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 · 오늘의 추천 고객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 3~9장 읽고 1명 이상 맞춤대화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 고객 1명 접촉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매주 월요일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· 상령일 임박 · 생일 임박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주 날짜형 고객 목록 정리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상령일 고객 전원 연락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· 당월 영업 타겟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달 목표 대상 확인, 조회에서 공유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타겟 7명 전원 제안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 "사전조회 동의 필요" · 고객찾기 · 사전동의 만료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D-n 짧은 순으로 재동의 캠페인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동의 필요 숫자 줄이기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· 신규 등록 고객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 → 동의 → 첫 맞춤대화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 후 3일 내 동의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6344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기회 탭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5074920"/>
            <a:ext cx="913765" cy="256032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074920"/>
            <a:ext cx="9137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임박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5074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11명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5440680"/>
            <a:ext cx="793115" cy="256032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40680"/>
            <a:ext cx="793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임박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440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7명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5806440"/>
            <a:ext cx="1034415" cy="256032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806440"/>
            <a:ext cx="103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사전동의 만료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5806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35명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834640" y="4663440"/>
            <a:ext cx="4297680" cy="1600200"/>
          </a:xfrm>
          <a:prstGeom prst="roundRect">
            <a:avLst>
              <a:gd name="adj" fmla="val 685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63240" y="475488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날짜형 그룹은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접촉 계획표로 그대로 써요. "이번 주 상령일 고객 몇 명?" 한 마디면 조회가 끝나요. 보험 나이가 오르기 전이 제안 타이밍이에요.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0" y="4663440"/>
            <a:ext cx="4325112" cy="1600200"/>
          </a:xfrm>
          <a:prstGeom prst="roundRect">
            <a:avLst>
              <a:gd name="adj" fmla="val 685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4754880"/>
            <a:ext cx="3867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예시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인원(35명, 11명…)은 화면 예시예요. 실제 화면에서는 내 고객 기준으로 매일 새로 계산돼요. 오른쪽 위 "최근 업데이트" 시각을 확인하세요.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첫 5일 미션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5일, 하루 하나씩만 해보세요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사용까지 짧을수록 정착률이 높았어요(데이터분석팀 2026.08). 체크하며 따라가 보세요.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103120" cy="3383280"/>
          </a:xfrm>
          <a:prstGeom prst="roundRect">
            <a:avLst>
              <a:gd name="adj" fmla="val 6087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열기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 대문. 숫자 4개와 추천 카드 3장 읽기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새 글 1개 읽기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1737360"/>
            <a:ext cx="2103120" cy="33832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9718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카드에서 고객찾기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[MeAI 고객찾기에서 열기] → 펼친 카드 숫자 6개 확인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 복사해 두기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2103120" cy="33832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212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시작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 → "보장분석 해줘" → 꼬리질문 2번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보장 3개 메모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1737360"/>
            <a:ext cx="2103120" cy="33832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523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그룹으로 찾기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그룹 하나 골라 D-n 짧은 고객 1명 맞춤대화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[사전동의 만료] 그룹 확인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09760" y="1737360"/>
            <a:ext cx="2103120" cy="33832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6926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보내기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만들어 내 카톡으로 먼저 받아 보기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3794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질문 나의 질문으로 저장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4406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뒤, 여러분은 이미 "대문에서 하루를 시작하는 사람"이에요. 그 다음은 PART 7 첫 장의 아침 3분 루틴으로 이어가세요.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영업관리자 편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대문을 조회 자료로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본부장님이 전파하고, 조직장님이 정착시킵니다. 대문이 열리면 조회 자료는 따로 만들 필요가 없어요.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손에, 정착은 조직이 · 누구부터 챙길까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숫자 4개와 당월 영업 타겟 그룹을 조회 자료로 쓰는 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체크리스트 · 조회 스크립트 · 4주 도입 플랜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왜 관리자인가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이미 손에 있어요. 정착은 조직이 만듭니다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개인이 알아서 쓰게 두면 절반이 사라지고, 본부가 함께 시작하면 셋 중 둘이 남았어요.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4,912명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과거엔 썼는데 이번 달은 한 번도 안 쓴 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620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부여자의 40.8%. 새로 가르칠 필요 없이 "다시 켜기"만 하면 되는 분들이에요. 대문이 그 "다시 켜기" 버튼이에요.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65.2%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시작한 분들의 7개월 잔존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8620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개별로 들어온 분은 35~41%만 남았어요. 날짜를 정해 같이 시작하는 것이 두 배 가까이 더 남겨요.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26.9%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뒤 30일 안에 첫 사용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8620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사용까지 짧을수록 정착률이 높았어요. 권한 부여 첫 주가 관리자의 골든타임이에요.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대화의 시작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"도입이 안 됐다"가 아니라 "이미 다 써봤다"에서 시작하세요. 사용률은 연차·직책과 무관했고, 효과는 기존 FP에서 더 컸어요(12차월 초과 3.9배). 10월부터는 "대문 열어보셨어요?" 한 마디면 충분해요.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대문을 조회 자료로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MeAI 대문이 조회 자료가 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따로 리스트를 뽑지 않아도, 대문 숫자와 고객찾기 그룹이 그날의 영업 방향을 보여줘요.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66560" cy="1157438"/>
          </a:xfrm>
          <a:prstGeom prst="roundRect">
            <a:avLst>
              <a:gd name="adj" fmla="val 110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MeAI/f5d765e8-a442-5f2c-87c4-ad64e47ba212/scratchpad/build/img/gate_stats_eb41df24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11574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9260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첫 화면 · 팀원의 숫자 4개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2201875" cy="2880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tmp/claude-0/-home-user-MeAI/f5d765e8-a442-5f2c-87c4-ad64e47ba212/scratchpad/build/img/find_groups_both_88c557ee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2201875" cy="28803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6144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그룹 · 보장 기준 / 영업 기회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063240" y="3246120"/>
            <a:ext cx="4251960" cy="784977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tmp/claude-0/-home-user-MeAI/f5d765e8-a442-5f2c-87c4-ad64e47ba212/scratchpad/build/img/find_header_0be3e4ae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246120"/>
            <a:ext cx="4251960" cy="7849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63240" y="4343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제목 · 인원 · 설명 문구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063240" y="466344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291840" y="4754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조회에서 읽는 순서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숫자 4개 → "동의 필요"가 늘었나 ② 당월 영업 타겟 그룹 인원과 설명 ③ 이번 주 상령일·생일 임박 ④ 추천 카드 1장 같이 읽기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68096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6809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06500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4개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065008" y="1984248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"사전조회 동의 필요"가 곧 이번 주 동의를 받아야 할 목표 인원. "맞춤대화 가능"이 이번 주 상담 가능 인원.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7680960" y="250393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680960" y="2503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8065008" y="248564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영업 타겟 그룹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065008" y="2778252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1. 이달 캠페인 대상이에요. 그룹 인원과 이유 문장을 함께 읽어요.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7680960" y="32979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7680960" y="3297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8065008" y="327964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· 생일 임박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8065008" y="3572256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날짜형 그룹은 주간 접촉 계획표로 그대로. "이번 주 상령일 고객 몇 명?"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7680960" y="409194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7680960" y="4091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8065008" y="407365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사전동의 만료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8065008" y="4366260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 짧은 순으로 팀원과 대응 순서를 정해요. 동의 없이는 맞춤대화가 안 열려요.</a:t>
            </a:r>
            <a:endParaRPr lang="en-US" sz="980" dirty="0"/>
          </a:p>
        </p:txBody>
      </p:sp>
      <p:sp>
        <p:nvSpPr>
          <p:cNvPr id="34" name="Shape 29"/>
          <p:cNvSpPr/>
          <p:nvPr/>
        </p:nvSpPr>
        <p:spPr>
          <a:xfrm>
            <a:off x="7680960" y="48859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7680960" y="4885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065008" y="48676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8065008" y="5160264"/>
            <a:ext cx="35478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이슈(응답 지연·결과 누락)는 조회에서 먼저 공유해 혼선을 줄여요.</a:t>
            </a:r>
            <a:endParaRPr lang="en-US" sz="9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누구부터 챙길까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타겟은 속성이 아니라 사용 이력으로 잡으세요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"신인들이 안 쓴다", "팀원은 안 쓰고 관리자만 쓴다"는 데이터와 달랐어요. 이력이 말해주는 네 그룹부터.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1168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1168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4,912명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과거엔 썼는데 이번 달 한 번도 안 쓴 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"대문 한 번 열어 보세요" 한 마디. 새 교육이 필요 없는 가장 효율 높은 그룹.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178308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2011680"/>
            <a:ext cx="701421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2011680"/>
            <a:ext cx="7014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FP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3.9배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12차월 초과, 아직 미활용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35204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가장 큰 층(10.0% → 38.6%). 신인용 도구라는 선입견을 깨주세요.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78308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2011680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9944" y="2011680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단발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2,156명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하나만 쓰는 분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5204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버튼과 고객찾기 추천 질문을 알려주세요. 질문 하나 더에 가계약 11.99 → 17.02건.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97696" y="1783080"/>
            <a:ext cx="2651760" cy="3017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26296" y="2011680"/>
            <a:ext cx="793115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6296" y="2011680"/>
            <a:ext cx="7931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승인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지 30일 안 된 분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35204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사용이 정착을 가르고, 첫 7일이 골든타임이에요. 본부장님이 직접 안내해 주세요.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1206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 보면 "신인이 안 쓴다"는 오해예요. 6차월 미만도 52.6%가 사용했고, 팀원과 관리자의 활용률 차이는 1.3배에 그쳤어요.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521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이번 달 체크리스트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달, 여덟 줄만 부탁드립니다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두 줄이 데이터가 말하는 최우선이에요. 나머지는 여유가 될 때.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37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한동안 안 쓰신 분께 "대문 한 번 열어 보세요"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과거엔 썼는데 이번 달 안 쓴 4,912명. 새 교육 없이 다시 켜기만 하면 돼요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10500055" y="1860804"/>
            <a:ext cx="636270" cy="25603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00055" y="1860804"/>
            <a:ext cx="636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3042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304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FP(12차월 초과)를 먼저 챙겨 주세요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042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격차가 3.9배로 가장 크게 나는 층이에요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500055" y="2427732"/>
            <a:ext cx="636270" cy="25603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00055" y="2427732"/>
            <a:ext cx="636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871216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7121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871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권한부여가 안 된 분을 찾아 주세요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8712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대문은 권한이 있어야 열려요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10500055" y="2994660"/>
            <a:ext cx="63627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00055" y="2994660"/>
            <a:ext cx="636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38144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4381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438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분께 본부장님이 직접 안내해 주세요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4381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30일이 지나면 정착이 어려워요. 첫 사용이 정착을 갈라요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500055" y="3561588"/>
            <a:ext cx="63627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00055" y="3561588"/>
            <a:ext cx="636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05072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00507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0050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조회에서 MeAI 대문을 함께 열어 주세요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4005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4개와 당월 영업 타겟 그룹, 추천 카드 1장을 팀과 공유해요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0500055" y="4128516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00055" y="4128516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5720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72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"질문 하나만 더"를 안내해 주세요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4572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버튼과 고객찾기 추천 질문. 성과가 2.3배 달라져요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10500055" y="4695444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500055" y="4695444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5138928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51389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188720" y="5138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날짜를 정해 같이 시작해 주세요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5138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독려보다 잔존율이 두 배 가까이 높아요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10500055" y="5262372"/>
            <a:ext cx="515620" cy="256032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 w="12700">
            <a:solidFill>
              <a:srgbClr val="E9F9F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500055" y="5262372"/>
            <a:ext cx="51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5705856"/>
            <a:ext cx="11094415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570585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188720" y="57058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설명회에 MeAI 대문을 보여 주세요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57058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만날 고객을 회사가 찾아 준다"는 타사가 못 내미는 한 마디예요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10500055" y="5829300"/>
            <a:ext cx="75692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500055" y="5829300"/>
            <a:ext cx="75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리크루팅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조회에서 말씀해 보세요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설명하지 않아도 돼요. 세 문장이면 충분해요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한 줄, 타깃으로 한 줄, 행동으로 한 줄. 그리고 현장 반론 셋에 대한 답을 준비해 두세요.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6751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20240"/>
            <a:ext cx="63627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20240"/>
            <a:ext cx="636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945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FP 안에서 비교해도 체결전환율이 9%에서 36%로 올라갑니다."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강한 한 줄이에요. "같은 FP 비교"라는 조건을 꼭 함께 말씀해 주세요.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66751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246120"/>
            <a:ext cx="75692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75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타깃으로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204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본부에서 다시 권한부여 받을 분, 그리고 한동안 안 쓰신 분 계실까요?"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86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행동을 바로 만들어 드리는 질문이에요.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6675120" cy="1188720"/>
          </a:xfrm>
          <a:prstGeom prst="roundRect">
            <a:avLst>
              <a:gd name="adj" fmla="val 1076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572000"/>
            <a:ext cx="756920" cy="256032"/>
          </a:xfrm>
          <a:prstGeom prst="roundRect">
            <a:avLst>
              <a:gd name="adj" fmla="val 50000"/>
            </a:avLst>
          </a:prstGeom>
          <a:solidFill>
            <a:srgbClr val="2B6FE0"/>
          </a:solidFill>
          <a:ln w="12700">
            <a:solidFill>
              <a:srgbClr val="2B6F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572000"/>
            <a:ext cx="75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행동으로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463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"10월부터 MeAI 대문이 열립니다. 추천 고객은 CRM 데이터가 들어오는 대로 보이고요. 조회 때 함께 열어보겠습니다."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12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오픈을 조회 습관과 연결하는 한 줄이에요.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98080" y="173736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266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반론 3가지, 정확하게 답하기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원래 될 고객이라 켠 것 아닌가요?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560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 관리 고객끼리 비교해도 9.0% → 36.0%. PART 1의 숫자를 그대로 보여주세요.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계약이 더 빨라지나요?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속도는 큰 차이 없어요(12일 vs 13일). "빨라진다"가 아니라 "성사된다"로.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신인용 도구 아닌가요?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4754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12차월 초과 기존 FP에서 격차가 더 커요(10.0% → 38.6%). 경력자부터 권해도 되는 근거예요.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과장하지 않는 것이 신뢰를 만들어요. "빨라진다"·"많이 판다"가 아니라 "성사된다"·"좋은 상품을 고른다"가 데이터가 지지하는 표현이에요.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4주 도입 플랜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단위 4주 플랜, 이 순서면 정착합니다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같은 날 시작하는 것이 핵심이에요. 주차별로 한 가지씩만.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점검 + 대문 소개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미부여·이탈 명단 확인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조회에서 PART 1 핵심 숫자 3개 공유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89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화면(PART 2) 함께 열어 보기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64992" y="173736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9359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93592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미션 전원 시작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93592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67912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첫 5일 미션 시작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867912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1장 → 고객찾기 열어 보기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4389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본부장님의 한마디 "대문 열어보셨어요?"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81344" y="173736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09944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 맞춤대화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84264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 1명 → 맞춤대화 → 보장분석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640994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84264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1건 내 카톡으로 먼저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684264" y="4389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영업 타겟 그룹 전원 접촉</a:t>
            </a:r>
            <a:endParaRPr lang="en-US" sz="1020" dirty="0"/>
          </a:p>
        </p:txBody>
      </p:sp>
      <p:sp>
        <p:nvSpPr>
          <p:cNvPr id="36" name="Text 34"/>
          <p:cNvSpPr txBox="1"/>
          <p:nvPr/>
        </p:nvSpPr>
        <p:spPr>
          <a:xfrm>
            <a:off x="8759952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997696" y="1737360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226296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226296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공유와 뽐내기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226296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500616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활용일수·가계약 변화 공유</a:t>
            </a:r>
            <a:endParaRPr lang="en-US" sz="1020" dirty="0"/>
          </a:p>
        </p:txBody>
      </p:sp>
      <p:sp>
        <p:nvSpPr>
          <p:cNvPr id="42" name="Text 40"/>
          <p:cNvSpPr txBox="1"/>
          <p:nvPr/>
        </p:nvSpPr>
        <p:spPr>
          <a:xfrm>
            <a:off x="9226296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500616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 사례 3건 조회에서 발표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9226296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500616" y="4389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달 당월 영업 타겟 그룹 미리 보기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6235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본질은 그대로, 바뀌는 건 도구뿐이에요. MeAI가 지식을 채우고, 대문이 고객을 찾고, 관리자님이 정착을 만들어 주세요.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지켜야 할 것 · FAQ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정리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잘 쓰는 조건이에요. 한 번만 제대로 읽어 두세요.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약속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9103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대문·고객찾기에서 자주 묻는 질문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52943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2486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책에 나온 용어 한 장 정리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꼭 지켜주세요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약속, MeAI를 오래 잘 쓰는 조건이에요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안내문에도 나오는 내용이에요. 대문이 생겨도 약속은 같아요.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반드시 검증 후 사용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답변은 생성형 AI가 작성해 오류가 있을 수 있어요. 근거자료(약관·증권)를 직접 확인한 뒤 고객에게 안내해요.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566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96596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262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입력 금지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이름·연락처·주소·주민번호는 질문에도, 메모에도 넣지 않아요. 고객찾기 추천 질문도 "고객 성명·연락처는 넣지 말 것"이라고 적혀 있어요.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566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96596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없는 고객 정보는 보지 않아요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동의가 없거나 철회된 고객은 정보 확인이 막혀요. 우회하지 말고 동의부터 받아요.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566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84048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813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책임은 사용자에게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안내해 생긴 금융소비자보호법 등 관련 법령상 책임은 사용자에게 있어요.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611880"/>
            <a:ext cx="3566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3840480"/>
            <a:ext cx="365760" cy="36576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262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3813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외부 반출 금지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답변, 화면 캡처, 이 가이드북을 포함한 교육자료의 외부 제공·배포·게시(온/오프라인)는 금지돼요.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3611880"/>
            <a:ext cx="3593592" cy="1737360"/>
          </a:xfrm>
          <a:prstGeom prst="roundRect">
            <a:avLst>
              <a:gd name="adj" fmla="val 631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370332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 원문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"MeAI의 답변은 생성형 AI를 통해 작성되어 오류가 있을 수 있으므로, 반드시 직접 근거자료를 확인하여 진위를 검증하시기 바랍니다. 미검증으로 인한 금융소비자보호법 등 관련 법령상 책임은 사용자에게 있습니다."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FAQ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대문과 고객찾기, 처음 쓰는 분들이 가장 많이 묻는 질문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여덟 개면 첫 주 질문의 대부분이 해결돼요.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83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대문은 어디서 열어요?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075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영업포탈에서 MeAI로 들어오면 대문이 먼저 열려요(10월 오픈). 모바일 대문은 순차 적용 예정이라 우선 앱 홈 → 보장분석 → MeAI로 쓰세요.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783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고객이 안 보여요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075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공지 기준, 오늘의 추천 고객은 CRM 데이터 반입이 끝나는 2차 오픈부터 보여요. 데이터는 매일 계산돼 익일 반영돼요.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898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카드의 고객이 오늘 연락할 사람이 아니에요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19125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추천은 "이유가 있는 고객"이지 지시가 아니에요. 세트 3개(9장)를 넘겨 보고 고객찾기 그룹에서 직접 골라도 돼요.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07208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898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없는 고객은 어떻게 하나요?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191256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오른쪽 패널의 [사전조회동의 요청하기]나 대문 [고객 동의]에서 휴대폰 번호를 넣고 [보내기]. 고객에게 동의 요청 알림톡이 가고, 동의하면 약 15분 내외로 반영돼요.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922776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팝업에 고객이 없어요 · 회색이에요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30682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팝업에는 사전조회 동의가 유효한 고객만 나와요(검색은 고객 이름·담당자 이름 모두). 회색은 오늘 동의를 철회한 고객이라 눌러도 열리지 않아요.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3922776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내 고객 수와 달라요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430682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 보이는 고객은 사전조회 동의일로부터 1년 이내 고객이에요. 화면의 "최근 업데이트" 시각 기준이고, 익일 반영이에요.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038344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51297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고객이 여러 그룹에 있어요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5422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05840" y="54223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정상이에요. 태그 칩은 우선순위 순으로 보여요. 당월 영업 타겟(1) → 증권 5건 이상·월 50만원 이상·상령일·생일·사전동의 만료(2) → 보장 부족 7종(3).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5038344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0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51297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시작한 대화를 폰에서 이어갈 수 있나요?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5422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54223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네. 대화 이력과 저장한 나의 질문은 PC·모바일에서 똑같이 보여요.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용어 정리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책에 나온 말, 한 장으로 정리했어요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대문·고객찾기 화면에 그대로 쓰이는 이름이에요.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en-US" sz="9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  <a:gridCol w="3044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 보나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사전조회 동의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고객의 보장 내역을 조회해도 된다는 동의. 동의일로부터 1년 유효. 있어야 맞춤대화가 열려요.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카드의 D-n 칩 · 대문 숫자 "사전조회 동의 필요"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사전조회동의 D-n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동의 만료까지 남은 날. 만료되면 "필요", 고객이 철회하면 "철회".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 카드 · 검색 팝업 · 고객찾기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상품소개 동의 · AI 추천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소개에 동의한 고객. 상품 제안이 가능해 카드에 빨간 리본이 붙어요.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 숫자 "상품제안 가능" · 카드 리본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 · 가망 · 이관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계약이 있는 고객 · 등록만 된 고객 · 넘겨받은 고객. 한 고객은 하나로만 분류.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카드의 유형 칩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오늘의 추천 고객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이유가 붙은 고객 카드 3장 × 세트 3개. 매일 새로 계산.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 가운데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그룹 · 보장 기준 / 영업 기회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담보 부족 7종 + 당월 영업 타겟 · 증권 5건 이상 · 월 50만원 이상 / 상령일·생일·사전동의 만료 같은 시점 그룹.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왼쪽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영업 타겟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달 영업 목표 대상 그룹. 우선순위 1(보라 태그).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그룹 · 카드 태그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상령일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 나이가 한 살 오르는 날. 그 전에 가입하면 보험료가 유리해요.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[상령일 임박] 그룹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고객 한눈에 보기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펼친 카드의 여섯 칸. 가입·납입·접촉기회·부족 금액·주요 담보.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고객찾기 가운데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간편 분석 · 상세 분석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질문마다 고르는 답변 모드. 일상 언어 / 약관·담보 정밀 비교.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입력창 아래 (NEW)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91F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 설명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답변 속 전문용어에 표시를 붙이고 뜻을 목록으로 보여주는 기능.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입력창 오른쪽 위 · 모바일 오른쪽 아래 (NEW)</a:t>
                      </a:r>
                      <a:endParaRPr lang="en-US" sz="9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48095" y="10972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만날 고객은,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 있어요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일은 MeAI가, 만나는 일은 여러분이.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지식은 MeAI가 채우고, 대문이 고객을 찾아줘요.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여러분은 고객을 향한 마음만 가져오면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5212080"/>
            <a:ext cx="2096008" cy="329184"/>
          </a:xfrm>
          <a:prstGeom prst="roundRect">
            <a:avLst>
              <a:gd name="adj" fmla="val 50000"/>
            </a:avLst>
          </a:prstGeom>
          <a:solidFill>
            <a:srgbClr val="2B6FE0"/>
          </a:solidFill>
          <a:ln w="12700">
            <a:solidFill>
              <a:srgbClr val="2B6F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12080"/>
            <a:ext cx="2096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10월, MeAI 대문에서 만나요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5212080"/>
            <a:ext cx="1565148" cy="329184"/>
          </a:xfrm>
          <a:prstGeom prst="roundRect">
            <a:avLst>
              <a:gd name="adj" fmla="val 50000"/>
            </a:avLst>
          </a:prstGeom>
          <a:solidFill>
            <a:srgbClr val="2B6FE0"/>
          </a:solidFill>
          <a:ln w="12700">
            <a:solidFill>
              <a:srgbClr val="2B6F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5212080"/>
            <a:ext cx="1565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세일즈혁신TF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>
                    <a:alpha val="9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자료의 전부·일부(수정 포함)의 외부 제공·배포·게시(온/오프라인)는 금지됩니다. 미검증으로 인한 금융소비자보호법 등 관련 법령상 책임은 사용자에게 있습니다. 화면 속 고객 이름·숫자는 예시 데이터입니다.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v4 · CRM 대문 편 · 2026.10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v4 · CRM 대문 편</dc:title>
  <dc:subject>PptxGenJS Presentation</dc:subject>
  <dc:creator>세일즈혁신TF</dc:creator>
  <cp:lastModifiedBy>세일즈혁신TF</cp:lastModifiedBy>
  <cp:revision>1</cp:revision>
  <dcterms:created xsi:type="dcterms:W3CDTF">2026-09-29T04:01:56Z</dcterms:created>
  <dcterms:modified xsi:type="dcterms:W3CDTF">2026-09-29T04:01:56Z</dcterms:modified>
</cp:coreProperties>
</file>