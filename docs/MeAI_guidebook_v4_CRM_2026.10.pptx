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image" Target="../media/image-35-8.png"/><Relationship Id="rId9" Type="http://schemas.openxmlformats.org/officeDocument/2006/relationships/image" Target="../media/image-35-9.png"/><Relationship Id="rId10" Type="http://schemas.openxmlformats.org/officeDocument/2006/relationships/image" Target="../media/image-35-10.png"/><Relationship Id="rId11" Type="http://schemas.openxmlformats.org/officeDocument/2006/relationships/image" Target="../media/image-35-11.png"/><Relationship Id="rId12" Type="http://schemas.openxmlformats.org/officeDocument/2006/relationships/image" Target="../media/image-35-12.png"/><Relationship Id="rId13" Type="http://schemas.openxmlformats.org/officeDocument/2006/relationships/image" Target="../media/image-35-13.png"/><Relationship Id="rId14" Type="http://schemas.openxmlformats.org/officeDocument/2006/relationships/image" Target="../media/image-35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image" Target="../media/image-5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image" Target="../media/image-5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image" Target="../media/image-6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 가이드북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546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영업에서,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찾아가는 영업으로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1148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만날 고객과 첫 마디를 MeAI 대문이 먼저 준비해요.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 편 + 관리자 편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5166360"/>
            <a:ext cx="1330960" cy="292608"/>
          </a:xfrm>
          <a:prstGeom prst="roundRect">
            <a:avLst>
              <a:gd name="adj" fmla="val 50000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5166360"/>
            <a:ext cx="133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v4 · CRM 대문 편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72208" y="5166360"/>
            <a:ext cx="1488440" cy="292608"/>
          </a:xfrm>
          <a:prstGeom prst="roundRect">
            <a:avLst>
              <a:gd name="adj" fmla="val 50000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72208" y="5166360"/>
            <a:ext cx="1488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 오픈 화면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770376" y="5166360"/>
            <a:ext cx="1419860" cy="292608"/>
          </a:xfrm>
          <a:prstGeom prst="roundRect">
            <a:avLst>
              <a:gd name="adj" fmla="val 50000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70376" y="5166360"/>
            <a:ext cx="14198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확정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37960" y="966787"/>
            <a:ext cx="5394960" cy="4832985"/>
          </a:xfrm>
          <a:prstGeom prst="roundRect">
            <a:avLst>
              <a:gd name="adj" fmla="val 22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0" descr="/tmp/claude-0/-home-user-MeAI/f5d765e8-a442-5f2c-87c4-ad64e47ba212/scratchpad/build/img/gate_full_85e54b029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966787"/>
            <a:ext cx="5394960" cy="483298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TO USE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가이드북, 이렇게 보세요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영업가족과 영업관리자가 함께 보는 책이에요. 내 상황부터 펼치세요.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51760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920240"/>
            <a:ext cx="384048" cy="384048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194767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468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대문이 처음이라면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0632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영업포탈에서 들어가는 길, 대문 화면과 카드 한 장 읽는 법.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64992" y="1691640"/>
            <a:ext cx="2651760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93592" y="1920240"/>
            <a:ext cx="384048" cy="384048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93592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078224" y="194767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4 · 7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2468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바로 써보고 싶다면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593592" y="30632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카드에서 맞춤대화까지 클릭 두 번. 아침 3분 루틴.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81344" y="1691640"/>
            <a:ext cx="2651760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9944" y="1920240"/>
            <a:ext cx="384048" cy="384048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09944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94576" y="194767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09944" y="2468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기능이 궁금하다면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09944" y="30632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일반대화·맞춤대화, 용어 설명·모드 변경, 카카오톡 리포트.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997696" y="1691640"/>
            <a:ext cx="2651760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26296" y="1920240"/>
            <a:ext cx="384048" cy="384048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2262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710928" y="194767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8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26296" y="2468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본부장·조직장이라면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30632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보는 효과, 누구부터 챙길지, 4주 도입 플랜.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4434840"/>
            <a:ext cx="11094415" cy="658368"/>
          </a:xfrm>
          <a:prstGeom prst="roundRect">
            <a:avLst>
              <a:gd name="adj" fmla="val 16667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4526280"/>
            <a:ext cx="106372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기준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확정 화면이에요. 용어 설명·모드 변경은 개발 중이라 바뀔 수 있어요.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521208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3035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데이터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속 고객 이름·나이·숫자는 모두 예시예요.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 편(1~7·9) + 관리자 편(8)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169164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169164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영업의 방향이 바뀝니다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169164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51460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51460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251460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 · 영업포탈에서 들어가기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51460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33756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33756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33756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맞춤대화로 가는 두 길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333756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16052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16052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16052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그룹으로 묶어줘요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416052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p.29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98348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77240" y="498348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1463040" y="498348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· 사전조회 동의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498348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169164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446520" y="169164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0" y="169164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이어가기 · 새 기능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10789920" y="169164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p.46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251460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46520" y="251460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251460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찾아가는 영업의 하루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0789920" y="251460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p.58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17920" y="333756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446520" y="333756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333756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영업관리자 편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0789920" y="333756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p.65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17920" y="416052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446520" y="416052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2000" dirty="0"/>
          </a:p>
        </p:txBody>
      </p:sp>
      <p:sp>
        <p:nvSpPr>
          <p:cNvPr id="41" name="Text 39"/>
          <p:cNvSpPr txBox="1"/>
          <p:nvPr/>
        </p:nvSpPr>
        <p:spPr>
          <a:xfrm>
            <a:off x="7132320" y="416052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지켜야 할 것 · FAQ · 용어</a:t>
            </a:r>
            <a:endParaRPr lang="en-US" sz="1350" dirty="0"/>
          </a:p>
        </p:txBody>
      </p:sp>
      <p:sp>
        <p:nvSpPr>
          <p:cNvPr id="42" name="Text 40"/>
          <p:cNvSpPr txBox="1"/>
          <p:nvPr/>
        </p:nvSpPr>
        <p:spPr>
          <a:xfrm>
            <a:off x="10789920" y="416052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p.72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217920" y="4983480"/>
            <a:ext cx="5440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칸(PART 2·3·4)이 이번 판의 핵심이에요.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영업의 방향이 바뀝니다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영업에서 찾아가는 영업으로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누구에게, 왜, 무슨 말로 연락할지, 이제 MeAI가 먼저 골라요.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영업의 절반이 "찾는 일"이었던 이유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대문이 바꾸는 하루의 순서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보는 효과 · 아침 3분 루틴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지금까지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영업의 절반은 "찾는 일"이었어요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만나기 전에 세 가지를 스스로 정해야 했어요.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892808"/>
            <a:ext cx="420624" cy="420624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41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연락하지?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2549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목록을 하나씩 뒤져 오늘 연락할 사람을 골라야 했어요.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69164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26280" y="1892808"/>
            <a:ext cx="420624" cy="420624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2628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441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지금이지?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82549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명분을 스스로 만들어야 했어요.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169164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75320" y="1892808"/>
            <a:ext cx="420624" cy="420624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7532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441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말로 시작하지?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282549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마디를 고민하다 하루를 넘기기 일쑤였어요.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4672" y="4041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7%</a:t>
            </a:r>
            <a:pPr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미만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804672" y="46451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고객 중 영업 시도 비율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04672" y="4919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 명 중 아홉 명 넘게 연락조차 못 하고 있어요.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97680" y="384048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3712" y="4041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2%</a:t>
            </a:r>
            <a:pPr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미만</a:t>
            </a:r>
            <a:endParaRPr lang="en-US" sz="3000" dirty="0"/>
          </a:p>
        </p:txBody>
      </p:sp>
      <p:sp>
        <p:nvSpPr>
          <p:cNvPr id="28" name="Text 26"/>
          <p:cNvSpPr txBox="1"/>
          <p:nvPr/>
        </p:nvSpPr>
        <p:spPr>
          <a:xfrm>
            <a:off x="4553712" y="46451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고객 중 영업 시도 비율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53712" y="4919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넘겨받은 고객은 더 묵혀 두게 돼요.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384048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75320" y="393192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의지가 아니라 순서예요. 찾는 일이 앞에 있으면 만나는 일은 뒤로 밀려요.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8521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세일즈혁신TF 「MeAI CRM 대문 고도화 제안」 2026.09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이제는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이제는 MeAI가 먼저 찾아옵니다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바뀌는 것은 화면이 아니라 하루의 순서예요.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94560"/>
                <a:gridCol w="36576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찾는 영업 (지금까지)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찾아가는 영업 (MeAI 대문)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누구에게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목록을 뒤져 내가 고른다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대문이 오늘의 추천 고객을 보여준다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왜 지금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명분을 스스로 만든다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"부담보 해제가 5일 남았습니다" 이유가 붙는다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첫 마디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고민하다 미룬다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카드의 이유 문장이 곧 첫 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다음 행동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메뉴를 찾아 헤맨다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[MeAI 고객찾기에서 열기] →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[이 고객으로 맞춤대화 시작]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772400" y="1691640"/>
            <a:ext cx="3840480" cy="3870641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0" descr="/tmp/claude-0/-home-user-MeAI/f5d765e8-a442-5f2c-87c4-ad64e47ba212/scratchpad/build/img/gate_card_z_c441407e4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691640"/>
            <a:ext cx="3840480" cy="387064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0" y="58338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「오늘의 추천 고객」 카드 한 장 (예시)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48640" y="5120640"/>
            <a:ext cx="6949440" cy="731520"/>
          </a:xfrm>
          <a:prstGeom prst="roundRect">
            <a:avLst>
              <a:gd name="adj" fmla="val 15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21208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발굴은 시스템이, 설득은 사람이 해요. 누구·왜·첫 마디는 MeAI가 준비해요.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한 흐름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 두 번이면 대화가 열려요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카드 → 고객찾기 → 맞춤대화 → 요약 리포트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956804"/>
            <a:ext cx="2331720" cy="23500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tmp/claude-0/-home-user-MeAI/f5d765e8-a442-5f2c-87c4-ad64e47ba212/scratchpad/build/img/gate_card_z_c441407e4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56804"/>
            <a:ext cx="2331720" cy="2350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47183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48640" y="47183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4709160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· 추천 카드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04748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문장을 읽고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824429" y="29032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3088538" y="1971376"/>
            <a:ext cx="3429000" cy="1153886"/>
          </a:xfrm>
          <a:prstGeom prst="roundRect">
            <a:avLst>
              <a:gd name="adj" fmla="val 59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1" descr="/tmp/claude-0/-home-user-MeAI/f5d765e8-a442-5f2c-87c4-ad64e47ba212/scratchpad/build/img/fix_card_tags_clean_91cb8b198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538" y="1971376"/>
            <a:ext cx="3429000" cy="115388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088538" y="3234989"/>
            <a:ext cx="3429000" cy="1057275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7" name="Image 2" descr="/tmp/claude-0/-home-user-MeAI/f5d765e8-a442-5f2c-87c4-ad64e47ba212/scratchpad/build/img/find_six_z_c0e596b87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8538" y="3234989"/>
            <a:ext cx="3429000" cy="1057275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3088538" y="47183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3088538" y="47183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3454298" y="470916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펼친 카드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3088538" y="504748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 6칸과 태그로 상황 파악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6461608" y="29032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3" name="Shape 18"/>
          <p:cNvSpPr/>
          <p:nvPr/>
        </p:nvSpPr>
        <p:spPr>
          <a:xfrm>
            <a:off x="6725717" y="1810096"/>
            <a:ext cx="2423160" cy="264344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4" name="Image 3" descr="/tmp/claude-0/-home-user-MeAI/f5d765e8-a442-5f2c-87c4-ad64e47ba212/scratchpad/build/img/find_right_z_a3b6b202e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5717" y="1810096"/>
            <a:ext cx="2423160" cy="2643447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6725717" y="47183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0"/>
          <p:cNvSpPr txBox="1"/>
          <p:nvPr/>
        </p:nvSpPr>
        <p:spPr>
          <a:xfrm>
            <a:off x="6725717" y="47183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7" name="Text 21"/>
          <p:cNvSpPr txBox="1"/>
          <p:nvPr/>
        </p:nvSpPr>
        <p:spPr>
          <a:xfrm>
            <a:off x="7091477" y="470916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시작</a:t>
            </a:r>
            <a:endParaRPr lang="en-US" sz="1350" dirty="0"/>
          </a:p>
        </p:txBody>
      </p:sp>
      <p:sp>
        <p:nvSpPr>
          <p:cNvPr id="28" name="Text 22"/>
          <p:cNvSpPr txBox="1"/>
          <p:nvPr/>
        </p:nvSpPr>
        <p:spPr>
          <a:xfrm>
            <a:off x="6725717" y="5047488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질문을 확인하고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9092946" y="29032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30" name="Shape 24"/>
          <p:cNvSpPr/>
          <p:nvPr/>
        </p:nvSpPr>
        <p:spPr>
          <a:xfrm>
            <a:off x="9357055" y="2175023"/>
            <a:ext cx="2286000" cy="1913594"/>
          </a:xfrm>
          <a:prstGeom prst="roundRect">
            <a:avLst>
              <a:gd name="adj" fmla="val 23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1" name="Image 4" descr="/tmp/claude-0/-home-user-MeAI/f5d765e8-a442-5f2c-87c4-ad64e47ba212/scratchpad/build/img/report_kakao_crop_7d1b800b0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7055" y="2175023"/>
            <a:ext cx="2286000" cy="1913594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9357055" y="47183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26"/>
          <p:cNvSpPr txBox="1"/>
          <p:nvPr/>
        </p:nvSpPr>
        <p:spPr>
          <a:xfrm>
            <a:off x="9357055" y="47183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4" name="Text 27"/>
          <p:cNvSpPr txBox="1"/>
          <p:nvPr/>
        </p:nvSpPr>
        <p:spPr>
          <a:xfrm>
            <a:off x="9722815" y="470916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· 카카오톡</a:t>
            </a:r>
            <a:endParaRPr lang="en-US" sz="1350" dirty="0"/>
          </a:p>
        </p:txBody>
      </p:sp>
      <p:sp>
        <p:nvSpPr>
          <p:cNvPr id="35" name="Text 28"/>
          <p:cNvSpPr txBox="1"/>
          <p:nvPr/>
        </p:nvSpPr>
        <p:spPr>
          <a:xfrm>
            <a:off x="9357055" y="504748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답만 골라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보내요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548640" y="5742432"/>
            <a:ext cx="11094415" cy="502920"/>
          </a:xfrm>
          <a:prstGeom prst="roundRect">
            <a:avLst>
              <a:gd name="adj" fmla="val 2181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777240" y="5833872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화면에서 시작해도 고객이 정해진 상태로 대화가 열려요.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MeAI가 하는 일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MeAI는 매일 이렇게 준비해요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정보를 모아 그룹을 다시 계산하고, 대문 카드로 알려줘요.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 모으기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계약·보상·부담보·동의·상령일·생일·접촉 이력을 모아요.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88301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807757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027213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027213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그룹으로 묶기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27213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 부족" "상령일 임박" 같은 그룹을 매일 다시 계산해요.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47417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66873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86329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286329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카드로 알려주기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86329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 3장 × 세트 3. 이유 한 문장·태그·동의 D-n.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106534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325990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545446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545446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 실행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45446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→ 맞춤대화 → 리포트, 버튼으로 이어져요.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365651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9585107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804563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804563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날 다시 계산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804563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바뀐 계약·동의 상태를 반영해 다음 날 대문에 보여줘요.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4251960"/>
            <a:ext cx="356616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777240" y="44531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발굴은 시스템, 설득은 사람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483717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고르는 시간을 없애고, 만나는 일에 집중해요.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297680" y="4251960"/>
            <a:ext cx="356616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4526280" y="44531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타겟에는 반드시 이유가 있어요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4526280" y="483717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"부담보 해제가 5일 남았습니다"처럼 사유가 한 문장으로 붙어요.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046720" y="4251960"/>
            <a:ext cx="356616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275320" y="44531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 두 번이면 시작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483717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 →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80644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데이터·추천 결과는 익일 반영 · 화면의 "최근 업데이트" 시각을 확인하세요.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숫자로 보기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분의 계약 성사율이 2.8배 높았어요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 명 중 아홉 분이 써봤어요. 대문은 매일 아침 켜게 만드는 장치예요.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5176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8928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91.1%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496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사용 경험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27706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10,968명이 한 번 이상 사용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5176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1024" y="18928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2.8배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621024" y="2496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체결전환율 차이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621024" y="27706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 12.7% → 활용 35.4%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81344" y="1691640"/>
            <a:ext cx="265176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37376" y="18928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4배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437376" y="2496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FP 고객 간 비교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37376" y="27706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 9.0% → 활용 36.0%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997696" y="1691640"/>
            <a:ext cx="265176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53728" y="18928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2.3배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9253728" y="2496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3개 이상 이어 쓰면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9253728" y="27706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1개 11.99건 → 3개 이상 27.79건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11880"/>
          <a:ext cx="69494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80160"/>
                <a:gridCol w="1371600"/>
                <a:gridCol w="1463040"/>
                <a:gridCol w="1463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7월 활동일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매출 보유율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 가계약(건)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매출자 평균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미사용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5,987명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10.22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256,194원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1,835명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19.81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310,383원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2~4일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2,487명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26.35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328,237원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5~9일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1,372명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92.5%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38.47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378,083원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10일 이상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362명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55.04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408,166원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7680960" y="3611880"/>
            <a:ext cx="3931920" cy="1975104"/>
          </a:xfrm>
          <a:prstGeom prst="roundRect">
            <a:avLst>
              <a:gd name="adj" fmla="val 5556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09560" y="3703320"/>
            <a:ext cx="34747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달에 며칠 쓰느냐</a:t>
            </a:r>
            <a:endParaRPr lang="en-US" sz="1200" dirty="0"/>
          </a:p>
          <a:p>
            <a:pPr indent="0" marL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 보유율 1.8배 · 평균 가계약 5.4배</a:t>
            </a:r>
            <a:endParaRPr lang="en-US" sz="1200" dirty="0"/>
          </a:p>
          <a:p>
            <a:pPr indent="0" marL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(10일 이상 vs 미사용)</a:t>
            </a:r>
            <a:endParaRPr lang="en-US" sz="1200" dirty="0"/>
          </a:p>
          <a:p>
            <a:pPr indent="0" marL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대문을 아침마다 여는 습관이 곧 활동일이에요.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74243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 · TA 개인영업 채널 기준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그래서 이 책은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3분, 대문에서 시작해요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2~4에서 화면을 익히고, PART 7에서 루틴으로 굳혀요.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520364"/>
            <a:ext cx="2514600" cy="1040033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tmp/claude-0/-home-user-MeAI/f5d765e8-a442-5f2c-87c4-ad64e47ba212/scratchpad/build/img/fix_gate_stats_2row_91e06d068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20364"/>
            <a:ext cx="2514600" cy="104003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448056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· 대문 열기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818888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숫자 4개,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"사전조회 동의 필요"가 늘었는지.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007309" y="28117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3271418" y="1832139"/>
            <a:ext cx="2240280" cy="241648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1" descr="/tmp/claude-0/-home-user-MeAI/f5d765e8-a442-5f2c-87c4-ad64e47ba212/scratchpad/build/img/reco1_card1_cb7566b65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1418" y="1832139"/>
            <a:ext cx="2240280" cy="241648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271418" y="448056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· 추천 카드 읽기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3271418" y="481888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고객의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문장과 태그를 읽어요.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455768" y="28117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719877" y="1953641"/>
            <a:ext cx="3200400" cy="1076960"/>
          </a:xfrm>
          <a:prstGeom prst="roundRect">
            <a:avLst>
              <a:gd name="adj" fmla="val 59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2" descr="/tmp/claude-0/-home-user-MeAI/f5d765e8-a442-5f2c-87c4-ad64e47ba212/scratchpad/build/img/fix_card_tags_clean_91cb8b198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9877" y="1953641"/>
            <a:ext cx="3200400" cy="107696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719877" y="3140329"/>
            <a:ext cx="3200400" cy="98679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0" name="Image 3" descr="/tmp/claude-0/-home-user-MeAI/f5d765e8-a442-5f2c-87c4-ad64e47ba212/scratchpad/build/img/find_six_z_c0e596b87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9877" y="3140329"/>
            <a:ext cx="3200400" cy="9867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719877" y="448056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· 고객찾기에서 열기</a:t>
            </a:r>
            <a:endParaRPr lang="en-US" sz="1350" dirty="0"/>
          </a:p>
        </p:txBody>
      </p:sp>
      <p:sp>
        <p:nvSpPr>
          <p:cNvPr id="22" name="Text 16"/>
          <p:cNvSpPr txBox="1"/>
          <p:nvPr/>
        </p:nvSpPr>
        <p:spPr>
          <a:xfrm>
            <a:off x="5719877" y="4818888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 6칸으로 상황 파악,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 확인.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8864346" y="28117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9149410" y="1691640"/>
            <a:ext cx="2472690" cy="26974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5" name="Image 4" descr="/tmp/claude-0/-home-user-MeAI/f5d765e8-a442-5f2c-87c4-ad64e47ba212/scratchpad/build/img/find_right_z_a3b6b202e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9410" y="1691640"/>
            <a:ext cx="2472690" cy="26974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128455" y="448056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· 맞춤대화 → 리포트</a:t>
            </a:r>
            <a:endParaRPr lang="en-US" sz="1350" dirty="0"/>
          </a:p>
        </p:txBody>
      </p:sp>
      <p:sp>
        <p:nvSpPr>
          <p:cNvPr id="27" name="Text 20"/>
          <p:cNvSpPr txBox="1"/>
          <p:nvPr/>
        </p:nvSpPr>
        <p:spPr>
          <a:xfrm>
            <a:off x="9128455" y="4818888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요약 리포트.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548640" y="5559552"/>
            <a:ext cx="11094415" cy="658368"/>
          </a:xfrm>
          <a:prstGeom prst="roundRect">
            <a:avLst>
              <a:gd name="adj" fmla="val 16667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777240" y="5650992"/>
            <a:ext cx="106372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카드의 이유 문장은 고객에게 첫 말, 고객찾기의 추천 질문은 MeAI에게 첫 질문이에요.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하루가 시작되는 곳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만날 고객과 첫 마디가 이미 준비된 화면이에요.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영업포탈에서 들어가는 문 6개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다섯 구역 · 스위치와 버튼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4개와 추천 카드 읽는 법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· 동의 · 유형 범례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영업포탈에서 들어가기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홈으로 가는 문, 6개예요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2일부터 새 문 3개(③④⑤)가 열려요.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712653" y="384048"/>
            <a:ext cx="930402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12653" y="384048"/>
            <a:ext cx="9304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10/2 반영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7589520" cy="4139738"/>
          </a:xfrm>
          <a:prstGeom prst="roundRect">
            <a:avLst>
              <a:gd name="adj" fmla="val 30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0" descr="/tmp/claude-0/-home-user-MeAI/f5d765e8-a442-5f2c-87c4-ad64e47ba212/scratchpad/build/img/portal_entry_full_ea26e326d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589520" cy="413973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36676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36676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750808" y="1691640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 [MeAI 홈]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750808" y="1984248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· 사용권한 필요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366760" y="231305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366760" y="231305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8750808" y="2294763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 [보장분석]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750808" y="2587371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· 사용권한 필요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366760" y="291617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366760" y="29161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8750808" y="2897886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롤링배너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8750808" y="3190494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· [MeAI 홈 바로가기]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366760" y="351929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366760" y="351929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8750808" y="3501009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CRM 리스트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8750808" y="3793617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· [MeAI 일반대화] [MeAI 맞춤대화]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8366760" y="41224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366760" y="4122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750808" y="4104132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떠 있는 MeAI 버튼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8750808" y="4396740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· 목록 위 둥근 버튼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8366760" y="472554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8366760" y="47255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750808" y="4707255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[MeAI 홈]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8750808" y="4999863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· 사용권한 필요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366760" y="5532120"/>
            <a:ext cx="3273552" cy="804672"/>
          </a:xfrm>
          <a:prstGeom prst="roundRect">
            <a:avLst>
              <a:gd name="adj" fmla="val 13636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595360" y="5623560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③④⑤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권한과 상관없이 누구나. 적용 시점은 IT 개발 일정에 따라 달라질 수 있어요.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새로 생긴 문 3개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문 3개, 이렇게 생겼어요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목록에서 바로 대화를 시작하는 ④가 핵심이에요.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712653" y="384048"/>
            <a:ext cx="930402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12653" y="384048"/>
            <a:ext cx="9304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10/2 반영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69164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롤링배너 → [MeAI 홈 바로가기]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011680"/>
            <a:ext cx="4206240" cy="1150144"/>
          </a:xfrm>
          <a:prstGeom prst="roundRect">
            <a:avLst>
              <a:gd name="adj" fmla="val 73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/tmp/claude-0/-home-user-MeAI/f5d765e8-a442-5f2c-87c4-ad64e47ba212/scratchpad/build/img/portal_entry_banner_50383c1cb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4206240" cy="115014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" y="3364992"/>
            <a:ext cx="4206240" cy="256032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1" descr="/tmp/claude-0/-home-user-MeAI/f5d765e8-a442-5f2c-87c4-ad64e47ba212/scratchpad/build/img/fix_banner_left_z_4746d152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364992"/>
            <a:ext cx="4206240" cy="2560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029200" y="1691640"/>
            <a:ext cx="6611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CRM 리스트 [MeAI 일반대화] [MeAI 맞춤대화] · ⑤ 떠 있는 MeAI 버튼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029200" y="2011680"/>
            <a:ext cx="6611112" cy="3105892"/>
          </a:xfrm>
          <a:prstGeom prst="roundRect">
            <a:avLst>
              <a:gd name="adj" fmla="val 4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2" descr="/tmp/claude-0/-home-user-MeAI/f5d765e8-a442-5f2c-87c4-ad64e47ba212/scratchpad/build/img/portal_entry_crm_1e8df5130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011680"/>
            <a:ext cx="6611112" cy="310589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029200" y="5349240"/>
            <a:ext cx="6611112" cy="960120"/>
          </a:xfrm>
          <a:prstGeom prst="roundRect">
            <a:avLst>
              <a:gd name="adj" fmla="val 11429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57800" y="5440680"/>
            <a:ext cx="6153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핵심일까요?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생일·상령일 목록에서 바로 [MeAI 맞춤대화]. 영업이 목록에서 시작돼요.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대문 화면 구성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대문은 다섯 구역과 스위치·버튼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511918" cy="4937760"/>
          </a:xfrm>
          <a:prstGeom prst="roundRect">
            <a:avLst>
              <a:gd name="adj" fmla="val 22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/tmp/claude-0/-home-user-MeAI/f5d765e8-a442-5f2c-87c4-ad64e47ba212/scratchpad/build/img/gate_full_85e54b029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511918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2855" y="163720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22855" y="163720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149151" y="185155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149151" y="18515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2855" y="274724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22855" y="2747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149151" y="355106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149151" y="35510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2855" y="580941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22855" y="580941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514683" y="137691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514683" y="13769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492240" y="13898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49224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876288" y="137160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+ 최근 업데이트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876288" y="166420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"OO님 안녕하세요" · 오른쪽 시각 = 데이터 기준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92240" y="209397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92240" y="2093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876288" y="2075688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카드 두 장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876288" y="236829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일반대화는 무엇이든, 맞춤대화는 고객 한 명.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492240" y="27980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492240" y="2798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876288" y="2779776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숫자 4개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876288" y="307238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· 맞춤대화 가능 · 동의 필요 · 상품제안 가능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492240" y="35021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6492240" y="3502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876288" y="3483864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876288" y="3776472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이유가 붙은 카드 3장 × 세트 3개.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492240" y="420624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6492240" y="4206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876288" y="4187952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범례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876288" y="4480560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색 · 동의 상태 · 고객 유형의 뜻.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6492240" y="4910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6492240" y="4910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876288" y="489204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스위치·버튼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876288" y="518464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[글씨 확대] ON/OFF · [고객 동의] · [게시판]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492240" y="5760720"/>
            <a:ext cx="5148072" cy="548640"/>
          </a:xfrm>
          <a:prstGeom prst="roundRect">
            <a:avLst>
              <a:gd name="adj" fmla="val 2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20840" y="5852160"/>
            <a:ext cx="4690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데이터와 추천 결과는 매일 새로 계산돼 다음 날 반영돼요.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NEW 글씨 확대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글씨가 작으면, 오른쪽 위 스위치 하나로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대문·고객찾기·게시판 오른쪽 위 [글씨 확대]. 기본은 ON이에요.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1052886" y="384048"/>
            <a:ext cx="590169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052886" y="384048"/>
            <a:ext cx="5901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78308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· 기본 (글씨 한 단계 크게)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103120"/>
            <a:ext cx="4297680" cy="595063"/>
          </a:xfrm>
          <a:prstGeom prst="roundRect">
            <a:avLst>
              <a:gd name="adj" fmla="val 1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/tmp/claude-0/-home-user-MeAI/f5d765e8-a442-5f2c-87c4-ad64e47ba212/scratchpad/build/img/v2_switch_on_z_195bca54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4297680" cy="595063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297180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 · 원래 크기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91840"/>
            <a:ext cx="4297680" cy="595063"/>
          </a:xfrm>
          <a:prstGeom prst="roundRect">
            <a:avLst>
              <a:gd name="adj" fmla="val 1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1" descr="/tmp/claude-0/-home-user-MeAI/f5d765e8-a442-5f2c-87c4-ad64e47ba212/scratchpad/build/img/v2_switch_off_z_f3c351132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91840"/>
            <a:ext cx="4297680" cy="595063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48640" y="4206240"/>
            <a:ext cx="4297680" cy="1143000"/>
          </a:xfrm>
          <a:prstGeom prst="roundRect">
            <a:avLst>
              <a:gd name="adj" fmla="val 96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429768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번만 바꾸면 돼요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화면이 같이 바뀌고, 이 PC에서는 다음에도 그대로예요.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48640" y="5486400"/>
            <a:ext cx="4297680" cy="777240"/>
          </a:xfrm>
          <a:prstGeom prst="roundRect">
            <a:avLst>
              <a:gd name="adj" fmla="val 1411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77240" y="557784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OFF는 언제?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화면에 더 많이 보고 싶을 때.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5257800" y="17830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257800" y="2103120"/>
            <a:ext cx="3063240" cy="346381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1" name="Image 2" descr="/tmp/claude-0/-home-user-MeAI/f5d765e8-a442-5f2c-87c4-ad64e47ba212/scratchpad/build/img/v2_font_on_card_f1a6b2a8d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103120"/>
            <a:ext cx="3063240" cy="346381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549640" y="17830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549640" y="2103120"/>
            <a:ext cx="3063240" cy="312607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4" name="Image 3" descr="/tmp/claude-0/-home-user-MeAI/f5d765e8-a442-5f2c-87c4-ad64e47ba212/scratchpad/build/img/v2_font_off_card_d06f9158c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2103120"/>
            <a:ext cx="3063240" cy="312607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대화 카드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대화를 시작할지 먼저 골라요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묻는 일반대화, 고객 한 명을 보는 맞춤대화.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508451"/>
          </a:xfrm>
          <a:prstGeom prst="roundRect">
            <a:avLst>
              <a:gd name="adj" fmla="val 848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tmp/claude-0/-home-user-MeAI/f5d765e8-a442-5f2c-87c4-ad64e47ba212/scratchpad/build/img/gate_cards_a975dc47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4415" cy="150845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520440"/>
            <a:ext cx="54406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3721608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왼쪽 카드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97764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정하지 않은 질문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361688"/>
            <a:ext cx="49834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상품·특약, 화법, 약관, 자사·타사 보장 비교. 공부하고 준비할 때.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217920" y="3520440"/>
            <a:ext cx="5422392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46520" y="3721608"/>
            <a:ext cx="4965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· 오른쪽(검은) 카드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446520" y="3977640"/>
            <a:ext cx="4965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명의 보장을 함께 봐요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361688"/>
            <a:ext cx="49651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고객 검색 팝업이 먼저 떠요. 고객을 고르면 시작(PART 3).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48640" y="53035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39496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처음엔 일반대화로 감을 익히고, 고객을 만나기 전엔 꼭 맞춤대화.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내 고객 찾기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아침, 숫자 4개만 훑어보세요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숫자가 오늘 할 일의 크기예요.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897729"/>
          </a:xfrm>
          <a:prstGeom prst="roundRect">
            <a:avLst>
              <a:gd name="adj" fmla="val 67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tmp/claude-0/-home-user-MeAI/f5d765e8-a442-5f2c-87c4-ad64e47ba212/scratchpad/build/img/gate_stats_f4bc628a6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4415" cy="189772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342명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전체 고객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보유·가망·이관을 모두 더한 수예요.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64992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3593592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137명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3593592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가능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3593592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동의가 유효한 고객. 지금 바로 시작.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81344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09944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186명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6409944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 필요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9944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동의가 없거나 만료된 고객. 동의를 다시 받을 고객 목록이에요.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997696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226296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84명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9226296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상품제안 가능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9226296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소개에 동의한 고객. "AI 추천 고객" 리본.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897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숫자는 예시예요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156655" y="5897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 →] 누르면 PART 4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오늘의 추천 고객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사람을 MeAI가 먼저 골라요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3장 × 세트 3개. 화살표로 넘겨요.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223686" y="1691640"/>
            <a:ext cx="9744323" cy="393192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tmp/claude-0/-home-user-MeAI/f5d765e8-a442-5f2c-87c4-ad64e47ba212/scratchpad/build/img/gate_reco1_852db8423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3686" y="1691640"/>
            <a:ext cx="9744323" cy="39319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649554" y="170714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649554" y="170714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59009" y="232257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359009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24893" y="294655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324893" y="29465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196528" y="397227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2196528" y="397227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649554" y="427144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2649554" y="42714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965817" y="482703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965817" y="48270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402274" y="193793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10402274" y="19379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453259" y="538263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453259" y="5382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548640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877824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 구역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322244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3322244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3651428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유형 · 담당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095848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095848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6425032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 + 근거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8869451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8869451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9198635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48640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548640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877824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3322244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3322244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3651428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095848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6095848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6425032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추천 고객 리본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8869451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7" name="Text 44"/>
          <p:cNvSpPr txBox="1"/>
          <p:nvPr/>
        </p:nvSpPr>
        <p:spPr>
          <a:xfrm>
            <a:off x="8869451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9198635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세트 위치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추천 카드 읽는 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한 장에 누구·왜·언제·다음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문장은 그대로 고객에게 하는 첫 말이에요.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581738" cy="4617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tmp/claude-0/-home-user-MeAI/f5d765e8-a442-5f2c-87c4-ad64e47ba212/scratchpad/build/img/gate_card_z_c441407e4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581738" cy="4617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29174" y="209991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29174" y="209991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99066" y="209991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99066" y="209991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29174" y="265164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29174" y="26516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29174" y="351521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29174" y="351521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29174" y="442676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429174" y="44267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29174" y="484655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429174" y="48465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29174" y="562617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29174" y="562617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53212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53212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916168" y="1691640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916168" y="1984248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이름은 줄여서 보여요.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532120" y="23591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5532120" y="2359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5916168" y="2340864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유형 · 담당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916168" y="2633472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보유·가망·이관 중 하나, 그리고 담당자.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532120" y="300837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5532120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5916168" y="2990088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916168" y="3282696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아래 굵은 한 문장. "부담보 해제가 5일 남았습니다."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532120" y="36576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553212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5916168" y="3639312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설명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916168" y="3931920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 좋은 기회인지. 상담 방향이 여기서 정해져요.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532120" y="430682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5532120" y="4306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5916168" y="4288536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916168" y="4581144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#이벤트 임박(파랑) #보장 공백(빨강) #당월 타겟(보라)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5532120" y="4956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5532120" y="4956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5916168" y="4937760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5916168" y="5230368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만료까지 남은 날. 만료되면 재동의부터.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5532120" y="560527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5532120" y="5605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5916168" y="5586984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5916168" y="5879592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고객찾기의 이 고객 카드로 바로 이동.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추천 세트 3개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새로 계산되는 카드 9장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783080" y="1371600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/tmp/claude-0/-home-user-MeAI/f5d765e8-a442-5f2c-87c4-ad64e47ba212/scratchpad/build/img/reco2_card1_9a9db8987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1371600"/>
            <a:ext cx="2102358" cy="226771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42232" y="1371600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1" descr="/tmp/claude-0/-home-user-MeAI/f5d765e8-a442-5f2c-87c4-ad64e47ba212/scratchpad/build/img/reco2_card2_005f63dfb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1371600"/>
            <a:ext cx="2102358" cy="226771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501384" y="1371600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2" descr="/tmp/claude-0/-home-user-MeAI/f5d765e8-a442-5f2c-87c4-ad64e47ba212/scratchpad/build/img/reco2_card3_3de43655c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1371600"/>
            <a:ext cx="2102358" cy="226771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783080" y="3776472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3" descr="/tmp/claude-0/-home-user-MeAI/f5d765e8-a442-5f2c-87c4-ad64e47ba212/scratchpad/build/img/reco3_card1_dc8ff4fa9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3776472"/>
            <a:ext cx="2102358" cy="2267712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142232" y="3776472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4" descr="/tmp/claude-0/-home-user-MeAI/f5d765e8-a442-5f2c-87c4-ad64e47ba212/scratchpad/build/img/reco3_card2_d173ee6c7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3776472"/>
            <a:ext cx="2102358" cy="2267712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6501384" y="3776472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7" name="Image 5" descr="/tmp/claude-0/-home-user-MeAI/f5d765e8-a442-5f2c-87c4-ad64e47ba212/scratchpad/build/img/reco3_card3_2f839c0a47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1384" y="3776472"/>
            <a:ext cx="2102358" cy="22677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548640" y="22768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세트 2</a:t>
            </a:r>
            <a:endParaRPr lang="en-US" sz="1600" dirty="0"/>
          </a:p>
        </p:txBody>
      </p:sp>
      <p:sp>
        <p:nvSpPr>
          <p:cNvPr id="19" name="Text 11"/>
          <p:cNvSpPr txBox="1"/>
          <p:nvPr/>
        </p:nvSpPr>
        <p:spPr>
          <a:xfrm>
            <a:off x="548640" y="46817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세트 3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8869680" y="1371600"/>
            <a:ext cx="2770632" cy="4672584"/>
          </a:xfrm>
          <a:prstGeom prst="roundRect">
            <a:avLst>
              <a:gd name="adj" fmla="val 462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9144000" y="1783080"/>
            <a:ext cx="2221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4400" dirty="0"/>
          </a:p>
        </p:txBody>
      </p:sp>
      <p:sp>
        <p:nvSpPr>
          <p:cNvPr id="22" name="Text 14"/>
          <p:cNvSpPr txBox="1"/>
          <p:nvPr/>
        </p:nvSpPr>
        <p:spPr>
          <a:xfrm>
            <a:off x="9144000" y="2633472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3장 × 세트 3개</a:t>
            </a:r>
            <a:endParaRPr lang="en-US" sz="1500" dirty="0"/>
          </a:p>
        </p:txBody>
      </p:sp>
      <p:sp>
        <p:nvSpPr>
          <p:cNvPr id="23" name="Text 15"/>
          <p:cNvSpPr txBox="1"/>
          <p:nvPr/>
        </p:nvSpPr>
        <p:spPr>
          <a:xfrm>
            <a:off x="9144000" y="3017520"/>
            <a:ext cx="2221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화살표를 누를 때마다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세트 2, 세트 3이 나와요.</a:t>
            </a:r>
            <a:endParaRPr lang="en-US" sz="1250" dirty="0"/>
          </a:p>
        </p:txBody>
      </p:sp>
      <p:sp>
        <p:nvSpPr>
          <p:cNvPr id="24" name="Shape 16"/>
          <p:cNvSpPr/>
          <p:nvPr/>
        </p:nvSpPr>
        <p:spPr>
          <a:xfrm>
            <a:off x="9144000" y="4023360"/>
            <a:ext cx="2221992" cy="0"/>
          </a:xfrm>
          <a:prstGeom prst="line">
            <a:avLst/>
          </a:prstGeom>
          <a:noFill/>
          <a:ln w="12700">
            <a:solidFill>
              <a:srgbClr val="C9E2F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9144000" y="4343400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날 반영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9144000" y="4727448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날 대문에 보여요.</a:t>
            </a:r>
            <a:endParaRPr lang="en-US" sz="1250" dirty="0"/>
          </a:p>
        </p:txBody>
      </p:sp>
      <p:sp>
        <p:nvSpPr>
          <p:cNvPr id="27" name="Text 19"/>
          <p:cNvSpPr txBox="1"/>
          <p:nvPr/>
        </p:nvSpPr>
        <p:spPr>
          <a:xfrm>
            <a:off x="9144000" y="5440680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추천 고객은 2차 오픈부터</a:t>
            </a:r>
            <a:endParaRPr lang="en-US" sz="1150" dirty="0"/>
          </a:p>
        </p:txBody>
      </p:sp>
      <p:sp>
        <p:nvSpPr>
          <p:cNvPr id="28" name="Text 20"/>
          <p:cNvSpPr txBox="1"/>
          <p:nvPr/>
        </p:nvSpPr>
        <p:spPr>
          <a:xfrm>
            <a:off x="548640" y="6080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이름과 숫자는 예시예요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추천 이유의 종류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MeAI는 이런 이유로 추천해요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9장의 이유를 세 갈래로 나눴어요. 카드 태그와는 다른 분류예요.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120640"/>
                <a:gridCol w="386791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 유형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카드의 이유 문장 (예시)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보고 골랐나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일정형 · 이벤트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부담보 해제가 5일 남았습니다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부담보 해제 · 동의 만료 · 만기 · 상령일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 공백형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실손이 없어 의료비 본인부담이 큽니다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실손 · 수술비 · 진단비, 비어 있는 담보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관계·정리형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암진단비가 중복 가입돼 있어 보험료 부담이 큽니다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중복 · 보상 이력 · 접촉 공백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75488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84632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일정형은 오늘 연락 · 공백형은 제안이 정해진 카드 · 관계형은 만남의 명분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852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추천 고객은 2차 오픈부터(게시판 공지)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범례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태그·동의·유형, 색으로 읽어요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맨 아래 범례예요. 태그 3종은 아래에 따로 정리했어요.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815450"/>
          </a:xfrm>
          <a:prstGeom prst="roundRect">
            <a:avLst>
              <a:gd name="adj" fmla="val 70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tmp/claude-0/-home-user-MeAI/f5d765e8-a442-5f2c-87c4-ad64e47ba212/scratchpad/build/img/fix_legend_tight_9b2d735ec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4415" cy="18154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931920"/>
            <a:ext cx="11094415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68680" y="418795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태그 3종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68680" y="4800600"/>
            <a:ext cx="1070102" cy="384048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4800600"/>
            <a:ext cx="10701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#보장 공백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5330952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부족한 담보가 있어요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353458" y="4800600"/>
            <a:ext cx="1070102" cy="384048"/>
          </a:xfrm>
          <a:prstGeom prst="roundRect">
            <a:avLst>
              <a:gd name="adj" fmla="val 50000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53458" y="4800600"/>
            <a:ext cx="10701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#당월 타겟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353458" y="5330952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 영업 목표 대상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7838237" y="4800600"/>
            <a:ext cx="1235202" cy="384048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838237" y="4800600"/>
            <a:ext cx="12352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#이벤트 임박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38237" y="5330952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만기·해제·상령일이 코앞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그룹 태그는 PART 4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길 안내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대문에서 가는 곳, 다섯 군데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어디서든 왼쪽 위 [MeAI 홈]으로 돌아와요.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754880" y="3291840"/>
            <a:ext cx="2697480" cy="1188720"/>
          </a:xfrm>
          <a:prstGeom prst="roundRect">
            <a:avLst>
              <a:gd name="adj" fmla="val 12308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754880" y="333756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38862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→ MeAI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5786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944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[일반대화] 카드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246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물어보는 창. 상품·약관·화법.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408736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453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[맞춤대화] 카드 → 고객 검색 팝업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7548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고르면 그 고객의 대화가 열려요. (PART 3)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8160" y="173736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66760" y="18470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고객찾기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22128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 →] 버튼 · 카드의 [열기]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366760" y="25146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그룹별 고객 목록과 다음 행동. (PART 4)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8160" y="324612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366760" y="335584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3721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[게시판] 버튼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366760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공지·이슈·기능안내. 빨간 점은 새 글. (PART 5)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38160" y="475488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366760" y="48646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동의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366760" y="5230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[고객 동의] 버튼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5532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번호 → 동의 요청 알림톡. (PART 5)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069080" y="3131820"/>
            <a:ext cx="685800" cy="434340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 flipV="1">
            <a:off x="4069080" y="4206240"/>
            <a:ext cx="685800" cy="434340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 flipV="1">
            <a:off x="7452360" y="2395728"/>
            <a:ext cx="685800" cy="1033272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7452360" y="3904488"/>
            <a:ext cx="685800" cy="9144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7452360" y="4343400"/>
            <a:ext cx="685800" cy="1069848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맞춤대화로 가는 두 길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검색 팝업과 추천 카드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알면 검색 팝업, 고민이면 추천 카드.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1 · 고객 검색 팝업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2 · 추천 카드 → 고객찾기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D-n이면 바로, 회색이면 동의부터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길 1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알면, 고객 검색 팝업으로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대문의 검은 카드를 누르면 떠요. 고객을 고르면 바로 시작.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243667" cy="4617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tmp/claude-0/-home-user-MeAI/f5d765e8-a442-5f2c-87c4-ad64e47ba212/scratchpad/build/img/gate_search_7591cb73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243667" cy="4617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330251" y="181550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330251" y="18155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879873" y="230205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879873" y="23020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068956" y="263093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068956" y="26309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037551" y="285167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2037551" y="285167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132288" y="262191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3132288" y="262191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150048" y="592865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1150048" y="592865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177339" y="178847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3177339" y="178847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34340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434340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4727448" y="1691640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검색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727448" y="198424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"고객을 선택하면 맞춤대화를 시작합니다"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343400" y="23591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4343400" y="2359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4727448" y="2340864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727448" y="2633472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글자만 넣어도, 담당자 이름으로도 찾아져요.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343400" y="300837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4343400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4727448" y="2990088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61명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727448" y="3282696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동의가 유효한 고객만, 가나다순.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343400" y="36576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434340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4727448" y="3639312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727448" y="3931920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만료까지 남은 날. 오늘 철회한 고객은 회색.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343400" y="430682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4343400" y="4306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4727448" y="4288536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[맞춤대화] 버튼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727448" y="4581144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팝업이 닫히고 그 고객의 맞춤대화가 열려요.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4343400" y="4956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4343400" y="4956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4727448" y="4937760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페이지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727448" y="523036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쪽에 10명. 이름으로 찾으면 넘길 일이 거의 없어요.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4343400" y="560527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4343400" y="5605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4727448" y="5586984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닫기(X)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727448" y="5879592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대문으로 돌아와요. 검색어는 초기화.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이름으로 찾기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글자만 넣어도 목록이 좁혀져요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성만 알아도 괜찮아요. 담당자 이름으로도 찾아요.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045032" cy="4343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tmp/claude-0/-home-user-MeAI/f5d765e8-a442-5f2c-87c4-ad64e47ba212/scratchpad/build/img/gate_search_kim_5a9a399de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045032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62472"/>
            <a:ext cx="304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"김" 입력 → 김씨 고객 + 담당자 김OO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934531" y="225515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34531" y="22551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577371" y="318558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1577371" y="3185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06908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06908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453128" y="1691640"/>
            <a:ext cx="7187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글자부터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453128" y="1984248"/>
            <a:ext cx="7187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"김"만 넣어도 김씨 고객이 모두 보여요. 즉시 걸러져요.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069080" y="23957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069080" y="2395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4453128" y="2377440"/>
            <a:ext cx="7187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같아도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453128" y="2670048"/>
            <a:ext cx="7187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나이·담당자가 함께 보여서 구분돼요.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069080" y="3291840"/>
            <a:ext cx="4434214" cy="269748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3" name="Image 1" descr="/tmp/claude-0/-home-user-MeAI/f5d765e8-a442-5f2c-87c4-ad64e47ba212/scratchpad/build/img/fix_noresult_popup_2350eeb8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3291840"/>
            <a:ext cx="4434214" cy="269748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4069080" y="6035040"/>
            <a:ext cx="44342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없는 이름 → "조건에 맞는 고객이 없습니다"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4609557" y="514410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4609557" y="51441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8823334" y="3310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8823334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9207382" y="3291840"/>
            <a:ext cx="24356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없으면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9207382" y="3584448"/>
            <a:ext cx="24356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"조건에 맞는 고객이 없습니다."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등록·동의부터 확인해요.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동의 상태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D-n이면 바로, 회색이면 동의부터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만료된 고객은 목록에 없고, 오늘 철회한 고객은 회색.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7315200" cy="863216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tmp/claude-0/-home-user-MeAI/f5d765e8-a442-5f2c-87c4-ad64e47ba212/scratchpad/build/img/31_row_normal_zoom_4298b2d0b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315200" cy="8632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25877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유효 · D-26 · [맞춤대화] 활성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3017520"/>
            <a:ext cx="7315200" cy="863216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/tmp/claude-0/-home-user-MeAI/f5d765e8-a442-5f2c-87c4-ad64e47ba212/scratchpad/build/img/33_row_d1_zoom_d3b37f520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17520"/>
            <a:ext cx="7315200" cy="8632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39136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하루 전 · D-1 · 아직 시작 가능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4343400"/>
            <a:ext cx="7315200" cy="863216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2" descr="/tmp/claude-0/-home-user-MeAI/f5d765e8-a442-5f2c-87c4-ad64e47ba212/scratchpad/build/img/34_row_revoked_zoom_60d21381d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43400"/>
            <a:ext cx="7315200" cy="8632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" y="52395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철회 · 회색 · [맞춤대화] 비활성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48640" y="5577840"/>
            <a:ext cx="7315200" cy="731520"/>
          </a:xfrm>
          <a:prstGeom prst="roundRect">
            <a:avLst>
              <a:gd name="adj" fmla="val 15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77240" y="56692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만료된 고객은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[사전동의 만료] 그룹이나 대문 [고객 동의]로 재동의 요청.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8138160" y="1691640"/>
            <a:ext cx="3502152" cy="1920240"/>
          </a:xfrm>
          <a:prstGeom prst="roundRect">
            <a:avLst>
              <a:gd name="adj" fmla="val 5714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366760" y="1783080"/>
            <a:ext cx="3044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동의가 먼저인가요?  </a:t>
            </a:r>
            <a:pPr indent="0" marL="0">
              <a:lnSpc>
                <a:spcPct val="130000"/>
              </a:lnSpc>
              <a:buNone/>
            </a:pP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보장 내역을 읽어요.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동의는 약 15분 내외로 반영돼요.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(게시판 공지)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8138160" y="3794760"/>
            <a:ext cx="3502152" cy="2514600"/>
          </a:xfrm>
          <a:prstGeom prst="roundRect">
            <a:avLst>
              <a:gd name="adj" fmla="val 436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366760" y="3886200"/>
            <a:ext cx="304495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화법  </a:t>
            </a:r>
            <a:pPr indent="0" marL="0">
              <a:lnSpc>
                <a:spcPct val="130000"/>
              </a:lnSpc>
              <a:buNone/>
            </a:pP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"보장을 정확히 보고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말씀드리려면 동의가 필요해요.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알림톡으로 금방 끝나요."</a:t>
            </a:r>
            <a:endParaRPr lang="en-US" sz="14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길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고민이면 추천 카드, 클릭 두 번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타겟팅이 끝난 상태로 맞춤대화 화면에 들어가요.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909827"/>
            <a:ext cx="2651760" cy="267258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tmp/claude-0/-home-user-MeAI/f5d765e8-a442-5f2c-87c4-ad64e47ba212/scratchpad/build/img/gate_card_z_c441407e4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09827"/>
            <a:ext cx="2651760" cy="267258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4910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48640" y="4910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4892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· 추천 카드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3492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열기]를 눌러요.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127248" y="30175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3364992" y="2324851"/>
            <a:ext cx="2651760" cy="1842537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1" descr="/tmp/claude-0/-home-user-MeAI/f5d765e8-a442-5f2c-87c4-ad64e47ba212/scratchpad/build/img/fix_find_card_choi_ad1ad0fa3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324851"/>
            <a:ext cx="2651760" cy="1842537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364992" y="4910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3364992" y="4910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3730752" y="4892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펼친 카드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3364992" y="53492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 6칸과 태그를 확인해요.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943600" y="30175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6181344" y="1769572"/>
            <a:ext cx="2651760" cy="295309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2" name="Image 2" descr="/tmp/claude-0/-home-user-MeAI/f5d765e8-a442-5f2c-87c4-ad64e47ba212/scratchpad/build/img/find_right_choi_8868e2a38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1769572"/>
            <a:ext cx="2651760" cy="2953096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181344" y="4910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6181344" y="4910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6547104" y="4892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6181344" y="53492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패널 · 추천 질문을 그대로.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8759952" y="30175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3"/>
          <p:cNvSpPr/>
          <p:nvPr/>
        </p:nvSpPr>
        <p:spPr>
          <a:xfrm>
            <a:off x="8997696" y="1876326"/>
            <a:ext cx="2651760" cy="273958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9" name="Image 3" descr="/tmp/claude-0/-home-user-MeAI/f5d765e8-a442-5f2c-87c4-ad64e47ba212/scratchpad/build/img/fix_custom_q_tight_8f99d05d8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876326"/>
            <a:ext cx="2651760" cy="2739589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7696" y="4910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8997696" y="4910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9363456" y="4892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화면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8997696" y="53492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정해진 채로 열려요.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예시 화면이라 이름이 달라요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548640" y="5943600"/>
            <a:ext cx="11094415" cy="384048"/>
          </a:xfrm>
          <a:prstGeom prst="roundRect">
            <a:avLst>
              <a:gd name="adj" fmla="val 2857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777240" y="6035040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길의 차이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1은 "이 고객"이 정해진 날, 길 2는 "오늘 한 명"인 날. 도착은 같아요.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고객을 MeAI가 그룹으로 묶어줘요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 부족 35명", 그룹을 누르면 그 고객만 모여요.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· 가운데 · 오른쪽 3단 화면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14개와 설명 문구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 · 한눈에 보기 6칸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동의별 다음 행동 · 검색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화면 구성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고객찾기는 세 단으로 읽어요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7772400" cy="4857750"/>
          </a:xfrm>
          <a:prstGeom prst="roundRect">
            <a:avLst>
              <a:gd name="adj" fmla="val 26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/tmp/claude-0/-home-user-MeAI/f5d765e8-a442-5f2c-87c4-ad64e47ba212/scratchpad/build/img/find_full_ccc2fca4b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772400" cy="48577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202817" y="171018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202817" y="17101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877505" y="239026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1877505" y="23902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10687" y="173717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210687" y="17371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547805" y="235788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5547805" y="23578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2061020" y="458165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2061020" y="45816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29565" y="195846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6929565" y="19584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744587" y="403650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744587" y="4036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2525205" y="133775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2525205" y="13377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600317" y="157524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600317" y="157524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595360" y="131673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8595360" y="1316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8979408" y="1298448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그룹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8979408" y="1591056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그룹을 누르면 목록이 바뀌어요.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595360" y="186423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8595360" y="18642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8979408" y="1845945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탭 전환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8979408" y="2138553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기준 10개 · 영업 기회 3개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8595360" y="241173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8595360" y="241173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8979408" y="2393442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설명</a:t>
            </a:r>
            <a:endParaRPr 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8979408" y="2686050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묶인 이유 한 줄 · [전체] 필터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8595360" y="295922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8595360" y="295922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8979408" y="2940939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펼친 카드</a:t>
            </a:r>
            <a:endParaRPr lang="en-US" sz="1250" dirty="0"/>
          </a:p>
        </p:txBody>
      </p:sp>
      <p:sp>
        <p:nvSpPr>
          <p:cNvPr id="41" name="Text 38"/>
          <p:cNvSpPr txBox="1"/>
          <p:nvPr/>
        </p:nvSpPr>
        <p:spPr>
          <a:xfrm>
            <a:off x="8979408" y="3233547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· 태그 · 한눈에 보기 6칸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8595360" y="350672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595360" y="35067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8979408" y="3488436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접힌 카드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8979408" y="3781044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펼쳐지고 패널이 바뀌어요.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8595360" y="405422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7" name="Text 44"/>
          <p:cNvSpPr txBox="1"/>
          <p:nvPr/>
        </p:nvSpPr>
        <p:spPr>
          <a:xfrm>
            <a:off x="8595360" y="4054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8979408" y="4035933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</a:t>
            </a:r>
            <a:endParaRPr lang="en-US" sz="1250" dirty="0"/>
          </a:p>
        </p:txBody>
      </p:sp>
      <p:sp>
        <p:nvSpPr>
          <p:cNvPr id="49" name="Text 46"/>
          <p:cNvSpPr txBox="1"/>
          <p:nvPr/>
        </p:nvSpPr>
        <p:spPr>
          <a:xfrm>
            <a:off x="8979408" y="4328541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일반대화용 · 맞춤대화용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8595360" y="460171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1" name="Text 48"/>
          <p:cNvSpPr txBox="1"/>
          <p:nvPr/>
        </p:nvSpPr>
        <p:spPr>
          <a:xfrm>
            <a:off x="8595360" y="460171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8979408" y="4583430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버튼</a:t>
            </a:r>
            <a:endParaRPr lang="en-US" sz="1250" dirty="0"/>
          </a:p>
        </p:txBody>
      </p:sp>
      <p:sp>
        <p:nvSpPr>
          <p:cNvPr id="53" name="Text 50"/>
          <p:cNvSpPr txBox="1"/>
          <p:nvPr/>
        </p:nvSpPr>
        <p:spPr>
          <a:xfrm>
            <a:off x="8979408" y="4876038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[보장분석] · [맞춤대화 시작]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8595360" y="514921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5" name="Text 52"/>
          <p:cNvSpPr txBox="1"/>
          <p:nvPr/>
        </p:nvSpPr>
        <p:spPr>
          <a:xfrm>
            <a:off x="8595360" y="51492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8979408" y="5130927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</a:t>
            </a:r>
            <a:endParaRPr lang="en-US" sz="1250" dirty="0"/>
          </a:p>
        </p:txBody>
      </p:sp>
      <p:sp>
        <p:nvSpPr>
          <p:cNvPr id="57" name="Text 54"/>
          <p:cNvSpPr txBox="1"/>
          <p:nvPr/>
        </p:nvSpPr>
        <p:spPr>
          <a:xfrm>
            <a:off x="8979408" y="5423535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이름·조건으로 검색해요.</a:t>
            </a:r>
            <a:endParaRPr lang="en-US" sz="1050" dirty="0"/>
          </a:p>
        </p:txBody>
      </p:sp>
      <p:sp>
        <p:nvSpPr>
          <p:cNvPr id="58" name="Shape 55"/>
          <p:cNvSpPr/>
          <p:nvPr/>
        </p:nvSpPr>
        <p:spPr>
          <a:xfrm>
            <a:off x="8595360" y="569671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9" name="Text 56"/>
          <p:cNvSpPr txBox="1"/>
          <p:nvPr/>
        </p:nvSpPr>
        <p:spPr>
          <a:xfrm>
            <a:off x="8595360" y="5696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50" dirty="0"/>
          </a:p>
        </p:txBody>
      </p:sp>
      <p:sp>
        <p:nvSpPr>
          <p:cNvPr id="60" name="Text 57"/>
          <p:cNvSpPr txBox="1"/>
          <p:nvPr/>
        </p:nvSpPr>
        <p:spPr>
          <a:xfrm>
            <a:off x="8979408" y="5678424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[글씨 확대]</a:t>
            </a:r>
            <a:endParaRPr lang="en-US" sz="1250" dirty="0"/>
          </a:p>
        </p:txBody>
      </p:sp>
      <p:sp>
        <p:nvSpPr>
          <p:cNvPr id="61" name="Text 58"/>
          <p:cNvSpPr txBox="1"/>
          <p:nvPr/>
        </p:nvSpPr>
        <p:spPr>
          <a:xfrm>
            <a:off x="8979408" y="5971032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ON, 끄면 원래 크기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고객 그룹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이름이 곧 연락 이유예요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기준 10개 · 영업 기회 3개 · 신규 등록. 인원은 예시예요.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11295" cy="43159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tmp/claude-0/-home-user-MeAI/f5d765e8-a442-5f2c-87c4-ad64e47ba212/scratchpad/build/img/find_groups_z_3c6ba78c9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611295" cy="43159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53328"/>
            <a:ext cx="1611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기준 탭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377440" y="1691640"/>
            <a:ext cx="1965960" cy="266808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/tmp/claude-0/-home-user-MeAI/f5d765e8-a442-5f2c-87c4-ad64e47ba212/scratchpad/build/img/find_left_opp_top_z_e67014177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691640"/>
            <a:ext cx="1965960" cy="266808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377440" y="4405449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기회 탭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377440" y="4846320"/>
            <a:ext cx="1965960" cy="502920"/>
          </a:xfrm>
          <a:prstGeom prst="roundRect">
            <a:avLst>
              <a:gd name="adj" fmla="val 2181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606040" y="49377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색은 35쪽에서 봐요.</a:t>
            </a:r>
            <a:endParaRPr lang="en-US" sz="10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691640"/>
          <a:ext cx="706831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639312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 들어오나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우선순위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등록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아직 분류 전인 신규 고객 · 다음 날 반영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암·뇌·심진단비 부족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진단비 2천만원 이하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 · 종수술비 부족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 5천만원 이하 · 종수술비 없음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지원일당 없음 · 치아 부족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간병인지원 입원일당 · 치아보철 없음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영업 타겟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044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NEW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회사 전략 담보 대상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(최상)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증권 5건 이상 · 월 50만원 이상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증권이 많거나 보험료가 큰 우량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 임박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044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NEW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· 생일 임박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30일 안에 보험 나이가 오름 · 곧 생일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사전동의 만료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044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NEW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만료 임박 · 재동의 대상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 txBox="1"/>
          <p:nvPr/>
        </p:nvSpPr>
        <p:spPr>
          <a:xfrm>
            <a:off x="4572000" y="5897880"/>
            <a:ext cx="7068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고객이 여러 그룹에 들 수 있어요.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그룹 설명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한 줄이 곧 상담 화법이에요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그룹을 누르면 묶인 이유가 한 줄로 붙어요.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6766560" cy="1249211"/>
          </a:xfrm>
          <a:prstGeom prst="roundRect">
            <a:avLst>
              <a:gd name="adj" fmla="val 102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tmp/claude-0/-home-user-MeAI/f5d765e8-a442-5f2c-87c4-ad64e47ba212/scratchpad/build/img/find_header_0234e72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766560" cy="124921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154680"/>
            <a:ext cx="6766560" cy="1186211"/>
          </a:xfrm>
          <a:prstGeom prst="roundRect">
            <a:avLst>
              <a:gd name="adj" fmla="val 107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/tmp/claude-0/-home-user-MeAI/f5d765e8-a442-5f2c-87c4-ad64e47ba212/scratchpad/build/img/11_group_brain_header_2c2c63e91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54680"/>
            <a:ext cx="6766560" cy="1186211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293034" y="191095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2293034" y="19109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1043823" y="255117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1043823" y="2551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2017785" y="395851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2017785" y="39585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4617720"/>
            <a:ext cx="6766560" cy="1186211"/>
          </a:xfrm>
          <a:prstGeom prst="roundRect">
            <a:avLst>
              <a:gd name="adj" fmla="val 107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2" descr="/tmp/claude-0/-home-user-MeAI/f5d765e8-a442-5f2c-87c4-ad64e47ba212/scratchpad/build/img/17_group_monthly_target_header_e823577b5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617720"/>
            <a:ext cx="6766560" cy="118621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7680960" y="1847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7680960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8065008" y="182880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이름 · 인원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065008" y="2121408"/>
            <a:ext cx="3575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 부족 35명". [전체]로 동의 고객만 걸러요.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7680960" y="287121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7680960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8065008" y="2852928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한 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8065008" y="3145536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기준으로 묶였는지, 어떻게 말할지.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7680960" y="389534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7680960" y="38953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8065008" y="3877056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첫마디로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8065008" y="4169664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"재활·간병 기간이 길어 진단비가 곧 생활비예요."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7680960" y="491947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7"/>
          <p:cNvSpPr txBox="1"/>
          <p:nvPr/>
        </p:nvSpPr>
        <p:spPr>
          <a:xfrm>
            <a:off x="7680960" y="4919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8065008" y="4901184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자료로</a:t>
            </a:r>
            <a:endParaRPr 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8065008" y="5193792"/>
            <a:ext cx="3575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조직장이 조회에서 인원과 문구를 읽어 줘요(PART 8).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그룹 설명 문구 모음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그룹별 한 줄 화법 모음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 문구에서 기준 문장 뒤의 화법만 모았어요.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9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98855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화면의 화법 문장 (그대로)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암진단비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치료비 실제 부담액을 기준으로 설명하면 필요가 분명해집니다.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뇌진단비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뇌질환은 재활·간병 기간이 길어 진단비가 곧 생활비 대체 수단이 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심진단비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심장질환은 시술 반복과 재발이 잦아 한 번의 진단비로는 부족합니다.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표적·면역 항암은 회차당 비용이 커서 별도 특약 없이는 감당이 어렵습니다.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종수술비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수술은 암보다 발생 빈도가 높아 실제 청구가 가장 많이 일어나는 담보입니다.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지원일당 없음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간병비는 하루 단위로 나가는 실지출이라 일당이 없으면 부담이 그대로 남습니다.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치아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임플란트·브릿지는 실손으로 보장되지 않아 전액 본인 부담입니다.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영업 타겟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이번 달 안에 우선 접촉하는 것이 유리합니다.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증권 5건 이상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보험에 대한 관심과 니즈가 높은 고객입니다.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 50만원 이상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납입 규모가 큰 편이므로 보험료 대비 보장 수준을 점검할 대상입니다.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 임박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보장을 더 싸게 준비할 수 있는 마지막 구간입니다.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생일 임박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축하 인사로 대화를 열고 자연스럽게 보장 점검으로 이어가기 좋은 시점입니다.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사전동의 만료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만료 전에 재동의를 받아야 이후에도 안내와 연락을 이어갈 수 있습니다.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등록 고객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상세 정보는 익일 반영됩니다.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603504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확정 화면 기준 · 오픈 시 바뀔 수 있어요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고객 카드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여섯 칸이 펼쳐져요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6766560" cy="1148644"/>
          </a:xfrm>
          <a:prstGeom prst="roundRect">
            <a:avLst>
              <a:gd name="adj" fmla="val 111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/tmp/claude-0/-home-user-MeAI/f5d765e8-a442-5f2c-87c4-ad64e47ba212/scratchpad/build/img/find_aicard_z_1b656895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11486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25568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접힌 카드 · AI 추천 고객 리본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2926080"/>
            <a:ext cx="5550292" cy="3383280"/>
          </a:xfrm>
          <a:prstGeom prst="roundRect">
            <a:avLst>
              <a:gd name="adj" fmla="val 32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/tmp/claude-0/-home-user-MeAI/f5d765e8-a442-5f2c-87c4-ad64e47ba212/scratchpad/build/img/find_card_z_6cf3e64f6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26080"/>
            <a:ext cx="5550292" cy="33832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01757" y="305328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401757" y="30532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01757" y="345585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01757" y="345585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892093" y="339589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5892093" y="3395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01757" y="384129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401757" y="38412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01757" y="426955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401757" y="42695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892093" y="512608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5892093" y="51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7680960" y="1481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7680960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8065008" y="146304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유형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8065008" y="175564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 다르면 "담당 OOO"이 붙어요.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7680960" y="2304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7680960" y="2304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8065008" y="228600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한 문장</a:t>
            </a:r>
            <a:endParaRPr lang="en-US" sz="1350" dirty="0"/>
          </a:p>
        </p:txBody>
      </p:sp>
      <p:sp>
        <p:nvSpPr>
          <p:cNvPr id="30" name="Text 26"/>
          <p:cNvSpPr txBox="1"/>
          <p:nvPr/>
        </p:nvSpPr>
        <p:spPr>
          <a:xfrm>
            <a:off x="8065008" y="257860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"암진단비가 1천만원대에 머물러 있습니다."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7680960" y="31272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7680960" y="3127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8065008" y="310896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</a:t>
            </a:r>
            <a:endParaRPr lang="en-US" sz="1350" dirty="0"/>
          </a:p>
        </p:txBody>
      </p:sp>
      <p:sp>
        <p:nvSpPr>
          <p:cNvPr id="34" name="Text 30"/>
          <p:cNvSpPr txBox="1"/>
          <p:nvPr/>
        </p:nvSpPr>
        <p:spPr>
          <a:xfrm>
            <a:off x="8065008" y="340156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만료면 "필요", 철회면 "철회"로 바뀌어요.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7680960" y="3950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2"/>
          <p:cNvSpPr txBox="1"/>
          <p:nvPr/>
        </p:nvSpPr>
        <p:spPr>
          <a:xfrm>
            <a:off x="768096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8065008" y="393192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(우선순위 순)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8065008" y="422452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보라 = 당월 타겟. 부족 그룹은 그룹마다 색이 달라요.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7680960" y="4773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6"/>
          <p:cNvSpPr txBox="1"/>
          <p:nvPr/>
        </p:nvSpPr>
        <p:spPr>
          <a:xfrm>
            <a:off x="7680960" y="4773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7"/>
          <p:cNvSpPr txBox="1"/>
          <p:nvPr/>
        </p:nvSpPr>
        <p:spPr>
          <a:xfrm>
            <a:off x="8065008" y="475488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 한눈에 보기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8065008" y="504748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칸은 다음 장에서 자세히 봐요.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7680960" y="5596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7680960" y="5596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1"/>
          <p:cNvSpPr txBox="1"/>
          <p:nvPr/>
        </p:nvSpPr>
        <p:spPr>
          <a:xfrm>
            <a:off x="8065008" y="557784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점선 칸 · 미확인</a:t>
            </a:r>
            <a:endParaRPr lang="en-US" sz="1350" dirty="0"/>
          </a:p>
        </p:txBody>
      </p:sp>
      <p:sp>
        <p:nvSpPr>
          <p:cNvPr id="46" name="Text 42"/>
          <p:cNvSpPr txBox="1"/>
          <p:nvPr/>
        </p:nvSpPr>
        <p:spPr>
          <a:xfrm>
            <a:off x="8065008" y="587044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자료가 없으면 "미확인". 추정하지 않아요.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NEW 태그 색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태그가 이제 색으로 구분돼요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그룹 7개가 저마다 다른 색이에요. 여러 개 붙어도 한눈에 보여요.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1052886" y="384048"/>
            <a:ext cx="590169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052886" y="384048"/>
            <a:ext cx="5901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5257800" cy="4526280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18745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그룹 · 색 7가지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8745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3</a:t>
            </a:r>
            <a:endParaRPr lang="en-US" sz="1100" dirty="0"/>
          </a:p>
        </p:txBody>
      </p:sp>
      <p:pic>
        <p:nvPicPr>
          <p:cNvPr id="12" name="Image 0" descr="/tmp/claude-0/-home-user-MeAI/f5d765e8-a442-5f2c-87c4-ad64e47ba212/scratchpad/final/hero/v2_chip_canc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86000"/>
            <a:ext cx="1012874" cy="329184"/>
          </a:xfrm>
          <a:prstGeom prst="rect">
            <a:avLst/>
          </a:prstGeom>
        </p:spPr>
      </p:pic>
      <p:pic>
        <p:nvPicPr>
          <p:cNvPr id="13" name="Image 1" descr="/tmp/claude-0/-home-user-MeAI/f5d765e8-a442-5f2c-87c4-ad64e47ba212/scratchpad/final/hero/v2_chip_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06624"/>
            <a:ext cx="1012874" cy="329184"/>
          </a:xfrm>
          <a:prstGeom prst="rect">
            <a:avLst/>
          </a:prstGeom>
        </p:spPr>
      </p:pic>
      <p:pic>
        <p:nvPicPr>
          <p:cNvPr id="14" name="Image 2" descr="/tmp/claude-0/-home-user-MeAI/f5d765e8-a442-5f2c-87c4-ad64e47ba212/scratchpad/final/hero/v2_chip_he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27248"/>
            <a:ext cx="1012874" cy="329184"/>
          </a:xfrm>
          <a:prstGeom prst="rect">
            <a:avLst/>
          </a:prstGeom>
        </p:spPr>
      </p:pic>
      <p:pic>
        <p:nvPicPr>
          <p:cNvPr id="15" name="Image 3" descr="/tmp/claude-0/-home-user-MeAI/f5d765e8-a442-5f2c-87c4-ad64e47ba212/scratchpad/final/hero/v2_chip_targe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47872"/>
            <a:ext cx="1012874" cy="329184"/>
          </a:xfrm>
          <a:prstGeom prst="rect">
            <a:avLst/>
          </a:prstGeom>
        </p:spPr>
      </p:pic>
      <p:pic>
        <p:nvPicPr>
          <p:cNvPr id="16" name="Image 4" descr="/tmp/claude-0/-home-user-MeAI/f5d765e8-a442-5f2c-87c4-ad64e47ba212/scratchpad/final/hero/v2_chip_surger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0320" y="2286000"/>
            <a:ext cx="1012874" cy="329184"/>
          </a:xfrm>
          <a:prstGeom prst="rect">
            <a:avLst/>
          </a:prstGeom>
        </p:spPr>
      </p:pic>
      <p:pic>
        <p:nvPicPr>
          <p:cNvPr id="17" name="Image 5" descr="/tmp/claude-0/-home-user-MeAI/f5d765e8-a442-5f2c-87c4-ad64e47ba212/scratchpad/final/hero/v2_chip_dail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2706624"/>
            <a:ext cx="1012874" cy="329184"/>
          </a:xfrm>
          <a:prstGeom prst="rect">
            <a:avLst/>
          </a:prstGeom>
        </p:spPr>
      </p:pic>
      <p:pic>
        <p:nvPicPr>
          <p:cNvPr id="18" name="Image 6" descr="/tmp/claude-0/-home-user-MeAI/f5d765e8-a442-5f2c-87c4-ad64e47ba212/scratchpad/final/hero/v2_chip_toot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0320" y="3127248"/>
            <a:ext cx="739398" cy="329184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77724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당월 영업 타겟</a:t>
            </a:r>
            <a:endParaRPr lang="en-US" sz="1150" dirty="0"/>
          </a:p>
        </p:txBody>
      </p:sp>
      <p:sp>
        <p:nvSpPr>
          <p:cNvPr id="20" name="Text 11"/>
          <p:cNvSpPr txBox="1"/>
          <p:nvPr/>
        </p:nvSpPr>
        <p:spPr>
          <a:xfrm>
            <a:off x="777240" y="43891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1</a:t>
            </a:r>
            <a:endParaRPr lang="en-US" sz="1000" dirty="0"/>
          </a:p>
        </p:txBody>
      </p:sp>
      <p:pic>
        <p:nvPicPr>
          <p:cNvPr id="21" name="Image 7" descr="/tmp/claude-0/-home-user-MeAI/f5d765e8-a442-5f2c-87c4-ad64e47ba212/scratchpad/final/hero/v2_chip_monthl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709160"/>
            <a:ext cx="1043260" cy="329184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246888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· 납입</a:t>
            </a:r>
            <a:endParaRPr lang="en-US" sz="1150" dirty="0"/>
          </a:p>
        </p:txBody>
      </p:sp>
      <p:sp>
        <p:nvSpPr>
          <p:cNvPr id="23" name="Text 13"/>
          <p:cNvSpPr txBox="1"/>
          <p:nvPr/>
        </p:nvSpPr>
        <p:spPr>
          <a:xfrm>
            <a:off x="2468880" y="43891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2</a:t>
            </a:r>
            <a:endParaRPr lang="en-US" sz="1000" dirty="0"/>
          </a:p>
        </p:txBody>
      </p:sp>
      <p:pic>
        <p:nvPicPr>
          <p:cNvPr id="24" name="Image 8" descr="/tmp/claude-0/-home-user-MeAI/f5d765e8-a442-5f2c-87c4-ad64e47ba212/scratchpad/final/hero/v2_chip_policy5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68880" y="4709160"/>
            <a:ext cx="997681" cy="329184"/>
          </a:xfrm>
          <a:prstGeom prst="rect">
            <a:avLst/>
          </a:prstGeom>
        </p:spPr>
      </p:pic>
      <p:pic>
        <p:nvPicPr>
          <p:cNvPr id="25" name="Image 9" descr="/tmp/claude-0/-home-user-MeAI/f5d765e8-a442-5f2c-87c4-ad64e47ba212/scratchpad/final/hero/v2_chip_premium50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8880" y="5129784"/>
            <a:ext cx="1088839" cy="329184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416052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임박</a:t>
            </a:r>
            <a:endParaRPr lang="en-US" sz="1150" dirty="0"/>
          </a:p>
        </p:txBody>
      </p:sp>
      <p:sp>
        <p:nvSpPr>
          <p:cNvPr id="27" name="Text 15"/>
          <p:cNvSpPr txBox="1"/>
          <p:nvPr/>
        </p:nvSpPr>
        <p:spPr>
          <a:xfrm>
            <a:off x="4160520" y="43891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2</a:t>
            </a:r>
            <a:endParaRPr lang="en-US" sz="1000" dirty="0"/>
          </a:p>
        </p:txBody>
      </p:sp>
      <p:pic>
        <p:nvPicPr>
          <p:cNvPr id="28" name="Image 10" descr="/tmp/claude-0/-home-user-MeAI/f5d765e8-a442-5f2c-87c4-ad64e47ba212/scratchpad/final/hero/v2_chip_ageu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60520" y="4709160"/>
            <a:ext cx="860943" cy="329184"/>
          </a:xfrm>
          <a:prstGeom prst="rect">
            <a:avLst/>
          </a:prstGeom>
        </p:spPr>
      </p:pic>
      <p:pic>
        <p:nvPicPr>
          <p:cNvPr id="29" name="Image 11" descr="/tmp/claude-0/-home-user-MeAI/f5d765e8-a442-5f2c-87c4-ad64e47ba212/scratchpad/final/hero/v2_chip_birthda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60520" y="5129784"/>
            <a:ext cx="724205" cy="329184"/>
          </a:xfrm>
          <a:prstGeom prst="rect">
            <a:avLst/>
          </a:prstGeom>
        </p:spPr>
      </p:pic>
      <p:pic>
        <p:nvPicPr>
          <p:cNvPr id="30" name="Image 12" descr="/tmp/claude-0/-home-user-MeAI/f5d765e8-a442-5f2c-87c4-ad64e47ba212/scratchpad/final/hero/v2_chip_consentex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60520" y="5550408"/>
            <a:ext cx="1271157" cy="329184"/>
          </a:xfrm>
          <a:prstGeom prst="rect">
            <a:avLst/>
          </a:prstGeom>
        </p:spPr>
      </p:pic>
      <p:sp>
        <p:nvSpPr>
          <p:cNvPr id="31" name="Text 16"/>
          <p:cNvSpPr txBox="1"/>
          <p:nvPr/>
        </p:nvSpPr>
        <p:spPr>
          <a:xfrm>
            <a:off x="6080760" y="178308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카드에서는 우선순위 순서로 붙어요</a:t>
            </a:r>
            <a:endParaRPr lang="en-US" sz="1200" dirty="0"/>
          </a:p>
        </p:txBody>
      </p:sp>
      <p:sp>
        <p:nvSpPr>
          <p:cNvPr id="32" name="Shape 17"/>
          <p:cNvSpPr/>
          <p:nvPr/>
        </p:nvSpPr>
        <p:spPr>
          <a:xfrm>
            <a:off x="6080760" y="2103120"/>
            <a:ext cx="5559552" cy="2009992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3" name="Image 13" descr="/tmp/claude-0/-home-user-MeAI/f5d765e8-a442-5f2c-87c4-ad64e47ba212/scratchpad/build/img/v2_card_tags_z_bc88025d05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80760" y="2103120"/>
            <a:ext cx="5559552" cy="2009992"/>
          </a:xfrm>
          <a:prstGeom prst="rect">
            <a:avLst/>
          </a:prstGeom>
        </p:spPr>
      </p:pic>
      <p:sp>
        <p:nvSpPr>
          <p:cNvPr id="34" name="Shape 18"/>
          <p:cNvSpPr/>
          <p:nvPr/>
        </p:nvSpPr>
        <p:spPr>
          <a:xfrm>
            <a:off x="6345908" y="3548604"/>
            <a:ext cx="4404876" cy="410552"/>
          </a:xfrm>
          <a:prstGeom prst="roundRect">
            <a:avLst>
              <a:gd name="adj" fmla="val 13363"/>
            </a:avLst>
          </a:prstGeom>
          <a:ln w="25400">
            <a:solidFill>
              <a:srgbClr val="3182F6"/>
            </a:solidFill>
            <a:prstDash val="solid"/>
          </a:ln>
        </p:spPr>
      </p:sp>
      <p:sp>
        <p:nvSpPr>
          <p:cNvPr id="35" name="Shape 19"/>
          <p:cNvSpPr/>
          <p:nvPr/>
        </p:nvSpPr>
        <p:spPr>
          <a:xfrm>
            <a:off x="6080760" y="4526280"/>
            <a:ext cx="1773936" cy="1737360"/>
          </a:xfrm>
          <a:prstGeom prst="roundRect">
            <a:avLst>
              <a:gd name="adj" fmla="val 7368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36" name="Text 20"/>
          <p:cNvSpPr txBox="1"/>
          <p:nvPr/>
        </p:nvSpPr>
        <p:spPr>
          <a:xfrm>
            <a:off x="6263640" y="4690872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1</a:t>
            </a:r>
            <a:endParaRPr lang="en-US" sz="1100" dirty="0"/>
          </a:p>
        </p:txBody>
      </p:sp>
      <p:sp>
        <p:nvSpPr>
          <p:cNvPr id="37" name="Text 21"/>
          <p:cNvSpPr txBox="1"/>
          <p:nvPr/>
        </p:nvSpPr>
        <p:spPr>
          <a:xfrm>
            <a:off x="6263640" y="507492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보라</a:t>
            </a:r>
            <a:endParaRPr lang="en-US" sz="1800" dirty="0"/>
          </a:p>
        </p:txBody>
      </p:sp>
      <p:sp>
        <p:nvSpPr>
          <p:cNvPr id="38" name="Text 22"/>
          <p:cNvSpPr txBox="1"/>
          <p:nvPr/>
        </p:nvSpPr>
        <p:spPr>
          <a:xfrm>
            <a:off x="6263640" y="557784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 목표</a:t>
            </a:r>
            <a:endParaRPr lang="en-US" sz="1300" dirty="0"/>
          </a:p>
        </p:txBody>
      </p:sp>
      <p:sp>
        <p:nvSpPr>
          <p:cNvPr id="39" name="Shape 23"/>
          <p:cNvSpPr/>
          <p:nvPr/>
        </p:nvSpPr>
        <p:spPr>
          <a:xfrm>
            <a:off x="7973568" y="4526280"/>
            <a:ext cx="1773936" cy="1737360"/>
          </a:xfrm>
          <a:prstGeom prst="roundRect">
            <a:avLst>
              <a:gd name="adj" fmla="val 736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40" name="Text 24"/>
          <p:cNvSpPr txBox="1"/>
          <p:nvPr/>
        </p:nvSpPr>
        <p:spPr>
          <a:xfrm>
            <a:off x="8156448" y="4690872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2</a:t>
            </a:r>
            <a:endParaRPr lang="en-US" sz="1100" dirty="0"/>
          </a:p>
        </p:txBody>
      </p:sp>
      <p:sp>
        <p:nvSpPr>
          <p:cNvPr id="41" name="Text 25"/>
          <p:cNvSpPr txBox="1"/>
          <p:nvPr/>
        </p:nvSpPr>
        <p:spPr>
          <a:xfrm>
            <a:off x="8156448" y="507492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 · 주황</a:t>
            </a:r>
            <a:endParaRPr lang="en-US" sz="1800" dirty="0"/>
          </a:p>
        </p:txBody>
      </p:sp>
      <p:sp>
        <p:nvSpPr>
          <p:cNvPr id="42" name="Text 26"/>
          <p:cNvSpPr txBox="1"/>
          <p:nvPr/>
        </p:nvSpPr>
        <p:spPr>
          <a:xfrm>
            <a:off x="8156448" y="557784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우량 · 날짜 임박</a:t>
            </a:r>
            <a:endParaRPr lang="en-US" sz="1300" dirty="0"/>
          </a:p>
        </p:txBody>
      </p:sp>
      <p:sp>
        <p:nvSpPr>
          <p:cNvPr id="43" name="Shape 27"/>
          <p:cNvSpPr/>
          <p:nvPr/>
        </p:nvSpPr>
        <p:spPr>
          <a:xfrm>
            <a:off x="9866376" y="4526280"/>
            <a:ext cx="1773936" cy="1737360"/>
          </a:xfrm>
          <a:prstGeom prst="roundRect">
            <a:avLst>
              <a:gd name="adj" fmla="val 7368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44" name="Text 28"/>
          <p:cNvSpPr txBox="1"/>
          <p:nvPr/>
        </p:nvSpPr>
        <p:spPr>
          <a:xfrm>
            <a:off x="10049256" y="4690872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3</a:t>
            </a:r>
            <a:endParaRPr lang="en-US" sz="1100" dirty="0"/>
          </a:p>
        </p:txBody>
      </p:sp>
      <p:sp>
        <p:nvSpPr>
          <p:cNvPr id="45" name="Text 29"/>
          <p:cNvSpPr txBox="1"/>
          <p:nvPr/>
        </p:nvSpPr>
        <p:spPr>
          <a:xfrm>
            <a:off x="10049256" y="507492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 7가지</a:t>
            </a:r>
            <a:endParaRPr lang="en-US" sz="1800" dirty="0"/>
          </a:p>
        </p:txBody>
      </p:sp>
      <p:sp>
        <p:nvSpPr>
          <p:cNvPr id="46" name="Text 30"/>
          <p:cNvSpPr txBox="1"/>
          <p:nvPr/>
        </p:nvSpPr>
        <p:spPr>
          <a:xfrm>
            <a:off x="10049256" y="557784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부족한 보장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이 고객 한눈에 보기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칸이면 이 고객의 상황이 잡혀요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092258" y="1371600"/>
            <a:ext cx="80071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/tmp/claude-0/-home-user-MeAI/f5d765e8-a442-5f2c-87c4-ad64e47ba212/scratchpad/build/img/find_six_z_c0e596b87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2258" y="1371600"/>
            <a:ext cx="8007178" cy="2468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92258" y="3877056"/>
            <a:ext cx="80071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숫자는 예시예요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422452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49808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가입한 보험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466344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계약 수. "지금 세 건 갖고 계세요"로 대화를 열어요.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11396" y="422452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512564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납입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12564" y="466344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납입액. 예산 감각을 잡는 기준이에요.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074152" y="422452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275320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접촉기회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66344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고객 행동. 계약변경조회는 관심 신호예요.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532180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9808" y="5440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금액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749808" y="576072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기준 대비 부족한 진단비. 제안 크기가 여기서 나와요.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311396" y="532180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512564" y="5440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1-5종수술비(plus)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4512564" y="576072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 담보 유무. "없음"이 곧 제안 포인트예요.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074152" y="532180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8275320" y="5440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표적항암약물허가치료비(비급여)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8275320" y="576072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자료가 없으면 미확인. 보장분석에서 확인해요.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다음 행동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패널에서 다음 행동을 골라요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4526280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/tmp/claude-0/-home-user-MeAI/f5d765e8-a442-5f2c-87c4-ad64e47ba212/scratchpad/build/img/find_right_z_a3b6b202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52628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1772" y="1521333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61772" y="15213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61772" y="2426589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1772" y="24265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61772" y="373303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61772" y="37330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905756" y="4751451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905756" y="475145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905756" y="5389245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905756" y="53892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61772" y="58933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61772" y="58933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669280" y="1481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669280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053328" y="14630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선택한 고객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053328" y="175564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바꾸면 패널도 바뀌어요.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0" y="22585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566928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053328" y="224028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일반대화용 추천 질문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053328" y="253288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조건에 맞는 안내 문자 문안을 요청해요.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0" y="30358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5669280" y="3035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053328" y="301752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맞춤대화용 추천 질문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053328" y="331012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이 고객의 맞춤대화에 채워져 열려요.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0" y="3813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5669280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053328" y="379476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[보장분석]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053328" y="408736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영업포탈의 이 고객 보장분석 화면으로 가요.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0" y="4590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566928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053328" y="457200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053328" y="486460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고른 상태로 맞춤대화에 들어가요.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669280" y="53675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5669280" y="5367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053328" y="5349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 문구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053328" y="564184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다시 찾을 필요가 없다는 뜻이에요.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추천 질문 → 대화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채워진 채로 대화가 열려요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811104" cy="498348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/tmp/claude-0/-home-user-MeAI/f5d765e8-a442-5f2c-87c4-ad64e47ba212/scratchpad/build/img/fix_c_custom_q_6c9f198f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811104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6066" y="194540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06066" y="194540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083524" y="177988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083524" y="1779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6066" y="438689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06066" y="4386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29712" y="5575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529712" y="5575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29712" y="590617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29712" y="59061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869767" y="134833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3869767" y="13483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725504" y="1481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725504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109552" y="1463040"/>
            <a:ext cx="4533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계약 리스트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7109552" y="1755648"/>
            <a:ext cx="4533503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 · 보험료 · 납입기간 · 기납입보험료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725504" y="22128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725504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7109552" y="2194560"/>
            <a:ext cx="4533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자료 준비 상태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109552" y="2487168"/>
            <a:ext cx="4533503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완료 · 구성 중 · 미확보. 없으면 답이 부정확할 수 있어요.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6725504" y="29443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725504" y="29443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7109552" y="2926080"/>
            <a:ext cx="4533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안내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7109552" y="3218688"/>
            <a:ext cx="4533503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"이번 대화에서 활용될 보험 가입 내역이에요…"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6725504" y="36758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6725504" y="3675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7109552" y="3657600"/>
            <a:ext cx="4533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 해줘]</a:t>
            </a:r>
            <a:endParaRPr lang="en-US" sz="1350" dirty="0"/>
          </a:p>
        </p:txBody>
      </p:sp>
      <p:sp>
        <p:nvSpPr>
          <p:cNvPr id="35" name="Text 32"/>
          <p:cNvSpPr txBox="1"/>
          <p:nvPr/>
        </p:nvSpPr>
        <p:spPr>
          <a:xfrm>
            <a:off x="7109552" y="3950208"/>
            <a:ext cx="4533503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위 버튼 하나로 전체 그림부터.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6725504" y="44074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6725504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7109552" y="4389120"/>
            <a:ext cx="4533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채워진 질문</a:t>
            </a:r>
            <a:endParaRPr lang="en-US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7109552" y="4681728"/>
            <a:ext cx="4533503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맞춤대화용 질문이 들어가 있어요. 전송(↑)만 누르세요.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6725504" y="5138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6725504" y="5138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7109552" y="5120640"/>
            <a:ext cx="4533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버튼</a:t>
            </a:r>
            <a:endParaRPr lang="en-US" sz="1350" dirty="0"/>
          </a:p>
        </p:txBody>
      </p:sp>
      <p:sp>
        <p:nvSpPr>
          <p:cNvPr id="43" name="Text 40"/>
          <p:cNvSpPr txBox="1"/>
          <p:nvPr/>
        </p:nvSpPr>
        <p:spPr>
          <a:xfrm>
            <a:off x="7109552" y="5413248"/>
            <a:ext cx="4533503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 · 사용중인 정보 수정 · 요약 리포트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6725504" y="5989320"/>
            <a:ext cx="49175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예시 화면이라 고객 이름이 다를 수 있어요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동의 상태별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상태별로 다음 행동이 달라요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D-30 · 유효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19072"/>
            <a:ext cx="3109152" cy="3566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tmp/claude-0/-home-user-MeAI/f5d765e8-a442-5f2c-87c4-ad64e47ba212/scratchpad/build/img/30_right_panel_kimdoyun_8773c3e86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109152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42239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시작]으로 바로 시작해요.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311396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필요 · 만료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11396" y="1719072"/>
            <a:ext cx="3557588" cy="3566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2" name="Image 1" descr="/tmp/claude-0/-home-user-MeAI/f5d765e8-a442-5f2c-87c4-ad64e47ba212/scratchpad/build/img/32_right_panel_kimminsu_4aa9e77f6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396" y="1719072"/>
            <a:ext cx="3557588" cy="35661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11396" y="542239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[사전조회동의 요청하기] → 휴대폰 번호 입력 → 알림톡.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8074152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철회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074152" y="1719072"/>
            <a:ext cx="3566160" cy="1237415"/>
          </a:xfrm>
          <a:prstGeom prst="roundRect">
            <a:avLst>
              <a:gd name="adj" fmla="val 57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2" descr="/tmp/claude-0/-home-user-MeAI/f5d765e8-a442-5f2c-87c4-ad64e47ba212/scratchpad/build/img/34_right_panel_kimboram_2bbe1f88f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1719072"/>
            <a:ext cx="3566160" cy="123741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074152" y="3093647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버튼이 없어요. 새 동의 없이는 진행할 수 없어요.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074152" y="3840480"/>
            <a:ext cx="3566160" cy="1783080"/>
          </a:xfrm>
          <a:prstGeom prst="roundRect">
            <a:avLst>
              <a:gd name="adj" fmla="val 7179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 rot="16200000">
            <a:off x="7827264" y="4405418"/>
            <a:ext cx="310896" cy="182880"/>
          </a:xfrm>
          <a:prstGeom prst="triangl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348472" y="40233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· 만료 고객 = 대문 "사전조회 동의 필요"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8348472" y="4343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</a:t>
            </a:r>
            <a:pPr indent="0" marL="0"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명</a:t>
            </a:r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예시</a:t>
            </a:r>
            <a:endParaRPr lang="en-US" sz="4000" dirty="0"/>
          </a:p>
        </p:txBody>
      </p:sp>
      <p:sp>
        <p:nvSpPr>
          <p:cNvPr id="22" name="Text 17"/>
          <p:cNvSpPr txBox="1"/>
          <p:nvPr/>
        </p:nvSpPr>
        <p:spPr>
          <a:xfrm>
            <a:off x="8348472" y="513892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고객들이 이번 달 동의 캠페인 목록이에요.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검색 · 필터 · 페이지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이름으로도, 조건으로도 찾아요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검색창을 누르면 추천 속성, 글자를 치면 연관검색어가 떠요.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1229868"/>
          </a:xfrm>
          <a:prstGeom prst="roundRect">
            <a:avLst>
              <a:gd name="adj" fmla="val 88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tmp/claude-0/-home-user-MeAI/f5d765e8-a442-5f2c-87c4-ad64e47ba212/scratchpad/build/img/fix_c_search_attr_a3f2d7031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40680" cy="12298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295808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검색창 → 추천 속성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217920" y="1691640"/>
            <a:ext cx="5422392" cy="2159766"/>
          </a:xfrm>
          <a:prstGeom prst="roundRect">
            <a:avLst>
              <a:gd name="adj" fmla="val 50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/tmp/claude-0/-home-user-MeAI/f5d765e8-a442-5f2c-87c4-ad64e47ba212/scratchpad/build/img/search_suggest_crop_d37fe6e54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91640"/>
            <a:ext cx="5422392" cy="215976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217920" y="3887982"/>
            <a:ext cx="5422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"암진단비" 입력 → 연관검색어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48640" y="3566160"/>
            <a:ext cx="1921514" cy="2103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2" descr="/tmp/claude-0/-home-user-MeAI/f5d765e8-a442-5f2c-87c4-ad64e47ba212/scratchpad/build/img/fix_c_filter_dropdown_ce1a6022b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566160"/>
            <a:ext cx="1921514" cy="21031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80360" y="3630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2880360" y="3630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3264408" y="3611880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[전체] 드롭다운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264408" y="3904488"/>
            <a:ext cx="2770632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· 상품소개동의 고객만 걸러요.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2880360" y="43616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2880360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3264408" y="4343400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결과 N명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4408" y="4636008"/>
            <a:ext cx="2770632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제목이 "검색 결과 8명"으로 바뀌어요.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2880360" y="5093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2880360" y="5093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3264408" y="5074920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페이지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3264408" y="5367528"/>
            <a:ext cx="2770632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 아래 ‹ 1 2 ›로 넘겨요.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217920" y="4315968"/>
            <a:ext cx="5422392" cy="1653168"/>
          </a:xfrm>
          <a:prstGeom prst="roundRect">
            <a:avLst>
              <a:gd name="adj" fmla="val 65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8" name="Image 3" descr="/tmp/claude-0/-home-user-MeAI/f5d765e8-a442-5f2c-87c4-ad64e47ba212/scratchpad/build/img/53_search_no_result_0edace3dc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4315968"/>
            <a:ext cx="5422392" cy="1653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217920" y="6005712"/>
            <a:ext cx="5422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없을 때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그룹 활용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하나가 곧 연락 목록이에요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월초 · 매주 · 매달 · 수시, 네 그룹을 습관으로. 인원은 예시예요.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월초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당월 영업 타겟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7명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1위.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이유를 첫마디로 써요.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62249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90849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90849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90849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· 생일 임박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590849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11명 · 7명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3590849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보험료가 오르기 전 점검, 생일엔 축하 인사로 열어요.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5858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4458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4458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매달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4458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사전동의 만료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04458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35명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6404458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전에 미리 안내해요.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만료되면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[사전조회동의 요청하기].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989466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18066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18066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수시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218066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등록 고객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218066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4명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9218066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상세는 다음 날 반영돼요.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보려면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50749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516636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부족 그룹은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 주력 상품이 정해지면 그 담보의 부족 그룹부터 열어요.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· 사전조회 동의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공지는 게시판에서, 동의는 알림톡 한 통으로 받아요.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목록과 글 상세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동의가 먼저인 이유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요청부터 반영까지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게시판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공지·이슈·기능안내를 한 곳에서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504213" cy="4709160"/>
          </a:xfrm>
          <a:prstGeom prst="roundRect">
            <a:avLst>
              <a:gd name="adj" fmla="val 23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/tmp/claude-0/-home-user-MeAI/f5d765e8-a442-5f2c-87c4-ad64e47ba212/scratchpad/build/img/board_list_crop_cd8737bc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504213" cy="47091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071616"/>
            <a:ext cx="55042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목업 예시 글이에요. 실제 진입점(10/2부터 6군데)은 PART 2에서 봐요.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356302" y="14150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356302" y="14150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230724" y="14150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230724" y="14150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94954" y="203881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94954" y="20388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55323" y="184311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255323" y="184311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521292" y="184311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4521292" y="184311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490849" y="570217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490849" y="570217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0" y="13898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58368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6967728" y="137160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필터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967728" y="166420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· 공지사항 · 이슈 · 기능안내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583680" y="20299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583680" y="2029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6967728" y="201168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정렬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967728" y="230428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최신순이 기본, 조회순으로도 봐요.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583680" y="2670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83680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967728" y="265176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표시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967728" y="294436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공지사항 파랑 · 이슈 주황 · 기능안내 초록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583680" y="3310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58368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967728" y="329184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 · NEW · 첨부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967728" y="358444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 = 고정 글 · NEW = 7일 이내 · 클립 = 첨부 수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583680" y="3950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58368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6967728" y="393192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· 조회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967728" y="422452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게시일과 조회수예요.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6583680" y="4590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658368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6967728" y="457200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페이지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6967728" y="486460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쪽 6건, ‹ 1 2 ›로 넘겨요.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583680" y="5230368"/>
            <a:ext cx="5059375" cy="1078992"/>
          </a:xfrm>
          <a:prstGeom prst="roundRect">
            <a:avLst>
              <a:gd name="adj" fmla="val 1016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pic>
        <p:nvPicPr>
          <p:cNvPr id="46" name="Image 1" descr="/tmp/claude-0/-home-user-MeAI/f5d765e8-a442-5f2c-87c4-ad64e47ba212/scratchpad/build/img/fix_c_board_top_left_b1bb7f659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5376672"/>
            <a:ext cx="2824399" cy="329184"/>
          </a:xfrm>
          <a:prstGeom prst="rect">
            <a:avLst/>
          </a:prstGeom>
        </p:spPr>
      </p:pic>
      <p:pic>
        <p:nvPicPr>
          <p:cNvPr id="47" name="Image 2" descr="/tmp/claude-0/-home-user-MeAI/f5d765e8-a442-5f2c-87c4-ad64e47ba212/scratchpad/build/img/fix_c_board_top_right_8961de9d6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4795" y="5376672"/>
            <a:ext cx="895380" cy="329184"/>
          </a:xfrm>
          <a:prstGeom prst="rect">
            <a:avLst/>
          </a:prstGeom>
        </p:spPr>
      </p:pic>
      <p:sp>
        <p:nvSpPr>
          <p:cNvPr id="48" name="Text 43"/>
          <p:cNvSpPr txBox="1"/>
          <p:nvPr/>
        </p:nvSpPr>
        <p:spPr>
          <a:xfrm>
            <a:off x="9590959" y="5376672"/>
            <a:ext cx="973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· ·</a:t>
            </a:r>
            <a:endParaRPr lang="en-US" sz="1100" dirty="0"/>
          </a:p>
        </p:txBody>
      </p:sp>
      <p:sp>
        <p:nvSpPr>
          <p:cNvPr id="49" name="Text 44"/>
          <p:cNvSpPr txBox="1"/>
          <p:nvPr/>
        </p:nvSpPr>
        <p:spPr>
          <a:xfrm>
            <a:off x="6766560" y="5815584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위쪽  </a:t>
            </a:r>
            <a:pPr indent="0" marL="0"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 [MeAI 홈]은 대문으로, 오른쪽 위 [글씨 확대]는 기본 ON.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글 상세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글을 누르면 본문과 첨부파일이 열려요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749447" cy="4663440"/>
          </a:xfrm>
          <a:prstGeom prst="roundRect">
            <a:avLst>
              <a:gd name="adj" fmla="val 246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/tmp/claude-0/-home-user-MeAI/f5d765e8-a442-5f2c-87c4-ad64e47ba212/scratchpad/build/img/board_detail_crop_83178ee5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749447" cy="46634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089904"/>
            <a:ext cx="57494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목업 예시 글이에요. 실제 진입점(10/2부터 6군데)은 PART 2에서 봐요.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999201" y="1387759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999201" y="138775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107332" y="216074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107332" y="2160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83963" y="289539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83963" y="28953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426745" y="470327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426745" y="470327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286203" y="554013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3286203" y="554013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995160" y="1481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995160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379208" y="146304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‹ 목록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79208" y="175564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분류·정렬 상태 그대로 목록으로 돌아가요.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995160" y="22585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99516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379208" y="224028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 줄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379208" y="253288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· NEW · 날짜 · 조회. 핀은 고정 글이에요.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995160" y="30358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995160" y="3035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379208" y="301752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379208" y="331012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시작 조건 같은 운영 기준이 적혀요.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995160" y="3813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995160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7379208" y="379476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379208" y="408736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바로 내려받아요.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995160" y="4590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699516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379208" y="457200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글 · 다음 글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379208" y="486460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목록으로 나가지 않고 이어서 읽어요.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6995160" y="5349240"/>
            <a:ext cx="4645152" cy="960120"/>
          </a:xfrm>
          <a:prstGeom prst="roundRect">
            <a:avLst>
              <a:gd name="adj" fmla="val 11429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23760" y="5440680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점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글이 오면 대문 [게시판] 버튼에 빨간 점이 붙어요. 보이면 먼저 읽어요.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사전조회 동의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동의는 알림톡 한 통으로 받아요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보장 내역을 읽어요. 그래서 사전조회 동의가 먼저예요.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요청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번호를 넣고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[보내기]를 눌러요.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51725" y="22860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807757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990637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990637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동의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990637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안내 문자에서 동의를 완료해요.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10841" y="22860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66873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249753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249753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15분 · D-n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49753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준실시간 반영.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동의일부터 1년간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D-n으로 보여요.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069958" y="22860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25990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508870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전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508870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재요청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08870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[사전동의 만료] 그룹으로 미리 챙겨요.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329075" y="22860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9585107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767987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철회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767987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 확인 불가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767987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회색으로 표시되고 정보 확인이 막혀요.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3611880"/>
            <a:ext cx="3931920" cy="1982343"/>
          </a:xfrm>
          <a:prstGeom prst="roundRect">
            <a:avLst>
              <a:gd name="adj" fmla="val 39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2" name="Image 0" descr="/tmp/claude-0/-home-user-MeAI/f5d765e8-a442-5f2c-87c4-ad64e47ba212/scratchpad/build/img/fix_c_consent_modal_ef5d84ac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11880"/>
            <a:ext cx="3931920" cy="1982343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548640" y="5639943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[고객 동의] 팝업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709160" y="3611880"/>
            <a:ext cx="3429000" cy="1076255"/>
          </a:xfrm>
          <a:prstGeom prst="roundRect">
            <a:avLst>
              <a:gd name="adj" fmla="val 63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5" name="Image 1" descr="/tmp/claude-0/-home-user-MeAI/f5d765e8-a442-5f2c-87c4-ad64e47ba212/scratchpad/build/img/fix_c_consent_request_btn_29451a713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3611880"/>
            <a:ext cx="3429000" cy="1076255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4709160" y="4733855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고객찾기에서 요청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4709160" y="5145335"/>
            <a:ext cx="3429000" cy="459988"/>
          </a:xfrm>
          <a:prstGeom prst="roundRect">
            <a:avLst>
              <a:gd name="adj" fmla="val 14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8" name="Image 2" descr="/tmp/claude-0/-home-user-MeAI/f5d765e8-a442-5f2c-87c4-ad64e47ba212/scratchpad/build/img/consent_toast_crop_4f4fb57e1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5145335"/>
            <a:ext cx="3429000" cy="459988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4709160" y="5651043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[보내기] 뒤 뜨는 알림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8366760" y="3611880"/>
            <a:ext cx="3276295" cy="1982343"/>
          </a:xfrm>
          <a:prstGeom prst="roundRect">
            <a:avLst>
              <a:gd name="adj" fmla="val 553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595360" y="3703320"/>
            <a:ext cx="2819095" cy="1799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상품소개 동의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고객은 "AI 추천 고객" 리본이 붙고, 대문 "상품제안 가능" 숫자에 들어가요.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이어가기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맞춤대화와 새 기능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대문에서 들어온 대화 화면과 새 기능을 익혀요.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대화와 화면 구성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용어 설명 · 모드 변경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· 요약 리포트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모바일에서 들어가기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두 가지 대화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vs 맞춤대화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정하지 않으면 일반대화, 정하면 맞춤대화예요.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3931920"/>
          </a:xfrm>
          <a:prstGeom prst="roundRect">
            <a:avLst>
              <a:gd name="adj" fmla="val 3721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2128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물어보는 창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852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529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 개념 질문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28269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28269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 보장 비교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7124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124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설득 화법 만들기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14223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142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지식 확인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64515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들어가는 곳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9194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[일반대화] 카드 · 모바일 [MeAI 일반대화]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CRM 리스트 [MeAI 일반대화] (10/2부터)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1691640"/>
            <a:ext cx="5440680" cy="3931920"/>
          </a:xfrm>
          <a:prstGeom prst="roundRect">
            <a:avLst>
              <a:gd name="adj" fmla="val 3721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65392" y="19202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565392" y="22128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고객에게 무엇을 제안할까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565392" y="2852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931152" y="28529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선택 → 보장분석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565392" y="328269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931152" y="328269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보장 · 제안 우선순위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65392" y="37124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931152" y="37124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 · 가계약 요청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6565392" y="414223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931152" y="4142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→ 카카오톡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565392" y="464515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들어가는 곳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565392" y="49194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[맞춤대화] 카드 · 고객찾기 · 모바일 [MeAI]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CRM 리스트 [MeAI 맞춤대화] (10/2부터)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만나기 전에는 꼭 맞춤대화로 준비하세요.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PC 맞춤대화 화면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메뉴·대화·입력창, 세 덩어리예요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7973568" cy="4983480"/>
          </a:xfrm>
          <a:prstGeom prst="roundRect">
            <a:avLst>
              <a:gd name="adj" fmla="val 25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/tmp/claude-0/-home-user-MeAI/f5d765e8-a442-5f2c-87c4-ad64e47ba212/scratchpad/build/img/term_pc_full_cafc69b76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973568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99310" y="207441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899310" y="207441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899310" y="290499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1899310" y="290499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899310" y="387400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1899310" y="3874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223772" y="557946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1223772" y="557946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996838" y="136565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996838" y="136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2918155" y="240665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2918155" y="2406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918155" y="398475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2918155" y="398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5436" y="523615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425436" y="523615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2918155" y="564591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2918155" y="5645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732520" y="13898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873252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9116568" y="1371600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고객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9116568" y="1673352"/>
            <a:ext cx="2523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남은 일수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(화면엔 '보장분석 동의')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732520" y="21305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8732520" y="2130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9116568" y="211226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검색·사용 가이드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116568" y="2414016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 약관 원문과 화면 안내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732520" y="267919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8732520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9116568" y="266090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9116568" y="2962656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월별 목록, 누르면 이어가요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732520" y="322783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8732520" y="32278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9116568" y="320954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대화하기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8732520" y="377647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8732520" y="3776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9116568" y="375818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버튼 3개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116568" y="4059936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 · 사용중인 정보 수정 · 요약 리포트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8732520" y="432511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8732520" y="4325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9116568" y="430682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질문</a:t>
            </a:r>
            <a:endParaRPr lang="en-US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9116568" y="4608576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복사·편집·저장 아이콘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8732520" y="48737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0" name="Text 47"/>
          <p:cNvSpPr txBox="1"/>
          <p:nvPr/>
        </p:nvSpPr>
        <p:spPr>
          <a:xfrm>
            <a:off x="8732520" y="48737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51" name="Text 48"/>
          <p:cNvSpPr txBox="1"/>
          <p:nvPr/>
        </p:nvSpPr>
        <p:spPr>
          <a:xfrm>
            <a:off x="9116568" y="485546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</a:t>
            </a:r>
            <a:endParaRPr lang="en-US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9116568" y="5157216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갖춰진 것 → 비어 있는 것 → 할 일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8732520" y="542239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4" name="Text 51"/>
          <p:cNvSpPr txBox="1"/>
          <p:nvPr/>
        </p:nvSpPr>
        <p:spPr>
          <a:xfrm>
            <a:off x="8732520" y="5422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9116568" y="540410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[용어] 버튼</a:t>
            </a:r>
            <a:endParaRPr lang="en-US" sz="1300" dirty="0"/>
          </a:p>
        </p:txBody>
      </p:sp>
      <p:sp>
        <p:nvSpPr>
          <p:cNvPr id="56" name="Text 53"/>
          <p:cNvSpPr txBox="1"/>
          <p:nvPr/>
        </p:nvSpPr>
        <p:spPr>
          <a:xfrm>
            <a:off x="9116568" y="5705856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오른쪽 위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8732520" y="597103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8" name="Text 55"/>
          <p:cNvSpPr txBox="1"/>
          <p:nvPr/>
        </p:nvSpPr>
        <p:spPr>
          <a:xfrm>
            <a:off x="8732520" y="59710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50" dirty="0"/>
          </a:p>
        </p:txBody>
      </p:sp>
      <p:sp>
        <p:nvSpPr>
          <p:cNvPr id="59" name="Text 56"/>
          <p:cNvSpPr txBox="1"/>
          <p:nvPr/>
        </p:nvSpPr>
        <p:spPr>
          <a:xfrm>
            <a:off x="9116568" y="595274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맞춤대화 시작 화면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고객 정보와 상품을 정해요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21808" cy="2187621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/tmp/claude-0/-home-user-MeAI/f5d765e8-a442-5f2c-87c4-ad64e47ba212/scratchpad/build/img/fix_custom_top_f51e301b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321808" cy="218762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668949"/>
            <a:ext cx="5321808" cy="2673605"/>
          </a:xfrm>
          <a:prstGeom prst="roundRect">
            <a:avLst>
              <a:gd name="adj" fmla="val 39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1" descr="/tmp/claude-0/-home-user-MeAI/f5d765e8-a442-5f2c-87c4-ad64e47ba212/scratchpad/build/img/fix_custom_bottom_68104672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68949"/>
            <a:ext cx="5321808" cy="2673605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310310" y="182616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1310310" y="18261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370465" y="150643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370465" y="1506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370465" y="238568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2370465" y="2385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370465" y="314294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2370465" y="31429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02762" y="397074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602762" y="397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2895331" y="395804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895331" y="395804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02762" y="492968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602762" y="49296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02762" y="538693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602762" y="53869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236208" y="13898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6236208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6620256" y="137160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고객</a:t>
            </a:r>
            <a:endParaRPr lang="en-US" sz="1350" dirty="0"/>
          </a:p>
        </p:txBody>
      </p:sp>
      <p:sp>
        <p:nvSpPr>
          <p:cNvPr id="29" name="Text 25"/>
          <p:cNvSpPr txBox="1"/>
          <p:nvPr/>
        </p:nvSpPr>
        <p:spPr>
          <a:xfrm>
            <a:off x="6620256" y="1664208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정해진 채로 열렸다는 표시예요.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6236208" y="195643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6236208" y="19564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2" name="Text 28"/>
          <p:cNvSpPr txBox="1"/>
          <p:nvPr/>
        </p:nvSpPr>
        <p:spPr>
          <a:xfrm>
            <a:off x="6620256" y="1938147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 입력</a:t>
            </a:r>
            <a:endParaRPr lang="en-US" sz="1350" dirty="0"/>
          </a:p>
        </p:txBody>
      </p:sp>
      <p:sp>
        <p:nvSpPr>
          <p:cNvPr id="33" name="Text 29"/>
          <p:cNvSpPr txBox="1"/>
          <p:nvPr/>
        </p:nvSpPr>
        <p:spPr>
          <a:xfrm>
            <a:off x="6620256" y="2230755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넣으면 고객 맥락을 살려 답해요.</a:t>
            </a:r>
            <a:endParaRPr lang="en-US" sz="1150" dirty="0"/>
          </a:p>
        </p:txBody>
      </p:sp>
      <p:sp>
        <p:nvSpPr>
          <p:cNvPr id="34" name="Shape 30"/>
          <p:cNvSpPr/>
          <p:nvPr/>
        </p:nvSpPr>
        <p:spPr>
          <a:xfrm>
            <a:off x="6236208" y="252298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6236208" y="252298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6620256" y="2504694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칸, 아는 것만</a:t>
            </a:r>
            <a:endParaRPr lang="en-US" sz="1350" dirty="0"/>
          </a:p>
        </p:txBody>
      </p:sp>
      <p:sp>
        <p:nvSpPr>
          <p:cNvPr id="37" name="Text 33"/>
          <p:cNvSpPr txBox="1"/>
          <p:nvPr/>
        </p:nvSpPr>
        <p:spPr>
          <a:xfrm>
            <a:off x="6620256" y="2797302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병력·가족력이 핵심, 이름·연락처는 넣지 않아요.</a:t>
            </a:r>
            <a:endParaRPr lang="en-US" sz="1150" dirty="0"/>
          </a:p>
        </p:txBody>
      </p:sp>
      <p:sp>
        <p:nvSpPr>
          <p:cNvPr id="38" name="Shape 34"/>
          <p:cNvSpPr/>
          <p:nvPr/>
        </p:nvSpPr>
        <p:spPr>
          <a:xfrm>
            <a:off x="6236208" y="3089529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6236208" y="308952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0" name="Text 36"/>
          <p:cNvSpPr txBox="1"/>
          <p:nvPr/>
        </p:nvSpPr>
        <p:spPr>
          <a:xfrm>
            <a:off x="6620256" y="3071241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[입력 완료]로 반영</a:t>
            </a:r>
            <a:endParaRPr lang="en-US" sz="1350" dirty="0"/>
          </a:p>
        </p:txBody>
      </p:sp>
      <p:sp>
        <p:nvSpPr>
          <p:cNvPr id="41" name="Text 37"/>
          <p:cNvSpPr txBox="1"/>
          <p:nvPr/>
        </p:nvSpPr>
        <p:spPr>
          <a:xfrm>
            <a:off x="6620256" y="3363849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비울 땐 [입력하지 않고 넘어가기].</a:t>
            </a:r>
            <a:endParaRPr lang="en-US" sz="1150" dirty="0"/>
          </a:p>
        </p:txBody>
      </p:sp>
      <p:sp>
        <p:nvSpPr>
          <p:cNvPr id="42" name="Shape 38"/>
          <p:cNvSpPr/>
          <p:nvPr/>
        </p:nvSpPr>
        <p:spPr>
          <a:xfrm>
            <a:off x="6236208" y="3760389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3" name="Text 39"/>
          <p:cNvSpPr txBox="1"/>
          <p:nvPr/>
        </p:nvSpPr>
        <p:spPr>
          <a:xfrm>
            <a:off x="6236208" y="376038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4" name="Text 40"/>
          <p:cNvSpPr txBox="1"/>
          <p:nvPr/>
        </p:nvSpPr>
        <p:spPr>
          <a:xfrm>
            <a:off x="6620256" y="3742101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계약 총 보험료</a:t>
            </a:r>
            <a:endParaRPr lang="en-US" sz="1350" dirty="0"/>
          </a:p>
        </p:txBody>
      </p:sp>
      <p:sp>
        <p:nvSpPr>
          <p:cNvPr id="45" name="Text 41"/>
          <p:cNvSpPr txBox="1"/>
          <p:nvPr/>
        </p:nvSpPr>
        <p:spPr>
          <a:xfrm>
            <a:off x="6620256" y="4034709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"지금 매달 이만큼 내고 계세요"로 시작해요.</a:t>
            </a:r>
            <a:endParaRPr lang="en-US" sz="1150" dirty="0"/>
          </a:p>
        </p:txBody>
      </p:sp>
      <p:sp>
        <p:nvSpPr>
          <p:cNvPr id="46" name="Shape 42"/>
          <p:cNvSpPr/>
          <p:nvPr/>
        </p:nvSpPr>
        <p:spPr>
          <a:xfrm>
            <a:off x="6236208" y="4400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7" name="Text 43"/>
          <p:cNvSpPr txBox="1"/>
          <p:nvPr/>
        </p:nvSpPr>
        <p:spPr>
          <a:xfrm>
            <a:off x="6236208" y="4400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8" name="Text 44"/>
          <p:cNvSpPr txBox="1"/>
          <p:nvPr/>
        </p:nvSpPr>
        <p:spPr>
          <a:xfrm>
            <a:off x="6620256" y="438180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약관DB 확보 표시</a:t>
            </a:r>
            <a:endParaRPr lang="en-US" sz="1350" dirty="0"/>
          </a:p>
        </p:txBody>
      </p:sp>
      <p:sp>
        <p:nvSpPr>
          <p:cNvPr id="49" name="Text 45"/>
          <p:cNvSpPr txBox="1"/>
          <p:nvPr/>
        </p:nvSpPr>
        <p:spPr>
          <a:xfrm>
            <a:off x="6620256" y="4674408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미확보 상품은 답이 부정확할 수 있어요.</a:t>
            </a:r>
            <a:endParaRPr lang="en-US" sz="1150" dirty="0"/>
          </a:p>
        </p:txBody>
      </p:sp>
      <p:sp>
        <p:nvSpPr>
          <p:cNvPr id="50" name="Shape 46"/>
          <p:cNvSpPr/>
          <p:nvPr/>
        </p:nvSpPr>
        <p:spPr>
          <a:xfrm>
            <a:off x="6236208" y="503978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1" name="Text 47"/>
          <p:cNvSpPr txBox="1"/>
          <p:nvPr/>
        </p:nvSpPr>
        <p:spPr>
          <a:xfrm>
            <a:off x="6236208" y="503978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52" name="Text 48"/>
          <p:cNvSpPr txBox="1"/>
          <p:nvPr/>
        </p:nvSpPr>
        <p:spPr>
          <a:xfrm>
            <a:off x="6620256" y="5021499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담보별로 거르기</a:t>
            </a:r>
            <a:endParaRPr lang="en-US" sz="1350" dirty="0"/>
          </a:p>
        </p:txBody>
      </p:sp>
      <p:sp>
        <p:nvSpPr>
          <p:cNvPr id="53" name="Text 49"/>
          <p:cNvSpPr txBox="1"/>
          <p:nvPr/>
        </p:nvSpPr>
        <p:spPr>
          <a:xfrm>
            <a:off x="6620256" y="5314107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· 뇌/심장 · 치료비 등 버튼으로 골라요.</a:t>
            </a:r>
            <a:endParaRPr lang="en-US" sz="1150" dirty="0"/>
          </a:p>
        </p:txBody>
      </p:sp>
      <p:sp>
        <p:nvSpPr>
          <p:cNvPr id="54" name="Shape 50"/>
          <p:cNvSpPr/>
          <p:nvPr/>
        </p:nvSpPr>
        <p:spPr>
          <a:xfrm>
            <a:off x="6236208" y="567948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5" name="Text 51"/>
          <p:cNvSpPr txBox="1"/>
          <p:nvPr/>
        </p:nvSpPr>
        <p:spPr>
          <a:xfrm>
            <a:off x="6236208" y="56794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56" name="Text 52"/>
          <p:cNvSpPr txBox="1"/>
          <p:nvPr/>
        </p:nvSpPr>
        <p:spPr>
          <a:xfrm>
            <a:off x="6620256" y="5661198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전체 선택</a:t>
            </a:r>
            <a:endParaRPr lang="en-US" sz="1350" dirty="0"/>
          </a:p>
        </p:txBody>
      </p:sp>
      <p:sp>
        <p:nvSpPr>
          <p:cNvPr id="57" name="Text 53"/>
          <p:cNvSpPr txBox="1"/>
          <p:nvPr/>
        </p:nvSpPr>
        <p:spPr>
          <a:xfrm>
            <a:off x="6620256" y="5953806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관계없는 계약은 체크를 풀면 분석에서 빠져요.</a:t>
            </a:r>
            <a:endParaRPr lang="en-US" sz="11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답변 읽는 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답변은 이 순서로 와요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갖춰진 것 → 비어 있는 것 → 이제 할 일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3833781"/>
          </a:xfrm>
          <a:prstGeom prst="roundRect">
            <a:avLst>
              <a:gd name="adj" fmla="val 28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tmp/claude-0/-home-user-MeAI/f5d765e8-a442-5f2c-87c4-ad64e47ba212/scratchpad/build/img/fix_answer_top_54d3dbac1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40680" cy="383378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17920" y="1691640"/>
            <a:ext cx="5440680" cy="3409915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/tmp/claude-0/-home-user-MeAI/f5d765e8-a442-5f2c-87c4-ad64e47ba212/scratchpad/build/img/fix_answer_bottom_f8e61cf4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91640"/>
            <a:ext cx="5440680" cy="3409915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70861" y="31107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70861" y="3110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670861" y="380034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70861" y="380034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70861" y="499602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670861" y="499602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10319429" y="234527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10319429" y="234527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340141" y="356626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340141" y="35662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340141" y="458481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6340141" y="45848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548640" y="57972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548640" y="57972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877824" y="5779008"/>
            <a:ext cx="14650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 결론 = 상담 주제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2397709" y="57972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2397709" y="57972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2726893" y="5779008"/>
            <a:ext cx="14650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갖춘 것 → 안심부터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4246778" y="57972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4246778" y="57972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4575962" y="5779008"/>
            <a:ext cx="14650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있는 것 → 제안 주제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095848" y="57972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6095848" y="57972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6425032" y="5779008"/>
            <a:ext cx="14650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"미가입" 줄 = 제안 포인트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7944917" y="57972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2"/>
          <p:cNvSpPr txBox="1"/>
          <p:nvPr/>
        </p:nvSpPr>
        <p:spPr>
          <a:xfrm>
            <a:off x="7944917" y="57972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8274101" y="5779008"/>
            <a:ext cx="14650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이제 할 일 → 다음 행동</a:t>
            </a:r>
            <a:endParaRPr lang="en-US" sz="1100" dirty="0"/>
          </a:p>
        </p:txBody>
      </p:sp>
      <p:sp>
        <p:nvSpPr>
          <p:cNvPr id="38" name="Shape 34"/>
          <p:cNvSpPr/>
          <p:nvPr/>
        </p:nvSpPr>
        <p:spPr>
          <a:xfrm>
            <a:off x="9793986" y="57972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9793986" y="57972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0" name="Text 36"/>
          <p:cNvSpPr txBox="1"/>
          <p:nvPr/>
        </p:nvSpPr>
        <p:spPr>
          <a:xfrm>
            <a:off x="10123170" y="5779008"/>
            <a:ext cx="14650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[용어 설명 N] · 복사·출처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용어 설명 (PC)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[용어] 버튼 하나로 뜻이 풀려요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5394960" cy="1383323"/>
          </a:xfrm>
          <a:prstGeom prst="roundRect">
            <a:avLst>
              <a:gd name="adj" fmla="val 7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0" descr="/tmp/claude-0/-home-user-MeAI/f5d765e8-a442-5f2c-87c4-ad64e47ba212/scratchpad/build/img/term_pc_input_z_e73b2512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394960" cy="138332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2782355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오른쪽 위 [용어] 버튼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3154680"/>
            <a:ext cx="5394960" cy="2669814"/>
          </a:xfrm>
          <a:prstGeom prst="roundRect">
            <a:avLst>
              <a:gd name="adj" fmla="val 40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2" name="Image 1" descr="/tmp/claude-0/-home-user-MeAI/f5d765e8-a442-5f2c-87c4-ad64e47ba212/scratchpad/build/img/fix_term_on_c23a0d4b7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54680"/>
            <a:ext cx="5394960" cy="266981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585192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켜면 어려운 말에 표시가 붙어요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360224" y="1371600"/>
            <a:ext cx="5092065" cy="3291840"/>
          </a:xfrm>
          <a:prstGeom prst="roundRect">
            <a:avLst>
              <a:gd name="adj" fmla="val 30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2" descr="/tmp/claude-0/-home-user-MeAI/f5d765e8-a442-5f2c-87c4-ad64e47ba212/scratchpad/build/img/14_pc_glossary6_open_dcf4b965c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0224" y="1371600"/>
            <a:ext cx="5092065" cy="32918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60224" y="4690872"/>
            <a:ext cx="509206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끝 [용어 설명 6] · 뜻을 한 번에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172200" y="5029200"/>
            <a:ext cx="2377440" cy="981166"/>
          </a:xfrm>
          <a:prstGeom prst="roundRect">
            <a:avLst>
              <a:gd name="adj" fmla="val 48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3" descr="/tmp/claude-0/-home-user-MeAI/f5d765e8-a442-5f2c-87c4-ad64e47ba212/scratchpad/build/img/fix_term_tooltip_7f9528403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5029200"/>
            <a:ext cx="2377440" cy="98116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172200" y="603779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용어를 누르면 뜻이 떠요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8823960" y="5029200"/>
            <a:ext cx="2816352" cy="1051560"/>
          </a:xfrm>
          <a:prstGeom prst="roundRect">
            <a:avLst>
              <a:gd name="adj" fmla="val 10435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052560" y="5120640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현장에서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뜻풀이는 고객 눈높이 문장이라 그대로 읽어 주세요.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용어 설명 (모바일)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모바일은 오른쪽 아래 [용어]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900" dirty="0"/>
          </a:p>
        </p:txBody>
      </p:sp>
      <p:pic>
        <p:nvPicPr>
          <p:cNvPr id="8" name="Image 0" descr="/tmp/claude-0/-home-user-MeAI/f5d765e8-a442-5f2c-87c4-ad64e47ba212/scratchpad/final/hero/term_mo_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770" y="1371600"/>
            <a:ext cx="2230341" cy="4663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화면 · 오른쪽 아래 [용어]</a:t>
            </a:r>
            <a:endParaRPr lang="en-US" sz="1000" dirty="0"/>
          </a:p>
        </p:txBody>
      </p:sp>
      <p:pic>
        <p:nvPicPr>
          <p:cNvPr id="10" name="Image 1" descr="/tmp/claude-0/-home-user-MeAI/f5d765e8-a442-5f2c-87c4-ad64e47ba212/scratchpad/final/hero/term_mo_phone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250" y="1371600"/>
            <a:ext cx="2230341" cy="46634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4612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[용어]를 켜면 용어에 표시</a:t>
            </a:r>
            <a:endParaRPr lang="en-US" sz="1000" dirty="0"/>
          </a:p>
        </p:txBody>
      </p:sp>
      <p:pic>
        <p:nvPicPr>
          <p:cNvPr id="12" name="Image 2" descr="/tmp/claude-0/-home-user-MeAI/f5d765e8-a442-5f2c-87c4-ad64e47ba212/scratchpad/final/term/70_mo_glossary6_op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280" y="1371600"/>
            <a:ext cx="2221240" cy="46634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94360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끝 [용어 설명 6] 목록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8686800" y="16184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8686800" y="1618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9070848" y="160020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위치만 달라요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9070848" y="189280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PC는 입력창 오른쪽 위,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모바일은 오른쪽 아래.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686800" y="2624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8686800" y="2624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9070848" y="260604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켜고 끄기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9070848" y="289864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누르면 표시, 다시 누르면 원래대로.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686800" y="3630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8686800" y="3630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9070848" y="361188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목록으로 보기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9070848" y="3904488"/>
            <a:ext cx="2569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끝 [용어 설명 N]에서 한 번에.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8686800" y="44074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8686800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9070848" y="438912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그대로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9070848" y="4681728"/>
            <a:ext cx="2569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뜻풀이를 그대로 읽어 주세요.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모드 변경 (PC)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질문마다 간편·상세를 골라요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앞에서는 간편, 약관을 따질 때는 상세예요.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6828817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0" descr="/tmp/claude-0/-home-user-MeAI/f5d765e8-a442-5f2c-87c4-ad64e47ba212/scratchpad/build/img/mode_pc_dropdown_z_715ab972f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828817" cy="41148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833872"/>
            <a:ext cx="68288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[간편 분석]을 누르면 두 가지가 펼쳐져요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635240" y="1691640"/>
            <a:ext cx="4005072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863840" y="1892808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상담 · 직관적 검토용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21488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간편 분석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532888"/>
            <a:ext cx="35478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설정이에요. 고객과 함께 보는 화면, 첫 상담에 맞아요.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35240" y="3291840"/>
            <a:ext cx="4005072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863840" y="3493008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· 담보 정밀 검토용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37490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분석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4133088"/>
            <a:ext cx="35478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근거를 확인하거나 자사·타사 담보를 숫자로 비교할 때.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635240" y="4892040"/>
            <a:ext cx="4005072" cy="777240"/>
          </a:xfrm>
          <a:prstGeom prst="roundRect">
            <a:avLst>
              <a:gd name="adj" fmla="val 1411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63840" y="4983480"/>
            <a:ext cx="3547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바꾸면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대화에 아래 안내줄이 붙고, 다음 질문부터 그 모드로 답해요.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5760720"/>
            <a:ext cx="4005072" cy="421587"/>
          </a:xfrm>
          <a:prstGeom prst="roundRect">
            <a:avLst>
              <a:gd name="adj" fmla="val 19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3" name="Image 1" descr="/tmp/claude-0/-home-user-MeAI/f5d765e8-a442-5f2c-87c4-ad64e47ba212/scratchpad/build/img/fix_mode_notice_ab19a493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5760720"/>
            <a:ext cx="4005072" cy="421587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모드 변경 (모바일)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모바일도 입력창 아래에 있어요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900" dirty="0"/>
          </a:p>
        </p:txBody>
      </p:sp>
      <p:pic>
        <p:nvPicPr>
          <p:cNvPr id="8" name="Image 0" descr="/tmp/claude-0/-home-user-MeAI/f5d765e8-a442-5f2c-87c4-ad64e47ba212/scratchpad/final/hero/mode_mo_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770" y="1371600"/>
            <a:ext cx="2230341" cy="4663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아래 [간편 분석] · [상품 선택]</a:t>
            </a:r>
            <a:endParaRPr lang="en-US" sz="1000" dirty="0"/>
          </a:p>
        </p:txBody>
      </p:sp>
      <p:pic>
        <p:nvPicPr>
          <p:cNvPr id="10" name="Image 1" descr="/tmp/claude-0/-home-user-MeAI/f5d765e8-a442-5f2c-87c4-ad64e47ba212/scratchpad/final/hero/mode_mo_phone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250" y="1371600"/>
            <a:ext cx="2230341" cy="46634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4612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"분석 모드" 선택창 · 간편 / 상세</a:t>
            </a:r>
            <a:endParaRPr lang="en-US" sz="1000" dirty="0"/>
          </a:p>
        </p:txBody>
      </p:sp>
      <p:pic>
        <p:nvPicPr>
          <p:cNvPr id="12" name="Image 2" descr="/tmp/claude-0/-home-user-MeAI/f5d765e8-a442-5f2c-87c4-ad64e47ba212/scratchpad/final/mode/47_mo_mode_detail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280" y="1371600"/>
            <a:ext cx="2221240" cy="46634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94360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뒤 · 버튼과 안내줄이 바뀌어요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8686800" y="17556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8686800" y="1755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9070848" y="173736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버튼을 누르면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9070848" y="202996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아래에서 "분석 모드" 선택창이 올라와요.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686800" y="28163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868680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9070848" y="2798064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고르면 끝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9070848" y="3090672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선택창이 닫히고 버튼 이름이 바뀌어요.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686800" y="38770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8686800" y="38770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9070848" y="3858768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질문마다 바꿔도 돼요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9070848" y="4151376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앞에서는 간편, 약관을 따질 땐 상세.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답변 아래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버튼으로 이어가세요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타이핑 없이 버튼만 누르면 대화가 깊어져요.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6483927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tmp/claude-0/-home-user-MeAI/f5d765e8-a442-5f2c-87c4-ad64e47ba212/scratchpad/build/img/mode_pc_bottom2_z_c678d7e18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483927" cy="45720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0065" y="176063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10065" y="17606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10065" y="281635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10065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10065" y="401338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310065" y="401338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10065" y="494441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10065" y="49444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10065" y="536004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310065" y="536004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49808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49808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882128" y="1691640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아래 아이콘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1984248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 · 출처 · 좋아요 · 싫어요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498080" y="231305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7498080" y="231305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882128" y="2294763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3개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2587371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그 질문이 바로 전송돼요.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7498080" y="291617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498080" y="29161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2897886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더보기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7882128" y="3190494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만든 질문 모음에서 골라 써요.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7498080" y="351929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7498080" y="351929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7882128" y="3501009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7882128" y="3793617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쓰거나, 모바일은 마이크로 말해요.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7498080" y="41224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7498080" y="4122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882128" y="4104132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모드 · 상품 선택</a:t>
            </a:r>
            <a:endParaRPr lang="en-US" sz="13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4396740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간편/상세를 고르고 분석할 상품을 좁혀요.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7498080" y="4846320"/>
            <a:ext cx="4142232" cy="1463040"/>
          </a:xfrm>
          <a:prstGeom prst="roundRect">
            <a:avLst>
              <a:gd name="adj" fmla="val 875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0" y="5010912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중요할까요?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772400" y="5266944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2.3배</a:t>
            </a:r>
            <a:endParaRPr lang="en-US" sz="3400" dirty="0"/>
          </a:p>
        </p:txBody>
      </p:sp>
      <p:sp>
        <p:nvSpPr>
          <p:cNvPr id="42" name="Text 39"/>
          <p:cNvSpPr txBox="1"/>
          <p:nvPr/>
        </p:nvSpPr>
        <p:spPr>
          <a:xfrm>
            <a:off x="9144000" y="5266944"/>
            <a:ext cx="2313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이상 이어 쓴 분의 가계약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(질문 1개만 쓴 분 대비)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0" y="5943600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데이터분석팀 「MeAI 효과 분석」 2026.08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요약 리포트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리포트는 네 단계로 보내요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핸드폰 하나로 발송까지 끝나요. PC는 오른쪽 위 [요약 리포트].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900" dirty="0"/>
          </a:p>
        </p:txBody>
      </p:sp>
      <p:pic>
        <p:nvPicPr>
          <p:cNvPr id="7" name="Image 0" descr="/tmp/claude-0/-home-user-MeAI/f5d765e8-a442-5f2c-87c4-ad64e47ba212/scratchpad/final/legacy/report_ste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734" y="1691640"/>
            <a:ext cx="1753573" cy="35661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48640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화면 상단 [요약 생성]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127248" y="32461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pic>
        <p:nvPicPr>
          <p:cNvPr id="13" name="Image 1" descr="/tmp/claude-0/-home-user-MeAI/f5d765e8-a442-5f2c-87c4-ad64e47ba212/scratchpad/final/legacy/report_ste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086" y="1691640"/>
            <a:ext cx="1753573" cy="35661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364992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3364992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3730752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→ 편집하기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3364992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넣을 답변만 체크, 내부용은 빼요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5943600" y="32461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pic>
        <p:nvPicPr>
          <p:cNvPr id="19" name="Image 2" descr="/tmp/claude-0/-home-user-MeAI/f5d765e8-a442-5f2c-87c4-ad64e47ba212/scratchpad/final/legacy/report_ste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0438" y="1691640"/>
            <a:ext cx="1753573" cy="356616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181344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181344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6547104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생성하기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6181344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카카오톡으로 링크가 전송돼요</a:t>
            </a:r>
            <a:endParaRPr lang="en-US" sz="1150" dirty="0"/>
          </a:p>
        </p:txBody>
      </p:sp>
      <p:sp>
        <p:nvSpPr>
          <p:cNvPr id="24" name="Text 19"/>
          <p:cNvSpPr txBox="1"/>
          <p:nvPr/>
        </p:nvSpPr>
        <p:spPr>
          <a:xfrm>
            <a:off x="8759952" y="32461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pic>
        <p:nvPicPr>
          <p:cNvPr id="25" name="Image 3" descr="/tmp/claude-0/-home-user-MeAI/f5d765e8-a442-5f2c-87c4-ad64e47ba212/scratchpad/final/hero/report_kakao_cr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2364835"/>
            <a:ext cx="2651760" cy="2219769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8997696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8997696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8" name="Text 22"/>
          <p:cNvSpPr txBox="1"/>
          <p:nvPr/>
        </p:nvSpPr>
        <p:spPr>
          <a:xfrm>
            <a:off x="9363456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도착</a:t>
            </a:r>
            <a:endParaRPr lang="en-US" sz="1350" dirty="0"/>
          </a:p>
        </p:txBody>
      </p:sp>
      <p:sp>
        <p:nvSpPr>
          <p:cNvPr id="29" name="Text 23"/>
          <p:cNvSpPr txBox="1"/>
          <p:nvPr/>
        </p:nvSpPr>
        <p:spPr>
          <a:xfrm>
            <a:off x="8997696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[요약레포트 확인하기] · 열람 D+7일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548640" y="5980176"/>
            <a:ext cx="6766560" cy="365760"/>
          </a:xfrm>
          <a:prstGeom prst="roundRect">
            <a:avLst>
              <a:gd name="adj" fmla="val 30000"/>
            </a:avLst>
          </a:prstGeom>
          <a:solidFill>
            <a:srgbClr val="FFF8E1"/>
          </a:solidFill>
          <a:ln w="12700">
            <a:solidFill>
              <a:srgbClr val="FFF8E1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77240" y="6071616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보내기 전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숫자·약관 근거·개인정보 확인. "AI로 생성된 보조자료" 표시가 붙어요.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7498080" y="6035040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 실제 화면 · 이름은 가렸어요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모바일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홈 → 보장분석 → MeAI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 대문·고객찾기·게시판은 PC 오픈 뒤 순차 적용 예정이에요.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900" dirty="0"/>
          </a:p>
        </p:txBody>
      </p:sp>
      <p:pic>
        <p:nvPicPr>
          <p:cNvPr id="7" name="Image 0" descr="/tmp/claude-0/-home-user-MeAI/f5d765e8-a442-5f2c-87c4-ad64e47ba212/scratchpad/final/legacy/mobile_app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528" y="1691640"/>
            <a:ext cx="2142785" cy="4343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0716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앱 홈 · [보장분석]</a:t>
            </a:r>
            <a:endParaRPr lang="en-US" sz="1000" dirty="0"/>
          </a:p>
        </p:txBody>
      </p:sp>
      <p:pic>
        <p:nvPicPr>
          <p:cNvPr id="9" name="Image 1" descr="/tmp/claude-0/-home-user-MeAI/f5d765e8-a442-5f2c-87c4-ad64e47ba212/scratchpad/final/hero/fix_mobile_customer_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691640"/>
            <a:ext cx="2194560" cy="429506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80360" y="60716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상단 버튼 · ③ 카드 [MeAI]</a:t>
            </a:r>
            <a:endParaRPr lang="en-US" sz="1000" dirty="0"/>
          </a:p>
        </p:txBody>
      </p:sp>
      <p:pic>
        <p:nvPicPr>
          <p:cNvPr id="11" name="Image 2" descr="/tmp/claude-0/-home-user-MeAI/f5d765e8-a442-5f2c-87c4-ad64e47ba212/scratchpad/final/mode/55_mo_menu_draw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239" y="1691640"/>
            <a:ext cx="2068801" cy="4343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212080" y="60716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대화 화면 ≡ 메뉴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749808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749808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7882128" y="1691640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[보장분석] 터치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7882128" y="1984248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홈 아이콘 묶음의 첫 번째예요.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498080" y="238620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498080" y="238620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9" name="Text 14"/>
          <p:cNvSpPr txBox="1"/>
          <p:nvPr/>
        </p:nvSpPr>
        <p:spPr>
          <a:xfrm>
            <a:off x="7882128" y="2367915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일반대화]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7882128" y="2660523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 위, 무엇이든 묻는 창이에요.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7498080" y="306247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>
            <a:off x="7498080" y="30624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7882128" y="3044190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카드의 [MeAI]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7882128" y="3336798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그 고객 맞춤대화가 열려요.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7498080" y="373875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1"/>
          <p:cNvSpPr txBox="1"/>
          <p:nvPr/>
        </p:nvSpPr>
        <p:spPr>
          <a:xfrm>
            <a:off x="7498080" y="373875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7882128" y="3720465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 메뉴</a:t>
            </a:r>
            <a:endParaRPr lang="en-US" sz="1350" dirty="0"/>
          </a:p>
        </p:txBody>
      </p:sp>
      <p:sp>
        <p:nvSpPr>
          <p:cNvPr id="28" name="Text 23"/>
          <p:cNvSpPr txBox="1"/>
          <p:nvPr/>
        </p:nvSpPr>
        <p:spPr>
          <a:xfrm>
            <a:off x="7882128" y="4013073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 · 사용 가이드 · 월별 대화 목록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7498080" y="4526280"/>
            <a:ext cx="4142232" cy="777240"/>
          </a:xfrm>
          <a:prstGeom prst="roundRect">
            <a:avLst>
              <a:gd name="adj" fmla="val 1411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726680" y="4617720"/>
            <a:ext cx="3685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이력·저장한 나의 질문은 PC와 모바일이 같아요.</a:t>
            </a:r>
            <a:endParaRPr lang="en-US" sz="1150" dirty="0"/>
          </a:p>
        </p:txBody>
      </p:sp>
      <p:sp>
        <p:nvSpPr>
          <p:cNvPr id="31" name="Shape 26"/>
          <p:cNvSpPr/>
          <p:nvPr/>
        </p:nvSpPr>
        <p:spPr>
          <a:xfrm>
            <a:off x="7498080" y="5440680"/>
            <a:ext cx="4142232" cy="822960"/>
          </a:xfrm>
          <a:prstGeom prst="roundRect">
            <a:avLst>
              <a:gd name="adj" fmla="val 13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7726680" y="5532120"/>
            <a:ext cx="3685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 위 "오늘 보장분석 활용"에서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일일 300회 한도를 확인해요.</a:t>
            </a:r>
            <a:endParaRPr lang="en-US" sz="11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찾아가는 영업의 하루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루틴과 시나리오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 3분이면 오늘 연락할 고객과 첫 말이 정해져요.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 3분 루틴 4단계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카드에서 시작하는 시나리오 3가지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주간·월간 루틴 · 첫 5일 미션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아침 3분 루틴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대문만 열면 첫 말까지 정해져요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10월부터 권하는 아침 3분 루틴이에요. 화면 순서 그대로예요.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9808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열기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58368" y="2659571"/>
            <a:ext cx="2432304" cy="2178939"/>
          </a:xfrm>
          <a:prstGeom prst="roundRect">
            <a:avLst>
              <a:gd name="adj" fmla="val 22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/tmp/claude-0/-home-user-MeAI/f5d765e8-a442-5f2c-87c4-ad64e47ba212/scratchpad/build/img/gate_full_85e54b029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659571"/>
            <a:ext cx="2432304" cy="2178939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708999" y="2592070"/>
            <a:ext cx="219456" cy="219456"/>
          </a:xfrm>
          <a:prstGeom prst="ellipse">
            <a:avLst/>
          </a:prstGeom>
          <a:noFill/>
          <a:ln w="22225">
            <a:solidFill>
              <a:srgbClr val="F0445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9808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4개와 게시판 빨간 점을 확인해요.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364992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566160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566160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3장 읽기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631216" y="2606040"/>
            <a:ext cx="2119313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1" descr="/tmp/claude-0/-home-user-MeAI/f5d765e8-a442-5f2c-87c4-ad64e47ba212/scratchpad/build/img/reco1_card1_cb7566b65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1216" y="2606040"/>
            <a:ext cx="2119313" cy="22860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3566160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#이벤트 임박, #당월 타겟 카드부터 읽어요.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181344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382512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6382512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고객찾기에서 열기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6291072" y="2670949"/>
            <a:ext cx="2432304" cy="2156183"/>
          </a:xfrm>
          <a:prstGeom prst="roundRect">
            <a:avLst>
              <a:gd name="adj" fmla="val 22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4" name="Image 2" descr="/tmp/claude-0/-home-user-MeAI/f5d765e8-a442-5f2c-87c4-ad64e47ba212/scratchpad/build/img/fix_find_card_left_f274d421d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670949"/>
            <a:ext cx="2432304" cy="2156183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6382512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펼친 카드로 상황을 보고 추천 질문을 복사해요.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8997696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9198864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9198864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→ 리포트</a:t>
            </a:r>
            <a:endParaRPr lang="en-US" sz="1450" dirty="0"/>
          </a:p>
        </p:txBody>
      </p:sp>
      <p:sp>
        <p:nvSpPr>
          <p:cNvPr id="29" name="Shape 24"/>
          <p:cNvSpPr/>
          <p:nvPr/>
        </p:nvSpPr>
        <p:spPr>
          <a:xfrm>
            <a:off x="9275826" y="2606040"/>
            <a:ext cx="2095500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0" name="Image 3" descr="/tmp/claude-0/-home-user-MeAI/f5d765e8-a442-5f2c-87c4-ad64e47ba212/scratchpad/build/img/find_right_z_a3b6b202e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5826" y="2606040"/>
            <a:ext cx="2095500" cy="22860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9198864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→ 요약 리포트를 카카오톡으로.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카드의 이유 문장은 고객에게, 추천 질문은 MeAI에게 하는 첫 말이에요.</a:t>
            </a:r>
            <a:endParaRPr lang="en-US" sz="12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시나리오 1 · 이벤트 임박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부담보 해제 D-5, 재설계 타이밍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시점에 맞춰 부족한 보장을 다시 설계해 제안해요.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384664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tmp/claude-0/-home-user-MeAI/f5d765e8-a442-5f2c-87c4-ad64e47ba212/scratchpad/build/img/reco1_card1_cb7566b65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566160" cy="38466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114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추천 카드 · #이벤트 임박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2000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읽기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부담보 해제 D-5,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D-25로 유효.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033440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52896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35776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435776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펼치기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35776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금액 확인,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 복사.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897216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6672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99552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299552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설계안 요청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8299552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담보와 채울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 정리 요청.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9760991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980447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10163327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163327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발송</a:t>
            </a:r>
            <a:endParaRPr lang="en-US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10163327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일정과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요약을 보내요.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389120" y="3840480"/>
            <a:ext cx="7253935" cy="1234440"/>
          </a:xfrm>
          <a:prstGeom prst="roundRect">
            <a:avLst>
              <a:gd name="adj" fmla="val 88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617720" y="3931920"/>
            <a:ext cx="6796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말 → 고객에게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제한됐던 담보가 5일 뒤 풀려요.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부족한 보장도 봐 드릴게요."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389120" y="5230368"/>
            <a:ext cx="7253935" cy="822960"/>
          </a:xfrm>
          <a:prstGeom prst="roundRect">
            <a:avLst>
              <a:gd name="adj" fmla="val 13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617720" y="5321808"/>
            <a:ext cx="6796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"부담보가 해제되는 담보와 다시 설계할 특약을 정리해줘"</a:t>
            </a:r>
            <a:endParaRPr lang="en-US" sz="12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시나리오 2 · 동의 만료 임박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만료 전, 재동의로 보장 점검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재동의를 계기로 신담보와 보장 공백을 함께 점검해요.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384664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tmp/claude-0/-home-user-MeAI/f5d765e8-a442-5f2c-87c4-ad64e47ba212/scratchpad/build/img/reco1_card2_248c4fc8b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566160" cy="38466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114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D-90은 사전조회동의(가입설계동의와 별개)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2000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읽기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가입설계동의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이달 말 만료.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 명분이 돼요.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033440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52896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35776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재동의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435776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먼저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35776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재동의 안내.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반영까지 약 15분.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897216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6672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99552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299552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공백 점검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8299552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신담보와 비교.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9760991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980447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10163327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163327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결과 발송</a:t>
            </a:r>
            <a:endParaRPr lang="en-US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10163327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 인사와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요약을 함께.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389120" y="3840480"/>
            <a:ext cx="7253935" cy="1234440"/>
          </a:xfrm>
          <a:prstGeom prst="roundRect">
            <a:avLst>
              <a:gd name="adj" fmla="val 88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617720" y="3931920"/>
            <a:ext cx="6796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말 → 고객에게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이달 말 동의가 만료돼 연장 부탁드려요.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나온 보장도 봐 드릴게요."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389120" y="5230368"/>
            <a:ext cx="7253935" cy="822960"/>
          </a:xfrm>
          <a:prstGeom prst="roundRect">
            <a:avLst>
              <a:gd name="adj" fmla="val 13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617720" y="5321808"/>
            <a:ext cx="6796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"최근 신담보 기준으로 이 고객 보장의 빈 곳을 알려줘"</a:t>
            </a:r>
            <a:endParaRPr lang="en-US" sz="12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시나리오 3 · 동의부터 · AI 추천 고객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2주 전, 동의부터 받아요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추천 고객이지만 사전조회동의가 필요해요. 알림톡부터 보내요.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422405" cy="3931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tmp/claude-0/-home-user-MeAI/f5d765e8-a442-5f2c-87c4-ad64e47ba212/scratchpad/build/img/fix_reco3_card1_5e54b361b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422405" cy="39319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9671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추천 카드(세트 3) · AI 추천 고객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2000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읽기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암진단비 1천만원,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2주.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필요 표시.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033440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52896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35776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요청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435776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보내기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35776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[사전조회동의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요청하기] 누르고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번호 입력.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897216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6672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99552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299552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진단비 점검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8299552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반영 뒤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9760991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980447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10163327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163327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전 제안</a:t>
            </a:r>
            <a:endParaRPr lang="en-US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10163327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인상 전 가입의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이점을 리포트로.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389120" y="3840480"/>
            <a:ext cx="7253935" cy="1234440"/>
          </a:xfrm>
          <a:prstGeom prst="roundRect">
            <a:avLst>
              <a:gd name="adj" fmla="val 88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617720" y="3931920"/>
            <a:ext cx="6796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말 → 고객에게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2주 뒤 보험 나이가 올라가요.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전에 점검하려고 동의 알림톡 보내요."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389120" y="5230368"/>
            <a:ext cx="7253935" cy="822960"/>
          </a:xfrm>
          <a:prstGeom prst="roundRect">
            <a:avLst>
              <a:gd name="adj" fmla="val 13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617720" y="5321808"/>
            <a:ext cx="6796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"상령일 전에 암진단비를 늘려야 하는 이유를 쉽게 설명해줘"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주간 · 월간 루틴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카드로, 한 주는 그룹으로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카드는 매일, 고객찾기 그룹은 주기별로 챙겨요.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9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611880"/>
                <a:gridCol w="3291840"/>
                <a:gridCol w="2587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목표 예시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매일 아침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대문 · 오늘의 추천 고객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 3~9장 읽고 1명 맞춤대화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추천 고객 1명 접촉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매주 월요일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상령일 임박 · 생일 임박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이번 주 연락할 고객 정리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 고객 전원 연락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당월 영업 타겟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목표 대상 확인 · 아침 조회(회의)에서 공유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타겟 7명 전원 제안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사전동의 만료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D-n 짧은 순으로 재동의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"사전조회 동의 필요" 줄이기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신규 등록 고객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등록 → 동의 → 첫 맞춤대화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등록 후 3일 내 동의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636008"/>
            <a:ext cx="237744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49808" y="47640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기회 탭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9808" y="5111496"/>
            <a:ext cx="981075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5111496"/>
            <a:ext cx="9810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임박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2240280" y="511149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9808" y="5449824"/>
            <a:ext cx="847725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" y="5449824"/>
            <a:ext cx="84772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 임박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544982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7명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49808" y="5788152"/>
            <a:ext cx="1114425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9808" y="5788152"/>
            <a:ext cx="111442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사전동의 만료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2240280" y="57881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35명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108960" y="4636008"/>
            <a:ext cx="4343400" cy="1554480"/>
          </a:xfrm>
          <a:prstGeom prst="roundRect">
            <a:avLst>
              <a:gd name="adj" fmla="val 705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37560" y="4727448"/>
            <a:ext cx="3886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10/2~ 영업포탈 CRM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생일·상령일 목록에서 [MeAI 맞춤대화]를 누르면 고객 대화가 바로 열려요.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635240" y="4636008"/>
            <a:ext cx="4007815" cy="1554480"/>
          </a:xfrm>
          <a:prstGeom prst="roundRect">
            <a:avLst>
              <a:gd name="adj" fmla="val 705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63840" y="4727448"/>
            <a:ext cx="35506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숫자는 예시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인원은 화면 예시예요. 실제로는 내 고객 기준으로 매일 새로 계산돼요.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첫 5일 미션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5일, 하루 하나씩만 해보세요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사용까지 짧을수록 정착률이 높았어요(데이터분석팀 2026.08).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열기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4개와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3장 읽기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새 글 1개 읽기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8892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97180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카드에서 고객찾기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293522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15468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한눈에 보기 6칸 확인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93522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15468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 복사해 두기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521208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시작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17550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9496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→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2번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17550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보장 3개 메모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26948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45236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45236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그룹으로 찾기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41578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63524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 짧은 고객 1명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맞춤대화하기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41578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63524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[사전동의 만료]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확인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50976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969264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5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9264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보내기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965606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87552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리포트를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카톡으로 받아 보기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965606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87552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질문을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질문으로 저장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48640" y="5394960"/>
            <a:ext cx="11094415" cy="731520"/>
          </a:xfrm>
          <a:prstGeom prst="roundRect">
            <a:avLst>
              <a:gd name="adj" fmla="val 15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7240" y="548640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5일 뒤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"대문에서 하루를 시작하는 사람"이 됐어요. 이제 아침 3분 루틴으로 이어가요.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영업관리자 편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대문을 아침 조회(회의) 자료로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본부장님은 전파, 조직장님은 정착. 조회 자료는 대문이에요.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누구부터 챙길까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대문으로 조회하는 법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체크리스트 · 스크립트 · 4주 플랜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왜 관리자인가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도구는 손에, 정착은 조직이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본부가 함께 시작하면 셋 중 둘이 남았어요.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56616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41248" y="2057400"/>
            <a:ext cx="2980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4,912명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971800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과거엔 썼는데 이번 달 안 쓴 분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447288"/>
            <a:ext cx="29809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부여자의 40.8%. 새 교육 없이 "다시 켜기"만 하면 돼요.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783080"/>
            <a:ext cx="356616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90288" y="2057400"/>
            <a:ext cx="2980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65.2%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971800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 단위로 시작한 분의 7개월 잔존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3447288"/>
            <a:ext cx="29809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개별로 들어온 분은 35~41%만 남았어요.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0" y="1783080"/>
            <a:ext cx="356616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39328" y="2057400"/>
            <a:ext cx="2980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26.9%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8339328" y="2971800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받은 뒤 30일 안에 첫 사용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39328" y="3447288"/>
            <a:ext cx="29809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사용이 빠를수록 정착률이 높아요. 첫 주가 골든타임.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75488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84632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대화의 시작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"도입이 안 됐다"가 아니라 "이미 다 써봤다"에서 시작하세요.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978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대문을 조회 자료로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10월부터 대문이 조회 자료예요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리스트를 따로 뽑지 않아도, 대문이 영업 방향을 보여줘요.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11295" cy="43159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/tmp/claude-0/-home-user-MeAI/f5d765e8-a442-5f2c-87c4-ad64e47ba212/scratchpad/build/img/find_groups_z_3c6ba78c9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611295" cy="43159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62472"/>
            <a:ext cx="1611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그룹 · 보장 기준 탭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434255" y="1691640"/>
            <a:ext cx="5566745" cy="952206"/>
          </a:xfrm>
          <a:prstGeom prst="roundRect">
            <a:avLst>
              <a:gd name="adj" fmla="val 11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/tmp/claude-0/-home-user-MeAI/f5d765e8-a442-5f2c-87c4-ad64e47ba212/scratchpad/build/img/gate_stats_f4bc628a6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255" y="1691640"/>
            <a:ext cx="5566745" cy="95220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34255" y="2698710"/>
            <a:ext cx="55667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첫 화면 · 팀원의 숫자 4개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434255" y="3401568"/>
            <a:ext cx="5566745" cy="1027707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2" descr="/tmp/claude-0/-home-user-MeAI/f5d765e8-a442-5f2c-87c4-ad64e47ba212/scratchpad/build/img/find_header_0234e72a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4255" y="3401568"/>
            <a:ext cx="5566745" cy="102770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434255" y="4484139"/>
            <a:ext cx="55667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제목 · 인원 · 설명 문구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2434255" y="5230368"/>
            <a:ext cx="5566745" cy="777240"/>
          </a:xfrm>
          <a:prstGeom prst="roundRect">
            <a:avLst>
              <a:gd name="adj" fmla="val 14118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2662855" y="5321808"/>
            <a:ext cx="510954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물어보세요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"이번 주 상령일 고객 몇 명?"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8321040" y="1792224"/>
            <a:ext cx="54864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503920" y="1737360"/>
            <a:ext cx="31391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503920" y="2103120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"사전조회 동의 필요"가 이번 주 동의 목표 인원.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8321040" y="2670048"/>
            <a:ext cx="54864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503920" y="2615184"/>
            <a:ext cx="31391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당월 영업 타겟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8503920" y="2980944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1. 인원과 설명 문장을 함께 읽어요.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8321040" y="3547872"/>
            <a:ext cx="54864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503920" y="3493008"/>
            <a:ext cx="31391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· 생일 임박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8503920" y="3858768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기회 탭. 그대로 이번 주 접촉 계획표가 돼요.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8321040" y="4425696"/>
            <a:ext cx="54864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503920" y="4370832"/>
            <a:ext cx="31391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사전동의 만료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503920" y="4736592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 짧은 순으로 대응 순서를 정해요.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8321040" y="5303520"/>
            <a:ext cx="54864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503920" y="5248656"/>
            <a:ext cx="31391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503920" y="5614416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지연 같은 운영 이슈를 먼저 공유해요.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누구부터 챙길까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타겟은 사용 이력으로 잡으세요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이력이 말해주는 네 그룹부터 챙기세요.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51760" cy="297180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920240"/>
            <a:ext cx="541020" cy="2926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920240"/>
            <a:ext cx="541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이탈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3317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4,912명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99008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 쉬고 있는 사용자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502152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"대문 한 번 열어 보세요" 한 마디면 돼요.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64992" y="1691640"/>
            <a:ext cx="2651760" cy="297180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93592" y="1920240"/>
            <a:ext cx="746379" cy="2926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93592" y="1920240"/>
            <a:ext cx="7463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FP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593592" y="23317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3.9배</a:t>
            </a:r>
            <a:pPr indent="0" marL="0">
              <a:buNone/>
            </a:pPr>
            <a:r>
              <a:rPr lang="en-US" sz="11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체결전환율 격차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299008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12차월 초과, 아직 미활용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593592" y="3502152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10.0% → 38.6%.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효과가 가장 큰 층이에요.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81344" y="1691640"/>
            <a:ext cx="2651760" cy="297180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9944" y="1920240"/>
            <a:ext cx="541020" cy="2926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9944" y="1920240"/>
            <a:ext cx="541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단발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9944" y="23317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2,156명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6409944" y="299008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하나만 쓰는 분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09944" y="3502152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꼬리질문을 알려주세요.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1개 11.99건 →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17.02건(가계약).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997696" y="1691640"/>
            <a:ext cx="2651760" cy="297180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26296" y="1920240"/>
            <a:ext cx="847725" cy="2926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6296" y="1920240"/>
            <a:ext cx="84772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승인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9226296" y="23317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30일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9226296" y="299008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받은 지 30일 안 된 분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3502152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7일이 골든타임. 본부장님이 직접 안내해 주세요.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498348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"신인이 안 쓴다"는 오해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6차월 미만도 52.6%가 썼고, 팀원·관리자 차이는 1.3배뿐이에요.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521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이번 달 체크리스트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달, 여덟 줄만 부탁드립니다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두 줄이 최우선, 나머지는 여유가 될 때.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691640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6916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한동안 안 쓰신 분께 "대문 열어 보세요"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169164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4,912명. 다시 켜기만 하면 돼요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0408615" y="1787652"/>
            <a:ext cx="674370" cy="283464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08615" y="1787652"/>
            <a:ext cx="67437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최우선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11094415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221992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22199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FP(12차월 초과)를 먼저 챙겨 주세요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221992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체결전환율 격차 3.9배, 가장 커요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08615" y="2318004"/>
            <a:ext cx="674370" cy="283464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08615" y="2318004"/>
            <a:ext cx="67437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최우선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2752344"/>
            <a:ext cx="11094415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2752344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2752344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권한부여가 안 된 분을 찾아 주세요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2752344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메뉴는 권한 필요 · 10/2 새 입구 3곳은 누구나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시점은 IT 일정에 따라 달라질 수 있어요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08615" y="2848356"/>
            <a:ext cx="674370" cy="28346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408615" y="2848356"/>
            <a:ext cx="67437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온보딩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3282696"/>
            <a:ext cx="11094415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9808" y="3282696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328269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받은 분께 직접 안내해 주세요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282696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30일 안 첫 사용이 정착을 갈라요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08615" y="3378708"/>
            <a:ext cx="674370" cy="28346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408615" y="3378708"/>
            <a:ext cx="67437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온보딩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3813048"/>
            <a:ext cx="11094415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49808" y="381304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381304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조회에서 대문을 함께 열어 주세요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3813048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 · 당월 타겟 · 추천 카드 1장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10408615" y="3909060"/>
            <a:ext cx="541020" cy="28346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408615" y="3909060"/>
            <a:ext cx="5410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48640" y="4343400"/>
            <a:ext cx="11094415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9808" y="4343400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188720" y="434340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"질문 이어 쓰기"를 안내해 주세요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6492240" y="434340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· 추천 질문. 질문 3개 이상이면 가계약 2.3배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10408615" y="4439412"/>
            <a:ext cx="541020" cy="283464"/>
          </a:xfrm>
          <a:prstGeom prst="roundRect">
            <a:avLst>
              <a:gd name="adj" fmla="val 50000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408615" y="4439412"/>
            <a:ext cx="5410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48640" y="4873752"/>
            <a:ext cx="11094415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49808" y="4873752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188720" y="48737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본부가 날짜를 정해 같이 시작해 주세요</a:t>
            </a:r>
            <a:endParaRPr lang="en-US" sz="1350" dirty="0"/>
          </a:p>
        </p:txBody>
      </p:sp>
      <p:sp>
        <p:nvSpPr>
          <p:cNvPr id="46" name="Text 44"/>
          <p:cNvSpPr txBox="1"/>
          <p:nvPr/>
        </p:nvSpPr>
        <p:spPr>
          <a:xfrm>
            <a:off x="6492240" y="4873752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7개월 잔존율 65.2% 대 개별 35~41%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10408615" y="4969764"/>
            <a:ext cx="541020" cy="283464"/>
          </a:xfrm>
          <a:prstGeom prst="roundRect">
            <a:avLst>
              <a:gd name="adj" fmla="val 50000"/>
            </a:avLst>
          </a:prstGeom>
          <a:solidFill>
            <a:srgbClr val="E9F9F1"/>
          </a:solidFill>
          <a:ln w="12700">
            <a:solidFill>
              <a:srgbClr val="E9F9F1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408615" y="4969764"/>
            <a:ext cx="5410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정착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48640" y="5404104"/>
            <a:ext cx="11094415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49808" y="5404104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188720" y="5404104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도입 설명회에서 대문을 보여 주세요</a:t>
            </a:r>
            <a:endParaRPr lang="en-US" sz="1350" dirty="0"/>
          </a:p>
        </p:txBody>
      </p:sp>
      <p:sp>
        <p:nvSpPr>
          <p:cNvPr id="52" name="Text 50"/>
          <p:cNvSpPr txBox="1"/>
          <p:nvPr/>
        </p:nvSpPr>
        <p:spPr>
          <a:xfrm>
            <a:off x="6492240" y="5404104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"오늘 만날 고객을 회사가 찾아 준다"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10408615" y="5500116"/>
            <a:ext cx="807720" cy="28346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0408615" y="5500116"/>
            <a:ext cx="807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리크루팅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548640" y="597103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조회에서 말씀해 보세요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조회에선 세 문장이면 충분해요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숫자로, 타겟으로, 행동으로 한 줄씩. 반론 셋은 미리 준비.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6766560" cy="1133856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856232"/>
            <a:ext cx="674370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856232"/>
            <a:ext cx="6743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148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"같은 FP 안에서 비교해도 체결전환율이 9%에서 36%로 올라갑니다."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49631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"같은 FP 비교"라는 조건을 꼭 함께 말해요.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935224"/>
            <a:ext cx="6766560" cy="1133856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099816"/>
            <a:ext cx="807720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099816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타겟으로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392424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"다시 권한부여 받을 분, 한동안 안 쓰신 분 계실까요?"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73989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행동을 바로 만드는 질문이에요.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178808"/>
            <a:ext cx="6766560" cy="1133856"/>
          </a:xfrm>
          <a:prstGeom prst="roundRect">
            <a:avLst>
              <a:gd name="adj" fmla="val 1129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343400"/>
            <a:ext cx="807720" cy="274320"/>
          </a:xfrm>
          <a:prstGeom prst="roundRect">
            <a:avLst>
              <a:gd name="adj" fmla="val 50000"/>
            </a:avLst>
          </a:prstGeom>
          <a:solidFill>
            <a:srgbClr val="2B6FE0"/>
          </a:solidFill>
          <a:ln w="12700">
            <a:solidFill>
              <a:srgbClr val="2B6F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343400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행동으로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63600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"10월부터 MeAI 대문이 열립니다. 조회 때 함께 열어보겠습니다."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9834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오픈을 조회 습관과 잇는 한 줄이에요.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589520" y="1691640"/>
            <a:ext cx="4050792" cy="3621024"/>
          </a:xfrm>
          <a:prstGeom prst="roundRect">
            <a:avLst>
              <a:gd name="adj" fmla="val 3535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18120" y="1847088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반론 3가지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818120" y="233172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원래 될 고객이라 켠 거 아닌가요?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818120" y="26609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FP 고객끼리 비교해도 9.0% → 36.0%예요.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818120" y="331927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계약이 더 빨라지나요?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818120" y="364845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 차이는 거의 없어요(12일 vs 13일).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818120" y="4306824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신인용 도구 아닌가요?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818120" y="46360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연차별로는 기존 FP에서 격차가 가장 커요(미활용 10.0% → 활용 38.6%).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5468112"/>
            <a:ext cx="11094415" cy="566928"/>
          </a:xfrm>
          <a:prstGeom prst="roundRect">
            <a:avLst>
              <a:gd name="adj" fmla="val 1935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5559552"/>
            <a:ext cx="10637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과장은 금물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"빨라진다"·"많이 판다" 대신 "성사된다"·"좋은 상품을 고른다".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610819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4주 도입 플랜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4주 플랜, 이 순서면 정착해요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본부가 같은 날 시작하고, 주마다 한 가지씩만.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51760" cy="34747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18928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94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점검 · 대문 소개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9260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미부여·이탈 명단 확인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657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3657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핵심 숫자 4개 공유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389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38912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대문(PART 2) 함께 열기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127248" y="31546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64992" y="1691640"/>
            <a:ext cx="2651760" cy="3474720"/>
          </a:xfrm>
          <a:prstGeom prst="roundRect">
            <a:avLst>
              <a:gd name="adj" fmla="val 4828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93592" y="18928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2주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93592" y="2194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5일 미션 전원 시작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593592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3867912" y="29260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첫 5일 미션 시작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593592" y="3657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867912" y="3657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→ 고객찾기 열기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593592" y="4389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3867912" y="438912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"대문 열어보셨어요?" 한마디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943600" y="31546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181344" y="1691640"/>
            <a:ext cx="2651760" cy="34747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409944" y="18928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409944" y="2194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 맞춤대화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409944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684264" y="29260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 1명 맞춤대화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6409944" y="3657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684264" y="3657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내 카톡으로 먼저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409944" y="4389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684264" y="438912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당월 영업 타겟 전원 접촉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8759952" y="31546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8997696" y="1691640"/>
            <a:ext cx="2651760" cy="34747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9226296" y="18928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4주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226296" y="2194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성과 공유와 뽐내기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9226296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9500616" y="29260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활용일수·가계약 변화 공유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9226296" y="3657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9500616" y="3657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우수 사례 3건 조회에서 발표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9226296" y="4389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9500616" y="438912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달 타겟 그룹 미리 보기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48640" y="544068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77240" y="553212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본질은 그대로, 바뀌는 건 도구뿐. 정착은 관리자님이 만들어 주세요.</a:t>
            </a:r>
            <a:endParaRPr lang="en-US" sz="13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지켜야 할 것 · FAQ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정리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잘 쓰는 조건, 한 번만 제대로 읽어 두세요.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가지 약속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묻는 질문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한 장 정리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꼭 지켜주세요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잘 쓰는 다섯 가지 약속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1·4번은 화면 하단 안내문에도 나와요.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04672" y="1965960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353312" y="19476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답변은 검증 후 사용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2606040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오류가 있을 수 있어요. 약관·증권으로 직접 확인한 뒤 안내해요.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691640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53712" y="1965960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53712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02352" y="19476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 입력 금지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53712" y="2606040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이름·연락처·주소·주민번호는 질문에도, 메모에도 넣지 않아요.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1691640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02752" y="1965960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02752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851392" y="19476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없으면 보지 않기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606040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동의가 없거나 철회된 고객은 막혀요. 우회 말고 동의부터.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904488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4178808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0467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4160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미검증 책임은 사용자에게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" y="4818888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없이 안내하면 금융소비자보호법 등 법령상 책임은 사용자에게.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297680" y="3904488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53712" y="4178808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55371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102352" y="4160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외부 반출 금지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4553712" y="4818888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답변·화면 캡처·이 가이드북,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제공·배포·게시는 금지예요.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046720" y="3904488"/>
            <a:ext cx="3566160" cy="2057400"/>
          </a:xfrm>
          <a:prstGeom prst="roundRect">
            <a:avLst>
              <a:gd name="adj" fmla="val 53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75320" y="3995928"/>
            <a:ext cx="31089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하단 안내문 원문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"MeAI의 답변은 생성형 AI를 통해 작성되어 오류가 있을 수 있으므로, 반드시 직접 근거자료를 확인하여 진위를 검증하시기 바랍니다. 미검증으로 인한 금융소비자보호법 등 관련 법령상 책임은 사용자에게 있습니다."</a:t>
            </a:r>
            <a:endParaRPr lang="en-US" sz="11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FAQ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 가장 많이 묻는 질문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아홉 개면 첫 주 질문은 대부분 해결돼요.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8470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847088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대문은 어디서 열어요?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24028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10월부터 PC 영업포탈에서 MeAI로 들어오면 먼저 열려요. 모바일은 순차 적용.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691640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98848" y="18470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847088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고객이 안 보여요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98848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24028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고객은 2차 오픈부터 보여요. 결과는 익일 반영.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46720" y="1691640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47888" y="18470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1847088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고객이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연락할 분이 아닌 것 같아요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2478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549640" y="2478024"/>
            <a:ext cx="2907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추천은 지시가 아니라 "이유가 있는 고객". 그룹에서 직접 골라도 돼요.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3264408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341985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341985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없는 고객은요?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813048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[고객 동의]나 [사전조회동의 요청하기]에서 번호 입력 → 알림톡. 약 15분 내외 반영.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297680" y="3264408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98848" y="341985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800600" y="341985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팝업에 고객이 없어요 · 회색이에요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9884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800600" y="3813048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팝업엔 동의 유효 고객만 나와요. 회색은 오늘 동의를 철회한 고객.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046720" y="3264408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47888" y="341985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549640" y="341985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내 고객 수와 달라요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24788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8549640" y="3813048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대문에는 사전조회 동의일로부터 1년 이내 고객만 보여요(범례 안내). 익일 반영.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48640" y="4837176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9808" y="4992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051560" y="499262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고객이 여러 그룹에 있어요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749808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1051560" y="5385816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정상이에요. 우선순위는 당월 영업 타겟 →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증권·월 50만원·상령일·생일·동의 만료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보장 부족 순.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4297680" y="4837176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98848" y="4992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4800600" y="499262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대화를 폰에서 이어가나요?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98848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4800600" y="5385816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네. 대화 이력과 나의 질문이 PC·모바일에 똑같이 보여요.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8046720" y="4837176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992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8549640" y="499262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글씨가 너무 커요 · 작아요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8549640" y="5385816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[글씨 확대]를 끄면 원래 크기, 켜면 한 단계 커요(기본 ON).</a:t>
            </a:r>
            <a:endParaRPr lang="en-US" sz="11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용어 정리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책에 나온 말, 한 장 정리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대문·고객찾기 화면에 그대로 쓰이는 이름이에요.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9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937760"/>
                <a:gridCol w="350215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 보나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사전조회 동의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 내역 조회 동의. 1년 유효, 있어야 맞춤대화가 열려요.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 D-n 칩 · 대문 "사전조회 동의 필요"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사전조회동의 D-n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만료까지 남은 날. 만료되면 "필요", 철회하면 "철회".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대문 카드 · 검색 팝업 · 고객찾기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상품소개 동의 · AI 추천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소개에 동의한 고객. 카드에 빨간 리본이 붙어요.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대문 "상품제안 가능" · 카드 리본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보유 · 가망 · 이관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있음 · 등록만 · 넘겨받음. 하나로만 분류.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카드의 유형 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오늘의 추천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이유가 붙은 카드 3장 × 세트 3개. 매일 새로 계산. 2차 오픈부터.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대문 가운데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 기준 · 영업 기회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그룹 탭. 보장 부족 7종 등 10개 / 날짜형 3개.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왼쪽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영업 타겟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이번 달 영업 목표 대상. 우선순위 1(보라 태그).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그룹 · 카드 태그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 나이가 한 살 오르는 날. 그 전 가입이 유리해요.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[상령일 임박]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고객 한눈에 보기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펼친 카드의 여섯 칸. 가입·납입·부족 금액 등.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가운데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간편 분석 · 상세 분석 (개발 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답변 모드. 일상 언어 / 약관·담보 정밀 비교.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대화 입력창 아래 (NEW)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 설명 (개발 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답변 속 전문용어의 뜻을 목록으로 보여줘요.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 입력창 오른쪽 위 · 모바일 오른쪽 아래 (NEW)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글씨 확대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글씨를 한 단계 크게. 기본 ON, 이 PC에 기억돼요.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대문·고객찾기·게시판 오른쪽 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48095" y="1097280"/>
            <a:ext cx="5394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</a:t>
            </a:r>
            <a:endParaRPr lang="en-US" sz="1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1732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만날 고객은,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대문에 있어요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>
                    <a:alpha val="9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일은 MeAI가, 만나는 일은 여러분이.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4572000"/>
            <a:ext cx="2261616" cy="365760"/>
          </a:xfrm>
          <a:prstGeom prst="roundRect">
            <a:avLst>
              <a:gd name="adj" fmla="val 50000"/>
            </a:avLst>
          </a:prstGeom>
          <a:solidFill>
            <a:srgbClr val="2B6FE0"/>
          </a:solidFill>
          <a:ln w="12700">
            <a:solidFill>
              <a:srgbClr val="2B6F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0"/>
            <a:ext cx="2261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10월, MeAI 대문에서 만나요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30296" y="4572000"/>
            <a:ext cx="1682496" cy="365760"/>
          </a:xfrm>
          <a:prstGeom prst="roundRect">
            <a:avLst>
              <a:gd name="adj" fmla="val 50000"/>
            </a:avLst>
          </a:prstGeom>
          <a:solidFill>
            <a:srgbClr val="2B6FE0"/>
          </a:solidFill>
          <a:ln w="12700">
            <a:solidFill>
              <a:srgbClr val="2B6F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130296" y="457200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· 세일즈혁신TF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7607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>
                    <a:alpha val="9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자료의 전부·일부(수정 포함)의 외부 제공·배포·게시(온/오프라인)는 금지됩니다. 미검증으로 인한 금융소비자보호법 등 관련 법령상 책임은 사용자에게 있습니다. 화면 속 고객 이름·숫자는 예시 데이터입니다.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활용 가이드북 v4 · CRM 대문 편</dc:title>
  <dc:subject>PptxGenJS Presentation</dc:subject>
  <dc:creator>세일즈혁신TF</dc:creator>
  <cp:lastModifiedBy>세일즈혁신TF</cp:lastModifiedBy>
  <cp:revision>1</cp:revision>
  <dcterms:created xsi:type="dcterms:W3CDTF">2026-09-29T07:52:07Z</dcterms:created>
  <dcterms:modified xsi:type="dcterms:W3CDTF">2026-09-29T07:52:07Z</dcterms:modified>
</cp:coreProperties>
</file>