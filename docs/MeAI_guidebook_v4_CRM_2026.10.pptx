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image" Target="../media/image-35-8.png"/><Relationship Id="rId9" Type="http://schemas.openxmlformats.org/officeDocument/2006/relationships/image" Target="../media/image-35-9.png"/><Relationship Id="rId10" Type="http://schemas.openxmlformats.org/officeDocument/2006/relationships/image" Target="../media/image-35-10.pn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png"/><Relationship Id="rId13" Type="http://schemas.openxmlformats.org/officeDocument/2006/relationships/image" Target="../media/image-35-13.png"/><Relationship Id="rId14" Type="http://schemas.openxmlformats.org/officeDocument/2006/relationships/image" Target="../media/image-3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image" Target="../media/image-7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가이드북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영업으로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나만의 영업비서, “MeAI 홈” OPEN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5166360"/>
            <a:ext cx="127000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166360"/>
            <a:ext cx="127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v4 · MeAI 홈 편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1248" y="5166360"/>
            <a:ext cx="148844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11248" y="5166360"/>
            <a:ext cx="148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 오픈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09416" y="5166360"/>
            <a:ext cx="141986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416" y="5166360"/>
            <a:ext cx="14198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966787"/>
            <a:ext cx="5394960" cy="4832985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966787"/>
            <a:ext cx="5394960" cy="48329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가이드북 읽는 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영업가족이 직접 보는 책. 내 상황에 맞는 곳부터 펼쳐 보기.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홈이 처음이라면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MeAI 홈으로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진입로, 화면 구성과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 읽는 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64992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3592" y="1856232"/>
            <a:ext cx="365760" cy="36576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93592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059936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 · 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바로 써보고 싶다면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 맞춤대화까지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 · 매일 아침 루틴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81344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9944" y="1856232"/>
            <a:ext cx="365760" cy="36576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9944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76288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기능이 궁금하다면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누르면 열리는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일반대화·맞춤대화, 새 기능,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리포트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26296" y="1856232"/>
            <a:ext cx="365760" cy="36576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26296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법이 궁금하다면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클릭으로 고르기,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+ 무엇을 묻는 법,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 초안까지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639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MeAI로 완성된 영업 사이클</a:t>
            </a:r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내 고객을 MeAI 홈에서 찾아, MeAI에게 묻고, 고객 연락까지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9808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147240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49808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내 고객을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카드로 찾기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372536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3573704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71136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573704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573704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한눈에 보고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고객 선택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196432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97600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7795031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8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397600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397600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기능으로 확인하기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020327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21495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0618927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7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221495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연락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221495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첫 말로 연락하고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리포트까지 발송하기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48640" y="5340096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77240" y="5431536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 찾기·고르기·묻기는 MeAI 홈에서 시작해 누르기만 하면 됨.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48640" y="5833872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77240" y="5833872"/>
            <a:ext cx="10637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기준  </a:t>
            </a:r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화면. PART 6의 새 기능(용어 설명·모드 변경)은 개발 중이라 바뀔 수 있음</a:t>
            </a:r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</a:t>
            </a:r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데이터  </a:t>
            </a:r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고객 이름·나이·숫자는 모두 예시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영업의 방향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하루가 시작되는 곳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MeAI가 그룹으로 묶어 둔 내 고객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98348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498348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98348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 · 일반대화 · 맞춤대화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4652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p.60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4652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 · 이렇게 묻기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78992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p.67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4652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713232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 · 용어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078992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4983480"/>
            <a:ext cx="5440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칸(PART 2·3·4·8)부터 보면 MeAI 홈 바로 사용 가능.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영업의 방향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 찾아가는 영업으로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왜, 무슨 말로 연락할지 이제 MeAI가 먼저 골라 줌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열에 아홉이 방치상태인 이유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홈이 바꾸는 하루의 순서 · 작동 원리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보는 효과 · 매일 아침 루틴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지금까지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열에 아홉은 방치상태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 영업하려면 누구에게 · 왜 지금 · 무슨 말을 할지 고민해야 했던 현실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연락하지?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목록을 하나씩 뒤져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사람을 직접 골라야 했음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2628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지금이지?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명분을 스스로 만들어야 했음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7532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말로 시작하지?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마디를 고민하다 하루를 넘기기 일쑤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중 영업 시도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명 넘게 설계·청약 없이 방치상태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371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455371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고객 중 영업 시도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5371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넘겨받은 고객은 더 묵혀 두게 됨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02752" y="41330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누구, 왜, 무엇을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302752" y="46817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1명에게 영업하기 위해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준비해야 하는 많은 고민과 결정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3월 TA채널 보유고객 대비 설계/청약 진행 고객 비율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이제는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먼저 찾아오는 영업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것은 화면이 아니라 하루의 순서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3657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영업 (지금까지)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찾아가는 영업 (MeAI 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누구에게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목록을 뒤져 내가 고름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홈이 오늘의 추천 고객을 보여 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 지금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명분을 스스로 만듦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"상령일이 2주 남았고…" 이유가 붙음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마디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고민하다 미룸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문장이 곧 첫 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다음 행동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메뉴를 찾아 헤맴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[MeAI 고객찾기에서 열기] →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[이 고객으로 맞춤대화 시작]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815359" y="1691640"/>
            <a:ext cx="3754562" cy="4069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5359" y="1691640"/>
            <a:ext cx="3754562" cy="4069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0" y="5833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「오늘의 추천 고객」 김민수 카드 (예시)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48640" y="5120640"/>
            <a:ext cx="6949440" cy="731520"/>
          </a:xfrm>
          <a:prstGeom prst="roundRect">
            <a:avLst>
              <a:gd name="adj" fmla="val 15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2120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시스템이, 설득은 사람이. 오른쪽 김민수 고객처럼 "사전조회동의 필요"가 붙으면 맞춤대화 전에 동의 알림톡부터 발송(PART 5).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한 흐름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번이면 대화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 고객(예시) 한 분으로 따라가 보기 · 화면 속 추천 질문 문장은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2126"/>
            <a:ext cx="2240280" cy="24279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2126"/>
            <a:ext cx="2240280" cy="242794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48640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61772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추천 카드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95604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문장을 읽고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763469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058058" y="1894804"/>
            <a:ext cx="3429000" cy="238259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058" y="1894804"/>
            <a:ext cx="3429000" cy="238259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058058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058058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423818" y="461772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3058058" y="495604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 파악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461608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756197" y="1838671"/>
            <a:ext cx="2240280" cy="249485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197" y="1838671"/>
            <a:ext cx="2240280" cy="249485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756197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6756197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7121957" y="461772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6756197" y="495604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확인하고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971026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3"/>
          <p:cNvSpPr/>
          <p:nvPr/>
        </p:nvSpPr>
        <p:spPr>
          <a:xfrm>
            <a:off x="9265615" y="2024516"/>
            <a:ext cx="2377440" cy="2123168"/>
          </a:xfrm>
          <a:prstGeom prst="roundRect">
            <a:avLst>
              <a:gd name="adj" fmla="val 22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9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5615" y="2024516"/>
            <a:ext cx="2377440" cy="2123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265615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9265615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9631375" y="4617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</a:t>
            </a:r>
            <a:endParaRPr lang="en-US" sz="1350" dirty="0"/>
          </a:p>
        </p:txBody>
      </p:sp>
      <p:sp>
        <p:nvSpPr>
          <p:cNvPr id="33" name="Text 27"/>
          <p:cNvSpPr txBox="1"/>
          <p:nvPr/>
        </p:nvSpPr>
        <p:spPr>
          <a:xfrm>
            <a:off x="9265615" y="49560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답만 골라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발송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48640" y="5596128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77240" y="5687568"/>
            <a:ext cx="10637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 고객은 사전조회 동의 기간이 남아 있어(D-7) [이 고객으로 맞춤대화 시작]을 누르면 바로 열림.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"사전조회동의 필요"가 붙은 고객은 동의 알림톡부터 발송(PART 5).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MeAI가 하는 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홈의 작동 원리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밤 계산하고, 다음 날 이유와 함께 화면 구성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· 동의 · 상령일 ·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· CRM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8830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2721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2721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밤 계산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2721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고객과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그룹을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자동으로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계산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47417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86329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86329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 9명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86329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× 3세트로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 표시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6534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544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4544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대신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4544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이 고객인지,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문장과 태그로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(동의 상태 칩도 함께)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6565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80456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80456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80456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버튼으로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이동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동의 고객은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맞춤대화 시작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7724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시스템, 설득은 사람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시간을 없애고,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만나는 일에 집중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9768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52628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그룹은 두 갈래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52628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· 영업 기회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암진단비 부족 · 상령일 임박)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4672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27532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다음 날 반영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데이터와 추천 결과 모두 해당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시각은 화면의 "최근 업데이트"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8064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MeAI 홈에 노출되는 고객은 사전조회 동의일로부터 1년 이내 · 맞춤대화는 동의일부터 90일 동안 가능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숫자로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MeAI를 쓴 경우, 체결전환율 2.8배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명이 사용 경험 있음 · MeAI 홈은 매일 아침 열어 볼 이유를 만들어 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51460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8928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91.1%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496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 경험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70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10,968명이 한 번 이상 사용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5698" y="1691640"/>
            <a:ext cx="251460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81730" y="18928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481730" y="2496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81730" y="2770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12.7% → 활용 35.4%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02757" y="1691640"/>
            <a:ext cx="251460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58789" y="18928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58789" y="2496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고객끼리도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158789" y="2770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9.0% → 활용 36.0%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79815" y="1691640"/>
            <a:ext cx="3063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35847" y="18928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835847" y="24963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질문할수록 늘어나는 영업기회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835847" y="277063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1건 대비 3건 이상 · 평균 가계약 수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11.99건 → 27.79건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6949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37160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7월 활동일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 보유율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가계약(건)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매출자 평균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미사용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5,987명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256,194원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1,835명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310,383원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2~4일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328,237원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5~9일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1,372명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38.47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378,083원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408,166원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680960" y="3611880"/>
            <a:ext cx="3931920" cy="1975104"/>
          </a:xfrm>
          <a:prstGeom prst="roundRect">
            <a:avLst>
              <a:gd name="adj" fmla="val 555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3703320"/>
            <a:ext cx="34747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달에 며칠 쓰느냐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 1.8배 · 평균 가계약 5.4배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(10일 이상 vs 미사용)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홈을 아침마다 여는 습관이 곧 활동일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74243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그래서 이 책은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MeAI 홈에서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버튼만 누르면 다음 화면으로 연결(화면 속 질문 문장은 예시) · PART 2~4 화면 · PART 7 루틴 · PART 8 묻는 법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520364"/>
            <a:ext cx="2514600" cy="1040033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0364"/>
            <a:ext cx="2514600" cy="10400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4805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18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 동의 필요" 확인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053029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362858" y="1826406"/>
            <a:ext cx="2240280" cy="24279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858" y="1826406"/>
            <a:ext cx="2240280" cy="242794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62858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3362858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3728618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· 추천 카드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3362858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내 고객을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카드로 찾기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92928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5902757" y="1928504"/>
            <a:ext cx="3200400" cy="222375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0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757" y="1928504"/>
            <a:ext cx="3200400" cy="222375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902757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5902757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6268517" y="44805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고르기 · 고객찾기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5902757" y="481888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보고 연락할 고객 선택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092946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1"/>
          <p:cNvSpPr/>
          <p:nvPr/>
        </p:nvSpPr>
        <p:spPr>
          <a:xfrm>
            <a:off x="9402775" y="1792951"/>
            <a:ext cx="2240280" cy="249485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7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2775" y="1792951"/>
            <a:ext cx="2240280" cy="2494857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9402775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9402775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9768535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· 추천 질문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9402775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누르거나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504688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596128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→ 고르기 → 묻기 → 연락하기. 마지막 걸음은 카드의 첫 말로 연락하고 리포트까지 발송.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시작되는 곳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내 고객과 첫 마디가 미리 준비된 곳 · 누르기만 하면 시작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MeAI 홈으로 가는 진입로 6곳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다섯 구역 · 스위치와 버튼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추천 카드 읽는 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· 동의 · 유형 범례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영업포탈에서 들어가기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MeAI 홈으로 가는 진입로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 배너와 CRM 통해 들어가는 MeAI는 누구나 사용 가능 · 10월 2일부터 새 문 ③④⑤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7589520" cy="413973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589520" cy="413973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36676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6676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750808" y="169164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[MeAI 홈]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50808" y="1984248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사용권한이 있어야 사용 가능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366760" y="231305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66760" y="23130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750808" y="2294763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[보장분석]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50808" y="2587371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사용권한이 있어야 사용 가능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66760" y="29161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366760" y="2916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750808" y="289788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 롤링배너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750808" y="3190494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홈 바로가기]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366760" y="351929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66760" y="3519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750808" y="3501009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CRM 리스트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750808" y="3793617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일반대화] [MeAI 맞춤대화]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366760" y="41224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66760" y="4122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750808" y="410413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떠 있는 MeAI 버튼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750808" y="4396740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목록 위 둥근 버튼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366760" y="472554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366760" y="47255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750808" y="4707255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[MeAI 홈]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750808" y="4999863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사용권한이 있어야 사용 가능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366760" y="5349240"/>
            <a:ext cx="3273552" cy="475488"/>
          </a:xfrm>
          <a:prstGeom prst="roundRect">
            <a:avLst>
              <a:gd name="adj" fmla="val 2307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595360" y="5440680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③④⑤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권한과 상관없이 누구나 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새로 생긴 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생긴 문 ③④⑤ 한눈에 보기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 바로 대화를 시작하는 ④가 핵심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롤링배너 → [MeAI 홈 바로가기]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4206240" cy="1150144"/>
          </a:xfrm>
          <a:prstGeom prst="roundRect">
            <a:avLst>
              <a:gd name="adj" fmla="val 73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4206240" cy="11501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364992"/>
            <a:ext cx="4206240" cy="256032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64992"/>
            <a:ext cx="4206240" cy="2560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029200" y="169164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CRM 리스트 [MeAI 일반대화] [MeAI 맞춤대화] · ⑤ 떠 있는 MeAI 버튼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0" y="2011680"/>
            <a:ext cx="6611112" cy="3105892"/>
          </a:xfrm>
          <a:prstGeom prst="roundRect">
            <a:avLst>
              <a:gd name="adj" fmla="val 4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11680"/>
            <a:ext cx="6611112" cy="310589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029200" y="5349240"/>
            <a:ext cx="6611112" cy="960120"/>
          </a:xfrm>
          <a:prstGeom prst="roundRect">
            <a:avLst>
              <a:gd name="adj" fmla="val 1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57800" y="5440680"/>
            <a:ext cx="6153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④가 핵심인 이유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생일·상령일 목록에서 바로 [MeAI 맞춤대화]를 눌러서 시작.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대화가 한 번에 열림.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MeAI 홈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한 화면에 담길 오늘 연락할 고객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11918" cy="4937760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511918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2855" y="163720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22855" y="16372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49151" y="1851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149151" y="1851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2855" y="29080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2855" y="29080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49151" y="352426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49151" y="35242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2855" y="57022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22855" y="57022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14683" y="13769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514683" y="13769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9224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922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876288" y="137160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+ 최근 업데이트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876288" y="16642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"OO님 안녕하세요" · 오른쪽 '최근 업데이트' = 데이터 기준 시각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92240" y="20939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92240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876288" y="2075688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카드 두 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876288" y="236829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바로 질문 창, 맞춤대화는 고객 검색 팝업이 먼저 뜸.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92240" y="27980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9224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876288" y="2779776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876288" y="307238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맞춤대화 가능 · 동의 필요 · 상품제안 가능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3502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49224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876288" y="348386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876288" y="3776472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이유가 붙은 카드 3장 × 세트 3개. 화살표로 넘김.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492240" y="420624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49224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876288" y="4187952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범례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876288" y="4480560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 · 동의 상태 · 고객 유형의 뜻.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92240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9224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876288" y="489204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스위치·버튼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6288" y="518464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 ON/OFF · [고객 동의] · [게시판]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492240" y="5760720"/>
            <a:ext cx="5148072" cy="54864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20840" y="585216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추천 결과는 매일 새로 계산해 다음 날 반영.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973775" y="10241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 · 정재민 카드 문구와 업데이트 시각은 가림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NEW 글씨 확대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작으면, 오른쪽 위 스위치 하나로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홈·고객찾기·게시판 오른쪽 위 [글씨 확대]. 기본은 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· 기본 (글씨 한 단계 크게)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4297680" cy="59506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29718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 · 원래 크기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9184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0"/>
            <a:ext cx="4297680" cy="59506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48640" y="420624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2976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번만 바꾸면 끝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화면이 같이 바뀜.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PC에서는 다음에도 그대로 유지.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5486400"/>
            <a:ext cx="4297680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55778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OFF는 언제?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더 많이 보고 싶을 때.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25780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57800" y="2103120"/>
            <a:ext cx="3063240" cy="366017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103120"/>
            <a:ext cx="3063240" cy="3660179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964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549640" y="2103120"/>
            <a:ext cx="3063240" cy="33067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103120"/>
            <a:ext cx="3063240" cy="330672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57800" y="5989320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대화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대화를 시작할지 먼저 고르기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카드 하나만 누르면, 나머지는 MeAI가 준비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508451"/>
          </a:xfrm>
          <a:prstGeom prst="roundRect">
            <a:avLst>
              <a:gd name="adj" fmla="val 84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5084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520440"/>
            <a:ext cx="54406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372160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왼쪽 카드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776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않은 질문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61688"/>
            <a:ext cx="49834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바로 질문 창이 열림.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상품·특약, 화법, 약관, 자사·타사 보장 비교까지.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3520440"/>
            <a:ext cx="5422392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3721608"/>
            <a:ext cx="496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오른쪽(검은) 카드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977640"/>
            <a:ext cx="4965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보장을 함께 보기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361688"/>
            <a:ext cx="49651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고객 검색 팝업이 뜸.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고르면 그 고객 대화가 열림. (PART 3)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48640" y="53035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39496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일반대화로 감을 익히고, 내 고객을 만나기 전엔 꼭 맞춤대화.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내 고객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숫자 4개만 훑어보기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숫자가 오늘 할 일의 크기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97729"/>
          </a:xfrm>
          <a:prstGeom prst="roundRect">
            <a:avLst>
              <a:gd name="adj" fmla="val 6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9772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342명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보유·가망·이관을 모두 더한 수.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64992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593592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137명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93592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동의일부터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90일이 지나지 않은 고객.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바로 시작.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81344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9944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186명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 필요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9944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만료된 고객.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알림톡부터 보낼 고객.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997696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26296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84명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상품제안 가능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"AI 추천 고객" 리본.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숫자는 예시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156655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누른 뒤 화면은 PART 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오늘의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먼저 고른 오늘 연락할 고객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 · 화살표로 다음 세트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92715" y="1691640"/>
            <a:ext cx="8806265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2715" y="1691640"/>
            <a:ext cx="8806265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927730" y="17138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927730" y="1713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545714" y="224687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45714" y="22468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622240" y="273353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622240" y="27335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004978" y="393087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004978" y="39308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824528" y="420124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824528" y="42012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52171" y="471880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252171" y="47188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068219" y="191470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068219" y="19147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372988" y="521319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372988" y="52131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48640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77824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구역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322244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3322244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3651428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095848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095848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425032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 + 근거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869451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869451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198635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8640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548640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877824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 / 필요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3322244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3322244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3651428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095848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095848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425032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869451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869451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9198635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위치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156655" y="12527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 · 일부 카드 문구는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카드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문장이 고객에게 건네는 명분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· 왜 · 언제 · 다음이 카드 한 장에. 이유 문장을 내 말로 풀면 곧 첫 말.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260795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260795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38193" y="207102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38193" y="2071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49364" y="197063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449364" y="19706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8193" y="258410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8193" y="25841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8193" y="349872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38193" y="34987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8193" y="451372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38193" y="45137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38193" y="49041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8193" y="49041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38193" y="564027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38193" y="56402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3212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53212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6168" y="169164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6168" y="198424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유형은 보유·가망·이관 중 하나. 긴 이름은 줄여서 표시.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532120" y="23225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553212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916168" y="230428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916168" y="259689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 상품 제안까지 가능.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532120" y="29352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5532120" y="2935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916168" y="2916936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16168" y="320954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아래 굵은 한 문장. "상령일이 2주 남았고 암진단비가 1천만원뿐입니다."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32120" y="35478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532120" y="3547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916168" y="3529584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설명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916168" y="382219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좋은 기회인지. 여기서 상담 방향이 정해짐.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532120" y="41605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553212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916168" y="4142232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916168" y="443484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임박(파랑) #보장 공백(빨강) #당월 타겟(보라)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53212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53212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916168" y="475488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D-n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916168" y="504748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'필요'면 알림톡으로 동의부터, D-n(남은 날)이 보이면 바로 시작.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532120" y="53858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532120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916168" y="536752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5916168" y="566013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고객찾기의 이 고객 카드로 바로 이동.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532120" y="6053328"/>
            <a:ext cx="610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세트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새로 계산되는 카드 9장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83080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371600"/>
            <a:ext cx="2102358" cy="22677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42232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371600"/>
            <a:ext cx="2102358" cy="226771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01384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371600"/>
            <a:ext cx="2102358" cy="226771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783080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3776472"/>
            <a:ext cx="2089196" cy="226771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142232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776472"/>
            <a:ext cx="2089196" cy="226771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6501384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1384" y="3776472"/>
            <a:ext cx="2089196" cy="22677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48640" y="22768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2</a:t>
            </a:r>
            <a:endParaRPr lang="en-US" sz="160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4681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3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869680" y="1371600"/>
            <a:ext cx="2770632" cy="4672584"/>
          </a:xfrm>
          <a:prstGeom prst="roundRect">
            <a:avLst>
              <a:gd name="adj" fmla="val 462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9144000" y="1783080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4400" dirty="0"/>
          </a:p>
        </p:txBody>
      </p:sp>
      <p:sp>
        <p:nvSpPr>
          <p:cNvPr id="22" name="Text 14"/>
          <p:cNvSpPr txBox="1"/>
          <p:nvPr/>
        </p:nvSpPr>
        <p:spPr>
          <a:xfrm>
            <a:off x="9144000" y="2633472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9144000" y="301752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누를 때마다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세트 3장이 나옴.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9144000" y="4023360"/>
            <a:ext cx="2221992" cy="0"/>
          </a:xfrm>
          <a:prstGeom prst="line">
            <a:avLst/>
          </a:prstGeom>
          <a:noFill/>
          <a:ln w="12700">
            <a:solidFill>
              <a:srgbClr val="C9E2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9144000" y="43434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반영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9144000" y="4681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데이터와 추천 결과는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MeAI 홈에 반영.</a:t>
            </a:r>
            <a:endParaRPr lang="en-US" sz="1250" dirty="0"/>
          </a:p>
        </p:txBody>
      </p:sp>
      <p:sp>
        <p:nvSpPr>
          <p:cNvPr id="27" name="Text 19"/>
          <p:cNvSpPr txBox="1"/>
          <p:nvPr/>
        </p:nvSpPr>
        <p:spPr>
          <a:xfrm>
            <a:off x="9144000" y="5303520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고객찾기의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고객으로 바로 이동.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6080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 · 세트 1은 생략 · 정재민 카드 문구 일부는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이유의 종류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고객을 추천하는 이유 세 갈래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9장의 이유를 세 갈래로 나눔. 카드 태그와는 다른 분류.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120640"/>
                <a:gridCol w="3867912"/>
              </a:tblGrid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유형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 (예시)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보고 골랐나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일정형 · 이벤트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"자동차보험 만기가 9일 뒤이고 운전자보험은 없습니다"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동의 만료 · 만기 · 상령일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공백형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"실손이 없어 의료비 본인부담이 큽니다"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실손 · 수술비 · 진단비, 비어 있는 담보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관계형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"보상 완료 후 후속 상담이 없었습니다"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CRM 상담 이력 · 접촉 공백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521208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일정형은 오늘 연락 · 공백형은 제안이 정해진 카드 · 관계형은 만남의 명분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범례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태그·동의·유형, 색으로 읽기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맨 아래 범례. 추천 카드 태그 3종은 아래에 따로 정리.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15450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15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931920"/>
            <a:ext cx="11094415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8680" y="41879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태그 3종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#보장 공백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담보가 있음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353458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3458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#당월 타겟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53458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영업 목표 대상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7838237" y="4800600"/>
            <a:ext cx="1235202" cy="38404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38237" y="4800600"/>
            <a:ext cx="1235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38237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만기·동의 만료·상령일이 코앞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 태그는 PART 4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길 안내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가는 곳, 다섯 군데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카드나 버튼을 한 번 누르면 이동. 돌아올 땐 어디서든 왼쪽 위 [MeAI 홈].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3291840"/>
            <a:ext cx="2697480" cy="1188720"/>
          </a:xfrm>
          <a:prstGeom prst="roundRect">
            <a:avLst>
              <a:gd name="adj" fmla="val 1230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54880" y="33375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886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578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46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창. 상품·약관·화법.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873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고객 검색 팝업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54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고르면 그 고객의 대화가 열림. (PART 3)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66760" y="18470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212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버튼 · 추천 카드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고객 목록과 다음 행동. (PART 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8160" y="324612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66760" y="33558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721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[게시판] 버튼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공지·이슈·기능안내. 빨간 점은 새 글. (PART 5)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38160" y="4754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366760" y="4864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동의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5230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[고객 동의] 버튼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→ 동의 요청 알림톡. (PART 5)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069080" y="313182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4069080" y="420624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7452360" y="2395728"/>
            <a:ext cx="685800" cy="1033272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452360" y="3904488"/>
            <a:ext cx="685800" cy="9144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452360" y="4343400"/>
            <a:ext cx="685800" cy="1069848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팝업과 추천 카드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 검색 팝업, 고민이면 추천 카드.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 · 고객 검색 팝업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2 · 추천 카드 → 고객찾기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1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알면, 고객 검색 팝업으로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홈의 검은 맞춤대화 카드를 누르면 열림. 고객을 고르면 바로 시작.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43667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243667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330251" y="181550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330251" y="18155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79873" y="23020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79873" y="23020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68956" y="2630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068956" y="2630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037551" y="285167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037551" y="28516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132288" y="262191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132288" y="26219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50048" y="592865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50048" y="59286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177339" y="178847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3177339" y="17884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34340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34340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727448" y="169164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27448" y="198424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"고객을 선택하면 맞춤대화를 시작합니다"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343400" y="2359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34340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727448" y="234086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27448" y="263347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 검색됨. 담당자 이름으로도 검색 가능.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343400" y="30083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43434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727448" y="2990088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61명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27448" y="3282696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유효한 고객만 · 가나다순.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343400" y="36576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43434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727448" y="3639312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727448" y="393192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90일 만료까지 남은 날. 오늘 철회한 고객은 회색.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343400" y="43068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3434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727448" y="4288536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버튼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727448" y="4581144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팝업이 닫히고 그 고객의 맞춤대화 시작.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343400" y="4956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4343400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4727448" y="493776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727448" y="523036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쪽에 10명. 이름으로 찾으면 넘길 일이 거의 없음.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343400" y="5605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4343400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4727448" y="558698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닫기(X)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727448" y="587959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홈으로 이동. 검색어는 지워짐.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이름으로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 좁혀지는 목록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성만 알아도 검색 가능. 담당자 이름으로도 검색.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045032" cy="4343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045032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62472"/>
            <a:ext cx="304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 입력 → 김씨 고객 + 담당자 김OO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34531" y="22551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4531" y="22551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577371" y="318558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577371" y="3185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69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069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453128" y="16916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글자부터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453128" y="19842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"김"만 넣어도 김씨 고객이 모두 보임. 입력하는 즉시 걸러짐.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069080" y="2395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06908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4453128" y="23774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같아도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453128" y="26700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나이·담당자가 함께 보여 구분 가능.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069080" y="3291840"/>
            <a:ext cx="4434214" cy="269748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291840"/>
            <a:ext cx="4434214" cy="26974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069080" y="6035040"/>
            <a:ext cx="44342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이름 → "조건에 맞는 고객이 없습니다"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609557" y="51441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4609557" y="51441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823334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8823334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7382" y="3291840"/>
            <a:ext cx="24356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없으면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9207382" y="3584448"/>
            <a:ext cx="2435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"조건에 맞는 고객이 없습니다."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등록·동의 여부부터 확인.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동의 상태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만료된 고객은 목록에 없고, 오늘 철회한 고객은 회색.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15200" cy="8632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5877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유효 · D-26 · [맞춤대화] 활성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7315200" cy="8632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39136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하루 전 · D-1 · 아직 시작 가능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7315200" cy="8632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2395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철회 · 회색 · 정보를 볼 수 없음 · [맞춤대화] 비활성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5577840"/>
            <a:ext cx="7315200" cy="731520"/>
          </a:xfrm>
          <a:prstGeom prst="roundRect">
            <a:avLst>
              <a:gd name="adj" fmla="val 1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77240" y="56692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다시 받기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전이면 고객찾기 [사전동의 만료] 그룹에서 미리 챙기기.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만료됐으면 고객찾기 [사전조회동의 요청하기] 또는 MeAI 홈 [고객 동의]로 다시 발송.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138160" y="1691640"/>
            <a:ext cx="3502152" cy="192024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366760" y="1783080"/>
            <a:ext cx="3044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먼저인 이유  </a:t>
            </a:r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읽고 답변.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90일 동안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 가능.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동의하면 15분 안팎으로 반영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(게시판 공지)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138160" y="3794760"/>
            <a:ext cx="3502152" cy="2514600"/>
          </a:xfrm>
          <a:prstGeom prst="roundRect">
            <a:avLst>
              <a:gd name="adj" fmla="val 4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3886200"/>
            <a:ext cx="304495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화법  </a:t>
            </a:r>
            <a:pPr indent="0" marL="0">
              <a:lnSpc>
                <a:spcPct val="130000"/>
              </a:lnSpc>
              <a:buNone/>
            </a:pP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"보장을 정확히 보고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말씀드리려면 동의가 필요해요.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알림톡으로 금방 끝나요."</a:t>
            </a:r>
            <a:endParaRPr lang="en-US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고민이면 추천 카드, 클릭 두 번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한 번, 추천 질문에서 한 번. 고객과 질문이 정해진 채로 맞춤대화 시작.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534095" y="1252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이름·질문 문장은 예시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717732"/>
            <a:ext cx="2651760" cy="287389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7732"/>
            <a:ext cx="2651760" cy="287389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2266" y="4142727"/>
            <a:ext cx="2253765" cy="259160"/>
          </a:xfrm>
          <a:prstGeom prst="roundRect">
            <a:avLst>
              <a:gd name="adj" fmla="val 21170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9412" y="3939101"/>
            <a:ext cx="626618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79412" y="3939101"/>
            <a:ext cx="6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1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8640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48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추천 카드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맨 아래 버튼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 누르기.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127248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3364992" y="2233411"/>
            <a:ext cx="2651760" cy="1842537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233411"/>
            <a:ext cx="2651760" cy="1842537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364992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3364992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730752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3364992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이유·태그와 한눈에 보기 6칸 훑어보기.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943600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6181344" y="1678132"/>
            <a:ext cx="2651760" cy="29530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78132"/>
            <a:ext cx="2651760" cy="2953096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6313932" y="3016065"/>
            <a:ext cx="2392611" cy="491178"/>
          </a:xfrm>
          <a:prstGeom prst="roundRect">
            <a:avLst>
              <a:gd name="adj" fmla="val 11170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031711" y="2925664"/>
            <a:ext cx="626618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031711" y="2925664"/>
            <a:ext cx="6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2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6181344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6181344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547104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맞춤대화 질문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6181344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오른쪽의 빨간 맞춤대화 질문 누르기.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없이 열 땐 아래 빨간 버튼.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875995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8997696" y="1784886"/>
            <a:ext cx="2651760" cy="27395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6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784886"/>
            <a:ext cx="2651760" cy="2739589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9034854" y="4071817"/>
            <a:ext cx="2594333" cy="249975"/>
          </a:xfrm>
          <a:prstGeom prst="roundRect">
            <a:avLst>
              <a:gd name="adj" fmla="val 21948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10594773" y="3820154"/>
            <a:ext cx="1034415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594773" y="3820154"/>
            <a:ext cx="103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채워짐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8997696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5"/>
          <p:cNvSpPr txBox="1"/>
          <p:nvPr/>
        </p:nvSpPr>
        <p:spPr>
          <a:xfrm>
            <a:off x="8997696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2" name="Text 36"/>
          <p:cNvSpPr txBox="1"/>
          <p:nvPr/>
        </p:nvSpPr>
        <p:spPr>
          <a:xfrm>
            <a:off x="9363456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질문까지 준비</a:t>
            </a:r>
            <a:endParaRPr lang="en-US" sz="1300" dirty="0"/>
          </a:p>
        </p:txBody>
      </p:sp>
      <p:sp>
        <p:nvSpPr>
          <p:cNvPr id="43" name="Text 37"/>
          <p:cNvSpPr txBox="1"/>
          <p:nvPr/>
        </p:nvSpPr>
        <p:spPr>
          <a:xfrm>
            <a:off x="8997696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서은아님 맞춤대화가 열리고, 입력창에 질문이 채워져 있음. 보내기만 누르면 끝.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943600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77240" y="6035040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길의 차이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1은 연락할 고객이 이미 정해진 날, 길 2는 "오늘 누구에게 연락할까?"가 고민인 날. 둘 다 그 고객의 맞춤대화로 이어짐.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그룹으로 묶어 둔 내 고객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35명", 그룹을 누르면 그 고객만 모아 보기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오른쪽으로 읽는 3단 화면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14개와 설명 문구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· 한눈에 보기 6칸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동의별 다음 행동 · 검색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고객찾기는 왼쪽에서 오른쪽으로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 → 펼쳐 보고 → MeAI 대화하고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88352" cy="4617720"/>
          </a:xfrm>
          <a:prstGeom prst="roundRect">
            <a:avLst>
              <a:gd name="adj" fmla="val 27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88352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62812" y="204927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162812" y="2049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04162" y="269575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04162" y="26957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71470" y="207492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071470" y="207492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293106" y="266496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93106" y="2664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978609" y="47788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1978609" y="47788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606591" y="228528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606591" y="22852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99451" y="381426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699451" y="38142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2419858" y="169524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2419858" y="16952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93612" y="192100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93612" y="19210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366760" y="1664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66760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750808" y="164592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750808" y="1938528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이유별로 묶인 그룹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366760" y="21838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366760" y="21838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750808" y="2165604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전환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750808" y="2458212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8366760" y="27035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366760" y="2703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8750808" y="268528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750808" y="2977896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묶인 이유 한 줄 · [전체] 필터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366760" y="32232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8366760" y="32232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8750808" y="320497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카드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750808" y="3497580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· 태그 · 한눈에 보기 6칸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366760" y="37429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366760" y="3742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750808" y="372465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750808" y="4017264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펼쳐지고 오른쪽 패널도 바뀜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66760" y="42626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8366760" y="42626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8750808" y="424434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750808" y="4536948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· 맞춤대화용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366760" y="47823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8366760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8750808" y="4764024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버튼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750808" y="5056632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· [맞춤대화 시작]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8366760" y="530199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8366760" y="53019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8750808" y="528370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8750808" y="5576316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이름·조건으로 검색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8366760" y="582168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8366760" y="582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8750808" y="580339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8750808" y="6096000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ON, 끄면 원래 크기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그룹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이름이 곧 연락 이유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 · 신규 등록. 인원은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11295" cy="43159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611295" cy="43159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53328"/>
            <a:ext cx="1611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77440" y="1691640"/>
            <a:ext cx="1965960" cy="26680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691640"/>
            <a:ext cx="1965960" cy="266808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377440" y="440544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377440" y="4846320"/>
            <a:ext cx="1965960" cy="502920"/>
          </a:xfrm>
          <a:prstGeom prst="roundRect">
            <a:avLst>
              <a:gd name="adj" fmla="val 2181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49377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색은 35쪽 참고</a:t>
            </a:r>
            <a:endParaRPr lang="en-US" sz="10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91640"/>
          <a:ext cx="706831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639312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들어오나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우선순위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아직 분류 전인 신규 고객 · 다음 날 반영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암·뇌·심진단비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2천만원 이하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· 종수술비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5천만원 이하 · 종수술비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 · 치아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간병인지원 입원일당 · 치아보철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회사 전략 담보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(최상)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 · 월 50만원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증권이 많거나 보험료가 큰 우량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· 생일 임박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30일 안에 보험 나이가 오름 · 곧 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임박 · 재동의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4572000" y="5897880"/>
            <a:ext cx="7068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들 수 있음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 한 줄이 곧 상담 화법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누르면 설명이 생성. 앞은 그룹 기준, 뒤는 고객 맞춤 화법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766560" cy="1249211"/>
          </a:xfrm>
          <a:prstGeom prst="roundRect">
            <a:avLst>
              <a:gd name="adj" fmla="val 102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766560" cy="12492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15468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6766560" cy="118621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293034" y="19109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293034" y="19109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43823" y="255117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043823" y="2551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017785" y="39585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2017785" y="39585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61772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6766560" cy="118621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77123" y="54215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1177123" y="54215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680960" y="18013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680960" y="1801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8065008" y="178308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 · 인원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065008" y="2075688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 · [전체]로 동의 고객만 골라 보기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7680960" y="2670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768096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065008" y="26517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한 줄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065008" y="294436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앞은 묶인 기준, 뒤는 말할 방향(화법)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680960" y="3538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7680960" y="3538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6"/>
          <p:cNvSpPr txBox="1"/>
          <p:nvPr/>
        </p:nvSpPr>
        <p:spPr>
          <a:xfrm>
            <a:off x="8065008" y="35204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첫 말로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065008" y="381304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"재활·간병 기간이 길어 진단비가 곧 생활비예요."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7680960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29"/>
          <p:cNvSpPr txBox="1"/>
          <p:nvPr/>
        </p:nvSpPr>
        <p:spPr>
          <a:xfrm>
            <a:off x="768096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8065008" y="43891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임박이면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8065008" y="468172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축하 인사로 열고, MeAI 맞춤대화 보장 점검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680960" y="5276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3"/>
          <p:cNvSpPr txBox="1"/>
          <p:nvPr/>
        </p:nvSpPr>
        <p:spPr>
          <a:xfrm>
            <a:off x="7680960" y="5276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4"/>
          <p:cNvSpPr txBox="1"/>
          <p:nvPr/>
        </p:nvSpPr>
        <p:spPr>
          <a:xfrm>
            <a:off x="8065008" y="52578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문자 초안은 MeAI에게</a:t>
            </a:r>
            <a:endParaRPr lang="en-US" sz="1400" dirty="0"/>
          </a:p>
        </p:txBody>
      </p:sp>
      <p:sp>
        <p:nvSpPr>
          <p:cNvPr id="40" name="Text 35"/>
          <p:cNvSpPr txBox="1"/>
          <p:nvPr/>
        </p:nvSpPr>
        <p:spPr>
          <a:xfrm>
            <a:off x="8065008" y="5550408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일반대화 추천 질문을 누르면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그룹에 보낼 안내 문자 초안이 완성(PART 8)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 문구 모음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한 줄 화법 모음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 문구에서 기준 문장 뒤의 화법만 모음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8855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화면의 화법 문장 (그대로)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치료비 실제 부담액을 기준으로 설명하면 필요가 분명해집니다.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뇌질환은 재활·간병 기간이 길어 진단비가 곧 생활비 대체 수단이 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심장질환은 시술 반복과 재발이 잦아 한 번의 진단비로는 부족합니다.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표적·면역 항암은 회차당 비용이 커서 별도 특약 없이는 감당이 어렵습니다.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종수술비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수술은 암보다 발생 빈도가 높아 실제 청구가 가장 많이 일어나는 담보입니다.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간병비는 하루 단위로 나가는 실지출이라 일당이 없으면 부담이 그대로 남습니다.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임플란트·브릿지는 실손으로 보장되지 않아 전액 본인 부담입니다.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안에 우선 접촉하는 것이 유리합니다.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보험에 대한 관심과 니즈가 높은 고객입니다.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50만원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규모가 큰 편이므로 보험료 대비 보장 수준을 점검할 대상입니다.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보장을 더 싸게 준비할 수 있는 마지막 구간입니다.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축하 인사로 대화를 열고 자연스럽게 보장 점검으로 이어가기 좋은 시점입니다.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전에 재동의를 받아야 이후에도 안내와 연락을 이어갈 수 있습니다.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 정보는 익일 반영됩니다.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0350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 기준 · 오픈 시 바뀔 수 있음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펼쳐지는 여섯 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766560" cy="1148644"/>
          </a:xfrm>
          <a:prstGeom prst="roundRect">
            <a:avLst>
              <a:gd name="adj" fmla="val 111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11486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5568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 · AI 추천 고객 리본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5550292" cy="3383280"/>
          </a:xfrm>
          <a:prstGeom prst="roundRect">
            <a:avLst>
              <a:gd name="adj" fmla="val 32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0"/>
            <a:ext cx="5550292" cy="3383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01757" y="30532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01757" y="30532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01757" y="345585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01757" y="34558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892093" y="339589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892093" y="3395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01757" y="384129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01757" y="38412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01757" y="4269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401757" y="4269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892093" y="512608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5892093" y="51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6809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6809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065008" y="14630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8065008" y="17556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다르면 "담당 OOO" 표시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7680960" y="2304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68096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8065008" y="22860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8065008" y="257860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"암진단비가 1천만원대에 머물러 있습니다."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680960" y="31272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76809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8065008" y="31089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065008" y="3401568"/>
            <a:ext cx="3575304" cy="483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만료(90일)까지 남은 날. 만료면 "필요", 철회면 "철회"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768096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6809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8065008" y="39319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(우선순위 순)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8065008" y="422452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 = 당월 타겟. 부족 그룹은 그룹마다 색이 다름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768096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768096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8065008" y="475488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한눈에 보기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8065008" y="504748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 자세한 설명은 36쪽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7680960" y="5596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7680960" y="5596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1"/>
          <p:cNvSpPr txBox="1"/>
          <p:nvPr/>
        </p:nvSpPr>
        <p:spPr>
          <a:xfrm>
            <a:off x="8065008" y="55778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 칸 · 미확인</a:t>
            </a:r>
            <a:endParaRPr lang="en-US" sz="1350" dirty="0"/>
          </a:p>
        </p:txBody>
      </p:sp>
      <p:sp>
        <p:nvSpPr>
          <p:cNvPr id="46" name="Text 42"/>
          <p:cNvSpPr txBox="1"/>
          <p:nvPr/>
        </p:nvSpPr>
        <p:spPr>
          <a:xfrm>
            <a:off x="8065008" y="58704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"미확인". 추정하지 않음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NEW 태그 색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태그는 이제 색으로 구분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7개가 저마다 다른 색. 여러 개 붙어도 한눈에 구분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5257800" cy="452628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8745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· 색 7가지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pic>
        <p:nvPicPr>
          <p:cNvPr id="12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1012874" cy="329184"/>
          </a:xfrm>
          <a:prstGeom prst="rect">
            <a:avLst/>
          </a:prstGeom>
        </p:spPr>
      </p:pic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06624"/>
            <a:ext cx="1012874" cy="329184"/>
          </a:xfrm>
          <a:prstGeom prst="rect">
            <a:avLst/>
          </a:prstGeom>
        </p:spPr>
      </p:pic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27248"/>
            <a:ext cx="1012874" cy="329184"/>
          </a:xfrm>
          <a:prstGeom prst="rect">
            <a:avLst/>
          </a:prstGeom>
        </p:spPr>
      </p:pic>
      <p:pic>
        <p:nvPicPr>
          <p:cNvPr id="15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47872"/>
            <a:ext cx="1012874" cy="329184"/>
          </a:xfrm>
          <a:prstGeom prst="rect">
            <a:avLst/>
          </a:prstGeom>
        </p:spPr>
      </p:pic>
      <p:pic>
        <p:nvPicPr>
          <p:cNvPr id="16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2286000"/>
            <a:ext cx="1012874" cy="329184"/>
          </a:xfrm>
          <a:prstGeom prst="rect">
            <a:avLst/>
          </a:prstGeom>
        </p:spPr>
      </p:pic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2706624"/>
            <a:ext cx="1012874" cy="329184"/>
          </a:xfrm>
          <a:prstGeom prst="rect">
            <a:avLst/>
          </a:prstGeom>
        </p:spPr>
      </p:pic>
      <p:pic>
        <p:nvPicPr>
          <p:cNvPr id="18" name="Image 6" descr="MeAI 화면 캡처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3127248"/>
            <a:ext cx="739398" cy="32918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772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150" dirty="0"/>
          </a:p>
        </p:txBody>
      </p:sp>
      <p:sp>
        <p:nvSpPr>
          <p:cNvPr id="20" name="Text 11"/>
          <p:cNvSpPr txBox="1"/>
          <p:nvPr/>
        </p:nvSpPr>
        <p:spPr>
          <a:xfrm>
            <a:off x="77724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000" dirty="0"/>
          </a:p>
        </p:txBody>
      </p:sp>
      <p:pic>
        <p:nvPicPr>
          <p:cNvPr id="21" name="Image 7" descr="MeAI 화면 캡처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1043260" cy="32918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246888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· 납입</a:t>
            </a:r>
            <a:endParaRPr lang="en-US" sz="1150" dirty="0"/>
          </a:p>
        </p:txBody>
      </p:sp>
      <p:sp>
        <p:nvSpPr>
          <p:cNvPr id="23" name="Text 13"/>
          <p:cNvSpPr txBox="1"/>
          <p:nvPr/>
        </p:nvSpPr>
        <p:spPr>
          <a:xfrm>
            <a:off x="246888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4" name="Image 8" descr="MeAI 화면 캡처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8880" y="4709160"/>
            <a:ext cx="997681" cy="329184"/>
          </a:xfrm>
          <a:prstGeom prst="rect">
            <a:avLst/>
          </a:prstGeom>
        </p:spPr>
      </p:pic>
      <p:pic>
        <p:nvPicPr>
          <p:cNvPr id="25" name="Image 9" descr="MeAI 화면 캡처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8880" y="5129784"/>
            <a:ext cx="1088839" cy="32918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416052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임박</a:t>
            </a:r>
            <a:endParaRPr lang="en-US" sz="1150" dirty="0"/>
          </a:p>
        </p:txBody>
      </p:sp>
      <p:sp>
        <p:nvSpPr>
          <p:cNvPr id="27" name="Text 15"/>
          <p:cNvSpPr txBox="1"/>
          <p:nvPr/>
        </p:nvSpPr>
        <p:spPr>
          <a:xfrm>
            <a:off x="416052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8" name="Image 10" descr="MeAI 화면 캡처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60520" y="4709160"/>
            <a:ext cx="860943" cy="329184"/>
          </a:xfrm>
          <a:prstGeom prst="rect">
            <a:avLst/>
          </a:prstGeom>
        </p:spPr>
      </p:pic>
      <p:pic>
        <p:nvPicPr>
          <p:cNvPr id="29" name="Image 11" descr="MeAI 화면 캡처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60520" y="5129784"/>
            <a:ext cx="724205" cy="329184"/>
          </a:xfrm>
          <a:prstGeom prst="rect">
            <a:avLst/>
          </a:prstGeom>
        </p:spPr>
      </p:pic>
      <p:pic>
        <p:nvPicPr>
          <p:cNvPr id="30" name="Image 12" descr="MeAI 화면 캡처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520" y="5550408"/>
            <a:ext cx="1271157" cy="329184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6080760" y="178308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카드에는 우선순위 순서대로 표시</a:t>
            </a:r>
            <a:endParaRPr lang="en-US" sz="1200" dirty="0"/>
          </a:p>
        </p:txBody>
      </p:sp>
      <p:sp>
        <p:nvSpPr>
          <p:cNvPr id="32" name="Shape 17"/>
          <p:cNvSpPr/>
          <p:nvPr/>
        </p:nvSpPr>
        <p:spPr>
          <a:xfrm>
            <a:off x="6080760" y="2103120"/>
            <a:ext cx="5559552" cy="2009992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13" descr="MeAI 화면 캡처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0760" y="2103120"/>
            <a:ext cx="5559552" cy="2009992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6345908" y="3548604"/>
            <a:ext cx="4404876" cy="410552"/>
          </a:xfrm>
          <a:prstGeom prst="roundRect">
            <a:avLst>
              <a:gd name="adj" fmla="val 13363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5" name="Shape 19"/>
          <p:cNvSpPr/>
          <p:nvPr/>
        </p:nvSpPr>
        <p:spPr>
          <a:xfrm>
            <a:off x="6080760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36" name="Text 20"/>
          <p:cNvSpPr txBox="1"/>
          <p:nvPr/>
        </p:nvSpPr>
        <p:spPr>
          <a:xfrm>
            <a:off x="6263640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100" dirty="0"/>
          </a:p>
        </p:txBody>
      </p:sp>
      <p:sp>
        <p:nvSpPr>
          <p:cNvPr id="37" name="Text 21"/>
          <p:cNvSpPr txBox="1"/>
          <p:nvPr/>
        </p:nvSpPr>
        <p:spPr>
          <a:xfrm>
            <a:off x="6263640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</a:t>
            </a:r>
            <a:endParaRPr lang="en-US" sz="1800" dirty="0"/>
          </a:p>
        </p:txBody>
      </p:sp>
      <p:sp>
        <p:nvSpPr>
          <p:cNvPr id="38" name="Text 22"/>
          <p:cNvSpPr txBox="1"/>
          <p:nvPr/>
        </p:nvSpPr>
        <p:spPr>
          <a:xfrm>
            <a:off x="6263640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목표</a:t>
            </a:r>
            <a:endParaRPr lang="en-US" sz="1300" dirty="0"/>
          </a:p>
        </p:txBody>
      </p:sp>
      <p:sp>
        <p:nvSpPr>
          <p:cNvPr id="39" name="Shape 23"/>
          <p:cNvSpPr/>
          <p:nvPr/>
        </p:nvSpPr>
        <p:spPr>
          <a:xfrm>
            <a:off x="7973568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0" name="Text 24"/>
          <p:cNvSpPr txBox="1"/>
          <p:nvPr/>
        </p:nvSpPr>
        <p:spPr>
          <a:xfrm>
            <a:off x="8156448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100" dirty="0"/>
          </a:p>
        </p:txBody>
      </p:sp>
      <p:sp>
        <p:nvSpPr>
          <p:cNvPr id="41" name="Text 25"/>
          <p:cNvSpPr txBox="1"/>
          <p:nvPr/>
        </p:nvSpPr>
        <p:spPr>
          <a:xfrm>
            <a:off x="8156448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· 주황</a:t>
            </a:r>
            <a:endParaRPr lang="en-US" sz="1800" dirty="0"/>
          </a:p>
        </p:txBody>
      </p:sp>
      <p:sp>
        <p:nvSpPr>
          <p:cNvPr id="42" name="Text 26"/>
          <p:cNvSpPr txBox="1"/>
          <p:nvPr/>
        </p:nvSpPr>
        <p:spPr>
          <a:xfrm>
            <a:off x="8156448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우량 · 날짜 임박</a:t>
            </a:r>
            <a:endParaRPr lang="en-US" sz="1300" dirty="0"/>
          </a:p>
        </p:txBody>
      </p:sp>
      <p:sp>
        <p:nvSpPr>
          <p:cNvPr id="43" name="Shape 27"/>
          <p:cNvSpPr/>
          <p:nvPr/>
        </p:nvSpPr>
        <p:spPr>
          <a:xfrm>
            <a:off x="9866376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4" name="Text 28"/>
          <p:cNvSpPr txBox="1"/>
          <p:nvPr/>
        </p:nvSpPr>
        <p:spPr>
          <a:xfrm>
            <a:off x="10049256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sp>
        <p:nvSpPr>
          <p:cNvPr id="45" name="Text 29"/>
          <p:cNvSpPr txBox="1"/>
          <p:nvPr/>
        </p:nvSpPr>
        <p:spPr>
          <a:xfrm>
            <a:off x="10049256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7가지</a:t>
            </a:r>
            <a:endParaRPr lang="en-US" sz="1800" dirty="0"/>
          </a:p>
        </p:txBody>
      </p:sp>
      <p:sp>
        <p:nvSpPr>
          <p:cNvPr id="46" name="Text 30"/>
          <p:cNvSpPr txBox="1"/>
          <p:nvPr/>
        </p:nvSpPr>
        <p:spPr>
          <a:xfrm>
            <a:off x="10049256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보장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이 고객 한눈에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칸으로 보는 이 고객의 상황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92258" y="1371600"/>
            <a:ext cx="80071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258" y="1371600"/>
            <a:ext cx="8007178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92258" y="3877056"/>
            <a:ext cx="8007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계약 수. "지금 세 건 갖고 계세요"로 대화 시작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11396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12564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납입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12564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납입액. 예산 감각을 잡는 기준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74152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7532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접촉기회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고객 행동. 계약변경조회는 관심 신호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9808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부족한 진단비. 이 금액이 곧 제안 크기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11396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12564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1-5종수술비(plus)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4512564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 담보 유무. "없음"이 곧 제안 포인트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074152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8275320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표적항암약물허가치료비(비급여)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미확인. 보장분석에서 확인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다음 행동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패널에서 고르는 다음 행동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4526280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2628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1772" y="1521333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61772" y="1521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1772" y="2426589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1772" y="24265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" y="373303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1772" y="37330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05756" y="47514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905756" y="47514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905756" y="5389245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905756" y="53892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1772" y="58933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61772" y="58933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66928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053328" y="14630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328" y="17556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바꾸면 패널도 바뀜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566928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053328" y="224028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추천 질문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053328" y="253288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조건에 맞는 안내 문자 문안 요청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566928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053328" y="301752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맞춤대화용 추천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053328" y="331012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질문이 채워진 채로 이 고객의 맞춤대화 시작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566928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053328" y="379476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053328" y="408736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이 고객 보장분석 화면으로 이동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56692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053328" y="457200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053328" y="4864608"/>
            <a:ext cx="5559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고른 상태로 맞춤대화 시작.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필요한 고객은 이 자리에 [사전조회동의 요청하기]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669280" y="5596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5669280" y="5596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053328" y="55778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문구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053328" y="58704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다시 찾을 필요가 없다는 뜻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추천 질문 →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열리는 대화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514850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223760" cy="45148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23594" y="20111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323594" y="20111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08148" y="18856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708148" y="1885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61810" y="1860614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861810" y="18606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708148" y="395751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2708148" y="39575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708148" y="4970844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2708148" y="49708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708148" y="52467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708148" y="52467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587619" y="138404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587619" y="13840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93217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김도윤 패널에서 맞춤대화 추천 질문을 누른 화면 · 이름·계약·남은 날은 예시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092440" y="14356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92440" y="1435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476488" y="1417320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476488" y="1709928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고객이 이미 들어와 있음.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날(화면엔 '보장분석 동의')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092440" y="23134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092440" y="2313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476488" y="2295144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계약 리스트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476488" y="2587752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보험료 · 납입기간 · 기납입보험료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2971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0924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476488" y="2953512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자료 준비 상태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476488" y="3246120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 · 구성 중 · 미확보.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완료가 아닌 상품은 답이 부정확할 수 있음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092440" y="38496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092440" y="3849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8476488" y="3831336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안내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8476488" y="4123944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"김도윤님의 보험 가입 내역이에요…"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092440" y="45079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809244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8476488" y="4489704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 해줘]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8476488" y="4782312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버튼 하나로 전체 그림부터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092440" y="51663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0924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76488" y="5148072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채워진 질문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476488" y="5440680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누른 추천 질문이 이미 입력됨. 전송(↑)만 누르면 시작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092440" y="5824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8092440" y="5824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8476488" y="5806440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8476488" y="6099048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동의 상태별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상태별로 달라지는 다음 행동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읽기 때문에 동의가 먼저. "D-n"이면 바로, "필요"면 알림톡 한 통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D-30 · 유효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50404" cy="3154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2750404" cy="31546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시작]으로 바로 시작.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90일 동안 MeAI 맞춤대화 가능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311396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만료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11396" y="2011680"/>
            <a:ext cx="3147097" cy="3154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396" y="2011680"/>
            <a:ext cx="3147097" cy="31546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311396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 → 휴대폰 번호 입력 → 알림톡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김민수 고객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74152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철회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74152" y="2011680"/>
            <a:ext cx="3566160" cy="1237415"/>
          </a:xfrm>
          <a:prstGeom prst="roundRect">
            <a:avLst>
              <a:gd name="adj" fmla="val 57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2011680"/>
            <a:ext cx="3566160" cy="123741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074152" y="3358823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 · 정보를 볼 수 없음. 버튼도 없음.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우회 말고 새 동의부터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074152" y="4023360"/>
            <a:ext cx="3566160" cy="1691640"/>
          </a:xfrm>
          <a:prstGeom prst="roundRect">
            <a:avLst>
              <a:gd name="adj" fmla="val 7568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 rot="16200000">
            <a:off x="7827264" y="4377250"/>
            <a:ext cx="310896" cy="182880"/>
          </a:xfrm>
          <a:prstGeom prst="triangl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48472" y="413308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· 만료 고객 수는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"사전조회 동의 필요"에 표시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348472" y="462686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</a:t>
            </a:r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예시</a:t>
            </a:r>
            <a:endParaRPr lang="en-US" sz="4000" dirty="0"/>
          </a:p>
        </p:txBody>
      </p:sp>
      <p:sp>
        <p:nvSpPr>
          <p:cNvPr id="23" name="Text 18"/>
          <p:cNvSpPr txBox="1"/>
          <p:nvPr/>
        </p:nvSpPr>
        <p:spPr>
          <a:xfrm>
            <a:off x="8348472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동의를 받아야 맞춤대화가 열리는 고객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동의하면 15분 안팎으로 반영 · MeAI 홈 [고객 동의]에서도 사전조회동의 발송 가능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검색 · 필터 · 페이지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이름으로도, 조건으로도 검색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검색창을 누르면 추천 속성, 글자를 치면 연관검색어 표시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1229868"/>
          </a:xfrm>
          <a:prstGeom prst="roundRect">
            <a:avLst>
              <a:gd name="adj" fmla="val 88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12298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9580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검색창 → 추천 속성(암진단비 · 실손 · 상령일 · 자동차)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17920" y="1691640"/>
            <a:ext cx="5422392" cy="215976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422392" cy="215976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17920" y="388798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"암진단비" 입력 → 연관검색어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566160"/>
            <a:ext cx="1921514" cy="2103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1921514" cy="21031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8036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288036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3264408" y="361188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[전체] 드롭다운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264408" y="390448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· 상품소개동의 고객만 골라 보기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2880360" y="43616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88036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3264408" y="434340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결과 N명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4408" y="4636008"/>
            <a:ext cx="2770632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제목이 "검색 결과 8명"으로 바뀜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2880360" y="5093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2880360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3264408" y="507492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264408" y="5367528"/>
            <a:ext cx="2770632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 아래 ‹ 1 2 ›로 넘기기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217920" y="4315968"/>
            <a:ext cx="5422392" cy="1653168"/>
          </a:xfrm>
          <a:prstGeom prst="roundRect">
            <a:avLst>
              <a:gd name="adj" fmla="val 65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315968"/>
            <a:ext cx="5422392" cy="1653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7920" y="600571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없을 때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활용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타이밍에 따라 활용하는 그룹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하나가 곧 연락 목록. 월초 · 매주 · 매달 · 수시, 네 그룹을 습관으로. 인원은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1위.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이유를 그대로 첫 말로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2249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0849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0849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90849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임박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90849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 · 7명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90849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보험료가 오르기 전 점검.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생일엔 축하 인사로 열고,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 보장 점검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5858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4458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4458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4458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4458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6404458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 미리 안내.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89466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18066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8066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218066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218066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9218066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상세는 다음 날 반영.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보려면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1663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부족 그룹은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 상품 담보부터. 이번 달 주력 상품이 정해지면 그 담보의 부족 그룹을 먼저 열기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공지는 게시판에서, 동의는 알림톡 한 통으로.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목록과 글 상세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먼저인 이유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요청부터 반영까지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게시판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공지·이슈·기능안내를 한 곳에서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04213" cy="47091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504213" cy="4709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55042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글 제목·날짜·내용은 예시. MeAI 홈으로 가는 실제 진입로 6곳(10/2부터)은 PART 2 참고.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356302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356302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230724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30724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4954" y="203881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4954" y="20388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55323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255323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21292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21292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490849" y="570217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490849" y="57021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5836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967728" y="13716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필터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16642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공지사항 · 이슈 · 기능안내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8368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58368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201168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67728" y="230428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최신순이 기본, 조회순도 가능.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583680" y="2670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8368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967728" y="26517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표시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967728" y="294436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공지사항 파랑 · 이슈 주황 · 기능안내 초록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583680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58368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967728" y="329184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· NEW · 첨부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67728" y="358444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= 고정 글 · NEW = 7일 이내 · 클립 = 첨부 수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58368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58368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93192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· 조회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22452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게시일과 조회수.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5836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83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967728" y="45720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967728" y="48646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 6건, ‹ 1 2 ›로 넘기기.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583680" y="5230368"/>
            <a:ext cx="5059375" cy="1078992"/>
          </a:xfrm>
          <a:prstGeom prst="roundRect">
            <a:avLst>
              <a:gd name="adj" fmla="val 101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4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376672"/>
            <a:ext cx="2824399" cy="329184"/>
          </a:xfrm>
          <a:prstGeom prst="rect">
            <a:avLst/>
          </a:prstGeom>
        </p:spPr>
      </p:pic>
      <p:pic>
        <p:nvPicPr>
          <p:cNvPr id="47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795" y="5376672"/>
            <a:ext cx="895380" cy="329184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9590959" y="5376672"/>
            <a:ext cx="973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· ·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766560" y="58155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위쪽  </a:t>
            </a:r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홈]을 누르면 MeAI 홈으로 이동, [글씨 확대]는 기본 ON.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글 상세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누르면 열리는 본문과 첨부파일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127147" cy="4663440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127147" cy="4663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89904"/>
            <a:ext cx="6127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오픈 안내 공지를 예로 든 화면 · 글 내용은 예시. MeAI 홈으로 가는 실제 진입로 6곳(10/2부터)은 PART 2 참고.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37811" y="139783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037811" y="13978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84431" y="22215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284431" y="2221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5294" y="300450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5294" y="30045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24828" y="462479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624828" y="46247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475054" y="551663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475054" y="55166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9951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9951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146304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‹ 목록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79208" y="175564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분류·정렬 상태 그대로 목록으로 이동.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99516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9516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79208" y="224028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 줄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79208" y="253288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· NEW · 날짜 · 조회. 핀은 고정 글.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99516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9516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79208" y="301752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79208" y="331012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 조건 같은 운영 기준 안내.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99516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951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79208" y="379476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79208" y="408736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바로 내려받기.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99516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9516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457200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글 · 다음 글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379208" y="486460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나가지 않고 이어서 읽기.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995160" y="5349240"/>
            <a:ext cx="4645152" cy="960120"/>
          </a:xfrm>
          <a:prstGeom prst="roundRect">
            <a:avLst>
              <a:gd name="adj" fmla="val 114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3760" y="5440680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점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글이 오면 MeAI 홈 [게시판] 버튼에 빨간 점 표시.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보이면 먼저 읽기.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사전조회 동의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알림톡 한 통으로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읽고 답변. 그래서 사전조회 동의가 먼저.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번호를 넣고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 누르기.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5172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99063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99063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동의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9063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알림톡 안내에서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완료.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10841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49753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49753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안팎 · D-n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49753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90일 동안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 가능.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= 만료까지 남은 날.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69958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0887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0887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재요청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0887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 그룹으로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챙기기.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2907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76798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철회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76798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 확인 불가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6798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 · 정보를 볼 수 없음.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3931920" cy="1982343"/>
          </a:xfrm>
          <a:prstGeom prst="roundRect">
            <a:avLst>
              <a:gd name="adj" fmla="val 39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2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11880"/>
            <a:ext cx="3931920" cy="1982343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548640" y="5639943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[고객 동의]에서도 사전조회동의 발송 가능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709160" y="3611880"/>
            <a:ext cx="3429000" cy="1076255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611880"/>
            <a:ext cx="3429000" cy="1076255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4709160" y="473385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요청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709160" y="5145335"/>
            <a:ext cx="3429000" cy="459988"/>
          </a:xfrm>
          <a:prstGeom prst="roundRect">
            <a:avLst>
              <a:gd name="adj" fmla="val 14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5145335"/>
            <a:ext cx="3429000" cy="459988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4709160" y="5651043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 뒤 뜨는 알림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8366760" y="3611880"/>
            <a:ext cx="3276295" cy="1982343"/>
          </a:xfrm>
          <a:prstGeom prst="roundRect">
            <a:avLst>
              <a:gd name="adj" fmla="val 553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595360" y="3703320"/>
            <a:ext cx="2819095" cy="1799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상품소개 동의  </a:t>
            </a:r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"AI 추천 고객" 리본 표시.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"상품제안 가능"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숫자에도 포함.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548640" y="5989320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777240" y="6080760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구분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동의일부터 90일 동안 가능 · MeAI 홈에 노출되는 고객은 사전조회 동의일로부터 1년 이내(MeAI 홈 범례)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맞춤대화와 새 기능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들어온 대화 화면과 새 기능 익히기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누르기만 하면 열리는 대화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 화면 구성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용어 설명 · 모드 변경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· 요약 리포트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6089904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60167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들어가기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대화 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누르기만 하면 MeAI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즉시 대화 = 흰 카드, 검은 카드, 추천 카드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760720" cy="1288582"/>
          </a:xfrm>
          <a:prstGeom prst="roundRect">
            <a:avLst>
              <a:gd name="adj" fmla="val 8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760720" cy="128858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9066" y="2262659"/>
            <a:ext cx="2809614" cy="687244"/>
          </a:xfrm>
          <a:prstGeom prst="roundRect">
            <a:avLst>
              <a:gd name="adj" fmla="val 7983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320" y="2262659"/>
            <a:ext cx="2809614" cy="687244"/>
          </a:xfrm>
          <a:prstGeom prst="roundRect">
            <a:avLst>
              <a:gd name="adj" fmla="val 7983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3725" y="21173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43725" y="21173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13978" y="21173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313978" y="21173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144814"/>
            <a:ext cx="5760720" cy="896112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26368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문구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556294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“어떤 대화를 시작할지만 고르면, 나머지는 MeAI가 준비합니다.”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178086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1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421317"/>
            <a:ext cx="1188720" cy="42793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0" y="429695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잃으면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458956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화면이든 왼쪽 위 [MeAI 홈]을 누르면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화면으로 이동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514735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화면의 이름·숫자는 예시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537960" y="1691640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10070287" y="1828800"/>
            <a:ext cx="1463040" cy="9144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0287" y="1828800"/>
            <a:ext cx="1463040" cy="91440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702552" y="18196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6702552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104888" y="1801368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7104888" y="2148840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질문 예시 누르기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104888" y="2569464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질문 · 바로 시작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537960" y="2990088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10070287" y="3085592"/>
            <a:ext cx="1463040" cy="997712"/>
          </a:xfrm>
          <a:prstGeom prst="roundRect">
            <a:avLst>
              <a:gd name="adj" fmla="val 29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0287" y="3085592"/>
            <a:ext cx="1463040" cy="9977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702552" y="311810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702552" y="3118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7104888" y="3099816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450" dirty="0"/>
          </a:p>
        </p:txBody>
      </p:sp>
      <p:sp>
        <p:nvSpPr>
          <p:cNvPr id="37" name="Text 31"/>
          <p:cNvSpPr txBox="1"/>
          <p:nvPr/>
        </p:nvSpPr>
        <p:spPr>
          <a:xfrm>
            <a:off x="7104888" y="3447288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이름 한 글자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[맞춤대화]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7104888" y="3867912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 내역으로 답변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537960" y="4288536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10070287" y="4495102"/>
            <a:ext cx="1463040" cy="775587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41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0287" y="4495102"/>
            <a:ext cx="1463040" cy="775587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6702552" y="44165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36"/>
          <p:cNvSpPr txBox="1"/>
          <p:nvPr/>
        </p:nvSpPr>
        <p:spPr>
          <a:xfrm>
            <a:off x="6702552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7104888" y="4398264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</a:t>
            </a:r>
            <a:endParaRPr lang="en-US" sz="1450" dirty="0"/>
          </a:p>
        </p:txBody>
      </p:sp>
      <p:sp>
        <p:nvSpPr>
          <p:cNvPr id="45" name="Text 38"/>
          <p:cNvSpPr txBox="1"/>
          <p:nvPr/>
        </p:nvSpPr>
        <p:spPr>
          <a:xfrm>
            <a:off x="7104888" y="4745736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추천 질문 → 전송(↑)</a:t>
            </a:r>
            <a:endParaRPr lang="en-US" sz="1200" dirty="0"/>
          </a:p>
        </p:txBody>
      </p:sp>
      <p:sp>
        <p:nvSpPr>
          <p:cNvPr id="46" name="Text 39"/>
          <p:cNvSpPr txBox="1"/>
          <p:nvPr/>
        </p:nvSpPr>
        <p:spPr>
          <a:xfrm>
            <a:off x="7104888" y="5166360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열림</a:t>
            </a:r>
            <a:endParaRPr lang="en-US" sz="1100" dirty="0"/>
          </a:p>
        </p:txBody>
      </p:sp>
      <p:sp>
        <p:nvSpPr>
          <p:cNvPr id="47" name="Shape 40"/>
          <p:cNvSpPr/>
          <p:nvPr/>
        </p:nvSpPr>
        <p:spPr>
          <a:xfrm>
            <a:off x="548640" y="5614416"/>
            <a:ext cx="11094415" cy="603504"/>
          </a:xfrm>
          <a:prstGeom prst="roundRect">
            <a:avLst>
              <a:gd name="adj" fmla="val 2121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822960" y="5614416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누르고 → 고르고 → 보내기. 클릭만으로 편하게 시작하는 MeAI 대화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두 가지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vs 맞춤대화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않으면 일반대화, 정하면 맞춤대화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 질문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 만들기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[일반대화] 카드 · 모바일 [MeAI 일반대화]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일반대화] (10/2부터)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65392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1명에 맞춘 보장분석부터 설계까지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 → 보장분석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565392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31152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· 제안 우선순위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65392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31152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· 가계약 요청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565392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931152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565392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65392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[맞춤대화] 카드 · 고객찾기 · 모바일 [MeAI]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맞춤대화] (10/2부터)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만나기 전에는 꼭 맞춤대화로 준비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일반대화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“무엇이든 물어보세요”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않고 상품·약관·화법을 일반대화에서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035040" cy="4310743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035040" cy="431074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264920" y="176609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264920" y="17660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183495" y="23073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183495" y="2307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183495" y="290126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183495" y="29012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524615" y="386878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524615" y="386878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524615" y="52530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2524615" y="52530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11649" y="521469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11649" y="52146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866862" y="4991753"/>
            <a:ext cx="1982942" cy="129322"/>
          </a:xfrm>
          <a:prstGeom prst="roundRect">
            <a:avLst>
              <a:gd name="adj" fmla="val 21212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6029815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[일반대화] 카드로 들어온 첫 화면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949440" y="17007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49440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33488" y="169164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홈]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333488" y="198424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MeAI 홈으로 이동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49440" y="22684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49440" y="22684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33488" y="225933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333488" y="255193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원문 찾기 · 화면 사용법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949440" y="28361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49440" y="28361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33488" y="282702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333488" y="311962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월별로 쌓임 · 누르면 이어서 질문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949440" y="340385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49440" y="34038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33488" y="339471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 3개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7333488" y="368731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 · 지식 검색 · 자주하는 질문 → 누르면 시작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949440" y="39715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6949440" y="3971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7333488" y="396240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7333488" y="4255008"/>
            <a:ext cx="4309567" cy="422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쓰고 전송(↑) · [상품 선택]으로 상품 고르기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테두리 안내대로 이름·연락처는 넣지 않음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949440" y="47320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949440" y="47320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7333488" y="4722876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[새로 대화하기]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7333488" y="5015484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주제가 바뀌면 새로 열기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949440" y="5308854"/>
            <a:ext cx="4693615" cy="768096"/>
          </a:xfrm>
          <a:prstGeom prst="roundRect">
            <a:avLst>
              <a:gd name="adj" fmla="val 1666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132320" y="5400294"/>
            <a:ext cx="108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사용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8214360" y="5400294"/>
            <a:ext cx="126517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14360" y="5400294"/>
            <a:ext cx="1265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570974" y="5400294"/>
            <a:ext cx="15864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570974" y="5400294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214360" y="5747766"/>
            <a:ext cx="12512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14360" y="5747766"/>
            <a:ext cx="125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557004" y="5747766"/>
            <a:ext cx="12512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557004" y="5747766"/>
            <a:ext cx="125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PC 맞춤대화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“고객 1명에 맞춘 보장분석부터 설계까지”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고객의 보장 내역을 읽고 답변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461504" cy="466344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461504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802587" y="233934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802587" y="23393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02587" y="311658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02587" y="31165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802587" y="402336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802587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170432" y="561929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1170432" y="5619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36971" y="167609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36971" y="16760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756002" y="26502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756002" y="2650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756002" y="412699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2756002" y="4126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973824" y="529803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73824" y="52980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756002" y="568147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756002" y="5681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156655" y="12527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이름·숫자는 예시 · 개발 중 화면이라 왼쪽 위 [MeAI 홈] 자리에 로고가 보임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421624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421624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8805672" y="1691640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805672" y="1993392"/>
            <a:ext cx="283738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일수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(화면엔 '보장분석 동의')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421624" y="24140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8421624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8805672" y="2395728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검색·사용 가이드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805672" y="2697480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약관 원문과 화면 안내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421624" y="292608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8421624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8805672" y="2907792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805672" y="3209544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목록 · 누르면 이어서 질문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421624" y="34381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421624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8805672" y="3419856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8421624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421624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805672" y="3931920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 3개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805672" y="4233672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421624" y="4462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8421624" y="4462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8805672" y="4443984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8805672" y="4745736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복사·편집·저장 아이콘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8421624" y="497433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8421624" y="4974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8805672" y="4956048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8805672" y="5257800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 → 비어 있는 것 → 할 일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8421624" y="54864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8421624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8805672" y="5468112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[용어] 버튼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8805672" y="5769864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8421624" y="59984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8421624" y="5998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8805672" y="5980176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맞춤대화 시작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“보장분석 해줘” 한 마디로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21808" cy="2187621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21808" cy="218762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668949"/>
            <a:ext cx="5321808" cy="2673605"/>
          </a:xfrm>
          <a:prstGeom prst="roundRect">
            <a:avLst>
              <a:gd name="adj" fmla="val 39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68949"/>
            <a:ext cx="5321808" cy="26736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10310" y="18261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1310310" y="18261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370465" y="150643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370465" y="150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70465" y="238568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2370465" y="238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370465" y="31429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2370465" y="31429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2762" y="397074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602762" y="397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895331" y="395804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95331" y="39580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02762" y="49296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602762" y="49296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02762" y="5386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02762" y="5386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236208" y="1024128"/>
            <a:ext cx="5404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이름·숫자는 예시 · 정보 칸이 열려 있으면 아래가 흐림(^로 접으면 밝아짐)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236208" y="14447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36208" y="1444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6620256" y="14173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8906256" y="1417320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정해진 채로 열렸다는 표시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236208" y="19019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236208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6620256" y="18745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906256" y="1874520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넣으면 고객 맥락을 살려 답변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236208" y="2432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6236208" y="2432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6620256" y="233172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칸, 아는 것만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8906256" y="2331720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병력·가족력이 핵심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이름·연락처는 넣지 않음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36208" y="29626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6236208" y="2962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6620256" y="29352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[입력 완료]로 반영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8906256" y="2935224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땐 [사용중인 정보 수정]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236208" y="3355848"/>
            <a:ext cx="5404104" cy="420624"/>
          </a:xfrm>
          <a:prstGeom prst="roundRect">
            <a:avLst>
              <a:gd name="adj" fmla="val 2608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37376" y="3355848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고객에 대한 정보를 잘 모르겠다면 </a:t>
            </a:r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“입력하지 않고 넘어가기”</a:t>
            </a:r>
            <a:endParaRPr lang="en-US" sz="1150" dirty="0"/>
          </a:p>
        </p:txBody>
      </p:sp>
      <p:sp>
        <p:nvSpPr>
          <p:cNvPr id="45" name="Shape 41"/>
          <p:cNvSpPr/>
          <p:nvPr/>
        </p:nvSpPr>
        <p:spPr>
          <a:xfrm>
            <a:off x="6236208" y="39319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6" name="Text 42"/>
          <p:cNvSpPr txBox="1"/>
          <p:nvPr/>
        </p:nvSpPr>
        <p:spPr>
          <a:xfrm>
            <a:off x="623620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7" name="Text 43"/>
          <p:cNvSpPr txBox="1"/>
          <p:nvPr/>
        </p:nvSpPr>
        <p:spPr>
          <a:xfrm>
            <a:off x="6620256" y="39044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계약 총 보험료</a:t>
            </a:r>
            <a:endParaRPr lang="en-US" sz="1350" dirty="0"/>
          </a:p>
        </p:txBody>
      </p:sp>
      <p:sp>
        <p:nvSpPr>
          <p:cNvPr id="48" name="Text 44"/>
          <p:cNvSpPr txBox="1"/>
          <p:nvPr/>
        </p:nvSpPr>
        <p:spPr>
          <a:xfrm>
            <a:off x="8906256" y="39044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 매달 이만큼 내고 계세요"로 시작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6236208" y="43891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6236208" y="4389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51" name="Text 47"/>
          <p:cNvSpPr txBox="1"/>
          <p:nvPr/>
        </p:nvSpPr>
        <p:spPr>
          <a:xfrm>
            <a:off x="6620256" y="43616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약관DB 준비 상태</a:t>
            </a:r>
            <a:endParaRPr lang="en-US" sz="1350" dirty="0"/>
          </a:p>
        </p:txBody>
      </p:sp>
      <p:sp>
        <p:nvSpPr>
          <p:cNvPr id="52" name="Text 48"/>
          <p:cNvSpPr txBox="1"/>
          <p:nvPr/>
        </p:nvSpPr>
        <p:spPr>
          <a:xfrm>
            <a:off x="8906256" y="43616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안 된 상품은 답이 부정확할 수 있음</a:t>
            </a:r>
            <a:endParaRPr lang="en-US" sz="1150" dirty="0"/>
          </a:p>
        </p:txBody>
      </p:sp>
      <p:sp>
        <p:nvSpPr>
          <p:cNvPr id="53" name="Shape 49"/>
          <p:cNvSpPr/>
          <p:nvPr/>
        </p:nvSpPr>
        <p:spPr>
          <a:xfrm>
            <a:off x="6236208" y="48463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4" name="Text 50"/>
          <p:cNvSpPr txBox="1"/>
          <p:nvPr/>
        </p:nvSpPr>
        <p:spPr>
          <a:xfrm>
            <a:off x="6236208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5" name="Text 51"/>
          <p:cNvSpPr txBox="1"/>
          <p:nvPr/>
        </p:nvSpPr>
        <p:spPr>
          <a:xfrm>
            <a:off x="6620256" y="48188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담보별로 거르기</a:t>
            </a:r>
            <a:endParaRPr lang="en-US" sz="1350" dirty="0"/>
          </a:p>
        </p:txBody>
      </p:sp>
      <p:sp>
        <p:nvSpPr>
          <p:cNvPr id="56" name="Text 52"/>
          <p:cNvSpPr txBox="1"/>
          <p:nvPr/>
        </p:nvSpPr>
        <p:spPr>
          <a:xfrm>
            <a:off x="8906256" y="48188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· 뇌/심장 · 치료비 등 버튼으로 고르기</a:t>
            </a:r>
            <a:endParaRPr lang="en-US" sz="1150" dirty="0"/>
          </a:p>
        </p:txBody>
      </p:sp>
      <p:sp>
        <p:nvSpPr>
          <p:cNvPr id="57" name="Shape 53"/>
          <p:cNvSpPr/>
          <p:nvPr/>
        </p:nvSpPr>
        <p:spPr>
          <a:xfrm>
            <a:off x="6236208" y="53035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8" name="Text 54"/>
          <p:cNvSpPr txBox="1"/>
          <p:nvPr/>
        </p:nvSpPr>
        <p:spPr>
          <a:xfrm>
            <a:off x="6236208" y="5303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9" name="Text 55"/>
          <p:cNvSpPr txBox="1"/>
          <p:nvPr/>
        </p:nvSpPr>
        <p:spPr>
          <a:xfrm>
            <a:off x="6620256" y="52760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전체 선택</a:t>
            </a:r>
            <a:endParaRPr lang="en-US" sz="1350" dirty="0"/>
          </a:p>
        </p:txBody>
      </p:sp>
      <p:sp>
        <p:nvSpPr>
          <p:cNvPr id="60" name="Text 56"/>
          <p:cNvSpPr txBox="1"/>
          <p:nvPr/>
        </p:nvSpPr>
        <p:spPr>
          <a:xfrm>
            <a:off x="8906256" y="52760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계약은 체크를 풀면 분석에서 빠짐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6236208" y="5760720"/>
            <a:ext cx="5404104" cy="594360"/>
          </a:xfrm>
          <a:prstGeom prst="roundRect">
            <a:avLst>
              <a:gd name="adj" fmla="val 1846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6464808" y="5760720"/>
            <a:ext cx="5038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질문은 버튼 하나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[보장분석 해줘]로 전체 그림부터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분석 → 제안 → 다음 행동 순서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순서에 맞춘 답변 구성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16951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31695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691640"/>
            <a:ext cx="5281466" cy="3310128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281466" cy="33101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5570" y="3159358"/>
            <a:ext cx="4959876" cy="1164052"/>
          </a:xfrm>
          <a:prstGeom prst="roundRect">
            <a:avLst>
              <a:gd name="adj" fmla="val 4713"/>
            </a:avLst>
          </a:prstGeom>
          <a:ln w="22225">
            <a:solidFill>
              <a:srgbClr val="00A86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755274" y="2225928"/>
            <a:ext cx="1572157" cy="479017"/>
          </a:xfrm>
          <a:prstGeom prst="roundRect">
            <a:avLst>
              <a:gd name="adj" fmla="val 11453"/>
            </a:avLst>
          </a:prstGeom>
          <a:ln w="22225">
            <a:solidFill>
              <a:srgbClr val="F0445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610959" y="3552436"/>
            <a:ext cx="958033" cy="196520"/>
          </a:xfrm>
          <a:prstGeom prst="roundRect">
            <a:avLst>
              <a:gd name="adj" fmla="val 27918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70861" y="2446498"/>
            <a:ext cx="274320" cy="27432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70861" y="24464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70861" y="3136073"/>
            <a:ext cx="274320" cy="274320"/>
          </a:xfrm>
          <a:prstGeom prst="ellipse">
            <a:avLst/>
          </a:prstGeom>
          <a:solidFill>
            <a:srgbClr val="00A86B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70861" y="31360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9489148" y="2328276"/>
            <a:ext cx="274320" cy="274320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9148" y="2328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332551" y="350739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332551" y="350739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985455" y="1252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금액은 예시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48640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4944" y="5330952"/>
            <a:ext cx="310896" cy="310896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94944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1115568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결론</a:t>
            </a:r>
            <a:endParaRPr lang="en-US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1115568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상담 주제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3111932" y="5266944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3386252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00A86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3532556" y="5330952"/>
            <a:ext cx="310896" cy="310896"/>
          </a:xfrm>
          <a:prstGeom prst="ellipse">
            <a:avLst/>
          </a:prstGeom>
          <a:solidFill>
            <a:srgbClr val="00A86B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3532556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3953180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3953180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949544" y="5266944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6223864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04452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370168" y="5330952"/>
            <a:ext cx="310896" cy="310896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637016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6790792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것</a:t>
            </a:r>
            <a:endParaRPr lang="en-US" sz="1350" dirty="0"/>
          </a:p>
        </p:txBody>
      </p:sp>
      <p:sp>
        <p:nvSpPr>
          <p:cNvPr id="39" name="Text 35"/>
          <p:cNvSpPr txBox="1"/>
          <p:nvPr/>
        </p:nvSpPr>
        <p:spPr>
          <a:xfrm>
            <a:off x="6790792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'미가입' 줄이 제안 포인트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787155" y="5266944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9061475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9207779" y="53309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9207779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9628403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하면 되는 일</a:t>
            </a:r>
            <a:endParaRPr lang="en-US" sz="1350" dirty="0"/>
          </a:p>
        </p:txBody>
      </p:sp>
      <p:sp>
        <p:nvSpPr>
          <p:cNvPr id="45" name="Text 41"/>
          <p:cNvSpPr txBox="1"/>
          <p:nvPr/>
        </p:nvSpPr>
        <p:spPr>
          <a:xfrm>
            <a:off x="9628403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해야 할 액션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548640" y="5916168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77240" y="5916168"/>
            <a:ext cx="10637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사용자가 가장 많이 사용하는 질문  </a:t>
            </a:r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“가입증권 별로 핵심만 표로 요약해줘”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 버튼 하나로 바로 뜻풀이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5394960" cy="1383323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94960" cy="138332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2355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 [용어] 버튼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3154680"/>
            <a:ext cx="5394960" cy="2669814"/>
          </a:xfrm>
          <a:prstGeom prst="roundRect">
            <a:avLst>
              <a:gd name="adj" fmla="val 40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5394960" cy="266981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585192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켜면 어려운 말에 표시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60224" y="1371600"/>
            <a:ext cx="5092065" cy="3291840"/>
          </a:xfrm>
          <a:prstGeom prst="roundRect">
            <a:avLst>
              <a:gd name="adj" fmla="val 30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224" y="1371600"/>
            <a:ext cx="5092065" cy="3291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60224" y="4690872"/>
            <a:ext cx="50920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· 뜻을 한 번에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72200" y="5029200"/>
            <a:ext cx="2377440" cy="981166"/>
          </a:xfrm>
          <a:prstGeom prst="roundRect">
            <a:avLst>
              <a:gd name="adj" fmla="val 4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029200"/>
            <a:ext cx="2377440" cy="98116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72200" y="603779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용어를 누르면 뜻 표시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823960" y="5029200"/>
            <a:ext cx="2816352" cy="1051560"/>
          </a:xfrm>
          <a:prstGeom prst="roundRect">
            <a:avLst>
              <a:gd name="adj" fmla="val 1043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052560" y="512064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 뜻풀이라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읽어 주기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 [용어]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화면 · 오른쪽 아래 [용어]</a:t>
            </a:r>
            <a:endParaRPr lang="en-US" sz="1000" dirty="0"/>
          </a:p>
        </p:txBody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[용어]를 켜면 용어에 표시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361636" y="2049989"/>
            <a:ext cx="1686281" cy="1162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목록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686800" y="16184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686800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9070848" y="160020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다름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9070848" y="189280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입력창 오른쪽 위,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0" y="2624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0" y="2624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260604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끄기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070848" y="289864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표시,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누르면 원래대로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68680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68680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361188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보기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9070848" y="390448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N]에서 한 번에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686800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868680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438912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그대로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9070848" y="468172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뜻풀이를 그대로 읽어 주기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간편·상세 선택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때는 상세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6828817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828817" cy="4114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57202" y="2602149"/>
            <a:ext cx="2848259" cy="14591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7202" y="2978609"/>
            <a:ext cx="3379389" cy="78794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05654" y="2978609"/>
            <a:ext cx="930937" cy="154670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833872"/>
            <a:ext cx="68288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분석]을 누르면 두 가지가 펼쳐짐 · ※ 답 아래 질문 버튼 일부는 가림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635240" y="16916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863840" y="18928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상담 · 직관적 검토용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148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 분석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5328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모드. 고객과 함께 보는 화면, 첫 상담용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635240" y="32918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863840" y="34930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· 담보 정밀 검토용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490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분석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1330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근거를 확인하거나 자사·타사 담보를 숫자로 비교할 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635240" y="4892040"/>
            <a:ext cx="4005072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4983480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대화에 아래 안내줄이 붙고,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질문부터 그 모드로 답변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635240" y="5760720"/>
            <a:ext cx="4005072" cy="421587"/>
          </a:xfrm>
          <a:prstGeom prst="roundRect">
            <a:avLst>
              <a:gd name="adj" fmla="val 1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5760720"/>
            <a:ext cx="4005072" cy="421587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모바일도 입력창 아래 [간편 분석]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84700" y="3982354"/>
            <a:ext cx="1579583" cy="208551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84700" y="4341526"/>
            <a:ext cx="1579583" cy="214344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[간편 분석] · [상품 선택]</a:t>
            </a:r>
            <a:endParaRPr lang="en-US" sz="1000" dirty="0"/>
          </a:p>
        </p:txBody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782180" y="3982354"/>
            <a:ext cx="1579583" cy="65655"/>
          </a:xfrm>
          <a:prstGeom prst="rect">
            <a:avLst/>
          </a:prstGeom>
          <a:solidFill>
            <a:srgbClr val="8B8C8D"/>
          </a:solidFill>
          <a:ln w="12700">
            <a:solidFill>
              <a:srgbClr val="8B8C8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"분석 모드" 선택창 · 간편 / 상세</a:t>
            </a:r>
            <a:endParaRPr lang="en-US" sz="1000" dirty="0"/>
          </a:p>
        </p:txBody>
      </p:sp>
      <p:pic>
        <p:nvPicPr>
          <p:cNvPr id="1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869" y="3689752"/>
            <a:ext cx="1585492" cy="209331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79869" y="4050268"/>
            <a:ext cx="1585492" cy="215146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 · 버튼과 안내줄이 바뀜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686800" y="17556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0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173736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누르면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070848" y="202996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"분석 모드" 선택창이 올라옴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686800" y="28163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68680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2798064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고르면 끝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9070848" y="3090672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선택창이 닫히고 버튼 이름이 바뀜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686800" y="3648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86868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3630168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바꾸기 가능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9070848" y="3922776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땐 상세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8686800" y="6071616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답 아래 질문 버튼 일부는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아래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버튼으로 이어가기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물을 질문은 꼬리질문이 제시 · 타이핑 없이 버튼만 누르기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483927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483927" cy="4572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6567" y="3221182"/>
            <a:ext cx="2704407" cy="13854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6567" y="3578629"/>
            <a:ext cx="3208713" cy="13854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28255" y="12527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꼬리질문 둘째·셋째 줄 글자는 가림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0065" y="17606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10065" y="17606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0065" y="28163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0065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10065" y="401338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10065" y="40133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10065" y="49444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10065" y="49444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10065" y="536004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10065" y="53600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아이콘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· 출처 · 좋아요/싫어요 평가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498080" y="227647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498080" y="22764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882128" y="2258187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3개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2550795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글자는 ‘질문 예시’ · 누르면 바로 전송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498080" y="284302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7498080" y="28430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2824734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7882128" y="3117342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만든 질문 모음에서 골라 쓰기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498080" y="340956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7498080" y="34095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391281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882128" y="3683889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쓰거나, 모바일은 마이크로 말하기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498080" y="39761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7498080" y="39761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7882128" y="3957828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모드 · 상품 선택</a:t>
            </a:r>
            <a:endParaRPr lang="en-US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250436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간편/상세를 고르고 분석할 상품 좁히기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7498080" y="4617720"/>
            <a:ext cx="4142232" cy="1737360"/>
          </a:xfrm>
          <a:prstGeom prst="roundRect">
            <a:avLst>
              <a:gd name="adj" fmla="val 736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72400" y="4745736"/>
            <a:ext cx="3593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질문할수록 늘어나는 영업기회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7772400" y="502005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400" dirty="0"/>
          </a:p>
        </p:txBody>
      </p:sp>
      <p:sp>
        <p:nvSpPr>
          <p:cNvPr id="45" name="Text 42"/>
          <p:cNvSpPr txBox="1"/>
          <p:nvPr/>
        </p:nvSpPr>
        <p:spPr>
          <a:xfrm>
            <a:off x="9144000" y="5020056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1건 대비 3건 이상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 수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7772400" y="5650992"/>
            <a:ext cx="1136904" cy="310896"/>
          </a:xfrm>
          <a:prstGeom prst="roundRect">
            <a:avLst>
              <a:gd name="adj" fmla="val 23529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0" y="5650992"/>
            <a:ext cx="113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· 11.99건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000744" y="5650992"/>
            <a:ext cx="1136904" cy="310896"/>
          </a:xfrm>
          <a:prstGeom prst="roundRect">
            <a:avLst>
              <a:gd name="adj" fmla="val 23529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000744" y="5650992"/>
            <a:ext cx="113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17.02건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10229088" y="5650992"/>
            <a:ext cx="1136904" cy="310896"/>
          </a:xfrm>
          <a:prstGeom prst="roundRect">
            <a:avLst>
              <a:gd name="adj" fmla="val 23529"/>
            </a:avLst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0229088" y="5650992"/>
            <a:ext cx="113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 · 27.79건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7772400" y="6035040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요약 리포트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리포트는 네 단계로 발송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하나로 발송까지 완료 · PC는 오른쪽 위 [요약 리포트]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734" y="1691640"/>
            <a:ext cx="1753573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98901" y="3074265"/>
            <a:ext cx="1509084" cy="21076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09410" y="2172186"/>
            <a:ext cx="282426" cy="126460"/>
          </a:xfrm>
          <a:prstGeom prst="roundRect">
            <a:avLst>
              <a:gd name="adj" fmla="val 21692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4864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화면 상단 [요약 생성]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127248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086" y="1691640"/>
            <a:ext cx="1753573" cy="356616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64992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364992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730752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→ 편집하기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3364992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넣을 답변만 체크, 내부용은 빼기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943600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438" y="1691640"/>
            <a:ext cx="1753573" cy="356616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181344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6181344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6547104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생성하기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6181344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링크 전송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8759952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7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364835"/>
            <a:ext cx="2651760" cy="2219769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8997696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997696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9363456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도착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8997696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[요약레포트 확인하기] · 받은 날부터 7일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548640" y="5980176"/>
            <a:ext cx="6766560" cy="365760"/>
          </a:xfrm>
          <a:prstGeom prst="roundRect">
            <a:avLst>
              <a:gd name="adj" fmla="val 30000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6071616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숫자·약관 근거·개인정보 확인. "AI로 생성된 보조자료" 표시가 붙음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7498080" y="6035040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실제 화면 · 이름과 일부 글자는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모바일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→ 보장분석 → MeAI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MeAI 홈·고객찾기·게시판은 PC 오픈 뒤 순차 적용 예정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528" y="1691640"/>
            <a:ext cx="2142785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앱 홈 · [보장분석]</a:t>
            </a:r>
            <a:endParaRPr lang="en-US" sz="1000" dirty="0"/>
          </a:p>
        </p:txBody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691640"/>
            <a:ext cx="2194560" cy="4295067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958829" y="2271631"/>
            <a:ext cx="702259" cy="100323"/>
          </a:xfrm>
          <a:prstGeom prst="rect">
            <a:avLst/>
          </a:prstGeom>
          <a:solidFill>
            <a:srgbClr val="37383C"/>
          </a:solidFill>
          <a:ln w="12700">
            <a:solidFill>
              <a:srgbClr val="37383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88036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상단 버튼 · ③ 카드 [MeAI]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39" y="1691640"/>
            <a:ext cx="2068801" cy="4343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2080" y="60716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대화 화면 ≡ 메뉴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누르기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아이콘 묶음의 첫 번째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7498080" y="238620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498080" y="2386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7882128" y="236791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일반대화]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7882128" y="266052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위, 무엇이든 묻는 창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498080" y="306247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498080" y="30624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7882128" y="304419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[MeAI]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7882128" y="333679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고객 맞춤대화가 열림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7498080" y="373875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7498080" y="37387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7882128" y="372046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 메뉴</a:t>
            </a:r>
            <a:endParaRPr lang="en-US" sz="1350" dirty="0"/>
          </a:p>
        </p:txBody>
      </p:sp>
      <p:sp>
        <p:nvSpPr>
          <p:cNvPr id="29" name="Text 24"/>
          <p:cNvSpPr txBox="1"/>
          <p:nvPr/>
        </p:nvSpPr>
        <p:spPr>
          <a:xfrm>
            <a:off x="7882128" y="401307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 · 월별 대화 목록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7498080" y="4389120"/>
            <a:ext cx="4142232" cy="713232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726680" y="4480560"/>
            <a:ext cx="3685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이력·저장한 나의 질문은 PC와 모바일이 같음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7498080" y="5230368"/>
            <a:ext cx="4142232" cy="768096"/>
          </a:xfrm>
          <a:prstGeom prst="roundRect">
            <a:avLst>
              <a:gd name="adj" fmla="val 1428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726680" y="5321808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 "오늘 보장분석 활용"에서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쓴 횟수 확인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7498080" y="6071616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이름은 예시 · 일부 글자는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루틴과 시나리오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MeAI 홈을 열면 오늘 연락할 고객과 첫 말까지 한 화면에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루틴 4단계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시작하는 시나리오 3가지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주간·월간 루틴 · 첫 5일 미션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아침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홈만 열면 첫 말까지 정해짐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화면 순서대로 누르기만 하면 끝 · 서은아 고객(예시)으로 따라가 보기 · 화면 속 질문 문장도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58368" y="2659571"/>
            <a:ext cx="2432304" cy="2178939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59571"/>
            <a:ext cx="2432304" cy="217893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708999" y="2592070"/>
            <a:ext cx="219456" cy="219456"/>
          </a:xfrm>
          <a:prstGeom prst="ellips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게시판 빨간 점 확인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364992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56616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636220" y="2606040"/>
            <a:ext cx="2109304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6220" y="2606040"/>
            <a:ext cx="2109304" cy="22860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566160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임박, #당월 타겟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카드부터 읽기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81344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382512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6382512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291072" y="2904014"/>
            <a:ext cx="2432304" cy="169005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904014"/>
            <a:ext cx="2432304" cy="169005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382512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펼쳐짐.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보고 추천 질문 선택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997696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9198864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198864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→ 리포트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9297209" y="2606040"/>
            <a:ext cx="2052735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0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209" y="2606040"/>
            <a:ext cx="2052735" cy="2286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98864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질문을 누르면 맞춤대화 시작.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리포트는 카카오톡으로 발송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1 · 이벤트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자동차보험 만기 9일 전, 운전자 보장까지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안내를 계기로 비어 있는 운전자 보장까지 함께 점검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648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64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29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추천 카드(세트 2) · #이벤트 임박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자동차보험 만기 9일,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운전자보험 없음.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D-18로 유효.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펼치기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확인.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운전자 보장 빈 곳.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이유를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자동차보험 만기가 9일 뒤예요.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 안내 드리면서 운전자 보장도 같이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"자동차보험만 있고 운전자보험이 없는 고객에게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보장이 필요한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2 · 동의 만료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전, 재동의로 보장 점검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재동의를 계기로 신담보와 보장 공백까지 함께 점검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466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466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114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D-90은 사전조회동의(가입설계동의와 별개)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연락 명분.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먼저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부탁.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점검도 약속.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신담보와 비교.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결과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신담보 기준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요약 발송.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이달 말 동의가 만료돼 연장 부탁드려요.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"최근 신담보 기준으로 이 고객 보장의 빈 곳을 알려줘"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3 · 동의부터 · AI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김민수 고객, 동의만 받으면 MeAI로 계약까지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 · AI 추천 고객 · MeAI 홈에서 설계 및 계약체결까지 한큐에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648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64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29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추천 카드(세트 3) · AI 추천 고객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 1천만원,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필요 표시.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요청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보내기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오른쪽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요청하기] 누르고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입력.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(15분 안팎)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"보장분석 해줘".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 제안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인상 전 가입의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이점을 요약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리포트로 발송.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2주 뒤 보험 나이가 올라가요.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사전조회동의 알림톡 보내요."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"상령일 전에 암진단비를 늘려야 하는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주간 · 월간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카드로, 한 주는 그룹으로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카드는 매일, 고객찾기 그룹은 주기별로 확인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611880"/>
                <a:gridCol w="329184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해 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아침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· 오늘의 추천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3~9장 읽고 1명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고객 1명에게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매주 월요일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상령일 임박 · 생일 임박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주 연락할 고객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가까운 고객부터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당월 영업 타겟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이달 타겟 고객 확인 · 연락 순서 정하기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이유를 첫 말로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사전동의 만료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D-n 짧은 순으로 재동의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"사전조회 동의 필요" 줄이기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신규 등록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 → 동의 → 첫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등록한 날 동의 요청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636008"/>
            <a:ext cx="237744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49808" y="47640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" y="5111496"/>
            <a:ext cx="98107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111496"/>
            <a:ext cx="9810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임박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511149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5449824"/>
            <a:ext cx="8477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" y="5449824"/>
            <a:ext cx="8477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544982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49808" y="5788152"/>
            <a:ext cx="11144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788152"/>
            <a:ext cx="11144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57881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108960" y="4636008"/>
            <a:ext cx="4343400" cy="1554480"/>
          </a:xfrm>
          <a:prstGeom prst="roundRect">
            <a:avLst>
              <a:gd name="adj" fmla="val 705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4727448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10/2~ 영업포탈 CRM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생일·상령일 목록에서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맞춤대화]를 눌러서 시작.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대화가 바로 열림.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35240" y="4636008"/>
            <a:ext cx="4007815" cy="1554480"/>
          </a:xfrm>
          <a:prstGeom prst="roundRect">
            <a:avLst>
              <a:gd name="adj" fmla="val 705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63840" y="4727448"/>
            <a:ext cx="35506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인원은 화면 예시.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실제로는 내 고객 기준으로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새로 계산됨.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첫 5일 미션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오늘부터, 고객 찾기는 그만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5일, 하루 하나씩만 해 보기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질문 예시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눌러 보기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8892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97180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고객찾기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93522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15468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한눈에 보기 6칸 확인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3522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눌러 보기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21208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7550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2번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7550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3개 메모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26948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5236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그룹으로 찾기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41578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63524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확인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41578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3524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짧은 1명께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 부탁하기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50976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69264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보내기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65606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발송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65606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질문으로 저장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7240" y="5486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영업으로 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 홈에서 영업을 시작"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묻기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고민할 필요 없이 클릭으로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창구 네 곳 · 추천 프롬프트 · 꼬리질문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물을 땐 "누구에게 + 무엇을"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 초안 · 이렇게는 묻지 않기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카드마다 고객에게 첫 말, MeAI에게 첫 질문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질문 고르기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고민할 필요 없이 클릭으로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프롬프트와 프롬프트 라이브러리, 꼬리질문을 통해 클릭으로 진행하는 MeAI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시작할 때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2240280"/>
            <a:ext cx="98552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2240280"/>
            <a:ext cx="98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보장비교 · 지식검색 · 자주하는 질문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예시를 누르면 바로 대화 시작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7964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32556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532556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880028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정해졌을 때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532556" y="2240280"/>
            <a:ext cx="179578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32556" y="2240280"/>
            <a:ext cx="1795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 이렇게 물어보세요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532556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 고객별 맞춤 프롬프트 세팅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입력창에 채워짐 → 전송(↑)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7288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1880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51880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99352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받은 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351880" y="2240280"/>
            <a:ext cx="152146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1880" y="2240280"/>
            <a:ext cx="152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질문 버튼 3개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1880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프롬프트를 꼬리질문이 제시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질문이 바로 전송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06611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71203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171203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9518675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필요할 때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9171203" y="2240280"/>
            <a:ext cx="212852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71203" y="2240280"/>
            <a:ext cx="212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 · 나의 질문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171203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[질문 더보기]에서 클릭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질문은 저장 → 나의 질문</a:t>
            </a:r>
            <a:endParaRPr lang="en-US" sz="1050" dirty="0"/>
          </a:p>
        </p:txBody>
      </p:sp>
      <p:pic>
        <p:nvPicPr>
          <p:cNvPr id="35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79" y="2606040"/>
            <a:ext cx="2193765" cy="1627632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32254" y="3489207"/>
            <a:ext cx="1370042" cy="144364"/>
          </a:xfrm>
          <a:prstGeom prst="roundRect">
            <a:avLst>
              <a:gd name="adj" fmla="val 25336"/>
            </a:avLst>
          </a:prstGeom>
          <a:ln w="19050">
            <a:solidFill>
              <a:srgbClr val="3182F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225068" y="342422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225068" y="34242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pic>
        <p:nvPicPr>
          <p:cNvPr id="3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980" y="2608352"/>
            <a:ext cx="2380412" cy="162300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622214" y="2960004"/>
            <a:ext cx="829537" cy="93774"/>
          </a:xfrm>
          <a:prstGeom prst="roundRect">
            <a:avLst>
              <a:gd name="adj" fmla="val 39004"/>
            </a:avLst>
          </a:prstGeom>
          <a:ln w="19050">
            <a:solidFill>
              <a:srgbClr val="3182F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12959" y="286973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8"/>
          <p:cNvSpPr txBox="1"/>
          <p:nvPr/>
        </p:nvSpPr>
        <p:spPr>
          <a:xfrm>
            <a:off x="4512959" y="28697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pic>
        <p:nvPicPr>
          <p:cNvPr id="43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000" y="2606040"/>
            <a:ext cx="1993019" cy="1627632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6390294" y="286563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5" name="Text 40"/>
          <p:cNvSpPr txBox="1"/>
          <p:nvPr/>
        </p:nvSpPr>
        <p:spPr>
          <a:xfrm>
            <a:off x="6390294" y="28656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390294" y="393596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2"/>
          <p:cNvSpPr txBox="1"/>
          <p:nvPr/>
        </p:nvSpPr>
        <p:spPr>
          <a:xfrm>
            <a:off x="6390294" y="39359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pic>
        <p:nvPicPr>
          <p:cNvPr id="4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3021" y="2606040"/>
            <a:ext cx="1563624" cy="868680"/>
          </a:xfrm>
          <a:prstGeom prst="rect">
            <a:avLst/>
          </a:prstGeom>
        </p:spPr>
      </p:pic>
      <p:sp>
        <p:nvSpPr>
          <p:cNvPr id="49" name="Shape 43"/>
          <p:cNvSpPr/>
          <p:nvPr/>
        </p:nvSpPr>
        <p:spPr>
          <a:xfrm>
            <a:off x="10552862" y="2910078"/>
            <a:ext cx="238887" cy="249746"/>
          </a:xfrm>
          <a:prstGeom prst="roundRect">
            <a:avLst>
              <a:gd name="adj" fmla="val 15311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10828325" y="268605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5"/>
          <p:cNvSpPr txBox="1"/>
          <p:nvPr/>
        </p:nvSpPr>
        <p:spPr>
          <a:xfrm>
            <a:off x="10828325" y="26860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6"/>
          <p:cNvSpPr txBox="1"/>
          <p:nvPr/>
        </p:nvSpPr>
        <p:spPr>
          <a:xfrm>
            <a:off x="9171203" y="3511296"/>
            <a:ext cx="236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 아래 복사 · 편집 · 저장</a:t>
            </a:r>
            <a:endParaRPr 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9171203" y="3794760"/>
            <a:ext cx="23072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9171203" y="3794760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 · 나의 질문은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· 휴대폰에서 똑같이 보임</a:t>
            </a:r>
            <a:endParaRPr lang="en-US" sz="1000" dirty="0"/>
          </a:p>
        </p:txBody>
      </p:sp>
      <p:sp>
        <p:nvSpPr>
          <p:cNvPr id="55" name="Shape 49"/>
          <p:cNvSpPr/>
          <p:nvPr/>
        </p:nvSpPr>
        <p:spPr>
          <a:xfrm>
            <a:off x="548640" y="5074920"/>
            <a:ext cx="11094415" cy="731520"/>
          </a:xfrm>
          <a:prstGeom prst="roundRect">
            <a:avLst>
              <a:gd name="adj" fmla="val 175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22960" y="50749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질문할수록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늘어나는 영업기회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2926080" y="5475782"/>
            <a:ext cx="274320" cy="220930"/>
          </a:xfrm>
          <a:prstGeom prst="roundRect">
            <a:avLst>
              <a:gd name="adj" fmla="val 12417"/>
            </a:avLst>
          </a:prstGeom>
          <a:solidFill>
            <a:srgbClr val="B9A8F5"/>
          </a:solidFill>
          <a:ln w="12700">
            <a:solidFill>
              <a:srgbClr val="B9A8F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3291840" y="5166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· 11.99건</a:t>
            </a:r>
            <a:endParaRPr lang="en-US" sz="1200" dirty="0"/>
          </a:p>
        </p:txBody>
      </p:sp>
      <p:sp>
        <p:nvSpPr>
          <p:cNvPr id="59" name="Shape 53"/>
          <p:cNvSpPr/>
          <p:nvPr/>
        </p:nvSpPr>
        <p:spPr>
          <a:xfrm>
            <a:off x="4709160" y="5383098"/>
            <a:ext cx="274320" cy="313614"/>
          </a:xfrm>
          <a:prstGeom prst="roundRect">
            <a:avLst>
              <a:gd name="adj" fmla="val 10000"/>
            </a:avLst>
          </a:prstGeom>
          <a:solidFill>
            <a:srgbClr val="B9A8F5"/>
          </a:solidFill>
          <a:ln w="12700">
            <a:solidFill>
              <a:srgbClr val="B9A8F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5074920" y="5166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17.02건</a:t>
            </a:r>
            <a:endParaRPr lang="en-US" sz="1200" dirty="0"/>
          </a:p>
        </p:txBody>
      </p:sp>
      <p:sp>
        <p:nvSpPr>
          <p:cNvPr id="61" name="Shape 55"/>
          <p:cNvSpPr/>
          <p:nvPr/>
        </p:nvSpPr>
        <p:spPr>
          <a:xfrm>
            <a:off x="6492240" y="5184648"/>
            <a:ext cx="274320" cy="512064"/>
          </a:xfrm>
          <a:prstGeom prst="roundRect">
            <a:avLst>
              <a:gd name="adj" fmla="val 10000"/>
            </a:avLst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858000" y="5166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 · 27.79건</a:t>
            </a:r>
            <a:endParaRPr lang="en-US" sz="1200" dirty="0"/>
          </a:p>
        </p:txBody>
      </p:sp>
      <p:sp>
        <p:nvSpPr>
          <p:cNvPr id="63" name="Text 57"/>
          <p:cNvSpPr txBox="1"/>
          <p:nvPr/>
        </p:nvSpPr>
        <p:spPr>
          <a:xfrm>
            <a:off x="8549640" y="50749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000" dirty="0"/>
          </a:p>
        </p:txBody>
      </p:sp>
      <p:sp>
        <p:nvSpPr>
          <p:cNvPr id="64" name="Text 58"/>
          <p:cNvSpPr txBox="1"/>
          <p:nvPr/>
        </p:nvSpPr>
        <p:spPr>
          <a:xfrm>
            <a:off x="9738360" y="5074920"/>
            <a:ext cx="1858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1건 대비 3건 이상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 수</a:t>
            </a:r>
            <a:endParaRPr lang="en-US" sz="1150" dirty="0"/>
          </a:p>
        </p:txBody>
      </p:sp>
      <p:sp>
        <p:nvSpPr>
          <p:cNvPr id="65" name="Text 59"/>
          <p:cNvSpPr txBox="1"/>
          <p:nvPr/>
        </p:nvSpPr>
        <p:spPr>
          <a:xfrm>
            <a:off x="548640" y="589788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1000" dirty="0"/>
          </a:p>
        </p:txBody>
      </p:sp>
      <p:sp>
        <p:nvSpPr>
          <p:cNvPr id="66" name="Text 60"/>
          <p:cNvSpPr txBox="1"/>
          <p:nvPr/>
        </p:nvSpPr>
        <p:spPr>
          <a:xfrm>
            <a:off x="8534095" y="58978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화면의 이름 · 질문 문장은 예시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직접 묻기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물을 땐 “누구에게 + 무엇을”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편하게 입력하면 MeAI가 답변 · 형식은 없어도 괜찮음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697480" cy="1188720"/>
          </a:xfrm>
          <a:prstGeom prst="roundRect">
            <a:avLst>
              <a:gd name="adj" fmla="val 1076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1284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“40대 자녀 둘 가장,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암진단비만 있는 고객에게”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19856" y="1737360"/>
            <a:ext cx="242316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186537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22128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“암 통합치료비가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필요한지 설명해줘”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43016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16752" y="1737360"/>
            <a:ext cx="2697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형식 추가하면 더 깔끔하게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21284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“표로” · “구어체로”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“카톡 6줄로”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714232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887968" y="1737360"/>
            <a:ext cx="2743200" cy="118872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89136" y="18653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안전장치 한 마디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089136" y="2212848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“자료에 없으면 추정하지 말고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‘확인필요’로 표시해”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바꿔도 달라지는 답변의 수준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493008"/>
            <a:ext cx="3291840" cy="118872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" y="3639312"/>
            <a:ext cx="407670" cy="256032"/>
          </a:xfrm>
          <a:prstGeom prst="roundRect">
            <a:avLst>
              <a:gd name="adj" fmla="val 50000"/>
            </a:avLst>
          </a:prstGeom>
          <a:solidFill>
            <a:srgbClr val="6B7684"/>
          </a:solidFill>
          <a:ln w="12700">
            <a:solidFill>
              <a:srgbClr val="6B768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3639312"/>
            <a:ext cx="407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39502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“실손 설명해줘”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315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실손의 일반 개념을 길게 설명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349300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4251960" y="3493008"/>
            <a:ext cx="7391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3182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53128" y="3639312"/>
            <a:ext cx="40767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3128" y="3639312"/>
            <a:ext cx="407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453128" y="3913632"/>
            <a:ext cx="7025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실손 가입한 50대 고객에게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4세대와 비교해서 자기부담과 비급여 한도의 차이를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1개로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정리하고, 유지가 유리한 경우 3가지를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구어체로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알려줘”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453128" y="4370832"/>
            <a:ext cx="7025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고객 세대 기준 비교표 + 바로 말할 수 있는 3가지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828032"/>
            <a:ext cx="11094415" cy="1097280"/>
          </a:xfrm>
          <a:prstGeom prst="roundRect">
            <a:avLst>
              <a:gd name="adj" fmla="val 1166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pic>
        <p:nvPicPr>
          <p:cNvPr id="35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01184"/>
            <a:ext cx="2323652" cy="768096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586676" y="4829646"/>
            <a:ext cx="237744" cy="237744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2586676" y="48296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819041" y="5238436"/>
            <a:ext cx="237744" cy="237744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2819041" y="5238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22960" y="5696712"/>
            <a:ext cx="2323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MeAI 입력창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3611880" y="4828032"/>
            <a:ext cx="78025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맞으면 “더 쉽게” · “표로 다시” 한 마디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휴대폰이라 타이핑이 어렵다면? 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마이크를 눌러 말하고 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전송(↑)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문장 출처: 이전 판 「MeAI 활용 가이드북 · 영업가족 편」(2026.09)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고객에게 할 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말도 MeAI가 초안 작성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부탁하면 초안이 완성 · 이름 대신 조건으로 요청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카톡용 / 전화용 요청만 하면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488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오른쪽 파란 [일반대화]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누르면 이렇게 채워짐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" y="2807208"/>
            <a:ext cx="219456" cy="0"/>
          </a:xfrm>
          <a:prstGeom prst="line">
            <a:avLst/>
          </a:prstGeom>
          <a:noFill/>
          <a:ln w="38100">
            <a:solidFill>
              <a:srgbClr val="318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63347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· 나이대 · 유형 조건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3044952"/>
            <a:ext cx="219456" cy="0"/>
          </a:xfrm>
          <a:prstGeom prst="line">
            <a:avLst/>
          </a:prstGeom>
          <a:noFill/>
          <a:ln w="38100">
            <a:solidFill>
              <a:srgbClr val="7048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78992" y="287121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3~4줄 · 부담스럽지 않은 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3282696"/>
            <a:ext cx="219456" cy="0"/>
          </a:xfrm>
          <a:prstGeom prst="line">
            <a:avLst/>
          </a:prstGeom>
          <a:noFill/>
          <a:ln w="381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310896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성명 · 연락처는 제외</a:t>
            </a:r>
            <a:endParaRPr lang="en-US" sz="1050" dirty="0"/>
          </a:p>
        </p:txBody>
      </p:sp>
      <p:pic>
        <p:nvPicPr>
          <p:cNvPr id="16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787212"/>
            <a:ext cx="7802575" cy="150049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013422" y="2292379"/>
            <a:ext cx="1970650" cy="0"/>
          </a:xfrm>
          <a:prstGeom prst="line">
            <a:avLst/>
          </a:prstGeom>
          <a:noFill/>
          <a:ln w="28575">
            <a:solidFill>
              <a:srgbClr val="3182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105433" y="2292379"/>
            <a:ext cx="1065352" cy="0"/>
          </a:xfrm>
          <a:prstGeom prst="line">
            <a:avLst/>
          </a:prstGeom>
          <a:noFill/>
          <a:ln w="28575">
            <a:solidFill>
              <a:srgbClr val="7048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18424" y="2517453"/>
            <a:ext cx="1975652" cy="0"/>
          </a:xfrm>
          <a:prstGeom prst="line">
            <a:avLst/>
          </a:prstGeom>
          <a:noFill/>
          <a:ln w="28575">
            <a:solidFill>
              <a:srgbClr val="7048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09081" y="2517453"/>
            <a:ext cx="1965649" cy="0"/>
          </a:xfrm>
          <a:prstGeom prst="line">
            <a:avLst/>
          </a:prstGeom>
          <a:noFill/>
          <a:ln w="28575">
            <a:solidFill>
              <a:srgbClr val="F0445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5478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부탁해도 가능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3931920"/>
            <a:ext cx="54864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808" y="39959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 안내문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" y="42153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“보장분석 결과를 고객에게 보낼 카톡 안내문 6줄로 써줘. 존댓말, 단정 표현은 빼고”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754880"/>
            <a:ext cx="54864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" y="48188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미팅 전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" y="503834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고객에게 첫 만남에서 꺼낼 질문 3개 만들어줘”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55080" y="3547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두 버튼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0111435" y="3575304"/>
            <a:ext cx="1531620" cy="256032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11435" y="3575304"/>
            <a:ext cx="1531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· 바뀔 수 있음</a:t>
            </a:r>
            <a:endParaRPr lang="en-US" sz="1000" dirty="0"/>
          </a:p>
        </p:txBody>
      </p:sp>
      <p:pic>
        <p:nvPicPr>
          <p:cNvPr id="3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4018941"/>
            <a:ext cx="2552548" cy="630629"/>
          </a:xfrm>
          <a:prstGeom prst="rect">
            <a:avLst/>
          </a:prstGeom>
        </p:spPr>
      </p:pic>
      <p:pic>
        <p:nvPicPr>
          <p:cNvPr id="3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517" y="3931920"/>
            <a:ext cx="1772529" cy="73152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206197" y="4672584"/>
            <a:ext cx="23211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숫자는 예시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6355080" y="4919472"/>
            <a:ext cx="2552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6355080" y="5193792"/>
            <a:ext cx="2552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보험 용어를 일상 언어로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따질 땐 상세 분석</a:t>
            </a:r>
            <a:endParaRPr lang="en-US" sz="1000" dirty="0"/>
          </a:p>
        </p:txBody>
      </p:sp>
      <p:sp>
        <p:nvSpPr>
          <p:cNvPr id="36" name="Text 31"/>
          <p:cNvSpPr txBox="1"/>
          <p:nvPr/>
        </p:nvSpPr>
        <p:spPr>
          <a:xfrm>
            <a:off x="9090508" y="4919472"/>
            <a:ext cx="2552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9090508" y="5193792"/>
            <a:ext cx="2552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표시된 말을 누르면 뜻풀이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 문장, 그대로 읽기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48640" y="5669280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77240" y="5669280"/>
            <a:ext cx="10637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초안 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숫자와 약관 근거를 확인하고, 내 말투로 다듬어 발송</a:t>
            </a:r>
            <a:endParaRPr lang="en-US" sz="1250" dirty="0"/>
          </a:p>
        </p:txBody>
      </p:sp>
      <p:sp>
        <p:nvSpPr>
          <p:cNvPr id="40" name="Text 35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확정 화면 · 이전 판 「MeAI 활용 가이드북 · 영업가족 편」(2026.09) · [간편 분석]·[용어] 자세히는 PART 6</a:t>
            </a:r>
            <a:endParaRPr lang="en-US" sz="9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묻지 말 것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이렇게는 묻지 않기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답도 나빠지고, 규정에도 어긋남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828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49808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801368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개인정보를 넣는 질문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167128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“김OO(연락처) 고객 보장분석”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459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맞춤대화에선 “이 고객”이라고만</a:t>
            </a:r>
            <a:endParaRPr lang="en-US" sz="1250" dirty="0"/>
          </a:p>
        </p:txBody>
      </p:sp>
      <p:pic>
        <p:nvPicPr>
          <p:cNvPr id="13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715768"/>
            <a:ext cx="3587773" cy="237744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132858" y="2733058"/>
            <a:ext cx="3553192" cy="203163"/>
          </a:xfrm>
          <a:prstGeom prst="roundRect">
            <a:avLst>
              <a:gd name="adj" fmla="val 9002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59856" y="1691640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361024" y="1828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361024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726784" y="1801368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질문을 한 번에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26784" y="2167128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“보장분석하고 화법도 만들고 카톡도 써줘”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726784" y="2459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이어서 묻기 · 고객·주제가 바뀌면 [새로 대화하기]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3127248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49808" y="3264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9808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115568" y="3236976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고객에게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" y="3602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복사 → 바로 카톡 전송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1115568" y="3895344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· 약관 근거를 확인하고 내 말로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59856" y="3127248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361024" y="3264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361024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26784" y="3236976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단정을 강요하는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726784" y="3602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“무조건 가입 가능하다고 말해줘”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726784" y="3895344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“가능성과 확인할 조건을 알려줘”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48640" y="4572000"/>
            <a:ext cx="201168" cy="201168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548640" y="45720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22960" y="45537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안내문 (화면 그대로)</a:t>
            </a:r>
            <a:endParaRPr lang="en-US" sz="1050" dirty="0"/>
          </a:p>
        </p:txBody>
      </p:sp>
      <p:pic>
        <p:nvPicPr>
          <p:cNvPr id="3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28032"/>
            <a:ext cx="9328543" cy="566928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3563666" y="5353729"/>
            <a:ext cx="2561484" cy="0"/>
          </a:xfrm>
          <a:prstGeom prst="lin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4146" y="510833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6194146" y="51083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559552"/>
            <a:ext cx="11094415" cy="438912"/>
          </a:xfrm>
          <a:prstGeom prst="roundRect">
            <a:avLst>
              <a:gd name="adj" fmla="val 2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85800" y="5650992"/>
            <a:ext cx="1154430" cy="256032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85800" y="5650992"/>
            <a:ext cx="11544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지킬 약속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2023110" y="5559552"/>
            <a:ext cx="9482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 · 자료 외부 반출 금지 · 미검증 책임은 사용자에게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548640" y="607161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이전 판 「MeAI 활용 가이드북 · 영업가족 편」(2026.09) · MeAI 화면 안내문 · 다섯 가지 약속은 PART 9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첫 말 · 첫 질문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첫 말, MeAI에게 첫 질문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 시작하는 손쉬운 영업 타겟 탐색 · 카드가 달라도 짝은 같음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2697480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1907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719072"/>
            <a:ext cx="4754880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71907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첫 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83880" y="1719072"/>
            <a:ext cx="3456432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719072"/>
            <a:ext cx="3273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21408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7560" y="2121408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2121408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16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384" y="2185416"/>
            <a:ext cx="764072" cy="87782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40675" y="2799249"/>
            <a:ext cx="237163" cy="51510"/>
          </a:xfrm>
          <a:prstGeom prst="roundRect">
            <a:avLst>
              <a:gd name="adj" fmla="val 17752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720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572768" y="2212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572768" y="25328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만료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572768" y="2816352"/>
            <a:ext cx="1328420" cy="237744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72768" y="2816352"/>
            <a:ext cx="1328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474720" y="212140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“고객님, 2주 뒤 보험 나이가 올라가요.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사전조회동의 알림톡 보내요.”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76272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293608" y="2423160"/>
            <a:ext cx="3236976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21624" y="2423160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전에 암진단비를 늘려야 하는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쉽게 설명해줘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32004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37560" y="3200400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83880" y="3200400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3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264408"/>
            <a:ext cx="813816" cy="877824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718947" y="3861054"/>
            <a:ext cx="273177" cy="52578"/>
          </a:xfrm>
          <a:prstGeom prst="roundRect">
            <a:avLst>
              <a:gd name="adj" fmla="val 17391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7200" y="31089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457200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1572768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임박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1572768" y="36118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3474720" y="3200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“고객님, 이달 말 동의가 만료돼 연장 부탁드려요.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드릴게요.”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8293608" y="3291840"/>
            <a:ext cx="323697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421624" y="329184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신담보 기준으로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보장의 빈 곳을 알려줘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548640" y="4279392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3337560" y="4279392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183880" y="4279392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43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2522"/>
            <a:ext cx="868680" cy="79958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666404" y="4777376"/>
            <a:ext cx="812742" cy="164523"/>
          </a:xfrm>
          <a:prstGeom prst="roundRect">
            <a:avLst>
              <a:gd name="adj" fmla="val 5558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6" name="Text 41"/>
          <p:cNvSpPr txBox="1"/>
          <p:nvPr/>
        </p:nvSpPr>
        <p:spPr>
          <a:xfrm>
            <a:off x="457200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572768" y="43708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 그룹</a:t>
            </a:r>
            <a:endParaRPr lang="en-US" sz="1350" dirty="0"/>
          </a:p>
        </p:txBody>
      </p:sp>
      <p:sp>
        <p:nvSpPr>
          <p:cNvPr id="48" name="Text 43"/>
          <p:cNvSpPr txBox="1"/>
          <p:nvPr/>
        </p:nvSpPr>
        <p:spPr>
          <a:xfrm>
            <a:off x="1572768" y="469087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영업 기회 탭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3474720" y="4370832"/>
            <a:ext cx="167386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3474720" y="4370832"/>
            <a:ext cx="16738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안내 → 내 말로 풀기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3474720" y="4663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안내: 축하 인사로 대화를 열고 자연스럽게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점검으로 이어가기 좋은 시점입니다.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8321040" y="4334256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일반대화 추천 질문(틀)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8293608" y="4581144"/>
            <a:ext cx="3236976" cy="621792"/>
          </a:xfrm>
          <a:prstGeom prst="roundRect">
            <a:avLst>
              <a:gd name="adj" fmla="val 14706"/>
            </a:avLst>
          </a:prstGeom>
          <a:solidFill>
            <a:srgbClr val="E8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421624" y="4581144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#생일 임박, #나이대, #고객유형 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 안내 문자 문안을 작성해줘 …</a:t>
            </a:r>
            <a:endParaRPr lang="en-US" sz="1200" dirty="0"/>
          </a:p>
        </p:txBody>
      </p:sp>
      <p:sp>
        <p:nvSpPr>
          <p:cNvPr id="55" name="Shape 50"/>
          <p:cNvSpPr/>
          <p:nvPr/>
        </p:nvSpPr>
        <p:spPr>
          <a:xfrm>
            <a:off x="548640" y="5431536"/>
            <a:ext cx="11094415" cy="475488"/>
          </a:xfrm>
          <a:prstGeom prst="roundRect">
            <a:avLst>
              <a:gd name="adj" fmla="val 2692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822960" y="54315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300" dirty="0"/>
          </a:p>
        </p:txBody>
      </p:sp>
      <p:sp>
        <p:nvSpPr>
          <p:cNvPr id="57" name="Text 52"/>
          <p:cNvSpPr txBox="1"/>
          <p:nvPr/>
        </p:nvSpPr>
        <p:spPr>
          <a:xfrm>
            <a:off x="548640" y="598017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1번 김민수 · 2번 윤태기 고객 카드(이름·숫자는 예시) · 2번 빨간 네모 = 사전조회동의 D-90(이달 말 만료되는 가입설계동의와 별개) · 출처: MeAI 확정 화면 · 자세한 흐름: 1번 PART 7 시나리오 3, 2번 시나리오 2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정리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조건, 한 번만 제대로 읽어 두기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약속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한 장 정리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꼭 지킬 것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다섯 가지 약속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1·4번은 화면 하단 안내문에도 있음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검증 후 사용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있을 수 있음.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약관·증권으로 직접 확인한 뒤 안내.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5371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5371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입력 금지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5371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이름·연락처·주소·주민번호는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질문에도, 메모에도 넣지 않음.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0275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85139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철회된 고객은 막힘.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우회 말고 동의부터 받기.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책임은 사용자에게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없이 안내하면 금융소비자보호법 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법령상 책임은 사용자에게 있음.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5371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0235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외부 반출 금지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55371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답변·화면 캡처·이 가이드북,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제공·배포·게시 모두 금지.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904488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75320" y="3995928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 원문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"MeAI의 답변은 생성형 AI를 통해 작성되어 오류가 있을 수 있으므로, 반드시 직접 근거자료를 확인하여 진위를 검증하시기 바랍니다. 미검증으로 인한 금융소비자보호법 등 관련 법령상 책임은 사용자에게 있습니다."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FAQ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가장 많이 묻는 질문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아홉 개면 첫 주 질문은 대부분 해결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홈은 어디서 열리나?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PC 영업포탈에서 MeAI로 들어오면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열림(모바일은 순차 적용).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화면에선 왼쪽 위 [MeAI 홈]을 누르면 이동.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 안 보임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고객은 CRM 데이터 반입이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끝난 뒤부터 보임(게시판 공지).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추천은 매일 밤 새로 계산해 다음 날 반영.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4788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1847088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분이 아닌 것 같음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247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247802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추천은 지시가 아니라 "이유가 있는 고객".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그룹에서 직접 골라도 됨.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없는 고객은?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[고객 동의]나 [사전조회동의 요청하기]를 눌러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넣으면 알림톡 발송. 동의하면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안팎으로 반영, 90일 동안 맞춤대화 가능.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9768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9884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0060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팝업에 고객이 없거나 회색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988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팝업엔 동의가 유효한 고객만 나옴.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회색은 오늘 동의를 철회한 고객으로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정보를 볼 수 없음.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04672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4788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54964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내 고객 수와 다름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788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54964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홈에는 사전조회 동의일로부터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이내 고객만 보임(범례 안내).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데이터는 다음 날 반영.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있음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4980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5156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정상. 우선순위는 당월 영업 타겟 →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5건 이상·월 50만원 이상·상령일·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생일·동의 만료 → 보장 부족 순.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29768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9884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0060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대화를 폰에서 이어갈 수 있나?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9884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0060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가능. 대화 이력과 나의 질문이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PC·모바일에 똑같이 보임.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804672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너무 크거나 작음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[글씨 확대]를 끄면 원래 크기,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켜면 한 단계 커짐(기본 ON).</a:t>
            </a:r>
            <a:endParaRPr lang="en-US" sz="11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용어 정리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책에 나온 말, 한 장 정리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화면에 그대로 쓰이는 이름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937760"/>
                <a:gridCol w="35021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보나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MeAI에 들어오면 처음 열리는 화면. 추천 고객·고객 그룹·대화 카드가 한곳에 있음.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첫 화면 · 어느 화면이든 왼쪽 위 [MeAI 홈]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일반대화 · 맞춤대화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일반대화는 무엇이든 묻는 창. 맞춤대화는 선택한 고객의 보장 내역을 읽고 답변.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대화 카드(흰색 · 검은색)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 동의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내역 조회 동의. 동의일부터 90일 동안 MeAI 맞춤대화 가능.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D-n 칩 · MeAI 홈 "사전조회 동의 필요"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사전조회동의 D-n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동의 만료(90일)까지 남은 날. 만료되면 "필요", 철회하면 "철회".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카드 · 검색 팝업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노출 기간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 동의일로부터 1년 이내 고객만 MeAI 홈에 보임(맞춤대화 90일과 별개).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범례 안내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상품소개 동의 · AI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소개에 동의한 고객. 카드에 빨간 리본이 붙음.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"상품제안 가능" · 카드 리본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보유 · 가망 · 이관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있음 · 등록만 · 넘겨받음. 고객마다 셋 중 하나.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유형 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오늘의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이유가 붙은 카드 3장 × 세트 3개. 매일 밤 새로 계산해 다음 날 반영.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기준 · 영업 기회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그룹 탭. 보장 부족 7종 등 10개 / 날짜형 3개.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왼쪽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영업 목표 대상. 우선순위 1(보라 태그).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그룹 · 카드 태그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 나이가 한 살 오르는 날. 그 전에 가입하면 유리.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[상령일 임박]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고객 한눈에 보기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펼친 카드의 여섯 칸. 가입·납입·부족 금액 등.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간편 분석 · 상세 분석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모드. 일상 언어 / 약관·담보 정밀 비교.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대화 입력창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 설명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속 전문용어의 뜻을 목록으로 보여 줌.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입력창 오른쪽 위 · 모바일 오른쪽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글씨 확대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글씨를 한 단계 크게. 기본 ON, 이 PC에 기억됨.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홈·고객찾기·게시판 오른쪽 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48095" y="109728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896112"/>
            <a:ext cx="7193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896112"/>
            <a:ext cx="71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60576" y="896112"/>
            <a:ext cx="8717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60576" y="896112"/>
            <a:ext cx="871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42032" y="896112"/>
            <a:ext cx="7193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896112"/>
            <a:ext cx="71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71088" y="896112"/>
            <a:ext cx="10241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71088" y="896112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15087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나만의 영업비서,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“MeAI 홈” OPEN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 찾아가는 영업으로, MeAI가 함께합니다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572000"/>
            <a:ext cx="2892552" cy="36576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MeAI 홈 · 오늘 한 분께 연락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1232" y="4572000"/>
            <a:ext cx="1682496" cy="36576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61232" y="457200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세일즈혁신TF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5778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전부·일부(수정 포함) 외부 제공·배포·게시(온/오프라인) 금지. 미검증으로 인한 금융소비자보호법 등 관련 법령상 책임은 사용자에게 있음. 화면 속 고객 이름·숫자는 예시 데이터.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</dc:title>
  <dc:subject>PptxGenJS Presentation</dc:subject>
  <dc:creator>세일즈혁신TF</dc:creator>
  <cp:lastModifiedBy>세일즈혁신TF</cp:lastModifiedBy>
  <cp:revision>1</cp:revision>
  <dcterms:created xsi:type="dcterms:W3CDTF">2026-09-30T09:30:36Z</dcterms:created>
  <dcterms:modified xsi:type="dcterms:W3CDTF">2026-09-30T09:30:36Z</dcterms:modified>
</cp:coreProperties>
</file>