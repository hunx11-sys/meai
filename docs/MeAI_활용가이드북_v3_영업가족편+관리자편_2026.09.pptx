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v3는 10월 MeAI 대문(CRM) 오픈에 맞춘 판입니다. PART 3 화면은 가안이라 오픈 시 달라질 수 있음을 먼저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대상별 진입 파트. 영업가족은 1·2·4→5·6·7, 관리자는 1·9 순서로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첫 장. "이미 91%가 써봤다"에서 시작해 "다시 켜기"로 대화를 열어 주세요. 출처와 기간을 함께 말해 신뢰를 확보합니다.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전환 병목이 설계 단계였다는 점을 강조. 현장 화법 "고객 등록하고 MeAI만 켜면 설계까지는 거의 갑니다".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강도별 표. 예외 없이 한 방향임을 짚고, 10일 이상 구간의 숫자를 읽어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반론 3가지. 과장하지 않는 것이 신뢰를 만듭니다. "빨라진다"가 아니라 "성사된다".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 하나 더 → 2.3배. 이 가이드북의 존재 이유이자 이후 PART 5·6의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왜 대문인가. 보유고객 영업 시도 7% 미만, 이관고객 2% 미만이라는 문제에서 시작해 5단계 흐름을 설명합니다. 가안임을 다시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대문 화면 구성 5요소. 실제 프로토타입 화면입니다. 이름을 소리 내어 읽게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추천 카드 읽는 법. 이유 문장이 곧 첫 멘트라는 점, 태그 색 6종과 동의 상태 3종을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맞춤대화로 가는 두 길. 어느 길이든 고객 타겟팅이 끝난 상태로 대화가 열린다는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고객찾기 화면. 그룹 → 리스트 → 다음 행동의 3단 구조. 보장 기준 그룹과 영업 기회 그룹의 차이를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펼친 카드의 숫자 6개와 오른쪽 추천 질문. "MeAI에 이렇게 물어보세요"를 그대로 복사해 쓰는 시연을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게시판·고객 등록·동의. 사전조회 동의 필요 숫자가 곧 재취득 캠페인 목록임을 짚어 주세요. 모바일은 순차 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아침 3분 루틴. 10월 이후 조회에서 반복 안내할 습관입니다.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"AI 선배" 비유를 심어두고 이후 반복 회수합니다. 실습: 각자 폰에서 일반대화 열기.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일반대화 vs 맞춤대화 구분이 뼈대. 진입 버튼(PC 대문/모바일)을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image" Target="../media/image-66-5.png"/><Relationship Id="rId6" Type="http://schemas.openxmlformats.org/officeDocument/2006/relationships/image" Target="../media/image-6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548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0584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83464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10월, MeAI 대문이 열립니다.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>
                    <a:alpha val="9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고객을 MeAI가 먼저 추천하고, 대화까지 이어줍니다.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7947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37947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 + 관리자 편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0" y="3794760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3794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 · 최신 화면 기준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v3 · MeAI 대문(CRM) 가안 포함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32120" y="685800"/>
            <a:ext cx="3246120" cy="402336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41264" y="704088"/>
            <a:ext cx="3227832" cy="2743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0" y="777240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24728" y="777240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80176" y="777240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749808"/>
            <a:ext cx="233172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74980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</a:t>
            </a:r>
            <a:endParaRPr lang="en-US" sz="600" dirty="0"/>
          </a:p>
        </p:txBody>
      </p:sp>
      <p:sp>
        <p:nvSpPr>
          <p:cNvPr id="18" name="Text 16"/>
          <p:cNvSpPr txBox="1"/>
          <p:nvPr/>
        </p:nvSpPr>
        <p:spPr>
          <a:xfrm>
            <a:off x="5678424" y="1069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 | MeAI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5678424" y="12984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최현아</a:t>
            </a:r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님 안녕하세요,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도와드릴까요?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78424" y="1847088"/>
            <a:ext cx="1417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9864" y="18928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5769864" y="207568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약관·보장·상담 포인트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187184" y="1847088"/>
            <a:ext cx="1417320" cy="502920"/>
          </a:xfrm>
          <a:prstGeom prst="roundRect">
            <a:avLst>
              <a:gd name="adj" fmla="val 10909"/>
            </a:avLst>
          </a:prstGeom>
          <a:solidFill>
            <a:srgbClr val="3A3D42"/>
          </a:solidFill>
          <a:ln w="12700">
            <a:solidFill>
              <a:srgbClr val="3A3D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78624" y="18928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7278624" y="207568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보장 내역 기반 답변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5678424" y="2459736"/>
            <a:ext cx="29260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69864" y="25054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찾기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690104" y="2514600"/>
            <a:ext cx="822960" cy="201168"/>
          </a:xfrm>
          <a:prstGeom prst="roundRect">
            <a:avLst>
              <a:gd name="adj" fmla="val 27273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25146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 →</a:t>
            </a:r>
            <a:endParaRPr lang="en-US" sz="550" dirty="0"/>
          </a:p>
        </p:txBody>
      </p:sp>
      <p:sp>
        <p:nvSpPr>
          <p:cNvPr id="30" name="Text 28"/>
          <p:cNvSpPr txBox="1"/>
          <p:nvPr/>
        </p:nvSpPr>
        <p:spPr>
          <a:xfrm>
            <a:off x="5769864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769864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480" dirty="0"/>
          </a:p>
        </p:txBody>
      </p:sp>
      <p:sp>
        <p:nvSpPr>
          <p:cNvPr id="32" name="Text 30"/>
          <p:cNvSpPr txBox="1"/>
          <p:nvPr/>
        </p:nvSpPr>
        <p:spPr>
          <a:xfrm>
            <a:off x="6483096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483096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480" dirty="0"/>
          </a:p>
        </p:txBody>
      </p:sp>
      <p:sp>
        <p:nvSpPr>
          <p:cNvPr id="34" name="Text 32"/>
          <p:cNvSpPr txBox="1"/>
          <p:nvPr/>
        </p:nvSpPr>
        <p:spPr>
          <a:xfrm>
            <a:off x="7196328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196328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480" dirty="0"/>
          </a:p>
        </p:txBody>
      </p:sp>
      <p:sp>
        <p:nvSpPr>
          <p:cNvPr id="36" name="Text 34"/>
          <p:cNvSpPr txBox="1"/>
          <p:nvPr/>
        </p:nvSpPr>
        <p:spPr>
          <a:xfrm>
            <a:off x="7909560" y="27614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909560" y="2962656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480" dirty="0"/>
          </a:p>
        </p:txBody>
      </p:sp>
      <p:sp>
        <p:nvSpPr>
          <p:cNvPr id="38" name="Text 36"/>
          <p:cNvSpPr txBox="1"/>
          <p:nvPr/>
        </p:nvSpPr>
        <p:spPr>
          <a:xfrm>
            <a:off x="5678424" y="33101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678424" y="3538728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769864" y="35844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최수영 47세</a:t>
            </a:r>
            <a:endParaRPr lang="en-US" sz="650" dirty="0"/>
          </a:p>
        </p:txBody>
      </p:sp>
      <p:sp>
        <p:nvSpPr>
          <p:cNvPr id="41" name="Text 39"/>
          <p:cNvSpPr txBox="1"/>
          <p:nvPr/>
        </p:nvSpPr>
        <p:spPr>
          <a:xfrm>
            <a:off x="5769864" y="3767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해제가 5일 남았습니다.</a:t>
            </a:r>
            <a:endParaRPr lang="en-US" sz="520" dirty="0"/>
          </a:p>
        </p:txBody>
      </p:sp>
      <p:sp>
        <p:nvSpPr>
          <p:cNvPr id="42" name="Text 40"/>
          <p:cNvSpPr txBox="1"/>
          <p:nvPr/>
        </p:nvSpPr>
        <p:spPr>
          <a:xfrm>
            <a:off x="5769864" y="41056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#즉시연락 #이벤트 임박</a:t>
            </a:r>
            <a:endParaRPr lang="en-US" sz="500" dirty="0"/>
          </a:p>
        </p:txBody>
      </p:sp>
      <p:sp>
        <p:nvSpPr>
          <p:cNvPr id="43" name="Text 41"/>
          <p:cNvSpPr txBox="1"/>
          <p:nvPr/>
        </p:nvSpPr>
        <p:spPr>
          <a:xfrm>
            <a:off x="5769864" y="427024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고객찾기에서 열기 →</a:t>
            </a:r>
            <a:endParaRPr lang="en-US" sz="500" dirty="0"/>
          </a:p>
        </p:txBody>
      </p:sp>
      <p:sp>
        <p:nvSpPr>
          <p:cNvPr id="44" name="Shape 42"/>
          <p:cNvSpPr/>
          <p:nvPr/>
        </p:nvSpPr>
        <p:spPr>
          <a:xfrm>
            <a:off x="7187184" y="3538728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78624" y="35844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윤태기 35세</a:t>
            </a:r>
            <a:endParaRPr lang="en-US" sz="650" dirty="0"/>
          </a:p>
        </p:txBody>
      </p:sp>
      <p:sp>
        <p:nvSpPr>
          <p:cNvPr id="46" name="Text 44"/>
          <p:cNvSpPr txBox="1"/>
          <p:nvPr/>
        </p:nvSpPr>
        <p:spPr>
          <a:xfrm>
            <a:off x="7278624" y="3767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가입설계동의가 이달 말 만료됩니다.</a:t>
            </a:r>
            <a:endParaRPr lang="en-US" sz="520" dirty="0"/>
          </a:p>
        </p:txBody>
      </p:sp>
      <p:sp>
        <p:nvSpPr>
          <p:cNvPr id="47" name="Text 45"/>
          <p:cNvSpPr txBox="1"/>
          <p:nvPr/>
        </p:nvSpPr>
        <p:spPr>
          <a:xfrm>
            <a:off x="7278624" y="41056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#즉시연락 #보장 공백</a:t>
            </a:r>
            <a:endParaRPr lang="en-US" sz="500" dirty="0"/>
          </a:p>
        </p:txBody>
      </p:sp>
      <p:sp>
        <p:nvSpPr>
          <p:cNvPr id="48" name="Text 46"/>
          <p:cNvSpPr txBox="1"/>
          <p:nvPr/>
        </p:nvSpPr>
        <p:spPr>
          <a:xfrm>
            <a:off x="7278624" y="427024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고객찾기에서 열기 →</a:t>
            </a:r>
            <a:endParaRPr lang="en-US" sz="500" dirty="0"/>
          </a:p>
        </p:txBody>
      </p:sp>
      <p:pic>
        <p:nvPicPr>
          <p:cNvPr id="49" name="Image 0" descr="/tmp/claude-0/-home-user-MeAI/fc097454-2b30-54b4-8cdf-96642e2114b9/scratchpad/chars/01_dl-merry-b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3429000"/>
            <a:ext cx="868680" cy="1243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가이드북, 이렇게 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영업가족과 영업관리자가 함께 보는 책이에요. 필요한 파트부터 펼치세요.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 · 4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처음이라면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써야 하는지 숫자로 보고, MeAI가 무엇인지, 어디서 켜는지부터.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6 · 7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 3단계, 요약 리포트를 카카오톡으로 보내기까지.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177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006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(NEW)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열리는 대문이 궁금하다면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MeAI 대문과 고객찾기. 추천 고객에서 맞춤대화까지 한 흐름.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75120" y="1508760"/>
            <a:ext cx="1920240" cy="21488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7099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2313432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0" y="23134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9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본부장·지점장이라면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데이터, 누구부터 챙길지, 조회 자료로 쓰는 법, 4주 도입 플랜.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886200"/>
            <a:ext cx="8138160" cy="731520"/>
          </a:xfrm>
          <a:prstGeom prst="roundRect">
            <a:avLst>
              <a:gd name="adj" fmla="val 15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4041648"/>
            <a:ext cx="411480" cy="411480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397764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3의 MeAI 대문·고객찾기 화면은 가안이에요.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시 디자인과 문구가 달라질 수 있어요. 나머지 화면은 2026년 9월 기준 최신 화면이며, 예전 교육자료의 구버전 화면과는 다릅니다.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개 파트, 66장으로 정리했어요. 영업가족 편(1~8, 10)과 관리자 편(9)을 함께 담았어요.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1732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MeAI인가 · 숫자로 보기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14173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1732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MeAI, 이게 뭔가요?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14173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05740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EEF0"/>
          </a:solidFill>
          <a:ln w="9525">
            <a:solidFill>
              <a:srgbClr val="FFEE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057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· MeAI 대문과 고객찾기 (10월 오픈)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0574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205740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057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 · 접속과 화면 구성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20574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26974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26974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무엇이든 물어보기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269748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663440" y="26974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26974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고객 한 명을 위한 대화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909560" y="269748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333756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3375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325880" y="3337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카카오톡으로 보내기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749040" y="33375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333756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33375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3337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잘하는 법 · 프롬프트 기초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909560" y="33375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397764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EEECFC"/>
          </a:solidFill>
          <a:ln w="9525">
            <a:solidFill>
              <a:srgbClr val="EEECF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39776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1325880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 · 본부장·지점장을 위한 MeAI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749040" y="397764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97764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46320" y="39776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977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 · 주의사항 · FAQ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09560" y="397764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MeAI인가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데이터분석팀 분석. 쓰는 사람과 안 쓰는 사람의 차이가 숫자로 나왔어요.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 권한 부여자 12,043명의 사용 실태 (2025.10 ~ 2026.07)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236,971건 · 신규고객 46,086명 효과 분석 (2026.03 ~ 07)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"원래 될 고객이라 켠 것 아닌가?" 현장 반론에 대한 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이미 쓰고 있어요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분이 써봤고, 쓴 분의 계약이 2.8배 더 나왔어요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이미 손에 있어요. 남은 건 더 자주, 더 깊게 쓰는 일이에요.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7432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62.8만건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발화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 채널 전체 질문 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차이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75120" y="1463040"/>
            <a:ext cx="1920240" cy="2011680"/>
          </a:xfrm>
          <a:prstGeom prst="roundRect">
            <a:avLst>
              <a:gd name="adj" fmla="val 5714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0" y="16459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423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 간 비교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27249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3703320"/>
            <a:ext cx="8138160" cy="868680"/>
          </a:xfrm>
          <a:prstGeom prst="roundRect">
            <a:avLst>
              <a:gd name="adj" fmla="val 12632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번도 안 써본 분은 1,075명(8.9%)뿐이에요.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 가이드북의 목표는 "새로 가르치기"가 아니라, 켜 놓고 잠든 MeAI를 다시 켜고 한 번 더 깊게 쓰게 하는 것이에요.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461772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100명 중 35명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켠 고객은 거의 예외 없이 설계까지 갑니다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고객이 실제 계약까지 가는 비율. 전환의 병목이 "설계 단계"에 있었고, MeAI가 그 지점을 뚫었어요.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34924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고객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42,818명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3,268명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350008"/>
            <a:ext cx="79552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560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가계약 도달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0" y="2670048"/>
            <a:ext cx="784555" cy="237744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61995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28.6%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49240" y="2670048"/>
            <a:ext cx="2331720" cy="23774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127248"/>
            <a:ext cx="79552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도달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0" y="3447288"/>
            <a:ext cx="348386" cy="237744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25826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49240" y="3447288"/>
            <a:ext cx="971093" cy="237744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11773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35.4%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3904488"/>
            <a:ext cx="79552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40690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0690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가계약 도달률 3.0배  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28.6% → 85.0%. 체결보다 격차가 더 큽니다.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4069080"/>
            <a:ext cx="39776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46320" y="40690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 등록하고 MeAI만 켜면 설계까지는 거의 갑니다."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 · 신규 등록 고객 46,086명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쓸수록 올라갑니다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쓰느냐에 따라, 모든 지표가 한 방향으로 움직여요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한 달 MeAI 활동일 구간별 비교. 예외가 없습니다.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17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활동일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417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인원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4173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가계약(건)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417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매출자 평균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7190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17190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5,987명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1810512"/>
            <a:ext cx="825429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6061" y="17190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53.1%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0" y="1810512"/>
            <a:ext cx="264780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67132" y="17190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17190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256,194원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5800" y="21214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1762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1일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21762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1,835명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97480" y="2267712"/>
            <a:ext cx="1237366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07998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79.6%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0" y="2267712"/>
            <a:ext cx="513237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15589" y="21762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19.81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21762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310,383원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5800" y="25786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2~4일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783080" y="26334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2,487명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697480" y="2724912"/>
            <a:ext cx="1332189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02821" y="26334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2724912"/>
            <a:ext cx="682676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85028" y="26334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26.35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26334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328,237원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5800" y="30358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30906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5~9일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783080" y="30906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1,372명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697480" y="3182112"/>
            <a:ext cx="1437894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8526" y="30906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92.5%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0" y="3182112"/>
            <a:ext cx="996681" cy="164592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99033" y="30906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38.47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60920" y="30906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378,083원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85800" y="34930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493008"/>
            <a:ext cx="8092440" cy="457200"/>
          </a:xfrm>
          <a:prstGeom prst="roundRect">
            <a:avLst>
              <a:gd name="adj" fmla="val 12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35478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 이상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783080" y="35478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697480" y="3639312"/>
            <a:ext cx="1473647" cy="164592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244279" y="3547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94.8%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0" y="3639312"/>
            <a:ext cx="1425976" cy="164592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28328" y="3547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55.04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7360920" y="35478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408,166원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3950208"/>
            <a:ext cx="795528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2920" y="4069080"/>
            <a:ext cx="2606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40080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 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53.1% → 94.8%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246120" y="4069080"/>
            <a:ext cx="2606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5.4배  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10.22건 → 55.04건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5989320" y="4069080"/>
            <a:ext cx="2606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126480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매출자 평균 1.6배  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25.6만원 → 40.8만원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현장 반론에 답하기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"원래 될 고객이라 MeAI를 켠 거 아닌가요?"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나오는 세 가지 반론에, 데이터는 이렇게 답해요. 정확하게 말하면 오히려 더 잘 통해요.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572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될 고객이라 켠 것 아닌가요?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FP가 관리하는 고객끼리 비교했어요. 그래도 9.0% → 36.0%, 4배 차이가 납니다. FP 역량·조직·고객풀 차이로는 설명되지 않아요.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101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9.0%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31012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33101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730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FP별로 따로 세어도 MeAI 우세 229 : 동률 98 : 미활용 우세 71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148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29000" y="1627632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6276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72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더 빨라지나요?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속도는 크게 다르지 않아요. 소액 단순 건을 걷어내면 12일 vs 13일 수준. "빨라진다"가 아니라 "성사된다"로 말씀해 주세요.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29000" y="324612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33101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13일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331012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617720" y="33101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12일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520440" y="3730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소요일 · 미활용 vs 활용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3246120" y="41148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893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1627632"/>
            <a:ext cx="411480" cy="21945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72200" y="16276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1572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신인용 도구 아닌가요?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신인도 2배(16.0% → 33.0%)지만, 12차월을 넘은 기존 FP에서 격차가 더 큽니다. 10.0% → 38.6%, 3.9배. 경력자부터 권해도 되는 근거예요.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324612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33101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331012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360920" y="331012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38.6%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63640" y="3730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12차월 초과 기존 FP 체결전환율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989320" y="41148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가이드북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하나만 더 하면, 성과가 2.3배 달라져요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쓰고 끝내는 분이 2,156명이에요. 두 번째 질문을 하게 만드는 것이 이 책의 목적이에요.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63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프롬프트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인원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463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발화(건)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가계약(건)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7830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'보장분석 해줘' 하나만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7830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2,156명 (24.6%)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7830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77840" y="1901952"/>
            <a:ext cx="950184" cy="18288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19464" y="178308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35000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2개 사용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35000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1,892명 (21.6%)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35000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2468880"/>
            <a:ext cx="1348801" cy="18288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18081" y="235000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862072"/>
            <a:ext cx="8092440" cy="530352"/>
          </a:xfrm>
          <a:prstGeom prst="roundRect">
            <a:avLst>
              <a:gd name="adj" fmla="val 1034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91693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3개 이상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1693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4,629명 (52.7%)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06240" y="291693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0" y="3035808"/>
            <a:ext cx="2202302" cy="18288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71582" y="291693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27.79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15.7배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4005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0.9건 → 14.1건. 질문을 이어가는 사람은 대화 자체가 길어요.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46120" y="3611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290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가계약 2.3배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4005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 → 27.79건. 세 번째 질문부터 성과가 벌어져요.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89320" y="3611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191F28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부탁드릴 것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4005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버튼을 한 번 더. 이 책의 PART 5·6이 그 방법이에요.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 · 사용 경험자 8,778명 기준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뭔가요?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보험영업만 공부한 AI 선배가 24시간 옆에 있어요.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한 줄 정의와 할 수 있는 일 5가지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맞춤대화, 두 가지 대화의 차이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전문가에게 나눠 보내는 MeAI의 두뇌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보험영업만 공부한 'AI 선배'예요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보내듯 물어보면, 약관과 상품을 근거로 답해줘요. 컴퓨터가 서툴러도 괜찮아요.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5910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591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대기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10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새벽이든 주말이든, 고객 앞에서든 바로 물어볼 수 있어요.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249424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37744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3408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질문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5968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명령어는 없어요. 카톡 보내듯 쓰거나, 마이크로 말하면 돼요.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035808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16382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約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12724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있는 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383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약관과 상품 자료를 찾아 근거와 함께 답해요.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822192"/>
            <a:ext cx="4206240" cy="676656"/>
          </a:xfrm>
          <a:prstGeom prst="roundRect">
            <a:avLst>
              <a:gd name="adj" fmla="val 1351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9502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∞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91363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번이든 OK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41696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틀려도, 다시 물어도 지치지 않아요. 꼬리질문으로 깊이 파도 돼요.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57800" y="1325880"/>
            <a:ext cx="2194560" cy="3337560"/>
          </a:xfrm>
          <a:prstGeom prst="roundRect">
            <a:avLst>
              <a:gd name="adj" fmla="val 916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21808" y="1389888"/>
            <a:ext cx="2066544" cy="3209544"/>
          </a:xfrm>
          <a:prstGeom prst="roundRect">
            <a:avLst>
              <a:gd name="adj" fmla="val 7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5896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28" name="Text 26"/>
          <p:cNvSpPr txBox="1"/>
          <p:nvPr/>
        </p:nvSpPr>
        <p:spPr>
          <a:xfrm>
            <a:off x="674827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6080760" y="450799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44768" y="16459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779008" y="1947672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70448" y="1993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가입된 40대의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평균 보험료가 얼마야?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413248" y="2432304"/>
            <a:ext cx="1874520" cy="960120"/>
          </a:xfrm>
          <a:prstGeom prst="roundRect">
            <a:avLst>
              <a:gd name="adj" fmla="val 1142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04688" y="2478024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가입한 40대의 월 평균 보험료는 약 56.8만원이에요. 이 수치를 근거로 고객이 비갱신으로 전환하도록 설득하면 좋을 것 같아요.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5431536" y="3429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   ✎   ♡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413248" y="36850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20" dirty="0"/>
          </a:p>
        </p:txBody>
      </p:sp>
      <p:sp>
        <p:nvSpPr>
          <p:cNvPr id="37" name="Shape 35"/>
          <p:cNvSpPr/>
          <p:nvPr/>
        </p:nvSpPr>
        <p:spPr>
          <a:xfrm>
            <a:off x="5413248" y="3895344"/>
            <a:ext cx="1874520" cy="20116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13248" y="38953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보험료를 줄일 때 꼭 비갱신으로 유지해야 할 보장은?</a:t>
            </a:r>
            <a:endParaRPr lang="en-US" sz="550" dirty="0"/>
          </a:p>
        </p:txBody>
      </p:sp>
      <p:sp>
        <p:nvSpPr>
          <p:cNvPr id="39" name="Shape 37"/>
          <p:cNvSpPr/>
          <p:nvPr/>
        </p:nvSpPr>
        <p:spPr>
          <a:xfrm>
            <a:off x="5413248" y="4206240"/>
            <a:ext cx="18745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04688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42062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040880" y="4242816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57800" y="46817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MeAI 모바일 대화 화면 예시</a:t>
            </a:r>
            <a:endParaRPr lang="en-US" sz="800" dirty="0"/>
          </a:p>
        </p:txBody>
      </p:sp>
      <p:pic>
        <p:nvPicPr>
          <p:cNvPr id="44" name="Image 0" descr="/tmp/claude-0/-home-user-MeAI/fc097454-2b30-54b4-8cdf-96642e2114b9/scratchpad/chars/05_dl-indi-a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383280"/>
            <a:ext cx="777240" cy="121615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할 수 있는 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해주는 일, 다섯 가지만 기억하세요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다섯 가지가 MeAI 화면의 메뉴와 버튼 이름 그대로예요.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검색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상품·특약·약관·의학 용어를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눈높이로 설명해줘요.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 355가 무슨 뜻이야?"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4884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1343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31343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31343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담보를 표로 비교하고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차이점을 정리해줘요.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vs 통합암진단비 비교해줘"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79476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5935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5935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◔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95935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95935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가입 내역을 읽고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보장을 찾아줘요.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93192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2336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4068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60527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0527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60527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상세설계·가계약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0527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요청하면 담보 구성안을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 설계를 도와줘요.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"암통합치료비 3천만원 추가한 설계안"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086600" y="146304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51192" y="16459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5119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▤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251192" y="2240280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251192" y="2542032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내용을 리포트로 만들어</a:t>
            </a:r>
            <a:endParaRPr lang="en-US" sz="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보내줘요.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23760" y="3337560"/>
            <a:ext cx="1261872" cy="621792"/>
          </a:xfrm>
          <a:prstGeom prst="roundRect">
            <a:avLst>
              <a:gd name="adj" fmla="val 1176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0" y="3383280"/>
            <a:ext cx="1078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 생성] 버튼 한 번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덤으로 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왼쪽 메뉴의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 전사 약관 원문을 상품명으로 바로 찾을 수 있고, </a:t>
            </a:r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월별로 자동 저장돼요.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두 가지 대화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일반대화와 맞춤대화, 두 가지만 구분하면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묻는 대화와, 특정 고객의 보장분석을 옆에 두고 하는 대화예요.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특정하지 않아요. 상품·특약 개념, 화법, 약관 지식, 보장 비교 등 공부하고 준비할 때 써요.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43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7432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017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301752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291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291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566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56616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931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진입: PC MeAI 대문 [일반대화] · 모바일 고객 목록 상단 [MeAI 일반대화]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463040"/>
            <a:ext cx="397764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92040" y="169164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9204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무엇을 팔 것인가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보장분석 데이터를 MeAI가 함께 봐요. 부족한 보장 찾기, 제안 준비, 리포트 발송까지 이어져요.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2743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74320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 → 보장분석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3017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301752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보장·제안 우선순위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291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329184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상세설계·가계약 요청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3566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566160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92040" y="3931920"/>
            <a:ext cx="3520440" cy="384048"/>
          </a:xfrm>
          <a:prstGeom prst="roundRect">
            <a:avLst>
              <a:gd name="adj" fmla="val 1904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0" y="39319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진입: PC MeAI 대문 [맞춤대화]·고객찾기 · 모바일 고객 카드 [MeAI]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59028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고객을 만나기 전에는 꼭 맞춤대화로 준비하세요.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MeAI의 두뇌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알아서 나눠, 딱 맞는 전문가에게 보내요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병원의 안내 데스크처럼 질문의 의도를 읽고, 전문가별 답을 하나로 합쳐 돌려줘요.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691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질문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20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"C34 뭐야?"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77440" y="160020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77440" y="16916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데스크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20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의도 파악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나누기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251960" y="13258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44752"/>
            <a:ext cx="146304" cy="146304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1325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지식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1325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C34가 어떤 질환군인지 정의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251960" y="17830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0832" y="1901952"/>
            <a:ext cx="146304" cy="14630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7830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전문가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질환의 약관상 보장 범위·면책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51960" y="22402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2359152"/>
            <a:ext cx="146304" cy="146304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17720" y="22402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 전문가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고지 항목과 인수심사 유의점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251960" y="2697480"/>
            <a:ext cx="2514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2816352"/>
            <a:ext cx="146304" cy="146304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2697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전문가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39496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설명할 화법·제안 포인트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19659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022592" y="1600200"/>
            <a:ext cx="1618488" cy="1051560"/>
          </a:xfrm>
          <a:prstGeom prst="roundRect">
            <a:avLst>
              <a:gd name="adj" fmla="val 10435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22592" y="1691640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답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022592" y="192024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정리된 답변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꼬리질문 제안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058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물어도 돼요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"C34 뭐야?" 다섯 글자에도 세 전문가의 답이 합쳐져 와요.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290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4290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7490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덧붙이면 더 정확해요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4290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"50대 남성 고객, 폐암 진단 후 보장 확인"처럼 배경을 주면 답이 더 뾰족해져요.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989320" y="32918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72200" y="3456432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72200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물어볼 질문까지 제안해요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3794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버튼을 누르면 타이핑 없이 다음 대화로 이어져요.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· MeAI 대문과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(CRM)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MeAI가 오늘 만날 고객을 먼저 추천하고, 대화까지 바로 이어줘요.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"찾는 영업"에서 "도착하는 영업"으로 바뀌는 이유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화면 구성 · 추천 고객 카드 읽는 법 · 태그와 동의 상태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 → 맞춤대화 · 고객찾기 그룹 → 이 고객으로 맞춤대화 시작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고객 등록 · 대문에서 시작하는 하루 3분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4526280"/>
            <a:ext cx="3291840" cy="23774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4526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가안이에요. 오픈 시 달라질 수 있어요.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왜 대문인가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"찾는 영업"에서 "도착하는 영업"으로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실제로 영업을 시도하는 비율은 7% 미만, 이관 고객은 2% 미만이에요. 누구에게 연락할지 고르는 일을 MeAI가 대신해요.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컨텍스트 수집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계약·보상·부담보·VOC·유지·가족·지역 정보를 모아요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4884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그루핑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 이상 세그먼트 규칙으로 매일 다시 계산해요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9476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3192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넛지 전달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3192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 + 이유 + 첫 멘트를 대문 카드로 아침마다 보여줘요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4068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7784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실행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원클릭으로 고객찾기 → 맞춤대화 → 리포트까지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103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086600" y="1508760"/>
            <a:ext cx="1481328" cy="16002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2376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2376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피드백 학습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2240280"/>
            <a:ext cx="1261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 결과와 다음 제안을 더 정확하게 만들어요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" y="32918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3703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연락할지 고르는 시간을 없애고, 설계사는 고객을 만나는 일에 집중해요.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46120" y="32918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4290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타겟에는 반드시 이유가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3429000" y="3703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 해제가 5일 남았습니다"처럼 연락 사유가 한 문장으로 붙어요. 첫 말을 고민할 필요가 없어요.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89320" y="32918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7220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제로 클릭 시작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172200" y="3703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[MeAI 고객찾기에서 열기] → [이 고객으로 맞춤대화 시작]. 고객 타겟팅이 끝난 상태로 대화가 열려요.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대문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대문, 한 화면에 오늘 할 일이 다 있어요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영업포탈에서 MeAI로 들어오면 이 화면이 먼저 열려요. 위에서 아래로 세 덩어리예요.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379476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977640" y="1481328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7764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977640" y="2359152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7764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29184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7764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108960" y="141732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896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0120" y="443484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26280" y="13898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873752" y="137160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일반대화 · 맞춤대화 카드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873752" y="164592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안녕하세요, 무엇을 도와드릴까요?" 아래 두 카드. 일반대화는 약관·보장·상담 포인트, 맞춤대화는 고객 보장 내역 기반 답변. 맞춤대화를 누르면 고객 검색 팝업이 떠요.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526280" y="205740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057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873752" y="2039112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찾기 (숫자 4개)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873752" y="231343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 · 맞춤대화 가능 · 사전조회 동의 필요 · 상품제안 가능. 매일 아침 6시 기준으로 갱신돼요. [MeAI 고객찾기 →] 버튼으로 그룹 화면으로 이동.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526280" y="272491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2628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873752" y="2706624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873752" y="298094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한 문장으로 붙은 고객 카드. 태그와 사전조회동의 남은 일수가 함께 보여요. 좌우 화살표로 넘겨보고, 카드의 [MeAI 고객찾기에서 열기]로 들어가요.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26280" y="3392424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52628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4873752" y="337413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 · 게시판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4873752" y="36484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위. 가망 고객을 새로 등록하고, 게시판에서 공지·이슈·기능안내를 확인해요. 빨간 점은 새 글 표시.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26280" y="4059936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26280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873752" y="4041648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 안내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873752" y="431596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 아래 범례. 태그 색 6종, 사전조회 동의 상태, 고객 유형(보유·가망·이관)의 뜻이 적혀 있어요. 다음 장에서 자세히.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추천 고객 카드 읽는 법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장에 "누구 · 왜 · 언제까지"가 다 들어 있어요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카드를 읽을 수 있으면 대문의 절반은 끝이에요.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3017520" cy="2377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155448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14884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5760" y="272491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5760" y="30175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429000" y="356616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29000" y="3566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94760" y="13898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142232" y="137160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142232" y="164592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/ 가망 / 이관 중 하나. 담당자 표시.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3794760" y="19385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94760" y="19385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142232" y="192024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한 문장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142232" y="219456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 해제가 5일 남았습니다. 해제 시점에 맞춰 재설계 여지가 생깁니다." 첫 멘트로 그대로 써도 돼요.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3794760" y="248716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476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142232" y="246888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(색으로 성격 구분)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142232" y="274320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즉시연락·이벤트 임박처럼 지금 왜 이 고객인지 알려줘요.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3794760" y="30358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9476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4142232" y="301752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D-25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142232" y="32918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만료까지 남은 날. 만료면 "사전조회동의 필요"로 바뀌고 재취득부터 해야 해요.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3794760" y="358444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794760" y="3584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142232" y="3566160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고객찾기에서 열기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4142232" y="384048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화면의 이 고객 카드로 바로 이동. 거기서 맞춤대화 시작.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6446520" y="1371600"/>
            <a:ext cx="2194560" cy="3291840"/>
          </a:xfrm>
          <a:prstGeom prst="roundRect">
            <a:avLst>
              <a:gd name="adj" fmla="val 4167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1463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6종 · 색으로 읽어요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583680" y="1783080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583680" y="178308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7360920" y="178308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있어요</a:t>
            </a:r>
            <a:endParaRPr lang="en-US" sz="730" dirty="0"/>
          </a:p>
        </p:txBody>
      </p:sp>
      <p:sp>
        <p:nvSpPr>
          <p:cNvPr id="43" name="Shape 40"/>
          <p:cNvSpPr/>
          <p:nvPr/>
        </p:nvSpPr>
        <p:spPr>
          <a:xfrm>
            <a:off x="6583680" y="2112264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583680" y="2112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타겟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7360920" y="211226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730" dirty="0"/>
          </a:p>
        </p:txBody>
      </p:sp>
      <p:sp>
        <p:nvSpPr>
          <p:cNvPr id="46" name="Shape 43"/>
          <p:cNvSpPr/>
          <p:nvPr/>
        </p:nvSpPr>
        <p:spPr>
          <a:xfrm>
            <a:off x="6583680" y="2441448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83680" y="24414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임박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7360920" y="24414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만기·해제·상령일이 코앞</a:t>
            </a:r>
            <a:endParaRPr lang="en-US" sz="730" dirty="0"/>
          </a:p>
        </p:txBody>
      </p:sp>
      <p:sp>
        <p:nvSpPr>
          <p:cNvPr id="49" name="Shape 46"/>
          <p:cNvSpPr/>
          <p:nvPr/>
        </p:nvSpPr>
        <p:spPr>
          <a:xfrm>
            <a:off x="6583680" y="277063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583680" y="277063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즉시연락</a:t>
            </a:r>
            <a:endParaRPr lang="en-US" sz="700" dirty="0"/>
          </a:p>
        </p:txBody>
      </p:sp>
      <p:sp>
        <p:nvSpPr>
          <p:cNvPr id="51" name="Text 48"/>
          <p:cNvSpPr txBox="1"/>
          <p:nvPr/>
        </p:nvSpPr>
        <p:spPr>
          <a:xfrm>
            <a:off x="7360920" y="277063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전화해야 하는 고객</a:t>
            </a:r>
            <a:endParaRPr lang="en-US" sz="730" dirty="0"/>
          </a:p>
        </p:txBody>
      </p:sp>
      <p:sp>
        <p:nvSpPr>
          <p:cNvPr id="52" name="Shape 49"/>
          <p:cNvSpPr/>
          <p:nvPr/>
        </p:nvSpPr>
        <p:spPr>
          <a:xfrm>
            <a:off x="6583680" y="3099816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583680" y="3099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영업타이밍</a:t>
            </a:r>
            <a:endParaRPr lang="en-US" sz="700" dirty="0"/>
          </a:p>
        </p:txBody>
      </p:sp>
      <p:sp>
        <p:nvSpPr>
          <p:cNvPr id="54" name="Text 51"/>
          <p:cNvSpPr txBox="1"/>
          <p:nvPr/>
        </p:nvSpPr>
        <p:spPr>
          <a:xfrm>
            <a:off x="7360920" y="3099816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제안하기 좋은 시점</a:t>
            </a:r>
            <a:endParaRPr lang="en-US" sz="730" dirty="0"/>
          </a:p>
        </p:txBody>
      </p:sp>
      <p:sp>
        <p:nvSpPr>
          <p:cNvPr id="55" name="Shape 52"/>
          <p:cNvSpPr/>
          <p:nvPr/>
        </p:nvSpPr>
        <p:spPr>
          <a:xfrm>
            <a:off x="6583680" y="3429000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583680" y="342900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관리타이밍</a:t>
            </a:r>
            <a:endParaRPr lang="en-US" sz="700" dirty="0"/>
          </a:p>
        </p:txBody>
      </p:sp>
      <p:sp>
        <p:nvSpPr>
          <p:cNvPr id="57" name="Text 54"/>
          <p:cNvSpPr txBox="1"/>
          <p:nvPr/>
        </p:nvSpPr>
        <p:spPr>
          <a:xfrm>
            <a:off x="7360920" y="34290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이탈위험·민원 등 관리 필요</a:t>
            </a:r>
            <a:endParaRPr lang="en-US" sz="730" dirty="0"/>
          </a:p>
        </p:txBody>
      </p:sp>
      <p:sp>
        <p:nvSpPr>
          <p:cNvPr id="58" name="Shape 55"/>
          <p:cNvSpPr/>
          <p:nvPr/>
        </p:nvSpPr>
        <p:spPr>
          <a:xfrm>
            <a:off x="6583680" y="3794760"/>
            <a:ext cx="192024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583680" y="38587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 3종</a:t>
            </a:r>
            <a:endParaRPr lang="en-US" sz="850" dirty="0"/>
          </a:p>
        </p:txBody>
      </p:sp>
      <p:sp>
        <p:nvSpPr>
          <p:cNvPr id="60" name="Text 57"/>
          <p:cNvSpPr txBox="1"/>
          <p:nvPr/>
        </p:nvSpPr>
        <p:spPr>
          <a:xfrm>
            <a:off x="6583680" y="40416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  유효 · 남은 일수</a:t>
            </a:r>
            <a:endParaRPr lang="en-US" sz="7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 만료 · 재취득</a:t>
            </a:r>
            <a:endParaRPr lang="en-US" sz="7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7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  정보 확인 불가</a:t>
            </a:r>
            <a:endParaRPr lang="en-US" sz="730" dirty="0"/>
          </a:p>
        </p:txBody>
      </p:sp>
      <p:sp>
        <p:nvSpPr>
          <p:cNvPr id="61" name="Text 5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맞춤대화 시작 두 가지 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맞춤대화로 가는 길은 두 개예요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누구를 만날지 고민이면 고객찾기. 어느 길이든 고객이 정해진 상태로 대화가 열려요.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2880360" cy="32735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11880" y="1371600"/>
            <a:ext cx="5029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794760" y="150876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4760" y="1508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14904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[맞춤대화] 카드 → 고객 검색 팝업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94760" y="1874520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94760" y="18745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4096512" y="18288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입력하면 내 고객 목록이 좁혀져요 (예: 홍길동).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794760" y="2203704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22037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4096512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줄에 사전조회동의 D-n이 보여요. 철회·만료 고객은 회색으로 표시돼요.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794760" y="2532888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25328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096512" y="248716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[맞춤대화] 버튼을 누르면 팝업이 닫히고 그 고객의 맞춤대화가 시작돼요.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611880" y="3063240"/>
            <a:ext cx="5029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794760" y="320040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94760" y="32004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4709160" y="3182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· 고객찾기 → [이 고객으로 맞춤대화 시작]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794760" y="3566160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94760" y="35661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096512" y="35204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카드에서 [MeAI 고객찾기에서 열기].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794760" y="3895344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9476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096512" y="384962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카드가 펼쳐지고 오른쪽에 "MeAI에 이렇게 물어보세요" 추천 질문이 떠요.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794760" y="4224528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794760" y="42245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4096512" y="417880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 → 고객 타겟팅이 끝난 상태로 맞춤대화 화면에 진입해요.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고객찾기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DB를 MeAI가 그룹으로 다시 묶어줘요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35명"처럼 그룹을 누르면 그 조건의 고객만 나열돼요. 조건과 인원이 매일 아침 갱신돼요.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proto_MG-FIND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120640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65760" y="173736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737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31720" y="132588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31720" y="1325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160020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77640" y="1600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32120" y="2788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852160" y="13898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3716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 (왼쪽)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199632" y="164592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 / 보장 기준(암·뇌·심진단비 부족, 표적항암 부족, 종수술비 부족, 지원일당 없음, 치아 부족) / 영업 기회(당월 영업 타겟, 증권 5건 이상, 월 50만원 이상, 상령일·생일 D-n 등)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52160" y="219456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52160" y="2194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6199632" y="2176272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199632" y="2450592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또는 조건으로 바로 검색 (예: 홍길동, 암진단비)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5852160" y="2999232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2160" y="2999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6199632" y="2980944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리스트 (가운데)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199632" y="3255264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 한 줄 + 고객마다 연락 이유 한 문장 + 동의 상태. AI 추천 고객 리본이 붙은 카드부터 보세요.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5852160" y="3803904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852160" y="3803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199632" y="3785616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 (오른쪽)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4059936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고객에게 물어볼 추천 질문과 [보장분석] [이 고객으로 맞춤대화 시작] 버튼</a:t>
            </a:r>
            <a:endParaRPr lang="en-US" sz="78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고객 카드와 다음 행동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펼치면 숫자 6개, 오른쪽에는 물어볼 질문까지 준비돼요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 한눈에 보기"로 상황을 잡고, 추천 질문을 복사해 맞춤대화로 들어가면 3분이면 준비가 끝나요.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find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4572000" cy="2468880"/>
          </a:xfrm>
          <a:prstGeom prst="rect">
            <a:avLst/>
          </a:prstGeom>
        </p:spPr>
      </p:pic>
      <p:pic>
        <p:nvPicPr>
          <p:cNvPr id="8" name="Image 1" descr="/tmp/claude-0/-home-user-MeAI/fc097454-2b30-54b4-8cdf-96642e2114b9/scratchpad/crm/find_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3337560" cy="2788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38587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고객 카드 · 이 고객 한눈에 보기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4178808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 · 다음 행동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75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411480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 3건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2039112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953512" y="411480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142만원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575304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4489704" y="411480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계약변경조회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43891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438912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39112" y="43891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2953512" y="438912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575304" y="43891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489704" y="4389120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미확인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303520" y="4389120"/>
            <a:ext cx="3337560" cy="274320"/>
          </a:xfrm>
          <a:prstGeom prst="roundRect">
            <a:avLst>
              <a:gd name="adj" fmla="val 2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질문은 일반대화용·맞춤대화용 두 가지. 그대로 복사해 쓰면 돼요.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게시판 · 고객 등록 · 동의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가망 고객은 등록으로, 동의는 D-n으로 챙겨요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오른쪽 위 두 버튼과, 카드마다 붙는 동의 상태만 알면 나머지는 자연스럽게 따라와요.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proto_MG-BOARD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4023360" cy="2514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39136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공지사항 / 이슈 / 기능안내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754880" y="1371600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50876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508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17922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공지사항(대문 오픈, 동의 절차 변경) · 이슈(응답 지연, 결과 누락 조치) · 기능안내(고객찾기 사용법, 일반·맞춤대화 구분). 새 글은 대문 버튼에 빨간 점.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4754880" y="2468880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92040" y="260604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26060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8895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오른쪽 위 [고객 등록]. 새 가망 고객을 등록하면 고객찾기의 "신규 등록 고객" 그룹에 들어가요. 등록 후 사전조회 동의를 받아야 맞춤대화가 가능해요.</a:t>
            </a:r>
            <a:endParaRPr lang="en-US" sz="830" dirty="0"/>
          </a:p>
        </p:txBody>
      </p:sp>
      <p:sp>
        <p:nvSpPr>
          <p:cNvPr id="17" name="Shape 14"/>
          <p:cNvSpPr/>
          <p:nvPr/>
        </p:nvSpPr>
        <p:spPr>
          <a:xfrm>
            <a:off x="4754880" y="3566160"/>
            <a:ext cx="38862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892040" y="37033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92040" y="37033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398678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상태는 준실시간(약 15분)으로 반영돼요. "사전조회 동의 필요" 숫자(예: 186명)는 동의 재취득 캠페인 목록이에요. 철회 고객은 정보 확인이 막혀요.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502920" y="4160520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41605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대문·고객찾기는 이후 순차 적용 예정이에요. 우선 PC에서 열어보세요.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대문에서 시작하는 하루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3분, 대문만 열면 오늘 연락할 사람과 첫 말이 정해져요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권해 드리는 아침 루틴이에요. 익숙해지면 정말 3분이에요.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56032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MeAI. 내 고객 숫자 4개를 훑어요. "사전조회 동의 필요"가 늘었는지 확인.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404872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60320" y="14630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▤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3장 읽기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256032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카드의 이유 문장과 태그를 읽어요. 즉시연락·이벤트 임박부터.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17720" y="14630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56032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→ 펼친 카드의 숫자 6개로 상황 파악. 추천 질문 복사.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675120" y="14630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580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5236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2240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256032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 → "보장분석 해줘" → 꼬리질문 → 요약 리포트를 카카오톡으로.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4023360"/>
            <a:ext cx="8138160" cy="621792"/>
          </a:xfrm>
          <a:prstGeom prst="roundRect">
            <a:avLst>
              <a:gd name="adj" fmla="val 1470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402336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카드의 이유 문장은 고객에게 하는 첫 말이 되고, 오른쪽 추천 질문은 MeAI에게 하는 첫 질문이 돼요. 두 문장이 준비돼 있으니 망설일 이유가 없어요.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시작하기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접속과 화면 구성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PC와 모바일, 어디서 켜고 어디를 누르는지 알아봐요.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PC와 모바일 두 가지 접속 방법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앱에서 MeAI로 들어가는 3단계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화면과 모바일 화면의 구성 요소 이름 익히기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접속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PC에서도, 핸드폰에서도 똑같이 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기능은 같아요. 사무실에서는 PC, 고객 앞에서는 모바일이 편해요.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9164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9842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 대문 → 일반대화 / 맞춤대화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688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화면으로 표와 리포트 보기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834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834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메뉴에서 약관 검색·대화 이력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200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편집과 복사가 편해요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5661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대문의 추천 고객·고객찾기에서 바로 연결 (10월~)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1463040"/>
            <a:ext cx="3977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92040" y="169164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691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198424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영업지원모바일 app → 보장분석 → MeAI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24688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폰만 꺼내면 끝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2834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2834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말하면 질문 완성(음성 입력)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3200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버튼으로 맞춤대화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35661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3566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 카카오톡으로 바로 발송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384048"/>
          </a:xfrm>
          <a:prstGeom prst="roundRect">
            <a:avLst>
              <a:gd name="adj" fmla="val 2381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34340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이력과 저장한 나의 질문은 PC와 모바일에서 똑같이 보여요. 사무실에서 준비하고, 현장에서 이어가세요.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모바일 진입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핸드폰에서 MeAI 켜는 법, 딱 세 번 터치예요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영업지원모바일 app 홈에서 시작해요. 실제 화면이에요.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shots/entry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600200" cy="3246120"/>
          </a:xfrm>
          <a:prstGeom prst="rect">
            <a:avLst/>
          </a:prstGeom>
        </p:spPr>
      </p:pic>
      <p:pic>
        <p:nvPicPr>
          <p:cNvPr id="6" name="Image 1" descr="/tmp/claude-0/-home-user-MeAI/fc097454-2b30-54b4-8cdf-96642e2114b9/scratchpad/shots/entry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371600"/>
            <a:ext cx="1691640" cy="3246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65760" y="233172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6576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023360" y="228600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2336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023360" y="3081528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023360" y="3081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64515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377440" y="464515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③ 고객 목록(보장분석)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43484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3484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782312" y="146304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홈에서 [보장분석] 아이콘 터치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4782312" y="173736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 아이콘 묶음의 첫 번째가 보장분석이에요. 여기가 MeAI로 들어가는 문이에요.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43484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43484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4782312" y="233172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[MeAI 일반대화] = 무엇이든 묻는 창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4782312" y="260604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고객등록 버튼 옆에 있어요. 고객을 정하지 않은 공부·비교 질문은 여기서.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443484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43484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782312" y="3200400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= 그 고객 맞춤대화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4782312" y="3474720"/>
            <a:ext cx="3767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고객마다 붙어 있는 보라색 MeAI 버튼을 누르면, 그 고객의 보장분석을 옆에 둔 맞춤대화가 열려요.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4434840" y="4069080"/>
            <a:ext cx="4114800" cy="566928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0" y="406908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상단에 </a:t>
            </a:r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보장분석 활용 : 3회 (제한 횟수 : 일일 300회)"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보여요. 하루 사용 한도가 표시되는 곳이니 참고하세요.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0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PC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화면, 이름부터 익혀두면 헤매지 않아요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메뉴, 가운데는 대화, 아래는 입력창. 세 덩어리예요.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349240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389888"/>
            <a:ext cx="5330952" cy="27432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5528" y="1463040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" y="1463040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1435608"/>
            <a:ext cx="443484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1435608"/>
            <a:ext cx="4251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MeritzFire Sales AI · MeAI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512064" y="1664208"/>
            <a:ext cx="1325880" cy="3026664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" y="177393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meritz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563624" y="17739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⊟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" y="21671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약관 검색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" y="2395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 사용 가이드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" y="27614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</a:t>
            </a:r>
            <a:endParaRPr lang="en-US" sz="6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" y="296265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New_chat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" y="316382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남성 암보험 비교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" y="336499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간편심사 상품 고지 항목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" y="36301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" y="383133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화법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" y="403250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 세대별 차이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21792" y="430682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43068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  ⊕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2020824" y="19842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
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719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도와드릴까요?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2020824" y="2715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일도 할 수 있어요. 아래 질문 예시를 클릭해서 바로 대화를 시작해 보세요!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020824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20824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보장 비교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990088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90088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지식 검색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3959352" y="2962656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959352" y="29626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자주하는 질문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2020824" y="32369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이해할 수 있게 비교해줘</a:t>
            </a:r>
            <a:endParaRPr lang="en-US" sz="630" dirty="0"/>
          </a:p>
        </p:txBody>
      </p:sp>
      <p:sp>
        <p:nvSpPr>
          <p:cNvPr id="35" name="Text 33"/>
          <p:cNvSpPr txBox="1"/>
          <p:nvPr/>
        </p:nvSpPr>
        <p:spPr>
          <a:xfrm>
            <a:off x="2020824" y="3456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타사의 일반적인 1회성 표적항암약물 담보보다 더 좋은 이유를 설명해줘</a:t>
            </a:r>
            <a:endParaRPr lang="en-US" sz="630" dirty="0"/>
          </a:p>
        </p:txBody>
      </p:sp>
      <p:sp>
        <p:nvSpPr>
          <p:cNvPr id="36" name="Text 34"/>
          <p:cNvSpPr txBox="1"/>
          <p:nvPr/>
        </p:nvSpPr>
        <p:spPr>
          <a:xfrm>
            <a:off x="2020824" y="36758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암진단및치료비가 가지는 상품경쟁력을 타사 암진단비와 비교해서 설명해줘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2020824" y="3995928"/>
            <a:ext cx="370332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130552" y="39959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업무와 관련하여 궁금한 점을 자유롭게 질문해 주세요.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5221224" y="399592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449824" y="4059936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49824" y="40599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2020824" y="437997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MeAI의 답변은 생성형 AI를 통해 작성되어 오류가 있을 수 있으므로, 반드시 직접 근거자료를 확인하여 진위를 검증하시기 바랍니다.</a:t>
            </a:r>
            <a:endParaRPr lang="en-US" sz="500" dirty="0"/>
          </a:p>
        </p:txBody>
      </p:sp>
      <p:sp>
        <p:nvSpPr>
          <p:cNvPr id="43" name="Shape 41"/>
          <p:cNvSpPr/>
          <p:nvPr/>
        </p:nvSpPr>
        <p:spPr>
          <a:xfrm>
            <a:off x="1655064" y="212140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655064" y="2121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655064" y="292608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55064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655064" y="425196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655064" y="4251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175504" y="2926080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175504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084064" y="381304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84064" y="3813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80760" y="138988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080760" y="13898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428232" y="13716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428232" y="16459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약관을 상품명으로 검색하고, 화면 안내(사용 가이드)를 다시 볼 수 있어요.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080760" y="2057400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080760" y="2057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428232" y="2039112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428232" y="2313432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대화가 월별로 자동 저장돼요. 클릭하면 그 대화를 이어서 할 수 있어요.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080760" y="2724912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080760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27066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28232" y="2980944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 대화를 열어요. 이전 대화와 섞이지 않아 답이 정확해요.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80760" y="3392424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08076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337413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36484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세 탭. 예시를 클릭하면 바로 답변이 시작돼요.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080760" y="4059936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080760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6428232" y="404164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· 마이크 · 전송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428232" y="43159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입력하거나 마이크로 말해요. 아래 안내문처럼 답은 꼭 근거 확인 후 사용해요.</a:t>
            </a:r>
            <a:endParaRPr lang="en-US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모바일 화면 구성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화면은 더 단순해요. 버튼 네 개만 알면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화면 기준이에요. 맞춤대화는 상단 버튼이 두 개 더 생겨요(PART 6).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45059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76022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38528" y="1664208"/>
            <a:ext cx="5303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38528" y="16642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2514600" y="1664208"/>
            <a:ext cx="5303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14600" y="16642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600" dirty="0"/>
          </a:p>
        </p:txBody>
      </p:sp>
      <p:sp>
        <p:nvSpPr>
          <p:cNvPr id="15" name="Text 13"/>
          <p:cNvSpPr txBox="1"/>
          <p:nvPr/>
        </p:nvSpPr>
        <p:spPr>
          <a:xfrm>
            <a:off x="1088136" y="20391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질문 예시를 클릭해서 바로 대화를 시작해 보세요!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1088136" y="2267712"/>
            <a:ext cx="19019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79576" y="23134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 보장 비교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61288" y="2542032"/>
            <a:ext cx="1737360" cy="27432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07008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비교해줘</a:t>
            </a:r>
            <a:endParaRPr lang="en-US" sz="55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2852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타사보다 좋은 이유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1455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암진단및치료비의 상품경쟁력을 타사와 비교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088136" y="3593592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79576" y="3593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지식 검색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2761488" y="359359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088136" y="3913632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79576" y="39136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 자주하는 질문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761488" y="391363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088136" y="4297680"/>
            <a:ext cx="19019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79576" y="42976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자유롭게 질문해 주세요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2514600" y="429768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34056" y="4343400"/>
            <a:ext cx="201168" cy="201168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34056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2648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145536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145536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45536" y="22860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45536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145536" y="432511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14553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187952" y="146304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4187952" y="173736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줄 세 개. 대화 이력, 약관 검색, 사용 가이드가 들어 있어요.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25856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84048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87952" y="224028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· 새로 대화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187952" y="251460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생성은 지금 대화를 리포트로 만들고, 새로 대화는 새 주제를 시작해요.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840480" y="30358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84048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187952" y="301752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(보장 비교 · 지식 검색 · 자주하는 질문)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4187952" y="329184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물을지 모르면 예시를 누르세요. 누르는 순간 대화가 시작돼요.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840480" y="381304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40480" y="3813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3794760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· 마이크 · 전송(↑)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4187952" y="4069080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마이크를 눌러 말하세요. 말한 내용이 글자로 바뀐 뒤 ↑ 를 눌러 보내요.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840480" y="4526280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97764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화면 아래 안내처럼 이름·연락처·주소 등 개인정보는 입력하지 않아요.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0" name="Text 5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클릭 → 직접 질문 → 꼬리질문. 세 단계면 충분해요.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질문 예시 탭으로 첫 대화 시작하기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 직접 입력하거나 마이크로 말해서 질문하기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 꼬리질문으로 깊이 파고, 자주 쓰는 질문 저장하기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검색과 대화 이력 활용법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STEP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대화는 질문 예시를 누르는 것으로 시작해요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물어야 할지 몰라도 괜찮아요. 세 개의 탭에 검증된 질문이 들어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" y="201168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질문 예시를 클릭해서 바로 대화를 시작해 보세요!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905256" y="2249424"/>
            <a:ext cx="1901952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5240">
            <a:solidFill>
              <a:srgbClr val="F044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696" y="22951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⇄  보장 비교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978408" y="2523744"/>
            <a:ext cx="1737360" cy="27432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24128" y="25237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암진단비와 통합암진단비의 차이점을 고객 관점에서 쉽게 비교해줘</a:t>
            </a:r>
            <a:endParaRPr lang="en-US" sz="55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8254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표적항암약물허가치료비 종류별 특약이 타사보다 좋은 이유를 설명해줘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118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메리츠 암진단및치료비의 상품경쟁력을 타사와 비교해서 설명해줘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905256" y="3529584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" y="3529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  지식 검색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05256" y="3849624"/>
            <a:ext cx="190195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6696" y="38496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☺  자주하는 질문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23957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👆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137160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11880" y="159105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11880" y="159105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14630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자사·타사, 담보 간 차이를 표로 비교하는 질문 모음. "A와 B의 차이를 고객 관점에서 비교해줘" 형태예요.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429000" y="219456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11880" y="241401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11880" y="241401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 검색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00600" y="2286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상품·특약·약관·의학 용어의 뜻과 구조를 묻는 질문. 처음 듣는 단어가 나오면 이 탭이에요.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29000" y="3017520"/>
            <a:ext cx="52120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11880" y="3236976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611880" y="3236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자주하는 질문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800600" y="31089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영업가족들이 실제로 많이 물은 질문을 모아둔 탭. 남들이 뭘 묻는지 보기만 해도 공부가 돼요.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429000" y="3886200"/>
            <a:ext cx="5212080" cy="777240"/>
          </a:xfrm>
          <a:prstGeom prst="roundRect">
            <a:avLst>
              <a:gd name="adj" fmla="val 1176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611880" y="393192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해보세요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제목을 누르면 예시가 펼쳐지고, 예시 문장을 누르면 그 질문이 바로 전송돼요. 첫날은 세 탭의 예시를 하나씩 눌러 답이 어떻게 나오는지 구경만 해도 충분해요.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STEP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물어볼 땐 쓰거나, 말하세요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키보드가 불편하면 마이크 버튼을 누르고 말하면 글자로 바뀌어요.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당뇨 있는 50대 고객, 가입 가능한 상품 알려줘|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17720" y="14173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83480" y="1517904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03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질문부터 시작해 보세요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47802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4780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9572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"간편심사 3N5와 355, 숫자가 무슨 뜻이야?"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98094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298094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9864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"암진단비와 암통합치료비 차이를 고객 눈높이로 설명해줘"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48386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4838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화법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40156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"40대 자녀 있는 가장에게 사망보장이 왜 먼저인지 설명하는 화법 만들어줘"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9867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904488"/>
            <a:ext cx="4069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"뇌출혈진단비 특약의 지급 사유와 면책을 약관 기준으로 알려줘"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60720" y="1417320"/>
            <a:ext cx="2880360" cy="3291840"/>
          </a:xfrm>
          <a:prstGeom prst="roundRect">
            <a:avLst>
              <a:gd name="adj" fmla="val 381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6002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음성으로 질문하기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43600" y="225856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224028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버튼 터치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91072" y="25146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오른쪽의 마이크를 눌러요.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943600" y="299008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0" y="2990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291072" y="297180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말투로 말하기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291072" y="324612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 보장분석 해줘"처럼 짧게. 긴 질문도 말이 더 빨라요.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943600" y="372160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0" y="3721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291072" y="37033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확인 후 전송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397764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내용이 글자로 바뀌면 오타만 확인하고 ↑ 를 눌러요.</a:t>
            </a:r>
            <a:endParaRPr lang="en-US" sz="88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43159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특히 편해요. 고객 앞에서 타이핑 없이 물어볼 수 있어요.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STEP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오면, 꼬리질문 버튼으로 이어가세요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MeAI가 다음 질문을 미리 만들어 둬요. 타이핑 없이 버튼만 누르면 대화가 깊어져요.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" y="1947672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뇌·심장 질환군의 진단비를 우선 보완하는 순서를 정합니다.</a:t>
            </a:r>
            <a:endParaRPr lang="en-US" sz="5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암 치료비 라인(암 통합치료비·고액항암·반복지급형) 추가 필요 여부를 진단합니다.</a:t>
            </a:r>
            <a:endParaRPr lang="en-US" sz="56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간병인 사용일당·간호간병통합서비스 일당 등 생활비성 담보 보완을 검토합니다.</a:t>
            </a:r>
            <a:endParaRPr lang="en-US" sz="560" dirty="0"/>
          </a:p>
        </p:txBody>
      </p:sp>
      <p:sp>
        <p:nvSpPr>
          <p:cNvPr id="16" name="Text 14"/>
          <p:cNvSpPr txBox="1"/>
          <p:nvPr/>
        </p:nvSpPr>
        <p:spPr>
          <a:xfrm>
            <a:off x="905256" y="2953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    ☺    👍    👎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" y="322783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8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905256" y="3438144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" y="3438144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가장 먼저 보완해야 할 보장 순서대로 알려줘</a:t>
            </a:r>
            <a:endParaRPr lang="en-US" sz="560" dirty="0"/>
          </a:p>
        </p:txBody>
      </p:sp>
      <p:sp>
        <p:nvSpPr>
          <p:cNvPr id="20" name="Shape 18"/>
          <p:cNvSpPr/>
          <p:nvPr/>
        </p:nvSpPr>
        <p:spPr>
          <a:xfrm>
            <a:off x="905256" y="3694176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" y="3694176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증권별로 요약해서 해지/유지 판단 포인트를 정리해줘</a:t>
            </a:r>
            <a:endParaRPr lang="en-US" sz="560" dirty="0"/>
          </a:p>
        </p:txBody>
      </p:sp>
      <p:sp>
        <p:nvSpPr>
          <p:cNvPr id="22" name="Shape 20"/>
          <p:cNvSpPr/>
          <p:nvPr/>
        </p:nvSpPr>
        <p:spPr>
          <a:xfrm>
            <a:off x="905256" y="3950208"/>
            <a:ext cx="1901952" cy="219456"/>
          </a:xfrm>
          <a:prstGeom prst="roundRect">
            <a:avLst>
              <a:gd name="adj" fmla="val 50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5256" y="39502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가입 증권별로 담보 구조와 갱신 여부를 요약해줘</a:t>
            </a:r>
            <a:endParaRPr lang="en-US" sz="560" dirty="0"/>
          </a:p>
        </p:txBody>
      </p:sp>
      <p:sp>
        <p:nvSpPr>
          <p:cNvPr id="24" name="Shape 22"/>
          <p:cNvSpPr/>
          <p:nvPr/>
        </p:nvSpPr>
        <p:spPr>
          <a:xfrm>
            <a:off x="905256" y="4261104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" y="42611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 질문 더보기 (프롬프트 라이브러리)  ↗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962656" y="290779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62656" y="2907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962656" y="34564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2656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276856" y="4242816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76856" y="42428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복사(⧉) · 사람 아이콘 · 좋아요/싫어요. 복사로 답을 그대로 메모장이나 카톡에 옮길 수 있어요.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대화 흐름을 읽고 다음 질문 3개를 제안해요. 마음에 드는 걸 누르면 그 질문이 바로 전송돼요.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 → 프롬프트 라이브러리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많은 검증 질문이 필요하면 여기로. 추천·최신·나의 질문 탭에서 골라 "이 질문 사용하기"를 누르면 끝.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429000" y="4023360"/>
            <a:ext cx="5212080" cy="640080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11880" y="4069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중요할까요?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데이터상 프롬프트를 하나만 쓴 분보다 두 개 이상 이어서 쓴 분의 성과가 훨씬 높았어요. 꼬리질문 버튼 하나만 더 누르는 습관이 차이를 만들어요.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질문 저장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먹힌 질문은 저장해두고, 클릭 한 번으로 다시 써요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저장한 질문은 프롬프트 라이브러리의 [나의 질문] 탭에 모이고, PC와 모바일에서 똑같이 보여요.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572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아이콘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202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"갱신형 보험에 가입되어 있는 우리나라 40대의 월 평균 보험료가 얼마정도야?"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15568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99616" y="2514600"/>
            <a:ext cx="274320" cy="274320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499616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28163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     편집      저장</a:t>
            </a:r>
            <a:endParaRPr lang="en-US" sz="6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906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 를 누르면 "나의 질문으로 저장"돼요.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2331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337560" y="1463040"/>
            <a:ext cx="25146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7472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7472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1572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20440" y="19019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1901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032504" y="19019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32504" y="1901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4544568" y="1901952"/>
            <a:ext cx="758952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44568" y="190195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</a:t>
            </a:r>
            <a:endParaRPr lang="en-US" sz="65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📁 일반 대화  4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3520440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▾ 40대 월평균 보험료 확인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520440" y="260604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84448" y="2624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보험 시장의 최신 통계와 4세대 보험 기준을 바탕으로 '40대 남녀 월평균 보험료 현황 및 적정선'에 대한 상세 분석 리포트를 작성해줘</a:t>
            </a:r>
            <a:endParaRPr lang="en-US" sz="530" dirty="0"/>
          </a:p>
        </p:txBody>
      </p:sp>
      <p:sp>
        <p:nvSpPr>
          <p:cNvPr id="33" name="Text 31"/>
          <p:cNvSpPr txBox="1"/>
          <p:nvPr/>
        </p:nvSpPr>
        <p:spPr>
          <a:xfrm>
            <a:off x="3520440" y="31089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보장 범위 자가 진단 및 과거 보험의 과다 판단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327355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 보장 상품을 자연스럽게 추천하는 멘트를 알려줘</a:t>
            </a:r>
            <a:endParaRPr lang="en-US" sz="6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2331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17220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09360" y="1572768"/>
            <a:ext cx="50292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09360" y="15727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6858000" y="15727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질문 사용하기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55080" y="1920240"/>
            <a:ext cx="2103120" cy="640080"/>
          </a:xfrm>
          <a:prstGeom prst="roundRect">
            <a:avLst>
              <a:gd name="adj" fmla="val 857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1947672"/>
            <a:ext cx="1965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보험에 가입되어 있는 우리나라 40대의 월 평균 보험료가 얼마정도야?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6355080" y="2651760"/>
            <a:ext cx="2103120" cy="310896"/>
          </a:xfrm>
          <a:prstGeom prst="roundRect">
            <a:avLst>
              <a:gd name="adj" fmla="val 1764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55080" y="2651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질문 사용하기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대화창에 질문이 바로 들어가요.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029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675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질문을 저장하나요?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675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마음에 들었던 질문, 매달 반복하는 질문(보장분석·화법·안내문)을 저장해요.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32461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107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열 수 있나요?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4107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[질문 더보기], 또는 PC·모바일 메뉴의 프롬프트 라이브러리에서 열어요.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5989320" y="370332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15391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동료와 나누려면?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153912" y="40507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복사 버튼으로 질문과 답을 옮겨 팀 단톡에 공유하고, 좋은 질문은 각자 나의 질문으로 저장해요.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왼쪽 메뉴 활용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검색과 대화 이력, 두 메뉴가 시간을 아껴줘요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왼쪽 메뉴, 모바일은 ≡ 메뉴 안에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상품명을 넣으면 전사 약관 원문을 바로 찾아줘요. 고객이 "그거 약관에 있어요?"라고 물을 때 근거를 펼쳐 보여줄 수 있어요.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특약명으로 검색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약관 원문 확인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답변의 근거 확인용으로 딱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32461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290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대화가 월별로 자동 저장돼요. 지난달 준비했던 고객 대화를 열어 이어서 질문할 수 있어요.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자동 정리 (2026년 9월 · 8월 …)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클릭하면 그 대화를 이어서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대화명은 첫 질문으로 자동 생성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989320" y="141732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72200" y="16184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7220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739128" y="16184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가이드 · 새로 대화하기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가이드는 화면 안내를 다시 보여줘요. 새로 대화하기는 주제가 바뀔 때 눌러 대화를 깨끗하게 시작해요.</a:t>
            </a:r>
            <a:endParaRPr lang="en-US" sz="93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2461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246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사용 가이드 다시 보기</a:t>
            </a:r>
            <a:endParaRPr lang="en-US" sz="930" dirty="0"/>
          </a:p>
        </p:txBody>
      </p:sp>
      <p:sp>
        <p:nvSpPr>
          <p:cNvPr id="34" name="Text 32"/>
          <p:cNvSpPr txBox="1"/>
          <p:nvPr/>
        </p:nvSpPr>
        <p:spPr>
          <a:xfrm>
            <a:off x="6172200" y="353872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35387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고객·주제가 바뀌면 새로 대화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3831336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831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대화와 섞이지 않아 답이 정확</a:t>
            </a:r>
            <a:endParaRPr lang="en-US" sz="93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명을 위한 대화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보장분석을 옆에 두고, 무엇이 부족한지 바로 찾아요.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전체 흐름 5단계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 고객 정보 입력  ·  STEP 2  분석할 상품 선택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 보장 내역 확인  ·  STEP 4  "보장분석 해줘"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4개와 상세설계 요청법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전체 흐름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이 순서로 흘러가요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카드의 [MeAI] 버튼을 누른 뒤의 다섯 단계예요. 익숙해지면 3분이면 끝나요.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[MeAI] 버튼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4884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28600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직업·병력·가족력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보험료·메모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9476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3192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선택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담보·상품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4068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내역 확인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부족·충분·미가입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86600" y="1508760"/>
            <a:ext cx="148132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0" y="164592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23760" y="164592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질문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22376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꼬리질문으로 제안 준비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3154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다음은 자연스럽게 이어져요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EECFC"/>
          </a:solidFill>
          <a:ln w="12700">
            <a:solidFill>
              <a:srgbClr val="EEECF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암통합치료비 3천만원 추가한 설계안 보여줘"처럼 말로 요청해요.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461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29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4290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필요한 답만 골라 리포트로 만들고 고객에게 발송해요. (PART 7)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89320" y="34747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이력에 자동 저장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3886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고객과의 대화는 월별로 저장돼요. 다음 방문 전 다시 열어 이어가요.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먼저 알려주면, 답이 그 고객 것이 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있는 것만 넣어도 돼요. 비워도 대화는 되지만, 채우면 답의 정확도가 확 달라져요.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130759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905256" y="1993392"/>
            <a:ext cx="1901952" cy="25146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96696" y="20665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고객 정보를 입력하세요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350008" y="2075688"/>
            <a:ext cx="384048" cy="15544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50008" y="2075688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5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" y="22677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미리 설정하고 시작하면 고객의 맥락을 고려한 답변을 할 수 있습니다.</a:t>
            </a:r>
            <a:endParaRPr lang="en-US" sz="530" dirty="0"/>
          </a:p>
        </p:txBody>
      </p:sp>
      <p:sp>
        <p:nvSpPr>
          <p:cNvPr id="24" name="Text 22"/>
          <p:cNvSpPr txBox="1"/>
          <p:nvPr/>
        </p:nvSpPr>
        <p:spPr>
          <a:xfrm>
            <a:off x="996696" y="263347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 직업</a:t>
            </a:r>
            <a:endParaRPr lang="en-US" sz="600" dirty="0"/>
          </a:p>
        </p:txBody>
      </p:sp>
      <p:sp>
        <p:nvSpPr>
          <p:cNvPr id="25" name="Text 23"/>
          <p:cNvSpPr txBox="1"/>
          <p:nvPr/>
        </p:nvSpPr>
        <p:spPr>
          <a:xfrm>
            <a:off x="1801368" y="26334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정비사(1급)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996696" y="287121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6696" y="29077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⊕  병력</a:t>
            </a:r>
            <a:endParaRPr lang="en-US" sz="600" dirty="0"/>
          </a:p>
        </p:txBody>
      </p:sp>
      <p:sp>
        <p:nvSpPr>
          <p:cNvPr id="28" name="Text 26"/>
          <p:cNvSpPr txBox="1"/>
          <p:nvPr/>
        </p:nvSpPr>
        <p:spPr>
          <a:xfrm>
            <a:off x="1801368" y="29077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심근경색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996696" y="314553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96696" y="31821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👥  가족력</a:t>
            </a:r>
            <a:endParaRPr lang="en-US" sz="600" dirty="0"/>
          </a:p>
        </p:txBody>
      </p:sp>
      <p:sp>
        <p:nvSpPr>
          <p:cNvPr id="31" name="Text 29"/>
          <p:cNvSpPr txBox="1"/>
          <p:nvPr/>
        </p:nvSpPr>
        <p:spPr>
          <a:xfrm>
            <a:off x="1801368" y="3182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고혈압, 당뇨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996696" y="341985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6696" y="34564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₩  신규 제안 월 보험료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1801368" y="3456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10만원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96696" y="369417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6696" y="37307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✎  메모</a:t>
            </a:r>
            <a:endParaRPr lang="en-US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1801368" y="37307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자녀 결혼 앞두고 있음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996696" y="3968496"/>
            <a:ext cx="1719072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9968" y="4096512"/>
            <a:ext cx="685800" cy="237744"/>
          </a:xfrm>
          <a:prstGeom prst="roundRect">
            <a:avLst>
              <a:gd name="adj" fmla="val 2307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29968" y="409651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완료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2962656" y="160934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962656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29768" y="258775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9768" y="2587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962656" y="4078224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962656" y="40782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버튼이 네 개로 늘어요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3776472" y="17373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맞춤대화에는 [보장 분석] [사용 정보] [요약 생성] [새로 대화]가 있어요. 사용 정보를 누르면 언제든 고객 정보를 수정할 수 있어요.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429000" y="23957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2900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776472" y="23774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 채워요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776472" y="26517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 · 병력 · 가족력 · 신규 제안 월 보험료 · 메모. 병력과 가족력은 답변 방향을 가장 크게 바꾸는 항목이에요. 희망 보험료를 넣으면 예산 안에서 제안해줘요.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429000" y="33101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29000" y="3310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776472" y="32918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완료]를 눌러야 반영돼요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3776472" y="3566160"/>
            <a:ext cx="4864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입력만 하고 넘어가면 저장되지 않아요. 완료 후 상단 표시가 "미입력"에서 바뀌는지 확인하세요.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29000" y="4160520"/>
            <a:ext cx="5212080" cy="502920"/>
          </a:xfrm>
          <a:prstGeom prst="roundRect">
            <a:avLst>
              <a:gd name="adj" fmla="val 18182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611880" y="416052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메모에 고객 이름·연락처·주소·주민번호 같은 개인정보는 쓰지 않아요. "자녀 결혼 앞둠, 배우자 암 진단 이력"처럼 상황만 적어요.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2" name="Text 6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상품을 고르면, 그 범위 안에서 답해요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보장분석에 올라온 고객의 계약이 카드로 보여요. 담보로 걸러서 필요한 상품만 체크할 수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130759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0759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181051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550" dirty="0"/>
          </a:p>
        </p:txBody>
      </p:sp>
      <p:sp>
        <p:nvSpPr>
          <p:cNvPr id="17" name="Shape 15"/>
          <p:cNvSpPr/>
          <p:nvPr/>
        </p:nvSpPr>
        <p:spPr>
          <a:xfrm>
            <a:off x="2313432" y="166420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3432" y="1664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55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상품을 선택하세요.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22494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선택된 정상 계약의 총 보험료</a:t>
            </a:r>
            <a:endParaRPr lang="en-US" sz="5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24140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404,145원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32688" y="2770632"/>
            <a:ext cx="182880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283464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원하시는 담보만 선택해서 확인하실 수 있어요</a:t>
            </a:r>
            <a:endParaRPr lang="en-US" sz="500" dirty="0"/>
          </a:p>
        </p:txBody>
      </p:sp>
      <p:sp>
        <p:nvSpPr>
          <p:cNvPr id="24" name="Shape 22"/>
          <p:cNvSpPr/>
          <p:nvPr/>
        </p:nvSpPr>
        <p:spPr>
          <a:xfrm>
            <a:off x="932688" y="3017520"/>
            <a:ext cx="356616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3017520"/>
            <a:ext cx="356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344168" y="3017520"/>
            <a:ext cx="658368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44168" y="30175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뇌/심장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2057400" y="3017520"/>
            <a:ext cx="557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057400" y="3017520"/>
            <a:ext cx="557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2670048" y="3017520"/>
            <a:ext cx="557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70048" y="3017520"/>
            <a:ext cx="557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3282696" y="3017520"/>
            <a:ext cx="75895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82696" y="3017520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⌵ 더보기</a:t>
            </a:r>
            <a:endParaRPr lang="en-US" sz="5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33192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전체 선택 (8/8)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932688" y="3547872"/>
            <a:ext cx="1828800" cy="914400"/>
          </a:xfrm>
          <a:prstGeom prst="rect">
            <a:avLst/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8408" y="359359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</a:t>
            </a:r>
            <a:endParaRPr lang="en-US" sz="5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</a:t>
            </a:r>
            <a:endParaRPr lang="en-US" sz="500" dirty="0"/>
          </a:p>
        </p:txBody>
      </p:sp>
      <p:sp>
        <p:nvSpPr>
          <p:cNvPr id="37" name="Text 35"/>
          <p:cNvSpPr txBox="1"/>
          <p:nvPr/>
        </p:nvSpPr>
        <p:spPr>
          <a:xfrm>
            <a:off x="1362456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38" name="Text 36"/>
          <p:cNvSpPr txBox="1"/>
          <p:nvPr/>
        </p:nvSpPr>
        <p:spPr>
          <a:xfrm>
            <a:off x="1362456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신한생명</a:t>
            </a:r>
            <a:endParaRPr lang="en-US" sz="450" dirty="0"/>
          </a:p>
        </p:txBody>
      </p:sp>
      <p:sp>
        <p:nvSpPr>
          <p:cNvPr id="39" name="Text 37"/>
          <p:cNvSpPr txBox="1"/>
          <p:nvPr/>
        </p:nvSpPr>
        <p:spPr>
          <a:xfrm>
            <a:off x="1362456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용감한 오렌지종신보험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(무배당, 저해지환급형)</a:t>
            </a:r>
            <a:endParaRPr lang="en-US" sz="450" dirty="0"/>
          </a:p>
        </p:txBody>
      </p:sp>
      <p:sp>
        <p:nvSpPr>
          <p:cNvPr id="40" name="Text 38"/>
          <p:cNvSpPr txBox="1"/>
          <p:nvPr/>
        </p:nvSpPr>
        <p:spPr>
          <a:xfrm>
            <a:off x="1362456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2017년 8월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2057년 12월</a:t>
            </a:r>
            <a:endParaRPr lang="en-US" sz="430" dirty="0"/>
          </a:p>
        </p:txBody>
      </p:sp>
      <p:sp>
        <p:nvSpPr>
          <p:cNvPr id="41" name="Text 39"/>
          <p:cNvSpPr txBox="1"/>
          <p:nvPr/>
        </p:nvSpPr>
        <p:spPr>
          <a:xfrm>
            <a:off x="1837944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42" name="Text 40"/>
          <p:cNvSpPr txBox="1"/>
          <p:nvPr/>
        </p:nvSpPr>
        <p:spPr>
          <a:xfrm>
            <a:off x="1837944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DB손보</a:t>
            </a:r>
            <a:endParaRPr lang="en-US" sz="450" dirty="0"/>
          </a:p>
        </p:txBody>
      </p:sp>
      <p:sp>
        <p:nvSpPr>
          <p:cNvPr id="43" name="Text 41"/>
          <p:cNvSpPr txBox="1"/>
          <p:nvPr/>
        </p:nvSpPr>
        <p:spPr>
          <a:xfrm>
            <a:off x="1837944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대성인병보장보험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1종 비갱신형</a:t>
            </a:r>
            <a:endParaRPr lang="en-US" sz="450" dirty="0"/>
          </a:p>
        </p:txBody>
      </p:sp>
      <p:sp>
        <p:nvSpPr>
          <p:cNvPr id="44" name="Text 42"/>
          <p:cNvSpPr txBox="1"/>
          <p:nvPr/>
        </p:nvSpPr>
        <p:spPr>
          <a:xfrm>
            <a:off x="1837944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2017년 8월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2057년 12월</a:t>
            </a:r>
            <a:endParaRPr lang="en-US" sz="430" dirty="0"/>
          </a:p>
        </p:txBody>
      </p:sp>
      <p:sp>
        <p:nvSpPr>
          <p:cNvPr id="45" name="Text 43"/>
          <p:cNvSpPr txBox="1"/>
          <p:nvPr/>
        </p:nvSpPr>
        <p:spPr>
          <a:xfrm>
            <a:off x="2313432" y="35661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600" dirty="0"/>
          </a:p>
        </p:txBody>
      </p:sp>
      <p:sp>
        <p:nvSpPr>
          <p:cNvPr id="46" name="Text 44"/>
          <p:cNvSpPr txBox="1"/>
          <p:nvPr/>
        </p:nvSpPr>
        <p:spPr>
          <a:xfrm>
            <a:off x="2313432" y="37124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</a:t>
            </a:r>
            <a:endParaRPr lang="en-US" sz="450" dirty="0"/>
          </a:p>
        </p:txBody>
      </p:sp>
      <p:sp>
        <p:nvSpPr>
          <p:cNvPr id="47" name="Text 45"/>
          <p:cNvSpPr txBox="1"/>
          <p:nvPr/>
        </p:nvSpPr>
        <p:spPr>
          <a:xfrm>
            <a:off x="2313432" y="3840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통합간편건강보험</a:t>
            </a:r>
            <a:endParaRPr lang="en-US" sz="4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(세만기형)2607</a:t>
            </a:r>
            <a:endParaRPr lang="en-US" sz="450" dirty="0"/>
          </a:p>
        </p:txBody>
      </p:sp>
      <p:sp>
        <p:nvSpPr>
          <p:cNvPr id="48" name="Text 46"/>
          <p:cNvSpPr txBox="1"/>
          <p:nvPr/>
        </p:nvSpPr>
        <p:spPr>
          <a:xfrm>
            <a:off x="2313432" y="41879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12월 ~</a:t>
            </a:r>
            <a:endParaRPr lang="en-US" sz="4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12월</a:t>
            </a:r>
            <a:endParaRPr lang="en-US" sz="430" dirty="0"/>
          </a:p>
        </p:txBody>
      </p:sp>
      <p:sp>
        <p:nvSpPr>
          <p:cNvPr id="49" name="Shape 47"/>
          <p:cNvSpPr/>
          <p:nvPr/>
        </p:nvSpPr>
        <p:spPr>
          <a:xfrm>
            <a:off x="2962656" y="240487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962656" y="2404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962656" y="29992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62656" y="29992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29768" y="354787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29768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보험료가 먼저 보여요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정상 계약의 월 보험료 합계예요. 고객과 "지금 매달 이만큼 내고 계세요"로 대화를 시작할 수 있는 숫자예요.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칩으로 걸러요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· 수술비 등 담보를 누르면 관련 상품만 남아요. 주제가 정해진 상담이면 걸러서 보는 게 빨라요.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카드를 체크해요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기본은 전체 선택이에요. 이번 상담과 관련 없는 계약은 체크를 풀면 MeAI가 그 상품은 빼고 분석해요.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429000" y="4069080"/>
            <a:ext cx="5212080" cy="594360"/>
          </a:xfrm>
          <a:prstGeom prst="roundRect">
            <a:avLst>
              <a:gd name="adj" fmla="val 15385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611880" y="40690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전체 선택 그대로 두고 "보장분석 해줘"부터 하세요. 전체 그림을 본 뒤 담보를 좁혀 다시 묻는 순서가 가장 자연스러워요.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 분석] 버튼을 누르면 부족한 보장이 색으로 보여요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 상세를 카드로 보면서 대화할 수 있어요. 빨간 글자가 제안 포인트예요.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240280" cy="3429000"/>
          </a:xfrm>
          <a:prstGeom prst="roundRect">
            <a:avLst>
              <a:gd name="adj" fmla="val 898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389888"/>
            <a:ext cx="2112264" cy="3300984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4356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9:41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4356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▂▄▆ ◠ ▮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1577340" y="4599432"/>
            <a:ext cx="548640" cy="36576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이민호님의 보장분석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459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187452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(40대 중반, 남성)</a:t>
            </a:r>
            <a:endParaRPr lang="en-US" sz="550" dirty="0"/>
          </a:p>
        </p:txBody>
      </p:sp>
      <p:sp>
        <p:nvSpPr>
          <p:cNvPr id="13" name="Text 11"/>
          <p:cNvSpPr txBox="1"/>
          <p:nvPr/>
        </p:nvSpPr>
        <p:spPr>
          <a:xfrm>
            <a:off x="1892808" y="18745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2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부족   ● 충분   ● 미가입</a:t>
            </a:r>
            <a:endParaRPr lang="en-US" sz="520" dirty="0"/>
          </a:p>
        </p:txBody>
      </p:sp>
      <p:sp>
        <p:nvSpPr>
          <p:cNvPr id="14" name="Shape 12"/>
          <p:cNvSpPr/>
          <p:nvPr/>
        </p:nvSpPr>
        <p:spPr>
          <a:xfrm>
            <a:off x="1901952" y="1920240"/>
            <a:ext cx="54864" cy="5486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31136" y="1920240"/>
            <a:ext cx="54864" cy="5486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1920240"/>
            <a:ext cx="54864" cy="54864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후유장해</a:t>
            </a:r>
            <a:endParaRPr lang="en-US" sz="620" dirty="0"/>
          </a:p>
        </p:txBody>
      </p:sp>
      <p:sp>
        <p:nvSpPr>
          <p:cNvPr id="19" name="Text 17"/>
          <p:cNvSpPr txBox="1"/>
          <p:nvPr/>
        </p:nvSpPr>
        <p:spPr>
          <a:xfrm>
            <a:off x="1810512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</a:t>
            </a:r>
            <a:endParaRPr lang="en-US" sz="620" dirty="0"/>
          </a:p>
        </p:txBody>
      </p:sp>
      <p:sp>
        <p:nvSpPr>
          <p:cNvPr id="20" name="Text 18"/>
          <p:cNvSpPr txBox="1"/>
          <p:nvPr/>
        </p:nvSpPr>
        <p:spPr>
          <a:xfrm>
            <a:off x="2249424" y="2103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2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질환</a:t>
            </a:r>
            <a:endParaRPr lang="en-US" sz="620" dirty="0"/>
          </a:p>
        </p:txBody>
      </p:sp>
      <p:sp>
        <p:nvSpPr>
          <p:cNvPr id="21" name="Shape 19"/>
          <p:cNvSpPr/>
          <p:nvPr/>
        </p:nvSpPr>
        <p:spPr>
          <a:xfrm>
            <a:off x="2578608" y="2112264"/>
            <a:ext cx="27432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78608" y="2112264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en-US" sz="500" dirty="0"/>
          </a:p>
        </p:txBody>
      </p:sp>
      <p:sp>
        <p:nvSpPr>
          <p:cNvPr id="23" name="Shape 21"/>
          <p:cNvSpPr/>
          <p:nvPr/>
        </p:nvSpPr>
        <p:spPr>
          <a:xfrm>
            <a:off x="932688" y="2304288"/>
            <a:ext cx="411480" cy="1828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968" y="2322576"/>
            <a:ext cx="1920240" cy="3658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2404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보장 상세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" y="263347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4,000만원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932688" y="2816352"/>
            <a:ext cx="1828800" cy="64008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" y="2816352"/>
            <a:ext cx="731520" cy="6400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2688" y="2953512"/>
            <a:ext cx="1828800" cy="18288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688" y="29535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6,000만원 부족</a:t>
            </a:r>
            <a:endParaRPr lang="en-US" sz="530" dirty="0"/>
          </a:p>
        </p:txBody>
      </p:sp>
      <p:sp>
        <p:nvSpPr>
          <p:cNvPr id="31" name="Shape 29"/>
          <p:cNvSpPr/>
          <p:nvPr/>
        </p:nvSpPr>
        <p:spPr>
          <a:xfrm>
            <a:off x="932688" y="3255264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33009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질병사망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300984"/>
            <a:ext cx="137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⌃</a:t>
            </a:r>
            <a:endParaRPr lang="en-US" sz="6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35021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권장금액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1892808" y="350215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4,000만원</a:t>
            </a:r>
            <a:endParaRPr lang="en-US" sz="55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36850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가입금액</a:t>
            </a:r>
            <a:endParaRPr lang="en-US" sz="550" dirty="0"/>
          </a:p>
        </p:txBody>
      </p:sp>
      <p:sp>
        <p:nvSpPr>
          <p:cNvPr id="37" name="Text 35"/>
          <p:cNvSpPr txBox="1"/>
          <p:nvPr/>
        </p:nvSpPr>
        <p:spPr>
          <a:xfrm>
            <a:off x="1892808" y="36850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2,000만원</a:t>
            </a:r>
            <a:endParaRPr lang="en-US" sz="55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" y="386791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부족금액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1892808" y="386791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5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2,000만원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932688" y="4206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96696" y="423367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메트라이프생명 무배당 마스터플랜</a:t>
            </a:r>
            <a:endParaRPr lang="en-US" sz="4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변액유니버셜종신보험</a:t>
            </a:r>
            <a:endParaRPr lang="en-US" sz="450" dirty="0"/>
          </a:p>
        </p:txBody>
      </p:sp>
      <p:sp>
        <p:nvSpPr>
          <p:cNvPr id="42" name="Text 40"/>
          <p:cNvSpPr txBox="1"/>
          <p:nvPr/>
        </p:nvSpPr>
        <p:spPr>
          <a:xfrm>
            <a:off x="2167128" y="42336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질병사망고도후유장해</a:t>
            </a:r>
            <a:endParaRPr lang="en-US" sz="4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500만원</a:t>
            </a:r>
            <a:endParaRPr lang="en-US" sz="450" dirty="0"/>
          </a:p>
        </p:txBody>
      </p:sp>
      <p:sp>
        <p:nvSpPr>
          <p:cNvPr id="43" name="Shape 41"/>
          <p:cNvSpPr/>
          <p:nvPr/>
        </p:nvSpPr>
        <p:spPr>
          <a:xfrm>
            <a:off x="2962656" y="20848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29768" y="277063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29768" y="27706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962656" y="3273552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962656" y="3273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29000" y="148132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429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3776472" y="146304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분류 탭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776472" y="173736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· 후유장해 · 암 · 뇌혈관 질환 · 심장 질환 … 탭을 넘기며 분류별로 봐요. 빨간 탭이 부족한 분류예요.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429000" y="235000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2900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3776472" y="233172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막대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776472" y="260604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가입금액이 권장 기준의 어디까지 왔는지 막대로 보여요. "6,000만원 부족"처럼 부족액이 바로 계산돼요.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429000" y="3218688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429000" y="3218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3776472" y="3200400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담보 카드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3776472" y="34747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권장금액 · 가입금액 · 부족금액이 담보별로 나와요. 아래엔 어느 회사 어떤 상품에서 얼마가 나오는지까지 보여요.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429000" y="4069080"/>
            <a:ext cx="5212080" cy="594360"/>
          </a:xfrm>
          <a:prstGeom prst="roundRect">
            <a:avLst>
              <a:gd name="adj" fmla="val 15385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611880" y="40690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  </a:t>
            </a:r>
            <a:pPr algn="l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카드를 고객과 함께 보며 "여기 빨간 부분이 지금 비어 있는 곳이에요"라고 말하면, 설명 없이도 제안 이유가 전달돼요.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STEP 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한 마디면, 표부터 공략 방향까지 준비돼요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꼬리질문 [보장분석 해줘] 버튼을 누르거나, 그대로 말하면 돼요. 답은 이렇게 구성돼요.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3774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예시를 클릭해서 바로 대화를 시작해 보세요!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↳ 보장분석 해줘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40080" y="208483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848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📕 질문 더보기 (프롬프트 라이브러리)  ↗</a:t>
            </a:r>
            <a:endParaRPr lang="en-US" sz="63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1764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👆 이 버튼 하나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697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이렇게 말해요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97180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71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3300984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3009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"가입증권별로 핵심만 표로 요약해줘"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630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상품과 공략법 알려줘"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023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세트는 PART 8에서 자세히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200400" y="1463040"/>
            <a:ext cx="5440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 구조 (실제 답변 예)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보장 현황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29000" y="2167128"/>
            <a:ext cx="36576" cy="219456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66160" y="21031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준비된 부분  실손 보유, 암·뇌혈관·허혈성 진단비 확보로 초기 자금 대비 가능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29000" y="2496312"/>
            <a:ext cx="36576" cy="219456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66160" y="24323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필요한 부분  암·순환계 통합치료비 등 치료비 라인 없음, 간병 일당 공백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7121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상담 핵심 포인트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29000" y="3209544"/>
            <a:ext cx="36576" cy="21945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66160" y="31455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"진단비 중심 구조로 기본 대비는 잘 되어 있지만, 치료비와 간병 라인이 비어 있어요" 식의 한 문단 설명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35844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확인 우선순위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29000" y="3922776"/>
            <a:ext cx="36576" cy="21945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385876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뇌혈관·허혈성 수술비 가입 가능 여부 → 간병인 일당 보완 → 암 통합치료비 추가 → 갱신형 특약 정리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383280" y="4160520"/>
            <a:ext cx="5074920" cy="384048"/>
          </a:xfrm>
          <a:prstGeom prst="roundRect">
            <a:avLst>
              <a:gd name="adj" fmla="val 19048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20440" y="4160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꼬리질문: "가장 먼저 보완해야 할 보장 순서대로 알려줘" → "증권별 해지/유지 판단 포인트 정리" 로 이어가세요.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상단 버튼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상단 버튼, 이름이 곧 기능이에요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네 개, PC는 세 개. 이름이 조금 다르지만 하는 일은 같아요.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630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 모바일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10512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47672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476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185623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보장분석 카드(STEP 3 화면)를 다시 열어요. 대화 중 언제든 확인.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02920" y="2432304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694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5694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정보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47802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입력한 고객 정보(직업·병력·가족력·희망보험료·메모)를 수정해요.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2920" y="3054096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91256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912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09981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대화를 요약 리포트로 만들어요. 카카오톡 발송까지 이어져요.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02920" y="3675888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1304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1304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37216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고객으로 새 주제의 대화를 시작해요. 이전 대화는 이력에 남아요.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PC (오른쪽 위)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1810512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4767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1947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🗎 보장분석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185623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[보장 분석]. 고객 보장 현황과 보완점 분석 화면을 열어요.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4709160" y="2432304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5694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25694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⚙ 사용중인 정보 수정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47802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[사용 정보]. 고객 정보를 고쳐요.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4709160" y="3054096"/>
            <a:ext cx="3931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19125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1912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⤓ 요약 리포트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9981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모바일의 [요약 생성]. 리포트 만들기·편집·발송.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709160" y="3703320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3703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PC의 [새로 대화하기 ⊕]는 왼쪽 메뉴 맨 아래에 있어요. 고객 이름과 "보장분석 완료 · N일 남음" 표시도 왼쪽 위에서 확인하세요.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상세설계 · 가계약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정해졌다면, 설계도 말로 요청하세요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맞춤대화에서 담보와 금액을 말하면 MeAI가 설계안을 정리해줘요. 최종 확정은 가입설계 시스템에서 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요청해요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05840" y="1920240"/>
            <a:ext cx="3291840" cy="566928"/>
          </a:xfrm>
          <a:prstGeom prst="roundRect">
            <a:avLst>
              <a:gd name="adj" fmla="val 19355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9659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암 통합치료비 3천만원, 특정순환계 통합치료비 2천만원을 추가한 설계안 만들어줘. 월 보험료는 10만원 안으로.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606040"/>
            <a:ext cx="3611880" cy="1417320"/>
          </a:xfrm>
          <a:prstGeom prst="roundRect">
            <a:avLst>
              <a:gd name="adj" fmla="val 774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517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 10만원 기준으로 담보 구성안을 정리했어요.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암 통합치료비 3,000만원 (비급여 포함형)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특정순환계질환 통합치료비 2,000만원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기존 뇌출혈진단비는 유지, 갱신형 치아 2건은 정리 권장</a:t>
            </a: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endParaRPr lang="en-US" sz="7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월 보험료와 상세 담보표는 아래 표를 확인하세요. 가입설계 전 인수심사 조건을 확인해 주세요.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14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답변 내용은 예시예요.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800600" y="1481328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1463040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담보명 + 금액을 정확히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148072" y="173736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 3천만원"처럼 특약명과 가입금액을 말하면 설계안이 구체적으로 나와요. 특약명이 헷갈리면 일반대화에서 먼저 물어보세요.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800600" y="2286000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148072" y="2267712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함께 말해요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542032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"월 10만원 안으로"를 붙이면 예산 안에서 담보 배분을 제안해요. STEP 1에서 희망 보험료를 입력해 뒀다면 자동 반영돼요.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800600" y="3090672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3090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148072" y="3072384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유지·정리까지 한 번에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3346704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"기존 계약 중 정리할 것도 알려줘"를 덧붙이면 리모델링 관점(유지/축소/해지/대체)으로 함께 정리해줘요.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800600" y="3895344"/>
            <a:ext cx="256032" cy="256032"/>
          </a:xfrm>
          <a:prstGeom prst="ellipse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48072" y="3877056"/>
            <a:ext cx="3493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확정은 시스템에서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148072" y="4151376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설계안은 상담용 초안이에요. 실제 가입설계·가계약은 영업지원시스템에서 인수심사 조건과 함께 확정하세요.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보내기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좋았던 답만 골라, 고객에게 리포트로 보내요.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만들기 4단계 (실제 화면)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전에 꼭 확인할 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 리포트 다루는 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4단계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→ 선택·편집 → 리포트 생성 → 카카오톡 도착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 하나로 상담부터 발송까지 끝나요. 실제 모바일 화면이에요.</a:t>
            </a:r>
            <a:endParaRPr lang="en-US" sz="1100" dirty="0"/>
          </a:p>
        </p:txBody>
      </p:sp>
      <p:pic>
        <p:nvPicPr>
          <p:cNvPr id="5" name="Image 0" descr="/tmp/claude-0/-home-user-MeAI/fc097454-2b30-54b4-8cdf-96642e2114b9/scratchpad/shots/repo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28016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 버튼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생성]을 눌러요. 대화가 어느 정도 쌓인 뒤가 좋아요.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11" name="Image 1" descr="/tmp/claude-0/-home-user-MeAI/fc097454-2b30-54b4-8cdf-96642e2114b9/scratchpad/shots/repo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371600"/>
            <a:ext cx="1280160" cy="2606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432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432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5603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질문·답변 선택 → 편집하기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25603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리포트에 넣을 답변만 체크해요. 잡담이나 중간 확인 질문은 빼고, [편집하기]로 문구를 다듬어요.</a:t>
            </a:r>
            <a:endParaRPr lang="en-US" sz="83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17" name="Image 2" descr="/tmp/claude-0/-home-user-MeAI/fc097454-2b30-54b4-8cdf-96642e2114b9/scratchpad/shots/repo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371600"/>
            <a:ext cx="1280160" cy="26060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006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8006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6177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[리포트 생성하기]를 누르면 "완료되면 카카오톡으로 다운로드 링크가 전송됩니다" 안내가 떠요.</a:t>
            </a:r>
            <a:endParaRPr lang="en-US" sz="83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2514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pic>
        <p:nvPicPr>
          <p:cNvPr id="23" name="Image 3" descr="/tmp/claude-0/-home-user-MeAI/fc097454-2b30-54b4-8cdf-96642e2114b9/scratchpad/shots/repo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371600"/>
            <a:ext cx="1280160" cy="26060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858000" y="128016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0" y="1280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675120" y="404164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알림톡 도착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675120" y="427939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알림톡으로 "MeAI 요약레포트 안내"가 와요. [요약레포트 확인하기]로 열어요.</a:t>
            </a:r>
            <a:endParaRPr lang="en-US" sz="83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체크포인트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리포트는 고객에게 가는 문서예요. 보내기 전 다섯 가지만 확인하세요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리포트에는 "AI로 생성된 보조자료입니다"가 표시돼요. 그래도 최종 책임은 보내는 사람에게 있어요.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 확인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보장금액·보험료·면책 기간은 약관과 증권으로 한 번 더 확인해요. 근거가 불확실한 문장은 [편집하기]에서 빼요.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필요한 답만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체크박스로 답변을 골라요. 내부 판단용 질문("해지하면 좋은 상품")은 리포트에서 제외하는 게 안전해요.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9320" y="14630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없는지 확인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중 실수로 넣은 이름·연락처가 리포트에 남지 않았는지 훑어봐요.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246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 기간 D+7일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749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알림톡의 리포트 링크는 수신일로부터 7일까지 열람할 수 있어요. 고객에게 기간을 함께 안내하세요.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6120" y="306324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324612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PC에서는 [요약 리포트]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맞춤대화 오른쪽 위 [⤓ 요약 리포트]에서 같은 작업을 해요. 큰 화면이라 편집이 편해요.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미리보기에는 meritz 로고와 "AI로 생성된 보조자료입니다" 문구, 질문·답변 시각이 함께 표시돼요.</a:t>
            </a:r>
            <a:endParaRPr lang="en-US" sz="850" dirty="0"/>
          </a:p>
        </p:txBody>
      </p:sp>
      <p:pic>
        <p:nvPicPr>
          <p:cNvPr id="31" name="Image 0" descr="/tmp/claude-0/-home-user-MeAI/fc097454-2b30-54b4-8cdf-96642e2114b9/scratchpad/chars/03_dl-rara-a_rg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3200400"/>
            <a:ext cx="502920" cy="109728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잘하는 법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기초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MeAI라도 질문이 다르면 답이 달라요. 공식 하나면 충분해요.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질문 공식 4요소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기본 3종 · 심화 프롬프트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화법·안내문 만들기 프롬프트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질문은 피하세요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질문 공식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질문 = 상황 + 요청 + 형식 + 안전장치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조각을 이어 붙이기만 하면 돼요. 처음엔 두 조각(상황+요청)만으로도 충분해요.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· 어떤 고객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"40대 자녀 둘 가장, 암진단비만 있는 고객에게"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24028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해달라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통합치료비가 왜 필요한지 설명해줘"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224028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177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· 구어체 · N줄 · 비유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"표 1개 + 고객에게 말하듯 구어체 5줄로"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24028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75120" y="146304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1627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0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19933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추정 금지 · 확인필요 표시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22860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"자료에 없으면 추정하지 말고 '확인필요'로 표시해"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3520440"/>
            <a:ext cx="8138160" cy="1097280"/>
          </a:xfrm>
          <a:prstGeom prst="roundRect">
            <a:avLst>
              <a:gd name="adj" fmla="val 1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3630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질문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384048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자녀 둘 가장, 암진단비만 있는 고객에게 </a:t>
            </a:r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A6F0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통합치료비가 왜 필요한지 설명해줘. </a:t>
            </a:r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D0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1개와 고객에게 말하듯 구어체 5줄로 정리하고, </a:t>
            </a:r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B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 없는 내용은 추정하지 말고 '확인필요'로 표시해.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전과 후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바꿔도 답이 이렇게 달라져요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왼쪽처럼 물어도 답은 와요. 하지만 오른쪽처럼 물으면 바로 고객 앞에서 쓸 수 있는 답이 와요.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02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01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"실손 설명해줘"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23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실손의 일반 개념을 길게 설명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224528" y="20574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480560" y="1463040"/>
            <a:ext cx="4160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24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6002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6002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87452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"3세대 실손 가입한 50대 고객에게, 4세대와 비교해서 자기부담과 비급여 한도의 차이를 표 1개로 정리하고, 유지가 유리한 경우 3가지를 구어체로 알려줘"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5786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세대 기준 비교표 + 바로 말할 수 있는 3가지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06324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2004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2004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502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"수술비 특약 뭐가 좋아?"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023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일반적인 수술비 특약 종류 나열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3657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480560" y="3063240"/>
            <a:ext cx="4160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24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200400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20040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4663440" y="347472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고객이 가입한 1~5종 수술비가 실제 청구 빈도가 높은 수술에서 어디까지 인정되는지 면책 사례 중심으로 분석하고, 보완 대안을 알려줘. 근거 없는 수치는 '확인필요'로"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41788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계약 기준 면책·공백 분석 + 보완 대안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보장분석 기본 3종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맞춤대화에서 가장 많이 쓰는 질문 3종 세트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MeAI 활용 중 72%가 보장분석이에요. 이 세 개는 순서대로 외워두세요.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81381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719072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190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시작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7276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554480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그림. 잘 준비된 부분 / 보완 필요 / 상담 포인트 / 확인 우선순위가 한 번에 나와요.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359152"/>
            <a:ext cx="81381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5800" y="261518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151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정리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468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 별로 핵심만 표로 요약해줘"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450592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단위 표. 보험사·상품·보험료·핵심담보·갱신여부가 표로 정리돼 고객에게 보여주기 좋아요.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255264"/>
            <a:ext cx="81381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511296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51129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판단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364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상품들과 공략법을 알려줘"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4670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유지·축소·해지·대체 판단과 이유. 내부 검토용이니 리포트에는 신중히 넣어요.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20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 더  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②에 </a:t>
            </a:r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"갱신특약이 포함된 상품은 빨간색 글자로 표시하고, 15년 이상 납입한 증권은 유지로 두고, 자료에 없으면 '확인필요'로 표시해"</a:t>
            </a:r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를 덧붙이면 표가 바로 상담용이 돼요.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심화 프롬프트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필요할 땐 이 세 개를 복사해서 쓰세요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 보여도 그대로 붙이면 돼요. 저장해두고(PART 5) 필요할 때 [이 질문 사용하기]로 꺼내세요.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36192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361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 보장 통합표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536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전체 그림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가입된 담보·특약의 보장금액을 6대 보장(암 / 뇌 / 심 / 수술비 / 간병비 / 실손·세대와 가입년도 포함) 관점으로 표 1개에 통합 정리해줘. 6대 외 담보는 중요도(핵심/중간/낮음)로 묶어 정리하고, 자료에 없으면 추정하지 말고 '확인필요'로 표시해.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536192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5361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상품단위 요약표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53619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고객 설명용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보험을 상품 단위로 쪼개서 표로 정리해줘. 칼럼은 보험사/상품 → 보험료 → 핵심담보 요약 → 갱신여부 → 결론. 표 아래에 고객에게 설명하듯 구어체로 핵심만 5줄 요약해줘. 갱신특약 포함 상품은 빨간 글자로 표시하고 15년 이상 납입 증권은 유지로.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10896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27832"/>
            <a:ext cx="1143000" cy="201168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22783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리모델링 실행안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제안 설계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5204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결과를 실행 가능한 리모델링으로 바꿔줘. 상품별로 유지/축소/해지/대체/추가/전환/감액완납/납입면제 중 하나로 정리한 표를 먼저 만들고, 면책·갱신부담·보장공백·인수불가 가능성 같은 리스크를 반드시 표기해. 숫자·조건·근거 없는 단정은 금지, 없으면 '확인필요'.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3108960"/>
            <a:ext cx="3977640" cy="1508760"/>
          </a:xfrm>
          <a:prstGeom prst="roundRect">
            <a:avLst>
              <a:gd name="adj" fmla="val 606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잘 받는 요령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547872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354787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칼럼 순서를 직접 정해주면 표가 흔들리지 않아요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03904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38039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소분류끼리만 합산"처럼 계산 규칙을 적어요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4059936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074920" y="405993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담보는 "미가입"으로 표시하라고 해요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4315968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43159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 단위(만원)를 지정하면 읽기 쉬워요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화법 · 안내문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MeAI가 초안을 써줘요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비유와 구어체를 요청하면 바로 말할 수 있는 문장이 나와요. 일반대화에서도 잘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361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361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사회초년생 · 첫 보험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288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보험이 하나도 없는 20대 사회초년생에게 '인생의 안전벨트'로서 가장 우선순위로 가입해야 할 필수 특약 3가지를 추천하고, 이유를 초등학생도 이해할 수준으로 설명해줘.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5361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5361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8288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가입된 고객에게 비급여 항암제·로봇수술·중입자치료 같은 고가 비용이 왜 실손으로 부족한지 3가지 이유로 요약하고, 암 통합치료비가 왜 '올인원'인지 부각해줘.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363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순환계 치료비 · 비유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진단비는 한 번 받으면 끝이지만 치료받을 때마다 지급되는 '순환계 통합치료비'의 장점을, 뇌혈관·허혈성 질환을 '수도 배관'에 비유해서 설명하는 화법을 만들어줘.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3440" y="301752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1363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3136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 6줄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34290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결과를 바탕으로 고객에게 보낼 카카오톡 안내문을 6줄로 써줘. 첫 줄 인사, 현재 강점 2줄, 보완 필요 2줄, 다음 만남 제안 1줄. 존댓말, 단정 표현 금지.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피해야 할 질문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묻지 마세요. 답도 나빠지고, 규정에도 어긋나요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가지만 기억하면 안전하게, 더 좋은 답을 받아요.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개인정보를 넣는 질문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21214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"김OO(010-1234-5678) 고객 보장분석"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048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 입력 금지. 맞춤대화는 이미 그 고객을 알고 있어요. "이 고객"이라고만 해요.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663440" y="14630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1645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질문을 한 번에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0" y="21214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1214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"보장분석하고 화법도 만들고 카톡도 써줘"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4048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하나씩. 보장분석 → 꼬리질문으로 화법 → 안내문 순서로 이어가면 각 답의 품질이 올라가요.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고객에게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" y="37216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721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복사 → 바로 카톡 전송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0050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답은 초안이에요. 숫자·약관 근거를 확인하고 내 말로 다듬은 뒤 보내요. 미검증 책임은 사용자에게 있어요.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77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32461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349240" y="3246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단정을 강요하는 질문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846320" y="3721608"/>
            <a:ext cx="36118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721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"무조건 가입 가능하다고 말해줘"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40050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인수 가능 여부·지급 여부는 심사와 약관이 결정해요. "가능성과 확인할 조건을 알려줘"로 물어요.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본부장·지점장을 위한 MeAI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본부장님이 전파하고, 지점장님이 정착시킵니다. 데이터가 정착의 방법을 알려줬어요.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MeAI를 봐야 하는 세 가지 숫자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누구부터 챙길까 · 이번 달 일곱 줄 체크리스트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대문을 조회 자료로 쓰는 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스크립트 3문장과 4주 도입 플랜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왜 관리자인가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이미 손에 있어요. 정착은 조직이 만듭니다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개인이 알아서 쓰게 두면 절반이 사라지고, 본부가 함께 시작하면 셋 중 둘이 남았어요.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과거엔 썼는데 이번 달은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614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부여자의 40.8%. 새로 가르칠 필요 없이 "다시 켜기"만 하면 되는 분들이에요.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146304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29000" y="1600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65.2%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시작한 분들의 7개월 잔존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7614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개별로 들어온 분은 35~41%만 남았어요. 날짜를 정해 같이 시작하는 것이 두 배 더 남겨요.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0" y="146304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72200" y="1600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26.9%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뒤 30일 안에 첫 사용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76148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사용까지 걸린 시간이 짧을수록 정착률이 높았어요. 권한 부여 첫 주가 관리자의 골든타임이에요.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1428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977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"도입이 안 됐다"가 아니라 "이미 다 써봤다"에서 대화를 시작하세요. 사용률은 연차·직책과 무관했고, 효과는 기존 FP에서 더 컸어요(3.9배).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누구부터 챙길까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타깃은 속성이 아니라 사용 이력으로 잡으세요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"신인들이 안 쓴다", "팀원은 안 쓰고 관리자만 쓴다"는 데이터와 달랐어요. 이력이 말해주는 네 그룹부터.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과거엔 썼는데 이번 달 발화 0인 분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603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"다시 켜보세요" 한 마디. 새 교육이 필요 없는 가장 효율 높은 그룹.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12차월 초과, 아직 미활용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5603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효과가 가장 큰 층(10.0% → 38.6%). 신인용 도구라는 선입견을 깨주세요.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146304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2,156명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쓰는 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5603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하나만 더 쓰면 가계약 11.99 → 17.02건. 꼬리질문 버튼을 알려주세요.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75120" y="1463040"/>
            <a:ext cx="1920240" cy="2651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1627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0" y="1627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승인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1600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7일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20116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지 30일 안 된 분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256032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주에 한 번 열게 하면 그대로 습관이 돼요. 본부장님이 직접 안내해 주세요.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425196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데이터로 보면 "신인이 안 쓴다"는 오해예요. 6차월 미만도 52.6%가 사용했고, 팀원과 관리자의 활용률 차이는 1.3배에 그쳤어요.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대문을 조회 자료로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MeAI 대문이 조회 자료가 됩니다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따로 리스트를 뽑지 않아도, 대문과 고객찾기 그룹이 그날의 영업 방향을 보여줘요.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46520" y="3474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3474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10월 오픈 예정 · 디자인 확정 전</a:t>
            </a:r>
            <a:endParaRPr lang="en-US" sz="750" dirty="0"/>
          </a:p>
        </p:txBody>
      </p:sp>
      <p:pic>
        <p:nvPicPr>
          <p:cNvPr id="7" name="Image 0" descr="/tmp/claude-0/-home-user-MeAI/fc097454-2b30-54b4-8cdf-96642e2114b9/scratchpad/crm/gate_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5120640" cy="978408"/>
          </a:xfrm>
          <a:prstGeom prst="rect">
            <a:avLst/>
          </a:prstGeom>
        </p:spPr>
      </p:pic>
      <p:pic>
        <p:nvPicPr>
          <p:cNvPr id="8" name="Image 1" descr="/tmp/claude-0/-home-user-MeAI/fc097454-2b30-54b4-8cdf-96642e2114b9/scratchpad/crm/find_grou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68880"/>
            <a:ext cx="914400" cy="21305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00200" y="246888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737360" y="2633472"/>
            <a:ext cx="45720" cy="65836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874520" y="25786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첫 화면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팀원의 대문 숫자 4개를 함께 봐요. "사전조회 동의 필요"가 곧 이번 주 동의 재취득 목표 인원이에요.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166360" y="246888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03520" y="2633472"/>
            <a:ext cx="45720" cy="658368"/>
          </a:xfrm>
          <a:prstGeom prst="rect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40680" y="25786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 그룹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440680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고객찾기의 "당월 영업 타겟"(우선순위 1) 그룹이 이달 캠페인 대상이에요. 조회에서 그룹 인원과 이유 문장을 함께 읽어요.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1600200" y="356616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737360" y="3730752"/>
            <a:ext cx="45720" cy="65836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874520" y="36758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D-n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1874520" y="3950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그룹 중 날짜형은 주간 접촉 계획표로 그대로 써요. "이번 주 상령일 고객 몇 명?"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5166360" y="3566160"/>
            <a:ext cx="342900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303520" y="3730752"/>
            <a:ext cx="45720" cy="658368"/>
          </a:xfrm>
          <a:prstGeom prst="rect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40680" y="36758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이탈위험 · 민원발생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5440680" y="39502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관리타이밍 태그(우선순위 1)는 관리자가 먼저 봐야 하는 고객이에요. 팀원과 대응 방향을 정해요.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645152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관리자 권한이 있는 분에게는 PC MeAI 왼쪽 메뉴에 [관리자 화면 접속]이 함께 보여요.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이번 달 체크리스트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달, 일곱 줄만 부탁드립니다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세 줄이 데이터가 말하는 우선순위예요. 나머지는 여유가 될 때.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2F7FF"/>
          </a:solidFill>
          <a:ln w="9525">
            <a:solidFill>
              <a:srgbClr val="F2F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0876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087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1417320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권한부여가 안 된 분을 먼저 찾아 주세요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417320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MeAI 권한을 받지 않은 분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818120" y="1508760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18120" y="1508760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865376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2F7FF"/>
          </a:solidFill>
          <a:ln w="9525">
            <a:solidFill>
              <a:srgbClr val="F2F7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195681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9568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865376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FP(12차월 초과)를 먼저 챙겨 주세요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865376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전환율 격차가 3.9배로 가장 크게 나는 층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818120" y="1956816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8120" y="195681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313432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404872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4048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13432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분께 본부장님이 직접 안내해 주세요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313432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30일이 지나면 정착이 어려워요. 첫 사용이 정착을 가릅니다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818120" y="2404872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18120" y="240487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온보딩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2761488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852928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28529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761488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프롬프트를 하나만 더 쓰시라고 안내해 주세요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846320" y="2761488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 한 번이면 성과가 달라져요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818120" y="2852928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18120" y="2852928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02920" y="3209544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300984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33009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3209544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조회에서 MeAI 대문을 함께 열어 주세요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209544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고객과 당월 영업 타겟 그룹을 팀과 공유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818120" y="3300984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18120" y="3300984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02920" y="3657600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3749040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7490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3657600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날짜를 정해 같이 시작해 주세요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3657600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독려보다 잔존율이 두 배 가까이 높아요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18120" y="3749040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818120" y="3749040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105656"/>
            <a:ext cx="8138160" cy="393192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0080" y="4197096"/>
            <a:ext cx="219456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0080" y="4197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987552" y="4105656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설명회에 MeAI를 활용해 보세요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4846320" y="4105656"/>
            <a:ext cx="2926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타사가 못 내미는 유일한 한 마디예요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818120" y="4197096"/>
            <a:ext cx="685800" cy="21031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18120" y="4197096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리크루팅</a:t>
            </a:r>
            <a:endParaRPr lang="en-US" sz="700" dirty="0"/>
          </a:p>
        </p:txBody>
      </p:sp>
      <p:sp>
        <p:nvSpPr>
          <p:cNvPr id="54" name="Text 52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조회에서 말씀해 보세요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설명하지 않아도 돼요. 세 문장이면 충분해요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한 줄, 타깃으로 한 줄, 행동으로 한 줄. 그리고 현장 반론 셋에 대한 답을 미리 준비해 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49377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18488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1848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47218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FP 안에서 비교해도 체결전환율이 9%에서 36%로 올라갑니다."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0136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강한 한 줄이에요. "같은 FP 비교"라는 조건을 꼭 함께 말씀해 주세요.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502920" y="2130552"/>
            <a:ext cx="49377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33172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33172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타깃으로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185416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 본부에서 다시 권한부여 받을 분, 그리고 한동안 안 쓰신 분 계실까요?"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251460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행동을 바로 만들어 드리는 질문이에요.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49377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4495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44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행동으로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28986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"10월부터는 MeAI 대문이 오늘 만날 고객을 추천해 드립니다. 조회 때 함께 열어보겠습니다."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22783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오픈을 조회 습관과 연결하는 한 줄이에요.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669280" y="1417320"/>
            <a:ext cx="2971800" cy="3200400"/>
          </a:xfrm>
          <a:prstGeom prst="roundRect">
            <a:avLst>
              <a:gd name="adj" fmla="val 3077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0644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반론 3가지, 정확하게 답하기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계약이 더 빨라지나요?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21031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속도는 큰 차이 없어요(12일 vs 13일). "빨라진다"가 아니라 "성사된다"로.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580644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설계를 더 많이 하게 되나요?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3017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환산율 차이는 거의 없어요. 대신 좋은 상품을 고르게 돼요. "무엇을 파느냐가 달라진다"로.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원래 될 고객이라 켠 것 아닌가요?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806440" y="3931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관리 고객끼리 비교해도 9.0% → 36.0%. PART 1의 검증 슬라이드를 그대로 보여주세요.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502920" y="3611880"/>
            <a:ext cx="4937760" cy="1005840"/>
          </a:xfrm>
          <a:prstGeom prst="roundRect">
            <a:avLst>
              <a:gd name="adj" fmla="val 909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703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과장하지 않는 것이 신뢰를 만들어요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9776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"빨라진다", "많이 판다"가 아니라 "성사된다", "좋은 상품을 고른다"가 데이터가 지지하는 표현이에요. 이 한 장으로 현장 반론이 정리돼요.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4주 도입 플랜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지점 단위 4주 플랜, 이 순서면 정착합니다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같은 날 시작하는 것이 핵심이에요. 주차별로 한 가지씩만.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점검 + 대문 소개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미부여·이탈 명단 확인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조회에서 PART 1 숫자 3장 공유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대문 오픈 안내(PART 3)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2404872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5603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432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 미션 전원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7432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9718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 첫 5일 미션 시작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9718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예시 3개 + 꼬리질문 2회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본부장님이 직접 "열어보셨어요?"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462272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6177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006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006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맞춤대화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고객 1명 → 맞춤대화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+ 요약 리포트 1건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48006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리포트를 본인 카톡으로 먼저 받기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6519672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675120" y="1463040"/>
            <a:ext cx="1920240" cy="28346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858000" y="1627632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0" y="16276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공유와 뽐내기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251460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086600" y="24871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활용일수·가계약 변화 공유</a:t>
            </a:r>
            <a:endParaRPr lang="en-US" sz="880" dirty="0"/>
          </a:p>
        </p:txBody>
      </p:sp>
      <p:sp>
        <p:nvSpPr>
          <p:cNvPr id="44" name="Text 42"/>
          <p:cNvSpPr txBox="1"/>
          <p:nvPr/>
        </p:nvSpPr>
        <p:spPr>
          <a:xfrm>
            <a:off x="6858000" y="306324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086600" y="30358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 사례 3건 조회에서 발표</a:t>
            </a:r>
            <a:endParaRPr lang="en-US" sz="880" dirty="0"/>
          </a:p>
        </p:txBody>
      </p:sp>
      <p:sp>
        <p:nvSpPr>
          <p:cNvPr id="46" name="Text 44"/>
          <p:cNvSpPr txBox="1"/>
          <p:nvPr/>
        </p:nvSpPr>
        <p:spPr>
          <a:xfrm>
            <a:off x="6858000" y="3611880"/>
            <a:ext cx="18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7086600" y="35844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달 당월 영업 타겟 그룹 확정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502920" y="443484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본질은 그대로, 바뀌는 건 도구뿐이에요. MeAI가 지식을 채우고, 대문이 고객을 찾고, 관리자님이 정착을 만들어 주세요.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577840" y="8229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활용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FAQ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루틴에 넣고, 지킬 것은 지키면서, 첫 주 미션으로 습관을 만들어요.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1208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5661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MeAI와 함께하는 하루 루틴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1208" y="392277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587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시나리오 3가지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4215384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15137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지켜야 할 5가지 · 자주 묻는 질문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" y="4507992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4398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주 미션 체크리스트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하루 루틴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MeAI와 함께하는 하루는 이렇게 흘러가요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어렵지 않아요. 원래 하던 일에 질문 한 번씩만 끼워 넣으면 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08:30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· 준비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대문에서 오늘의 추천 고객을 확인하고 맞춤대화 "보장분석 해줘". 부족 보장과 상담 포인트를 3분 안에.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· 공부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막혔던 용어를 일반대화 지식 검색으로. 답이 좋으면 나의 질문으로 저장.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006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14:00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· 상담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폰으로 보장분석 카드를 함께 보고, 막히면 마이크로 바로 질문. 약관 근거도 바로 확인.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1463040"/>
            <a:ext cx="1920240" cy="30175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16459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🌙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17:30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18745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· 정리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2860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대화에서 답변을 골라 요약 리포트 생성 → 카카오톡 발송. 내일 고객을 대화 이력에서 미리 열어두기.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212848"/>
            <a:ext cx="1554480" cy="548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현장 시나리오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순간, 이렇게 물어보세요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만나는 세 장면이에요. 질문 순서 그대로 따라 해보세요.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고객 첫 미팅 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열고 고객 정보 입력(직업·가족력)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688336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 부족 보장 3가지 확인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9784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고객에게 첫 만남에서 꺼낼 질문 3개 만들어줘"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895344"/>
            <a:ext cx="219456" cy="21945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"제안 상품의 알릴의무 항목을 정리해줘"로 고지 준비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290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기가입 고객 리모델링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2084832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290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7216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"가입증권별로 핵심만 표로 요약해줘"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29000" y="2688336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7216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"리모델링 실행안" 프롬프트로 유지/해지/대체 정리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29000" y="3291840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290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37216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"갱신형 특약의 향후 보험료 부담을 구어체로 설명해줘"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29000" y="3895344"/>
            <a:ext cx="219456" cy="21945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290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7216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 발송 (내부 판단 답변 제외)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1463040"/>
            <a:ext cx="2606040" cy="3154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1627632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16276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질문에 즉답이 필요할 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72200" y="2084832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72200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20299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"뇌경색도 뇌졸중진단비에서 보장돼?" 일반대화에 바로 질문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72200" y="2688336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172200" y="2688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26334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답의 근거가 궁금하면 왼쪽 메뉴 [약관 검색]으로 원문 확인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3291840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72200" y="3291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"이 내용을 고객에게 한 문장으로" 요청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72200" y="3895344"/>
            <a:ext cx="219456" cy="219456"/>
          </a:xfrm>
          <a:prstGeom prst="ellipse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895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464808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답은 요약 리포트로 고객에게 바로 전송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꼭 지켜주세요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약속, MeAI를 오래 잘 쓰는 조건이에요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안내문에도 나오는 내용이에요. 한 번만 제대로 읽어두세요.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EEF0"/>
          </a:solidFill>
          <a:ln w="9525">
            <a:solidFill>
              <a:srgbClr val="FFEE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반드시 검증 후 사용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답변은 생성형 AI가 작성해 오류가 있을 수 있어요. 근거자료(약관·증권)를 직접 확인한 뒤 고객에게 안내해요.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연락처 · 주소 · 주민번호 등 개인정보는 질문에도, 메모에도 넣지 않아요.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989320" y="146304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72200" y="16459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1645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214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안내해 생긴 금융소비자보호법 등 관련 법령상 책임은 사용자에게 있어요.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3200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200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사용 한도 확인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활용은 일일 300회 한도가 있어요. 고객 목록 상단에서 오늘 사용 횟수를 확인할 수 있어요.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29000" y="3200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290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32004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답변, 화면 캡처, 이 가이드북을 포함한 교육자료의 외부 제공·배포·게시(온/오프라인)는 금지돼요.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989320" y="3017520"/>
            <a:ext cx="2651760" cy="1417320"/>
          </a:xfrm>
          <a:prstGeom prst="roundRect">
            <a:avLst>
              <a:gd name="adj" fmla="val 774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1272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3375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FAQ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쓰는 분들이 가장 많이 묻는 질문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개면 첫 주 질문의 대부분이 해결돼요.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554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컴퓨터를 잘 못하는데요?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562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핸드폰만 켤 줄 알면 돼요. 앱 홈 → 보장분석 → MeAI, 그리고 마이크 버튼으로 말하면 끝이에요.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554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5544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뭘 물어야 할지 모르겠어요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8562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세 개와 꼬리질문 버튼을 누르기만 하세요. 10월부터는 대문 추천 고객 카드가 질문까지 제안해요.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251460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6517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이상하거나 틀린 것 같아요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95351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AI라 오류가 있을 수 있어요. 약관 검색으로 원문을 확인하고, 질문에 상황을 더 붙여 다시 물어보세요.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663440" y="251460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26517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PC에서 한 대화를 폰에서 볼 수 있나요?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295351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네. 대화 이력과 저장한 나의 질문은 PC·모바일에서 똑같이 보여요.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37490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답을 바로 보내도 되나요?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0507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후에요. 요약 리포트 기능으로 필요한 답만 골라 편집해서 카카오톡으로 보내는 게 안전해요.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39776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66360" y="37490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대문은 어디서 열어요?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66360" y="40507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영업포탈에서 MeAI 대문으로 들어가요(10월 오픈). 모바일은 영업지원모바일 app → 보장분석 → MeAI.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10 · 첫 주 미션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해보세요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241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권한을 받은 첫 주에 한 번 열어본 분들이 그대로 습관이 됐어요. 체크하며 따라가 보세요.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켜보기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 일반대화 열기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3개 탭에서 각 1개씩 눌러보기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14884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말해보기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8600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0604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 질문 하나 말해서 보내기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28600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0604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 2번 이어가기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79476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93192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93192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고객 정보 입력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393192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5196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실행, 부족 보장 3개 메모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544068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7784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7784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7784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9788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오늘의 추천 고객 1명 열어보기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57784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9788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하나 골라 [이 고객으로 맞춤대화 시작]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7086600" y="1463040"/>
            <a:ext cx="1536192" cy="30175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23760" y="1627632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23760" y="162763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7223760" y="1938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223760" y="23317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43800" y="2286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 저장(나의 질문)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223760" y="32918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3246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만들어 내 카톡으로 먼저 받아보기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57200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뒤, 여러분은 이미 "기능 3종 이상 사용자"예요. 그 구간의 성과가 가장 높았어요.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8280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· 영업가족 편 · 2026.09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18388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972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물어보세요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7432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지식은 MeAI가 채우고, 도구가 손을 거들어요.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여러분은 고객을 향한 마음만 가져오면 됩니다.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3703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7033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10월, MeAI 대문에서 만나요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37033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370332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 세일즈혁신TF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포함)의 외부 제공·배포·게시(온/오프라인)는 금지됩니다. 미검증으로 인한 금융소비자보호법 등 관련 법령상 책임은 사용자에게 있습니다.</a:t>
            </a:r>
            <a:endParaRPr lang="en-US" sz="750" dirty="0"/>
          </a:p>
        </p:txBody>
      </p:sp>
      <p:pic>
        <p:nvPicPr>
          <p:cNvPr id="9" name="Image 0" descr="/tmp/claude-0/-home-user-MeAI/fc097454-2b30-54b4-8cdf-96642e2114b9/scratchpad/chars/00_dl-merry-a_rgb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005840"/>
            <a:ext cx="731520" cy="1051560"/>
          </a:xfrm>
          <a:prstGeom prst="rect">
            <a:avLst/>
          </a:prstGeom>
        </p:spPr>
      </p:pic>
      <p:pic>
        <p:nvPicPr>
          <p:cNvPr id="10" name="Image 1" descr="/tmp/claude-0/-home-user-MeAI/fc097454-2b30-54b4-8cdf-96642e2114b9/scratchpad/chars/02_dl-eco-a_rgb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95160" y="1005840"/>
            <a:ext cx="731520" cy="1051560"/>
          </a:xfrm>
          <a:prstGeom prst="rect">
            <a:avLst/>
          </a:prstGeom>
        </p:spPr>
      </p:pic>
      <p:pic>
        <p:nvPicPr>
          <p:cNvPr id="11" name="Image 2" descr="/tmp/claude-0/-home-user-MeAI/fc097454-2b30-54b4-8cdf-96642e2114b9/scratchpad/chars/03_dl-rara-a_rgb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863840" y="1005840"/>
            <a:ext cx="731520" cy="1051560"/>
          </a:xfrm>
          <a:prstGeom prst="rect">
            <a:avLst/>
          </a:prstGeom>
        </p:spPr>
      </p:pic>
      <p:pic>
        <p:nvPicPr>
          <p:cNvPr id="12" name="Image 3" descr="/tmp/claude-0/-home-user-MeAI/fc097454-2b30-54b4-8cdf-96642e2114b9/scratchpad/chars/05_dl-indi-a_rgb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26480" y="2331720"/>
            <a:ext cx="731520" cy="1051560"/>
          </a:xfrm>
          <a:prstGeom prst="rect">
            <a:avLst/>
          </a:prstGeom>
        </p:spPr>
      </p:pic>
      <p:pic>
        <p:nvPicPr>
          <p:cNvPr id="13" name="Image 4" descr="/tmp/claude-0/-home-user-MeAI/fc097454-2b30-54b4-8cdf-96642e2114b9/scratchpad/chars/07_dl-tata-a_rgba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95160" y="2331720"/>
            <a:ext cx="731520" cy="1051560"/>
          </a:xfrm>
          <a:prstGeom prst="rect">
            <a:avLst/>
          </a:prstGeom>
        </p:spPr>
      </p:pic>
      <p:pic>
        <p:nvPicPr>
          <p:cNvPr id="14" name="Image 5" descr="/tmp/claude-0/-home-user-MeAI/fc097454-2b30-54b4-8cdf-96642e2114b9/scratchpad/chars/08_dl-ziziry-a_rgba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863840" y="2331720"/>
            <a:ext cx="731520" cy="1051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v3 (영업가족 편 + 관리자 편)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2026-09-16T08:22:08Z</dcterms:created>
  <dcterms:modified xsi:type="dcterms:W3CDTF">2026-09-16T08:22:08Z</dcterms:modified>
</cp:coreProperties>
</file>