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notesMasterIdLst>
    <p:notesMasterId r:id="rId6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v3는 10월 MeAI 대문(CRM) 오픈에 맞춘 판입니다. PART 3 화면은 가안이라 오픈 시 달라질 수 있음을 먼저 안내하세요.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대상별 진입 파트. 영업가족은 1·2·4→5·6·7, 관리자는 1·9 순서로 안내합니다.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 첫 장. "이미 91%가 써봤다"에서 시작해 "다시 켜기"로 대화를 열어 주세요. 출처와 기간을 함께 말해 신뢰를 확보합니다.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전환 병목이 설계 단계였다는 점을 강조. 현장 화법 "고객 등록하고 MeAI만 켜면 설계까지는 거의 갑니다".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사용 강도별 표. 예외 없이 한 방향임을 짚고, 10일 이상 구간의 숫자를 읽어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현장 반론 3가지. 과장하지 않는 것이 신뢰를 만듭니다. "빨라진다"가 아니라 "성사된다".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프롬프트 하나 더 → 2.3배. 이 가이드북의 존재 이유이자 이후 PART 5·6의 목표입니다.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왜 대문인가. 보유고객 영업 시도 7% 미만, 이관고객 2% 미만이라는 문제에서 시작해 5단계 흐름을 설명합니다. 가안임을 다시 언급.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대문 화면 구성 5요소. 실제 프로토타입 화면입니다. 이름을 소리 내어 읽게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추천 카드 읽는 법. 이유 문장이 곧 첫 멘트라는 점, 태그 색 6종과 동의 상태 3종을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맞춤대화로 가는 두 길. 어느 길이든 고객 타겟팅이 끝난 상태로 대화가 열린다는 점이 핵심.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고객찾기 화면. 그룹 → 리스트 → 다음 행동의 3단 구조. 보장 기준 그룹과 영업 기회 그룹의 차이를 설명.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펼친 카드의 숫자 6개와 오른쪽 추천 질문. "MeAI에 이렇게 물어보세요"를 그대로 복사해 쓰는 시연을 권장.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게시판·고객 등록·동의. 사전조회 동의 필요 숫자가 곧 재취득 캠페인 목록임을 짚어 주세요. 모바일은 순차 적용.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아침 3분 루틴. 10월 이후 조회에서 반복 안내할 습관입니다.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"AI 선배" 비유를 심어두고 이후 반복 회수합니다. 실습: 각자 폰에서 일반대화 열기.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일반대화 vs 맞춤대화 구분이 뼈대. 진입 버튼(PC 대문/모바일)을 함께 보여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image" Target="../media/image-4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3" Type="http://schemas.openxmlformats.org/officeDocument/2006/relationships/image" Target="../media/image-64-3.png"/><Relationship Id="rId4" Type="http://schemas.openxmlformats.org/officeDocument/2006/relationships/image" Target="../media/image-64-4.png"/><Relationship Id="rId5" Type="http://schemas.openxmlformats.org/officeDocument/2006/relationships/image" Target="../media/image-64-5.png"/><Relationship Id="rId6" Type="http://schemas.openxmlformats.org/officeDocument/2006/relationships/image" Target="../media/image-6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1B64DA"/>
          </a:solidFill>
          <a:ln w="12700">
            <a:solidFill>
              <a:srgbClr val="1B64D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5486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 · 세일즈혁신TF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0584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 가이드북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83464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10월, MeAI 대문이 열립니다.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만날 고객을 MeAI가 먼저 추천하고, 대화까지 이어줍니다.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379476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3794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영업가족 편 + 관리자 편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0" y="3794760"/>
            <a:ext cx="22402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0" y="37947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2026.09 · 최신 화면 기준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v3 · MeAI 대문(CRM) 가안 포함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32120" y="685800"/>
            <a:ext cx="3246120" cy="402336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541264" y="704088"/>
            <a:ext cx="3227832" cy="27432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0" y="777240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24728" y="777240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0176" y="777240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749808"/>
            <a:ext cx="233172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5E8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74980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대문</a:t>
            </a:r>
            <a:endParaRPr lang="en-US" sz="600" dirty="0"/>
          </a:p>
        </p:txBody>
      </p:sp>
      <p:sp>
        <p:nvSpPr>
          <p:cNvPr id="18" name="Text 16"/>
          <p:cNvSpPr txBox="1"/>
          <p:nvPr/>
        </p:nvSpPr>
        <p:spPr>
          <a:xfrm>
            <a:off x="5678424" y="106984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D719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meritz | MeAI</a:t>
            </a:r>
            <a:endParaRPr lang="en-US" sz="700" dirty="0"/>
          </a:p>
        </p:txBody>
      </p:sp>
      <p:sp>
        <p:nvSpPr>
          <p:cNvPr id="19" name="Text 17"/>
          <p:cNvSpPr txBox="1"/>
          <p:nvPr/>
        </p:nvSpPr>
        <p:spPr>
          <a:xfrm>
            <a:off x="5678424" y="12984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D719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최현아</a:t>
            </a:r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님 안녕하세요,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도와드릴까요?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78424" y="1847088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769864" y="18928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일반대화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5769864" y="20756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약관·보장·상담 포인트</a:t>
            </a:r>
            <a:endParaRPr lang="en-US" sz="550" dirty="0"/>
          </a:p>
        </p:txBody>
      </p:sp>
      <p:sp>
        <p:nvSpPr>
          <p:cNvPr id="23" name="Shape 21"/>
          <p:cNvSpPr/>
          <p:nvPr/>
        </p:nvSpPr>
        <p:spPr>
          <a:xfrm>
            <a:off x="7187184" y="1847088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3A3D42"/>
          </a:solidFill>
          <a:ln w="12700">
            <a:solidFill>
              <a:srgbClr val="3A3D4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78624" y="18928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7278624" y="20756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50" dirty="0">
                <a:solidFill>
                  <a:srgbClr val="D1D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보장 내역 기반 답변</a:t>
            </a:r>
            <a:endParaRPr lang="en-US" sz="550" dirty="0"/>
          </a:p>
        </p:txBody>
      </p:sp>
      <p:sp>
        <p:nvSpPr>
          <p:cNvPr id="26" name="Shape 24"/>
          <p:cNvSpPr/>
          <p:nvPr/>
        </p:nvSpPr>
        <p:spPr>
          <a:xfrm>
            <a:off x="5678424" y="2459736"/>
            <a:ext cx="29260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769864" y="250545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고객 찾기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690104" y="2514600"/>
            <a:ext cx="822960" cy="201168"/>
          </a:xfrm>
          <a:prstGeom prst="roundRect">
            <a:avLst>
              <a:gd name="adj" fmla="val 27273"/>
            </a:avLst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90104" y="25146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고객찾기 →</a:t>
            </a:r>
            <a:endParaRPr lang="en-US" sz="550" dirty="0"/>
          </a:p>
        </p:txBody>
      </p:sp>
      <p:sp>
        <p:nvSpPr>
          <p:cNvPr id="30" name="Text 28"/>
          <p:cNvSpPr txBox="1"/>
          <p:nvPr/>
        </p:nvSpPr>
        <p:spPr>
          <a:xfrm>
            <a:off x="5769864" y="27614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342명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5769864" y="296265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전체 고객</a:t>
            </a:r>
            <a:endParaRPr lang="en-US" sz="480" dirty="0"/>
          </a:p>
        </p:txBody>
      </p:sp>
      <p:sp>
        <p:nvSpPr>
          <p:cNvPr id="32" name="Text 30"/>
          <p:cNvSpPr txBox="1"/>
          <p:nvPr/>
        </p:nvSpPr>
        <p:spPr>
          <a:xfrm>
            <a:off x="6483096" y="27614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137명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6483096" y="296265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 가능</a:t>
            </a:r>
            <a:endParaRPr lang="en-US" sz="480" dirty="0"/>
          </a:p>
        </p:txBody>
      </p:sp>
      <p:sp>
        <p:nvSpPr>
          <p:cNvPr id="34" name="Text 32"/>
          <p:cNvSpPr txBox="1"/>
          <p:nvPr/>
        </p:nvSpPr>
        <p:spPr>
          <a:xfrm>
            <a:off x="7196328" y="27614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186명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7196328" y="296265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사전조회 동의 필요</a:t>
            </a:r>
            <a:endParaRPr lang="en-US" sz="480" dirty="0"/>
          </a:p>
        </p:txBody>
      </p:sp>
      <p:sp>
        <p:nvSpPr>
          <p:cNvPr id="36" name="Text 34"/>
          <p:cNvSpPr txBox="1"/>
          <p:nvPr/>
        </p:nvSpPr>
        <p:spPr>
          <a:xfrm>
            <a:off x="7909560" y="27614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84명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7909560" y="2962656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상품제안 가능</a:t>
            </a:r>
            <a:endParaRPr lang="en-US" sz="480" dirty="0"/>
          </a:p>
        </p:txBody>
      </p:sp>
      <p:sp>
        <p:nvSpPr>
          <p:cNvPr id="38" name="Text 36"/>
          <p:cNvSpPr txBox="1"/>
          <p:nvPr/>
        </p:nvSpPr>
        <p:spPr>
          <a:xfrm>
            <a:off x="5678424" y="33101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추천 고객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678424" y="3538728"/>
            <a:ext cx="14173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769864" y="35844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최수영 47세</a:t>
            </a:r>
            <a:endParaRPr lang="en-US" sz="650" dirty="0"/>
          </a:p>
        </p:txBody>
      </p:sp>
      <p:sp>
        <p:nvSpPr>
          <p:cNvPr id="41" name="Text 39"/>
          <p:cNvSpPr txBox="1"/>
          <p:nvPr/>
        </p:nvSpPr>
        <p:spPr>
          <a:xfrm>
            <a:off x="5769864" y="37673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2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부담보 해제가 5일 남았습니다.</a:t>
            </a:r>
            <a:endParaRPr lang="en-US" sz="520" dirty="0"/>
          </a:p>
        </p:txBody>
      </p:sp>
      <p:sp>
        <p:nvSpPr>
          <p:cNvPr id="42" name="Text 40"/>
          <p:cNvSpPr txBox="1"/>
          <p:nvPr/>
        </p:nvSpPr>
        <p:spPr>
          <a:xfrm>
            <a:off x="5769864" y="410565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#즉시연락 #이벤트 임박</a:t>
            </a:r>
            <a:endParaRPr lang="en-US" sz="500" dirty="0"/>
          </a:p>
        </p:txBody>
      </p:sp>
      <p:sp>
        <p:nvSpPr>
          <p:cNvPr id="43" name="Text 41"/>
          <p:cNvSpPr txBox="1"/>
          <p:nvPr/>
        </p:nvSpPr>
        <p:spPr>
          <a:xfrm>
            <a:off x="5769864" y="427024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고객찾기에서 열기 →</a:t>
            </a:r>
            <a:endParaRPr lang="en-US" sz="500" dirty="0"/>
          </a:p>
        </p:txBody>
      </p:sp>
      <p:sp>
        <p:nvSpPr>
          <p:cNvPr id="44" name="Shape 42"/>
          <p:cNvSpPr/>
          <p:nvPr/>
        </p:nvSpPr>
        <p:spPr>
          <a:xfrm>
            <a:off x="7187184" y="3538728"/>
            <a:ext cx="14173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278624" y="35844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윤태기 35세</a:t>
            </a:r>
            <a:endParaRPr lang="en-US" sz="650" dirty="0"/>
          </a:p>
        </p:txBody>
      </p:sp>
      <p:sp>
        <p:nvSpPr>
          <p:cNvPr id="46" name="Text 44"/>
          <p:cNvSpPr txBox="1"/>
          <p:nvPr/>
        </p:nvSpPr>
        <p:spPr>
          <a:xfrm>
            <a:off x="7278624" y="37673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2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가입설계동의가 이달 말 만료됩니다.</a:t>
            </a:r>
            <a:endParaRPr lang="en-US" sz="520" dirty="0"/>
          </a:p>
        </p:txBody>
      </p:sp>
      <p:sp>
        <p:nvSpPr>
          <p:cNvPr id="47" name="Text 45"/>
          <p:cNvSpPr txBox="1"/>
          <p:nvPr/>
        </p:nvSpPr>
        <p:spPr>
          <a:xfrm>
            <a:off x="7278624" y="410565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#즉시연락 #보장 공백</a:t>
            </a:r>
            <a:endParaRPr lang="en-US" sz="500" dirty="0"/>
          </a:p>
        </p:txBody>
      </p:sp>
      <p:sp>
        <p:nvSpPr>
          <p:cNvPr id="48" name="Text 46"/>
          <p:cNvSpPr txBox="1"/>
          <p:nvPr/>
        </p:nvSpPr>
        <p:spPr>
          <a:xfrm>
            <a:off x="7278624" y="427024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고객찾기에서 열기 →</a:t>
            </a:r>
            <a:endParaRPr lang="en-US" sz="500" dirty="0"/>
          </a:p>
        </p:txBody>
      </p:sp>
      <p:pic>
        <p:nvPicPr>
          <p:cNvPr id="49" name="Image 0" descr="/tmp/claude-0/-home-user-MeAI/fc097454-2b30-54b4-8cdf-96642e2114b9/scratchpad/chars/01_dl-merry-b_rg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3429000"/>
            <a:ext cx="868680" cy="12435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 TO USE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가이드북, 이렇게 보세요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영업가족과 영업관리자가 함께 보는 책이에요. 필요한 파트부터 펼치세요.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1920240" cy="21488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7099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313432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31343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2 · 4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606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MeAI가 처음이라면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063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써야 하는지 숫자로 보고, MeAI가 무엇인지, 어디서 켜는지부터.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0" y="1508760"/>
            <a:ext cx="1920240" cy="21488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0" y="17099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6F7EE"/>
          </a:solidFill>
          <a:ln w="12700">
            <a:solidFill>
              <a:srgbClr val="E6F7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43200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0" y="2313432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E6F7EE"/>
          </a:solidFill>
          <a:ln w="12700">
            <a:solidFill>
              <a:srgbClr val="E6F7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43200" y="231343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5 · 6 · 7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2743200" y="2606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바로 써보고 싶다면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743200" y="3063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일반대화·맞춤대화 3단계, 요약 리포트를 카카오톡으로 보내기까지.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17720" y="1508760"/>
            <a:ext cx="1920240" cy="21488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17099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00600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00600" y="2313432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00600" y="231343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3 (NEW)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4800600" y="2606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열리는 대문이 궁금하다면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800600" y="3063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 오픈 MeAI 대문과 고객찾기. 추천 고객에서 맞춤대화까지 한 흐름.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675120" y="1508760"/>
            <a:ext cx="1920240" cy="21488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58000" y="170992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EECFC"/>
          </a:solidFill>
          <a:ln w="12700">
            <a:solidFill>
              <a:srgbClr val="EEECF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0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5C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858000" y="2313432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EEECFC"/>
          </a:solidFill>
          <a:ln w="12700">
            <a:solidFill>
              <a:srgbClr val="EEECF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0" y="231343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5C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9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0" y="2606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본부장·조직장이라면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0" y="3063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 데이터, 누구부터 챙길지, 조회 자료로 쓰는 법, 4주 도입 플랜.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3886200"/>
            <a:ext cx="8138160" cy="731520"/>
          </a:xfrm>
          <a:prstGeom prst="roundRect">
            <a:avLst>
              <a:gd name="adj" fmla="val 15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" y="4041648"/>
            <a:ext cx="411480" cy="411480"/>
          </a:xfrm>
          <a:prstGeom prst="roundRect">
            <a:avLst>
              <a:gd name="adj" fmla="val 28000"/>
            </a:avLst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40416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234440" y="397764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3의 MeAI 대문·고객찾기 화면은 가안이에요. 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 오픈 시 디자인과 문구가 달라질 수 있어요. 나머지 화면은 2026년 9월 기준 최신 화면이며, 예전 교육자료의 구버전 화면과는 다릅니다.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 개 파트, 64장으로 정리했어요. 영업가족 편(1~8, 10)과 관리자 편(9)을 함께 담았어요.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39776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1732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4173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지금 MeAI인가 · 숫자로 보기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141732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39776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41732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14173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MeAI, 이게 뭔가요?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909560" y="141732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p.10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2057400"/>
            <a:ext cx="3977640" cy="566928"/>
          </a:xfrm>
          <a:prstGeom prst="roundRect">
            <a:avLst>
              <a:gd name="adj" fmla="val 16129"/>
            </a:avLst>
          </a:prstGeom>
          <a:solidFill>
            <a:srgbClr val="FFEEF0"/>
          </a:solidFill>
          <a:ln w="9525">
            <a:solidFill>
              <a:srgbClr val="FFEE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205740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2057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NEW · MeAI 대문과 고객찾기 (10월 오픈)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749040" y="205740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p.15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2057400"/>
            <a:ext cx="39776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205740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20574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시작하기 · 접속과 화면 구성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909560" y="205740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p.24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2697480"/>
            <a:ext cx="39776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269748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26974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일반대화 · 무엇이든 물어보기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3749040" y="269748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p.29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2697480"/>
            <a:ext cx="39776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46320" y="269748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0" y="26974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 · 고객 한 명을 위한 대화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909560" y="269748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p.35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" y="3337560"/>
            <a:ext cx="39776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" y="333756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1325880" y="33375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리포트 · 카카오톡으로 보내기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3749040" y="333756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p.43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3337560"/>
            <a:ext cx="39776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846320" y="333756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0" y="33375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질문, 어렵지 않아요 · 고르기만 하면 돼요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7909560" y="333756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p.46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2920" y="3977640"/>
            <a:ext cx="3977640" cy="566928"/>
          </a:xfrm>
          <a:prstGeom prst="roundRect">
            <a:avLst>
              <a:gd name="adj" fmla="val 16129"/>
            </a:avLst>
          </a:prstGeom>
          <a:solidFill>
            <a:srgbClr val="EEECFC"/>
          </a:solidFill>
          <a:ln w="9525">
            <a:solidFill>
              <a:srgbClr val="EEECF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5800" y="397764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6B5C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1325880" y="39776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영업관리자 편 · 본부장·조직장을 위한 MeAI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3749040" y="397764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p.51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63440" y="3977640"/>
            <a:ext cx="39776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846320" y="397764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8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0" y="39776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활용 · 주의사항 · FAQ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7909560" y="397764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p.58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1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77840" y="82296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FFFFFF">
                    <a:alpha val="18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B64DA"/>
          </a:solidFill>
          <a:ln w="12700">
            <a:solidFill>
              <a:srgbClr val="1B6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234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01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002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지금 MeAI인가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숫자로 보기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651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8월 데이터분석팀 분석. 쓰는 사람과 안 쓰는 사람의 차이가 숫자로 나왔어요.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246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D6E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파트에서 배우는 것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21208" y="3630168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56616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 권한 부여자 12,043명의 사용 실태 (2025.10 ~ 2026.07)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21208" y="3922776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85876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체결 236,971건 · 신규고객 46,086명 효과 분석 (2026.03 ~ 07)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1208" y="421538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15137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"원래 될 고객이라 켠 것 아닌가?" 현장 반론에 대한 답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이미 쓰고 있어요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 명 중 아홉 분이 써봤고, 쓴 분의 계약이 2.8배 더 나왔어요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도구는 이미 손에 있어요. 남은 건 더 자주, 더 깊게 쓰는 일이에요.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1920240" cy="20116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459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91.1%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사용 경험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72491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10,968명이 한 번 이상 사용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1463040"/>
            <a:ext cx="1920240" cy="20116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743200" y="16459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62.8만건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발화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72491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 채널 전체 질문 수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17720" y="1463040"/>
            <a:ext cx="1920240" cy="2011680"/>
          </a:xfrm>
          <a:prstGeom prst="roundRect">
            <a:avLst>
              <a:gd name="adj" fmla="val 5714"/>
            </a:avLst>
          </a:prstGeom>
          <a:solidFill>
            <a:srgbClr val="3182F6"/>
          </a:solidFill>
          <a:ln w="9525">
            <a:solidFill>
              <a:srgbClr val="3182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16459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2.8배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체결전환율 차이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272491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D6E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미활용 12.7% → 활용 35.4%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75120" y="1463040"/>
            <a:ext cx="1920240" cy="2011680"/>
          </a:xfrm>
          <a:prstGeom prst="roundRect">
            <a:avLst>
              <a:gd name="adj" fmla="val 5714"/>
            </a:avLst>
          </a:prstGeom>
          <a:solidFill>
            <a:srgbClr val="3182F6"/>
          </a:solidFill>
          <a:ln w="9525">
            <a:solidFill>
              <a:srgbClr val="3182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0" y="16459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4배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FP 고객 간 비교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272491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D6E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미활용 9.0% → 활용 36.0%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3703320"/>
            <a:ext cx="8138160" cy="868680"/>
          </a:xfrm>
          <a:prstGeom prst="roundRect">
            <a:avLst>
              <a:gd name="adj" fmla="val 12632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37947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번도 안 써본 분은 1,075명(8.9%)뿐이에요. 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이 가이드북의 목표는 "새로 가르치기"가 아니라, 켜 놓고 잠든 MeAI를 다시 켜고 한 번 더 깊게 쓰게 하는 것이에요.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4617720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데이터분석팀 「MeAI 사용 실태 분석」·「MeAI 효과 분석」, 2026.08 · TA 개인영업 채널 기준</a:t>
            </a:r>
            <a:endParaRPr lang="en-US" sz="7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100명 중 35명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MeAI를 켠 고객은 거의 예외 없이 설계까지 갑니다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등록 고객이 실제 계약까지 가는 비율. 전환의 병목이 "설계 단계"에 있었고, MeAI가 그 구간을 뚫었어요.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63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1463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미활용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349240" y="1463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783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 고객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42,818명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349240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3,268명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2350008"/>
            <a:ext cx="7955280" cy="5486"/>
          </a:xfrm>
          <a:prstGeom prst="rect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2560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가계약 도달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0" y="2670048"/>
            <a:ext cx="784555" cy="237744"/>
          </a:xfrm>
          <a:prstGeom prst="rect">
            <a:avLst/>
          </a:prstGeom>
          <a:solidFill>
            <a:srgbClr val="B0B8C1"/>
          </a:solidFill>
          <a:ln w="12700">
            <a:solidFill>
              <a:srgbClr val="B0B8C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61995" y="25603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28.6%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49240" y="2670048"/>
            <a:ext cx="2331720" cy="237744"/>
          </a:xfrm>
          <a:prstGeom prst="rect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0" y="2560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85.0%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3127248"/>
            <a:ext cx="7955280" cy="5486"/>
          </a:xfrm>
          <a:prstGeom prst="rect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337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체결 도달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86000" y="3447288"/>
            <a:ext cx="348386" cy="237744"/>
          </a:xfrm>
          <a:prstGeom prst="rect">
            <a:avLst/>
          </a:prstGeom>
          <a:solidFill>
            <a:srgbClr val="B0B8C1"/>
          </a:solidFill>
          <a:ln w="12700">
            <a:solidFill>
              <a:srgbClr val="B0B8C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725826" y="3337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12.7%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49240" y="3447288"/>
            <a:ext cx="971093" cy="237744"/>
          </a:xfrm>
          <a:prstGeom prst="rect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11773" y="3337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35.4%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" y="3904488"/>
            <a:ext cx="7955280" cy="5486"/>
          </a:xfrm>
          <a:prstGeom prst="rect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4069080"/>
            <a:ext cx="3977640" cy="566928"/>
          </a:xfrm>
          <a:prstGeom prst="roundRect">
            <a:avLst>
              <a:gd name="adj" fmla="val 16129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40690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가계약 도달률 3.0배  </a:t>
            </a:r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6E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28.6% → 85.0%. 체결보다 격차가 더 큽니다.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4069080"/>
            <a:ext cx="39776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46320" y="40690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화법  </a:t>
            </a:r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"고객 등록하고 MeAI만 켜면 설계까지는 거의 갑니다."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46451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데이터분석팀 「MeAI 사용 실태 분석」·「MeAI 효과 분석」, 2026.08 · TA 개인영업 채널 기준 · 신규 등록 고객 46,086명</a:t>
            </a:r>
            <a:endParaRPr lang="en-US" sz="7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30" name="Text 28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쓸수록 올라갑니다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달에 며칠 쓰느냐에 따라, 모든 지표가 한 방향으로 움직여요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7월 한 달 MeAI 활동일 구간별 비교. 예외가 없습니다.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17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7월 활동일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417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인원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2697480" y="1417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 보유율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1417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가계약(건)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7360920" y="1417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매출자 평균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7190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미사용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171907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5,987명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97480" y="1810512"/>
            <a:ext cx="825429" cy="164592"/>
          </a:xfrm>
          <a:prstGeom prst="rect">
            <a:avLst/>
          </a:prstGeom>
          <a:solidFill>
            <a:srgbClr val="B0B8C1"/>
          </a:solidFill>
          <a:ln w="12700">
            <a:solidFill>
              <a:srgbClr val="B0B8C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96061" y="171907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53.1%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0" y="1810512"/>
            <a:ext cx="264780" cy="164592"/>
          </a:xfrm>
          <a:prstGeom prst="rect">
            <a:avLst/>
          </a:prstGeom>
          <a:solidFill>
            <a:srgbClr val="B0B8C1"/>
          </a:solidFill>
          <a:ln w="12700">
            <a:solidFill>
              <a:srgbClr val="B0B8C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67132" y="171907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10.22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7360920" y="171907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256,194원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5800" y="2121408"/>
            <a:ext cx="7955280" cy="4572"/>
          </a:xfrm>
          <a:prstGeom prst="rect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21762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1일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783080" y="217627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1,835명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697480" y="2267712"/>
            <a:ext cx="1237366" cy="164592"/>
          </a:xfrm>
          <a:prstGeom prst="rect">
            <a:avLst/>
          </a:prstGeom>
          <a:solidFill>
            <a:srgbClr val="B0B8C1"/>
          </a:solidFill>
          <a:ln w="12700">
            <a:solidFill>
              <a:srgbClr val="B0B8C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007998" y="217627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79.6%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0" y="2267712"/>
            <a:ext cx="513237" cy="164592"/>
          </a:xfrm>
          <a:prstGeom prst="rect">
            <a:avLst/>
          </a:prstGeom>
          <a:solidFill>
            <a:srgbClr val="B0B8C1"/>
          </a:solidFill>
          <a:ln w="12700">
            <a:solidFill>
              <a:srgbClr val="B0B8C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15589" y="217627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19.81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7360920" y="217627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310,383원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5800" y="2578608"/>
            <a:ext cx="7955280" cy="4572"/>
          </a:xfrm>
          <a:prstGeom prst="rect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26334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2~4일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783080" y="263347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2,487명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697480" y="2724912"/>
            <a:ext cx="1332189" cy="164592"/>
          </a:xfrm>
          <a:prstGeom prst="rect">
            <a:avLst/>
          </a:prstGeom>
          <a:solidFill>
            <a:srgbClr val="B0B8C1"/>
          </a:solidFill>
          <a:ln w="12700">
            <a:solidFill>
              <a:srgbClr val="B0B8C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102821" y="263347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85.7%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0" y="2724912"/>
            <a:ext cx="682676" cy="164592"/>
          </a:xfrm>
          <a:prstGeom prst="rect">
            <a:avLst/>
          </a:prstGeom>
          <a:solidFill>
            <a:srgbClr val="B0B8C1"/>
          </a:solidFill>
          <a:ln w="12700">
            <a:solidFill>
              <a:srgbClr val="B0B8C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785028" y="263347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26.35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7360920" y="263347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328,237원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85800" y="3035808"/>
            <a:ext cx="7955280" cy="4572"/>
          </a:xfrm>
          <a:prstGeom prst="rect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" y="30906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5~9일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783080" y="309067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1,372명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697480" y="3182112"/>
            <a:ext cx="1437894" cy="164592"/>
          </a:xfrm>
          <a:prstGeom prst="rect">
            <a:avLst/>
          </a:prstGeom>
          <a:solidFill>
            <a:srgbClr val="B0B8C1"/>
          </a:solidFill>
          <a:ln w="12700">
            <a:solidFill>
              <a:srgbClr val="B0B8C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208526" y="309067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92.5%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029200" y="3182112"/>
            <a:ext cx="996681" cy="164592"/>
          </a:xfrm>
          <a:prstGeom prst="rect">
            <a:avLst/>
          </a:prstGeom>
          <a:solidFill>
            <a:srgbClr val="B0B8C1"/>
          </a:solidFill>
          <a:ln w="12700">
            <a:solidFill>
              <a:srgbClr val="B0B8C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099033" y="309067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38.47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7360920" y="309067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378,083원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85800" y="3493008"/>
            <a:ext cx="7955280" cy="4572"/>
          </a:xfrm>
          <a:prstGeom prst="rect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" y="3493008"/>
            <a:ext cx="8092440" cy="457200"/>
          </a:xfrm>
          <a:prstGeom prst="roundRect">
            <a:avLst>
              <a:gd name="adj" fmla="val 12000"/>
            </a:avLst>
          </a:prstGeom>
          <a:solidFill>
            <a:srgbClr val="F2F7FF"/>
          </a:solidFill>
          <a:ln w="12700">
            <a:solidFill>
              <a:srgbClr val="F2F7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85800" y="35478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10일 이상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1783080" y="354787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362명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697480" y="3639312"/>
            <a:ext cx="1473647" cy="164592"/>
          </a:xfrm>
          <a:prstGeom prst="rect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244279" y="354787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94.8%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029200" y="3639312"/>
            <a:ext cx="1425976" cy="164592"/>
          </a:xfrm>
          <a:prstGeom prst="rect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528328" y="354787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55.04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7360920" y="354787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408,166원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85800" y="3950208"/>
            <a:ext cx="7955280" cy="4572"/>
          </a:xfrm>
          <a:prstGeom prst="rect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02920" y="4069080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40080" y="4069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 보유율 1.8배  </a:t>
            </a:r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53.1% → 94.8%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3246120" y="4069080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3383280" y="4069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가계약 5.4배  </a:t>
            </a:r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10.22건 → 55.04건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989320" y="4069080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126480" y="4069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매출자 평균 1.6배  </a:t>
            </a:r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25.6만원 → 40.8만원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502920" y="46451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데이터분석팀 「MeAI 사용 실태 분석」·「MeAI 효과 분석」, 2026.08 · TA 개인영업 채널 기준</a:t>
            </a:r>
            <a:endParaRPr lang="en-US" sz="700" dirty="0"/>
          </a:p>
        </p:txBody>
      </p:sp>
      <p:sp>
        <p:nvSpPr>
          <p:cNvPr id="58" name="Text 56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59" name="Text 57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현장 반론에 답하기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"원래 될 고객이라 MeAI를 켠 거 아닌가요?"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많이 나오는 세 가지 반론에, 데이터는 이렇게 답해요. 정확하게 말하면 오히려 더 잘 통해요.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2606040" cy="3154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27632"/>
            <a:ext cx="411480" cy="219456"/>
          </a:xfrm>
          <a:prstGeom prst="roundRect">
            <a:avLst>
              <a:gd name="adj" fmla="val 5000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276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572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원래 될 고객이라 켠 것 아닌가요?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0574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FP가 관리하는 고객끼리 비교했어요. 그래도 9.0% → 36.0%, 4배 차이가 납니다. FP 역량·조직·고객풀 차이로는 설명되지 않아요.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5800" y="3246120"/>
            <a:ext cx="2240280" cy="777240"/>
          </a:xfrm>
          <a:prstGeom prst="roundRect">
            <a:avLst>
              <a:gd name="adj" fmla="val 9412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31012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9.0%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31012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874520" y="331012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36.0%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7307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FP별로 따로 세어도 MeAI 우세 229 : 동률 98 : 미활용 우세 71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4114800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1463040"/>
            <a:ext cx="2606040" cy="3154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29000" y="1627632"/>
            <a:ext cx="411480" cy="219456"/>
          </a:xfrm>
          <a:prstGeom prst="roundRect">
            <a:avLst>
              <a:gd name="adj" fmla="val 5000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29000" y="16276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3931920" y="1572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계약이 더 빨라지나요?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429000" y="20574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속도는 크게 다르지 않아요. 소액 단순 건을 걷어내면 12일 vs 13일 수준. "빨라진다"가 아니라 "성사된다"로 말씀해 주세요.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29000" y="3246120"/>
            <a:ext cx="2240280" cy="777240"/>
          </a:xfrm>
          <a:prstGeom prst="roundRect">
            <a:avLst>
              <a:gd name="adj" fmla="val 9412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20440" y="331012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13일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343400" y="331012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617720" y="331012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12일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3520440" y="37307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체결 소요일 · 미활용 vs 활용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3246120" y="4114800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89320" y="1463040"/>
            <a:ext cx="2606040" cy="3154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72200" y="1627632"/>
            <a:ext cx="411480" cy="219456"/>
          </a:xfrm>
          <a:prstGeom prst="roundRect">
            <a:avLst>
              <a:gd name="adj" fmla="val 5000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72200" y="16276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Q3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6675120" y="1572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신인용 도구 아닌가요?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172200" y="20574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신인도 2배(16.0% → 33.0%)지만, 12차월을 넘은 기존 FP에서 격차가 더 큽니다. 10.0% → 38.6%, 3.9배. 경력자부터 권해도 되는 근거예요.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72200" y="3246120"/>
            <a:ext cx="2240280" cy="777240"/>
          </a:xfrm>
          <a:prstGeom prst="roundRect">
            <a:avLst>
              <a:gd name="adj" fmla="val 9412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63640" y="331012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10.0%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7086600" y="331012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360920" y="331012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38.6%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263640" y="37307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12차월 초과 기존 FP 체결전환율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5989320" y="4114800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02920" y="46451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데이터분석팀 「MeAI 사용 실태 분석」·「MeAI 효과 분석」, 2026.08 · TA 개인영업 채널 기준</a:t>
            </a:r>
            <a:endParaRPr lang="en-US" sz="700" dirty="0"/>
          </a:p>
        </p:txBody>
      </p:sp>
      <p:sp>
        <p:nvSpPr>
          <p:cNvPr id="39" name="Text 37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 · 그래서 이 가이드북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하나만 더 하면, 성과가 2.3배 달라져요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"보장분석 해줘" 하나만 쓰고 끝내는 분이 2,156명이에요. 두 번째 질문을 하게 만드는 것이 이 책의 목적이에요.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63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프롬프트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1463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인원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463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7월 발화(건)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1463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가계약(건)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78308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'보장분석 해줘' 하나만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17830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2,156명 (24.6%)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17830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77840" y="1901952"/>
            <a:ext cx="950184" cy="182880"/>
          </a:xfrm>
          <a:prstGeom prst="rect">
            <a:avLst/>
          </a:prstGeom>
          <a:solidFill>
            <a:srgbClr val="B0B8C1"/>
          </a:solidFill>
          <a:ln w="12700">
            <a:solidFill>
              <a:srgbClr val="B0B8C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19464" y="178308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11.99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235000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2개 사용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235000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1,892명 (21.6%)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235000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77840" y="2468880"/>
            <a:ext cx="1348801" cy="182880"/>
          </a:xfrm>
          <a:prstGeom prst="rect">
            <a:avLst/>
          </a:prstGeom>
          <a:solidFill>
            <a:srgbClr val="B0B8C1"/>
          </a:solidFill>
          <a:ln w="12700">
            <a:solidFill>
              <a:srgbClr val="B0B8C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18081" y="2350008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17.02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862072"/>
            <a:ext cx="8092440" cy="530352"/>
          </a:xfrm>
          <a:prstGeom prst="roundRect">
            <a:avLst>
              <a:gd name="adj" fmla="val 10345"/>
            </a:avLst>
          </a:prstGeom>
          <a:solidFill>
            <a:srgbClr val="F2F7FF"/>
          </a:solidFill>
          <a:ln w="12700">
            <a:solidFill>
              <a:srgbClr val="F2F7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291693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3개 이상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743200" y="2916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4,629명 (52.7%)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206240" y="2916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14.1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77840" y="3035808"/>
            <a:ext cx="2202302" cy="182880"/>
          </a:xfrm>
          <a:prstGeom prst="rect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71582" y="29169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27.79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611880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발화 15.7배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40050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0.9건 → 14.1건. 질문을 이어가는 사람은 대화 자체가 길어요.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46120" y="3611880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42900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가계약 2.3배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429000" y="40050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11.99건 → 27.79건. 세 번째 질문부터 성과가 벌어져요.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89320" y="3611880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191F28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7220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부탁드릴 것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172200" y="40050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1D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 아래 꼬리질문 버튼을 한 번 더. 이 책의 PART 5·6이 그 방법이에요.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02920" y="46451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데이터분석팀 「MeAI 사용 실태 분석」·「MeAI 효과 분석」, 2026.08 · TA 개인영업 채널 기준 · 사용 경험자 8,778명 기준</a:t>
            </a:r>
            <a:endParaRPr lang="en-US" sz="700" dirty="0"/>
          </a:p>
        </p:txBody>
      </p:sp>
      <p:sp>
        <p:nvSpPr>
          <p:cNvPr id="35" name="Text 33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77840" y="82296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FFFFFF">
                    <a:alpha val="18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B64DA"/>
          </a:solidFill>
          <a:ln w="12700">
            <a:solidFill>
              <a:srgbClr val="1B6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234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02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002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MeAI,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이게 뭔가요?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651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보험영업만 공부한 AI 선배가 24시간 옆에 있어요.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246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D6E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파트에서 배우는 것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21208" y="3630168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56616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한 줄 정의와 할 수 있는 일 5가지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21208" y="3922776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85876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일반대화와 맞춤대화, 두 가지 대화의 차이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1208" y="421538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15137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전문가에게 나눠 보내는 MeAI의 두뇌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2 · MeAI란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MeAI는 보험영업만 공부한 'AI 선배'예요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메시지 보내듯 물어보면, 약관과 상품을 근거로 답해줘요. 컴퓨터가 서툴러도 괜찮아요.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4206240" cy="676656"/>
          </a:xfrm>
          <a:prstGeom prst="roundRect">
            <a:avLst>
              <a:gd name="adj" fmla="val 13514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591056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55448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대기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8105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새벽이든 주말이든, 고객 앞에서든 바로 물어볼 수 있어요.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249424"/>
            <a:ext cx="4206240" cy="676656"/>
          </a:xfrm>
          <a:prstGeom prst="roundRect">
            <a:avLst>
              <a:gd name="adj" fmla="val 13514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377440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2377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34086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말하듯 질문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5968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어려운 명령어는 없어요. 카톡 보내듯 쓰거나, 마이크로 말하면 돼요.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3035808"/>
            <a:ext cx="4206240" cy="676656"/>
          </a:xfrm>
          <a:prstGeom prst="roundRect">
            <a:avLst>
              <a:gd name="adj" fmla="val 13514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163824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163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約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12724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있는 답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3832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자사·타사 약관과 상품 자료를 찾아 근거와 함께 답해요.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3822192"/>
            <a:ext cx="4206240" cy="676656"/>
          </a:xfrm>
          <a:prstGeom prst="roundRect">
            <a:avLst>
              <a:gd name="adj" fmla="val 13514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3950208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" y="3950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∞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39136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번이든 OK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41696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틀려도, 다시 물어도 지치지 않아요. 꼬리질문으로 깊이 파도 돼요.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257800" y="1325880"/>
            <a:ext cx="2194560" cy="3337560"/>
          </a:xfrm>
          <a:prstGeom prst="roundRect">
            <a:avLst>
              <a:gd name="adj" fmla="val 9167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321808" y="1389888"/>
            <a:ext cx="2066544" cy="3209544"/>
          </a:xfrm>
          <a:prstGeom prst="roundRect">
            <a:avLst>
              <a:gd name="adj" fmla="val 75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58968" y="14356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9:41</a:t>
            </a:r>
            <a:endParaRPr lang="en-US" sz="650" dirty="0"/>
          </a:p>
        </p:txBody>
      </p:sp>
      <p:sp>
        <p:nvSpPr>
          <p:cNvPr id="28" name="Text 26"/>
          <p:cNvSpPr txBox="1"/>
          <p:nvPr/>
        </p:nvSpPr>
        <p:spPr>
          <a:xfrm>
            <a:off x="6748272" y="143560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▂▄▆ ◠ ▮</a:t>
            </a:r>
            <a:endParaRPr lang="en-US" sz="550" dirty="0"/>
          </a:p>
        </p:txBody>
      </p:sp>
      <p:sp>
        <p:nvSpPr>
          <p:cNvPr id="29" name="Shape 27"/>
          <p:cNvSpPr/>
          <p:nvPr/>
        </p:nvSpPr>
        <p:spPr>
          <a:xfrm>
            <a:off x="6080760" y="4507992"/>
            <a:ext cx="548640" cy="36576"/>
          </a:xfrm>
          <a:prstGeom prst="roundRect">
            <a:avLst>
              <a:gd name="adj" fmla="val 5000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44768" y="16459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779008" y="1947672"/>
            <a:ext cx="1554480" cy="384048"/>
          </a:xfrm>
          <a:prstGeom prst="roundRect">
            <a:avLst>
              <a:gd name="adj" fmla="val 28571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870448" y="19933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갱신형 보험에 가입된 40대의</a:t>
            </a:r>
            <a:endParaRPr lang="en-US" sz="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평균 보험료가 얼마야?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5413248" y="2432304"/>
            <a:ext cx="1874520" cy="960120"/>
          </a:xfrm>
          <a:prstGeom prst="roundRect">
            <a:avLst>
              <a:gd name="adj" fmla="val 11429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504688" y="2478024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갱신형 보험에 가입한 40대의 월 평균 보험료는 약 56.8만원이에요. 이 수치를 근거로 고객이 비갱신으로 전환하도록 설득하면 좋을 것 같아요.</a:t>
            </a:r>
            <a:endParaRPr lang="en-US" sz="700" dirty="0"/>
          </a:p>
        </p:txBody>
      </p:sp>
      <p:sp>
        <p:nvSpPr>
          <p:cNvPr id="35" name="Text 33"/>
          <p:cNvSpPr txBox="1"/>
          <p:nvPr/>
        </p:nvSpPr>
        <p:spPr>
          <a:xfrm>
            <a:off x="5431536" y="34290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⧉   ✎   ♡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5413248" y="36850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2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예시를 클릭해서 바로 대화를 시작해 보세요!</a:t>
            </a:r>
            <a:endParaRPr lang="en-US" sz="620" dirty="0"/>
          </a:p>
        </p:txBody>
      </p:sp>
      <p:sp>
        <p:nvSpPr>
          <p:cNvPr id="37" name="Shape 35"/>
          <p:cNvSpPr/>
          <p:nvPr/>
        </p:nvSpPr>
        <p:spPr>
          <a:xfrm>
            <a:off x="5413248" y="3895344"/>
            <a:ext cx="1874520" cy="201168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413248" y="389534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↳ 보험료를 줄일 때 꼭 비갱신으로 유지해야 할 보장은?</a:t>
            </a:r>
            <a:endParaRPr lang="en-US" sz="550" dirty="0"/>
          </a:p>
        </p:txBody>
      </p:sp>
      <p:sp>
        <p:nvSpPr>
          <p:cNvPr id="39" name="Shape 37"/>
          <p:cNvSpPr/>
          <p:nvPr/>
        </p:nvSpPr>
        <p:spPr>
          <a:xfrm>
            <a:off x="5413248" y="4206240"/>
            <a:ext cx="18745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504688" y="4206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궁금한 점을 자유롭게 질문해 주세요</a:t>
            </a:r>
            <a:endParaRPr lang="en-US" sz="600" dirty="0"/>
          </a:p>
        </p:txBody>
      </p:sp>
      <p:sp>
        <p:nvSpPr>
          <p:cNvPr id="41" name="Text 39"/>
          <p:cNvSpPr txBox="1"/>
          <p:nvPr/>
        </p:nvSpPr>
        <p:spPr>
          <a:xfrm>
            <a:off x="6830568" y="42062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🎤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7040880" y="4242816"/>
            <a:ext cx="201168" cy="201168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257800" y="468172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MeAI 모바일 대화 화면 예시</a:t>
            </a:r>
            <a:endParaRPr lang="en-US" sz="800" dirty="0"/>
          </a:p>
        </p:txBody>
      </p:sp>
      <p:pic>
        <p:nvPicPr>
          <p:cNvPr id="44" name="Image 0" descr="/tmp/claude-0/-home-user-MeAI/fc097454-2b30-54b4-8cdf-96642e2114b9/scratchpad/chars/05_dl-indi-a_rg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3383280"/>
            <a:ext cx="777240" cy="1216152"/>
          </a:xfrm>
          <a:prstGeom prst="rect">
            <a:avLst/>
          </a:prstGeom>
        </p:spPr>
      </p:pic>
      <p:sp>
        <p:nvSpPr>
          <p:cNvPr id="45" name="Text 42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46" name="Text 43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2 · 할 수 있는 일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MeAI가 해주는 일, 다섯 가지만 기억하세요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 다섯 가지가 MeAI 화면의 메뉴와 버튼 이름 그대로예요.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" y="1645920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" y="1645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22402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 검색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542032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상품·특약·약관·의학 용어를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눈높이로 설명해줘요.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1261872" cy="621792"/>
          </a:xfrm>
          <a:prstGeom prst="roundRect">
            <a:avLst>
              <a:gd name="adj" fmla="val 11765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383280"/>
            <a:ext cx="1078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"간편 355가 무슨 뜻이야?"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48840" y="146304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13432" y="1645920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6F7EE"/>
          </a:solidFill>
          <a:ln w="12700">
            <a:solidFill>
              <a:srgbClr val="E6F7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313432" y="1645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⇄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313432" y="22402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 비교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313432" y="2542032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자사·타사 담보를 표로 비교하고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차이점을 정리해줘요.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0" y="3337560"/>
            <a:ext cx="1261872" cy="621792"/>
          </a:xfrm>
          <a:prstGeom prst="roundRect">
            <a:avLst>
              <a:gd name="adj" fmla="val 11765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377440" y="3383280"/>
            <a:ext cx="1078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"암진단비 vs 통합암진단비 비교해줘"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794760" y="146304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959352" y="1645920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959352" y="1645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◔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959352" y="22402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보장분석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959352" y="2542032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고객의 가입 내역을 읽고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부족한 보장을 찾아줘요.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931920" y="3337560"/>
            <a:ext cx="1261872" cy="621792"/>
          </a:xfrm>
          <a:prstGeom prst="roundRect">
            <a:avLst>
              <a:gd name="adj" fmla="val 11765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023360" y="3383280"/>
            <a:ext cx="1078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"보장분석 해줘"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40680" y="146304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605272" y="1645920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EECFC"/>
          </a:solidFill>
          <a:ln w="12700">
            <a:solidFill>
              <a:srgbClr val="EEECF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605272" y="1645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5C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✎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5605272" y="22402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상세설계·가계약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605272" y="2542032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말로 요청하면 담보 구성안을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정리해 설계를 도와줘요.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577840" y="3337560"/>
            <a:ext cx="1261872" cy="621792"/>
          </a:xfrm>
          <a:prstGeom prst="roundRect">
            <a:avLst>
              <a:gd name="adj" fmla="val 11765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669280" y="3383280"/>
            <a:ext cx="1078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6B5C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"암통합치료비 3천만원 추가한 설계안"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086600" y="1463040"/>
            <a:ext cx="1536192" cy="26517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51192" y="1645920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251192" y="1645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▤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7251192" y="22402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리포트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7251192" y="2542032"/>
            <a:ext cx="1261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내용을 리포트로 만들어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카카오톡으로 보내줘요.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223760" y="3337560"/>
            <a:ext cx="1261872" cy="621792"/>
          </a:xfrm>
          <a:prstGeom prst="roundRect">
            <a:avLst>
              <a:gd name="adj" fmla="val 11765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315200" y="3383280"/>
            <a:ext cx="1078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[요약 생성] 버튼 한 번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502920" y="42976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＋ 덤으로  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왼쪽 메뉴의 </a:t>
            </a:r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검색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 전사 약관 원문을 상품명으로 바로 찾을 수 있고, </a:t>
            </a:r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이력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 월별로 자동 저장돼요.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42" name="Text 40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2 · 두 가지 대화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일반대화와 맞춤대화, 두 가지만 구분하면 돼요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고객을 정하지 않고 묻는 대화와, 특정 고객의 보장분석을 옆에 두고 하는 대화예요.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397764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9164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691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일반대화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1691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무엇이든 물어보는 창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1031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고객을 특정하지 않아요. 상품·특약 개념, 화법, 약관 지식, 보장 비교 등 공부하고 준비할 때 써요.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743200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74320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상품·특약 개념 질문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017520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301752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자사·타사 보장 비교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291840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29184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설득 화법 만들기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566160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356616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지식 확인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931920"/>
            <a:ext cx="3520440" cy="384048"/>
          </a:xfrm>
          <a:prstGeom prst="roundRect">
            <a:avLst>
              <a:gd name="adj" fmla="val 1904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393192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진입: PC MeAI 대문 [일반대화] · 모바일 고객 목록 상단 [MeAI 일반대화]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63440" y="1463040"/>
            <a:ext cx="397764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169164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92040" y="1691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989320" y="1691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고객에게 무엇을 팔 것인가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892040" y="210312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한 명의 보장분석 데이터를 MeAI가 함께 봐요. 부족한 보장 찾기, 제안 준비, 리포트 발송까지 이어져요.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892040" y="2743200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120640" y="274320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정보 입력 → 보장분석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892040" y="3017520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120640" y="301752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부족 보장·제안 우선순위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892040" y="3291840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120640" y="329184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상세설계·가계약 요청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892040" y="3566160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120640" y="356616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리포트 → 카카오톡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92040" y="3931920"/>
            <a:ext cx="3520440" cy="384048"/>
          </a:xfrm>
          <a:prstGeom prst="roundRect">
            <a:avLst>
              <a:gd name="adj" fmla="val 1904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029200" y="393192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진입: PC MeAI 대문 [맞춤대화]·고객찾기 · 모바일 고객 카드 [MeAI]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502920" y="459028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처음엔 일반대화로 감을 익히고, 고객을 만나기 전에는 꼭 맞춤대화로 준비하세요.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2 · MeAI의 두뇌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알아서 나눠, 딱 맞는 전문가에게 보내요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병원의 안내 데스크처럼 질문의 의도를 읽고, 전문가별 답을 하나로 합쳐 돌려줘요.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1554480" cy="1051560"/>
          </a:xfrm>
          <a:prstGeom prst="roundRect">
            <a:avLst>
              <a:gd name="adj" fmla="val 10435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6916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질문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920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"C34 뭐야?"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19659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377440" y="1600200"/>
            <a:ext cx="1554480" cy="1051560"/>
          </a:xfrm>
          <a:prstGeom prst="roundRect">
            <a:avLst>
              <a:gd name="adj" fmla="val 10435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77440" y="16916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 데스크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1920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의도 파악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나누기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77640" y="19659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251960" y="1325880"/>
            <a:ext cx="25146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70832" y="1444752"/>
            <a:ext cx="146304" cy="146304"/>
          </a:xfrm>
          <a:prstGeom prst="ellipse">
            <a:avLst/>
          </a:prstGeom>
          <a:solidFill>
            <a:srgbClr val="8B95A1"/>
          </a:solidFill>
          <a:ln w="12700">
            <a:solidFill>
              <a:srgbClr val="8B95A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17720" y="13258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지식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394960" y="13258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C34가 어떤 질환군인지 정의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251960" y="1783080"/>
            <a:ext cx="25146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70832" y="1901952"/>
            <a:ext cx="146304" cy="14630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17720" y="17830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보상 전문가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17830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질환의 약관상 보장 범위·면책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251960" y="2240280"/>
            <a:ext cx="25146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0832" y="2359152"/>
            <a:ext cx="146304" cy="146304"/>
          </a:xfrm>
          <a:prstGeom prst="ellipse">
            <a:avLst/>
          </a:prstGeom>
          <a:solidFill>
            <a:srgbClr val="1FB16A"/>
          </a:solidFill>
          <a:ln w="12700">
            <a:solidFill>
              <a:srgbClr val="1FB16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17720" y="22402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심사 전문가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394960" y="22402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고지 항목과 인수심사 유의점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251960" y="2697480"/>
            <a:ext cx="25146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70832" y="2816352"/>
            <a:ext cx="146304" cy="146304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17720" y="26974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 전문가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394960" y="26974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고객에게 설명할 화법·제안 포인트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6784848" y="19659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7022592" y="1600200"/>
            <a:ext cx="1618488" cy="1051560"/>
          </a:xfrm>
          <a:prstGeom prst="roundRect">
            <a:avLst>
              <a:gd name="adj" fmla="val 10435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022592" y="1691640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6E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하나의 답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7022592" y="1920240"/>
            <a:ext cx="1618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정리된 답변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꼬리질문 제안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02920" y="329184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" y="3456432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34564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005840" y="3429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짧게 물어도 돼요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85800" y="3794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"C34 뭐야?" 다섯 글자에도 세 전문가의 답이 합쳐져 와요.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46120" y="329184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29000" y="3456432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429000" y="34564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3749040" y="3429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상황을 덧붙이면 더 정확해요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3429000" y="3794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"50대 남성 고객, 폐암 진단 후 보장 확인"처럼 배경을 주면 답이 더 뾰족해져요.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989320" y="329184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72200" y="3456432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172200" y="34564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6492240" y="3429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이어서 물어볼 질문까지 제안해요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6172200" y="3794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 아래 꼬리질문 버튼을 누르면 타이핑 없이 다음 대화로 이어져요.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49" name="Text 47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1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77840" y="82296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FFFFFF">
                    <a:alpha val="18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B64DA"/>
          </a:solidFill>
          <a:ln w="12700">
            <a:solidFill>
              <a:srgbClr val="1B6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234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03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002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NEW · MeAI 대문과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고객찾기 (CRM)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651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10월부터 MeAI가 오늘 만날 고객을 먼저 추천하고, 대화까지 바로 이어줘요.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246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D6E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파트에서 배우는 것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21208" y="3630168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56616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"찾는 영업"에서 "도착하는 영업"으로 바뀌는 이유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21208" y="3922776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85876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 화면 구성 · 추천 고객 카드 읽는 법 · 태그와 동의 상태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1208" y="421538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15137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검색 팝업 → 맞춤대화 · 고객찾기 그룹 → 이 고객으로 맞춤대화 시작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21208" y="4507992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44398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게시판 · 고객 등록 · 대문에서 시작하는 하루 3분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920" y="4526280"/>
            <a:ext cx="3291840" cy="237744"/>
          </a:xfrm>
          <a:prstGeom prst="roundRect">
            <a:avLst>
              <a:gd name="adj" fmla="val 50000"/>
            </a:avLst>
          </a:prstGeom>
          <a:solidFill>
            <a:srgbClr val="1B64DA"/>
          </a:solidFill>
          <a:ln w="12700">
            <a:solidFill>
              <a:srgbClr val="1B64D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2920" y="45262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화면은 가안이에요. 오픈 시 달라질 수 있어요.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3 · 왜 대문인가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"찾는 영업"에서 "도착하는 영업"으로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보유 고객 중 실제로 영업을 시도하는 비율은 7% 미만, 이관 고객은 2% 미만이에요. 누구에게 연락할지 고르는 일을 MeAI가 대신해요.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46520" y="347472"/>
            <a:ext cx="2194560" cy="219456"/>
          </a:xfrm>
          <a:prstGeom prst="roundRect">
            <a:avLst>
              <a:gd name="adj" fmla="val 50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46520" y="34747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가안 · 10월 오픈 예정 · 디자인 확정 전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1481328" cy="16002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645920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64592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38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컨텍스트 수집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240280"/>
            <a:ext cx="1261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계약·보상·부담보·VOC·유지·가족·지역 정보를 모아요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1965960" y="21031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148840" y="1508760"/>
            <a:ext cx="1481328" cy="16002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0" y="1645920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286000" y="164592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2286000" y="1938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자동 그루핑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286000" y="2240280"/>
            <a:ext cx="1261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20개 이상 세그먼트 규칙으로 매일 다시 계산해요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3611880" y="21031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794760" y="1508760"/>
            <a:ext cx="1481328" cy="1600200"/>
          </a:xfrm>
          <a:prstGeom prst="roundRect">
            <a:avLst>
              <a:gd name="adj" fmla="val 7407"/>
            </a:avLst>
          </a:prstGeom>
          <a:solidFill>
            <a:srgbClr val="3182F6"/>
          </a:solidFill>
          <a:ln w="9525">
            <a:solidFill>
              <a:srgbClr val="318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31920" y="1645920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1B64DA"/>
          </a:solidFill>
          <a:ln w="12700">
            <a:solidFill>
              <a:srgbClr val="1B64D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931920" y="164592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3931920" y="1938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넛지 전달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931920" y="2240280"/>
            <a:ext cx="1261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D6E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타겟 + 이유 + 첫 멘트를 대문 카드로 아침마다 보여줘요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5257800" y="21031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40680" y="1508760"/>
            <a:ext cx="1481328" cy="16002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577840" y="1645920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577840" y="164592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5577840" y="1938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영업가족 실행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577840" y="2240280"/>
            <a:ext cx="1261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원클릭으로 고객찾기 → 맞춤대화 → 리포트까지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6903720" y="21031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086600" y="1508760"/>
            <a:ext cx="1481328" cy="16002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223760" y="1645920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223760" y="164592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5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7223760" y="1938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피드백 학습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223760" y="2240280"/>
            <a:ext cx="1261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연락 결과와 다음 제안을 더 정확하게 만들어요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02920" y="3291840"/>
            <a:ext cx="2606040" cy="1325880"/>
          </a:xfrm>
          <a:prstGeom prst="roundRect">
            <a:avLst>
              <a:gd name="adj" fmla="val 6897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5800" y="3401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발굴은 시스템, 설득은 사람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85800" y="37033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누구에게 연락할지 고르는 시간을 없애고, 설계사는 고객을 만나는 일에 집중해요.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46120" y="3291840"/>
            <a:ext cx="2606040" cy="1325880"/>
          </a:xfrm>
          <a:prstGeom prst="roundRect">
            <a:avLst>
              <a:gd name="adj" fmla="val 6897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429000" y="3401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타겟에는 반드시 이유가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3429000" y="37033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"부담보 해제가 5일 남았습니다"처럼 연락 사유가 한 문장으로 붙어요. 첫 말을 고민할 필요가 없어요.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989320" y="3291840"/>
            <a:ext cx="2606040" cy="1325880"/>
          </a:xfrm>
          <a:prstGeom prst="roundRect">
            <a:avLst>
              <a:gd name="adj" fmla="val 6897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172200" y="3401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제로 클릭 시작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6172200" y="37033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카드에서 [MeAI 고객찾기에서 열기] → [이 고객으로 맞춤대화 시작]. 고객 타겟팅이 끝난 상태로 대화가 열려요.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46" name="Text 44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3 · 대문 화면 구성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대문, 한 화면에 오늘 할 일이 다 있어요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영업포탈에서 MeAI로 들어오면 이 화면이 먼저 열려요. 위에서 아래로 세 덩어리예요.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46520" y="347472"/>
            <a:ext cx="2194560" cy="219456"/>
          </a:xfrm>
          <a:prstGeom prst="roundRect">
            <a:avLst>
              <a:gd name="adj" fmla="val 50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46520" y="34747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가안 · 10월 오픈 예정 · 디자인 확정 전</a:t>
            </a:r>
            <a:endParaRPr lang="en-US" sz="750" dirty="0"/>
          </a:p>
        </p:txBody>
      </p:sp>
      <p:pic>
        <p:nvPicPr>
          <p:cNvPr id="7" name="Image 0" descr="/tmp/claude-0/-home-user-MeAI/fc097454-2b30-54b4-8cdf-96642e2114b9/scratchpad/crm/gate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3794760" cy="3291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977640" y="1481328"/>
            <a:ext cx="274320" cy="274320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977640" y="1481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977640" y="2359152"/>
            <a:ext cx="274320" cy="274320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977640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977640" y="3291840"/>
            <a:ext cx="274320" cy="274320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97764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108960" y="1417320"/>
            <a:ext cx="274320" cy="274320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108960" y="1417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960120" y="4434840"/>
            <a:ext cx="274320" cy="274320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6012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26280" y="1389888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26280" y="1389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4873752" y="1371600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 + 일반대화 · 맞춤대화 카드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873752" y="1645920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"OO님 안녕하세요, 무엇을 도와드릴까요?" 아래 두 카드. 일반대화는 약관·보장·상담 포인트, 맞춤대화는 고객 보장 내역 기반 답변. 맞춤대화를 누르면 고객 검색 팝업이 떠요.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526280" y="2057400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26280" y="2057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4873752" y="2039112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고객 찾기 (숫자 4개)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4873752" y="2313432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전체 고객 · 맞춤대화 가능 · 사전조회 동의 필요 · 상품제안 가능. 매일 아침 6시 기준으로 갱신돼요. [MeAI 고객찾기 →] 버튼으로 그룹 화면으로 이동.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526280" y="2724912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526280" y="2724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4873752" y="2706624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추천 고객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4873752" y="2980944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연락할 이유가 한 문장으로 붙은 고객 카드. 태그와 사전조회동의 남은 일수가 함께 보여요. 좌우 화살표로 넘겨보고, 카드의 [MeAI 고객찾기에서 열기]로 들어가요.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26280" y="3392424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526280" y="3392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4873752" y="3374136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등록 · 게시판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4873752" y="3648456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위. 가망 고객을 새로 등록하고, 게시판에서 공지·이슈·기능안내를 확인해요. 빨간 점은 새 글 표시.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4526280" y="4059936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526280" y="4059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4873752" y="4041648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태그·동의·유형 안내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4873752" y="4315968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맨 아래 범례. 태그 색 6종, 사전조회 동의 상태, 고객 유형(보유·가망·이관)의 뜻이 적혀 있어요. 다음 장에서 자세히.</a:t>
            </a:r>
            <a:endParaRPr lang="en-US" sz="800" dirty="0"/>
          </a:p>
        </p:txBody>
      </p:sp>
      <p:sp>
        <p:nvSpPr>
          <p:cNvPr id="38" name="Text 35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3 · 추천 고객 카드 읽는 법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한 장에 "누구 · 왜 · 언제까지"가 다 들어 있어요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카드를 읽을 수 있으면 대문의 절반은 끝이에요.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46520" y="347472"/>
            <a:ext cx="2194560" cy="219456"/>
          </a:xfrm>
          <a:prstGeom prst="roundRect">
            <a:avLst>
              <a:gd name="adj" fmla="val 50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46520" y="34747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가안 · 10월 오픈 예정 · 디자인 확정 전</a:t>
            </a:r>
            <a:endParaRPr lang="en-US" sz="750" dirty="0"/>
          </a:p>
        </p:txBody>
      </p:sp>
      <p:pic>
        <p:nvPicPr>
          <p:cNvPr id="7" name="Image 0" descr="/tmp/claude-0/-home-user-MeAI/fc097454-2b30-54b4-8cdf-96642e2114b9/scratchpad/crm/gate_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3017520" cy="23774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" y="1554480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5760" y="1554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" y="2148840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5760" y="2148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65760" y="2724912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5760" y="2724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65760" y="3017520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65760" y="3017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429000" y="3566160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429000" y="3566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794760" y="1389888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794760" y="1389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4142232" y="1371600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· 나이 · 유형 · 담당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4142232" y="164592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보유 / 가망 / 이관 중 하나. 담당자 표시.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3794760" y="1938528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794760" y="1938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4142232" y="1920240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연락할 이유 한 문장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4142232" y="219456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"부담보 해제가 5일 남았습니다. 해제 시점에 맞춰 재설계 여지가 생깁니다." 첫 멘트로 그대로 써도 돼요.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794760" y="2487168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794760" y="2487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4142232" y="2468880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태그 (색으로 성격 구분)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4142232" y="274320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즉시연락·이벤트 임박처럼 지금 왜 이 고객인지 알려줘요.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3794760" y="3035808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794760" y="3035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4142232" y="3017520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사전조회동의 D-25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4142232" y="329184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 만료까지 남은 날. 만료면 "사전조회동의 필요"로 바뀌고 재취득부터 해야 해요.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3794760" y="3584448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794760" y="3584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4142232" y="3566160"/>
            <a:ext cx="2167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고객찾기에서 열기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4142232" y="384048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고객찾기 화면의 이 고객 카드로 바로 이동. 거기서 맞춤대화 시작.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6446520" y="1371600"/>
            <a:ext cx="2194560" cy="3291840"/>
          </a:xfrm>
          <a:prstGeom prst="roundRect">
            <a:avLst>
              <a:gd name="adj" fmla="val 4167"/>
            </a:avLst>
          </a:prstGeom>
          <a:solidFill>
            <a:srgbClr val="F9FAFB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1463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태그 6종 · 색으로 읽어요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6583680" y="1783080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583680" y="17830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 공백</a:t>
            </a:r>
            <a:endParaRPr lang="en-US" sz="700" dirty="0"/>
          </a:p>
        </p:txBody>
      </p:sp>
      <p:sp>
        <p:nvSpPr>
          <p:cNvPr id="42" name="Text 39"/>
          <p:cNvSpPr txBox="1"/>
          <p:nvPr/>
        </p:nvSpPr>
        <p:spPr>
          <a:xfrm>
            <a:off x="7360920" y="178308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부족한 담보가 있어요</a:t>
            </a:r>
            <a:endParaRPr lang="en-US" sz="730" dirty="0"/>
          </a:p>
        </p:txBody>
      </p:sp>
      <p:sp>
        <p:nvSpPr>
          <p:cNvPr id="43" name="Shape 40"/>
          <p:cNvSpPr/>
          <p:nvPr/>
        </p:nvSpPr>
        <p:spPr>
          <a:xfrm>
            <a:off x="6583680" y="2112264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EEECFC"/>
          </a:solidFill>
          <a:ln w="12700">
            <a:solidFill>
              <a:srgbClr val="EEECFC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583680" y="211226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5C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당월 타겟</a:t>
            </a:r>
            <a:endParaRPr lang="en-US" sz="700" dirty="0"/>
          </a:p>
        </p:txBody>
      </p:sp>
      <p:sp>
        <p:nvSpPr>
          <p:cNvPr id="45" name="Text 42"/>
          <p:cNvSpPr txBox="1"/>
          <p:nvPr/>
        </p:nvSpPr>
        <p:spPr>
          <a:xfrm>
            <a:off x="7360920" y="2112264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달 영업 목표 대상</a:t>
            </a:r>
            <a:endParaRPr lang="en-US" sz="730" dirty="0"/>
          </a:p>
        </p:txBody>
      </p:sp>
      <p:sp>
        <p:nvSpPr>
          <p:cNvPr id="46" name="Shape 43"/>
          <p:cNvSpPr/>
          <p:nvPr/>
        </p:nvSpPr>
        <p:spPr>
          <a:xfrm>
            <a:off x="6583680" y="2441448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6583680" y="244144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이벤트 임박</a:t>
            </a:r>
            <a:endParaRPr lang="en-US" sz="700" dirty="0"/>
          </a:p>
        </p:txBody>
      </p:sp>
      <p:sp>
        <p:nvSpPr>
          <p:cNvPr id="48" name="Text 45"/>
          <p:cNvSpPr txBox="1"/>
          <p:nvPr/>
        </p:nvSpPr>
        <p:spPr>
          <a:xfrm>
            <a:off x="7360920" y="244144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만기·해제·상령일이 코앞</a:t>
            </a:r>
            <a:endParaRPr lang="en-US" sz="730" dirty="0"/>
          </a:p>
        </p:txBody>
      </p:sp>
      <p:sp>
        <p:nvSpPr>
          <p:cNvPr id="49" name="Shape 46"/>
          <p:cNvSpPr/>
          <p:nvPr/>
        </p:nvSpPr>
        <p:spPr>
          <a:xfrm>
            <a:off x="6583680" y="2770632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6583680" y="277063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즉시연락</a:t>
            </a:r>
            <a:endParaRPr lang="en-US" sz="700" dirty="0"/>
          </a:p>
        </p:txBody>
      </p:sp>
      <p:sp>
        <p:nvSpPr>
          <p:cNvPr id="51" name="Text 48"/>
          <p:cNvSpPr txBox="1"/>
          <p:nvPr/>
        </p:nvSpPr>
        <p:spPr>
          <a:xfrm>
            <a:off x="7360920" y="277063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전화해야 하는 고객</a:t>
            </a:r>
            <a:endParaRPr lang="en-US" sz="730" dirty="0"/>
          </a:p>
        </p:txBody>
      </p:sp>
      <p:sp>
        <p:nvSpPr>
          <p:cNvPr id="52" name="Shape 49"/>
          <p:cNvSpPr/>
          <p:nvPr/>
        </p:nvSpPr>
        <p:spPr>
          <a:xfrm>
            <a:off x="6583680" y="3099816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E6F7EE"/>
          </a:solidFill>
          <a:ln w="12700">
            <a:solidFill>
              <a:srgbClr val="E6F7EE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6583680" y="309981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영업타이밍</a:t>
            </a:r>
            <a:endParaRPr lang="en-US" sz="700" dirty="0"/>
          </a:p>
        </p:txBody>
      </p:sp>
      <p:sp>
        <p:nvSpPr>
          <p:cNvPr id="54" name="Text 51"/>
          <p:cNvSpPr txBox="1"/>
          <p:nvPr/>
        </p:nvSpPr>
        <p:spPr>
          <a:xfrm>
            <a:off x="7360920" y="309981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제안하기 좋은 시점</a:t>
            </a:r>
            <a:endParaRPr lang="en-US" sz="730" dirty="0"/>
          </a:p>
        </p:txBody>
      </p:sp>
      <p:sp>
        <p:nvSpPr>
          <p:cNvPr id="55" name="Shape 52"/>
          <p:cNvSpPr/>
          <p:nvPr/>
        </p:nvSpPr>
        <p:spPr>
          <a:xfrm>
            <a:off x="6583680" y="3429000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6583680" y="342900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관리타이밍</a:t>
            </a:r>
            <a:endParaRPr lang="en-US" sz="700" dirty="0"/>
          </a:p>
        </p:txBody>
      </p:sp>
      <p:sp>
        <p:nvSpPr>
          <p:cNvPr id="57" name="Text 54"/>
          <p:cNvSpPr txBox="1"/>
          <p:nvPr/>
        </p:nvSpPr>
        <p:spPr>
          <a:xfrm>
            <a:off x="7360920" y="342900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이탈위험·민원 등 관리 필요</a:t>
            </a:r>
            <a:endParaRPr lang="en-US" sz="730" dirty="0"/>
          </a:p>
        </p:txBody>
      </p:sp>
      <p:sp>
        <p:nvSpPr>
          <p:cNvPr id="58" name="Shape 55"/>
          <p:cNvSpPr/>
          <p:nvPr/>
        </p:nvSpPr>
        <p:spPr>
          <a:xfrm>
            <a:off x="6583680" y="3794760"/>
            <a:ext cx="1920240" cy="4572"/>
          </a:xfrm>
          <a:prstGeom prst="rect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6583680" y="38587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 상태 3종</a:t>
            </a:r>
            <a:endParaRPr lang="en-US" sz="850" dirty="0"/>
          </a:p>
        </p:txBody>
      </p:sp>
      <p:sp>
        <p:nvSpPr>
          <p:cNvPr id="60" name="Text 57"/>
          <p:cNvSpPr txBox="1"/>
          <p:nvPr/>
        </p:nvSpPr>
        <p:spPr>
          <a:xfrm>
            <a:off x="6583680" y="404164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사전조회동의 D-n  유효 · 남은 일수</a:t>
            </a:r>
            <a:endParaRPr lang="en-US" sz="73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7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사전조회동의 필요  만료 · 재취득</a:t>
            </a:r>
            <a:endParaRPr lang="en-US" sz="73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7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사전조회동의 철회  정보 확인 불가</a:t>
            </a:r>
            <a:endParaRPr lang="en-US" sz="730" dirty="0"/>
          </a:p>
        </p:txBody>
      </p:sp>
      <p:sp>
        <p:nvSpPr>
          <p:cNvPr id="61" name="Text 58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3 · 맞춤대화 시작 두 가지 길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대문에서 맞춤대화로 가는 길은 두 개예요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이름을 알면 검색 팝업, 누구를 만날지 고민이면 고객찾기. 어느 길이든 고객이 정해진 상태로 대화가 열려요.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46520" y="347472"/>
            <a:ext cx="2194560" cy="219456"/>
          </a:xfrm>
          <a:prstGeom prst="roundRect">
            <a:avLst>
              <a:gd name="adj" fmla="val 50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46520" y="34747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가안 · 10월 오픈 예정 · 디자인 확정 전</a:t>
            </a:r>
            <a:endParaRPr lang="en-US" sz="750" dirty="0"/>
          </a:p>
        </p:txBody>
      </p:sp>
      <p:pic>
        <p:nvPicPr>
          <p:cNvPr id="7" name="Image 0" descr="/tmp/claude-0/-home-user-MeAI/fc097454-2b30-54b4-8cdf-96642e2114b9/scratchpad/crm/gate_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2880360" cy="32735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11880" y="1371600"/>
            <a:ext cx="50292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794760" y="1508760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94760" y="15087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 1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4709160" y="14904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 [맞춤대화] 카드 → 고객 검색 팝업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794760" y="1874520"/>
            <a:ext cx="219456" cy="219456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94760" y="18745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4096512" y="18288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이름을 입력하면 내 고객 목록이 좁혀져요 (예: 홍길동).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794760" y="2203704"/>
            <a:ext cx="219456" cy="219456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794760" y="22037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4096512" y="215798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줄에 사전조회동의 D-n이 보여요. 철회·만료 고객은 회색으로 표시돼요.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794760" y="2532888"/>
            <a:ext cx="219456" cy="219456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794760" y="25328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4096512" y="2487168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[맞춤대화] 버튼을 누르면 팝업이 닫히고 그 고객의 맞춤대화가 시작돼요.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611880" y="3063240"/>
            <a:ext cx="50292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794760" y="3200400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794760" y="32004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 2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4709160" y="31821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카드 · 고객찾기 → [이 고객으로 맞춤대화 시작]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3794760" y="3566160"/>
            <a:ext cx="219456" cy="219456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794760" y="3566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4096512" y="352044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추천 고객 카드에서 [MeAI 고객찾기에서 열기].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794760" y="3895344"/>
            <a:ext cx="219456" cy="219456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794760" y="38953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096512" y="384962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카드가 펼쳐지고 오른쪽에 "MeAI에 이렇게 물어보세요" 추천 질문이 떠요.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794760" y="4224528"/>
            <a:ext cx="219456" cy="219456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794760" y="42245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800" dirty="0"/>
          </a:p>
        </p:txBody>
      </p:sp>
      <p:sp>
        <p:nvSpPr>
          <p:cNvPr id="33" name="Text 30"/>
          <p:cNvSpPr txBox="1"/>
          <p:nvPr/>
        </p:nvSpPr>
        <p:spPr>
          <a:xfrm>
            <a:off x="4096512" y="4178808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[이 고객으로 맞춤대화 시작] → 고객 타겟팅이 끝난 상태로 맞춤대화 화면에 진입해요.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35" name="Text 32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3 · 고객찾기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고객 DB를 MeAI가 그룹으로 다시 묶어줘요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"암진단비 부족 35명"처럼 그룹을 누르면 그 조건의 고객만 나열돼요. 조건과 인원이 매일 아침 갱신돼요.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46520" y="347472"/>
            <a:ext cx="2194560" cy="219456"/>
          </a:xfrm>
          <a:prstGeom prst="roundRect">
            <a:avLst>
              <a:gd name="adj" fmla="val 50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46520" y="34747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가안 · 10월 오픈 예정 · 디자인 확정 전</a:t>
            </a:r>
            <a:endParaRPr lang="en-US" sz="750" dirty="0"/>
          </a:p>
        </p:txBody>
      </p:sp>
      <p:pic>
        <p:nvPicPr>
          <p:cNvPr id="7" name="Image 0" descr="/tmp/claude-0/-home-user-MeAI/fc097454-2b30-54b4-8cdf-96642e2114b9/scratchpad/crm/proto_MG-FIND-0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5120640" cy="3200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" y="1737360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5760" y="1737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331720" y="1325880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331720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977640" y="1600200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977640" y="1600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32120" y="2788920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532120" y="2788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852160" y="1389888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852160" y="1389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371600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그룹 (왼쪽)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6199632" y="1645920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등록 고객 / 보장 기준(암·뇌·심진단비 부족, 표적항암 부족, 종수술비 부족, 지원일당 없음, 치아 부족) / 영업 기회(당월 영업 타겟, 증권 5건 이상, 월 50만원 이상, 상령일·생일 D-n 등)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5852160" y="2194560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852160" y="2194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6199632" y="2176272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검색창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6199632" y="2450592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또는 조건으로 바로 검색 (예: 홍길동, 암진단비)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5852160" y="2999232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852160" y="2999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6199632" y="2980944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리스트 (가운데)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6199632" y="3255264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설명 한 줄 + 고객마다 연락 이유 한 문장 + 동의 상태. AI 추천 고객 리본이 붙은 카드부터 보세요.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5852160" y="3803904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852160" y="3803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6199632" y="3785616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행동 (오른쪽)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6199632" y="4059936"/>
            <a:ext cx="244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고객에게 물어볼 추천 질문과 [보장분석] [이 고객으로 맞춤대화 시작] 버튼</a:t>
            </a:r>
            <a:endParaRPr lang="en-US" sz="780" dirty="0"/>
          </a:p>
        </p:txBody>
      </p:sp>
      <p:sp>
        <p:nvSpPr>
          <p:cNvPr id="32" name="Text 29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33" name="Text 30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3 · 고객 카드와 다음 행동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카드를 펼치면 숫자 6개, 오른쪽에는 물어볼 질문까지 준비돼요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고객 한눈에 보기"로 상황을 잡고, 추천 질문을 복사해 맞춤대화로 들어가면 3분이면 준비가 끝나요.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46520" y="347472"/>
            <a:ext cx="2194560" cy="219456"/>
          </a:xfrm>
          <a:prstGeom prst="roundRect">
            <a:avLst>
              <a:gd name="adj" fmla="val 50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46520" y="34747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가안 · 10월 오픈 예정 · 디자인 확정 전</a:t>
            </a:r>
            <a:endParaRPr lang="en-US" sz="750" dirty="0"/>
          </a:p>
        </p:txBody>
      </p:sp>
      <p:pic>
        <p:nvPicPr>
          <p:cNvPr id="7" name="Image 0" descr="/tmp/claude-0/-home-user-MeAI/fc097454-2b30-54b4-8cdf-96642e2114b9/scratchpad/crm/find_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4572000" cy="2468880"/>
          </a:xfrm>
          <a:prstGeom prst="rect">
            <a:avLst/>
          </a:prstGeom>
        </p:spPr>
      </p:pic>
      <p:pic>
        <p:nvPicPr>
          <p:cNvPr id="8" name="Image 1" descr="/tmp/claude-0/-home-user-MeAI/fc097454-2b30-54b4-8cdf-96642e2114b9/scratchpad/crm/find_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337560" cy="2788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02920" y="38587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펼친 고객 카드 · 이 고객 한눈에 보기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5303520" y="4178808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패널 · 다음 행동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502920" y="4114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가입한 보험</a:t>
            </a:r>
            <a:endParaRPr lang="en-US" sz="750" dirty="0"/>
          </a:p>
        </p:txBody>
      </p:sp>
      <p:sp>
        <p:nvSpPr>
          <p:cNvPr id="12" name="Text 8"/>
          <p:cNvSpPr txBox="1"/>
          <p:nvPr/>
        </p:nvSpPr>
        <p:spPr>
          <a:xfrm>
            <a:off x="1417320" y="411480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장기 3건</a:t>
            </a:r>
            <a:endParaRPr lang="en-US" sz="800" dirty="0"/>
          </a:p>
        </p:txBody>
      </p:sp>
      <p:sp>
        <p:nvSpPr>
          <p:cNvPr id="13" name="Text 9"/>
          <p:cNvSpPr txBox="1"/>
          <p:nvPr/>
        </p:nvSpPr>
        <p:spPr>
          <a:xfrm>
            <a:off x="2039112" y="4114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보험료 납입</a:t>
            </a:r>
            <a:endParaRPr lang="en-US" sz="750" dirty="0"/>
          </a:p>
        </p:txBody>
      </p:sp>
      <p:sp>
        <p:nvSpPr>
          <p:cNvPr id="14" name="Text 10"/>
          <p:cNvSpPr txBox="1"/>
          <p:nvPr/>
        </p:nvSpPr>
        <p:spPr>
          <a:xfrm>
            <a:off x="2953512" y="411480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142만원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3575304" y="4114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접촉기회</a:t>
            </a:r>
            <a:endParaRPr lang="en-US" sz="750" dirty="0"/>
          </a:p>
        </p:txBody>
      </p:sp>
      <p:sp>
        <p:nvSpPr>
          <p:cNvPr id="16" name="Text 12"/>
          <p:cNvSpPr txBox="1"/>
          <p:nvPr/>
        </p:nvSpPr>
        <p:spPr>
          <a:xfrm>
            <a:off x="4489704" y="411480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계약변경조회</a:t>
            </a:r>
            <a:endParaRPr lang="en-US" sz="800" dirty="0"/>
          </a:p>
        </p:txBody>
      </p:sp>
      <p:sp>
        <p:nvSpPr>
          <p:cNvPr id="17" name="Text 13"/>
          <p:cNvSpPr txBox="1"/>
          <p:nvPr/>
        </p:nvSpPr>
        <p:spPr>
          <a:xfrm>
            <a:off x="502920" y="43891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부족 금액</a:t>
            </a:r>
            <a:endParaRPr lang="en-US" sz="750" dirty="0"/>
          </a:p>
        </p:txBody>
      </p:sp>
      <p:sp>
        <p:nvSpPr>
          <p:cNvPr id="18" name="Text 14"/>
          <p:cNvSpPr txBox="1"/>
          <p:nvPr/>
        </p:nvSpPr>
        <p:spPr>
          <a:xfrm>
            <a:off x="1417320" y="43891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1,000만원</a:t>
            </a:r>
            <a:endParaRPr lang="en-US" sz="800" dirty="0"/>
          </a:p>
        </p:txBody>
      </p:sp>
      <p:sp>
        <p:nvSpPr>
          <p:cNvPr id="19" name="Text 15"/>
          <p:cNvSpPr txBox="1"/>
          <p:nvPr/>
        </p:nvSpPr>
        <p:spPr>
          <a:xfrm>
            <a:off x="2039112" y="43891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1-5종수술비(plus)</a:t>
            </a:r>
            <a:endParaRPr lang="en-US" sz="750" dirty="0"/>
          </a:p>
        </p:txBody>
      </p:sp>
      <p:sp>
        <p:nvSpPr>
          <p:cNvPr id="20" name="Text 16"/>
          <p:cNvSpPr txBox="1"/>
          <p:nvPr/>
        </p:nvSpPr>
        <p:spPr>
          <a:xfrm>
            <a:off x="2953512" y="43891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3575304" y="43891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표적항암약물허가치료비</a:t>
            </a:r>
            <a:endParaRPr lang="en-US" sz="750" dirty="0"/>
          </a:p>
        </p:txBody>
      </p:sp>
      <p:sp>
        <p:nvSpPr>
          <p:cNvPr id="22" name="Text 18"/>
          <p:cNvSpPr txBox="1"/>
          <p:nvPr/>
        </p:nvSpPr>
        <p:spPr>
          <a:xfrm>
            <a:off x="4489704" y="43891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미확인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5303520" y="4389120"/>
            <a:ext cx="3337560" cy="274320"/>
          </a:xfrm>
          <a:prstGeom prst="roundRect">
            <a:avLst>
              <a:gd name="adj" fmla="val 20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394960" y="4389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질문은 일반대화용·맞춤대화용 두 가지. 그대로 복사해 쓰면 돼요.</a:t>
            </a:r>
            <a:endParaRPr lang="en-US" sz="800" dirty="0"/>
          </a:p>
        </p:txBody>
      </p:sp>
      <p:sp>
        <p:nvSpPr>
          <p:cNvPr id="25" name="Text 21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26" name="Text 22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3 · 게시판 · 고객 등록 · 동의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공지는 게시판에서, 가망 고객은 등록으로, 동의는 D-n으로 챙겨요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 오른쪽 위 두 버튼과, 카드마다 붙는 동의 상태만 알면 나머지는 자연스럽게 따라와요.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46520" y="347472"/>
            <a:ext cx="2194560" cy="219456"/>
          </a:xfrm>
          <a:prstGeom prst="roundRect">
            <a:avLst>
              <a:gd name="adj" fmla="val 50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46520" y="34747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가안 · 10월 오픈 예정 · 디자인 확정 전</a:t>
            </a:r>
            <a:endParaRPr lang="en-US" sz="750" dirty="0"/>
          </a:p>
        </p:txBody>
      </p:sp>
      <p:pic>
        <p:nvPicPr>
          <p:cNvPr id="7" name="Image 0" descr="/tmp/claude-0/-home-user-MeAI/fc097454-2b30-54b4-8cdf-96642e2114b9/scratchpad/crm/proto_MG-BOARD-0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4023360" cy="2514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02920" y="391363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게시판 · 공지사항 / 이슈 / 기능안내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754880" y="1371600"/>
            <a:ext cx="388620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150876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92040" y="15087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게시판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4892040" y="179222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공지사항(대문 오픈, 동의 절차 변경) · 이슈(응답 지연, 결과 누락 조치) · 기능안내(고객찾기 사용법, 일반·맞춤대화 구분). 새 글은 대문 버튼에 빨간 점.</a:t>
            </a:r>
            <a:endParaRPr lang="en-US" sz="830" dirty="0"/>
          </a:p>
        </p:txBody>
      </p:sp>
      <p:sp>
        <p:nvSpPr>
          <p:cNvPr id="13" name="Shape 10"/>
          <p:cNvSpPr/>
          <p:nvPr/>
        </p:nvSpPr>
        <p:spPr>
          <a:xfrm>
            <a:off x="4754880" y="2468880"/>
            <a:ext cx="388620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92040" y="260604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E6F7EE"/>
          </a:solidFill>
          <a:ln w="12700">
            <a:solidFill>
              <a:srgbClr val="E6F7E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92040" y="26060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등록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4892040" y="288950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 오른쪽 위 [고객 등록]. 새 가망 고객을 등록하면 고객찾기의 "신규 등록 고객" 그룹에 들어가요. 등록 후 사전조회 동의를 받아야 맞춤대화가 가능해요.</a:t>
            </a:r>
            <a:endParaRPr lang="en-US" sz="830" dirty="0"/>
          </a:p>
        </p:txBody>
      </p:sp>
      <p:sp>
        <p:nvSpPr>
          <p:cNvPr id="17" name="Shape 14"/>
          <p:cNvSpPr/>
          <p:nvPr/>
        </p:nvSpPr>
        <p:spPr>
          <a:xfrm>
            <a:off x="4754880" y="3566160"/>
            <a:ext cx="388620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892040" y="370332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92040" y="37033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사전조회 동의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4892040" y="398678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 상태는 준실시간(약 15분)으로 반영돼요. "사전조회 동의 필요" 숫자(예: 186명)는 동의 재취득 캠페인 목록이에요. 철회 고객은 정보 확인이 막혀요.</a:t>
            </a:r>
            <a:endParaRPr lang="en-US" sz="830" dirty="0"/>
          </a:p>
        </p:txBody>
      </p:sp>
      <p:sp>
        <p:nvSpPr>
          <p:cNvPr id="21" name="Shape 18"/>
          <p:cNvSpPr/>
          <p:nvPr/>
        </p:nvSpPr>
        <p:spPr>
          <a:xfrm>
            <a:off x="502920" y="4160520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0080" y="416052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 대문·고객찾기는 이후 순차 적용 예정이에요. 우선 PC에서 열어보세요.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24" name="Text 21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3 · 대문에서 시작하는 하루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 3분, 대문만 열면 오늘 연락할 사람과 첫 말이 정해져요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10월부터 권해 드리는 아침 루틴이에요. 익숙해지면 정말 3분이에요.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46520" y="347472"/>
            <a:ext cx="2194560" cy="219456"/>
          </a:xfrm>
          <a:prstGeom prst="roundRect">
            <a:avLst>
              <a:gd name="adj" fmla="val 50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46520" y="34747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가안 · 10월 오픈 예정 · 디자인 확정 전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64592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☀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1645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240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 열기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56032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영업포탈 → MeAI. 내 고객 숫자 4개를 훑어요. "사전조회 동의 필요"가 늘었는지 확인.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404872" y="25146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560320" y="146304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0" y="164592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432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▤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337560" y="1645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743200" y="2240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고객 3장 읽기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743200" y="256032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추천 고객 카드의 이유 문장과 태그를 읽어요. 즉시연락·이벤트 임박부터.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462272" y="25146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617720" y="146304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164592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006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394960" y="1645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800600" y="2240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고객찾기에서 열기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800600" y="256032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[MeAI 고객찾기에서 열기] → 펼친 카드의 숫자 6개로 상황 파악. 추천 질문 복사.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519672" y="25146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675120" y="146304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58000" y="164592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↑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452360" y="1645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0" y="2240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 → 리포트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0" y="256032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[이 고객으로 맞춤대화 시작] → "보장분석 해줘" → 꼬리질문 → 요약 리포트를 카카오톡으로.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" y="4023360"/>
            <a:ext cx="8138160" cy="621792"/>
          </a:xfrm>
          <a:prstGeom prst="roundRect">
            <a:avLst>
              <a:gd name="adj" fmla="val 14706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1520" y="4023360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기억할 것  </a:t>
            </a:r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카드의 이유 문장은 고객에게 하는 첫 말이 되고, 오른쪽 추천 질문은 MeAI에게 하는 첫 질문이 돼요. 두 문장이 준비돼 있으니 망설일 이유가 없어요.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31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77840" y="82296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FFFFFF">
                    <a:alpha val="18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B64DA"/>
          </a:solidFill>
          <a:ln w="12700">
            <a:solidFill>
              <a:srgbClr val="1B6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234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04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002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시작하기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접속과 화면 구성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651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PC와 모바일, 어디서 켜고 어디를 누르는지 알아봐요.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246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D6E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파트에서 배우는 것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21208" y="3630168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56616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PC와 모바일 두 가지 접속 방법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21208" y="3922776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85876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 앱에서 MeAI로 들어가는 3단계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1208" y="421538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15137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화면과 모바일 화면의 구성 요소 이름 익히기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4 · 접속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PC에서도, 핸드폰에서도 똑같이 써요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기능은 같아요. 사무실에서는 PC, 고객 앞에서는 모바일이 편해요.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39776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9164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🖥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198424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영업포탈 → MeAI 대문 → 일반대화 / 맞춤대화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4688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4688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화면으로 표와 리포트 보기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8346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834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메뉴에서 약관 검색·대화 이력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2004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2004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리포트 편집과 복사가 편해요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5661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5661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대문의 추천 고객·고객찾기에서 바로 연결 (10월~)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1463040"/>
            <a:ext cx="39776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92040" y="169164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E6F7EE"/>
          </a:solidFill>
          <a:ln w="12700">
            <a:solidFill>
              <a:srgbClr val="E6F7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920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📱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577840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577840" y="198424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영업지원모바일 app → 보장분석 → MeAI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892040" y="24688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166360" y="24688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앞에서 폰만 꺼내면 끝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892040" y="28346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166360" y="2834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마이크로 말하면 질문 완성(음성 입력)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892040" y="32004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166360" y="32004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카드의 [MeAI] 버튼으로 맞춤대화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892040" y="35661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166360" y="35661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리포트를 카카오톡으로 바로 발송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2920" y="4343400"/>
            <a:ext cx="8138160" cy="384048"/>
          </a:xfrm>
          <a:prstGeom prst="roundRect">
            <a:avLst>
              <a:gd name="adj" fmla="val 23810"/>
            </a:avLst>
          </a:prstGeom>
          <a:solidFill>
            <a:srgbClr val="F2F7FF"/>
          </a:solidFill>
          <a:ln w="12700">
            <a:solidFill>
              <a:srgbClr val="F2F7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" y="434340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 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이력과 저장한 나의 질문은 PC와 모바일에서 똑같이 보여요. 사무실에서 준비하고, 현장에서 이어가세요.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4 · 모바일 진입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핸드폰에서 MeAI 켜는 법, 딱 세 번 터치예요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영업지원모바일 app 홈에서 시작해요. 실제 화면이에요.</a:t>
            </a:r>
            <a:endParaRPr lang="en-US" sz="1100" dirty="0"/>
          </a:p>
        </p:txBody>
      </p:sp>
      <p:pic>
        <p:nvPicPr>
          <p:cNvPr id="5" name="Image 0" descr="/tmp/claude-0/-home-user-MeAI/fc097454-2b30-54b4-8cdf-96642e2114b9/scratchpad/shots/entry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600200" cy="3246120"/>
          </a:xfrm>
          <a:prstGeom prst="rect">
            <a:avLst/>
          </a:prstGeom>
        </p:spPr>
      </p:pic>
      <p:pic>
        <p:nvPicPr>
          <p:cNvPr id="6" name="Image 1" descr="/tmp/claude-0/-home-user-MeAI/fc097454-2b30-54b4-8cdf-96642e2114b9/scratchpad/shots/entry_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371600"/>
            <a:ext cx="1691640" cy="32461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65760" y="2331720"/>
            <a:ext cx="274320" cy="274320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36576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023360" y="2286000"/>
            <a:ext cx="274320" cy="274320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023360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023360" y="3081528"/>
            <a:ext cx="274320" cy="274320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023360" y="3081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64515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앱 홈</a:t>
            </a:r>
            <a:endParaRPr lang="en-US" sz="800" dirty="0"/>
          </a:p>
        </p:txBody>
      </p:sp>
      <p:sp>
        <p:nvSpPr>
          <p:cNvPr id="14" name="Text 10"/>
          <p:cNvSpPr txBox="1"/>
          <p:nvPr/>
        </p:nvSpPr>
        <p:spPr>
          <a:xfrm>
            <a:off x="2377440" y="464515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③ 고객 목록(보장분석)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4434840" y="1481328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434840" y="1481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4782312" y="1463040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홈에서 [보장분석] 아이콘 터치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4782312" y="1737360"/>
            <a:ext cx="3767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 화면 가운데 아이콘 묶음의 첫 번째가 보장분석이에요. 여기가 MeAI로 들어가는 문이에요.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4434840" y="2350008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434840" y="2350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4782312" y="2331720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상단 [MeAI 일반대화] = 무엇이든 묻는 창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4782312" y="2606040"/>
            <a:ext cx="3767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목록 위, 고객등록 버튼 옆에 있어요. 고객을 정하지 않은 공부·비교 질문은 여기서.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4434840" y="3218688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434840" y="3218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4782312" y="3200400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카드의 [MeAI] = 그 고객 맞춤대화</a:t>
            </a:r>
            <a:endParaRPr lang="en-US" sz="1150" dirty="0"/>
          </a:p>
        </p:txBody>
      </p:sp>
      <p:sp>
        <p:nvSpPr>
          <p:cNvPr id="26" name="Text 22"/>
          <p:cNvSpPr txBox="1"/>
          <p:nvPr/>
        </p:nvSpPr>
        <p:spPr>
          <a:xfrm>
            <a:off x="4782312" y="3474720"/>
            <a:ext cx="3767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고객마다 붙어 있는 보라색 MeAI 버튼을 누르면, 그 고객의 보장분석을 옆에 둔 맞춤대화가 열려요.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4434840" y="4069080"/>
            <a:ext cx="4114800" cy="566928"/>
          </a:xfrm>
          <a:prstGeom prst="roundRect">
            <a:avLst>
              <a:gd name="adj" fmla="val 16129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572000" y="4069080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TIP  </a:t>
            </a:r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목록 상단에 </a:t>
            </a:r>
            <a:pPr algn="l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"오늘 보장분석 활용 : 3회 (제한 횟수 : 일일 300회)"</a:t>
            </a:r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보여요. 하루 사용 한도가 표시되는 곳이니 참고하세요.</a:t>
            </a:r>
            <a:endParaRPr lang="en-US" sz="950" dirty="0"/>
          </a:p>
        </p:txBody>
      </p:sp>
      <p:sp>
        <p:nvSpPr>
          <p:cNvPr id="29" name="Text 25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30" name="Text 26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4 · PC 화면 구성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화면, 이름부터 익혀두면 헤매지 않아요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왼쪽은 메뉴, 가운데는 대화, 아래는 입력창. 세 덩어리예요.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534924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12064" y="1389888"/>
            <a:ext cx="5330952" cy="27432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63040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1463040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0976" y="1463040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1435608"/>
            <a:ext cx="443484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5E8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80160" y="1435608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MeritzFire Sales AI · MeAI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512064" y="1664208"/>
            <a:ext cx="1325880" cy="3026664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" y="177393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D719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meritz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563624" y="1773936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⊟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" y="21671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 약관 검색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649224" y="23957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📖  사용 가이드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649224" y="27614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9월</a:t>
            </a:r>
            <a:endParaRPr lang="en-US" sz="650" dirty="0"/>
          </a:p>
        </p:txBody>
      </p:sp>
      <p:sp>
        <p:nvSpPr>
          <p:cNvPr id="18" name="Text 16"/>
          <p:cNvSpPr txBox="1"/>
          <p:nvPr/>
        </p:nvSpPr>
        <p:spPr>
          <a:xfrm>
            <a:off x="649224" y="296265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D719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New_chat</a:t>
            </a:r>
            <a:endParaRPr lang="en-US" sz="7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" y="316382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40대 남성 암보험 비교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" y="336499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간편심사 상품 고지 항목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" y="36301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8월</a:t>
            </a:r>
            <a:endParaRPr lang="en-US" sz="650" dirty="0"/>
          </a:p>
        </p:txBody>
      </p:sp>
      <p:sp>
        <p:nvSpPr>
          <p:cNvPr id="22" name="Text 20"/>
          <p:cNvSpPr txBox="1"/>
          <p:nvPr/>
        </p:nvSpPr>
        <p:spPr>
          <a:xfrm>
            <a:off x="649224" y="383133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통합치료비 화법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" y="403250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실손 세대별 차이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21792" y="4306824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" y="43068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대화하기  ⊕</a:t>
            </a:r>
            <a:endParaRPr lang="en-US" sz="700" dirty="0"/>
          </a:p>
        </p:txBody>
      </p:sp>
      <p:sp>
        <p:nvSpPr>
          <p:cNvPr id="26" name="Text 24"/>
          <p:cNvSpPr txBox="1"/>
          <p:nvPr/>
        </p:nvSpPr>
        <p:spPr>
          <a:xfrm>
            <a:off x="2020824" y="198424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안녕하세요
</a:t>
            </a:r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D719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</a:t>
            </a:r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도와드릴까요?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2020824" y="27157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일도 할 수 있어요. 아래 질문 예시를 클릭해서 바로 대화를 시작해 보세요!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2020824" y="2962656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020824" y="29626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⇄ 보장 비교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2990088" y="2962656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990088" y="29626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지식 검색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3959352" y="2962656"/>
            <a:ext cx="91440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959352" y="29626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☺ 자주하는 질문</a:t>
            </a:r>
            <a:endParaRPr lang="en-US" sz="650" dirty="0"/>
          </a:p>
        </p:txBody>
      </p:sp>
      <p:sp>
        <p:nvSpPr>
          <p:cNvPr id="34" name="Text 32"/>
          <p:cNvSpPr txBox="1"/>
          <p:nvPr/>
        </p:nvSpPr>
        <p:spPr>
          <a:xfrm>
            <a:off x="2020824" y="32369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↳ 암진단비와 통합암진단비의 차이점을 고객 관점에서 쉽게 이해할 수 있게 비교해줘</a:t>
            </a:r>
            <a:endParaRPr lang="en-US" sz="630" dirty="0"/>
          </a:p>
        </p:txBody>
      </p:sp>
      <p:sp>
        <p:nvSpPr>
          <p:cNvPr id="35" name="Text 33"/>
          <p:cNvSpPr txBox="1"/>
          <p:nvPr/>
        </p:nvSpPr>
        <p:spPr>
          <a:xfrm>
            <a:off x="2020824" y="34564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↳ 표적항암약물허가치료비 종류별 특약이 타사의 일반적인 1회성 표적항암약물 담보보다 더 좋은 이유를 설명해줘</a:t>
            </a:r>
            <a:endParaRPr lang="en-US" sz="630" dirty="0"/>
          </a:p>
        </p:txBody>
      </p:sp>
      <p:sp>
        <p:nvSpPr>
          <p:cNvPr id="36" name="Text 34"/>
          <p:cNvSpPr txBox="1"/>
          <p:nvPr/>
        </p:nvSpPr>
        <p:spPr>
          <a:xfrm>
            <a:off x="2020824" y="36758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↳ 메리츠 암진단및치료비가 가지는 상품경쟁력을 타사 암진단비와 비교해서 설명해줘</a:t>
            </a:r>
            <a:endParaRPr lang="en-US" sz="630" dirty="0"/>
          </a:p>
        </p:txBody>
      </p:sp>
      <p:sp>
        <p:nvSpPr>
          <p:cNvPr id="37" name="Shape 35"/>
          <p:cNvSpPr/>
          <p:nvPr/>
        </p:nvSpPr>
        <p:spPr>
          <a:xfrm>
            <a:off x="2020824" y="3995928"/>
            <a:ext cx="370332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130552" y="399592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업무와 관련하여 궁금한 점을 자유롭게 질문해 주세요.</a:t>
            </a:r>
            <a:endParaRPr lang="en-US" sz="650" dirty="0"/>
          </a:p>
        </p:txBody>
      </p:sp>
      <p:sp>
        <p:nvSpPr>
          <p:cNvPr id="39" name="Text 37"/>
          <p:cNvSpPr txBox="1"/>
          <p:nvPr/>
        </p:nvSpPr>
        <p:spPr>
          <a:xfrm>
            <a:off x="5221224" y="3995928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🎤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5449824" y="4059936"/>
            <a:ext cx="201168" cy="201168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449824" y="40599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↑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2020824" y="437997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MeAI의 답변은 생성형 AI를 통해 작성되어 오류가 있을 수 있으므로, 반드시 직접 근거자료를 확인하여 진위를 검증하시기 바랍니다.</a:t>
            </a:r>
            <a:endParaRPr lang="en-US" sz="500" dirty="0"/>
          </a:p>
        </p:txBody>
      </p:sp>
      <p:sp>
        <p:nvSpPr>
          <p:cNvPr id="43" name="Shape 41"/>
          <p:cNvSpPr/>
          <p:nvPr/>
        </p:nvSpPr>
        <p:spPr>
          <a:xfrm>
            <a:off x="1655064" y="2121408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655064" y="21214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655064" y="2926080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655064" y="29260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655064" y="4251960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655064" y="42519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175504" y="2926080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175504" y="29260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084064" y="3813048"/>
            <a:ext cx="237744" cy="23774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084064" y="38130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080760" y="1389888"/>
            <a:ext cx="256032" cy="256032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080760" y="1389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6428232" y="137160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검색 · 사용 가이드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6428232" y="164592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전사 약관을 상품명으로 검색하고, 화면 안내(사용 가이드)를 다시 볼 수 있어요.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080760" y="2057400"/>
            <a:ext cx="256032" cy="256032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080760" y="2057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6428232" y="203911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이력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6428232" y="2313432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대화가 월별로 자동 저장돼요. 클릭하면 그 대화를 이어서 할 수 있어요.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080760" y="2724912"/>
            <a:ext cx="256032" cy="256032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080760" y="2724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6428232" y="270662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대화하기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6428232" y="2980944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주제가 바뀌면 새 대화를 열어요. 이전 대화와 섞이지 않아 답이 정확해요.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080760" y="3392424"/>
            <a:ext cx="256032" cy="256032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080760" y="3392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67" name="Text 65"/>
          <p:cNvSpPr txBox="1"/>
          <p:nvPr/>
        </p:nvSpPr>
        <p:spPr>
          <a:xfrm>
            <a:off x="6428232" y="337413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예시 탭</a:t>
            </a:r>
            <a:endParaRPr lang="en-US" sz="1000" dirty="0"/>
          </a:p>
        </p:txBody>
      </p:sp>
      <p:sp>
        <p:nvSpPr>
          <p:cNvPr id="68" name="Text 66"/>
          <p:cNvSpPr txBox="1"/>
          <p:nvPr/>
        </p:nvSpPr>
        <p:spPr>
          <a:xfrm>
            <a:off x="6428232" y="3648456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 비교 · 지식 검색 · 자주하는 질문 세 탭. 예시를 클릭하면 바로 답변이 시작돼요.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6080760" y="4059936"/>
            <a:ext cx="256032" cy="256032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6080760" y="4059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71" name="Text 69"/>
          <p:cNvSpPr txBox="1"/>
          <p:nvPr/>
        </p:nvSpPr>
        <p:spPr>
          <a:xfrm>
            <a:off x="6428232" y="404164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입력창 · 마이크 · 전송</a:t>
            </a:r>
            <a:endParaRPr lang="en-US" sz="1000" dirty="0"/>
          </a:p>
        </p:txBody>
      </p:sp>
      <p:sp>
        <p:nvSpPr>
          <p:cNvPr id="72" name="Text 70"/>
          <p:cNvSpPr txBox="1"/>
          <p:nvPr/>
        </p:nvSpPr>
        <p:spPr>
          <a:xfrm>
            <a:off x="6428232" y="4315968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입력하거나 마이크로 말해요. 아래 안내문처럼 답은 꼭 근거 확인 후 사용해요.</a:t>
            </a:r>
            <a:endParaRPr lang="en-US" sz="850" dirty="0"/>
          </a:p>
        </p:txBody>
      </p:sp>
      <p:sp>
        <p:nvSpPr>
          <p:cNvPr id="73" name="Text 71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74" name="Text 72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4 · 모바일 화면 구성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 화면은 더 단순해요. 버튼 네 개만 알면 돼요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일반대화 화면 기준이에요. 맞춤대화는 상단 버튼이 두 개 더 생겨요(PART 6).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14400" y="1325880"/>
            <a:ext cx="2240280" cy="3429000"/>
          </a:xfrm>
          <a:prstGeom prst="roundRect">
            <a:avLst>
              <a:gd name="adj" fmla="val 898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78408" y="1389888"/>
            <a:ext cx="2112264" cy="3300984"/>
          </a:xfrm>
          <a:prstGeom prst="roundRect">
            <a:avLst>
              <a:gd name="adj" fmla="val 73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15568" y="14356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9:41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2450592" y="143560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▂▄▆ ◠ ▮</a:t>
            </a:r>
            <a:endParaRPr lang="en-US" sz="550" dirty="0"/>
          </a:p>
        </p:txBody>
      </p:sp>
      <p:sp>
        <p:nvSpPr>
          <p:cNvPr id="9" name="Shape 7"/>
          <p:cNvSpPr/>
          <p:nvPr/>
        </p:nvSpPr>
        <p:spPr>
          <a:xfrm>
            <a:off x="1760220" y="4599432"/>
            <a:ext cx="548640" cy="36576"/>
          </a:xfrm>
          <a:prstGeom prst="roundRect">
            <a:avLst>
              <a:gd name="adj" fmla="val 5000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15568" y="16459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≡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938528" y="1664208"/>
            <a:ext cx="530352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938528" y="166420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생성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2514600" y="1664208"/>
            <a:ext cx="530352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14600" y="166420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대화</a:t>
            </a:r>
            <a:endParaRPr lang="en-US" sz="600" dirty="0"/>
          </a:p>
        </p:txBody>
      </p:sp>
      <p:sp>
        <p:nvSpPr>
          <p:cNvPr id="15" name="Text 13"/>
          <p:cNvSpPr txBox="1"/>
          <p:nvPr/>
        </p:nvSpPr>
        <p:spPr>
          <a:xfrm>
            <a:off x="1088136" y="203911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 질문 예시를 클릭해서 바로 대화를 시작해 보세요!</a:t>
            </a:r>
            <a:endParaRPr lang="en-US" sz="580" dirty="0"/>
          </a:p>
        </p:txBody>
      </p:sp>
      <p:sp>
        <p:nvSpPr>
          <p:cNvPr id="16" name="Shape 14"/>
          <p:cNvSpPr/>
          <p:nvPr/>
        </p:nvSpPr>
        <p:spPr>
          <a:xfrm>
            <a:off x="1088136" y="2267712"/>
            <a:ext cx="190195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79576" y="23134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⇄  보장 비교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161288" y="2542032"/>
            <a:ext cx="1737360" cy="274320"/>
          </a:xfrm>
          <a:prstGeom prst="rect">
            <a:avLst/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207008" y="25420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↳ 암진단비와 통합암진단비의 차이점을 고객 관점에서 쉽게 비교해줘</a:t>
            </a:r>
            <a:endParaRPr lang="en-US" sz="550" dirty="0"/>
          </a:p>
        </p:txBody>
      </p:sp>
      <p:sp>
        <p:nvSpPr>
          <p:cNvPr id="20" name="Text 18"/>
          <p:cNvSpPr txBox="1"/>
          <p:nvPr/>
        </p:nvSpPr>
        <p:spPr>
          <a:xfrm>
            <a:off x="1207008" y="28529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↳ 표적항암약물허가치료비 종류별 특약이 타사보다 좋은 이유</a:t>
            </a:r>
            <a:endParaRPr lang="en-US" sz="550" dirty="0"/>
          </a:p>
        </p:txBody>
      </p:sp>
      <p:sp>
        <p:nvSpPr>
          <p:cNvPr id="21" name="Text 19"/>
          <p:cNvSpPr txBox="1"/>
          <p:nvPr/>
        </p:nvSpPr>
        <p:spPr>
          <a:xfrm>
            <a:off x="1207008" y="314553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↳ 메리츠 암진단및치료비의 상품경쟁력을 타사와 비교</a:t>
            </a:r>
            <a:endParaRPr lang="en-US" sz="550" dirty="0"/>
          </a:p>
        </p:txBody>
      </p:sp>
      <p:sp>
        <p:nvSpPr>
          <p:cNvPr id="22" name="Shape 20"/>
          <p:cNvSpPr/>
          <p:nvPr/>
        </p:nvSpPr>
        <p:spPr>
          <a:xfrm>
            <a:off x="1088136" y="3593592"/>
            <a:ext cx="1901952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179576" y="3593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 지식 검색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2761488" y="359359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⌵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088136" y="3913632"/>
            <a:ext cx="1901952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179576" y="39136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☺  자주하는 질문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2761488" y="391363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⌵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088136" y="4297680"/>
            <a:ext cx="190195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179576" y="42976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궁금한 점을 자유롭게 질문해 주세요</a:t>
            </a:r>
            <a:endParaRPr lang="en-US" sz="600" dirty="0"/>
          </a:p>
        </p:txBody>
      </p:sp>
      <p:sp>
        <p:nvSpPr>
          <p:cNvPr id="30" name="Text 28"/>
          <p:cNvSpPr txBox="1"/>
          <p:nvPr/>
        </p:nvSpPr>
        <p:spPr>
          <a:xfrm>
            <a:off x="2514600" y="4297680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🎤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734056" y="4343400"/>
            <a:ext cx="201168" cy="201168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734056" y="43434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↑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12648" y="1609344"/>
            <a:ext cx="237744" cy="237744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12648" y="16093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145536" y="1609344"/>
            <a:ext cx="237744" cy="237744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145536" y="16093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145536" y="2286000"/>
            <a:ext cx="237744" cy="237744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145536" y="22860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145536" y="4325112"/>
            <a:ext cx="237744" cy="237744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145536" y="4325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840480" y="1481328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840480" y="1481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187952" y="1463040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≡ 메뉴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4187952" y="1737360"/>
            <a:ext cx="4407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위 줄 세 개. 대화 이력, 약관 검색, 사용 가이드가 들어 있어요.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840480" y="2258568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840480" y="2258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4187952" y="2240280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생성 · 새로 대화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4187952" y="2514600"/>
            <a:ext cx="4407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생성은 지금 대화를 리포트로 만들고, 새로 대화는 새 주제를 시작해요.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840480" y="3035808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840480" y="3035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4187952" y="3017520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예시 (보장 비교 · 지식 검색 · 자주하는 질문)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4187952" y="3291840"/>
            <a:ext cx="4407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물을지 모르면 예시를 누르세요. 누르는 순간 대화가 시작돼요.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840480" y="3813048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3840480" y="38130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4187952" y="3794760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입력창 · 마이크 · 전송(↑)</a:t>
            </a:r>
            <a:endParaRPr lang="en-US" sz="1150" dirty="0"/>
          </a:p>
        </p:txBody>
      </p:sp>
      <p:sp>
        <p:nvSpPr>
          <p:cNvPr id="56" name="Text 54"/>
          <p:cNvSpPr txBox="1"/>
          <p:nvPr/>
        </p:nvSpPr>
        <p:spPr>
          <a:xfrm>
            <a:off x="4187952" y="4069080"/>
            <a:ext cx="4407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쓰거나, 마이크를 눌러 말하세요. 말한 내용이 글자로 바뀐 뒤 ↑ 를 눌러 보내요.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840480" y="4526280"/>
            <a:ext cx="4754880" cy="274320"/>
          </a:xfrm>
          <a:prstGeom prst="roundRect">
            <a:avLst>
              <a:gd name="adj" fmla="val 26667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97764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TIP  화면 아래 안내처럼 이름·연락처·주소 등 개인정보는 입력하지 않아요.</a:t>
            </a:r>
            <a:endParaRPr lang="en-US" sz="850" dirty="0"/>
          </a:p>
        </p:txBody>
      </p:sp>
      <p:sp>
        <p:nvSpPr>
          <p:cNvPr id="59" name="Text 57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60" name="Text 58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31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77840" y="82296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FFFFFF">
                    <a:alpha val="18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B64DA"/>
          </a:solidFill>
          <a:ln w="12700">
            <a:solidFill>
              <a:srgbClr val="1B6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234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05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002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일반대화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무엇이든 물어보기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651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예시 클릭 → 직접 질문 → 꼬리질문. 세 단계면 충분해요.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246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D6E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파트에서 배우는 것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21208" y="3630168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56616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  질문 예시 탭으로 첫 대화 시작하기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21208" y="3922776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85876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  직접 입력하거나 마이크로 말해서 질문하기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1208" y="421538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15137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  꼬리질문으로 깊이 파고, 자주 쓰는 질문 저장하기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21208" y="4507992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44398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검색과 대화 이력 활용법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5 · STEP 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대화는 질문 예시를 누르는 것으로 시작해요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물어야 할지 몰라도 괜찮아요. 세 개의 탭에 검증된 질문이 들어 있어요.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2240280" cy="3429000"/>
          </a:xfrm>
          <a:prstGeom prst="roundRect">
            <a:avLst>
              <a:gd name="adj" fmla="val 898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389888"/>
            <a:ext cx="2112264" cy="3300984"/>
          </a:xfrm>
          <a:prstGeom prst="roundRect">
            <a:avLst>
              <a:gd name="adj" fmla="val 73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14356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9:41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2267712" y="143560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▂▄▆ ◠ ▮</a:t>
            </a:r>
            <a:endParaRPr lang="en-US" sz="550" dirty="0"/>
          </a:p>
        </p:txBody>
      </p:sp>
      <p:sp>
        <p:nvSpPr>
          <p:cNvPr id="9" name="Shape 7"/>
          <p:cNvSpPr/>
          <p:nvPr/>
        </p:nvSpPr>
        <p:spPr>
          <a:xfrm>
            <a:off x="1577340" y="4599432"/>
            <a:ext cx="548640" cy="36576"/>
          </a:xfrm>
          <a:prstGeom prst="roundRect">
            <a:avLst>
              <a:gd name="adj" fmla="val 5000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16459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≡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10512" y="1664208"/>
            <a:ext cx="475488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810512" y="16642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생성</a:t>
            </a:r>
            <a:endParaRPr lang="en-US" sz="550" dirty="0"/>
          </a:p>
        </p:txBody>
      </p:sp>
      <p:sp>
        <p:nvSpPr>
          <p:cNvPr id="13" name="Shape 11"/>
          <p:cNvSpPr/>
          <p:nvPr/>
        </p:nvSpPr>
        <p:spPr>
          <a:xfrm>
            <a:off x="2313432" y="1664208"/>
            <a:ext cx="475488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313432" y="16642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대화</a:t>
            </a:r>
            <a:endParaRPr lang="en-US" sz="550" dirty="0"/>
          </a:p>
        </p:txBody>
      </p:sp>
      <p:sp>
        <p:nvSpPr>
          <p:cNvPr id="15" name="Text 13"/>
          <p:cNvSpPr txBox="1"/>
          <p:nvPr/>
        </p:nvSpPr>
        <p:spPr>
          <a:xfrm>
            <a:off x="905256" y="201168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 질문 예시를 클릭해서 바로 대화를 시작해 보세요!</a:t>
            </a:r>
            <a:endParaRPr lang="en-US" sz="580" dirty="0"/>
          </a:p>
        </p:txBody>
      </p:sp>
      <p:sp>
        <p:nvSpPr>
          <p:cNvPr id="16" name="Shape 14"/>
          <p:cNvSpPr/>
          <p:nvPr/>
        </p:nvSpPr>
        <p:spPr>
          <a:xfrm>
            <a:off x="905256" y="2249424"/>
            <a:ext cx="190195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240">
            <a:solidFill>
              <a:srgbClr val="F0445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96696" y="22951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⇄  보장 비교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978408" y="2523744"/>
            <a:ext cx="1737360" cy="274320"/>
          </a:xfrm>
          <a:prstGeom prst="rect">
            <a:avLst/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24128" y="2523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↳ 암진단비와 통합암진단비의 차이점을 고객 관점에서 쉽게 비교해줘</a:t>
            </a:r>
            <a:endParaRPr lang="en-US" sz="550" dirty="0"/>
          </a:p>
        </p:txBody>
      </p:sp>
      <p:sp>
        <p:nvSpPr>
          <p:cNvPr id="20" name="Text 18"/>
          <p:cNvSpPr txBox="1"/>
          <p:nvPr/>
        </p:nvSpPr>
        <p:spPr>
          <a:xfrm>
            <a:off x="1024128" y="282549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↳ 표적항암약물허가치료비 종류별 특약이 타사보다 좋은 이유를 설명해줘</a:t>
            </a:r>
            <a:endParaRPr lang="en-US" sz="55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31181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↳ 메리츠 암진단및치료비의 상품경쟁력을 타사와 비교해서 설명해줘</a:t>
            </a:r>
            <a:endParaRPr lang="en-US" sz="550" dirty="0"/>
          </a:p>
        </p:txBody>
      </p:sp>
      <p:sp>
        <p:nvSpPr>
          <p:cNvPr id="22" name="Shape 20"/>
          <p:cNvSpPr/>
          <p:nvPr/>
        </p:nvSpPr>
        <p:spPr>
          <a:xfrm>
            <a:off x="905256" y="3529584"/>
            <a:ext cx="1901952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96696" y="35295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 지식 검색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905256" y="3849624"/>
            <a:ext cx="1901952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96696" y="38496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☺  자주하는 질문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2395728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👆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29000" y="1371600"/>
            <a:ext cx="52120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11880" y="1591056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611880" y="159105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 비교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800600" y="14630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자사·타사, 담보 간 차이를 표로 비교하는 질문 모음. "A와 B의 차이를 고객 관점에서 비교해줘" 형태예요.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429000" y="2194560"/>
            <a:ext cx="52120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11880" y="2414016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611880" y="241401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 검색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22860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상품·특약·약관·의학 용어의 뜻과 구조를 묻는 질문. 처음 듣는 단어가 나오면 이 탭이에요.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429000" y="3017520"/>
            <a:ext cx="52120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11880" y="3236976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E6F7EE"/>
          </a:solidFill>
          <a:ln w="12700">
            <a:solidFill>
              <a:srgbClr val="E6F7E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611880" y="323697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자주하는 질문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4800600" y="31089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영업가족들이 실제로 많이 물은 질문을 모아둔 탭. 남들이 뭘 묻는지 보기만 해도 공부가 돼요.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429000" y="3886200"/>
            <a:ext cx="5212080" cy="777240"/>
          </a:xfrm>
          <a:prstGeom prst="roundRect">
            <a:avLst>
              <a:gd name="adj" fmla="val 11765"/>
            </a:avLst>
          </a:prstGeom>
          <a:solidFill>
            <a:srgbClr val="F2F7FF"/>
          </a:solidFill>
          <a:ln w="12700">
            <a:solidFill>
              <a:srgbClr val="F2F7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611880" y="393192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해보세요  </a:t>
            </a:r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탭 제목을 누르면 예시가 펼쳐지고, 예시 문장을 누르면 그 질문이 바로 전송돼요. 첫날은 세 탭의 예시를 하나씩 눌러 답이 어떻게 나오는지 구경만 해도 충분해요.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42" name="Text 40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5 · STEP 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물어볼 땐 쓰거나, 말하세요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키보드가 불편하면 마이크 버튼을 누르고 말하면 글자로 바뀌어요.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493776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9050">
            <a:solidFill>
              <a:srgbClr val="3182F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당뇨 있는 50대 고객, 가입 가능한 상품 알려줘|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617720" y="141732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83480" y="1517904"/>
            <a:ext cx="310896" cy="310896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83480" y="1517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↑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103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질문부터 시작해 보세요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478024"/>
            <a:ext cx="777240" cy="237744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247802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지식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395728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"간편심사 3N5와 355, 숫자가 무슨 뜻이야?"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980944"/>
            <a:ext cx="777240" cy="237744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" y="298094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 비교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2898648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"암진단비와 암통합치료비 차이를 고객 눈높이로 설명해줘"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3483864"/>
            <a:ext cx="777240" cy="237744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" y="348386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화법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401568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"40대 자녀 있는 가장에게 사망보장이 왜 먼저인지 설명하는 화법 만들어줘"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3986784"/>
            <a:ext cx="777240" cy="237744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" y="398678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3904488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"뇌출혈진단비 특약의 지급 사유와 면책을 약관 기준으로 알려줘"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760720" y="1417320"/>
            <a:ext cx="2880360" cy="3291840"/>
          </a:xfrm>
          <a:prstGeom prst="roundRect">
            <a:avLst>
              <a:gd name="adj" fmla="val 3810"/>
            </a:avLst>
          </a:prstGeom>
          <a:solidFill>
            <a:srgbClr val="F2F7FF"/>
          </a:solidFill>
          <a:ln w="12700">
            <a:solidFill>
              <a:srgbClr val="F2F7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16002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🎤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1600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음성으로 질문하기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943600" y="2258568"/>
            <a:ext cx="256032" cy="256032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43600" y="2258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291072" y="224028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마이크 버튼 터치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291072" y="251460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입력창 오른쪽의 마이크를 눌러요.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5943600" y="2990088"/>
            <a:ext cx="256032" cy="256032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43600" y="2990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6291072" y="297180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평소 말투로 말하기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91072" y="324612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고객 보장분석 해줘"처럼 짧게. 긴 질문도 말이 더 빨라요.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943600" y="3721608"/>
            <a:ext cx="256032" cy="256032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943600" y="3721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6291072" y="370332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 확인 후 전송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6291072" y="397764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말한 내용이 글자로 바뀌면 오타만 확인하고 ↑ 를 눌러요.</a:t>
            </a:r>
            <a:endParaRPr lang="en-US" sz="880" dirty="0"/>
          </a:p>
        </p:txBody>
      </p:sp>
      <p:sp>
        <p:nvSpPr>
          <p:cNvPr id="39" name="Text 37"/>
          <p:cNvSpPr txBox="1"/>
          <p:nvPr/>
        </p:nvSpPr>
        <p:spPr>
          <a:xfrm>
            <a:off x="5943600" y="43159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모바일에서 특히 편해요. 고객 앞에서 타이핑 없이 물어볼 수 있어요.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5 · STEP 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답이 오면, 꼬리질문 버튼으로 이어가세요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아래 MeAI가 다음 질문을 미리 만들어 둬요. 타이핑 없이 버튼만 누르면 대화가 깊어져요.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2240280" cy="3429000"/>
          </a:xfrm>
          <a:prstGeom prst="roundRect">
            <a:avLst>
              <a:gd name="adj" fmla="val 898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389888"/>
            <a:ext cx="2112264" cy="3300984"/>
          </a:xfrm>
          <a:prstGeom prst="roundRect">
            <a:avLst>
              <a:gd name="adj" fmla="val 73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14356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9:41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2267712" y="143560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▂▄▆ ◠ ▮</a:t>
            </a:r>
            <a:endParaRPr lang="en-US" sz="550" dirty="0"/>
          </a:p>
        </p:txBody>
      </p:sp>
      <p:sp>
        <p:nvSpPr>
          <p:cNvPr id="9" name="Shape 7"/>
          <p:cNvSpPr/>
          <p:nvPr/>
        </p:nvSpPr>
        <p:spPr>
          <a:xfrm>
            <a:off x="1577340" y="4599432"/>
            <a:ext cx="548640" cy="36576"/>
          </a:xfrm>
          <a:prstGeom prst="roundRect">
            <a:avLst>
              <a:gd name="adj" fmla="val 5000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16459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≡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10512" y="1664208"/>
            <a:ext cx="475488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810512" y="16642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생성</a:t>
            </a:r>
            <a:endParaRPr lang="en-US" sz="550" dirty="0"/>
          </a:p>
        </p:txBody>
      </p:sp>
      <p:sp>
        <p:nvSpPr>
          <p:cNvPr id="13" name="Shape 11"/>
          <p:cNvSpPr/>
          <p:nvPr/>
        </p:nvSpPr>
        <p:spPr>
          <a:xfrm>
            <a:off x="2313432" y="1664208"/>
            <a:ext cx="475488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313432" y="16642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대화</a:t>
            </a:r>
            <a:endParaRPr lang="en-US" sz="550" dirty="0"/>
          </a:p>
        </p:txBody>
      </p:sp>
      <p:sp>
        <p:nvSpPr>
          <p:cNvPr id="15" name="Text 13"/>
          <p:cNvSpPr txBox="1"/>
          <p:nvPr/>
        </p:nvSpPr>
        <p:spPr>
          <a:xfrm>
            <a:off x="905256" y="1947672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6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뇌·심장 질환군의 진단비를 우선 보완하는 순서를 정합니다.</a:t>
            </a:r>
            <a:endParaRPr lang="en-US" sz="56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56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암 치료비 라인(암 통합치료비·고액항암·반복지급형) 추가 필요 여부를 진단합니다.</a:t>
            </a:r>
            <a:endParaRPr lang="en-US" sz="56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56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간병인 사용일당·간호간병통합서비스 일당 등 생활비성 담보 보완을 검토합니다.</a:t>
            </a:r>
            <a:endParaRPr lang="en-US" sz="560" dirty="0"/>
          </a:p>
        </p:txBody>
      </p:sp>
      <p:sp>
        <p:nvSpPr>
          <p:cNvPr id="16" name="Text 14"/>
          <p:cNvSpPr txBox="1"/>
          <p:nvPr/>
        </p:nvSpPr>
        <p:spPr>
          <a:xfrm>
            <a:off x="905256" y="29535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⧉    ☺    👍    👎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905256" y="322783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8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예시를 클릭해서 바로 대화를 시작해 보세요!</a:t>
            </a:r>
            <a:endParaRPr lang="en-US" sz="580" dirty="0"/>
          </a:p>
        </p:txBody>
      </p:sp>
      <p:sp>
        <p:nvSpPr>
          <p:cNvPr id="18" name="Shape 16"/>
          <p:cNvSpPr/>
          <p:nvPr/>
        </p:nvSpPr>
        <p:spPr>
          <a:xfrm>
            <a:off x="905256" y="3438144"/>
            <a:ext cx="1901952" cy="219456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5256" y="3438144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↳ 가장 먼저 보완해야 할 보장 순서대로 알려줘</a:t>
            </a:r>
            <a:endParaRPr lang="en-US" sz="560" dirty="0"/>
          </a:p>
        </p:txBody>
      </p:sp>
      <p:sp>
        <p:nvSpPr>
          <p:cNvPr id="20" name="Shape 18"/>
          <p:cNvSpPr/>
          <p:nvPr/>
        </p:nvSpPr>
        <p:spPr>
          <a:xfrm>
            <a:off x="905256" y="3694176"/>
            <a:ext cx="1901952" cy="219456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05256" y="3694176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↳ 증권별로 요약해서 해지/유지 판단 포인트를 정리해줘</a:t>
            </a:r>
            <a:endParaRPr lang="en-US" sz="560" dirty="0"/>
          </a:p>
        </p:txBody>
      </p:sp>
      <p:sp>
        <p:nvSpPr>
          <p:cNvPr id="22" name="Shape 20"/>
          <p:cNvSpPr/>
          <p:nvPr/>
        </p:nvSpPr>
        <p:spPr>
          <a:xfrm>
            <a:off x="905256" y="3950208"/>
            <a:ext cx="1901952" cy="219456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05256" y="3950208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↳ 가입 증권별로 담보 구조와 갱신 여부를 요약해줘</a:t>
            </a:r>
            <a:endParaRPr lang="en-US" sz="560" dirty="0"/>
          </a:p>
        </p:txBody>
      </p:sp>
      <p:sp>
        <p:nvSpPr>
          <p:cNvPr id="24" name="Shape 22"/>
          <p:cNvSpPr/>
          <p:nvPr/>
        </p:nvSpPr>
        <p:spPr>
          <a:xfrm>
            <a:off x="905256" y="4261104"/>
            <a:ext cx="132588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05256" y="426110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📕 질문 더보기 (프롬프트 라이브러리)  ↗</a:t>
            </a:r>
            <a:endParaRPr lang="en-US" sz="550" dirty="0"/>
          </a:p>
        </p:txBody>
      </p:sp>
      <p:sp>
        <p:nvSpPr>
          <p:cNvPr id="26" name="Shape 24"/>
          <p:cNvSpPr/>
          <p:nvPr/>
        </p:nvSpPr>
        <p:spPr>
          <a:xfrm>
            <a:off x="2962656" y="2907792"/>
            <a:ext cx="237744" cy="237744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962656" y="29077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962656" y="3456432"/>
            <a:ext cx="237744" cy="237744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962656" y="34564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276856" y="4242816"/>
            <a:ext cx="237744" cy="237744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276856" y="42428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29000" y="1481328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429000" y="1481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3776472" y="1463040"/>
            <a:ext cx="4864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아래 아이콘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3776472" y="1737360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복사(⧉) · 사람 아이콘 · 좋아요/싫어요. 복사로 답을 그대로 메모장이나 카톡에 옮길 수 있어요.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429000" y="2350008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429000" y="2350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3776472" y="2331720"/>
            <a:ext cx="4864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꼬리질문 버튼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3776472" y="2606040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MeAI가 대화 흐름을 읽고 다음 질문 3개를 제안해요. 마음에 드는 걸 누르면 그 질문이 바로 전송돼요.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429000" y="3218688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429000" y="3218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3776472" y="3200400"/>
            <a:ext cx="4864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더보기 → 프롬프트 라이브러리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3776472" y="3474720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많은 검증 질문이 필요하면 여기로. 추천·최신·나의 질문 탭에서 골라 "이 질문 사용하기"를 누르면 끝.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429000" y="4023360"/>
            <a:ext cx="5212080" cy="640080"/>
          </a:xfrm>
          <a:prstGeom prst="roundRect">
            <a:avLst>
              <a:gd name="adj" fmla="val 14286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611880" y="406908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중요할까요?  </a:t>
            </a:r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데이터상 프롬프트를 하나만 쓴 분보다 두 개 이상 이어서 쓴 분의 성과가 훨씬 높았어요. 꼬리질문 버튼 하나만 더 누르는 습관이 차이를 만들어요.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47" name="Text 45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5 · 질문 저장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먹힌 질문은 저장해두고, 클릭 한 번으로 다시 써요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저장한 질문은 프롬프트 라이브러리의 [나의 질문] 탭에 모이고, PC와 모바일에서 똑같이 보여요.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72768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7276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5727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질문 아래 아이콘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9202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"갱신형 보험에 가입되어 있는 우리나라 40대의 월 평균 보험료가 얼마정도야?"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31520" y="2514600"/>
            <a:ext cx="274320" cy="274320"/>
          </a:xfrm>
          <a:prstGeom prst="ellipse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15568" y="2514600"/>
            <a:ext cx="274320" cy="274320"/>
          </a:xfrm>
          <a:prstGeom prst="ellipse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15568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✎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499616" y="2514600"/>
            <a:ext cx="274320" cy="274320"/>
          </a:xfrm>
          <a:prstGeom prst="ellipse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499616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⊕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28163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복사      편집      저장</a:t>
            </a:r>
            <a:endParaRPr lang="en-US" sz="6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0906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⊕ 를 누르면 "나의 질문으로 저장"돼요.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3063240" y="23317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3337560" y="1463040"/>
            <a:ext cx="25146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0" y="1572768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74720" y="157276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700" dirty="0"/>
          </a:p>
        </p:txBody>
      </p:sp>
      <p:sp>
        <p:nvSpPr>
          <p:cNvPr id="22" name="Text 20"/>
          <p:cNvSpPr txBox="1"/>
          <p:nvPr/>
        </p:nvSpPr>
        <p:spPr>
          <a:xfrm>
            <a:off x="4023360" y="15727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라이브러리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520440" y="1901952"/>
            <a:ext cx="45720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520440" y="1901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4032504" y="1901952"/>
            <a:ext cx="45720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032504" y="1901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4544568" y="1901952"/>
            <a:ext cx="758952" cy="201168"/>
          </a:xfrm>
          <a:prstGeom prst="roundRect">
            <a:avLst>
              <a:gd name="adj" fmla="val 5000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44568" y="1901952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질문</a:t>
            </a:r>
            <a:endParaRPr lang="en-US" sz="650" dirty="0"/>
          </a:p>
        </p:txBody>
      </p:sp>
      <p:sp>
        <p:nvSpPr>
          <p:cNvPr id="29" name="Text 27"/>
          <p:cNvSpPr txBox="1"/>
          <p:nvPr/>
        </p:nvSpPr>
        <p:spPr>
          <a:xfrm>
            <a:off x="3520440" y="2194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📁 일반 대화  4</a:t>
            </a:r>
            <a:endParaRPr lang="en-US" sz="750" dirty="0"/>
          </a:p>
        </p:txBody>
      </p:sp>
      <p:sp>
        <p:nvSpPr>
          <p:cNvPr id="30" name="Text 28"/>
          <p:cNvSpPr txBox="1"/>
          <p:nvPr/>
        </p:nvSpPr>
        <p:spPr>
          <a:xfrm>
            <a:off x="3520440" y="23957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▾ 40대 월평균 보험료 확인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520440" y="2606040"/>
            <a:ext cx="2148840" cy="457200"/>
          </a:xfrm>
          <a:prstGeom prst="roundRect">
            <a:avLst>
              <a:gd name="adj" fmla="val 12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584448" y="262432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보험 시장의 최신 통계와 4세대 보험 기준을 바탕으로 '40대 남녀 월평균 보험료 현황 및 적정선'에 대한 상세 분석 리포트를 작성해줘</a:t>
            </a:r>
            <a:endParaRPr lang="en-US" sz="530" dirty="0"/>
          </a:p>
        </p:txBody>
      </p:sp>
      <p:sp>
        <p:nvSpPr>
          <p:cNvPr id="33" name="Text 31"/>
          <p:cNvSpPr txBox="1"/>
          <p:nvPr/>
        </p:nvSpPr>
        <p:spPr>
          <a:xfrm>
            <a:off x="3520440" y="31089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보장 범위 자가 진단 및 과거 보험의 과다 판단</a:t>
            </a:r>
            <a:endParaRPr lang="en-US" sz="650" dirty="0"/>
          </a:p>
        </p:txBody>
      </p:sp>
      <p:sp>
        <p:nvSpPr>
          <p:cNvPr id="34" name="Text 32"/>
          <p:cNvSpPr txBox="1"/>
          <p:nvPr/>
        </p:nvSpPr>
        <p:spPr>
          <a:xfrm>
            <a:off x="3520440" y="32735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▸ 보장 상품을 자연스럽게 추천하는 멘트를 알려줘</a:t>
            </a:r>
            <a:endParaRPr lang="en-US" sz="650" dirty="0"/>
          </a:p>
        </p:txBody>
      </p:sp>
      <p:sp>
        <p:nvSpPr>
          <p:cNvPr id="35" name="Text 33"/>
          <p:cNvSpPr txBox="1"/>
          <p:nvPr/>
        </p:nvSpPr>
        <p:spPr>
          <a:xfrm>
            <a:off x="5897880" y="23317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6172200" y="146304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09360" y="1572768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309360" y="157276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</a:t>
            </a:r>
            <a:endParaRPr lang="en-US" sz="700" dirty="0"/>
          </a:p>
        </p:txBody>
      </p:sp>
      <p:sp>
        <p:nvSpPr>
          <p:cNvPr id="39" name="Text 37"/>
          <p:cNvSpPr txBox="1"/>
          <p:nvPr/>
        </p:nvSpPr>
        <p:spPr>
          <a:xfrm>
            <a:off x="6858000" y="15727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질문 사용하기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355080" y="192024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F9FAFB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19088" y="1947672"/>
            <a:ext cx="1965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갱신형 보험에 가입되어 있는 우리나라 40대의 월 평균 보험료가 얼마정도야?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6355080" y="2651760"/>
            <a:ext cx="2103120" cy="310896"/>
          </a:xfrm>
          <a:prstGeom prst="roundRect">
            <a:avLst>
              <a:gd name="adj" fmla="val 17647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355080" y="265176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질문 사용하기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6355080" y="3063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누르면 대화창에 질문이 바로 들어가요.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02920" y="3703320"/>
            <a:ext cx="2651760" cy="960120"/>
          </a:xfrm>
          <a:prstGeom prst="roundRect">
            <a:avLst>
              <a:gd name="adj" fmla="val 9524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67512" y="37947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질문을 저장하나요?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667512" y="40507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답이 마음에 들었던 질문, 매달 반복하는 질문(보장분석·화법·안내문)을 저장해요.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3246120" y="3703320"/>
            <a:ext cx="2651760" cy="960120"/>
          </a:xfrm>
          <a:prstGeom prst="roundRect">
            <a:avLst>
              <a:gd name="adj" fmla="val 9524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410712" y="37947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어디서 열 수 있나요?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3410712" y="40507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아래 [질문 더보기], 또는 PC·모바일 메뉴의 프롬프트 라이브러리에서 열어요.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5989320" y="3703320"/>
            <a:ext cx="2651760" cy="960120"/>
          </a:xfrm>
          <a:prstGeom prst="roundRect">
            <a:avLst>
              <a:gd name="adj" fmla="val 9524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153912" y="37947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동료와 나누려면?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6153912" y="40507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아래 복사 버튼으로 질문과 답을 옮겨 팀 단톡에 공유하고, 좋은 질문은 각자 나의 질문으로 저장해요.</a:t>
            </a:r>
            <a:endParaRPr lang="en-US" sz="880" dirty="0"/>
          </a:p>
        </p:txBody>
      </p:sp>
      <p:sp>
        <p:nvSpPr>
          <p:cNvPr id="54" name="Text 52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55" name="Text 53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5 · 왼쪽 메뉴 활용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검색과 대화 이력, 두 메뉴가 시간을 아껴줘요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PC는 왼쪽 메뉴, 모바일은 ≡ 메뉴 안에 있어요.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1848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52728" y="16184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검색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240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상품명을 넣으면 전사 약관 원문을 바로 찾아줘요. 고객이 "그거 약관에 있어요?"라고 물을 때 근거를 펼쳐 보여줄 수 있어요.</a:t>
            </a:r>
            <a:endParaRPr lang="en-US" sz="93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2461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2461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상품명 · 특약명으로 검색</a:t>
            </a:r>
            <a:endParaRPr lang="en-US" sz="93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53872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5387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자사 약관 원문 확인</a:t>
            </a:r>
            <a:endParaRPr lang="en-US" sz="93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83133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38313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답변의 근거 확인용으로 딱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3246120" y="141732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29000" y="161848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6F7EE"/>
          </a:solidFill>
          <a:ln w="12700">
            <a:solidFill>
              <a:srgbClr val="E6F7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29000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🗂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995928" y="16184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이력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429000" y="2240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대화가 월별로 자동 저장돼요. 지난달 준비했던 고객 대화를 열어 이어서 질문할 수 있어요.</a:t>
            </a:r>
            <a:endParaRPr lang="en-US" sz="930" dirty="0"/>
          </a:p>
        </p:txBody>
      </p:sp>
      <p:sp>
        <p:nvSpPr>
          <p:cNvPr id="21" name="Text 19"/>
          <p:cNvSpPr txBox="1"/>
          <p:nvPr/>
        </p:nvSpPr>
        <p:spPr>
          <a:xfrm>
            <a:off x="3429000" y="32461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0" y="32461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월별 자동 정리 (2026년 9월 · 8월 …)</a:t>
            </a:r>
            <a:endParaRPr lang="en-US" sz="93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53872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657600" y="35387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클릭하면 그 대화를 이어서</a:t>
            </a:r>
            <a:endParaRPr lang="en-US" sz="93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383133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3657600" y="38313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대화명은 첫 질문으로 자동 생성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5989320" y="141732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72200" y="161848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72200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📖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739128" y="16184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가이드 · 새로 대화하기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172200" y="2240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가이드는 화면 안내를 다시 보여줘요. 새로 대화하기는 주제가 바뀔 때 눌러 대화를 깨끗하게 시작해요.</a:t>
            </a:r>
            <a:endParaRPr lang="en-US" sz="930" dirty="0"/>
          </a:p>
        </p:txBody>
      </p:sp>
      <p:sp>
        <p:nvSpPr>
          <p:cNvPr id="32" name="Text 30"/>
          <p:cNvSpPr txBox="1"/>
          <p:nvPr/>
        </p:nvSpPr>
        <p:spPr>
          <a:xfrm>
            <a:off x="6172200" y="32461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0" y="32461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헷갈리면 사용 가이드 다시 보기</a:t>
            </a:r>
            <a:endParaRPr lang="en-US" sz="930" dirty="0"/>
          </a:p>
        </p:txBody>
      </p:sp>
      <p:sp>
        <p:nvSpPr>
          <p:cNvPr id="34" name="Text 32"/>
          <p:cNvSpPr txBox="1"/>
          <p:nvPr/>
        </p:nvSpPr>
        <p:spPr>
          <a:xfrm>
            <a:off x="6172200" y="353872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0" y="35387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고객·주제가 바뀌면 새로 대화</a:t>
            </a:r>
            <a:endParaRPr lang="en-US" sz="930" dirty="0"/>
          </a:p>
        </p:txBody>
      </p:sp>
      <p:sp>
        <p:nvSpPr>
          <p:cNvPr id="36" name="Text 34"/>
          <p:cNvSpPr txBox="1"/>
          <p:nvPr/>
        </p:nvSpPr>
        <p:spPr>
          <a:xfrm>
            <a:off x="6172200" y="383133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0" y="38313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 대화와 섞이지 않아 답이 정확</a:t>
            </a:r>
            <a:endParaRPr lang="en-US" sz="930" dirty="0"/>
          </a:p>
        </p:txBody>
      </p:sp>
      <p:sp>
        <p:nvSpPr>
          <p:cNvPr id="38" name="Text 36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31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77840" y="82296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FFFFFF">
                    <a:alpha val="18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B64DA"/>
          </a:solidFill>
          <a:ln w="12700">
            <a:solidFill>
              <a:srgbClr val="1B6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234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06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002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한 명을 위한 대화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651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고객의 보장분석을 옆에 두고, 무엇이 부족한지 바로 찾아요.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246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D6E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파트에서 배우는 것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21208" y="3630168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56616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 전체 흐름 5단계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21208" y="3922776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85876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  고객 정보 입력  ·  STEP 2  분석할 상품 선택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1208" y="421538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15137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  보장 내역 확인  ·  STEP 4  "보장분석 해줘"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21208" y="4507992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44398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상단 버튼 4개와 상세설계 요청법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6 · 전체 흐름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맞춤대화는 이 순서로 흘러가요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카드의 [MeAI] 버튼을 누른 뒤의 다섯 단계예요. 익숙해지면 3분이면 끝나요.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148132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45920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64592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38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선택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240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목록에서</a:t>
            </a:r>
            <a:endParaRPr lang="en-US" sz="88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[MeAI] 버튼</a:t>
            </a:r>
            <a:endParaRPr lang="en-US" sz="880" dirty="0"/>
          </a:p>
        </p:txBody>
      </p:sp>
      <p:sp>
        <p:nvSpPr>
          <p:cNvPr id="10" name="Text 8"/>
          <p:cNvSpPr txBox="1"/>
          <p:nvPr/>
        </p:nvSpPr>
        <p:spPr>
          <a:xfrm>
            <a:off x="1965960" y="20574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148840" y="1508760"/>
            <a:ext cx="148132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0" y="1645920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86000" y="164592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2286000" y="1938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정보 입력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286000" y="2240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직업·병력·가족력</a:t>
            </a:r>
            <a:endParaRPr lang="en-US" sz="88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희망 보험료·메모</a:t>
            </a:r>
            <a:endParaRPr lang="en-US" sz="88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20574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794760" y="1508760"/>
            <a:ext cx="148132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931920" y="1645920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31920" y="164592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3931920" y="1938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선택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931920" y="2240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분석할 담보·상품</a:t>
            </a:r>
            <a:endParaRPr lang="en-US" sz="88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</a:t>
            </a:r>
            <a:endParaRPr lang="en-US" sz="880" dirty="0"/>
          </a:p>
        </p:txBody>
      </p:sp>
      <p:sp>
        <p:nvSpPr>
          <p:cNvPr id="22" name="Text 20"/>
          <p:cNvSpPr txBox="1"/>
          <p:nvPr/>
        </p:nvSpPr>
        <p:spPr>
          <a:xfrm>
            <a:off x="5257800" y="20574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40680" y="1508760"/>
            <a:ext cx="148132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577840" y="1645920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577840" y="164592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5577840" y="1938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 내역 확인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577840" y="2240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부족·충분·미가입</a:t>
            </a:r>
            <a:endParaRPr lang="en-US" sz="88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한눈에</a:t>
            </a:r>
            <a:endParaRPr lang="en-US" sz="880" dirty="0"/>
          </a:p>
        </p:txBody>
      </p:sp>
      <p:sp>
        <p:nvSpPr>
          <p:cNvPr id="28" name="Text 26"/>
          <p:cNvSpPr txBox="1"/>
          <p:nvPr/>
        </p:nvSpPr>
        <p:spPr>
          <a:xfrm>
            <a:off x="6903720" y="20574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086600" y="1508760"/>
            <a:ext cx="148132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223760" y="1645920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223760" y="164592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5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7223760" y="1938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 질문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223760" y="2240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"보장분석 해줘"</a:t>
            </a:r>
            <a:endParaRPr lang="en-US" sz="88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꼬리질문으로 제안 준비</a:t>
            </a:r>
            <a:endParaRPr lang="en-US" sz="880" dirty="0"/>
          </a:p>
        </p:txBody>
      </p:sp>
      <p:sp>
        <p:nvSpPr>
          <p:cNvPr id="34" name="Text 32"/>
          <p:cNvSpPr txBox="1"/>
          <p:nvPr/>
        </p:nvSpPr>
        <p:spPr>
          <a:xfrm>
            <a:off x="502920" y="31546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다음은 자연스럽게 이어져요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2920" y="347472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EEECFC"/>
          </a:solidFill>
          <a:ln w="12700">
            <a:solidFill>
              <a:srgbClr val="EEECF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5800" y="3584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B5C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상세설계 · 가계약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85800" y="38862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고객에게 암통합치료비 3천만원 추가한 설계안 보여줘"처럼 말로 요청해요.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46120" y="347472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429000" y="3584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리포트 → 카카오톡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3429000" y="38862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중 필요한 답만 골라 리포트로 만들고 고객에게 발송해요. (PART 7)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989320" y="347472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E6F7EE"/>
          </a:solidFill>
          <a:ln w="12700">
            <a:solidFill>
              <a:srgbClr val="E6F7E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172200" y="3584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이력에 자동 저장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6172200" y="38862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고객과의 대화는 월별로 저장돼요. 다음 방문 전 다시 열어 이어가요.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45" name="Text 43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6 · STEP 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정보를 먼저 알려주면, 답이 그 고객 것이 돼요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알고 있는 것만 넣어도 돼요. 비워도 대화는 되지만, 채우면 답의 정확도가 확 달라져요.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2240280" cy="3429000"/>
          </a:xfrm>
          <a:prstGeom prst="roundRect">
            <a:avLst>
              <a:gd name="adj" fmla="val 898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389888"/>
            <a:ext cx="2112264" cy="3300984"/>
          </a:xfrm>
          <a:prstGeom prst="roundRect">
            <a:avLst>
              <a:gd name="adj" fmla="val 73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14356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9:41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2267712" y="143560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▂▄▆ ◠ ▮</a:t>
            </a:r>
            <a:endParaRPr lang="en-US" sz="550" dirty="0"/>
          </a:p>
        </p:txBody>
      </p:sp>
      <p:sp>
        <p:nvSpPr>
          <p:cNvPr id="9" name="Shape 7"/>
          <p:cNvSpPr/>
          <p:nvPr/>
        </p:nvSpPr>
        <p:spPr>
          <a:xfrm>
            <a:off x="1577340" y="4599432"/>
            <a:ext cx="548640" cy="36576"/>
          </a:xfrm>
          <a:prstGeom prst="roundRect">
            <a:avLst>
              <a:gd name="adj" fmla="val 5000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16459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≡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" y="1664208"/>
            <a:ext cx="475488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16642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 분석</a:t>
            </a:r>
            <a:endParaRPr lang="en-US" sz="550" dirty="0"/>
          </a:p>
        </p:txBody>
      </p:sp>
      <p:sp>
        <p:nvSpPr>
          <p:cNvPr id="13" name="Shape 11"/>
          <p:cNvSpPr/>
          <p:nvPr/>
        </p:nvSpPr>
        <p:spPr>
          <a:xfrm>
            <a:off x="1307592" y="1664208"/>
            <a:ext cx="475488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07592" y="16642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정보</a:t>
            </a:r>
            <a:endParaRPr lang="en-US" sz="550" dirty="0"/>
          </a:p>
        </p:txBody>
      </p:sp>
      <p:sp>
        <p:nvSpPr>
          <p:cNvPr id="15" name="Shape 13"/>
          <p:cNvSpPr/>
          <p:nvPr/>
        </p:nvSpPr>
        <p:spPr>
          <a:xfrm>
            <a:off x="1810512" y="1664208"/>
            <a:ext cx="475488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810512" y="16642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생성</a:t>
            </a:r>
            <a:endParaRPr lang="en-US" sz="550" dirty="0"/>
          </a:p>
        </p:txBody>
      </p:sp>
      <p:sp>
        <p:nvSpPr>
          <p:cNvPr id="17" name="Shape 15"/>
          <p:cNvSpPr/>
          <p:nvPr/>
        </p:nvSpPr>
        <p:spPr>
          <a:xfrm>
            <a:off x="2313432" y="1664208"/>
            <a:ext cx="475488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313432" y="16642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대화</a:t>
            </a:r>
            <a:endParaRPr lang="en-US" sz="550" dirty="0"/>
          </a:p>
        </p:txBody>
      </p:sp>
      <p:sp>
        <p:nvSpPr>
          <p:cNvPr id="19" name="Shape 17"/>
          <p:cNvSpPr/>
          <p:nvPr/>
        </p:nvSpPr>
        <p:spPr>
          <a:xfrm>
            <a:off x="905256" y="1993392"/>
            <a:ext cx="1901952" cy="25146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96696" y="206654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분석할 고객 정보를 입력하세요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350008" y="2075688"/>
            <a:ext cx="384048" cy="155448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350008" y="2075688"/>
            <a:ext cx="384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미입력</a:t>
            </a:r>
            <a:endParaRPr lang="en-US" sz="500" dirty="0"/>
          </a:p>
        </p:txBody>
      </p:sp>
      <p:sp>
        <p:nvSpPr>
          <p:cNvPr id="23" name="Text 21"/>
          <p:cNvSpPr txBox="1"/>
          <p:nvPr/>
        </p:nvSpPr>
        <p:spPr>
          <a:xfrm>
            <a:off x="996696" y="22677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정보를 미리 설정하고 시작하면 고객의 맥락을 고려한 답변을 할 수 있습니다.</a:t>
            </a:r>
            <a:endParaRPr lang="en-US" sz="530" dirty="0"/>
          </a:p>
        </p:txBody>
      </p:sp>
      <p:sp>
        <p:nvSpPr>
          <p:cNvPr id="24" name="Text 22"/>
          <p:cNvSpPr txBox="1"/>
          <p:nvPr/>
        </p:nvSpPr>
        <p:spPr>
          <a:xfrm>
            <a:off x="996696" y="26334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🖥  직업</a:t>
            </a:r>
            <a:endParaRPr lang="en-US" sz="600" dirty="0"/>
          </a:p>
        </p:txBody>
      </p:sp>
      <p:sp>
        <p:nvSpPr>
          <p:cNvPr id="25" name="Text 23"/>
          <p:cNvSpPr txBox="1"/>
          <p:nvPr/>
        </p:nvSpPr>
        <p:spPr>
          <a:xfrm>
            <a:off x="1801368" y="26334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6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정비사(1급)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996696" y="2871216"/>
            <a:ext cx="1719072" cy="4572"/>
          </a:xfrm>
          <a:prstGeom prst="rect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96696" y="290779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⊕  병력</a:t>
            </a:r>
            <a:endParaRPr lang="en-US" sz="600" dirty="0"/>
          </a:p>
        </p:txBody>
      </p:sp>
      <p:sp>
        <p:nvSpPr>
          <p:cNvPr id="28" name="Text 26"/>
          <p:cNvSpPr txBox="1"/>
          <p:nvPr/>
        </p:nvSpPr>
        <p:spPr>
          <a:xfrm>
            <a:off x="1801368" y="29077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심근경색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996696" y="3145536"/>
            <a:ext cx="1719072" cy="4572"/>
          </a:xfrm>
          <a:prstGeom prst="rect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96696" y="31821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👥  가족력</a:t>
            </a:r>
            <a:endParaRPr lang="en-US" sz="600" dirty="0"/>
          </a:p>
        </p:txBody>
      </p:sp>
      <p:sp>
        <p:nvSpPr>
          <p:cNvPr id="31" name="Text 29"/>
          <p:cNvSpPr txBox="1"/>
          <p:nvPr/>
        </p:nvSpPr>
        <p:spPr>
          <a:xfrm>
            <a:off x="1801368" y="31821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고혈압, 당뇨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996696" y="3419856"/>
            <a:ext cx="1719072" cy="4572"/>
          </a:xfrm>
          <a:prstGeom prst="rect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96696" y="345643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₩  신규 제안 월 보험료</a:t>
            </a:r>
            <a:endParaRPr lang="en-US" sz="600" dirty="0"/>
          </a:p>
        </p:txBody>
      </p:sp>
      <p:sp>
        <p:nvSpPr>
          <p:cNvPr id="34" name="Text 32"/>
          <p:cNvSpPr txBox="1"/>
          <p:nvPr/>
        </p:nvSpPr>
        <p:spPr>
          <a:xfrm>
            <a:off x="1801368" y="34564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10만원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996696" y="3694176"/>
            <a:ext cx="1719072" cy="4572"/>
          </a:xfrm>
          <a:prstGeom prst="rect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96696" y="37307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✎  메모</a:t>
            </a:r>
            <a:endParaRPr lang="en-US" sz="600" dirty="0"/>
          </a:p>
        </p:txBody>
      </p:sp>
      <p:sp>
        <p:nvSpPr>
          <p:cNvPr id="37" name="Text 35"/>
          <p:cNvSpPr txBox="1"/>
          <p:nvPr/>
        </p:nvSpPr>
        <p:spPr>
          <a:xfrm>
            <a:off x="1801368" y="37307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자녀 결혼 앞두고 있음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996696" y="3968496"/>
            <a:ext cx="1719072" cy="4572"/>
          </a:xfrm>
          <a:prstGeom prst="rect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9968" y="4096512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029968" y="409651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완료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2962656" y="1609344"/>
            <a:ext cx="237744" cy="237744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962656" y="16093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29768" y="2587752"/>
            <a:ext cx="237744" cy="237744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29768" y="25877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962656" y="4078224"/>
            <a:ext cx="237744" cy="237744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962656" y="40782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429000" y="1481328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429000" y="1481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3776472" y="1463040"/>
            <a:ext cx="4864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상단 버튼이 네 개로 늘어요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3776472" y="1737360"/>
            <a:ext cx="4864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맞춤대화에는 [보장 분석] [사용 정보] [요약 생성] [새로 대화]가 있어요. 사용 정보를 누르면 언제든 고객 정보를 수정할 수 있어요.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429000" y="2395728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429000" y="2395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3776472" y="2377440"/>
            <a:ext cx="4864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칸, 아는 것만 채워요</a:t>
            </a:r>
            <a:endParaRPr lang="en-US" sz="1150" dirty="0"/>
          </a:p>
        </p:txBody>
      </p:sp>
      <p:sp>
        <p:nvSpPr>
          <p:cNvPr id="54" name="Text 52"/>
          <p:cNvSpPr txBox="1"/>
          <p:nvPr/>
        </p:nvSpPr>
        <p:spPr>
          <a:xfrm>
            <a:off x="3776472" y="2651760"/>
            <a:ext cx="4864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직업 · 병력 · 가족력 · 신규 제안 월 보험료 · 메모. 병력과 가족력은 답변 방향을 가장 크게 바꾸는 항목이에요. 희망 보험료를 넣으면 예산 안에서 제안해줘요.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429000" y="3310128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429000" y="33101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3776472" y="3291840"/>
            <a:ext cx="4864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[입력 완료]를 눌러야 반영돼요</a:t>
            </a:r>
            <a:endParaRPr lang="en-US" sz="1150" dirty="0"/>
          </a:p>
        </p:txBody>
      </p:sp>
      <p:sp>
        <p:nvSpPr>
          <p:cNvPr id="58" name="Text 56"/>
          <p:cNvSpPr txBox="1"/>
          <p:nvPr/>
        </p:nvSpPr>
        <p:spPr>
          <a:xfrm>
            <a:off x="3776472" y="3566160"/>
            <a:ext cx="4864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입력만 하고 넘어가면 저장되지 않아요. 완료 후 상단 표시가 "미입력"에서 바뀌는지 확인하세요.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429000" y="4160520"/>
            <a:ext cx="5212080" cy="502920"/>
          </a:xfrm>
          <a:prstGeom prst="roundRect">
            <a:avLst>
              <a:gd name="adj" fmla="val 18182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3611880" y="416052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  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메모에 고객 이름·연락처·주소·주민번호 같은 개인정보는 쓰지 않아요. "자녀 결혼 앞둠, 배우자 암 진단 이력"처럼 상황만 적어요.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62" name="Text 60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6 · STEP 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분석할 상품을 고르면, 그 범위 안에서 답해요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보장분석에 올라온 고객의 계약이 카드로 보여요. 담보로 걸러서 필요한 상품만 체크할 수 있어요.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2240280" cy="3429000"/>
          </a:xfrm>
          <a:prstGeom prst="roundRect">
            <a:avLst>
              <a:gd name="adj" fmla="val 898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389888"/>
            <a:ext cx="2112264" cy="3300984"/>
          </a:xfrm>
          <a:prstGeom prst="roundRect">
            <a:avLst>
              <a:gd name="adj" fmla="val 73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14356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9:41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2267712" y="143560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▂▄▆ ◠ ▮</a:t>
            </a:r>
            <a:endParaRPr lang="en-US" sz="550" dirty="0"/>
          </a:p>
        </p:txBody>
      </p:sp>
      <p:sp>
        <p:nvSpPr>
          <p:cNvPr id="9" name="Shape 7"/>
          <p:cNvSpPr/>
          <p:nvPr/>
        </p:nvSpPr>
        <p:spPr>
          <a:xfrm>
            <a:off x="1577340" y="4599432"/>
            <a:ext cx="548640" cy="36576"/>
          </a:xfrm>
          <a:prstGeom prst="roundRect">
            <a:avLst>
              <a:gd name="adj" fmla="val 5000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16459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≡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" y="1664208"/>
            <a:ext cx="475488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16642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 분석</a:t>
            </a:r>
            <a:endParaRPr lang="en-US" sz="550" dirty="0"/>
          </a:p>
        </p:txBody>
      </p:sp>
      <p:sp>
        <p:nvSpPr>
          <p:cNvPr id="13" name="Shape 11"/>
          <p:cNvSpPr/>
          <p:nvPr/>
        </p:nvSpPr>
        <p:spPr>
          <a:xfrm>
            <a:off x="1307592" y="1664208"/>
            <a:ext cx="475488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07592" y="16642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정보</a:t>
            </a:r>
            <a:endParaRPr lang="en-US" sz="550" dirty="0"/>
          </a:p>
        </p:txBody>
      </p:sp>
      <p:sp>
        <p:nvSpPr>
          <p:cNvPr id="15" name="Shape 13"/>
          <p:cNvSpPr/>
          <p:nvPr/>
        </p:nvSpPr>
        <p:spPr>
          <a:xfrm>
            <a:off x="1810512" y="1664208"/>
            <a:ext cx="475488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810512" y="16642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생성</a:t>
            </a:r>
            <a:endParaRPr lang="en-US" sz="550" dirty="0"/>
          </a:p>
        </p:txBody>
      </p:sp>
      <p:sp>
        <p:nvSpPr>
          <p:cNvPr id="17" name="Shape 15"/>
          <p:cNvSpPr/>
          <p:nvPr/>
        </p:nvSpPr>
        <p:spPr>
          <a:xfrm>
            <a:off x="2313432" y="1664208"/>
            <a:ext cx="475488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313432" y="166420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대화</a:t>
            </a:r>
            <a:endParaRPr lang="en-US" sz="550" dirty="0"/>
          </a:p>
        </p:txBody>
      </p:sp>
      <p:sp>
        <p:nvSpPr>
          <p:cNvPr id="19" name="Text 17"/>
          <p:cNvSpPr txBox="1"/>
          <p:nvPr/>
        </p:nvSpPr>
        <p:spPr>
          <a:xfrm>
            <a:off x="932688" y="19933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분석할 상품을 선택하세요.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932688" y="224942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선택된 정상 계약의 총 보험료</a:t>
            </a:r>
            <a:endParaRPr lang="en-US" sz="550" dirty="0"/>
          </a:p>
        </p:txBody>
      </p:sp>
      <p:sp>
        <p:nvSpPr>
          <p:cNvPr id="21" name="Text 19"/>
          <p:cNvSpPr txBox="1"/>
          <p:nvPr/>
        </p:nvSpPr>
        <p:spPr>
          <a:xfrm>
            <a:off x="932688" y="24140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404,145원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32688" y="2770632"/>
            <a:ext cx="1828800" cy="5486"/>
          </a:xfrm>
          <a:prstGeom prst="rect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2688" y="283464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원하시는 담보만 선택해서 확인하실 수 있어요</a:t>
            </a:r>
            <a:endParaRPr lang="en-US" sz="500" dirty="0"/>
          </a:p>
        </p:txBody>
      </p:sp>
      <p:sp>
        <p:nvSpPr>
          <p:cNvPr id="24" name="Shape 22"/>
          <p:cNvSpPr/>
          <p:nvPr/>
        </p:nvSpPr>
        <p:spPr>
          <a:xfrm>
            <a:off x="932688" y="3017520"/>
            <a:ext cx="356616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32688" y="3017520"/>
            <a:ext cx="356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</a:t>
            </a:r>
            <a:endParaRPr lang="en-US" sz="550" dirty="0"/>
          </a:p>
        </p:txBody>
      </p:sp>
      <p:sp>
        <p:nvSpPr>
          <p:cNvPr id="26" name="Shape 24"/>
          <p:cNvSpPr/>
          <p:nvPr/>
        </p:nvSpPr>
        <p:spPr>
          <a:xfrm>
            <a:off x="1344168" y="3017520"/>
            <a:ext cx="658368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344168" y="301752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뇌/심장</a:t>
            </a:r>
            <a:endParaRPr lang="en-US" sz="550" dirty="0"/>
          </a:p>
        </p:txBody>
      </p:sp>
      <p:sp>
        <p:nvSpPr>
          <p:cNvPr id="28" name="Shape 26"/>
          <p:cNvSpPr/>
          <p:nvPr/>
        </p:nvSpPr>
        <p:spPr>
          <a:xfrm>
            <a:off x="2057400" y="3017520"/>
            <a:ext cx="557784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057400" y="3017520"/>
            <a:ext cx="557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치료비</a:t>
            </a:r>
            <a:endParaRPr lang="en-US" sz="550" dirty="0"/>
          </a:p>
        </p:txBody>
      </p:sp>
      <p:sp>
        <p:nvSpPr>
          <p:cNvPr id="30" name="Shape 28"/>
          <p:cNvSpPr/>
          <p:nvPr/>
        </p:nvSpPr>
        <p:spPr>
          <a:xfrm>
            <a:off x="2670048" y="3017520"/>
            <a:ext cx="557784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670048" y="3017520"/>
            <a:ext cx="557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수술비</a:t>
            </a:r>
            <a:endParaRPr lang="en-US" sz="550" dirty="0"/>
          </a:p>
        </p:txBody>
      </p:sp>
      <p:sp>
        <p:nvSpPr>
          <p:cNvPr id="32" name="Shape 30"/>
          <p:cNvSpPr/>
          <p:nvPr/>
        </p:nvSpPr>
        <p:spPr>
          <a:xfrm>
            <a:off x="3282696" y="3017520"/>
            <a:ext cx="758952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282696" y="3017520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⌵ 더보기</a:t>
            </a:r>
            <a:endParaRPr lang="en-US" sz="550" dirty="0"/>
          </a:p>
        </p:txBody>
      </p:sp>
      <p:sp>
        <p:nvSpPr>
          <p:cNvPr id="34" name="Text 32"/>
          <p:cNvSpPr txBox="1"/>
          <p:nvPr/>
        </p:nvSpPr>
        <p:spPr>
          <a:xfrm>
            <a:off x="932688" y="33192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☑ 전체 선택 (8/8)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932688" y="3547872"/>
            <a:ext cx="1828800" cy="914400"/>
          </a:xfrm>
          <a:prstGeom prst="rect">
            <a:avLst/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78408" y="359359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</a:t>
            </a:r>
            <a:endParaRPr lang="en-US" sz="5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5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상품명</a:t>
            </a:r>
            <a:endParaRPr lang="en-US" sz="500" dirty="0"/>
          </a:p>
        </p:txBody>
      </p:sp>
      <p:sp>
        <p:nvSpPr>
          <p:cNvPr id="37" name="Text 35"/>
          <p:cNvSpPr txBox="1"/>
          <p:nvPr/>
        </p:nvSpPr>
        <p:spPr>
          <a:xfrm>
            <a:off x="1362456" y="356616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600" dirty="0"/>
          </a:p>
        </p:txBody>
      </p:sp>
      <p:sp>
        <p:nvSpPr>
          <p:cNvPr id="38" name="Text 36"/>
          <p:cNvSpPr txBox="1"/>
          <p:nvPr/>
        </p:nvSpPr>
        <p:spPr>
          <a:xfrm>
            <a:off x="1362456" y="3712464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신한생명</a:t>
            </a:r>
            <a:endParaRPr lang="en-US" sz="450" dirty="0"/>
          </a:p>
        </p:txBody>
      </p:sp>
      <p:sp>
        <p:nvSpPr>
          <p:cNvPr id="39" name="Text 37"/>
          <p:cNvSpPr txBox="1"/>
          <p:nvPr/>
        </p:nvSpPr>
        <p:spPr>
          <a:xfrm>
            <a:off x="1362456" y="38404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용감한 오렌지종신보험</a:t>
            </a:r>
            <a:endParaRPr lang="en-US" sz="4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4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(무배당, 저해지환급형)</a:t>
            </a:r>
            <a:endParaRPr lang="en-US" sz="450" dirty="0"/>
          </a:p>
        </p:txBody>
      </p:sp>
      <p:sp>
        <p:nvSpPr>
          <p:cNvPr id="40" name="Text 38"/>
          <p:cNvSpPr txBox="1"/>
          <p:nvPr/>
        </p:nvSpPr>
        <p:spPr>
          <a:xfrm>
            <a:off x="1362456" y="4187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2017년 8월 ~</a:t>
            </a:r>
            <a:endParaRPr lang="en-US" sz="43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4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2057년 12월</a:t>
            </a:r>
            <a:endParaRPr lang="en-US" sz="430" dirty="0"/>
          </a:p>
        </p:txBody>
      </p:sp>
      <p:sp>
        <p:nvSpPr>
          <p:cNvPr id="41" name="Text 39"/>
          <p:cNvSpPr txBox="1"/>
          <p:nvPr/>
        </p:nvSpPr>
        <p:spPr>
          <a:xfrm>
            <a:off x="1837944" y="356616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600" dirty="0"/>
          </a:p>
        </p:txBody>
      </p:sp>
      <p:sp>
        <p:nvSpPr>
          <p:cNvPr id="42" name="Text 40"/>
          <p:cNvSpPr txBox="1"/>
          <p:nvPr/>
        </p:nvSpPr>
        <p:spPr>
          <a:xfrm>
            <a:off x="1837944" y="3712464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DB손보</a:t>
            </a:r>
            <a:endParaRPr lang="en-US" sz="450" dirty="0"/>
          </a:p>
        </p:txBody>
      </p:sp>
      <p:sp>
        <p:nvSpPr>
          <p:cNvPr id="43" name="Text 41"/>
          <p:cNvSpPr txBox="1"/>
          <p:nvPr/>
        </p:nvSpPr>
        <p:spPr>
          <a:xfrm>
            <a:off x="1837944" y="38404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대성인병보장보험</a:t>
            </a:r>
            <a:endParaRPr lang="en-US" sz="4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4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1종 비갱신형</a:t>
            </a:r>
            <a:endParaRPr lang="en-US" sz="450" dirty="0"/>
          </a:p>
        </p:txBody>
      </p:sp>
      <p:sp>
        <p:nvSpPr>
          <p:cNvPr id="44" name="Text 42"/>
          <p:cNvSpPr txBox="1"/>
          <p:nvPr/>
        </p:nvSpPr>
        <p:spPr>
          <a:xfrm>
            <a:off x="1837944" y="4187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2017년 8월 ~</a:t>
            </a:r>
            <a:endParaRPr lang="en-US" sz="43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4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2057년 12월</a:t>
            </a:r>
            <a:endParaRPr lang="en-US" sz="430" dirty="0"/>
          </a:p>
        </p:txBody>
      </p:sp>
      <p:sp>
        <p:nvSpPr>
          <p:cNvPr id="45" name="Text 43"/>
          <p:cNvSpPr txBox="1"/>
          <p:nvPr/>
        </p:nvSpPr>
        <p:spPr>
          <a:xfrm>
            <a:off x="2313432" y="356616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600" dirty="0"/>
          </a:p>
        </p:txBody>
      </p:sp>
      <p:sp>
        <p:nvSpPr>
          <p:cNvPr id="46" name="Text 44"/>
          <p:cNvSpPr txBox="1"/>
          <p:nvPr/>
        </p:nvSpPr>
        <p:spPr>
          <a:xfrm>
            <a:off x="2313432" y="3712464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</a:t>
            </a:r>
            <a:endParaRPr lang="en-US" sz="450" dirty="0"/>
          </a:p>
        </p:txBody>
      </p:sp>
      <p:sp>
        <p:nvSpPr>
          <p:cNvPr id="47" name="Text 45"/>
          <p:cNvSpPr txBox="1"/>
          <p:nvPr/>
        </p:nvSpPr>
        <p:spPr>
          <a:xfrm>
            <a:off x="2313432" y="38404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통합간편건강보험</a:t>
            </a:r>
            <a:endParaRPr lang="en-US" sz="4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4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(세만기형)2607</a:t>
            </a:r>
            <a:endParaRPr lang="en-US" sz="450" dirty="0"/>
          </a:p>
        </p:txBody>
      </p:sp>
      <p:sp>
        <p:nvSpPr>
          <p:cNvPr id="48" name="Text 46"/>
          <p:cNvSpPr txBox="1"/>
          <p:nvPr/>
        </p:nvSpPr>
        <p:spPr>
          <a:xfrm>
            <a:off x="2313432" y="4187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2025년 12월 ~</a:t>
            </a:r>
            <a:endParaRPr lang="en-US" sz="43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4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2025년 12월</a:t>
            </a:r>
            <a:endParaRPr lang="en-US" sz="430" dirty="0"/>
          </a:p>
        </p:txBody>
      </p:sp>
      <p:sp>
        <p:nvSpPr>
          <p:cNvPr id="49" name="Shape 47"/>
          <p:cNvSpPr/>
          <p:nvPr/>
        </p:nvSpPr>
        <p:spPr>
          <a:xfrm>
            <a:off x="2962656" y="2404872"/>
            <a:ext cx="237744" cy="237744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962656" y="2404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962656" y="2999232"/>
            <a:ext cx="237744" cy="237744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2962656" y="29992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29768" y="3547872"/>
            <a:ext cx="237744" cy="237744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29768" y="3547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429000" y="1481328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429000" y="1481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3776472" y="1463040"/>
            <a:ext cx="4864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보험료가 먼저 보여요</a:t>
            </a:r>
            <a:endParaRPr lang="en-US" sz="1150" dirty="0"/>
          </a:p>
        </p:txBody>
      </p:sp>
      <p:sp>
        <p:nvSpPr>
          <p:cNvPr id="58" name="Text 56"/>
          <p:cNvSpPr txBox="1"/>
          <p:nvPr/>
        </p:nvSpPr>
        <p:spPr>
          <a:xfrm>
            <a:off x="3776472" y="1737360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정상 계약의 월 보험료 합계예요. 고객과 "지금 매달 이만큼 내고 계세요"로 대화를 시작할 수 있는 숫자예요.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429000" y="2350008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3429000" y="2350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3776472" y="2331720"/>
            <a:ext cx="4864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담보 칩으로 걸러요</a:t>
            </a:r>
            <a:endParaRPr lang="en-US" sz="1150" dirty="0"/>
          </a:p>
        </p:txBody>
      </p:sp>
      <p:sp>
        <p:nvSpPr>
          <p:cNvPr id="62" name="Text 60"/>
          <p:cNvSpPr txBox="1"/>
          <p:nvPr/>
        </p:nvSpPr>
        <p:spPr>
          <a:xfrm>
            <a:off x="3776472" y="2606040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 · 뇌/심장 · 치료비 · 수술비 등 담보를 누르면 관련 상품만 남아요. 주제가 정해진 상담이면 걸러서 보는 게 빨라요.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429000" y="3218688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3429000" y="3218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3776472" y="3200400"/>
            <a:ext cx="4864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카드를 체크해요</a:t>
            </a:r>
            <a:endParaRPr lang="en-US" sz="1150" dirty="0"/>
          </a:p>
        </p:txBody>
      </p:sp>
      <p:sp>
        <p:nvSpPr>
          <p:cNvPr id="66" name="Text 64"/>
          <p:cNvSpPr txBox="1"/>
          <p:nvPr/>
        </p:nvSpPr>
        <p:spPr>
          <a:xfrm>
            <a:off x="3776472" y="3474720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기본은 전체 선택이에요. 이번 상담과 관련 없는 계약은 체크를 풀면 MeAI가 그 상품은 빼고 분석해요.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3429000" y="4069080"/>
            <a:ext cx="5212080" cy="594360"/>
          </a:xfrm>
          <a:prstGeom prst="roundRect">
            <a:avLst>
              <a:gd name="adj" fmla="val 15385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3611880" y="406908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TIP  </a:t>
            </a:r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처음엔 전체 선택 그대로 두고 "보장분석 해줘"부터 하세요. 전체 그림을 본 뒤 담보를 좁혀 다시 묻는 순서가 가장 자연스러워요.</a:t>
            </a:r>
            <a:endParaRPr lang="en-US" sz="950" dirty="0"/>
          </a:p>
        </p:txBody>
      </p:sp>
      <p:sp>
        <p:nvSpPr>
          <p:cNvPr id="69" name="Text 67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70" name="Text 68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6 · STEP 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[보장 분석] 버튼을 누르면 부족한 보장이 색으로 보여요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고객의 보장 상세를 카드로 보면서 대화할 수 있어요. 빨간 글자가 제안 포인트예요.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2240280" cy="3429000"/>
          </a:xfrm>
          <a:prstGeom prst="roundRect">
            <a:avLst>
              <a:gd name="adj" fmla="val 898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389888"/>
            <a:ext cx="2112264" cy="3300984"/>
          </a:xfrm>
          <a:prstGeom prst="roundRect">
            <a:avLst>
              <a:gd name="adj" fmla="val 73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143560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9:41</a:t>
            </a:r>
            <a:endParaRPr lang="en-US" sz="650" dirty="0"/>
          </a:p>
        </p:txBody>
      </p:sp>
      <p:sp>
        <p:nvSpPr>
          <p:cNvPr id="8" name="Text 6"/>
          <p:cNvSpPr txBox="1"/>
          <p:nvPr/>
        </p:nvSpPr>
        <p:spPr>
          <a:xfrm>
            <a:off x="2267712" y="143560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▂▄▆ ◠ ▮</a:t>
            </a:r>
            <a:endParaRPr lang="en-US" sz="550" dirty="0"/>
          </a:p>
        </p:txBody>
      </p:sp>
      <p:sp>
        <p:nvSpPr>
          <p:cNvPr id="9" name="Shape 7"/>
          <p:cNvSpPr/>
          <p:nvPr/>
        </p:nvSpPr>
        <p:spPr>
          <a:xfrm>
            <a:off x="1577340" y="4599432"/>
            <a:ext cx="548640" cy="36576"/>
          </a:xfrm>
          <a:prstGeom prst="roundRect">
            <a:avLst>
              <a:gd name="adj" fmla="val 5000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16459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이민호님의 보장분석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2670048" y="16459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187452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(40대 중반, 남성)</a:t>
            </a:r>
            <a:endParaRPr lang="en-US" sz="550" dirty="0"/>
          </a:p>
        </p:txBody>
      </p:sp>
      <p:sp>
        <p:nvSpPr>
          <p:cNvPr id="13" name="Text 11"/>
          <p:cNvSpPr txBox="1"/>
          <p:nvPr/>
        </p:nvSpPr>
        <p:spPr>
          <a:xfrm>
            <a:off x="1892808" y="187452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52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부족   ● 충분   ● 미가입</a:t>
            </a:r>
            <a:endParaRPr lang="en-US" sz="520" dirty="0"/>
          </a:p>
        </p:txBody>
      </p:sp>
      <p:sp>
        <p:nvSpPr>
          <p:cNvPr id="14" name="Shape 12"/>
          <p:cNvSpPr/>
          <p:nvPr/>
        </p:nvSpPr>
        <p:spPr>
          <a:xfrm>
            <a:off x="1901952" y="1920240"/>
            <a:ext cx="54864" cy="54864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31136" y="1920240"/>
            <a:ext cx="54864" cy="54864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0" y="1920240"/>
            <a:ext cx="54864" cy="54864"/>
          </a:xfrm>
          <a:prstGeom prst="ellipse">
            <a:avLst/>
          </a:prstGeom>
          <a:solidFill>
            <a:srgbClr val="8B95A1"/>
          </a:solidFill>
          <a:ln w="12700">
            <a:solidFill>
              <a:srgbClr val="8B95A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2688" y="21031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2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사망</a:t>
            </a:r>
            <a:endParaRPr lang="en-US" sz="62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21031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2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후유장해</a:t>
            </a:r>
            <a:endParaRPr lang="en-US" sz="620" dirty="0"/>
          </a:p>
        </p:txBody>
      </p:sp>
      <p:sp>
        <p:nvSpPr>
          <p:cNvPr id="19" name="Text 17"/>
          <p:cNvSpPr txBox="1"/>
          <p:nvPr/>
        </p:nvSpPr>
        <p:spPr>
          <a:xfrm>
            <a:off x="1810512" y="21031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2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</a:t>
            </a:r>
            <a:endParaRPr lang="en-US" sz="620" dirty="0"/>
          </a:p>
        </p:txBody>
      </p:sp>
      <p:sp>
        <p:nvSpPr>
          <p:cNvPr id="20" name="Text 18"/>
          <p:cNvSpPr txBox="1"/>
          <p:nvPr/>
        </p:nvSpPr>
        <p:spPr>
          <a:xfrm>
            <a:off x="2249424" y="21031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2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뇌혈관 질환</a:t>
            </a:r>
            <a:endParaRPr lang="en-US" sz="620" dirty="0"/>
          </a:p>
        </p:txBody>
      </p:sp>
      <p:sp>
        <p:nvSpPr>
          <p:cNvPr id="21" name="Shape 19"/>
          <p:cNvSpPr/>
          <p:nvPr/>
        </p:nvSpPr>
        <p:spPr>
          <a:xfrm>
            <a:off x="2578608" y="2112264"/>
            <a:ext cx="274320" cy="1554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578608" y="2112264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</a:t>
            </a:r>
            <a:endParaRPr lang="en-US" sz="500" dirty="0"/>
          </a:p>
        </p:txBody>
      </p:sp>
      <p:sp>
        <p:nvSpPr>
          <p:cNvPr id="23" name="Shape 21"/>
          <p:cNvSpPr/>
          <p:nvPr/>
        </p:nvSpPr>
        <p:spPr>
          <a:xfrm>
            <a:off x="932688" y="2304288"/>
            <a:ext cx="411480" cy="18288"/>
          </a:xfrm>
          <a:prstGeom prst="rect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6968" y="2322576"/>
            <a:ext cx="1920240" cy="3658"/>
          </a:xfrm>
          <a:prstGeom prst="rect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32688" y="2404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사망 보장 상세</a:t>
            </a:r>
            <a:endParaRPr lang="en-US" sz="700" dirty="0"/>
          </a:p>
        </p:txBody>
      </p:sp>
      <p:sp>
        <p:nvSpPr>
          <p:cNvPr id="26" name="Text 24"/>
          <p:cNvSpPr txBox="1"/>
          <p:nvPr/>
        </p:nvSpPr>
        <p:spPr>
          <a:xfrm>
            <a:off x="932688" y="263347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4,000만원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932688" y="2816352"/>
            <a:ext cx="1828800" cy="64008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2688" y="2816352"/>
            <a:ext cx="731520" cy="64008"/>
          </a:xfrm>
          <a:prstGeom prst="rect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2688" y="2953512"/>
            <a:ext cx="1828800" cy="182880"/>
          </a:xfrm>
          <a:prstGeom prst="roundRect">
            <a:avLst>
              <a:gd name="adj" fmla="val 50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32688" y="29535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권장 기준 대비 6,000만원 부족</a:t>
            </a:r>
            <a:endParaRPr lang="en-US" sz="530" dirty="0"/>
          </a:p>
        </p:txBody>
      </p:sp>
      <p:sp>
        <p:nvSpPr>
          <p:cNvPr id="31" name="Shape 29"/>
          <p:cNvSpPr/>
          <p:nvPr/>
        </p:nvSpPr>
        <p:spPr>
          <a:xfrm>
            <a:off x="932688" y="3255264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24128" y="330098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질병사망</a:t>
            </a:r>
            <a:endParaRPr lang="en-US" sz="650" dirty="0"/>
          </a:p>
        </p:txBody>
      </p:sp>
      <p:sp>
        <p:nvSpPr>
          <p:cNvPr id="33" name="Text 31"/>
          <p:cNvSpPr txBox="1"/>
          <p:nvPr/>
        </p:nvSpPr>
        <p:spPr>
          <a:xfrm>
            <a:off x="2578608" y="3300984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⌃</a:t>
            </a:r>
            <a:endParaRPr lang="en-US" sz="600" dirty="0"/>
          </a:p>
        </p:txBody>
      </p:sp>
      <p:sp>
        <p:nvSpPr>
          <p:cNvPr id="34" name="Text 32"/>
          <p:cNvSpPr txBox="1"/>
          <p:nvPr/>
        </p:nvSpPr>
        <p:spPr>
          <a:xfrm>
            <a:off x="1024128" y="35021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권장금액</a:t>
            </a:r>
            <a:endParaRPr lang="en-US" sz="550" dirty="0"/>
          </a:p>
        </p:txBody>
      </p:sp>
      <p:sp>
        <p:nvSpPr>
          <p:cNvPr id="35" name="Text 33"/>
          <p:cNvSpPr txBox="1"/>
          <p:nvPr/>
        </p:nvSpPr>
        <p:spPr>
          <a:xfrm>
            <a:off x="1892808" y="350215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5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4,000만원</a:t>
            </a:r>
            <a:endParaRPr lang="en-US" sz="550" dirty="0"/>
          </a:p>
        </p:txBody>
      </p:sp>
      <p:sp>
        <p:nvSpPr>
          <p:cNvPr id="36" name="Text 34"/>
          <p:cNvSpPr txBox="1"/>
          <p:nvPr/>
        </p:nvSpPr>
        <p:spPr>
          <a:xfrm>
            <a:off x="1024128" y="36850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가입금액</a:t>
            </a:r>
            <a:endParaRPr lang="en-US" sz="550" dirty="0"/>
          </a:p>
        </p:txBody>
      </p:sp>
      <p:sp>
        <p:nvSpPr>
          <p:cNvPr id="37" name="Text 35"/>
          <p:cNvSpPr txBox="1"/>
          <p:nvPr/>
        </p:nvSpPr>
        <p:spPr>
          <a:xfrm>
            <a:off x="1892808" y="368503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5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2,000만원</a:t>
            </a:r>
            <a:endParaRPr lang="en-US" sz="550" dirty="0"/>
          </a:p>
        </p:txBody>
      </p:sp>
      <p:sp>
        <p:nvSpPr>
          <p:cNvPr id="38" name="Text 36"/>
          <p:cNvSpPr txBox="1"/>
          <p:nvPr/>
        </p:nvSpPr>
        <p:spPr>
          <a:xfrm>
            <a:off x="1024128" y="386791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부족금액</a:t>
            </a:r>
            <a:endParaRPr lang="en-US" sz="550" dirty="0"/>
          </a:p>
        </p:txBody>
      </p:sp>
      <p:sp>
        <p:nvSpPr>
          <p:cNvPr id="39" name="Text 37"/>
          <p:cNvSpPr txBox="1"/>
          <p:nvPr/>
        </p:nvSpPr>
        <p:spPr>
          <a:xfrm>
            <a:off x="1892808" y="386791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5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2,000만원</a:t>
            </a:r>
            <a:endParaRPr lang="en-US" sz="550" dirty="0"/>
          </a:p>
        </p:txBody>
      </p:sp>
      <p:sp>
        <p:nvSpPr>
          <p:cNvPr id="40" name="Shape 38"/>
          <p:cNvSpPr/>
          <p:nvPr/>
        </p:nvSpPr>
        <p:spPr>
          <a:xfrm>
            <a:off x="932688" y="420624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96696" y="423367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메트라이프생명 무배당 마스터플랜</a:t>
            </a:r>
            <a:endParaRPr lang="en-US" sz="4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변액유니버셜종신보험</a:t>
            </a:r>
            <a:endParaRPr lang="en-US" sz="450" dirty="0"/>
          </a:p>
        </p:txBody>
      </p:sp>
      <p:sp>
        <p:nvSpPr>
          <p:cNvPr id="42" name="Text 40"/>
          <p:cNvSpPr txBox="1"/>
          <p:nvPr/>
        </p:nvSpPr>
        <p:spPr>
          <a:xfrm>
            <a:off x="2167128" y="42336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4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질병사망고도후유장해</a:t>
            </a:r>
            <a:endParaRPr lang="en-US" sz="4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4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500만원</a:t>
            </a:r>
            <a:endParaRPr lang="en-US" sz="450" dirty="0"/>
          </a:p>
        </p:txBody>
      </p:sp>
      <p:sp>
        <p:nvSpPr>
          <p:cNvPr id="43" name="Shape 41"/>
          <p:cNvSpPr/>
          <p:nvPr/>
        </p:nvSpPr>
        <p:spPr>
          <a:xfrm>
            <a:off x="2962656" y="2084832"/>
            <a:ext cx="237744" cy="237744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962656" y="20848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29768" y="2770632"/>
            <a:ext cx="237744" cy="237744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29768" y="27706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962656" y="3273552"/>
            <a:ext cx="237744" cy="237744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962656" y="32735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429000" y="1481328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429000" y="1481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3776472" y="1463040"/>
            <a:ext cx="4864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 분류 탭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3776472" y="1737360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사망 · 후유장해 · 암 · 뇌혈관 질환 · 심장 질환 … 탭을 넘기며 분류별로 봐요. 빨간 탭이 부족한 분류예요.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429000" y="2350008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3429000" y="2350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3776472" y="2331720"/>
            <a:ext cx="4864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권장 기준 대비 막대</a:t>
            </a:r>
            <a:endParaRPr lang="en-US" sz="1150" dirty="0"/>
          </a:p>
        </p:txBody>
      </p:sp>
      <p:sp>
        <p:nvSpPr>
          <p:cNvPr id="56" name="Text 54"/>
          <p:cNvSpPr txBox="1"/>
          <p:nvPr/>
        </p:nvSpPr>
        <p:spPr>
          <a:xfrm>
            <a:off x="3776472" y="2606040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가입금액이 권장 기준의 어디까지 왔는지 막대로 보여요. "6,000만원 부족"처럼 부족액이 바로 계산돼요.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429000" y="3218688"/>
            <a:ext cx="256032" cy="256032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429000" y="3218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3776472" y="3200400"/>
            <a:ext cx="4864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세부 담보 카드</a:t>
            </a:r>
            <a:endParaRPr lang="en-US" sz="1150" dirty="0"/>
          </a:p>
        </p:txBody>
      </p:sp>
      <p:sp>
        <p:nvSpPr>
          <p:cNvPr id="60" name="Text 58"/>
          <p:cNvSpPr txBox="1"/>
          <p:nvPr/>
        </p:nvSpPr>
        <p:spPr>
          <a:xfrm>
            <a:off x="3776472" y="3474720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권장금액 · 가입금액 · 부족금액이 담보별로 나와요. 아래엔 어느 회사 어떤 상품에서 얼마가 나오는지까지 보여요.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429000" y="4069080"/>
            <a:ext cx="5212080" cy="594360"/>
          </a:xfrm>
          <a:prstGeom prst="roundRect">
            <a:avLst>
              <a:gd name="adj" fmla="val 15385"/>
            </a:avLst>
          </a:prstGeom>
          <a:solidFill>
            <a:srgbClr val="F2F7FF"/>
          </a:solidFill>
          <a:ln w="12700">
            <a:solidFill>
              <a:srgbClr val="F2F7F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3611880" y="406908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활용  </a:t>
            </a:r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카드를 고객과 함께 보며 "여기 빨간 부분이 지금 비어 있는 곳이에요"라고 말하면, 설명 없이도 제안 이유가 전달돼요.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64" name="Text 62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6 · STEP 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"보장분석 해줘" 한 마디면, 표부터 공략 방향까지 준비돼요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입력창 위 꼬리질문 [보장분석 해줘] 버튼을 누르거나, 그대로 말하면 돼요. 답은 이렇게 구성돼요.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23774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5544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예시를 클릭해서 바로 대화를 시작해 보세요!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7830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↳ 보장분석 해줘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640080" y="2084832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08483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📕 질문 더보기 (프롬프트 라이브러리)  ↗</a:t>
            </a:r>
            <a:endParaRPr lang="en-US" sz="63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17647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👆 이 버튼 하나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2697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또는 이렇게 말해요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97180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2971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"보장분석 해줘"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" y="3300984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33009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"가입증권별로 핵심만 표로 요약해줘"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3630168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" y="36301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"해지하면 좋은 상품과 공략법 알려줘"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40233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3종 세트는 PART 8에서 자세히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0" y="1463040"/>
            <a:ext cx="54406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3383280" y="1554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답변 구조 (실제 답변 예)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1828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보장 현황 점검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29000" y="2167128"/>
            <a:ext cx="36576" cy="219456"/>
          </a:xfrm>
          <a:prstGeom prst="rect">
            <a:avLst/>
          </a:prstGeom>
          <a:solidFill>
            <a:srgbClr val="1FB16A"/>
          </a:solidFill>
          <a:ln w="12700">
            <a:solidFill>
              <a:srgbClr val="1FB16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566160" y="21031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준비된 부분  실손 보유, 암·뇌혈관·허혈성 진단비 확보로 초기 자금 대비 가능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29000" y="2496312"/>
            <a:ext cx="36576" cy="219456"/>
          </a:xfrm>
          <a:prstGeom prst="rect">
            <a:avLst/>
          </a:prstGeom>
          <a:solidFill>
            <a:srgbClr val="1FB16A"/>
          </a:solidFill>
          <a:ln w="12700">
            <a:solidFill>
              <a:srgbClr val="1FB16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66160" y="243230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보완 필요한 부분  암·순환계 통합치료비 등 치료비 라인 없음, 간병 일당 공백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3383280" y="287121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상담 핵심 포인트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29000" y="3209544"/>
            <a:ext cx="36576" cy="219456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566160" y="314553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"진단비 중심 구조로 기본 대비는 잘 되어 있지만, 치료비와 간병 라인이 비어 있어요" 식의 한 문단 설명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3383280" y="35844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☑ 확인 우선순위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429000" y="3922776"/>
            <a:ext cx="36576" cy="219456"/>
          </a:xfrm>
          <a:prstGeom prst="rect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566160" y="385876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뇌혈관·허혈성 수술비 가입 가능 여부 → 간병인 일당 보완 → 암 통합치료비 추가 → 갱신형 특약 정리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383280" y="4160520"/>
            <a:ext cx="5074920" cy="384048"/>
          </a:xfrm>
          <a:prstGeom prst="roundRect">
            <a:avLst>
              <a:gd name="adj" fmla="val 19048"/>
            </a:avLst>
          </a:prstGeom>
          <a:solidFill>
            <a:srgbClr val="F2F7FF"/>
          </a:solidFill>
          <a:ln w="12700">
            <a:solidFill>
              <a:srgbClr val="F2F7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520440" y="41605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 아래 꼬리질문: "가장 먼저 보완해야 할 보장 순서대로 알려줘" → "증권별 해지/유지 판단 포인트 정리" 로 이어가세요.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6 · 상단 버튼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 상단 버튼, 이름이 곧 기능이에요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모바일은 네 개, PC는 세 개. 이름이 조금 다르지만 하는 일은 같아요.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63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📱 모바일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810512"/>
            <a:ext cx="3931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476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91F2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9476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 분석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185623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고객의 보장분석 카드(STEP 3 화면)를 다시 열어요. 대화 중 언제든 확인.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502920" y="2432304"/>
            <a:ext cx="3931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569464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91F2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56946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정보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2478024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입력한 고객 정보(직업·병력·가족력·희망보험료·메모)를 수정해요.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502920" y="3054096"/>
            <a:ext cx="3931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191256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91F2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1912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생성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3099816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지금까지의 대화를 요약 리포트로 만들어요. 카카오톡 발송까지 이어져요.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502920" y="3675888"/>
            <a:ext cx="3931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813048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91F2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81304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대화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1645920" y="372160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고객으로 새 주제의 대화를 시작해요. 이전 대화는 이력에 남아요.</a:t>
            </a:r>
            <a:endParaRPr lang="en-US" sz="880" dirty="0"/>
          </a:p>
        </p:txBody>
      </p:sp>
      <p:sp>
        <p:nvSpPr>
          <p:cNvPr id="22" name="Text 20"/>
          <p:cNvSpPr txBox="1"/>
          <p:nvPr/>
        </p:nvSpPr>
        <p:spPr>
          <a:xfrm>
            <a:off x="4709160" y="1463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🖥 PC (오른쪽 위)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1810512"/>
            <a:ext cx="3931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1947672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46320" y="19476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🗎 보장분석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6355080" y="185623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모바일의 [보장 분석]. 고객 보장 현황과 보완점 분석 화면을 열어요.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4709160" y="2432304"/>
            <a:ext cx="3931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2569464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46320" y="25694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⚙ 사용중인 정보 수정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6355080" y="247802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모바일의 [사용 정보]. 고객 정보를 고쳐요.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4709160" y="3054096"/>
            <a:ext cx="3931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3191256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46320" y="31912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⤓ 요약 리포트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6355080" y="309981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모바일의 [요약 생성]. 리포트 만들기·편집·발송.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4709160" y="3703320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846320" y="37033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PC의 [새로 대화하기 ⊕]는 왼쪽 메뉴 맨 아래에 있어요. 고객 이름과 "보장분석 완료 · N일 남음" 표시도 왼쪽 위에서 확인하세요.</a:t>
            </a:r>
            <a:endParaRPr lang="en-US" sz="880" dirty="0"/>
          </a:p>
        </p:txBody>
      </p:sp>
      <p:sp>
        <p:nvSpPr>
          <p:cNvPr id="37" name="Text 35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6 · 상세설계 · 가계약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제안이 정해졌다면, 설계도 말로 요청하세요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맞춤대화에서 담보와 금액을 말하면 MeAI가 설계안을 정리해줘요. 최종 확정은 가입설계 시스템에서 해요.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397764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요청해요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05840" y="1920240"/>
            <a:ext cx="3291840" cy="566928"/>
          </a:xfrm>
          <a:prstGeom prst="roundRect">
            <a:avLst>
              <a:gd name="adj" fmla="val 19355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196596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고객에게 암 통합치료비 3천만원, 특정순환계 통합치료비 2천만원을 추가한 설계안 만들어줘. 월 보험료는 10만원 안으로.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2606040"/>
            <a:ext cx="3611880" cy="1417320"/>
          </a:xfrm>
          <a:prstGeom prst="roundRect">
            <a:avLst>
              <a:gd name="adj" fmla="val 7742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651760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희망 보험료 10만원 기준으로 담보 구성안을 정리했어요.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암 통합치료비 3,000만원 (비급여 포함형)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특정순환계질환 통합치료비 2,000만원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기존 뇌출혈진단비는 유지, 갱신형 치아 2건은 정리 권장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월 보험료와 상세 담보표는 아래 표를 확인하세요. 가입설계 전 인수심사 조건을 확인해 주세요.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114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답변 내용은 예시예요.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800600" y="1481328"/>
            <a:ext cx="256032" cy="256032"/>
          </a:xfrm>
          <a:prstGeom prst="ellipse">
            <a:avLst/>
          </a:prstGeom>
          <a:solidFill>
            <a:srgbClr val="6B5CE7"/>
          </a:solidFill>
          <a:ln w="12700">
            <a:solidFill>
              <a:srgbClr val="6B5C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1481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148072" y="146304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담보명 + 금액을 정확히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148072" y="1737360"/>
            <a:ext cx="3493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"암 통합치료비 3천만원"처럼 특약명과 가입금액을 말하면 설계안이 구체적으로 나와요. 특약명이 헷갈리면 일반대화에서 먼저 물어보세요.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800600" y="2286000"/>
            <a:ext cx="256032" cy="256032"/>
          </a:xfrm>
          <a:prstGeom prst="ellipse">
            <a:avLst/>
          </a:prstGeom>
          <a:solidFill>
            <a:srgbClr val="6B5CE7"/>
          </a:solidFill>
          <a:ln w="12700">
            <a:solidFill>
              <a:srgbClr val="6B5C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2286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148072" y="226771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예산을 함께 말해요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148072" y="2542032"/>
            <a:ext cx="3493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"월 10만원 안으로"를 붙이면 예산 안에서 담보 배분을 제안해요. STEP 1에서 희망 보험료를 입력해 뒀다면 자동 반영돼요.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4800600" y="3090672"/>
            <a:ext cx="256032" cy="256032"/>
          </a:xfrm>
          <a:prstGeom prst="ellipse">
            <a:avLst/>
          </a:prstGeom>
          <a:solidFill>
            <a:srgbClr val="6B5CE7"/>
          </a:solidFill>
          <a:ln w="12700">
            <a:solidFill>
              <a:srgbClr val="6B5CE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00600" y="3090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148072" y="3072384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유지·정리까지 한 번에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148072" y="3346704"/>
            <a:ext cx="3493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"기존 계약 중 정리할 것도 알려줘"를 덧붙이면 리모델링 관점(유지/축소/해지/대체)으로 함께 정리해줘요.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4800600" y="3895344"/>
            <a:ext cx="256032" cy="256032"/>
          </a:xfrm>
          <a:prstGeom prst="ellipse">
            <a:avLst/>
          </a:prstGeom>
          <a:solidFill>
            <a:srgbClr val="6B5CE7"/>
          </a:solidFill>
          <a:ln w="12700">
            <a:solidFill>
              <a:srgbClr val="6B5CE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00600" y="38953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148072" y="3877056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확정은 시스템에서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148072" y="4151376"/>
            <a:ext cx="3493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설계안은 상담용 초안이에요. 실제 가입설계·가계약은 영업지원시스템에서 인수심사 조건과 함께 확정하세요.</a:t>
            </a:r>
            <a:endParaRPr lang="en-US" sz="88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31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77840" y="82296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FFFFFF">
                    <a:alpha val="18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B64DA"/>
          </a:solidFill>
          <a:ln w="12700">
            <a:solidFill>
              <a:srgbClr val="1B6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234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07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002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리포트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카카오톡으로 보내기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651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중 좋았던 답만 골라, 고객에게 리포트로 보내요.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246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D6E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파트에서 배우는 것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21208" y="3630168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56616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리포트 만들기 4단계 (실제 화면)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21208" y="3922776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85876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보내기 전에 꼭 확인할 것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1208" y="421538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15137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PC에서 리포트 다루는 법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7 · 4단계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생성 → 선택·편집 → 리포트 생성 → 카카오톡 도착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핸드폰 하나로 상담부터 발송까지 끝나요. 실제 모바일 화면이에요.</a:t>
            </a:r>
            <a:endParaRPr lang="en-US" sz="1100" dirty="0"/>
          </a:p>
        </p:txBody>
      </p:sp>
      <p:pic>
        <p:nvPicPr>
          <p:cNvPr id="5" name="Image 0" descr="/tmp/claude-0/-home-user-MeAI/fc097454-2b30-54b4-8cdf-96642e2114b9/scratchpad/shots/repor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1280160" cy="2606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280160"/>
            <a:ext cx="274320" cy="274320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40416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생성 버튼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42793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화면 상단 [요약 생성]을 눌러요. 대화가 어느 정도 쌓인 뒤가 좋아요.</a:t>
            </a:r>
            <a:endParaRPr lang="en-US" sz="830" dirty="0"/>
          </a:p>
        </p:txBody>
      </p:sp>
      <p:sp>
        <p:nvSpPr>
          <p:cNvPr id="10" name="Text 7"/>
          <p:cNvSpPr txBox="1"/>
          <p:nvPr/>
        </p:nvSpPr>
        <p:spPr>
          <a:xfrm>
            <a:off x="2331720" y="25146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000" dirty="0"/>
          </a:p>
        </p:txBody>
      </p:sp>
      <p:pic>
        <p:nvPicPr>
          <p:cNvPr id="11" name="Image 1" descr="/tmp/claude-0/-home-user-MeAI/fc097454-2b30-54b4-8cdf-96642e2114b9/scratchpad/shots/report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1371600"/>
            <a:ext cx="1280160" cy="26060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43200" y="1280160"/>
            <a:ext cx="274320" cy="274320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743200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2560320" y="40416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질문·답변 선택 → 편집하기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2560320" y="42793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리포트에 넣을 답변만 체크해요. 잡담이나 중간 확인 질문은 빼고, [편집하기]로 문구를 다듬어요.</a:t>
            </a:r>
            <a:endParaRPr lang="en-US" sz="830" dirty="0"/>
          </a:p>
        </p:txBody>
      </p:sp>
      <p:sp>
        <p:nvSpPr>
          <p:cNvPr id="16" name="Text 12"/>
          <p:cNvSpPr txBox="1"/>
          <p:nvPr/>
        </p:nvSpPr>
        <p:spPr>
          <a:xfrm>
            <a:off x="4389120" y="25146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000" dirty="0"/>
          </a:p>
        </p:txBody>
      </p:sp>
      <p:pic>
        <p:nvPicPr>
          <p:cNvPr id="17" name="Image 2" descr="/tmp/claude-0/-home-user-MeAI/fc097454-2b30-54b4-8cdf-96642e2114b9/scratchpad/shots/report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371600"/>
            <a:ext cx="1280160" cy="260604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800600" y="1280160"/>
            <a:ext cx="274320" cy="274320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800600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4617720" y="40416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리포트 생성하기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4617720" y="42793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[리포트 생성하기]를 누르면 "완료되면 카카오톡으로 다운로드 링크가 전송됩니다" 안내가 떠요.</a:t>
            </a:r>
            <a:endParaRPr lang="en-US" sz="830" dirty="0"/>
          </a:p>
        </p:txBody>
      </p:sp>
      <p:sp>
        <p:nvSpPr>
          <p:cNvPr id="22" name="Text 17"/>
          <p:cNvSpPr txBox="1"/>
          <p:nvPr/>
        </p:nvSpPr>
        <p:spPr>
          <a:xfrm>
            <a:off x="6446520" y="25146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000" dirty="0"/>
          </a:p>
        </p:txBody>
      </p:sp>
      <p:pic>
        <p:nvPicPr>
          <p:cNvPr id="23" name="Image 3" descr="/tmp/claude-0/-home-user-MeAI/fc097454-2b30-54b4-8cdf-96642e2114b9/scratchpad/shots/report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1371600"/>
            <a:ext cx="1280160" cy="260604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6858000" y="1280160"/>
            <a:ext cx="274320" cy="274320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6858000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6675120" y="40416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카카오톡 알림톡 도착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6675120" y="42793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 알림톡으로 "MeAI 요약레포트 안내"가 와요. [요약레포트 확인하기]로 열어요.</a:t>
            </a:r>
            <a:endParaRPr lang="en-US" sz="830" dirty="0"/>
          </a:p>
        </p:txBody>
      </p:sp>
      <p:sp>
        <p:nvSpPr>
          <p:cNvPr id="28" name="Text 22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29" name="Text 23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44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7 · 체크포인트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리포트는 고객에게 가는 문서예요. 보내기 전 다섯 가지만 확인하세요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리포트에는 "AI로 생성된 보조자료입니다"가 표시돼요. 그래도 최종 책임은 보내는 사람에게 있어요.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4592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6459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숫자와 약관 근거 확인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1488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보장금액·보험료·면책 기간은 약관과 증권으로 한 번 더 확인해요. 근거가 불확실한 문장은 [편집하기]에서 빼요.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64592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16459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고객에게 필요한 답만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1488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체크박스로 답변을 골라요. 내부 판단용 질문("해지하면 좋은 상품")은 리포트에서 제외하는 게 안전해요.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89320" y="146304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64592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7220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16459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 없는지 확인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21488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중 실수로 넣은 이름·연락처가 리포트에 남지 않았는지 훑어봐요.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306324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324612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2461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열람 기간 D+7일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3749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알림톡의 리포트 링크는 수신일로부터 7일까지 열람할 수 있어요. 고객에게 기간을 함께 안내하세요.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46120" y="30632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29000" y="324612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2900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931920" y="32461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PC에서는 [요약 리포트] 버튼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3429000" y="3749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맞춤대화 오른쪽 위 [⤓ 요약 리포트]에서 같은 작업을 해요. 큰 화면이라 편집이 편해요.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3429000" y="4114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리포트 미리보기에는 meritz 로고와 "AI로 생성된 보조자료입니다" 문구, 질문·답변 시각이 함께 표시돼요.</a:t>
            </a:r>
            <a:endParaRPr lang="en-US" sz="850" dirty="0"/>
          </a:p>
        </p:txBody>
      </p:sp>
      <p:pic>
        <p:nvPicPr>
          <p:cNvPr id="31" name="Image 0" descr="/tmp/claude-0/-home-user-MeAI/fc097454-2b30-54b4-8cdf-96642e2114b9/scratchpad/chars/03_dl-rara-a_rg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3200400"/>
            <a:ext cx="502920" cy="1097280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33" name="Text 30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31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77840" y="82296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FFFFFF">
                    <a:alpha val="18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B64DA"/>
          </a:solidFill>
          <a:ln w="12700">
            <a:solidFill>
              <a:srgbClr val="1B6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234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08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002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질문, 어렵지 않아요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고르기만 하면 돼요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651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프롬프트를 몰라도 괜찮아요. MeAI 안에 이미 검증된 질문이 들어 있어요.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246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D6E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파트에서 배우는 것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21208" y="3630168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56616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직접 만들 필요가 없는 이유 (추천 질문 · 꼬리질문 · 프롬프트 라이브러리)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21208" y="3922776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85876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그래도 직접 쓰고 싶다면, 두 조각만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1208" y="421538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15137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많이 쓰는 질문 3종과 저장하기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21208" y="4507992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44398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화법·안내문도 한 줄로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46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8 · 걱정 마세요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질문은 만드는 게 아니라 고르는 거예요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"프롬프트"라는 말에 겁먹지 마세요. MeAI 화면 안에 이미 네 가지 질문 창구가 있어요. 누르기만 하면 돼요.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1920240" cy="25146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45920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45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☺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280160" y="1764792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176479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시작할 때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240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예시 탭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56032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화면의 보장 비교 · 지식 검색 · 자주하는 질문 탭. 예시를 누르면 그 질문이 바로 전송돼요.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2560320" y="1463040"/>
            <a:ext cx="1920240" cy="25146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0" y="1645920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6F7EE"/>
          </a:solidFill>
          <a:ln w="12700">
            <a:solidFill>
              <a:srgbClr val="E6F7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43200" y="1645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↳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337560" y="1764792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E6F7EE"/>
          </a:solidFill>
          <a:ln w="12700">
            <a:solidFill>
              <a:srgbClr val="E6F7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37560" y="176479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답을 받은 뒤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2743200" y="2240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꼬리질문 버튼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743200" y="256032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 아래 MeAI가 다음 질문 3개를 미리 만들어 둬요. 마음에 드는 걸 누르면 대화가 이어져요.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4617720" y="1463040"/>
            <a:ext cx="1920240" cy="25146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1645920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EECFC"/>
          </a:solidFill>
          <a:ln w="12700">
            <a:solidFill>
              <a:srgbClr val="EEECF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00600" y="1645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5C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📕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394960" y="1764792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EEECFC"/>
          </a:solidFill>
          <a:ln w="12700">
            <a:solidFill>
              <a:srgbClr val="EEECF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94960" y="176479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5C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필요할 때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4800600" y="2240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라이브러리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800600" y="256032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[질문 더보기]로 열어요. 추천 · 최신 · 나의 질문 탭에서 골라 [이 질문 사용하기] 한 번.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6675120" y="1463040"/>
            <a:ext cx="1920240" cy="25146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58000" y="1645920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0" y="1645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452360" y="1764792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52360" y="176479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정해졌을 때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6858000" y="2240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 추천 질문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0" y="256032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(10월 오픈) 고객찾기에서 고객을 펼치면 "MeAI에 이렇게 물어보세요"가 일반대화용·맞춤대화용으로 준비돼 있어요.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502920" y="4160520"/>
            <a:ext cx="8138160" cy="502920"/>
          </a:xfrm>
          <a:prstGeom prst="roundRect">
            <a:avLst>
              <a:gd name="adj" fmla="val 18182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1520" y="41605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데이터로도 확인됐어요. 질문을 하나만 쓴 분보다 꼬리질문으로 두세 번 이어간 분의 가계약이 2.3배였어요. 버튼 한 번 더 누르는 것, 그게 전부예요.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</a:t>
            </a:r>
            <a:endParaRPr lang="en-US" sz="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8 · 직접 쓰고 싶다면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쓸 땐 두 조각만 이어 붙이세요. 누구에게 + 무엇을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말하듯 써도 MeAI가 알아들어요. 형식(표·구어체)은 덧붙이면 좋고, 없어도 괜찮아요.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2468880" cy="1417320"/>
          </a:xfrm>
          <a:prstGeom prst="roundRect">
            <a:avLst>
              <a:gd name="adj" fmla="val 7742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누구에게 · 어떤 고객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202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"40대 자녀 둘 가장, 암진단비만 있는 고객에게"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196596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383280" y="1463040"/>
            <a:ext cx="2468880" cy="1417320"/>
          </a:xfrm>
          <a:prstGeom prst="roundRect">
            <a:avLst>
              <a:gd name="adj" fmla="val 7742"/>
            </a:avLst>
          </a:prstGeom>
          <a:solidFill>
            <a:srgbClr val="E6F7EE"/>
          </a:solidFill>
          <a:ln w="12700">
            <a:solidFill>
              <a:srgbClr val="E6F7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6160" y="1600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해달라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19202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"암 통합치료비가 왜 필요한지 설명해줘"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897880" y="196596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263640" y="1463040"/>
            <a:ext cx="2377440" cy="1417320"/>
          </a:xfrm>
          <a:prstGeom prst="roundRect">
            <a:avLst>
              <a:gd name="adj" fmla="val 7742"/>
            </a:avLst>
          </a:prstGeom>
          <a:solidFill>
            <a:srgbClr val="F9FAFB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1600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형식 (있으면 좋아요)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19202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"표로", "고객에게 말하듯 구어체로", "카톡 6줄로"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31089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말하듯 써도 다 통해요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342900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↳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4290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"당뇨 있는 50대 고객, 가입 가능한 상품 알려줘"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342900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↳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34290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고객에게 실손 4세대 전환을 어떻게 설명하면 좋을까?"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384048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↳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3840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"간편심사 3N5가 무슨 뜻인지 쉽게 알려줘"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384048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↳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937760" y="3840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"오늘 만난 고객에게 보낼 카톡 안내문 6줄만 써줘"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4297680"/>
            <a:ext cx="8138160" cy="365760"/>
          </a:xfrm>
          <a:prstGeom prst="roundRect">
            <a:avLst>
              <a:gd name="adj" fmla="val 20000"/>
            </a:avLst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4297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틀려도 괜찮아요. 답이 마음에 안 들면 "더 쉽게", "표로 다시" 한 마디만 덧붙이면 MeAI가 고쳐 줘요.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</a:t>
            </a:r>
            <a:endParaRPr lang="en-US" sz="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8 · 이 셋만 알면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맞춤대화에서 가장 많이 쓰는 질문 3종, 이대로 말하면 돼요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MeAI 활용의 72%가 보장분석이에요. 세 문장은 입력창 위 꼬리질문 버튼으로도 나와요.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51206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64208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6420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시작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51790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"보장분석 해줘"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18288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그림. 잘 준비된 부분 / 보완 필요 / 상담 포인트 / 확인 우선순위가 한 번에.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" y="2212848"/>
            <a:ext cx="51206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2414016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E6F7EE"/>
          </a:solidFill>
          <a:ln w="12700">
            <a:solidFill>
              <a:srgbClr val="E6F7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241401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정리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226771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"가입증권 별로 핵심만 표로 요약해줘"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25786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증권 단위 표. 고객에게 보여주기 좋아요.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" y="2962656"/>
            <a:ext cx="51206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3163824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16382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판단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0175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"해지하면 좋은 상품들과 공략법을 알려줘"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332841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유지·해지·대체 판단과 이유. 내부 검토용.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852160" y="1463040"/>
            <a:ext cx="2788920" cy="2249424"/>
          </a:xfrm>
          <a:prstGeom prst="roundRect">
            <a:avLst>
              <a:gd name="adj" fmla="val 4878"/>
            </a:avLst>
          </a:prstGeom>
          <a:solidFill>
            <a:srgbClr val="EEECFC"/>
          </a:solidFill>
          <a:ln w="12700">
            <a:solidFill>
              <a:srgbClr val="EEE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0" y="1645920"/>
            <a:ext cx="411480" cy="411480"/>
          </a:xfrm>
          <a:prstGeom prst="roundRect">
            <a:avLst>
              <a:gd name="adj" fmla="val 28000"/>
            </a:avLst>
          </a:prstGeom>
          <a:solidFill>
            <a:srgbClr val="6B5CE7"/>
          </a:solidFill>
          <a:ln w="12700">
            <a:solidFill>
              <a:srgbClr val="6B5CE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3504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⊕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1645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좋았던 질문은 저장하세요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0" y="214884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질문 아래 ⊕ 를 누르면 "나의 질문"에 저장돼요. 다음엔 프롬프트 라이브러리 [나의 질문] 탭에서 [이 질문 사용하기] 한 번이면 끝. PC·모바일 어디서든 똑같이 보여요.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502920" y="3840480"/>
            <a:ext cx="8138160" cy="777240"/>
          </a:xfrm>
          <a:prstGeom prst="roundRect">
            <a:avLst>
              <a:gd name="adj" fmla="val 11765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384048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마디 더 붙이면 표가 상담용이 돼요  </a:t>
            </a:r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"갱신특약이 있는 상품은 빨간 글자로 표시하고, 자료에 없으면 '확인필요'로 적어줘"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49</a:t>
            </a:r>
            <a:endParaRPr lang="en-US" sz="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8 · 화법·안내문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고객에게 할 말도 한 줄만 부탁하면 초안이 나와요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비유나 구어체를 부탁하면 바로 읽을 수 있는 문장이 나와요. 일반대화에서도 잘 돼요.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39776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27632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E6F7EE"/>
          </a:solidFill>
          <a:ln w="12700">
            <a:solidFill>
              <a:srgbClr val="E6F7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2763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사회초년생 · 첫 보험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6596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"보험이 하나도 없는 20대에게 꼭 필요한 특약 3가지를 초등학생도 알 수 있게 설명해줘"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39776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627632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62763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암진단비만 있는 고객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96596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"암진단비만 있는 고객에게 암 통합치료비가 왜 필요한지 3가지 이유로 쉽게 말해줘"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834640"/>
            <a:ext cx="39776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" y="2999232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99923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순환계 치료비 · 비유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33756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"뇌혈관·심장 통합치료비를 수도 배관에 비유해서 설명하는 화법 만들어줘"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834640"/>
            <a:ext cx="39776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999232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299923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카톡 안내문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333756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"보장분석 결과를 고객에게 보낼 카톡 안내문 6줄로 써줘. 존댓말, 단정 표현은 빼고"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4251960"/>
            <a:ext cx="8138160" cy="384048"/>
          </a:xfrm>
          <a:prstGeom prst="roundRect">
            <a:avLst>
              <a:gd name="adj" fmla="val 19048"/>
            </a:avLst>
          </a:prstGeom>
          <a:solidFill>
            <a:srgbClr val="F2F7FF"/>
          </a:solidFill>
          <a:ln w="12700">
            <a:solidFill>
              <a:srgbClr val="F2F7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42519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답은 초안이에요. 숫자와 약관 근거를 확인하고 내 말투로 다듬은 뒤 고객에게 전하세요. (지켜야 할 것은 PART 10에서)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en-US" sz="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31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77840" y="82296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FFFFFF">
                    <a:alpha val="18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B64DA"/>
          </a:solidFill>
          <a:ln w="12700">
            <a:solidFill>
              <a:srgbClr val="1B6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234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09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002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영업관리자 편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본부장·조직장을 위한 MeAI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651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본부장님이 전파하고, 조직장님이 정착시킵니다. 데이터가 정착의 방법을 알려줬어요.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246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D6E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파트에서 배우는 것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21208" y="3630168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56616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관리자가 MeAI를 봐야 하는 세 가지 숫자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21208" y="3922776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85876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누구부터 챙길까 · 이번 달 일곱 줄 체크리스트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1208" y="421538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15137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대문을 조회 자료로 쓰는 법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21208" y="4507992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44398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스크립트 3문장과 4주 도입 플랜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</a:t>
            </a:r>
            <a:endParaRPr lang="en-US" sz="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9 · 왜 관리자인가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도구는 이미 손에 있어요. 정착은 조직이 만듭니다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개인이 알아서 쓰게 두면 절반이 사라지고, 본부가 함께 시작하면 셋 중 둘이 남았어요.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4,912명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40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과거엔 썼는데 이번 달은 0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761488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부여자의 40.8%. 새로 가르칠 필요 없이 "다시 켜기"만 하면 되는 분들이에요.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146304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429000" y="1600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65.2%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240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본부 단위로 시작한 분들의 7개월 잔존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761488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개별로 들어온 분은 35~41%만 남았어요. 날짜를 정해 같이 시작하는 것이 두 배 더 남겨요.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89320" y="146304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172200" y="1600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26.9%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2240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받은 뒤 30일 안에 첫 사용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2761488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사용까지 걸린 시간이 짧을수록 정착률이 높았어요. 권한 부여 첫 주가 관리자의 골든타임이에요.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3977640"/>
            <a:ext cx="8138160" cy="640080"/>
          </a:xfrm>
          <a:prstGeom prst="roundRect">
            <a:avLst>
              <a:gd name="adj" fmla="val 14286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9776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"도입이 안 됐다"가 아니라 "이미 다 써봤다"에서 대화를 시작하세요. 사용률은 연차·직책과 무관했고, 효과는 기존 FP에서 더 컸어요(3.9배).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46451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데이터분석팀 「MeAI 사용 실태 분석」·「MeAI 효과 분석」, 2026.08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</a:t>
            </a:r>
            <a:endParaRPr lang="en-US" sz="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9 · 누구부터 챙길까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타깃은 속성이 아니라 사용 이력으로 잡으세요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"신인들이 안 쓴다", "팀원은 안 쓰고 관리자만 쓴다"는 데이터와 달랐어요. 이력이 말해주는 네 그룹부터.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1920240" cy="2651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27632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276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이탈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60020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4,912명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011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과거엔 썼는데 이번 달 발화 0인 분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56032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"다시 켜보세요" 한 마디. 새 교육이 필요 없는 가장 효율 높은 그룹.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0" y="1463040"/>
            <a:ext cx="1920240" cy="2651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0" y="1627632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43200" y="16276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FP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160020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3.9배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2011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12차월 초과, 아직 미활용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743200" y="256032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효과가 가장 큰 층(10.0% → 38.6%). 신인용 도구라는 선입견을 깨주세요.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17720" y="1463040"/>
            <a:ext cx="1920240" cy="2651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1627632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00600" y="16276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단발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0" y="160020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2,156명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00600" y="2011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"보장분석 해줘" 하나만 쓰는 분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800600" y="256032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하나만 더 쓰면 가계약 11.99 → 17.02건. 꼬리질문 버튼을 알려주세요.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675120" y="1463040"/>
            <a:ext cx="1920240" cy="2651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58000" y="1627632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E6F7EE"/>
          </a:solidFill>
          <a:ln w="12700">
            <a:solidFill>
              <a:srgbClr val="E6F7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0" y="16276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승인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726680" y="160020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7일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2011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받은 지 30일 안 된 분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858000" y="256032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주에 한 번 열게 하면 그대로 습관이 돼요. 본부장님이 직접 안내해 주세요.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" y="4251960"/>
            <a:ext cx="8138160" cy="384048"/>
          </a:xfrm>
          <a:prstGeom prst="roundRect">
            <a:avLst>
              <a:gd name="adj" fmla="val 19048"/>
            </a:avLst>
          </a:prstGeom>
          <a:solidFill>
            <a:srgbClr val="F2F7FF"/>
          </a:solidFill>
          <a:ln w="12700">
            <a:solidFill>
              <a:srgbClr val="F2F7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42519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데이터로 보면 "신인이 안 쓴다"는 오해예요. 6차월 미만도 52.6%가 사용했고, 팀원과 관리자의 활용률 차이는 1.3배에 그쳤어요.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53</a:t>
            </a:r>
            <a:endParaRPr lang="en-US" sz="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9 · 대문을 조회 자료로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10월부터 MeAI 대문이 조회 자료가 됩니다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관리자가 따로 리스트를 뽑지 않아도, 대문과 고객찾기 그룹이 그날의 영업 방향을 보여줘요.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46520" y="347472"/>
            <a:ext cx="2194560" cy="219456"/>
          </a:xfrm>
          <a:prstGeom prst="roundRect">
            <a:avLst>
              <a:gd name="adj" fmla="val 50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46520" y="34747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가안 · 10월 오픈 예정 · 디자인 확정 전</a:t>
            </a:r>
            <a:endParaRPr lang="en-US" sz="750" dirty="0"/>
          </a:p>
        </p:txBody>
      </p:sp>
      <p:pic>
        <p:nvPicPr>
          <p:cNvPr id="7" name="Image 0" descr="/tmp/claude-0/-home-user-MeAI/fc097454-2b30-54b4-8cdf-96642e2114b9/scratchpad/crm/gate_sta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5120640" cy="978408"/>
          </a:xfrm>
          <a:prstGeom prst="rect">
            <a:avLst/>
          </a:prstGeom>
        </p:spPr>
      </p:pic>
      <p:pic>
        <p:nvPicPr>
          <p:cNvPr id="8" name="Image 1" descr="/tmp/claude-0/-home-user-MeAI/fc097454-2b30-54b4-8cdf-96642e2114b9/scratchpad/crm/find_group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68880"/>
            <a:ext cx="914400" cy="213055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600200" y="2468880"/>
            <a:ext cx="342900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1737360" y="2633472"/>
            <a:ext cx="45720" cy="658368"/>
          </a:xfrm>
          <a:prstGeom prst="rect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874520" y="25786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첫 화면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1874520" y="285292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팀원의 대문 숫자 4개를 함께 봐요. "사전조회 동의 필요"가 곧 이번 주 동의 재취득 목표 인원이에요.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5166360" y="2468880"/>
            <a:ext cx="342900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303520" y="2633472"/>
            <a:ext cx="45720" cy="658368"/>
          </a:xfrm>
          <a:prstGeom prst="rect">
            <a:avLst/>
          </a:prstGeom>
          <a:solidFill>
            <a:srgbClr val="6B5CE7"/>
          </a:solidFill>
          <a:ln w="12700">
            <a:solidFill>
              <a:srgbClr val="6B5CE7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440680" y="25786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당월 영업 타겟 그룹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5440680" y="285292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고객찾기의 "당월 영업 타겟"(우선순위 1) 그룹이 이달 캠페인 대상이에요. 조회에서 그룹 인원과 이유 문장을 함께 읽어요.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1600200" y="3566160"/>
            <a:ext cx="342900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1737360" y="3730752"/>
            <a:ext cx="45720" cy="658368"/>
          </a:xfrm>
          <a:prstGeom prst="rect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874520" y="36758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상령일 · 생일 D-n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1874520" y="395020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 기회 그룹 중 날짜형은 주간 접촉 계획표로 그대로 써요. "이번 주 상령일 고객 몇 명?"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5166360" y="3566160"/>
            <a:ext cx="342900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303520" y="3730752"/>
            <a:ext cx="45720" cy="658368"/>
          </a:xfrm>
          <a:prstGeom prst="rect">
            <a:avLst/>
          </a:prstGeom>
          <a:solidFill>
            <a:srgbClr val="8B95A1"/>
          </a:solidFill>
          <a:ln w="12700">
            <a:solidFill>
              <a:srgbClr val="8B95A1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5440680" y="36758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이탈위험 · 민원발생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5440680" y="395020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관리타이밍 태그(우선순위 1)는 관리자가 먼저 봐야 하는 고객이에요. 팀원과 대응 방향을 정해요.</a:t>
            </a:r>
            <a:endParaRPr lang="en-US" sz="850" dirty="0"/>
          </a:p>
        </p:txBody>
      </p:sp>
      <p:sp>
        <p:nvSpPr>
          <p:cNvPr id="25" name="Text 21"/>
          <p:cNvSpPr txBox="1"/>
          <p:nvPr/>
        </p:nvSpPr>
        <p:spPr>
          <a:xfrm>
            <a:off x="502920" y="464515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관리자 권한이 있는 분에게는 PC MeAI 왼쪽 메뉴에 [관리자 화면 접속]이 함께 보여요.</a:t>
            </a:r>
            <a:endParaRPr lang="en-US" sz="750" dirty="0"/>
          </a:p>
        </p:txBody>
      </p:sp>
      <p:sp>
        <p:nvSpPr>
          <p:cNvPr id="26" name="Text 22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27" name="Text 23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54</a:t>
            </a:r>
            <a:endParaRPr lang="en-US" sz="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9 · 이번 달 체크리스트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달, 일곱 줄만 부탁드립니다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세 줄이 데이터가 말하는 우선순위예요. 나머지는 여유가 될 때.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8138160" cy="393192"/>
          </a:xfrm>
          <a:prstGeom prst="roundRect">
            <a:avLst>
              <a:gd name="adj" fmla="val 13953"/>
            </a:avLst>
          </a:prstGeom>
          <a:solidFill>
            <a:srgbClr val="F2F7FF"/>
          </a:solidFill>
          <a:ln w="9525">
            <a:solidFill>
              <a:srgbClr val="F2F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087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1417320"/>
            <a:ext cx="3840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권한부여가 안 된 분을 먼저 찾아 주세요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417320"/>
            <a:ext cx="2926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MeAI 권한을 받지 않은 분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818120" y="1508760"/>
            <a:ext cx="685800" cy="210312"/>
          </a:xfrm>
          <a:prstGeom prst="roundRect">
            <a:avLst>
              <a:gd name="adj" fmla="val 50000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18120" y="1508760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최우선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02920" y="1865376"/>
            <a:ext cx="8138160" cy="393192"/>
          </a:xfrm>
          <a:prstGeom prst="roundRect">
            <a:avLst>
              <a:gd name="adj" fmla="val 13953"/>
            </a:avLst>
          </a:prstGeom>
          <a:solidFill>
            <a:srgbClr val="F2F7FF"/>
          </a:solidFill>
          <a:ln w="9525">
            <a:solidFill>
              <a:srgbClr val="F2F7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1956816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19568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1865376"/>
            <a:ext cx="3840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FP(12차월 초과)를 먼저 챙겨 주세요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1865376"/>
            <a:ext cx="2926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전환율 격차가 3.9배로 가장 크게 나는 층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818120" y="1956816"/>
            <a:ext cx="685800" cy="210312"/>
          </a:xfrm>
          <a:prstGeom prst="roundRect">
            <a:avLst>
              <a:gd name="adj" fmla="val 50000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18120" y="1956816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최우선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02920" y="2313432"/>
            <a:ext cx="8138160" cy="393192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2404872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4048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987552" y="2313432"/>
            <a:ext cx="3840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받은 분께 본부장님이 직접 안내해 주세요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2313432"/>
            <a:ext cx="2926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30일이 지나면 정착이 어려워요. 첫 사용이 정착을 가릅니다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818120" y="2404872"/>
            <a:ext cx="685800" cy="210312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18120" y="2404872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온보딩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02920" y="2761488"/>
            <a:ext cx="8138160" cy="393192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2852928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28529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987552" y="2761488"/>
            <a:ext cx="3840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프롬프트를 하나만 더 쓰시라고 안내해 주세요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846320" y="2761488"/>
            <a:ext cx="2926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꼬리질문 버튼 한 번이면 성과가 달라져요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818120" y="2852928"/>
            <a:ext cx="685800" cy="210312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818120" y="2852928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502920" y="3209544"/>
            <a:ext cx="8138160" cy="393192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" y="3300984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" y="33009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987552" y="3209544"/>
            <a:ext cx="3840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10월부터 조회에서 MeAI 대문을 함께 열어 주세요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4846320" y="3209544"/>
            <a:ext cx="2926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추천 고객과 당월 영업 타겟 그룹을 팀과 공유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818120" y="3300984"/>
            <a:ext cx="685800" cy="210312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818120" y="3300984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502920" y="3657600"/>
            <a:ext cx="8138160" cy="393192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0080" y="3749040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0080" y="37490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987552" y="3657600"/>
            <a:ext cx="3840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본부 단위로 날짜를 정해 같이 시작해 주세요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4846320" y="3657600"/>
            <a:ext cx="2926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 독려보다 잔존율이 두 배 가까이 높아요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818120" y="3749040"/>
            <a:ext cx="685800" cy="210312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818120" y="3749040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정착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502920" y="4105656"/>
            <a:ext cx="8138160" cy="393192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0080" y="4197096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40080" y="4197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987552" y="4105656"/>
            <a:ext cx="3840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설명회에 MeAI를 활용해 보세요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4846320" y="4105656"/>
            <a:ext cx="2926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타사가 못 내미는 유일한 한 마디예요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818120" y="4197096"/>
            <a:ext cx="685800" cy="210312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818120" y="4197096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리크루팅</a:t>
            </a:r>
            <a:endParaRPr lang="en-US" sz="700" dirty="0"/>
          </a:p>
        </p:txBody>
      </p:sp>
      <p:sp>
        <p:nvSpPr>
          <p:cNvPr id="54" name="Text 52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55" name="Text 53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</a:t>
            </a:r>
            <a:endParaRPr lang="en-US" sz="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9 · 조회에서 말씀해 보세요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길게 설명하지 않아도 돼요. 세 문장이면 충분해요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숫자로 한 줄, 타깃으로 한 줄, 행동으로 한 줄. 그리고 현장 반론 셋에 대한 답을 미리 준비해 두세요.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49377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18488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61848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숫자로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47218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"같은 FP 안에서 비교해도 체결전환율이 9%에서 36%로 올라갑니다."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80136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강한 한 줄이에요. "같은 FP 비교"라는 조건을 꼭 함께 말씀해 주세요.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502920" y="2130552"/>
            <a:ext cx="49377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331720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3317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타깃으로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185416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"우리 본부에서 다시 권한부여 받을 분, 그리고 한동안 안 쓰신 분 계실까요?"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251460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행동을 바로 만들어 드리는 질문이에요.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502920" y="2843784"/>
            <a:ext cx="49377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044952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04495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행동으로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289864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"10월부터는 MeAI 대문이 오늘 만날 고객을 추천해 드립니다. 조회 때 함께 열어보겠습니다."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22783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 오픈을 조회 습관과 연결하는 한 줄이에요.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5669280" y="1417320"/>
            <a:ext cx="2971800" cy="3200400"/>
          </a:xfrm>
          <a:prstGeom prst="roundRect">
            <a:avLst>
              <a:gd name="adj" fmla="val 3077"/>
            </a:avLst>
          </a:prstGeom>
          <a:solidFill>
            <a:srgbClr val="F9FAFB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806440" y="1508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반론 3가지, 정확하게 답하기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80644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Q. 계약이 더 빨라지나요?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806440" y="21031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속도는 큰 차이 없어요(12일 vs 13일). "빨라진다"가 아니라 "성사된다"로.</a:t>
            </a:r>
            <a:endParaRPr lang="en-US" sz="830" dirty="0"/>
          </a:p>
        </p:txBody>
      </p:sp>
      <p:sp>
        <p:nvSpPr>
          <p:cNvPr id="24" name="Text 22"/>
          <p:cNvSpPr txBox="1"/>
          <p:nvPr/>
        </p:nvSpPr>
        <p:spPr>
          <a:xfrm>
            <a:off x="580644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Q. 설계를 더 많이 하게 되나요?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5806440" y="30175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환산율 차이는 거의 없어요. 대신 좋은 상품을 고르게 돼요. "무엇을 파느냐가 달라진다"로.</a:t>
            </a:r>
            <a:endParaRPr lang="en-US" sz="830" dirty="0"/>
          </a:p>
        </p:txBody>
      </p:sp>
      <p:sp>
        <p:nvSpPr>
          <p:cNvPr id="26" name="Text 24"/>
          <p:cNvSpPr txBox="1"/>
          <p:nvPr/>
        </p:nvSpPr>
        <p:spPr>
          <a:xfrm>
            <a:off x="580644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Q. 원래 될 고객이라 켠 것 아닌가요?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5806440" y="39319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3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FP 관리 고객끼리 비교해도 9.0% → 36.0%. PART 1의 검증 슬라이드를 그대로 보여주세요.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502920" y="3611880"/>
            <a:ext cx="4937760" cy="1005840"/>
          </a:xfrm>
          <a:prstGeom prst="roundRect">
            <a:avLst>
              <a:gd name="adj" fmla="val 9091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3703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과장하지 않는 것이 신뢰를 만들어요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39776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6E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"빨라진다", "많이 판다"가 아니라 "성사된다", "좋은 상품을 고른다"가 데이터가 지지하는 표현이에요. 이 한 장으로 현장 반론이 정리돼요.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56</a:t>
            </a:r>
            <a:endParaRPr lang="en-US" sz="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9 · 4주 도입 플랜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 단위 4주 플랜, 이 순서면 정착합니다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본부 단위로 같은 날 시작하는 것이 핵심이에요. 주차별로 한 가지씩만.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1920240" cy="28346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27632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276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659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점검 + 대문 소개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514600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48716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 미부여·이탈 명단 확인</a:t>
            </a:r>
            <a:endParaRPr lang="en-US" sz="88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063240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03580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조회에서 PART 1 숫자 3장 공유</a:t>
            </a:r>
            <a:endParaRPr lang="en-US" sz="88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611880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58444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 대문 오픈 안내(PART 3)</a:t>
            </a:r>
            <a:endParaRPr lang="en-US" sz="880" dirty="0"/>
          </a:p>
        </p:txBody>
      </p:sp>
      <p:sp>
        <p:nvSpPr>
          <p:cNvPr id="15" name="Text 13"/>
          <p:cNvSpPr txBox="1"/>
          <p:nvPr/>
        </p:nvSpPr>
        <p:spPr>
          <a:xfrm>
            <a:off x="2404872" y="27432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560320" y="1463040"/>
            <a:ext cx="1920240" cy="28346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0" y="1627632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1FB16A"/>
          </a:solidFill>
          <a:ln w="12700">
            <a:solidFill>
              <a:srgbClr val="1FB16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743200" y="16276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743200" y="19659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주 미션 전원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2743200" y="2514600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2971800" y="248716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영업가족 편 첫 5일 미션 시작</a:t>
            </a:r>
            <a:endParaRPr lang="en-US" sz="880" dirty="0"/>
          </a:p>
        </p:txBody>
      </p:sp>
      <p:sp>
        <p:nvSpPr>
          <p:cNvPr id="22" name="Text 20"/>
          <p:cNvSpPr txBox="1"/>
          <p:nvPr/>
        </p:nvSpPr>
        <p:spPr>
          <a:xfrm>
            <a:off x="2743200" y="3063240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2971800" y="303580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일반대화 예시 3개 + 꼬리질문 2회</a:t>
            </a:r>
            <a:endParaRPr lang="en-US" sz="880" dirty="0"/>
          </a:p>
        </p:txBody>
      </p:sp>
      <p:sp>
        <p:nvSpPr>
          <p:cNvPr id="24" name="Text 22"/>
          <p:cNvSpPr txBox="1"/>
          <p:nvPr/>
        </p:nvSpPr>
        <p:spPr>
          <a:xfrm>
            <a:off x="2743200" y="3611880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2971800" y="358444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본부장님이 직접 "열어보셨어요?"</a:t>
            </a:r>
            <a:endParaRPr lang="en-US" sz="880" dirty="0"/>
          </a:p>
        </p:txBody>
      </p:sp>
      <p:sp>
        <p:nvSpPr>
          <p:cNvPr id="26" name="Text 24"/>
          <p:cNvSpPr txBox="1"/>
          <p:nvPr/>
        </p:nvSpPr>
        <p:spPr>
          <a:xfrm>
            <a:off x="4462272" y="27432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617720" y="1463040"/>
            <a:ext cx="1920240" cy="28346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00600" y="1627632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00600" y="16276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3주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4800600" y="19659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한 명 맞춤대화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800600" y="2514600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5029200" y="248716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 추천 고객 1명 → 맞춤대화</a:t>
            </a:r>
            <a:endParaRPr lang="en-US" sz="88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3063240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5029200" y="303580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"보장분석 해줘" + 요약 리포트 1건</a:t>
            </a:r>
            <a:endParaRPr lang="en-US" sz="880" dirty="0"/>
          </a:p>
        </p:txBody>
      </p:sp>
      <p:sp>
        <p:nvSpPr>
          <p:cNvPr id="35" name="Text 33"/>
          <p:cNvSpPr txBox="1"/>
          <p:nvPr/>
        </p:nvSpPr>
        <p:spPr>
          <a:xfrm>
            <a:off x="4800600" y="3611880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029200" y="358444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리포트를 본인 카톡으로 먼저 받기</a:t>
            </a:r>
            <a:endParaRPr lang="en-US" sz="880" dirty="0"/>
          </a:p>
        </p:txBody>
      </p:sp>
      <p:sp>
        <p:nvSpPr>
          <p:cNvPr id="37" name="Text 35"/>
          <p:cNvSpPr txBox="1"/>
          <p:nvPr/>
        </p:nvSpPr>
        <p:spPr>
          <a:xfrm>
            <a:off x="6519672" y="27432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675120" y="1463040"/>
            <a:ext cx="1920240" cy="28346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858000" y="1627632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6B5CE7"/>
          </a:solidFill>
          <a:ln w="12700">
            <a:solidFill>
              <a:srgbClr val="6B5CE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58000" y="162763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4주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6858000" y="19659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공유와 뽐내기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6858000" y="2514600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6B5C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7086600" y="248716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활용일수·가계약 변화 공유</a:t>
            </a:r>
            <a:endParaRPr lang="en-US" sz="880" dirty="0"/>
          </a:p>
        </p:txBody>
      </p:sp>
      <p:sp>
        <p:nvSpPr>
          <p:cNvPr id="44" name="Text 42"/>
          <p:cNvSpPr txBox="1"/>
          <p:nvPr/>
        </p:nvSpPr>
        <p:spPr>
          <a:xfrm>
            <a:off x="6858000" y="3063240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6B5C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7086600" y="303580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우수 사례 3건 조회에서 발표</a:t>
            </a:r>
            <a:endParaRPr lang="en-US" sz="880" dirty="0"/>
          </a:p>
        </p:txBody>
      </p:sp>
      <p:sp>
        <p:nvSpPr>
          <p:cNvPr id="46" name="Text 44"/>
          <p:cNvSpPr txBox="1"/>
          <p:nvPr/>
        </p:nvSpPr>
        <p:spPr>
          <a:xfrm>
            <a:off x="6858000" y="3611880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6B5C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7086600" y="358444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달 당월 영업 타겟 그룹 확정</a:t>
            </a:r>
            <a:endParaRPr lang="en-US" sz="880" dirty="0"/>
          </a:p>
        </p:txBody>
      </p:sp>
      <p:sp>
        <p:nvSpPr>
          <p:cNvPr id="48" name="Text 46"/>
          <p:cNvSpPr txBox="1"/>
          <p:nvPr/>
        </p:nvSpPr>
        <p:spPr>
          <a:xfrm>
            <a:off x="502920" y="44348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본질은 그대로, 바뀌는 건 도구뿐이에요. MeAI가 지식을 채우고, 대문이 고객을 찾고, 관리자님이 정착을 만들어 주세요.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50" name="Text 48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57</a:t>
            </a:r>
            <a:endParaRPr lang="en-US" sz="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31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77840" y="82296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FFFFFF">
                    <a:alpha val="18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B64DA"/>
          </a:solidFill>
          <a:ln w="12700">
            <a:solidFill>
              <a:srgbClr val="1B6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234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10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002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활용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주의사항 · FAQ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651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루틴에 넣고, 지킬 것은 지키면서, 첫 주 미션으로 습관을 만들어요.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246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D6E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파트에서 배우는 것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21208" y="3630168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56616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MeAI와 함께하는 하루 루틴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21208" y="3922776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85876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시나리오 3가지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1208" y="421538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15137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 지켜야 할 5가지 · 자주 묻는 질문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21208" y="4507992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44398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주 미션 체크리스트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58</a:t>
            </a:r>
            <a:endParaRPr lang="en-US" sz="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10 · 하루 루틴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MeAI와 함께하는 하루는 이렇게 흘러가요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어렵지 않아요. 원래 하던 일에 질문 한 번씩만 끼워 넣으면 돼요.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1920240" cy="30175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4592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☀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6459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8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08:30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8745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 · 준비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28600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대문에서 오늘의 추천 고객을 확인하고 맞춤대화 "보장분석 해줘". 부족 보장과 상담 포인트를 3분 안에.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2212848"/>
            <a:ext cx="1554480" cy="5486"/>
          </a:xfrm>
          <a:prstGeom prst="rect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1463040"/>
            <a:ext cx="1920240" cy="30175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0" y="164592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432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📖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337560" y="16459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11:00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337560" y="18745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오전 · 공부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2743200" y="228600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 막혔던 용어를 일반대화 지식 검색으로. 답이 좋으면 나의 질문으로 저장.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0" y="2212848"/>
            <a:ext cx="1554480" cy="5486"/>
          </a:xfrm>
          <a:prstGeom prst="rect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7720" y="1463040"/>
            <a:ext cx="1920240" cy="30175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164592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006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🤝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16459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14:00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394960" y="18745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· 상담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800600" y="228600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앞에서 폰으로 보장분석 카드를 함께 보고, 막히면 마이크로 바로 질문. 약관 근거도 바로 확인.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2212848"/>
            <a:ext cx="1554480" cy="5486"/>
          </a:xfrm>
          <a:prstGeom prst="rect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0" y="1463040"/>
            <a:ext cx="1920240" cy="30175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58000" y="164592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6F7EE"/>
          </a:solidFill>
          <a:ln w="12700">
            <a:solidFill>
              <a:srgbClr val="E6F7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🌙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452360" y="16459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17:30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452360" y="18745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저녁 · 정리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6858000" y="228600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 대화에서 답변을 골라 요약 리포트 생성 → 카카오톡 발송. 내일 고객을 대화 이력에서 미리 열어두기.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58000" y="2212848"/>
            <a:ext cx="1554480" cy="5486"/>
          </a:xfrm>
          <a:prstGeom prst="rect">
            <a:avLst/>
          </a:prstGeom>
          <a:solidFill>
            <a:srgbClr val="E5E8E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59</a:t>
            </a:r>
            <a:endParaRPr lang="en-US" sz="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10 · 현장 시나리오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순간, 이렇게 물어보세요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만나는 세 장면이에요. 질문 순서 그대로 따라 해보세요.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2606040" cy="3154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627632"/>
            <a:ext cx="2240280" cy="292608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276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고객 첫 미팅 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2084832"/>
            <a:ext cx="219456" cy="219456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0848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978408" y="202996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 열고 고객 정보 입력(직업·가족력)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2688336"/>
            <a:ext cx="219456" cy="219456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26883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978408" y="263347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"보장분석 해줘" → 부족 보장 3가지 확인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" y="3291840"/>
            <a:ext cx="219456" cy="219456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2918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978408" y="323697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고객에게 첫 만남에서 꺼낼 질문 3개 만들어줘"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" y="3895344"/>
            <a:ext cx="219456" cy="219456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8953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978408" y="3840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"제안 상품의 알릴의무 항목을 정리해줘"로 고지 준비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46120" y="1463040"/>
            <a:ext cx="2606040" cy="3154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29000" y="1627632"/>
            <a:ext cx="2240280" cy="292608"/>
          </a:xfrm>
          <a:prstGeom prst="roundRect">
            <a:avLst>
              <a:gd name="adj" fmla="val 50000"/>
            </a:avLst>
          </a:prstGeom>
          <a:solidFill>
            <a:srgbClr val="FFEEF0"/>
          </a:solidFill>
          <a:ln w="12700">
            <a:solidFill>
              <a:srgbClr val="FFEE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29000" y="16276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기가입 고객 리모델링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29000" y="2084832"/>
            <a:ext cx="219456" cy="219456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29000" y="20848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3721608" y="202996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"가입증권별로 핵심만 표로 요약해줘"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29000" y="2688336"/>
            <a:ext cx="219456" cy="219456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29000" y="26883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3721608" y="263347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"리모델링 실행안" 프롬프트로 유지/해지/대체 정리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29000" y="3291840"/>
            <a:ext cx="219456" cy="219456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429000" y="32918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3721608" y="323697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"갱신형 특약의 향후 보험료 부담을 구어체로 설명해줘"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29000" y="3895344"/>
            <a:ext cx="219456" cy="219456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429000" y="38953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3721608" y="3840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리포트 → 카카오톡 발송 (내부 판단 답변 제외)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989320" y="1463040"/>
            <a:ext cx="2606040" cy="3154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72200" y="1627632"/>
            <a:ext cx="2240280" cy="292608"/>
          </a:xfrm>
          <a:prstGeom prst="roundRect">
            <a:avLst>
              <a:gd name="adj" fmla="val 50000"/>
            </a:avLst>
          </a:prstGeom>
          <a:solidFill>
            <a:srgbClr val="E6F7EE"/>
          </a:solidFill>
          <a:ln w="12700">
            <a:solidFill>
              <a:srgbClr val="E6F7E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172200" y="162763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B1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질문에 즉답이 필요할 때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72200" y="2084832"/>
            <a:ext cx="219456" cy="219456"/>
          </a:xfrm>
          <a:prstGeom prst="ellipse">
            <a:avLst/>
          </a:prstGeom>
          <a:solidFill>
            <a:srgbClr val="1FB16A"/>
          </a:solidFill>
          <a:ln w="12700">
            <a:solidFill>
              <a:srgbClr val="1FB16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172200" y="20848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6464808" y="202996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"뇌경색도 뇌졸중진단비에서 보장돼?" 일반대화에 바로 질문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172200" y="2688336"/>
            <a:ext cx="219456" cy="219456"/>
          </a:xfrm>
          <a:prstGeom prst="ellipse">
            <a:avLst/>
          </a:prstGeom>
          <a:solidFill>
            <a:srgbClr val="1FB16A"/>
          </a:solidFill>
          <a:ln w="12700">
            <a:solidFill>
              <a:srgbClr val="1FB16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172200" y="26883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6464808" y="263347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답의 근거가 궁금하면 왼쪽 메뉴 [약관 검색]으로 원문 확인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172200" y="3291840"/>
            <a:ext cx="219456" cy="219456"/>
          </a:xfrm>
          <a:prstGeom prst="ellipse">
            <a:avLst/>
          </a:prstGeom>
          <a:solidFill>
            <a:srgbClr val="1FB16A"/>
          </a:solidFill>
          <a:ln w="12700">
            <a:solidFill>
              <a:srgbClr val="1FB16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172200" y="32918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6464808" y="323697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마이크로 "이 내용을 고객에게 한 문장으로" 요청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172200" y="3895344"/>
            <a:ext cx="219456" cy="219456"/>
          </a:xfrm>
          <a:prstGeom prst="ellipse">
            <a:avLst/>
          </a:prstGeom>
          <a:solidFill>
            <a:srgbClr val="1FB16A"/>
          </a:solidFill>
          <a:ln w="12700">
            <a:solidFill>
              <a:srgbClr val="1FB16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172200" y="38953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6464808" y="3840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좋았던 답은 요약 리포트로 고객에게 바로 전송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51" name="Text 49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en-US" sz="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10 · 꼭 지켜주세요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가지 약속, MeAI를 오래 잘 쓰는 조건이에요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하단 안내문에도 나오는 내용이에요. 한 번만 제대로 읽어두세요.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FEEF0"/>
          </a:solidFill>
          <a:ln w="9525">
            <a:solidFill>
              <a:srgbClr val="FFEE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4592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6459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답변은 반드시 검증 후 사용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12140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답변은 생성형 AI가 작성해 오류가 있을 수 있어요. 근거자료(약관·증권)를 직접 확인한 뒤 고객에게 안내해요.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64592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16459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 입력 금지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12140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· 연락처 · 주소 · 주민번호 등 개인정보는 질문에도, 메모에도 넣지 않아요.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989320" y="146304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64592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7220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16459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미검증 책임은 사용자에게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212140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없이 안내해 생긴 금융소비자보호법 등 관련 법령상 책임은 사용자에게 있어요.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502920" y="301752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320040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2004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사용 한도 확인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36758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보장분석 활용은 일일 300회 한도가 있어요. 고객 목록 상단에서 오늘 사용 횟수를 확인할 수 있어요.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3246120" y="301752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29000" y="320040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2900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931920" y="32004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외부 반출 금지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3429000" y="36758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답변, 화면 캡처, 이 가이드북을 포함한 교육자료의 외부 제공·배포·게시(온/오프라인)는 금지돼요.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5989320" y="301752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172200" y="31272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하단 안내문 원문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6172200" y="333756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78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"MeAI의 답변은 생성형 AI를 통해 작성되어 오류가 있을 수 있으므로, 반드시 직접 근거자료를 확인하여 진위를 검증하시기 바랍니다. 미검증으로 인한 금융소비자보호법 등 관련 법령상 책임은 사용자에게 있습니다."</a:t>
            </a:r>
            <a:endParaRPr lang="en-US" sz="780" dirty="0"/>
          </a:p>
        </p:txBody>
      </p:sp>
      <p:sp>
        <p:nvSpPr>
          <p:cNvPr id="33" name="Text 31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61</a:t>
            </a:r>
            <a:endParaRPr lang="en-US" sz="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10 · FAQ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쓰는 분들이 가장 많이 묻는 질문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여섯 개면 첫 주 질문의 대부분이 해결돼요.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9776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5544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컴퓨터를 잘 못하는데요?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85623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핸드폰만 켤 줄 알면 돼요. 앱 홈 → 보장분석 → MeAI, 그리고 마이크 버튼으로 말하면 끝이에요.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39776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15544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뭘 물어야 할지 모르겠어요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185623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예시 탭 세 개와 꼬리질문 버튼을 누르기만 하세요. 10월부터는 대문 추천 고객 카드가 질문까지 제안해요.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02920" y="2514600"/>
            <a:ext cx="39776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26517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답이 이상하거나 틀린 것 같아요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295351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AI라 오류가 있을 수 있어요. 약관 검색으로 원문을 확인하고, 질문에 상황을 더 붙여 다시 물어보세요.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4663440" y="2514600"/>
            <a:ext cx="39776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166360" y="26517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PC에서 한 대화를 폰에서 볼 수 있나요?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166360" y="295351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네. 대화 이력과 저장한 나의 질문은 PC·모바일에서 똑같이 보여요.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502920" y="3611880"/>
            <a:ext cx="39776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3749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" y="37490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고객에게 답을 바로 보내도 되나요?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005840" y="405079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후에요. 요약 리포트 기능으로 필요한 답만 골라 편집해서 카카오톡으로 보내는 게 안전해요.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4663440" y="3611880"/>
            <a:ext cx="39776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46320" y="3749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166360" y="37490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대문은 어디서 열어요?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846320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166360" y="405079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영업포탈에서 MeAI 대문으로 들어가요(10월 오픈). 모바일은 영업지원모바일 app → 보장분석 → MeAI.</a:t>
            </a:r>
            <a:endParaRPr lang="en-US" sz="880" dirty="0"/>
          </a:p>
        </p:txBody>
      </p:sp>
      <p:sp>
        <p:nvSpPr>
          <p:cNvPr id="35" name="Text 33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62</a:t>
            </a:r>
            <a:endParaRPr lang="en-US" sz="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spc="50" kern="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10 · 첫 주 미션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5일, 하루 하나씩만 해보세요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권한을 받은 첫 주에 한 번 열어본 분들이 그대로 습관이 됐어요. 체크하며 따라가 보세요.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1536192" cy="301752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27632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62763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1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38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켜보기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B0B8C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22860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홈 → 보장분석 → MeAI 일반대화 열기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B0B8C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32461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예시 3개 탭에서 각 1개씩 눌러보기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2148840" y="1463040"/>
            <a:ext cx="1536192" cy="301752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0" y="1627632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286000" y="162763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2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2286000" y="1938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말해보기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86000" y="233172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B0B8C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606040" y="22860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마이크로 질문 하나 말해서 보내기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2286000" y="329184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B0B8C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606040" y="32461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 아래 꼬리질문 버튼 2번 이어가기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3794760" y="1463040"/>
            <a:ext cx="1536192" cy="301752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931920" y="1627632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931920" y="162763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3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3931920" y="1938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한 명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931920" y="233172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B0B8C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251960" y="22860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카드 [MeAI] → 고객 정보 입력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3931920" y="329184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B0B8C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251960" y="32461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"보장분석 해줘" 실행, 부족 보장 3개 메모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5440680" y="1463040"/>
            <a:ext cx="1536192" cy="301752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577840" y="1627632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577840" y="162763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4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5577840" y="1938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고객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577840" y="233172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B0B8C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897880" y="22860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대문 오늘의 추천 고객 1명 열어보기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577840" y="329184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B0B8C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897880" y="32461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고객찾기 그룹 하나 골라 [이 고객으로 맞춤대화 시작]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7086600" y="1463040"/>
            <a:ext cx="1536192" cy="301752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1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223760" y="1627632"/>
            <a:ext cx="685800" cy="237744"/>
          </a:xfrm>
          <a:prstGeom prst="roundRect">
            <a:avLst>
              <a:gd name="adj" fmla="val 50000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223760" y="162763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5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7223760" y="1938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리포트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223760" y="233172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B0B8C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543800" y="22860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좋았던 답 저장(나의 질문)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7223760" y="329184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B0B8C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543800" y="32461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리포트 만들어 내 카톡으로 먼저 받아보기</a:t>
            </a:r>
            <a:endParaRPr lang="en-US" sz="880" dirty="0"/>
          </a:p>
        </p:txBody>
      </p:sp>
      <p:sp>
        <p:nvSpPr>
          <p:cNvPr id="45" name="Text 43"/>
          <p:cNvSpPr txBox="1"/>
          <p:nvPr/>
        </p:nvSpPr>
        <p:spPr>
          <a:xfrm>
            <a:off x="502920" y="457200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5일 뒤, 여러분은 이미 "기능 3종 이상 사용자"예요. 그 구간의 성과가 가장 높았어요.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50292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활용 가이드북 · 영업가족 편 · 2026.09</a:t>
            </a:r>
            <a:endParaRPr lang="en-US" sz="750" dirty="0"/>
          </a:p>
        </p:txBody>
      </p:sp>
      <p:sp>
        <p:nvSpPr>
          <p:cNvPr id="47" name="Text 45"/>
          <p:cNvSpPr txBox="1"/>
          <p:nvPr/>
        </p:nvSpPr>
        <p:spPr>
          <a:xfrm>
            <a:off x="818388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</a:t>
            </a:r>
            <a:endParaRPr lang="en-US" sz="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318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09728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궁금하면,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MeAI에게 물어보세요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74320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>
                    <a:alpha val="8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지식은 MeAI가 채우고, 도구가 손을 거들어요.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>
                    <a:alpha val="8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여러분은 고객을 향한 마음만 가져오면 됩니다.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370332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370332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10월, MeAI 대문에서 만나요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46120" y="370332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1B64DA"/>
          </a:solidFill>
          <a:ln w="12700">
            <a:solidFill>
              <a:srgbClr val="1B64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46120" y="37033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 세일즈혁신TF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4348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FFFF">
                    <a:alpha val="6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자료의 전부·일부(수정 포함)의 외부 제공·배포·게시(온/오프라인)는 금지됩니다. 미검증으로 인한 금융소비자보호법 등 관련 법령상 책임은 사용자에게 있습니다.</a:t>
            </a:r>
            <a:endParaRPr lang="en-US" sz="750" dirty="0"/>
          </a:p>
        </p:txBody>
      </p:sp>
      <p:pic>
        <p:nvPicPr>
          <p:cNvPr id="9" name="Image 0" descr="/tmp/claude-0/-home-user-MeAI/fc097454-2b30-54b4-8cdf-96642e2114b9/scratchpad/chars/00_dl-merry-a_rgb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005840"/>
            <a:ext cx="731520" cy="1051560"/>
          </a:xfrm>
          <a:prstGeom prst="rect">
            <a:avLst/>
          </a:prstGeom>
        </p:spPr>
      </p:pic>
      <p:pic>
        <p:nvPicPr>
          <p:cNvPr id="10" name="Image 1" descr="/tmp/claude-0/-home-user-MeAI/fc097454-2b30-54b4-8cdf-96642e2114b9/scratchpad/chars/02_dl-eco-a_rgba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995160" y="1005840"/>
            <a:ext cx="731520" cy="1051560"/>
          </a:xfrm>
          <a:prstGeom prst="rect">
            <a:avLst/>
          </a:prstGeom>
        </p:spPr>
      </p:pic>
      <p:pic>
        <p:nvPicPr>
          <p:cNvPr id="11" name="Image 2" descr="/tmp/claude-0/-home-user-MeAI/fc097454-2b30-54b4-8cdf-96642e2114b9/scratchpad/chars/03_dl-rara-a_rgba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863840" y="1005840"/>
            <a:ext cx="731520" cy="1051560"/>
          </a:xfrm>
          <a:prstGeom prst="rect">
            <a:avLst/>
          </a:prstGeom>
        </p:spPr>
      </p:pic>
      <p:pic>
        <p:nvPicPr>
          <p:cNvPr id="12" name="Image 3" descr="/tmp/claude-0/-home-user-MeAI/fc097454-2b30-54b4-8cdf-96642e2114b9/scratchpad/chars/05_dl-indi-a_rgba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26480" y="2331720"/>
            <a:ext cx="731520" cy="1051560"/>
          </a:xfrm>
          <a:prstGeom prst="rect">
            <a:avLst/>
          </a:prstGeom>
        </p:spPr>
      </p:pic>
      <p:pic>
        <p:nvPicPr>
          <p:cNvPr id="13" name="Image 4" descr="/tmp/claude-0/-home-user-MeAI/fc097454-2b30-54b4-8cdf-96642e2114b9/scratchpad/chars/07_dl-tata-a_rgba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995160" y="2331720"/>
            <a:ext cx="731520" cy="1051560"/>
          </a:xfrm>
          <a:prstGeom prst="rect">
            <a:avLst/>
          </a:prstGeom>
        </p:spPr>
      </p:pic>
      <p:pic>
        <p:nvPicPr>
          <p:cNvPr id="14" name="Image 5" descr="/tmp/claude-0/-home-user-MeAI/fc097454-2b30-54b4-8cdf-96642e2114b9/scratchpad/chars/08_dl-ziziry-a_rgba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863840" y="2331720"/>
            <a:ext cx="731520" cy="1051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MeAI 활용 가이드북 v3 (영업가족 편 + 관리자 편)</dc:title>
  <dc:subject>PptxGenJS Presentation</dc:subject>
  <dc:creator>메리츠화재 세일즈혁신TF</dc:creator>
  <cp:lastModifiedBy>메리츠화재 세일즈혁신TF</cp:lastModifiedBy>
  <cp:revision>1</cp:revision>
  <dcterms:created xsi:type="dcterms:W3CDTF">2026-09-16T08:34:06Z</dcterms:created>
  <dcterms:modified xsi:type="dcterms:W3CDTF">2026-09-16T08:34:06Z</dcterms:modified>
</cp:coreProperties>
</file>