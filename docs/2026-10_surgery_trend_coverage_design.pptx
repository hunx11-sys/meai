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E5968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4E5968"/>
                </a:solidFill>
                <a:latin typeface="Malgun Gothic"/>
              </a:rPr>
              <a:t>주요수술 상위 3종 · 연간 건수(천 건)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건수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91F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백내장</c:v>
                  </c:pt>
                  <c:pt idx="1">
                    <c:v>일반 척추</c:v>
                  </c:pt>
                  <c:pt idx="2">
                    <c:v>제왕절개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664</c:v>
                </c:pt>
                <c:pt idx="1">
                  <c:v>202</c:v>
                </c:pt>
                <c:pt idx="2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91F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91F2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10분. 수술실 사진과 진료실 사진을 나란히 띄우고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· 영업가족 현장교육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52928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병실을 떠나고 있다.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트렌드 · 보험 분쟁 · 그리고 네 개의 담보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메리츠화재 개인영업마케팅파트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5989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스쿨식 · 160분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 문장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7259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3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 점점 입원을 떠나 통원으로 가고 있는데,
</a:t>
            </a:r>
            <a:pPr indent="0" marL="0">
              <a:lnSpc>
                <a:spcPts val="5600"/>
              </a:lnSpc>
              <a:buNone/>
            </a:pPr>
            <a:r>
              <a:rPr lang="en-US" sz="33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실손은 여전히 ‘입원이냐 통원이냐’로 돈을 나눕니다.
</a:t>
            </a:r>
            <a:pPr indent="0" marL="0">
              <a:lnSpc>
                <a:spcPts val="5600"/>
              </a:lnSpc>
              <a:buNone/>
            </a:pPr>
            <a:r>
              <a:rPr lang="en-US" sz="3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틈에서 분쟁이 터집니다.
</a:t>
            </a:r>
            <a:pPr indent="0" marL="0">
              <a:lnSpc>
                <a:spcPts val="5600"/>
              </a:lnSpc>
              <a:buNone/>
            </a:pPr>
            <a:r>
              <a:rPr lang="en-US" sz="33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담보는 그 틈을 메우도록 설계돼 있습니다.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2부 끝 · 마지막, 모두 세 번 말합니다.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흐름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단계로 갑니다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60320" cy="36576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 어디로</a:t>
            </a:r>
            <a:endParaRPr lang="en-US" sz="22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가고 있나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4160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최소침습 · 로봇 · 당일수술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53689" y="2011680"/>
            <a:ext cx="2560320" cy="36576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2873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82873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22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분쟁이 터진다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82873" y="4160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입원/통원 판정 · 수술의 정의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82873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5858" y="2011680"/>
            <a:ext cx="2560320" cy="36576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042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05042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담보로</a:t>
            </a:r>
            <a:endParaRPr lang="en-US" sz="22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메운다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5042" y="4160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· plus · 양성 · 특순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05042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98026" y="2011680"/>
            <a:ext cx="2560320" cy="3657600"/>
          </a:xfrm>
          <a:prstGeom prst="roundRect">
            <a:avLst>
              <a:gd name="adj" fmla="val 1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721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2721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풍성하게</a:t>
            </a:r>
            <a:endParaRPr lang="en-US" sz="22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설계한다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27210" y="4160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개를 함께 넣는 이유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27210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질문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0"/>
              </a:lnSpc>
              <a:buNone/>
            </a:pPr>
            <a:r>
              <a:rPr lang="en-US" sz="5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수술일까요,</a:t>
            </a:r>
            <a:endParaRPr lang="en-US" sz="52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5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통원일까요?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635240" y="1417320"/>
            <a:ext cx="3822192" cy="3566160"/>
          </a:xfrm>
          <a:prstGeom prst="roundRect">
            <a:avLst>
              <a:gd name="adj" fmla="val 717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이야기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21945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 백내장 수술을 받았습니다.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병원 가서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시간 있다가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전에 집에 왔어요.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2부 ‘축 A’에서 회수합니다.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우리나라에서 가장 많이 하는 수술, 백내장의 평균 재원일수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25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1.1일</a:t>
            </a:r>
            <a:endParaRPr lang="en-US" sz="17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하는 수술이, 가장 짧게 눕는 수술입니다.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약 66만 4,000건 · 진료비 약 8,557억원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국민건강보험공단 『주요수술 통계연보』 보도 기준 — 교육 직전 원자료로 연도·수치 재확인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수술 트렌드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칼이 작아졌습니다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개복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20~30cm 절개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43861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9893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99893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복강경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2799893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3~4개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99893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99893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3~5일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56202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223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12234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단일공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612234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배꼽 하나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12234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12234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2~3일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68542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457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24574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로봇보조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24574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다빈치 · 팔 4개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24574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24574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1~2일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980883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36915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36915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내시경 절제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8236915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 · 항문으로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36915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36915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793224" y="2103120"/>
            <a:ext cx="1664208" cy="2743200"/>
          </a:xfrm>
          <a:prstGeom prst="roundRect">
            <a:avLst>
              <a:gd name="adj" fmla="val 1538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49256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049256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경피적 중재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10049256" y="32004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바늘 구멍 하나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049256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049256" y="4133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52578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접근이 얇아진 만큼 회복이 빨라졌고, 회복이 빨라진 만큼 병실에 누울 이유가 사라졌습니다.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입원일수는 이해를 돕기 위한 일반적 경향이며 환자·기관별로 다릅니다(가정값)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수술 트렌드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통원으로 가는 여섯 개의 이유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27889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복강경 → 로봇 → 내시경 → 경피적 중재.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병을 더 얇게 접근합니다.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5404" y="20116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4588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44084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마취 · 회복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4588" y="27889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부위·수면마취와 ERAS 조기회복.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배액관을 안 꽂거나 당일 뺍니다.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9288" y="20116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8796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구조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7889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당일수술센터가 별도로 운영됩니다.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접수부터 귀가까지 한 층에서.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0704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087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수가 제도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6177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포괄수가 7개 질병군은 값이 묶여 있어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붙잡을 유인이 없습니다.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5404" y="38404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4588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44084" y="4087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확산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704588" y="46177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전립선·갑상선에서 시작해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대장·위·부인과·흉부로.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9288" y="3840480"/>
            <a:ext cx="3438144" cy="1627632"/>
          </a:xfrm>
          <a:prstGeom prst="roundRect">
            <a:avLst>
              <a:gd name="adj" fmla="val 1573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48472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887968" y="4087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선호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46177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“금요일에 하고 월요일 출근.”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간병 부담도 지기 싫습니다.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수술 트렌드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보면 더 분명합니다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035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965960"/>
            <a:ext cx="4919472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2313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35개 주요수술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2037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205만 4,000건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37960" y="3154680"/>
            <a:ext cx="4919472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진료비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39242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10조원 돌파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37960" y="4343400"/>
            <a:ext cx="4919472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4690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백내장, 전년 대비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5811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+4.1%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국민건강보험공단 『주요수술 통계연보』 보도 기준 — 발간 연도·수치는 교육 직전 원자료로 재확인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수술 트렌드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로봇은 늘고, 재원은 줄고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840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로봇수술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61288" y="3172968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3044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1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2005년 국내 도입 이후 전국으로 확산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61288" y="3739896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1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수술이 줄어든 시기에도 증가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61288" y="4306824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1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개복·개흉 대비 재원일수 지표가 낫다는 보고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61288" y="4873752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1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비급여 — 비용은 크고 입원은 짧다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5376672" cy="1152144"/>
          </a:xfrm>
          <a:prstGeom prst="roundRect">
            <a:avLst>
              <a:gd name="adj" fmla="val 2222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2311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ERAS 조기회복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334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“수술하면 일주일 눕는다”는 이제 틀린 관리입니다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319272"/>
            <a:ext cx="5376672" cy="1152144"/>
          </a:xfrm>
          <a:prstGeom prst="roundRect">
            <a:avLst>
              <a:gd name="adj" fmla="val 2222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5387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당일수술센터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9410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→ 수술 → 회복실 → 귀가가 한 층에서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4626864"/>
            <a:ext cx="5376672" cy="1152144"/>
          </a:xfrm>
          <a:prstGeom prst="roundRect">
            <a:avLst>
              <a:gd name="adj" fmla="val 2222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846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포괄수가 7개 질병군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248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 · 편도 · 충수 · 탈장 · 치질 · 제왕절개 · 자궁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6000" dirty="0"/>
          </a:p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분쟁이 터집니다.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 통원으로 내려왔는데, 돈은 입원 방에 쌓여 있습니다.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실손에는 방이 두 개 있습니다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3063240"/>
          </a:xfrm>
          <a:prstGeom prst="roundRect">
            <a:avLst>
              <a:gd name="adj" fmla="val 835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834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수천만원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한도 단위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0"/>
            <a:ext cx="5257800" cy="3063240"/>
          </a:xfrm>
          <a:prstGeom prst="roundRect">
            <a:avLst>
              <a:gd name="adj" fmla="val 835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통원 방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834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수십만원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1회당 한도 + 연간 횟수 제한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좋아질수록 받는 돈이 줄어드는 역설입니다.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5세대 실손은 방을 더 좁혔습니다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6일 판매 개시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438144" cy="2834640"/>
          </a:xfrm>
          <a:prstGeom prst="roundRect">
            <a:avLst>
              <a:gd name="adj" fmla="val 90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603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비중증 비급여 한도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5,000만원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6118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1,000만원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75404" y="2194560"/>
            <a:ext cx="3438144" cy="2834640"/>
          </a:xfrm>
          <a:prstGeom prst="roundRect">
            <a:avLst>
              <a:gd name="adj" fmla="val 90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1164" y="25603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비급여 자기부담률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41164" y="30632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41164" y="36118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19288" y="2194560"/>
            <a:ext cx="3438144" cy="2834640"/>
          </a:xfrm>
          <a:prstGeom prst="roundRect">
            <a:avLst>
              <a:gd name="adj" fmla="val 90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5048" y="25603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보상한도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30632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36118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300만원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492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4세대 대비 보험료는 약 30% 낮아졌지만, 통원으로 내려온 수술·시술 상당수가 ‘비중증 비급여’ 칸에 앉아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5세대에서 보장이 빠진 것들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011680" cy="2148840"/>
          </a:xfrm>
          <a:prstGeom prst="roundRect">
            <a:avLst>
              <a:gd name="adj" fmla="val 12727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도수치료 등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근골격계 물리치료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10535" y="2103120"/>
            <a:ext cx="2011680" cy="2148840"/>
          </a:xfrm>
          <a:prstGeom prst="roundRect">
            <a:avLst>
              <a:gd name="adj" fmla="val 12727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84855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84855" y="2834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체외충격파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89550" y="2103120"/>
            <a:ext cx="2011680" cy="2148840"/>
          </a:xfrm>
          <a:prstGeom prst="roundRect">
            <a:avLst>
              <a:gd name="adj" fmla="val 12727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63870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63870" y="2834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비급여 주사제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268566" y="2103120"/>
            <a:ext cx="2011680" cy="2148840"/>
          </a:xfrm>
          <a:prstGeom prst="roundRect">
            <a:avLst>
              <a:gd name="adj" fmla="val 12727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2886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2886" y="2834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미등재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신의료기술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447581" y="2103120"/>
            <a:ext cx="2011680" cy="2148840"/>
          </a:xfrm>
          <a:prstGeom prst="roundRect">
            <a:avLst>
              <a:gd name="adj" fmla="val 12727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1901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21901" y="2834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의료기술 재평가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D등급 항목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0725912" cy="1234440"/>
          </a:xfrm>
          <a:prstGeom prst="roundRect">
            <a:avLst>
              <a:gd name="adj" fmla="val 2074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13892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 기본계약  /  중증 비급여 특약1  /  비중증 비급여 특약2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도수치료, 2026년 7월부터 관리급여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3438144" cy="2286000"/>
          </a:xfrm>
          <a:prstGeom prst="roundRect">
            <a:avLst>
              <a:gd name="adj" fmla="val 112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239572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통일가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88036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43,850원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375404" y="2057400"/>
            <a:ext cx="3438144" cy="2286000"/>
          </a:xfrm>
          <a:prstGeom prst="roundRect">
            <a:avLst>
              <a:gd name="adj" fmla="val 112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9452" y="239572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본인부담률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9452" y="288036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019288" y="2057400"/>
            <a:ext cx="3438144" cy="2286000"/>
          </a:xfrm>
          <a:prstGeom prst="roundRect">
            <a:avLst>
              <a:gd name="adj" fmla="val 112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239572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횟수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88036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15회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17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1회 · 주 2회 · 수술·골절로 관절 구축이 뚜렷하면 최대 24회 · 30분 이상 실시 원칙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725912" cy="9144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537667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“실비로 되던 건데요?” — 제도가 바뀐 것이지, 보험사가 안 주는 것이 아닙니다.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빈칸이 세 개 생깁니다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38144" cy="3246120"/>
          </a:xfrm>
          <a:prstGeom prst="roundRect">
            <a:avLst>
              <a:gd name="adj" fmla="val 788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320040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/ 통원</a:t>
            </a:r>
            <a:endParaRPr lang="en-US" sz="21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판정의 빈칸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4224528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 했는데 입원이 아니라면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한도가 수십 배 줄어듭니다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5404" y="2011680"/>
            <a:ext cx="3438144" cy="3246120"/>
          </a:xfrm>
          <a:prstGeom prst="roundRect">
            <a:avLst>
              <a:gd name="adj" fmla="val 788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945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759452" y="320040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‘수술이냐’의</a:t>
            </a:r>
            <a:endParaRPr lang="en-US" sz="21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759452" y="4224528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약관의 수술 정의에 들어가지 않는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시술이 계속 늘어납니다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9288" y="2011680"/>
            <a:ext cx="3438144" cy="3246120"/>
          </a:xfrm>
          <a:prstGeom prst="roundRect">
            <a:avLst>
              <a:gd name="adj" fmla="val 788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320040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‘보장 대상이냐’의</a:t>
            </a:r>
            <a:endParaRPr lang="en-US" sz="21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4224528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제도가 항목을 빼면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실손은 관여하지 않습니다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5778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칸을 기억하세요. 3부에서 네 개의 담보가 하나씩 메웁니다.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분쟁은 네 개의 축에서 터집니다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77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입원이냐, 통원이냐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926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체류시간 · 입원실 운영 여부 · 낮병동 입원료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0"/>
            <a:ext cx="5257800" cy="1691640"/>
          </a:xfrm>
          <a:prstGeom prst="roundRect">
            <a:avLst>
              <a:gd name="adj" fmla="val 151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388352" y="2377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‘수술’이냐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2926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절단·절제냐 — 제외 8가지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904488"/>
            <a:ext cx="5257800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4224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270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대상이냐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818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 면책 · 5세대 제외 · 법정비급여 전환 시점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3904488"/>
            <a:ext cx="5257800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224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388352" y="4270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회냐, 얼마냐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4818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수술 · 동일 신체부위 · 횟수 합산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건 축 B 입니다. 다음 장에서 약관 원문을 봅니다.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축 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입원이냐, 통원이냐 — 백내장 판례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2971800"/>
          </a:xfrm>
          <a:prstGeom prst="roundRect">
            <a:avLst>
              <a:gd name="adj" fmla="val 861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법원이 본 사실관계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61288" y="2926080"/>
            <a:ext cx="91440" cy="9144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준비부터 종료까지 2시간 남짓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1288" y="3474720"/>
            <a:ext cx="91440" cy="9144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입원실 · 병상을 운영하지 않는 기관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61288" y="4023360"/>
            <a:ext cx="91440" cy="9144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886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낮병동 입원료가 발생할 조건 없음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서울고법 2022. 1. 20. 선고 2021나2013354 · 대법원 심리불속행 확정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2011680"/>
            <a:ext cx="5257800" cy="2971800"/>
          </a:xfrm>
          <a:prstGeom prst="roundRect">
            <a:avLst>
              <a:gd name="adj" fmla="val 861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차이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2697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100배+</a:t>
            </a:r>
            <a:endParaRPr lang="en-US" sz="760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수천만원 vs 통원 수십만원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0352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“수술은 맞습니다. 그런데 실손에서는 통원일 수 있습니다.”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76072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판례는 해당 사건의 사실관계에 근거합니다. 모든 백내장이 통원이라는 뜻은 아닙니다.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축 B — 약관이 말하는 ‘수술’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치료를 직접적인 목적으로 기구를 사용하여 생체에 </a:t>
            </a:r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</a:t>
            </a:r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(특정부위를 잘라내는 것), </a:t>
            </a:r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</a:t>
            </a:r>
            <a:pPr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(특정부위를 잘라 없애는 것) 등의 조작을 가하는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5257800" cy="1600200"/>
          </a:xfrm>
          <a:prstGeom prst="roundRect">
            <a:avLst>
              <a:gd name="adj" fmla="val 1600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4617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신의료기술평가위원회가 안전성·치료효과를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인정한 최신 수술기법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3977640"/>
            <a:ext cx="5257800" cy="1600200"/>
          </a:xfrm>
          <a:prstGeom prst="roundRect">
            <a:avLst>
              <a:gd name="adj" fmla="val 1600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기준은 하나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4617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기법이어도 잘라내면 들어오고,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찔러서 넣기만 하면 빠집니다.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수술비Ⅱ(1-5종)보장 특별약관 · 수술의 정의와 장소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축 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수술에서 빠지는 여덟 가지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27889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20040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물혹 흡인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65576" y="2011680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7889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천자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20040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주사 · 약물 주입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2011680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7889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신경차단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320040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통증 신경차단술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33688" y="2011680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27889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미용성형 목적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320040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 · 눈 성형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904488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0704" y="41788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6817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피임 목적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" y="50932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정관 · 난관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65576" y="3904488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41788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46817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진단 목적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50932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생검 · 복강경검사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3904488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28816" y="41788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528816" y="46817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시술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528816" y="50932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밖의 조치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33688" y="3904488"/>
            <a:ext cx="2523744" cy="1691640"/>
          </a:xfrm>
          <a:prstGeom prst="roundRect">
            <a:avLst>
              <a:gd name="adj" fmla="val 151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62872" y="41788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262872" y="46817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항암치료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262872" y="50932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방사선 · 약물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 빈칸 11번 — 여덟 칸을 받아 적게 합니다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분쟁 다발 수술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실제로 터지는 열두 가지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21408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 + 다초점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8716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입원이냐 통원이냐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5404" y="1965960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5444" y="2121408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맘모톰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95444" y="248716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절제냐 생검이냐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9288" y="1965960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2121408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48716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절단·절제가 없다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008376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16382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비만대사수술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52958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 비만 면책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5404" y="3008376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5444" y="316382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도수 · 체외충격파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95444" y="352958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수술이 아니다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9288" y="3008376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316382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줄기세포 · 증식치료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52958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주사 = 천자·주입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050792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20624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 고주파절제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소작이지 절제가 아니다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5404" y="4050792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95444" y="420624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하지정맥류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95444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미용이냐 치료냐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9288" y="4050792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39328" y="420624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척추 신경성형술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39328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신경차단 계열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1520" y="5093208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524865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대장용종 절제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61441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조직결과가 코드를 가른다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75404" y="5093208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95444" y="524865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치핵 · 탈장 · 편도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695444" y="561441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근치 목적이냐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19288" y="5093208"/>
            <a:ext cx="3438144" cy="896112"/>
          </a:xfrm>
          <a:prstGeom prst="roundRect">
            <a:avLst>
              <a:gd name="adj" fmla="val 204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39328" y="524865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 · 비중격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561441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미용 제외와 겹친다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카드 여섯 가지는 반드시, 나머지는 속도를 냅니다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해부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터지는 두 가지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4023360"/>
          </a:xfrm>
          <a:prstGeom prst="roundRect">
            <a:avLst>
              <a:gd name="adj" fmla="val 636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 + 다초점렌즈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9718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46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혼탁한 수정체를 빼고 인공수정체를 넣는다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03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통원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시간이면 끝나고, 의원에서도 한다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434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터지나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입원/통원 판정 · 다초점렌즈는 비급여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166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5440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체류시간 · 입원실 운영 · 낮병동 입원료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9632" y="2011680"/>
            <a:ext cx="5257800" cy="4023360"/>
          </a:xfrm>
          <a:prstGeom prst="roundRect">
            <a:avLst>
              <a:gd name="adj" fmla="val 636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11112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맘모톰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29718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3246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초음파를 보며 진공장치로 유방 종양을 떠낸다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3703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통원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절개가 최소라 당일 귀가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4434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터지나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2019.7 법정비급여 전환 · 절제/생검 · 양성/악성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5166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5440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조직검사 결과지 · ‘절제’ 표기 · 시행일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해부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하이푸 · 비만대사수술 · 주사치료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38144" cy="3566160"/>
          </a:xfrm>
          <a:prstGeom prst="roundRect">
            <a:avLst>
              <a:gd name="adj" fmla="val 744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33172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하이푸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346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초음파를 모아 열로 괴사시킨다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383280"/>
            <a:ext cx="2889504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361188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절단·절제가 없다.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정의에 들어가느냐가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정면으로 걸린다.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5404" y="2011680"/>
            <a:ext cx="3438144" cy="3566160"/>
          </a:xfrm>
          <a:prstGeom prst="roundRect">
            <a:avLst>
              <a:gd name="adj" fmla="val 744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1164" y="233172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비만대사수술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41164" y="28346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위를 줄이거나 우회로를 만든다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9724" y="3383280"/>
            <a:ext cx="2889504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8324" y="361188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실손은 비만 관련 의료비를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원칙적으로 보상하지 않는다.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 등 약제비도 마찬가지.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9288" y="2011680"/>
            <a:ext cx="3438144" cy="3566160"/>
          </a:xfrm>
          <a:prstGeom prst="roundRect">
            <a:avLst>
              <a:gd name="adj" fmla="val 744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233172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주사 계열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28346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줄기세포 · 프롤로 · 신경성형술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93608" y="3383280"/>
            <a:ext cx="2889504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22208" y="361188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제외 ‘천자·주입’,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‘신경차단’에 걸린다.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5세대 미등재 신의료기술과도 겹친다.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분쟁은 ‘보험사가 안 준다’가 아니라 ‘제도와 약관이 정해 둔 칸에 안 들어간다’에서 생깁니다.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담보로</a:t>
            </a:r>
            <a:endParaRPr lang="en-US" sz="6000" dirty="0"/>
          </a:p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메웁니다.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실손은 ‘얼마 내셨어요’를 묻고, 이 담보들은 ‘무엇을 받으셨어요’를 묻습니다.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왜 정액 담보인가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다릅니다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3657600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9632" y="2011680"/>
            <a:ext cx="5257800" cy="3657600"/>
          </a:xfrm>
          <a:prstGeom prst="roundRect">
            <a:avLst>
              <a:gd name="adj" fmla="val 7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실손의료비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“얼마 내셨어요?”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수술 · 통합치료비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“무엇을 받으셨어요?”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161288" y="3767328"/>
            <a:ext cx="91440" cy="91440"/>
          </a:xfrm>
          <a:prstGeom prst="ellipse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영수증을 본다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61288" y="4297680"/>
            <a:ext cx="91440" cy="91440"/>
          </a:xfrm>
          <a:prstGeom prst="ellipse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4169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/ 통원을 나눈다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61288" y="4828032"/>
            <a:ext cx="91440" cy="91440"/>
          </a:xfrm>
          <a:prstGeom prst="ellipse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700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세대가 바뀌면 조건이 바뀐다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376732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5432" y="3639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행위를 본다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429768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85432" y="4169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정의에 입원·통원 구분이 없다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29400" y="482803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4700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당시 약정한 금액이 나온다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8978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실손을 깎아내리는 게 아닙니다. 역할이 다른 것입니다.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(1-5종)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1-5종 수술분류표Ⅱ의 수술을 받으면 수술 1회당 종별 가입금액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523744" cy="2606040"/>
          </a:xfrm>
          <a:prstGeom prst="roundRect">
            <a:avLst>
              <a:gd name="adj" fmla="val 1014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1회당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38328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횟수 제한 문구가 없습니다.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때마다 지급합니다.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65576" y="2423160"/>
            <a:ext cx="2523744" cy="2606040"/>
          </a:xfrm>
          <a:prstGeom prst="roundRect">
            <a:avLst>
              <a:gd name="adj" fmla="val 1014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여부 불문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38328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당일수술이든 입원수술이든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분류표에 있으면 지급합니다.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2423160"/>
            <a:ext cx="2523744" cy="2606040"/>
          </a:xfrm>
          <a:prstGeom prst="roundRect">
            <a:avLst>
              <a:gd name="adj" fmla="val 1014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8816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수술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338328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가장 높은 한 가지.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부위·독립 목적이면 각각.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33688" y="2423160"/>
            <a:ext cx="2523744" cy="2606040"/>
          </a:xfrm>
          <a:prstGeom prst="roundRect">
            <a:avLst>
              <a:gd name="adj" fmla="val 1014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2872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좌우는 따로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62872" y="3383280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눈·귀·팔·다리는 좌우를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다른 부위로 봅니다.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0725912" cy="777240"/>
          </a:xfrm>
          <a:prstGeom prst="roundRect">
            <a:avLst>
              <a:gd name="adj" fmla="val 2352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550468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2부의 빈칸 ①, ‘입원/통원 판정’을 정면으로 메웁니다.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 1 · 분류표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통원으로 간 수술, 분류표엔 이미 있습니다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 · 수정체 관혈수술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71항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039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유방수술 (맘모톰 등)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963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 용종 · 양성신생물 내시경적 절제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88-2 단서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53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정맥류 근본수술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410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886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치루 · 탈항 · 치핵 근본수술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44항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8679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탈장 근본수술 · 편도 절제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· 17항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325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· 심장 내시경 · 카테터 경피적 수술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88-1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7823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257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체내용 인공심박조율기 매입술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5257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28항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239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26680" y="1965960"/>
            <a:ext cx="3730752" cy="3657600"/>
          </a:xfrm>
          <a:prstGeom prst="roundRect">
            <a:avLst>
              <a:gd name="adj" fmla="val 7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9244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88항의 규칙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60일 이내 2회 이상 = 1회,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같은 기준으로 반복 지급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처치 · 약물주입은 제외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체외충격파치료술도 제외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복강경 · 흉강경은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부위 수술로 적용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실손이 입원/통원을 따지는 동안, 이 담보는 분류표에 있느냐만 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반전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실손에서 그렇게 다투는 맘모톰이,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분류표에는 이름을 걸고 들어와 있습니다.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10725912" cy="2103120"/>
          </a:xfrm>
          <a:prstGeom prst="roundRect">
            <a:avLst>
              <a:gd name="adj" fmla="val 12174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기타 유방수술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8620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치료목적의 진공흡입기를 이용한 유방수술(맘모톰 등)은 수술개시일부터 60일 이내 2회 이상의 수술은 1회의 수술로 간주하여 1회의 수술보험금을 지급하며 이후 동일한 기준으로 반복 지급이 가능합니다. 양측 유방을 각각의 부위로 판단하지 않습니다.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28632" y="3611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778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 산정 기준까지 미리 적어 두었습니다. 분쟁의 축 D를 약관이 먼저 닫아 둔 것입니다.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1-5종수술비(plus)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해에 수술이 두 번째 오는 순간, 그 해 가장 높은 종 기준으로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4206240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2회째에 발동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수술만으로는 나오지 않습니다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4206240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종 기준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151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해 받은 것 중 가장 높은 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4206240" cy="1024128"/>
          </a:xfrm>
          <a:prstGeom prst="roundRect">
            <a:avLst>
              <a:gd name="adj" fmla="val 2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차액 추가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340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높은 종이 오면 차액을 더 지급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지급 예시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6700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가입금액  1종 10만 · 2종 20만 · 3종 100만 · 4종 300만 · 5종 500만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· 그 해 1회째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966960" y="3108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3429000"/>
            <a:ext cx="6199632" cy="338328"/>
          </a:xfrm>
          <a:prstGeom prst="roundRect">
            <a:avLst>
              <a:gd name="adj" fmla="val 324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0680" y="3493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493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 · 그 해 2회째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3474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858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 · 그 해 1회째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57800" y="4160520"/>
            <a:ext cx="6199632" cy="338328"/>
          </a:xfrm>
          <a:prstGeom prst="roundRect">
            <a:avLst>
              <a:gd name="adj" fmla="val 324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4224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4224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 · 그 해 2회째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45902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· D 이후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4572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4956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4956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 · 그 해 1회째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66960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257800" y="5257800"/>
            <a:ext cx="6199632" cy="338328"/>
          </a:xfrm>
          <a:prstGeom prst="roundRect">
            <a:avLst>
              <a:gd name="adj" fmla="val 324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0680" y="53218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5321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 · 그 해 2회째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5303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257800" y="5623560"/>
            <a:ext cx="6199632" cy="338328"/>
          </a:xfrm>
          <a:prstGeom prst="roundRect">
            <a:avLst>
              <a:gd name="adj" fmla="val 324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40680" y="56875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897880" y="5687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· G 이후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5669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480만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6035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= 500만 − 20만, 차액 지급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5989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작아지고 잦아진 ‘잔수술의 시대’를 겨냥한 구조입니다.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암전후관련 특정질환 및 양성신생물 통합치료비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‘암은 아닌데 떼어내야 하는 혹’ — 검사부터 재활까지 한 담보로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MRI · CT · PET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특정생검(급여)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연간 1회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65576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주요치료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약관에 열거된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주요치료 항목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 ~ 5종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분류표 기준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33688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2872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· 외래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재활치료(급여)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기준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2523744" cy="868680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7731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D12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20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 선종 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65576" y="4663440"/>
            <a:ext cx="2523744" cy="868680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39896" y="47731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739896" y="5120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유방 양성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4663440"/>
            <a:ext cx="2523744" cy="868680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47731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5120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자궁근종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33688" y="4663440"/>
            <a:ext cx="2523744" cy="868680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08008" y="47731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D34 · E04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208008" y="51206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 양성 · 결절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760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조직검사 결과가 코드를 가릅니다. 선종(D12)이면 대상, 용종 코드(K63.5)로 남으면 대상이 아닙니다.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특약 마스터 기준 대상 질병코드 124개 · 별표60 · 진단확정은 조직검사 등 결과보고 시점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특정순환계질환(주요손상및질환) 통합치료비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급성기 중환자실부터 외래 재활까지, 한 담보가 같이 받습니다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MRI · PET · CT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(급여)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연간 1회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65576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주요치료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중환자실 · 인공호흡기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CRRT · 저체온요법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연간 1회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 ~ 5종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1회당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33688" y="2331720"/>
            <a:ext cx="2523744" cy="2103120"/>
          </a:xfrm>
          <a:prstGeom prst="roundRect">
            <a:avLst>
              <a:gd name="adj" fmla="val 12174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2872" y="2606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외래 재활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31546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· 외래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재활치료(급여)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9776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15회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6583680" cy="1234440"/>
          </a:xfrm>
          <a:prstGeom prst="roundRect">
            <a:avLst>
              <a:gd name="adj" fmla="val 2074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코드 (40개)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20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고혈압성 I10~I15 · 판막 I34~I39 · 전도장애 I44~I46 · 죽상경화 I70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하지정맥류 I83 등 정맥 · 두개내 손상 S06 · 흉부혈관·심장 손상 S25·S26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4663440"/>
            <a:ext cx="3959352" cy="1234440"/>
          </a:xfrm>
          <a:prstGeom prst="roundRect">
            <a:avLst>
              <a:gd name="adj" fmla="val 20741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5120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협심증(I20) · 급성심근경색(I21)은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담보의 대상 코드가 아닙니다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특약 마스터 기준 대상 질병코드 40개 · 재활치료(입원·외래) 연간 15회한, 각각 1일 1회한 — 약관 원문 표기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개는 서로 다른 구멍을 메웁니다.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2523744" cy="3063240"/>
          </a:xfrm>
          <a:prstGeom prst="roundRect">
            <a:avLst>
              <a:gd name="adj" fmla="val 1014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2926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47472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/ 통원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판정의 구멍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4343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1회당,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여부 불문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65576" y="2240280"/>
            <a:ext cx="2523744" cy="3063240"/>
          </a:xfrm>
          <a:prstGeom prst="roundRect">
            <a:avLst>
              <a:gd name="adj" fmla="val 1014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26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1-5종 plus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47472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잦아진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잔수술의 구멍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4343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2회째부터,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종 + 차액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2240280"/>
            <a:ext cx="2523744" cy="3063240"/>
          </a:xfrm>
          <a:prstGeom prst="roundRect">
            <a:avLst>
              <a:gd name="adj" fmla="val 1014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926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양성신생물 통합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347472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‘암은 아닌 혹’의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4343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검사·수술·재활을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33688" y="2240280"/>
            <a:ext cx="2523744" cy="3063240"/>
          </a:xfrm>
          <a:prstGeom prst="roundRect">
            <a:avLst>
              <a:gd name="adj" fmla="val 1014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62872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62872" y="29260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특순통치 통합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347472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급성기 이후의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4343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중환자실부터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외래 재활까지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넣으면 하나의 구멍만 막힙니다. 네 개를 함께 넣어야 빈칸이 사라집니다.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풍성한 설계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수술에, 겹쳐서 받습니다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양성신생물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2416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특순통치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408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 선종(D12) 내시경 절제 · 당일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79208" y="235000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67928" y="2350008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56648" y="235000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45368" y="2350008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61488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8620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맘모톰 · 유방 양성종양(D24) · 당일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79208" y="287121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7928" y="2871216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56648" y="287121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45368" y="2871216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82696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383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 · 입원실 없는 의원 · 2시간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79208" y="339242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67928" y="3392424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56648" y="3392424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45368" y="3392424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803904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39044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방실차단(I44) 인공심박조율기 매입 · 외래 재활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79208" y="39136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67928" y="3913632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56648" y="3913632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45368" y="39136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325112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44256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 대장 선종 절제 + 치핵 근본수술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79208" y="443484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67928" y="443484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6648" y="443484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45368" y="4434840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846320"/>
            <a:ext cx="10725912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5840" y="49469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외상성 뇌손상(S06) 중환자실 · 외래 재활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379208" y="4956048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67928" y="4956048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56648" y="4956048"/>
            <a:ext cx="237744" cy="237744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45368" y="495604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5440680"/>
            <a:ext cx="10725912" cy="658368"/>
          </a:xfrm>
          <a:prstGeom prst="roundRect">
            <a:avLst>
              <a:gd name="adj" fmla="val 27778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97280" y="5605272"/>
            <a:ext cx="9994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넣으면 한 줄에 점 하나. 네 개를 넣으면 같은 수술에서 두세 개가 겹쳐 나옵니다.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지급은 수술기록·수가코드·조직검사 결과로 판정됩니다. plus는 그 해 두 번째 수술부터 발동합니다.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풍성한 설계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‘풍성하게’란 이런 뜻입니다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1828800"/>
          </a:xfrm>
          <a:prstGeom prst="roundRect">
            <a:avLst>
              <a:gd name="adj" fmla="val 14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267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개를 모두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7889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 빠지면 한 구멍이 남습니다.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plus만 있으면 첫 수술엔 0원,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통합치료비가 없으면 검사·재활이 통째로 빕니다.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0"/>
            <a:ext cx="5257800" cy="1828800"/>
          </a:xfrm>
          <a:prstGeom prst="roundRect">
            <a:avLst>
              <a:gd name="adj" fmla="val 1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2267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종을 고르게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7889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1~2종은 당일수술·잔수술이 몰리는 구간.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4~5종만 키우면 가장 자주 일어나는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구간이 비어 버립니다.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041648"/>
            <a:ext cx="5257800" cy="1828800"/>
          </a:xfrm>
          <a:prstGeom prst="roundRect">
            <a:avLst>
              <a:gd name="adj" fmla="val 1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43616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축을 빠짐없이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818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주요치료 · 수술 · 재활.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보장설계서에서 네 축이 다 있는지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단위로 확인합니다.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4041648"/>
            <a:ext cx="5257800" cy="1828800"/>
          </a:xfrm>
          <a:prstGeom prst="roundRect">
            <a:avLst>
              <a:gd name="adj" fmla="val 1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3616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05472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실손은 실손대로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4818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담보는 실손의 대체가 아니라 보완.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“실손 해지하세요”는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하지 않습니다.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설계서를 덮기 전에 — 네 개가 다 있는가, 종이 고른가, 네 축이 다 있는가.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설계서를 덮기 전에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가지만 확인하세요.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438144" cy="3017520"/>
          </a:xfrm>
          <a:prstGeom prst="roundRect">
            <a:avLst>
              <a:gd name="adj" fmla="val 848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788920"/>
            <a:ext cx="420624" cy="42062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3474720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담보가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들어갔는가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466344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· plus · 양성신생물 · 특순통치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5404" y="2468880"/>
            <a:ext cx="3438144" cy="3017520"/>
          </a:xfrm>
          <a:prstGeom prst="roundRect">
            <a:avLst>
              <a:gd name="adj" fmla="val 848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9452" y="2788920"/>
            <a:ext cx="420624" cy="42062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9452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9452" y="3474720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1~5종 금액이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고르게 채워졌는가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759452" y="466344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잔수술 구간(1~2종)이 비지 않게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9288" y="2468880"/>
            <a:ext cx="3438144" cy="3017520"/>
          </a:xfrm>
          <a:prstGeom prst="roundRect">
            <a:avLst>
              <a:gd name="adj" fmla="val 848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2788920"/>
            <a:ext cx="420624" cy="42062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474720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통합치료비 네 축이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있는가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466344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주요치료 · 수술 · 재활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적용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가지 상황, 이렇게 받습니다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4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 쪽 사정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담보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350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대장 선종 내시경 절제, 당일 귀가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통원 한도 가능성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양성신생물 통합 + 수술비Ⅱ 1종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2816352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맘모톰, 유방 양성종양, 당일 귀가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962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 · 시점 · 절제/생검 다툼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1종 + 양성신생물 통합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557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백내장, 입원실 없는 의원, 2시간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판례상 통원 한도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1종 — 입원 불문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방실차단 인공심박조율기 매입, 외래 재활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 통원은 한도 제약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 3종 + 특순통치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626864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764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 대장 선종 절제 + 치핵 수술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773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소액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 발동 + 수술비Ⅱ 각각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5230368"/>
            <a:ext cx="10725912" cy="530352"/>
          </a:xfrm>
          <a:prstGeom prst="roundRect">
            <a:avLst>
              <a:gd name="adj" fmla="val 258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5367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외상성 뇌손상, 중환자실 후 외래 재활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회복기 통원이 약함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특순통치 주요치료 + 외래 재활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63550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지급은 수술기록 · 수가코드 · 조직검사 결과로 판정됩니다. “무조건 나옵니다”라고 말하지 않습니다.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쓸 다섯 문장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920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“요즘 수술은 하루 만에 끝나는 게 많아졌어요.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일인데, 보험에서는 좀 다르게 봅니다.”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7432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“같은 수술이라도 입원으로 보느냐 통원으로 보느냐에 따라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한도가 몇십 배 차이가 납니다.”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5661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“실손은 ‘얼마 내셨어요’를 묻고,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 담보는 ‘무엇을 받으셨어요’를 묻습니다.”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3891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“약관 분류표에 이름이 적혀 있는지가 중요합니다.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확인해 보시겠어요?”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5212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“올해 수술 한 번 하셨으면,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번째부터 작동하는 구조도 있습니다.”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502152" cy="4069080"/>
          </a:xfrm>
          <a:prstGeom prst="roundRect">
            <a:avLst>
              <a:gd name="adj" fmla="val 73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청구할 때 챙길 서류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93608" y="2788920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수술기록지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절제인가 생검인가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93608" y="3429000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진료비세부내역서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심평원 수가코드(EDI)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93608" y="4069080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조직검사 결과지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양성/악성 · 결과보고 시점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93608" y="4709160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진단서 · 수술확인서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93608" y="5349240"/>
            <a:ext cx="91440" cy="9144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0392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입증 자료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5532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체류시간 · 낮병동 입원료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수술은 병실을 떠나고 있습니다.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725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담보를</a:t>
            </a:r>
            <a:endParaRPr lang="en-US" sz="6200" dirty="0"/>
          </a:p>
          <a:p>
            <a:pPr indent="0" marL="0">
              <a:lnSpc>
                <a:spcPts val="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함께, 풍성하게.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348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수술비Ⅱ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1회당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65576" y="44348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3465576" y="4892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2회째부터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99632" y="44348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양성신생물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199632" y="4892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혹의 전 과정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33688" y="44348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특순통치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933688" y="4892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외래 재활까지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080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메리츠화재 개인영업마케팅파트 · 2026년 10월 현장교육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Surgery Trend and Coverage Design</dc:title>
  <dc:subject>PptxGenJS Presentation</dc:subject>
  <dc:creator>Meritz Personal Sales Marketing</dc:creator>
  <cp:lastModifiedBy>Meritz Personal Sales Marketing</cp:lastModifiedBy>
  <cp:revision>1</cp:revision>
  <dcterms:created xsi:type="dcterms:W3CDTF">2026-09-23T01:52:23Z</dcterms:created>
  <dcterms:modified xsi:type="dcterms:W3CDTF">2026-09-23T01:52:23Z</dcterms:modified>
</cp:coreProperties>
</file>