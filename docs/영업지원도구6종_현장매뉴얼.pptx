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C810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</a:t>
            </a:r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메리츠화재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영업지원 도구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 도구 6종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사용 </a:t>
            </a:r>
            <a:pPr algn="l"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매뉴얼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URL 하나로 열리는 6개 도구 — 접속부터 화면 구성, 사용 순서, 상담 활용 팁까지 그대로 따라 하면 됩니다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34340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FFEE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4343400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74520" y="4343400"/>
            <a:ext cx="1472184" cy="32918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874520" y="4343400"/>
            <a:ext cx="1472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56432" y="434340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56432" y="434340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64608" y="4343400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64608" y="4343400"/>
            <a:ext cx="199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67728" y="434340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67728" y="434340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제작기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75904" y="4343400"/>
            <a:ext cx="2167128" cy="32918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43434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</a:t>
            </a:r>
            <a:endParaRPr lang="en-US" sz="1100" dirty="0"/>
          </a:p>
        </p:txBody>
      </p:sp>
      <p:pic>
        <p:nvPicPr>
          <p:cNvPr id="19" name="Image 0" descr="/tmp/claude-0/-home-user-MeAI/ecc740f6-0919-5f47-9404-106c0d41147b/scratchpad/deck/img/merry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578031"/>
            <a:ext cx="566928" cy="809897"/>
          </a:xfrm>
          <a:prstGeom prst="rect">
            <a:avLst/>
          </a:prstGeom>
        </p:spPr>
      </p:pic>
      <p:pic>
        <p:nvPicPr>
          <p:cNvPr id="20" name="Image 1" descr="/tmp/claude-0/-home-user-MeAI/ecc740f6-0919-5f47-9404-106c0d41147b/scratchpad/deck/img/eco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592892"/>
            <a:ext cx="566928" cy="780176"/>
          </a:xfrm>
          <a:prstGeom prst="rect">
            <a:avLst/>
          </a:prstGeom>
        </p:spPr>
      </p:pic>
      <p:pic>
        <p:nvPicPr>
          <p:cNvPr id="21" name="Image 2" descr="/tmp/claude-0/-home-user-MeAI/ecc740f6-0919-5f47-9404-106c0d41147b/scratchpad/deck/img/rara-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6296" y="710418"/>
            <a:ext cx="566928" cy="545123"/>
          </a:xfrm>
          <a:prstGeom prst="rect">
            <a:avLst/>
          </a:prstGeom>
        </p:spPr>
      </p:pic>
      <p:pic>
        <p:nvPicPr>
          <p:cNvPr id="22" name="Image 3" descr="/tmp/claude-0/-home-user-MeAI/ecc740f6-0919-5f47-9404-106c0d41147b/scratchpad/deck/img/indi-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4664" y="530644"/>
            <a:ext cx="566928" cy="904672"/>
          </a:xfrm>
          <a:prstGeom prst="rect">
            <a:avLst/>
          </a:prstGeom>
        </p:spPr>
      </p:pic>
      <p:pic>
        <p:nvPicPr>
          <p:cNvPr id="23" name="Image 4" descr="/tmp/claude-0/-home-user-MeAI/ecc740f6-0919-5f47-9404-106c0d41147b/scratchpad/deck/img/tata-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8071" y="502920"/>
            <a:ext cx="396850" cy="960120"/>
          </a:xfrm>
          <a:prstGeom prst="rect">
            <a:avLst/>
          </a:prstGeom>
        </p:spPr>
      </p:pic>
      <p:pic>
        <p:nvPicPr>
          <p:cNvPr id="24" name="Image 5" descr="/tmp/claude-0/-home-user-MeAI/ecc740f6-0919-5f47-9404-106c0d41147b/scratchpad/deck/img/zsta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1929" y="502920"/>
            <a:ext cx="505870" cy="96012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40080" y="5029200"/>
            <a:ext cx="4937760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86868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주소 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hunx11-sys.github.io/MeAI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64008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09.  ·  데이터 ver2609  ·  문의 : 세일즈혁신TF 이헌수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매뉴얼의 구성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도구는 「화면 구성 → 사용 순서 → 팁」 순서로 설명합니다. 필요한 도구 페이지만 펼쳐 보셔도 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29968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4E59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029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3852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26771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방법 · 대문 화면 · 공통 사용 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72200" y="1828800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2029968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F044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5080" y="2029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193852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226771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951건을 질병코드·질병명·특약명으로 검색하고 약관 본문·분류표·보장 분석까지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852928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054096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03B26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054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296265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2918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질병·사고를 입력하면 진단→검사→수술→입원→치료 순서로 반응하는 특약을 전수 추출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72200" y="2852928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6355080" y="3054096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FE98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3054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296265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32918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장기상품 50종을 상품구분·심사유형으로 좁히고 알릴의무 표·납입면제·특징을 한 화면에서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877056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4078224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8B5C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98678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43159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바로 쓰는 검증 프롬프트 270개를 대주제·영업단계·소주제로 골라 원클릭 복사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72200" y="3877056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31" name="Shape 29"/>
          <p:cNvSpPr/>
          <p:nvPr/>
        </p:nvSpPr>
        <p:spPr>
          <a:xfrm>
            <a:off x="6355080" y="4078224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3182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5508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398678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제작기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43159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명단 한 장으로 행사·교육·시상용 명패와 폼텍 라벨을 즉시 생성해 A4로 인쇄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901184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5102352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DB277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152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417320" y="50109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417320" y="534009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질병을 고르면 암·뇌·심장 통합치료비 특약 12종이 치료 단계별로 얼마를 지급하는지 계산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72200" y="4901184"/>
            <a:ext cx="5440680" cy="896112"/>
          </a:xfrm>
          <a:prstGeom prst="roundRect">
            <a:avLst>
              <a:gd name="adj" fmla="val 22449"/>
            </a:avLst>
          </a:prstGeom>
          <a:solidFill>
            <a:srgbClr val="F9FAFB"/>
          </a:solidFill>
          <a:ln/>
        </p:spPr>
      </p:sp>
      <p:sp>
        <p:nvSpPr>
          <p:cNvPr id="41" name="Shape 39"/>
          <p:cNvSpPr/>
          <p:nvPr/>
        </p:nvSpPr>
        <p:spPr>
          <a:xfrm>
            <a:off x="6355080" y="5102352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4E59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508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040880" y="50109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쓰기 · FAQ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7040880" y="534009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시나리오 2가지 · 자주 묻는 질문 · 문의처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 · 시작하기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접속은 주소 하나면 끝 — 설치도 로그인도 없습니다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16786"/>
            <a:ext cx="6144768" cy="3881628"/>
          </a:xfrm>
          <a:prstGeom prst="roundRect">
            <a:avLst>
              <a:gd name="adj" fmla="val 2827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index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1650"/>
            <a:ext cx="6035040" cy="37719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74136" y="222084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3401568" y="2248281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401568" y="224828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74136" y="293751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401568" y="2964942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01568" y="296494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865376" y="421995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1892808" y="4247388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892808" y="42473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374136" y="180594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3401568" y="1833372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401568" y="18333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pic>
        <p:nvPicPr>
          <p:cNvPr id="18" name="Image 1" descr="/tmp/claude-0/-home-user-MeAI/ecc740f6-0919-5f47-9404-106c0d41147b/scratchpad/deck/img/index-mobi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01" y="5715000"/>
            <a:ext cx="380278" cy="8229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57150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모바일에서도 같은 주소로 열립니다. </a:t>
            </a:r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카드가 세로로 한 줄씩 정렬되고, 도구 화면도 손가락 조작에 맞춰 바뀝니다.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858000" y="1737360"/>
            <a:ext cx="4754880" cy="822960"/>
          </a:xfrm>
          <a:prstGeom prst="roundRect">
            <a:avLst>
              <a:gd name="adj" fmla="val 24444"/>
            </a:avLst>
          </a:prstGeom>
          <a:solidFill>
            <a:srgbClr val="F9FAFB"/>
          </a:solidFill>
          <a:ln/>
        </p:spPr>
      </p:sp>
      <p:sp>
        <p:nvSpPr>
          <p:cNvPr id="21" name="Shape 17"/>
          <p:cNvSpPr/>
          <p:nvPr/>
        </p:nvSpPr>
        <p:spPr>
          <a:xfrm>
            <a:off x="6995160" y="1901952"/>
            <a:ext cx="493776" cy="493776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995160" y="19019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6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🌐</a:t>
            </a:r>
            <a:endParaRPr lang="en-US" sz="2160" dirty="0"/>
          </a:p>
        </p:txBody>
      </p:sp>
      <p:sp>
        <p:nvSpPr>
          <p:cNvPr id="23" name="Shape 19"/>
          <p:cNvSpPr/>
          <p:nvPr/>
        </p:nvSpPr>
        <p:spPr>
          <a:xfrm>
            <a:off x="7360920" y="1792224"/>
            <a:ext cx="256032" cy="25603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360920" y="1792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1828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 입력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7635240" y="21214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브라우저(크롬·삼성인터넷·사파리)에 hunx11-sys.github.io/MeAI 입력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858000" y="2670048"/>
            <a:ext cx="4754880" cy="822960"/>
          </a:xfrm>
          <a:prstGeom prst="roundRect">
            <a:avLst>
              <a:gd name="adj" fmla="val 24444"/>
            </a:avLst>
          </a:prstGeom>
          <a:solidFill>
            <a:srgbClr val="F9FAFB"/>
          </a:solidFill>
          <a:ln/>
        </p:spPr>
      </p:sp>
      <p:sp>
        <p:nvSpPr>
          <p:cNvPr id="28" name="Shape 24"/>
          <p:cNvSpPr/>
          <p:nvPr/>
        </p:nvSpPr>
        <p:spPr>
          <a:xfrm>
            <a:off x="6995160" y="2834640"/>
            <a:ext cx="493776" cy="493776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95160" y="28346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6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⭐</a:t>
            </a:r>
            <a:endParaRPr lang="en-US" sz="2160" dirty="0"/>
          </a:p>
        </p:txBody>
      </p:sp>
      <p:sp>
        <p:nvSpPr>
          <p:cNvPr id="30" name="Shape 26"/>
          <p:cNvSpPr/>
          <p:nvPr/>
        </p:nvSpPr>
        <p:spPr>
          <a:xfrm>
            <a:off x="7360920" y="2724912"/>
            <a:ext cx="256032" cy="25603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36092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7635240" y="27614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즐겨찾기 · 홈 화면 추가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305409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즐겨찾기, 휴대폰은 「홈 화면에 추가」로 앱처럼 사용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858000" y="3602736"/>
            <a:ext cx="4754880" cy="822960"/>
          </a:xfrm>
          <a:prstGeom prst="roundRect">
            <a:avLst>
              <a:gd name="adj" fmla="val 24444"/>
            </a:avLst>
          </a:prstGeom>
          <a:solidFill>
            <a:srgbClr val="F9FAFB"/>
          </a:solidFill>
          <a:ln/>
        </p:spPr>
      </p:sp>
      <p:sp>
        <p:nvSpPr>
          <p:cNvPr id="35" name="Shape 31"/>
          <p:cNvSpPr/>
          <p:nvPr/>
        </p:nvSpPr>
        <p:spPr>
          <a:xfrm>
            <a:off x="6995160" y="3767328"/>
            <a:ext cx="493776" cy="493776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995160" y="37673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6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👆</a:t>
            </a:r>
            <a:endParaRPr lang="en-US" sz="2160" dirty="0"/>
          </a:p>
        </p:txBody>
      </p:sp>
      <p:sp>
        <p:nvSpPr>
          <p:cNvPr id="37" name="Shape 33"/>
          <p:cNvSpPr/>
          <p:nvPr/>
        </p:nvSpPr>
        <p:spPr>
          <a:xfrm>
            <a:off x="7360920" y="3657600"/>
            <a:ext cx="256032" cy="25603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7360920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763524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클릭</a:t>
            </a:r>
            <a:endParaRPr lang="en-US" sz="1250" dirty="0"/>
          </a:p>
        </p:txBody>
      </p:sp>
      <p:sp>
        <p:nvSpPr>
          <p:cNvPr id="40" name="Text 36"/>
          <p:cNvSpPr txBox="1"/>
          <p:nvPr/>
        </p:nvSpPr>
        <p:spPr>
          <a:xfrm>
            <a:off x="7635240" y="398678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대문에서 쓰려는 도구 카드를 누르면 바로 열림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858000" y="4535424"/>
            <a:ext cx="4754880" cy="822960"/>
          </a:xfrm>
          <a:prstGeom prst="roundRect">
            <a:avLst>
              <a:gd name="adj" fmla="val 24444"/>
            </a:avLst>
          </a:prstGeom>
          <a:solidFill>
            <a:srgbClr val="F9FAFB"/>
          </a:solidFill>
          <a:ln/>
        </p:spPr>
      </p:sp>
      <p:sp>
        <p:nvSpPr>
          <p:cNvPr id="42" name="Shape 38"/>
          <p:cNvSpPr/>
          <p:nvPr/>
        </p:nvSpPr>
        <p:spPr>
          <a:xfrm>
            <a:off x="6995160" y="4700016"/>
            <a:ext cx="493776" cy="493776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6995160" y="47000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6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160" dirty="0"/>
          </a:p>
        </p:txBody>
      </p:sp>
      <p:sp>
        <p:nvSpPr>
          <p:cNvPr id="44" name="Shape 40"/>
          <p:cNvSpPr/>
          <p:nvPr/>
        </p:nvSpPr>
        <p:spPr>
          <a:xfrm>
            <a:off x="7360920" y="4590288"/>
            <a:ext cx="256032" cy="256032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7360920" y="45902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7635240" y="462686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복귀</a:t>
            </a:r>
            <a:endParaRPr lang="en-US" sz="1250" dirty="0"/>
          </a:p>
        </p:txBody>
      </p:sp>
      <p:sp>
        <p:nvSpPr>
          <p:cNvPr id="47" name="Text 43"/>
          <p:cNvSpPr txBox="1"/>
          <p:nvPr/>
        </p:nvSpPr>
        <p:spPr>
          <a:xfrm>
            <a:off x="7635240" y="49194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도구 오른쪽 위 「🏠 대문」 버튼으로 돌아오기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6858000" y="5586984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6858000" y="5586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6"/>
          <p:cNvSpPr txBox="1"/>
          <p:nvPr/>
        </p:nvSpPr>
        <p:spPr>
          <a:xfrm>
            <a:off x="7269480" y="5532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①회사·걱정인형  ②제목·안내  ③도구 카드 6개  ④상단 문의처</a:t>
            </a:r>
            <a:endParaRPr lang="en-US" sz="1050" dirty="0"/>
          </a:p>
        </p:txBody>
      </p:sp>
      <p:sp>
        <p:nvSpPr>
          <p:cNvPr id="51" name="Text 47"/>
          <p:cNvSpPr txBox="1"/>
          <p:nvPr/>
        </p:nvSpPr>
        <p:spPr>
          <a:xfrm>
            <a:off x="7269480" y="58064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카드마다 담당 캐릭터와 이름 · 한 줄 설명 · 핵심 기능 태그 3개가 있습니다.</a:t>
            </a:r>
            <a:endParaRPr lang="en-US" sz="950" dirty="0"/>
          </a:p>
        </p:txBody>
      </p:sp>
      <p:sp>
        <p:nvSpPr>
          <p:cNvPr id="52" name="Text 48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53" name="Text 49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 · 시작하기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상황에 어떤 도구를 여나요?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카드 순서 = M · E · R · I · T · Z (걱정인형이 MERITZ를 상징)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1207008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/>
        </p:spPr>
      </p:sp>
      <p:pic>
        <p:nvPicPr>
          <p:cNvPr id="6" name="Image 0" descr="/tmp/claude-0/-home-user-MeAI/ecc740f6-0919-5f47-9404-106c0d41147b/scratchpad/deck/img/merry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2011680"/>
            <a:ext cx="64008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842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with 메리 ·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2860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특약, 이 병도 보장돼요?” · 특약 이름을 정확히 모를 때 · 약관 원문·분류표를 보여줘야 할 때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질병코드·질병명·특약명 중 아는 것 하나로 검색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440680" cy="1207008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/>
        </p:spPr>
      </p:sp>
      <p:pic>
        <p:nvPicPr>
          <p:cNvPr id="11" name="Image 1" descr="/tmp/claude-0/-home-user-MeAI/ecc740f6-0919-5f47-9404-106c0d41147b/scratchpad/deck/img/eco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028" y="2011680"/>
            <a:ext cx="664464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9842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with 에코 · 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132320" y="22860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“위암 걸리면 뭐가 나와요?” · 청구 상담 · 보장 공백 진단</a:t>
            </a:r>
            <a:endParaRPr lang="en-US" sz="980" dirty="0"/>
          </a:p>
        </p:txBody>
      </p:sp>
      <p:sp>
        <p:nvSpPr>
          <p:cNvPr id="14" name="Text 10"/>
          <p:cNvSpPr txBox="1"/>
          <p:nvPr/>
        </p:nvSpPr>
        <p:spPr>
          <a:xfrm>
            <a:off x="713232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병명 하나로 진단→검사→수술→입원→치료 단계별 특약 확인</a:t>
            </a:r>
            <a:endParaRPr lang="en-US" sz="980" dirty="0"/>
          </a:p>
        </p:txBody>
      </p:sp>
      <p:sp>
        <p:nvSpPr>
          <p:cNvPr id="15" name="Shape 11"/>
          <p:cNvSpPr/>
          <p:nvPr/>
        </p:nvSpPr>
        <p:spPr>
          <a:xfrm>
            <a:off x="548640" y="3200400"/>
            <a:ext cx="5440680" cy="1207008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/>
        </p:spPr>
      </p:sp>
      <p:pic>
        <p:nvPicPr>
          <p:cNvPr id="16" name="Image 2" descr="/tmp/claude-0/-home-user-MeAI/ecc740f6-0919-5f47-9404-106c0d41147b/scratchpad/deck/img/rara-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" y="3337560"/>
            <a:ext cx="420624" cy="9144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31012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with 라라 · R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508760" y="361188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고객은 어떤 상품에 들 수 있어요?” · 알릴의무 확인 · 유병자 상담</a:t>
            </a:r>
            <a:endParaRPr lang="en-US" sz="980" dirty="0"/>
          </a:p>
        </p:txBody>
      </p:sp>
      <p:sp>
        <p:nvSpPr>
          <p:cNvPr id="19" name="Text 14"/>
          <p:cNvSpPr txBox="1"/>
          <p:nvPr/>
        </p:nvSpPr>
        <p:spPr>
          <a:xfrm>
            <a:off x="1508760" y="4041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상품구분·심사유형 버튼으로 좁히고 알릴의무 표 확인</a:t>
            </a:r>
            <a:endParaRPr lang="en-US" sz="980" dirty="0"/>
          </a:p>
        </p:txBody>
      </p:sp>
      <p:sp>
        <p:nvSpPr>
          <p:cNvPr id="20" name="Shape 15"/>
          <p:cNvSpPr/>
          <p:nvPr/>
        </p:nvSpPr>
        <p:spPr>
          <a:xfrm>
            <a:off x="6172200" y="3200400"/>
            <a:ext cx="5440680" cy="1207008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/>
        </p:spPr>
      </p:sp>
      <p:pic>
        <p:nvPicPr>
          <p:cNvPr id="21" name="Image 3" descr="/tmp/claude-0/-home-user-MeAI/ecc740f6-0919-5f47-9404-106c0d41147b/scratchpad/deck/img/indi-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652" y="3337560"/>
            <a:ext cx="585216" cy="9144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31012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with 인디 · I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132320" y="361188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무엇을 물을지 막힐 때 · 보장분석·화법·리모델링 초안</a:t>
            </a:r>
            <a:endParaRPr lang="en-US" sz="980" dirty="0"/>
          </a:p>
        </p:txBody>
      </p:sp>
      <p:sp>
        <p:nvSpPr>
          <p:cNvPr id="24" name="Text 18"/>
          <p:cNvSpPr txBox="1"/>
          <p:nvPr/>
        </p:nvSpPr>
        <p:spPr>
          <a:xfrm>
            <a:off x="7132320" y="4041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상황에 맞는 프롬프트 복사 → MeAI 붙여넣기</a:t>
            </a:r>
            <a:endParaRPr lang="en-US" sz="980" dirty="0"/>
          </a:p>
        </p:txBody>
      </p:sp>
      <p:sp>
        <p:nvSpPr>
          <p:cNvPr id="25" name="Shape 19"/>
          <p:cNvSpPr/>
          <p:nvPr/>
        </p:nvSpPr>
        <p:spPr>
          <a:xfrm>
            <a:off x="548640" y="4526280"/>
            <a:ext cx="5440680" cy="1207008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/>
        </p:spPr>
      </p:sp>
      <p:pic>
        <p:nvPicPr>
          <p:cNvPr id="26" name="Image 4" descr="/tmp/claude-0/-home-user-MeAI/ecc740f6-0919-5f47-9404-106c0d41147b/scratchpad/deck/img/tata-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724" y="4663440"/>
            <a:ext cx="377952" cy="9144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63600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제작기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with 타타 · T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1508760" y="493776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위촉식·교육·시상식 준비 · 명패·이름표·좌석표 인쇄</a:t>
            </a:r>
            <a:endParaRPr lang="en-US" sz="980" dirty="0"/>
          </a:p>
        </p:txBody>
      </p:sp>
      <p:sp>
        <p:nvSpPr>
          <p:cNvPr id="29" name="Text 22"/>
          <p:cNvSpPr txBox="1"/>
          <p:nvPr/>
        </p:nvSpPr>
        <p:spPr>
          <a:xfrm>
            <a:off x="1508760" y="536752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명단 올리고 행사명·테마 고른 뒤 인쇄</a:t>
            </a:r>
            <a:endParaRPr lang="en-US" sz="980" dirty="0"/>
          </a:p>
        </p:txBody>
      </p:sp>
      <p:sp>
        <p:nvSpPr>
          <p:cNvPr id="30" name="Shape 23"/>
          <p:cNvSpPr/>
          <p:nvPr/>
        </p:nvSpPr>
        <p:spPr>
          <a:xfrm>
            <a:off x="6172200" y="4526280"/>
            <a:ext cx="5440680" cy="1207008"/>
          </a:xfrm>
          <a:prstGeom prst="roundRect">
            <a:avLst>
              <a:gd name="adj" fmla="val 16667"/>
            </a:avLst>
          </a:prstGeom>
          <a:solidFill>
            <a:srgbClr val="F9FAFB"/>
          </a:solidFill>
          <a:ln/>
        </p:spPr>
      </p:sp>
      <p:pic>
        <p:nvPicPr>
          <p:cNvPr id="31" name="Image 5" descr="/tmp/claude-0/-home-user-MeAI/ecc740f6-0919-5f47-9404-106c0d41147b/scratchpad/deck/img/zjum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056" y="4663440"/>
            <a:ext cx="586409" cy="9144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63600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with 찌지리 · Z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7132320" y="493776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“통합치료비는 얼마나 나와요?” · 가입금액 설계 · 증액 제안</a:t>
            </a:r>
            <a:endParaRPr lang="en-US" sz="980" dirty="0"/>
          </a:p>
        </p:txBody>
      </p:sp>
      <p:sp>
        <p:nvSpPr>
          <p:cNvPr id="34" name="Text 26"/>
          <p:cNvSpPr txBox="1"/>
          <p:nvPr/>
        </p:nvSpPr>
        <p:spPr>
          <a:xfrm>
            <a:off x="7132320" y="536752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8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 </a:t>
            </a:r>
            <a:pPr algn="l" indent="0" marL="0">
              <a:lnSpc>
                <a:spcPct val="125000"/>
              </a:lnSpc>
              <a:buNone/>
            </a:pPr>
            <a:r>
              <a:rPr lang="en-US" sz="9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 선택 → 치료 과정 선택 → 1년·5년 금액과 가입금액별 비교</a:t>
            </a:r>
            <a:endParaRPr lang="en-US" sz="98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 · 시작하기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도구에 공통으로 적용되는 사용 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2024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🔎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0136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아는 것 하나만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12264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병명·코드·특약명·초성(ㄷㅈㅇㅈ) 중 하나만 입력하면 자동완성이 나머지를 찾아줍니다.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10" name="Shape 8"/>
          <p:cNvSpPr/>
          <p:nvPr/>
        </p:nvSpPr>
        <p:spPr>
          <a:xfrm>
            <a:off x="6355080" y="192024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🏷️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0136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버전 배지 확인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2112264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오른쪽 위 ver2609 등 배지가 데이터 기준 시점입니다. 신담보 반영 후 숫자가 올라갑니다.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770632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999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버튼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91256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도구 오른쪽 위 「🏠 대문」으로 돌아옵니다. 브라우저 뒤로가기도 됩니다.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2770632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20" name="Shape 18"/>
          <p:cNvSpPr/>
          <p:nvPr/>
        </p:nvSpPr>
        <p:spPr>
          <a:xfrm>
            <a:off x="6355080" y="2999232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508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휴대폰·태블릿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191256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주소로 열립니다. 표가 넓으면 옆으로 밀어서 보고, 시트(팝업)는 아래로 끌어 닫습니다.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849624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078224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395935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정본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427024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참고용입니다. 지급 여부·금액은 반드시 약관과 심사 기준으로 확정하세요.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849624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30" name="Shape 28"/>
          <p:cNvSpPr/>
          <p:nvPr/>
        </p:nvSpPr>
        <p:spPr>
          <a:xfrm>
            <a:off x="6355080" y="4078224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5508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🔒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395935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427024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입력하는 칸이 없습니다. 명패 제작기의 명단도 화면 안에서만 처리됩니다.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928616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157216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0" y="5157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🖨️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1417320" y="503834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 · PDF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417320" y="534924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제작기와 검색 결과는 브라우저 인쇄(Ctrl+P)로 PDF 저장이 됩니다.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72200" y="4928616"/>
            <a:ext cx="5440680" cy="960120"/>
          </a:xfrm>
          <a:prstGeom prst="roundRect">
            <a:avLst>
              <a:gd name="adj" fmla="val 20952"/>
            </a:avLst>
          </a:prstGeom>
          <a:solidFill>
            <a:srgbClr val="F9FAFB"/>
          </a:solidFill>
          <a:ln/>
        </p:spPr>
      </p:sp>
      <p:sp>
        <p:nvSpPr>
          <p:cNvPr id="40" name="Shape 38"/>
          <p:cNvSpPr/>
          <p:nvPr/>
        </p:nvSpPr>
        <p:spPr>
          <a:xfrm>
            <a:off x="6355080" y="5157216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55080" y="5157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🛠️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7040880" y="503834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· 건의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040880" y="534924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이상한 값이나 빠진 특약을 발견하면 세일즈혁신TF 이헌수에게 알려주세요. 즉시 반영됩니다.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8686800"/>
          </a:xfrm>
          <a:prstGeom prst="rect">
            <a:avLst/>
          </a:prstGeom>
          <a:solidFill>
            <a:srgbClr val="111C3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011680"/>
            <a:ext cx="1554480" cy="1554480"/>
          </a:xfrm>
          <a:prstGeom prst="roundRect">
            <a:avLst>
              <a:gd name="adj" fmla="val 23529"/>
            </a:avLst>
          </a:prstGeom>
          <a:solidFill>
            <a:srgbClr val="F0445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951건을 질병코드·질병명·특약명으로 검색하고 약관 본문·분류표·보장 분석까지</a:t>
            </a:r>
            <a:endParaRPr lang="en-US" sz="1500" dirty="0"/>
          </a:p>
        </p:txBody>
      </p:sp>
      <p:pic>
        <p:nvPicPr>
          <p:cNvPr id="8" name="Image 0" descr="/tmp/claude-0/-home-user-MeAI/ecc740f6-0919-5f47-9404-106c0d41147b/scratchpad/deck/img/merry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4206240"/>
            <a:ext cx="1408176" cy="2011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01 · 특약검색기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검색창 하나, 필터 하나, 결과 카드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39646"/>
            <a:ext cx="6876288" cy="4338828"/>
          </a:xfrm>
          <a:prstGeom prst="roundRect">
            <a:avLst>
              <a:gd name="adj" fmla="val 2529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tool-det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4510"/>
            <a:ext cx="6766560" cy="4229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739896" y="225799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3767328" y="2285428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67328" y="2285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33272" y="253288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1060704" y="2560320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60704" y="2560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03934" y="337870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1331366" y="3406140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331366" y="34061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303934" y="422452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1331366" y="4251960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331366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078224" y="37170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105656" y="3744468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05656" y="3744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619549" y="181394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646981" y="1841373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646981" y="184137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46520" y="562013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6473952" y="5647563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73952" y="56475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784848" y="175050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6812280" y="1777936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12280" y="1777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201168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질병코드(C73) · 질병명(갑상선암) · 특약명(암진단비)을 입력. ✕로 지우기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89520" y="2350008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589520" y="2350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01000" y="22951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찾는 질병 칩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001000" y="2569464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갑상선암 C73 · 뇌경색 I63 · 심근경색 I21 · 치매 F00 · 신부전 N18 원클릭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589520" y="2907792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758952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001000" y="28529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필터 · 즐겨찾기 · 최근 본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001000" y="312724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통합간편 · 케어프리 · 운전자 · 치아로 좁히기, ⭐ 즐겨찾기와 🕒 최근 본 특약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589520" y="3465576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589520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001000" y="34107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목록(건수)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001000" y="368503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44 · 암 진단 51 · 뇌혈관 51 … 분류를 누르면 그 특약만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589520" y="402336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58952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001000" y="396849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카드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001000" y="4242816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특약명 · 상품 배지 · 보장 KCD 코드 범위 · 특약비교 · ★. 카드를 누르면 상세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7589520" y="4581144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7589520" y="4581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001000" y="45262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부가기능 4종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001000" y="480060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종류 · 수술비 비교 · 상급종합 지도 · 상품 히스토리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7589520" y="5138928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758952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8001000" y="50840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 ↔ 보상시뮬레이터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001000" y="5358384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 탭으로 두 도구를 오갑니다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7589520" y="5696712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7589520" y="5696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001000" y="5641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🏠 대문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001000" y="591616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돌아가기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01 · 특약검색기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순서 — 검색 → 후보 선택 → 상세 확인 → 복사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95805" cy="1600200"/>
          </a:xfrm>
          <a:prstGeom prst="roundRect">
            <a:avLst>
              <a:gd name="adj" fmla="val 12571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EE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⌨️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41525" y="196596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1525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검색어 입력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7300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것 하나만: ‘갑상선암’ · ‘C73’ · ‘암진단비’. 초성도 됩니다.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44445" y="1737360"/>
            <a:ext cx="1463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790749" y="1737360"/>
            <a:ext cx="2095805" cy="1600200"/>
          </a:xfrm>
          <a:prstGeom prst="roundRect">
            <a:avLst>
              <a:gd name="adj" fmla="val 12571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91917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EE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9191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3634" y="196596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3634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1917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자동완성에서 고르기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1917" y="2761488"/>
            <a:ext cx="17300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특약(빨강)·질병(초록) 배지로 구분된 후보 중 원하는 것을 클릭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86554" y="1737360"/>
            <a:ext cx="1463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32858" y="1737360"/>
            <a:ext cx="2095805" cy="1600200"/>
          </a:xfrm>
          <a:prstGeom prst="roundRect">
            <a:avLst>
              <a:gd name="adj" fmla="val 12571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234026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EE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340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🗂️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5742" y="196596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5742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4026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필터로 좁히기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4026" y="2761488"/>
            <a:ext cx="17300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· 분류 · 계열 묶기로 보고 싶은 특약만 남기기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28662" y="1737360"/>
            <a:ext cx="1463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74966" y="1737360"/>
            <a:ext cx="2095805" cy="1600200"/>
          </a:xfrm>
          <a:prstGeom prst="roundRect">
            <a:avLst>
              <a:gd name="adj" fmla="val 12571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76134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EEE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7613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67851" y="196596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7851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76134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→ 상세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76134" y="2761488"/>
            <a:ext cx="17300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본문 · 별표/분류표 · 보장 분석 탭 확인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370771" y="1737360"/>
            <a:ext cx="1463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517075" y="1737360"/>
            <a:ext cx="2095805" cy="1600200"/>
          </a:xfrm>
          <a:prstGeom prst="roundRect">
            <a:avLst>
              <a:gd name="adj" fmla="val 12571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9718243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EEE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1824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📤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718243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비교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718243" y="2761488"/>
            <a:ext cx="173004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프롬프트 복사, 특약비교로 2개 이상 나란히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371600" y="3511296"/>
            <a:ext cx="4206240" cy="2670048"/>
          </a:xfrm>
          <a:prstGeom prst="roundRect">
            <a:avLst>
              <a:gd name="adj" fmla="val 4110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44" name="Image 0" descr="/tmp/claude-0/-home-user-MeAI/ecc740f6-0919-5f47-9404-106c0d41147b/scratchpad/deck/img/tool-sear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464" y="3566160"/>
            <a:ext cx="4096512" cy="256032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3282696" y="383499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6" name="Shape 43"/>
          <p:cNvSpPr/>
          <p:nvPr/>
        </p:nvSpPr>
        <p:spPr>
          <a:xfrm>
            <a:off x="3310128" y="3862426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3310128" y="38624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1562161" y="419343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9" name="Shape 46"/>
          <p:cNvSpPr/>
          <p:nvPr/>
        </p:nvSpPr>
        <p:spPr>
          <a:xfrm>
            <a:off x="1589593" y="4220870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589593" y="422087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1562161" y="452628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1589593" y="4553712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589593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6629400" y="3566160"/>
            <a:ext cx="4983480" cy="2560320"/>
          </a:xfrm>
          <a:prstGeom prst="roundRect">
            <a:avLst>
              <a:gd name="adj" fmla="val 7857"/>
            </a:avLst>
          </a:prstGeom>
          <a:solidFill>
            <a:srgbClr val="FFEEE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6858000" y="370332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요령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6858000" y="4023360"/>
            <a:ext cx="4526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빨강 「특약」 배지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 특약명 일치 · 초록 「질병」 배지는 질병명 일치(그 병을 보장하는 특약 전체)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‘치매’ 검색 시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‘치매제외’ 특약은 자동으로 빠집니다 — 오매칭 방지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범위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카드의 C00~C14 같은 범위는 그 특약 분류표의 보장 코드 요약입니다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계열 묶기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같은 이름의 Ⅰ·Ⅱ·갱신형 변형을 한 묶음으로 봅니다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0건이면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띄어쓰기를 빼거나 더 짧은 단어로 다시 검색하세요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01 · 특약검색기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상세 화면 읽는 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39646"/>
            <a:ext cx="6876288" cy="4338828"/>
          </a:xfrm>
          <a:prstGeom prst="roundRect">
            <a:avLst>
              <a:gd name="adj" fmla="val 2529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tool-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4510"/>
            <a:ext cx="6766560" cy="4229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86584" y="21945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2414016" y="2221992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414016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048256" y="236372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2391156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075688" y="23911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183587" y="282892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2211019" y="2856357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211019" y="285635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566867" y="257517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5594299" y="2602611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94299" y="2602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34533" y="282892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661965" y="2856357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1965" y="285635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739896" y="37170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3767328" y="3744468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767328" y="3744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3739896" y="468972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3767328" y="4717161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767328" y="471716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769864" y="21945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5797296" y="2221992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97296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2386584" y="194081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Shape 28"/>
          <p:cNvSpPr/>
          <p:nvPr/>
        </p:nvSpPr>
        <p:spPr>
          <a:xfrm>
            <a:off x="2414016" y="1968246"/>
            <a:ext cx="329184" cy="329184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414016" y="196824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특약명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001000" y="2011680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이름. 옆의 ★로 즐겨찾기, ✕로 닫기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589520" y="2267712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589520" y="2267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8001000" y="2212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· 약관 페이지 · 분류 배지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001000" y="2487168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상품 약관 몇 쪽에 있는지 — 고객에게 근거를 보여줄 때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589520" y="274320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589520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001000" y="268833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: 약관 본문 · 별표/분류표 · 보장 분석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001000" y="2962656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본문은 약관 전문, 분류표는 보장 질병 코드표, 보장 분석은 사각지대·상위호환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589520" y="3218688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589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8001000" y="31638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프롬프트 복사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001000" y="3438144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특약 데이터를 담은 프롬프트를 복사 → MeAI에 붙여넣기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589520" y="3694176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758952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001000" y="36393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가− 기본 가＋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001000" y="3913632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크기 조절(고객에게 화면을 보여줄 때)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7589520" y="4169664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589520" y="4169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8001000" y="4114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하이라이트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001000" y="4389120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검색어는 노란색, 지급 조건 문구는 색상 강조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589520" y="4645152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758952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8001000" y="45902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KCD 코드 · 질병명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001000" y="4864608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코드·병명 전체 · 보장제외 · 연관 질병·특약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589520" y="5120640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758952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001000" y="50657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특약의 보장 질병으로 시뮬레이션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001000" y="5340096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파란 바 — 보장 질병을 골라 보상시뮬레이터로 바로 이동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589520" y="5596128"/>
            <a:ext cx="292608" cy="292608"/>
          </a:xfrm>
          <a:prstGeom prst="ellipse">
            <a:avLst/>
          </a:prstGeom>
          <a:solidFill>
            <a:srgbClr val="F04452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7589520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8001000" y="55412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탭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001000" y="5815584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사각지대(일부만 보장) · ⤴ 상위호환 특약(전부 포함 + 추가)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01 · 특약검색기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부가기능 4종 — 상단 버튼으로 엽니다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696783"/>
            <a:ext cx="3355848" cy="2138553"/>
          </a:xfrm>
          <a:prstGeom prst="roundRect">
            <a:avLst>
              <a:gd name="adj" fmla="val 513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tool-targ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1648"/>
            <a:ext cx="3246120" cy="20288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97764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표적항암 종류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3977640" y="21945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표적항암제 6종류(작용기전)와 방사성 리간드 약제. 서로 다른 종류로 1·2·3차 치료 시 특약 지급 근거 설명에 활용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117336" y="1696783"/>
            <a:ext cx="3355848" cy="2138553"/>
          </a:xfrm>
          <a:prstGeom prst="roundRect">
            <a:avLst>
              <a:gd name="adj" fmla="val 513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9" name="Image 1" descr="/tmp/claude-0/-home-user-MeAI/ecc740f6-0919-5f47-9404-106c0d41147b/scratchpad/deck/img/tool-sur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51648"/>
            <a:ext cx="3246120" cy="202882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💉 수술비 비교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9601200" y="21945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 · 1-7종 · 131대질병 수술비를 신체부위·질병·수술명으로 한 번에 대조. 경피적·내시경 시술도 비관혈수술로 분류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93776" y="3937064"/>
            <a:ext cx="3355848" cy="2138553"/>
          </a:xfrm>
          <a:prstGeom prst="roundRect">
            <a:avLst>
              <a:gd name="adj" fmla="val 513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13" name="Image 2" descr="/tmp/claude-0/-home-user-MeAI/ecc740f6-0919-5f47-9404-106c0d41147b/scratchpad/deck/img/tool-ma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91927"/>
            <a:ext cx="3246120" cy="202882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977640" y="4069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상급종합 지도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977640" y="443484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상급종합병원 47 · 암중점치료기관 16 · 권역심뇌혈관센터 15 · 권역외상센터 17을 지도와 목록으로. 병원명을 누르면 지급 가능 특약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117336" y="3937064"/>
            <a:ext cx="3355848" cy="2138553"/>
          </a:xfrm>
          <a:prstGeom prst="roundRect">
            <a:avLst>
              <a:gd name="adj" fmla="val 513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17" name="Image 3" descr="/tmp/claude-0/-home-user-MeAI/ecc740f6-0919-5f47-9404-106c0d41147b/scratchpad/deck/img/tool-history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991927"/>
            <a:ext cx="3246120" cy="202882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601200" y="4069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📜 상품 히스토리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9601200" y="443484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통합간편·뇌혈치료비·간병일당 등 상품군의 출시·개정·판매중단 이력을 시간순으로. 예전 상품 오설명 방지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8686800"/>
          </a:xfrm>
          <a:prstGeom prst="rect">
            <a:avLst/>
          </a:prstGeom>
          <a:solidFill>
            <a:srgbClr val="111C3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011680"/>
            <a:ext cx="1554480" cy="1554480"/>
          </a:xfrm>
          <a:prstGeom prst="roundRect">
            <a:avLst>
              <a:gd name="adj" fmla="val 23529"/>
            </a:avLst>
          </a:prstGeom>
          <a:solidFill>
            <a:srgbClr val="03B26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질병·사고를 입력하면 진단→검사→수술→입원→치료 순서로 반응하는 특약을 전수 추출</a:t>
            </a:r>
            <a:endParaRPr lang="en-US" sz="1500" dirty="0"/>
          </a:p>
        </p:txBody>
      </p:sp>
      <p:pic>
        <p:nvPicPr>
          <p:cNvPr id="8" name="Image 0" descr="/tmp/claude-0/-home-user-MeAI/ecc740f6-0919-5f47-9404-106c0d41147b/scratchpad/deck/img/eco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6130" y="4206240"/>
            <a:ext cx="1461821" cy="2011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02 · 보상시뮬레이터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특약검색기 오른쪽 아래 「보상시뮬레이터」 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39646"/>
            <a:ext cx="6876288" cy="4338828"/>
          </a:xfrm>
          <a:prstGeom prst="roundRect">
            <a:avLst>
              <a:gd name="adj" fmla="val 2529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tool-si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4510"/>
            <a:ext cx="6766560" cy="4229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739896" y="37170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3767328" y="3744468"/>
            <a:ext cx="329184" cy="329184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67328" y="3744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739896" y="447827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767328" y="4505706"/>
            <a:ext cx="329184" cy="329184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67328" y="4505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709928" y="553554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1737360" y="5562981"/>
            <a:ext cx="329184" cy="329184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737360" y="556298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739896" y="312496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3767328" y="3152394"/>
            <a:ext cx="329184" cy="329184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67328" y="31523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46520" y="562013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473952" y="5647563"/>
            <a:ext cx="329184" cy="329184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73952" y="56475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2514" y="175050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879946" y="1777936"/>
            <a:ext cx="329184" cy="329184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79946" y="1777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0116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병명 · KCD 코드 · 초성으로 검색 (예: 위암, 뇌졸중, C16)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589520" y="2414016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58952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23591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찾는 질병·사고 26종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001000" y="26334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위암 · 폐암 · 뇌졸중 · 급성심근경색 · 당뇨 · 골절 · 화상 · 백내장 · 치주염 … 원클릭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589520" y="3035808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58952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29809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필터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325526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통합간편 · 케어프리 · 운전자 · 치아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89520" y="3657600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58952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8001000" y="360273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부가기능 4종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001000" y="387705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검색기와 같은 표적항암 · 수술비 비교 · 상급종합 지도 · 상품 히스토리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589520" y="4279392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589520" y="4279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001000" y="42245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전환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001000" y="44988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 ↔ 보상시뮬레이터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589520" y="4901184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589520" y="4901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001000" y="48463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🏠 대문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001000" y="51206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돌아가기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02 · 보상시뮬레이터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읽는 법 — 병원에 가는 순서 그대로 특약이 배치됩니다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37360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8745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🩺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828800" y="1874520"/>
            <a:ext cx="274320" cy="274320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828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 · 확정진단 특약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1737360"/>
            <a:ext cx="118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04872" y="1737360"/>
            <a:ext cx="1737360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8745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8775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🔬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85032" y="1874520"/>
            <a:ext cx="274320" cy="274320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85032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587752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587752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MRI · CT · 내시경 · 유전자검사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142232" y="1737360"/>
            <a:ext cx="118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61104" y="1737360"/>
            <a:ext cx="1737360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4443984" y="18745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43984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🔪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541264" y="1874520"/>
            <a:ext cx="274320" cy="274320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41264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443984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 1-5종 · 1-7종 · 관혈/비관혈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998464" y="1737360"/>
            <a:ext cx="118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17336" y="1737360"/>
            <a:ext cx="1737360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300216" y="18745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0021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🛏️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397496" y="1874520"/>
            <a:ext cx="274320" cy="274320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97496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300216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 · 상급병실 · 간병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854696" y="1737360"/>
            <a:ext cx="118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973568" y="1737360"/>
            <a:ext cx="1737360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8156448" y="18745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5644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💊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9253728" y="1874520"/>
            <a:ext cx="274320" cy="274320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253728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156448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 · 방사선 · 표적 · 통합치료비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9710928" y="1737360"/>
            <a:ext cx="118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9829800" y="1737360"/>
            <a:ext cx="1737360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45" name="Shape 43"/>
          <p:cNvSpPr/>
          <p:nvPr/>
        </p:nvSpPr>
        <p:spPr>
          <a:xfrm>
            <a:off x="10012680" y="18745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012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🏃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1109960" y="1874520"/>
            <a:ext cx="274320" cy="274320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1099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0012680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10012680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 · 통원 · 요양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3438144"/>
            <a:ext cx="438912" cy="438912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34381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2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🏷️</a:t>
            </a:r>
            <a:endParaRPr lang="en-US" sz="1920" dirty="0"/>
          </a:p>
        </p:txBody>
      </p:sp>
      <p:sp>
        <p:nvSpPr>
          <p:cNvPr id="53" name="Text 51"/>
          <p:cNvSpPr txBox="1"/>
          <p:nvPr/>
        </p:nvSpPr>
        <p:spPr>
          <a:xfrm>
            <a:off x="1152144" y="333756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배지의 뜻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1152144" y="3657600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「정확 일치」 = 검색 질병 코드가 특약 분류표에 그대로 있음 · 「카테고리」 = 상위 범주로 보장 · 「부분보장」 = 세부코드 일부만 보장 · 「모든 질병 공통」 = 질병수술비·입원일당처럼 병명을 가리지 않는 특약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48640" y="4133088"/>
            <a:ext cx="438912" cy="438912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48640" y="4133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2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⚠️</a:t>
            </a:r>
            <a:endParaRPr lang="en-US" sz="1920" dirty="0"/>
          </a:p>
        </p:txBody>
      </p:sp>
      <p:sp>
        <p:nvSpPr>
          <p:cNvPr id="57" name="Text 55"/>
          <p:cNvSpPr txBox="1"/>
          <p:nvPr/>
        </p:nvSpPr>
        <p:spPr>
          <a:xfrm>
            <a:off x="1152144" y="4032504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부분보장 경고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152144" y="4352544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일부만 보장되면 미보장 코드와 병명을 적시합니다. 비어 있는 단계가 그대로 추가 제안의 근거가 됩니다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8640" y="4828032"/>
            <a:ext cx="438912" cy="438912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48640" y="48280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2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🔪</a:t>
            </a:r>
            <a:endParaRPr lang="en-US" sz="1920" dirty="0"/>
          </a:p>
        </p:txBody>
      </p:sp>
      <p:sp>
        <p:nvSpPr>
          <p:cNvPr id="61" name="Text 59"/>
          <p:cNvSpPr txBox="1"/>
          <p:nvPr/>
        </p:nvSpPr>
        <p:spPr>
          <a:xfrm>
            <a:off x="1152144" y="472744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수술종류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152144" y="5047488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위암 C16 → 위절제 1-5종Ⅱ · 1-7종 5~6종처럼 별표 원문 기준의 수술 종수를 함께 표시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48640" y="5522976"/>
            <a:ext cx="438912" cy="438912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4864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2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1920" dirty="0"/>
          </a:p>
        </p:txBody>
      </p:sp>
      <p:sp>
        <p:nvSpPr>
          <p:cNvPr id="65" name="Text 63"/>
          <p:cNvSpPr txBox="1"/>
          <p:nvPr/>
        </p:nvSpPr>
        <p:spPr>
          <a:xfrm>
            <a:off x="1152144" y="5422392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 → MeAI 프롬프트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152144" y="5742432"/>
            <a:ext cx="10460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질병을 보장하는 당사 특약 전체를 자동 주입한 프롬프트를 복사해 MeAI에서 보장분석 완성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 가능 특약을 안내하는 도구입니다. 실제 지급 여부·한도·금액은 약관상 지급사유와 인수심사(U/W)·실제 가입내역에 따라 최종 결정됩니다.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02 · 보상시뮬레이터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순서와 상담 활용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🧮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41525" y="1965960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1525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열기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 오른쪽 아래 「🧮 보상시뮬레이터」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44445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790749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91917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9191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🔤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3634" y="1965960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3634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1917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 입력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1917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‘위암’ 또는 칩 클릭. 코드 자동 매칭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86554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32858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234026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340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📦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5742" y="1965960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5742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4026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필터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4026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상품만 남기기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28662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74966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76134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7613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67851" y="1965960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7851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76134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확인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76134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진단→검사→수술→입원→치료→재활 순서로 반응 특약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370771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517075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9718243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5F8E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1824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💬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03B26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718243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설명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718243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위에서 아래로 읽으면 그대로 상담 스크립트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3520440"/>
            <a:ext cx="5440680" cy="2560320"/>
          </a:xfrm>
          <a:prstGeom prst="roundRect">
            <a:avLst>
              <a:gd name="adj" fmla="val 7857"/>
            </a:avLst>
          </a:prstGeom>
          <a:solidFill>
            <a:srgbClr val="E5F8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77240" y="36576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상담에 씁니다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39776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 상담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“위암 진단받았는데 뭐 청구할 수 있어요?” 단계별로 빠짐없이 안내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 진단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부분보장·미보장 단계를 찾아 리모델링 제안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신담보 설명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새 특약이 어느 단계에서 지급되는지 위치를 보여주며 설명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신인에게 치료 과정과 특약 구조를 동시에 학습시키기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440680" cy="2560320"/>
          </a:xfrm>
          <a:prstGeom prst="roundRect">
            <a:avLst>
              <a:gd name="adj" fmla="val 7857"/>
            </a:avLst>
          </a:prstGeom>
          <a:solidFill>
            <a:srgbClr val="E5F8E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0" y="36576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주의할 점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0" y="39776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여부는 별도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도구는 상품 내 모든 특약을 보여줍니다. 고객 가입 내역과 대조하세요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부분보장 표시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있으면 세부코드까지 확인한 뒤 안내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상해(S·T 코드)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 상해 공통 특약이, 질병 코드는 질병 공통 특약이 함께 나옵니다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금액은 특약검색기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가입금액별 차등 표에서 확인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8686800"/>
          </a:xfrm>
          <a:prstGeom prst="rect">
            <a:avLst/>
          </a:prstGeom>
          <a:solidFill>
            <a:srgbClr val="111C3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011680"/>
            <a:ext cx="1554480" cy="1554480"/>
          </a:xfrm>
          <a:prstGeom prst="roundRect">
            <a:avLst>
              <a:gd name="adj" fmla="val 23529"/>
            </a:avLst>
          </a:prstGeom>
          <a:solidFill>
            <a:srgbClr val="FE98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장기상품 50종을 상품구분·심사유형으로 좁히고 알릴의무 표·납입면제·특징을 한 화면에서</a:t>
            </a:r>
            <a:endParaRPr lang="en-US" sz="1500" dirty="0"/>
          </a:p>
        </p:txBody>
      </p:sp>
      <p:pic>
        <p:nvPicPr>
          <p:cNvPr id="8" name="Image 0" descr="/tmp/claude-0/-home-user-MeAI/ecc740f6-0919-5f47-9404-106c0d41147b/scratchpad/deck/img/rara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4332849"/>
            <a:ext cx="1828800" cy="175846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03 · 상품 라인업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버튼을 누를수록 상품이 좁혀집니다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39646"/>
            <a:ext cx="6876288" cy="4338828"/>
          </a:xfrm>
          <a:prstGeom prst="roundRect">
            <a:avLst>
              <a:gd name="adj" fmla="val 2529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produc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4510"/>
            <a:ext cx="6766560" cy="4229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86584" y="244830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2414016" y="2475738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414016" y="247573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93208" y="244830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5120640" y="2475738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20640" y="247573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739896" y="278663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767328" y="2814066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67328" y="28140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386584" y="3167253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2414016" y="3194685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14016" y="31946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386584" y="350558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2414016" y="3533013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414016" y="353301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506931" y="367474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1534363" y="3702177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534363" y="370217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168603" y="384390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1196035" y="3871341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196035" y="387134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3739896" y="447827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3767328" y="4505706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767328" y="4505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852514" y="177165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Shape 28"/>
          <p:cNvSpPr/>
          <p:nvPr/>
        </p:nvSpPr>
        <p:spPr>
          <a:xfrm>
            <a:off x="6879946" y="1799082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879946" y="179908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상품별 보기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001000" y="2011680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목록 모드(기본)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589520" y="2267712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589520" y="2267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8001000" y="2212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알릴의무 유형별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001000" y="2487168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 고지유형으로 묶어서 보기 — “이 병력이면 어떤 상품?”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589520" y="2743200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589520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001000" y="268833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001000" y="2962656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특징 · 플랜 · 고지내용 검색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589520" y="3218688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589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8001000" y="31638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상품구분 버튼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001000" y="3438144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· 간편 · 전용 · 단품 · 펫 · 재물 · 실손 (같은 줄은 OR)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589520" y="3694176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758952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001000" y="36393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심사·고지유형 버튼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001000" y="3913632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일반심사 · 간편심사 · 건강고지 · 태아 · 단체 · 화재 · 반려동물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7589520" y="4169664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589520" y="4169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8001000" y="41148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상세필터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001000" y="4389120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· 특성 · 담보군 (예: 단기납 고환급 · 순수신인)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589520" y="4645152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758952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8001000" y="45902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필터 초기화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001000" y="4864608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바꾸는 즉시 “N개 상품” 갱신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589520" y="5120640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758952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001000" y="50657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카드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001000" y="5340096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가입연령 · 갱신/만기 · 심사 배지. 누르면 상세가 펼쳐짐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589520" y="5596128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7589520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8001000" y="55412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🏠 대문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001000" y="5815584"/>
            <a:ext cx="3611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돌아가기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03 · 상품 라인업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상세와 알릴의무 표 읽는 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688211"/>
            <a:ext cx="5504688" cy="3481578"/>
          </a:xfrm>
          <a:prstGeom prst="roundRect">
            <a:avLst>
              <a:gd name="adj" fmla="val 3152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products-det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3075"/>
            <a:ext cx="5394960" cy="33718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4011" y="377647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031443" y="3803904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31443" y="3803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975104" y="4349687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002536" y="4377119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002536" y="437711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133088" y="4349687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160520" y="4377119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160520" y="437711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975104" y="485546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2002536" y="4882896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2536" y="4882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08192" y="1682496"/>
            <a:ext cx="5522976" cy="3493008"/>
          </a:xfrm>
          <a:prstGeom prst="roundRect">
            <a:avLst>
              <a:gd name="adj" fmla="val 314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19" name="Image 1" descr="/tmp/claude-0/-home-user-MeAI/ecc740f6-0919-5f47-9404-106c0d41147b/scratchpad/deck/img/products-dut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1737360"/>
            <a:ext cx="5413248" cy="33832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760306" y="22219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Shape 17"/>
          <p:cNvSpPr/>
          <p:nvPr/>
        </p:nvSpPr>
        <p:spPr>
          <a:xfrm>
            <a:off x="9787738" y="2249424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787738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677656" y="323697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0"/>
          <p:cNvSpPr/>
          <p:nvPr/>
        </p:nvSpPr>
        <p:spPr>
          <a:xfrm>
            <a:off x="8705088" y="3264408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705088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677656" y="431962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8705088" y="4347058"/>
            <a:ext cx="329184" cy="329184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8705088" y="43470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48640" y="5312664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48640" y="5312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52578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정보  ② 가입 연령  ③ 갱신/만기 · 종구분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5532120"/>
            <a:ext cx="50749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25000"/>
              </a:lnSpc>
              <a:buNone/>
            </a:pP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548640" y="5632704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8640" y="5632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60120" y="55778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알릴의무(고지의무) 표 · 납입면제 사유 · 인수플랜 · 상품특징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58521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기간/고지대상 2열 표 · 고지유형 배지 · 예외·특례는 따로 표시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309360" y="5312664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309360" y="5312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6720840" y="52578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알릴의무 유형별 탭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6720840" y="5532120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표준(일반심사) · 간편 3.2.5 등 유형마다 기준 상품의 알릴의무 표와 해당 상품 목록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309360" y="5861304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6309360" y="5861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6720840" y="58064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상품 칩을 누르면 그 상품 상세로 이동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6720840" y="6080760"/>
            <a:ext cx="4892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25000"/>
              </a:lnSpc>
              <a:buNone/>
            </a:pP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03 · 상품 라인업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순서와 상담 활용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F3E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🔘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41525" y="1965960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1525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버튼 누르기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조건(연령·병력·목적)에 맞는 상품구분·심사유형 선택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44445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790749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91917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F3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9191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🔢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3634" y="1965960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3634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1917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확인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1917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“N개 상품”이 3~5개가 될 때까지 좁히기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86554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32858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234026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F3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340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5742" y="1965960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5742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4026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펼치기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4026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가입연령 · 만기 · 종구분 · 납입면제 · 특징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28662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74966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76134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F3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7613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67851" y="1965960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7851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76134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알릴의무 표 확인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76134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병력과 표의 기간·대상을 대조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370771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517075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9718243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FF3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1824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FE98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718243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역방향 탐색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718243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병력이 먼저면 「알릴의무 유형별」에서 가능한 상품 찾기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3520440"/>
            <a:ext cx="5440680" cy="2560320"/>
          </a:xfrm>
          <a:prstGeom prst="roundRect">
            <a:avLst>
              <a:gd name="adj" fmla="val 7857"/>
            </a:avLst>
          </a:prstGeom>
          <a:solidFill>
            <a:srgbClr val="FFF3E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77240" y="36576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상담에 씁니다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39776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유병자 상담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병력 고지 후 가입 가능한 간편·건강고지 상품 좁히기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 교육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입사 직후 50종 라인업과 알릴의무 구조를 한 화면에서 익히기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완전판매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청약 전 알릴의무 표를 고객과 함께 읽으며 고지 누락 방지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설명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상품별 면제 요건을 비교해 소구 포인트 정리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440680" cy="2560320"/>
          </a:xfrm>
          <a:prstGeom prst="roundRect">
            <a:avLst>
              <a:gd name="adj" fmla="val 7857"/>
            </a:avLst>
          </a:prstGeom>
          <a:solidFill>
            <a:srgbClr val="FFF3E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0" y="36576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주의할 점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0" y="39776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표준 알릴의무 공통 내용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 상품별 예외·특례가 따로 표시되면 그것이 우선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“원본 자료에 별도 표기 없음”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자료 미확인 상태 — 청약서로 확인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초기화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누르면 전체 50종으로 돌아갑니다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E9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버전(ver2609)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출시 상품은 반영 전일 수 있습니다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8686800"/>
          </a:xfrm>
          <a:prstGeom prst="rect">
            <a:avLst/>
          </a:prstGeom>
          <a:solidFill>
            <a:srgbClr val="111C3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011680"/>
            <a:ext cx="1554480" cy="1554480"/>
          </a:xfrm>
          <a:prstGeom prst="roundRect">
            <a:avLst>
              <a:gd name="adj" fmla="val 23529"/>
            </a:avLst>
          </a:prstGeom>
          <a:solidFill>
            <a:srgbClr val="8B5C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바로 쓰는 검증 프롬프트 270개를 대주제·영업단계·소주제로 골라 원클릭 복사</a:t>
            </a:r>
            <a:endParaRPr lang="en-US" sz="1500" dirty="0"/>
          </a:p>
        </p:txBody>
      </p:sp>
      <p:pic>
        <p:nvPicPr>
          <p:cNvPr id="8" name="Image 0" descr="/tmp/claude-0/-home-user-MeAI/ecc740f6-0919-5f47-9404-106c0d41147b/scratchpad/deck/img/indi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6714" y="4206240"/>
            <a:ext cx="1260653" cy="2011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04 · 프롬프트 라이브러리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3중 필터로 “지금 상황”의 프롬프트를 찾습니다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39646"/>
            <a:ext cx="6876288" cy="4338828"/>
          </a:xfrm>
          <a:prstGeom prst="roundRect">
            <a:avLst>
              <a:gd name="adj" fmla="val 2529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promp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4510"/>
            <a:ext cx="6766560" cy="4229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739896" y="240601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3767328" y="2433447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67328" y="24334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709928" y="295579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1737360" y="2983230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737360" y="298323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063240" y="3336417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090672" y="3363849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090672" y="336384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371600" y="37170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1399032" y="3744468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399032" y="3744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168603" y="407651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96035" y="4103942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196035" y="410394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446520" y="407651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73952" y="4103942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73952" y="410394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1709928" y="477431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1737360" y="4801743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37360" y="480174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852514" y="175050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6879946" y="1777936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79946" y="1777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키워드 검색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201168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내용에서 검색 (예: 암, 화법, 청구)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89520" y="2350008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589520" y="2350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001000" y="22951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대주제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001000" y="2569464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상품지식 · 실전영업 · 배경지식 · 업무지원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589520" y="2907792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758952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001000" y="28529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영업단계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001000" y="312724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고객발굴/CRM선정 → 고객터치 → 초회면담 → 보장분석/리모델링 → 가입제안/클로징 → 사후관리/소개요청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589520" y="3465576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589520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001000" y="34107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소주제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001000" y="368503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드롭다운으로 세부 주제 선택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589520" y="402336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58952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001000" y="396849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표시 중 N / 전체 270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001000" y="4242816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결과 건수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7589520" y="4581144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7589520" y="4581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001000" y="45262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초기화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001000" y="480060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 해제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7589520" y="5138928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758952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8001000" y="50840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카드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001000" y="5358384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번호(P001) · 영업단계 · 소주제 · 요약 · 해시태그. 카드를 누르면 전문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7589520" y="5696712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7589520" y="5696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001000" y="56418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🏠 대문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001000" y="591616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돌아가기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04 · 프롬프트 라이브러리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순서 — 고르고, 복사하고, MeAI에 붙여넣기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28216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3F0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773936" y="196596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73936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· 검색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대주제/영업단계/소주제 또는 키워드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276856" y="1737360"/>
            <a:ext cx="128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404872" y="1737360"/>
            <a:ext cx="1728216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606040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3F0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6060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👆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30168" y="196596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30168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4871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클릭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276148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전문과 해시태그 확인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33088" y="1737360"/>
            <a:ext cx="128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261104" y="1737360"/>
            <a:ext cx="1728216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4462272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3F0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6227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0" y="196596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462272" y="24871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복사하기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62272" y="276148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보라색 버튼 한 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1737360"/>
            <a:ext cx="1728216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28" name="Shape 26"/>
          <p:cNvSpPr/>
          <p:nvPr/>
        </p:nvSpPr>
        <p:spPr>
          <a:xfrm>
            <a:off x="637336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3F0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7336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397496" y="196596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97496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373368" y="24871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열기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373368" y="276148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MeAI 채팅창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900416" y="1737360"/>
            <a:ext cx="128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8028432" y="1737360"/>
            <a:ext cx="1728216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36" name="Shape 34"/>
          <p:cNvSpPr/>
          <p:nvPr/>
        </p:nvSpPr>
        <p:spPr>
          <a:xfrm>
            <a:off x="8229600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3F0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2960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📝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9253728" y="196596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253728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24871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 + 고객 정보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276148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괄호 부분을 고객 상황으로 바꿔 입력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756648" y="1737360"/>
            <a:ext cx="128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9884664" y="1737360"/>
            <a:ext cx="1728216" cy="1371600"/>
          </a:xfrm>
          <a:prstGeom prst="roundRect">
            <a:avLst>
              <a:gd name="adj" fmla="val 14667"/>
            </a:avLst>
          </a:prstGeom>
          <a:solidFill>
            <a:srgbClr val="F9FAF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085832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3F0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8583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085832" y="24871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검토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10085832" y="276148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특약검색기로 사실 확인 후 활용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82980" y="3236976"/>
            <a:ext cx="4572000" cy="2898648"/>
          </a:xfrm>
          <a:prstGeom prst="roundRect">
            <a:avLst>
              <a:gd name="adj" fmla="val 3785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1" name="Image 0" descr="/tmp/claude-0/-home-user-MeAI/ecc740f6-0919-5f47-9404-106c0d41147b/scratchpad/deck/img/prompts-deta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3291840"/>
            <a:ext cx="4462272" cy="2788920"/>
          </a:xfrm>
          <a:prstGeom prst="rect">
            <a:avLst/>
          </a:prstGeom>
        </p:spPr>
      </p:pic>
      <p:sp>
        <p:nvSpPr>
          <p:cNvPr id="52" name="Shape 49"/>
          <p:cNvSpPr/>
          <p:nvPr/>
        </p:nvSpPr>
        <p:spPr>
          <a:xfrm>
            <a:off x="3076956" y="441060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104388" y="4438040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3104388" y="4438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Shape 52"/>
          <p:cNvSpPr/>
          <p:nvPr/>
        </p:nvSpPr>
        <p:spPr>
          <a:xfrm>
            <a:off x="3076956" y="477316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Shape 53"/>
          <p:cNvSpPr/>
          <p:nvPr/>
        </p:nvSpPr>
        <p:spPr>
          <a:xfrm>
            <a:off x="3104388" y="4800600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3104388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58" name="Shape 55"/>
          <p:cNvSpPr/>
          <p:nvPr/>
        </p:nvSpPr>
        <p:spPr>
          <a:xfrm>
            <a:off x="3076956" y="49683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Shape 56"/>
          <p:cNvSpPr/>
          <p:nvPr/>
        </p:nvSpPr>
        <p:spPr>
          <a:xfrm>
            <a:off x="3104388" y="4995824"/>
            <a:ext cx="329184" cy="32918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3104388" y="4995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61" name="Shape 58"/>
          <p:cNvSpPr/>
          <p:nvPr/>
        </p:nvSpPr>
        <p:spPr>
          <a:xfrm>
            <a:off x="6172200" y="3291840"/>
            <a:ext cx="5440680" cy="2788920"/>
          </a:xfrm>
          <a:prstGeom prst="roundRect">
            <a:avLst>
              <a:gd name="adj" fmla="val 7213"/>
            </a:avLst>
          </a:prstGeom>
          <a:solidFill>
            <a:srgbClr val="F3F0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400800" y="34290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쓰는 법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6400800" y="3749040"/>
            <a:ext cx="4983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특약검색기의 「MeAI 프롬프트 복사」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 함께 쓰면 특약 실데이터가 들어간 답을 받습니다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보상시뮬레이터의 「질병 → MeAI 프롬프트」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 그 질병을 보장하는 당사 특약 전체를 자동 주입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해시태그(#암 #화법)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누르면 같은 태그의 프롬프트만 모아 볼 수 있습니다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답변은 초안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 약관·지급 조건은 반드시 도구로 다시 확인하세요</a:t>
            </a:r>
            <a:endParaRPr lang="en-US" sz="100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프롬프트를 발견하면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세일즈혁신TF에 보내주세요 — 라이브러리에 추가됩니다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8686800"/>
          </a:xfrm>
          <a:prstGeom prst="rect">
            <a:avLst/>
          </a:prstGeom>
          <a:solidFill>
            <a:srgbClr val="111C3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011680"/>
            <a:ext cx="1554480" cy="1554480"/>
          </a:xfrm>
          <a:prstGeom prst="roundRect">
            <a:avLst>
              <a:gd name="adj" fmla="val 23529"/>
            </a:avLst>
          </a:prstGeom>
          <a:solidFill>
            <a:srgbClr val="3182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제작기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명단 한 장으로 행사·교육·시상용 명패와 폼텍 라벨을 즉시 생성해 A4로 인쇄</a:t>
            </a:r>
            <a:endParaRPr lang="en-US" sz="1500" dirty="0"/>
          </a:p>
        </p:txBody>
      </p:sp>
      <p:pic>
        <p:nvPicPr>
          <p:cNvPr id="8" name="Image 0" descr="/tmp/claude-0/-home-user-MeAI/ecc740f6-0919-5f47-9404-106c0d41147b/scratchpad/deck/img/tata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1293" y="4206240"/>
            <a:ext cx="831494" cy="2011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05 · 명패 제작기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① 엑셀 올리기 → ② 행사명·테마 → ③ 인쇄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39646"/>
            <a:ext cx="6876288" cy="4338828"/>
          </a:xfrm>
          <a:prstGeom prst="roundRect">
            <a:avLst>
              <a:gd name="adj" fmla="val 2529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namepl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4510"/>
            <a:ext cx="6766560" cy="4229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506931" y="299808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534363" y="3025521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534363" y="302552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318918" y="299808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346350" y="3025521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46350" y="302552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048256" y="413994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2075688" y="4167378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75688" y="416737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709928" y="456285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1737360" y="4590288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7373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642262" y="519722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9694" y="5224653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669694" y="522465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130906" y="519722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3158338" y="5224653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158338" y="522465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51883" y="519722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4579315" y="5224653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79315" y="522465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31536" y="519722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5458968" y="5224653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58968" y="522465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709928" y="5704713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Shape 28"/>
          <p:cNvSpPr/>
          <p:nvPr/>
        </p:nvSpPr>
        <p:spPr>
          <a:xfrm>
            <a:off x="1737360" y="5732145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737360" y="57321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78224" y="5704713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Shape 31"/>
          <p:cNvSpPr/>
          <p:nvPr/>
        </p:nvSpPr>
        <p:spPr>
          <a:xfrm>
            <a:off x="4105656" y="5732145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105656" y="57321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852514" y="175050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4"/>
          <p:cNvSpPr/>
          <p:nvPr/>
        </p:nvSpPr>
        <p:spPr>
          <a:xfrm>
            <a:off x="6879946" y="1777936"/>
            <a:ext cx="329184" cy="329184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879946" y="1777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📂 엑셀 파일 올리기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001000" y="2011680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· 기타(직함) 열이 있는 엑셀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589520" y="21945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58952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001000" y="213969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⬇ 샘플 양식 받기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001000" y="2414016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처음이면 양식을 받아 채우세요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589520" y="2596896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589520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8001000" y="25420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방식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001000" y="2816352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삼각대 명패 150×70 (A4 4개) / 폼텍 라벨 스티커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7589520" y="2999232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589520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001000" y="29443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행사명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001000" y="3218688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정중앙 상단. 최근 행사명 칩 재사용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7589520" y="3401568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589520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8001000" y="33467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테마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8001000" y="3621024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라이트 / 다크(프리미엄)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589520" y="3803904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589520" y="3803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8001000" y="37490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글꼴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8001000" y="4023360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바탕 · 궁서 · 맑은 고딕 · 굴림 · 돋움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7589520" y="420624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758952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80010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표시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8001000" y="4425696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로고 올리기 또는 기본 워드마크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7589520" y="4608576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758952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69" name="Text 66"/>
          <p:cNvSpPr txBox="1"/>
          <p:nvPr/>
        </p:nvSpPr>
        <p:spPr>
          <a:xfrm>
            <a:off x="8001000" y="45537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재단선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8001000" y="4828032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자르는 선 표시 on/off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7589520" y="5010912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7589520" y="5010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8001000" y="49560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8001000" y="5230368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엑셀순 · 이름 · 소속 · 기타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589520" y="5413248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7589520" y="5413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8001000" y="535838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매핑 · 인쇄 (아래로 스크롤)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8001000" y="5632704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엑셀의 어떤 칸을 쓸지 자동 매칭 → 🖨 인쇄/PDF 저장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7589520" y="5815584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7589520" y="58155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  <p:sp>
        <p:nvSpPr>
          <p:cNvPr id="81" name="Text 78"/>
          <p:cNvSpPr txBox="1"/>
          <p:nvPr/>
        </p:nvSpPr>
        <p:spPr>
          <a:xfrm>
            <a:off x="8001000" y="57607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🏠 대문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8001000" y="6035040"/>
            <a:ext cx="36118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돌아가기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84" name="Text 81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05 · 명패 제작기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순서 — 엑셀 한 장이면 5분 안에 끝납니다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⬇️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41525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1525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 양식 받기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줄이 제목(이름·소속·기타)인 엑셀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44445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790749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91917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9191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✍️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3634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3634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1917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 채우기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1917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· 기타(직함). 빈 칸은 표시되지 않음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86554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32858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234026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340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📂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5742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5742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4026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올리기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4026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미리보기에 즉시 명패가 나타남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28662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74966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76134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7613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🎨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67851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7851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76134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행사명·테마·글꼴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76134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행사명 입력, 라이트/다크, 이름 글꼴, 로고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370771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517075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9718243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1824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🖨️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718243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 / PDF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718243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여백 없음 · 배율 100% · 배경 그래픽 켜기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3520440"/>
            <a:ext cx="5440680" cy="2560320"/>
          </a:xfrm>
          <a:prstGeom prst="roundRect">
            <a:avLst>
              <a:gd name="adj" fmla="val 7857"/>
            </a:avLst>
          </a:prstGeom>
          <a:solidFill>
            <a:srgbClr val="E8F3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77240" y="36576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삼각대 명패 (150×70mm)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39776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A4 세로 한 장에 4개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씩 채워집니다. 재단선을 켜고 자르세요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행사명은 비워두면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표시되지 않습니다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다크(프리미엄) 테마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 컬러 인쇄에서 고급스럽고, 라이트는 잉크 절약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 가나다순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바꾸면 좌석 배치가 쉽습니다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172200" y="3520440"/>
            <a:ext cx="5440680" cy="2560320"/>
          </a:xfrm>
          <a:prstGeom prst="roundRect">
            <a:avLst>
              <a:gd name="adj" fmla="val 7857"/>
            </a:avLst>
          </a:prstGeom>
          <a:solidFill>
            <a:srgbClr val="E8F3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0" y="365760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폼텍 라벨 스티커 · 주의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0" y="39776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제품번호를 고르면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가로·세로 칸 배치가 자동. 목록에 없으면 직접 입력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일반 A4에 시험 출력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라벨지와 겹쳐 보고, 어긋나면 미세조정(mm)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인쇄창에서 여백 ‘없음’ · 배율 100%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(페이지에 맞춤 끄기)로 두어야 칸이 맞습니다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내부망 보안 엑셀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보안해제 후 올려야 정상 반영</a:t>
            </a:r>
            <a:endParaRPr lang="en-US" sz="10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명단은 서버로 가지 않습니다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화면에서만 처리, 창을 닫으면 사라짐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8686800"/>
          </a:xfrm>
          <a:prstGeom prst="rect">
            <a:avLst/>
          </a:prstGeom>
          <a:solidFill>
            <a:srgbClr val="111C3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011680"/>
            <a:ext cx="1554480" cy="1554480"/>
          </a:xfrm>
          <a:prstGeom prst="roundRect">
            <a:avLst>
              <a:gd name="adj" fmla="val 23529"/>
            </a:avLst>
          </a:prstGeom>
          <a:solidFill>
            <a:srgbClr val="DB277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질병을 고르면 암·뇌·심장 통합치료비 특약 12종이 치료 단계별로 얼마를 지급하는지 계산</a:t>
            </a:r>
            <a:endParaRPr lang="en-US" sz="1500" dirty="0"/>
          </a:p>
        </p:txBody>
      </p:sp>
      <p:pic>
        <p:nvPicPr>
          <p:cNvPr id="8" name="Image 0" descr="/tmp/claude-0/-home-user-MeAI/ecc740f6-0919-5f47-9404-106c0d41147b/scratchpad/deck/img/zj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1990" y="4206240"/>
            <a:ext cx="1290099" cy="2011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 — 왼쪽에서 질병을 고르면 오른쪽에 금액이 나옵니다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739646"/>
            <a:ext cx="6876288" cy="4338828"/>
          </a:xfrm>
          <a:prstGeom prst="roundRect">
            <a:avLst>
              <a:gd name="adj" fmla="val 2529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si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94510"/>
            <a:ext cx="6766560" cy="4229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77594" y="325183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805026" y="3279267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05026" y="327926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371600" y="37170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1399032" y="3744468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399032" y="3744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71600" y="468972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1399032" y="4717161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399032" y="471716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22546" y="4013073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4849978" y="4040505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49978" y="40405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822546" y="468972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849978" y="4717161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49978" y="471716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175858" y="175473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203290" y="1782166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03290" y="17821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581851" y="175473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09283" y="1782166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09283" y="17821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20116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질병명 · KCD 코드 · 초성(ㄷㅈㅇㅈ) 입력. 자동완성에서 선택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589520" y="241401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589520" y="2414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23591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칩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26334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위암 · 폐암 · 유방암 · 대장암 · 갑상선암 · 전립선암 · 간암 · 자궁경부 제자리암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89520" y="3035808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58952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001000" y="29809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칩 / 암 전후·양성 질환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001000" y="325526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· 뇌출혈 · 급성 심근경색 · 협심증 · 심방세동 … / 대장 용종 · 위 선종 · 자궁근종 …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589520" y="365760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58952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8001000" y="360273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안내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001000" y="387705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 검색 → 치료 과정 선택 → 금액 확인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589520" y="4279392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589520" y="4279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001000" y="42245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찾는 질병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001000" y="44988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위암 · 뇌경색 · 급성 심근경색 · 대장 용종 바로가기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7589520" y="490118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589520" y="4901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8001000" y="48463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🏠 대문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001000" y="51206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돌아가기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7589520" y="552297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58952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001000" y="5468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ver2609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001000" y="574243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기준(통합간편 2607 약관)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56" name="Text 53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 ① — 질병 정보와 치료 과정 고르기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560576" y="1682496"/>
            <a:ext cx="4742688" cy="4453128"/>
          </a:xfrm>
          <a:prstGeom prst="roundRect">
            <a:avLst>
              <a:gd name="adj" fmla="val 2464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crops/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440" y="1737360"/>
            <a:ext cx="463296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79371" y="189280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2006803" y="1920240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006803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581656" y="276148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609088" y="2788920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908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739896" y="328269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767328" y="3310128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67328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813304" y="380390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2840736" y="3831336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40736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739896" y="493318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3767328" y="4960620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767328" y="49606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 헤더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201168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병명 · KCD 코드 · 분류 배지(암/유사암 등) · 한 줄 설명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589520" y="250545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5895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505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조합에서 이 질병을 보장하는 특약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272491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조합에 넣은 특약별 가입금액. 「대상 아님」은 이 질병을 보장하지 않는 특약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589520" y="3218688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89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001000" y="31638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✨ 추가하면 더 받을 수 있어요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8001000" y="343814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조합에 없는데 이 질병을 보장하는 특약 — 누르면 바로 추가(＋)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589520" y="393192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895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38770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보면 좋은 질병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001000" y="415137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연관 질병으로 이동 (위암 ↔ 위 선종)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589520" y="4645152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58952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8001000" y="45902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치료를 받게 될까요?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001000" y="486460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받는 치료 과정 카드. 「가장 흔해요」「요즘 많이 선택해요」 표시. 누르면 아래 금액이 바뀜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 ② — 1년 합계와 “가입 후 1년 이내” 토글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693926"/>
            <a:ext cx="6144768" cy="3378708"/>
          </a:xfrm>
          <a:prstGeom prst="roundRect">
            <a:avLst>
              <a:gd name="adj" fmla="val 3248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crops/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8790"/>
            <a:ext cx="6035040" cy="32689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67128" y="221056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2194560" y="223799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194560" y="22379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74136" y="292973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401568" y="2957170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01568" y="295717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74136" y="335470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01568" y="3382137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01568" y="338213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788152" y="4335399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5815584" y="4362831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815584" y="436283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93677" y="5065776"/>
            <a:ext cx="1121606" cy="1161288"/>
          </a:xfrm>
          <a:prstGeom prst="roundRect">
            <a:avLst>
              <a:gd name="adj" fmla="val 9783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19" name="Image 1" descr="/tmp/claude-0/-home-user-MeAI/ecc740f6-0919-5f47-9404-106c0d41147b/scratchpad/deck/img/crops/l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541" y="5120640"/>
            <a:ext cx="1011878" cy="10515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716613" y="5054803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Shape 17"/>
          <p:cNvSpPr/>
          <p:nvPr/>
        </p:nvSpPr>
        <p:spPr>
          <a:xfrm>
            <a:off x="1744045" y="5082235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1744045" y="5082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2697480" y="512064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「내 통합치료비 조합」</a:t>
            </a:r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카드에는 현재 켜 둔 특약과 가입금액이 보입니다. 「바꾸기」로 조합 시트를 엽니다.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858000" y="179222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85800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7269480" y="173736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동안 받는 통합치료비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201168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치료 과정으로 특약 전체 합계. 숫자가 올라가는 애니메이션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58000" y="256032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85800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7269480" y="250545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특약별 지급액 · 색 막대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269480" y="2779776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특약에서 얼마가 나오는지 비율 막대와 목록. 「연간 한도 적용」이면 가입금액 한도에 걸린 것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6858000" y="332841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858000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7269480" y="327355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아님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269480" y="35478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질병을 보장하지 않는 특약은 0원이 아니라 「대상 아님」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858000" y="4096512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858000" y="4096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69480" y="404164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후 1년 안에 치료받으면?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269480" y="4315968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스위치를 켜면 1년 감액(50%) 특약과 암 90일 대기가 반영된 금액으로 바뀜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6858000" y="4864608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6858000" y="4864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7269480" y="480974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바꾸기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269480" y="508406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조합(특약 on/off · 가입금액) 변경 시트 열기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 ③ — 치료 단계별로 받는 금액 읽는 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534548" y="1682496"/>
            <a:ext cx="4794744" cy="4453128"/>
          </a:xfrm>
          <a:prstGeom prst="roundRect">
            <a:avLst>
              <a:gd name="adj" fmla="val 2464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crops/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9412" y="1737360"/>
            <a:ext cx="4685016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631639" y="197967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659071" y="2007108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659071" y="20071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568642" y="215341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596074" y="218084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596074" y="21808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13902" y="193624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5641334" y="196367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41334" y="19636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334391" y="267462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2361823" y="2702052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61823" y="27020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739896" y="315239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3767328" y="3179826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767328" y="31798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2568642" y="458571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2596074" y="4613148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596074" y="46131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589520" y="179222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589520" y="1792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번호 · 아이콘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01168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진단(파랑) · 검사 · 수술/시술(빨강) · 항암/방사선(보라) · 중환자/입원(주황) · 재활(초록) · 추적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589520" y="250545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5895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24505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치료명 · 쉬운 설명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001000" y="272491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“위내시경 + 조직검사 — 내시경으로 보고 조직을 떼어 암인지 확인해요”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589520" y="3218688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589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638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합계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343814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치료에서 나오는 금액 합계 (+25만원). 0원이면 회색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89520" y="393192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5895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8001000" y="38770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 항목 칩 ?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001000" y="415137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내시경 · 조직검사 · 수술 … 누르면 의료 용어 한 줄 풀이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589520" y="4645152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58952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001000" y="45902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특약별 지급 줄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001000" y="486460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아이콘 · 통합치료항목명 · 금액. 비급여·병원조건·표적항암 배지 표시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589520" y="535838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589520" y="5358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001000" y="5303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미지급 사유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001000" y="557784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“같은 해에 이미 받은 항목이에요(연 1회)” 처럼 0원인 이유를 문장으로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 바꾸기 · 내가 조합 만들기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7492" y="1682496"/>
            <a:ext cx="5522976" cy="3493008"/>
          </a:xfrm>
          <a:prstGeom prst="roundRect">
            <a:avLst>
              <a:gd name="adj" fmla="val 314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sim-comb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737360"/>
            <a:ext cx="5413248" cy="3383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076956" y="215432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3104388" y="2181758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104388" y="21817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13738" y="245882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4241170" y="248625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41170" y="24862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43896" y="266181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1328" y="2689250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671328" y="268925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726546" y="452262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3753978" y="455005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753978" y="45500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427366" y="452262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2454798" y="455005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454798" y="45500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131052" y="1682496"/>
            <a:ext cx="5522976" cy="3493008"/>
          </a:xfrm>
          <a:prstGeom prst="roundRect">
            <a:avLst>
              <a:gd name="adj" fmla="val 314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22" name="Image 1" descr="/tmp/claude-0/-home-user-MeAI/ecc740f6-0919-5f47-9404-106c0d41147b/scratchpad/deck/img/sim-build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916" y="1737360"/>
            <a:ext cx="5413248" cy="338328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8700516" y="228965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0"/>
          <p:cNvSpPr/>
          <p:nvPr/>
        </p:nvSpPr>
        <p:spPr>
          <a:xfrm>
            <a:off x="8727948" y="2317090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727948" y="231709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8700516" y="340614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8727948" y="3433572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8727948" y="34335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9350106" y="452262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Shape 26"/>
          <p:cNvSpPr/>
          <p:nvPr/>
        </p:nvSpPr>
        <p:spPr>
          <a:xfrm>
            <a:off x="9377538" y="455005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9377538" y="45500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548640" y="526694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4864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5212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계열 / 뇌·심장 계열 탭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60120" y="5486400"/>
            <a:ext cx="5029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25000"/>
              </a:lnSpc>
              <a:buNone/>
            </a:pP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553212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스위치</a:t>
            </a:r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특약 켜기/끄기  </a:t>
            </a:r>
            <a:pPr algn="l"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가입금액 구간</a:t>
            </a:r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4,000만·8,000만·1억 등  </a:t>
            </a:r>
            <a:pPr algn="l"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적용하기</a:t>
            </a:r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/ </a:t>
            </a:r>
            <a:pPr algn="l"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기본 조합으로</a:t>
            </a:r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되돌리기. 병원조건(암중점·상급종합) 특약은 배지로 표시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172200" y="526694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17220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6583680" y="5212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조합 만들기 (치료 과정 카드 옆 ➕)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6583680" y="5486400"/>
            <a:ext cx="5029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25000"/>
              </a:lnSpc>
              <a:buNone/>
            </a:pP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6172200" y="553212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 검사·주요치료·그 외</a:t>
            </a:r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에서 받을 치료를 눌러 담기. 같은 치료를 여러 번 담으면 반복 치료 계산  </a:t>
            </a:r>
            <a:pPr algn="l" indent="0" marL="0">
              <a:lnSpc>
                <a:spcPct val="140000"/>
              </a:lnSpc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⑧ 이 조합으로 보기</a:t>
            </a:r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「내가 만든 조합」 카드가 생기고 단계별 금액이 다시 계산됩니다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 치료 계획 · 가입금액을 바꾸면 — 설계 대화의 근거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688211"/>
            <a:ext cx="5596128" cy="3252978"/>
          </a:xfrm>
          <a:prstGeom prst="roundRect">
            <a:avLst>
              <a:gd name="adj" fmla="val 3373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crops/b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3075"/>
            <a:ext cx="5486400" cy="3143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53896" y="180251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1481328" y="1829943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481328" y="182994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099816" y="296551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3127248" y="2992946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127248" y="299294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099816" y="4065651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7248" y="4093083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27248" y="40930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17336" y="1702975"/>
            <a:ext cx="5550408" cy="2263331"/>
          </a:xfrm>
          <a:prstGeom prst="roundRect">
            <a:avLst>
              <a:gd name="adj" fmla="val 4848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16" name="Image 1" descr="/tmp/claude-0/-home-user-MeAI/ecc740f6-0919-5f47-9404-106c0d41147b/scratchpad/deck/img/crops/b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57839"/>
            <a:ext cx="5440680" cy="2153603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068312" y="188885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4"/>
          <p:cNvSpPr/>
          <p:nvPr/>
        </p:nvSpPr>
        <p:spPr>
          <a:xfrm>
            <a:off x="7095744" y="1916287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095744" y="19162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8700516" y="275029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Shape 17"/>
          <p:cNvSpPr/>
          <p:nvPr/>
        </p:nvSpPr>
        <p:spPr>
          <a:xfrm>
            <a:off x="8727948" y="2777728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727948" y="2777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876788" y="1888855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0"/>
          <p:cNvSpPr/>
          <p:nvPr/>
        </p:nvSpPr>
        <p:spPr>
          <a:xfrm>
            <a:off x="10904220" y="1916287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0904220" y="19162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48640" y="508406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48640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960120" y="50292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 치료 계획으로 보면 (유방암·간암 등 재발 시나리오가 있는 질병)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53035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연차별 치료 내용과 금액 막대. 「자세히」를 누르면 연차별 특약 내역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548640" y="5687568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548640" y="5687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563270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 막대 · 합계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59070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해마다 연간 한도가 새로 적용되므로 5년 합계가 커집니다 (유방암 예시 3억 2,199만원)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6172200" y="416966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6172200" y="4169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가입금액 구간별 금액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치료 과정을 4,000만·8,000만·1억으로 계산. 「📌 지금 조합」이 현재 값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6172200" y="479145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6172200" y="4791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6583680" y="47365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행을 누르면 조합에 즉시 반영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6583680" y="50109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“1억으로 올리면 이 치료에서 +250만원” — 증액 제안 근거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6172200" y="5413248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6172200" y="5413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6583680" y="5358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보장표 보기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6583680" y="563270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특약의 통합치료항목 × 가입금액 지급금액표 (다음 장)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치료 내용은 예시 — 검사·주요치료 항목은 해마다 연 1회씩 다시 지급</a:t>
            </a:r>
            <a:endParaRPr lang="en-US" sz="950" dirty="0"/>
          </a:p>
        </p:txBody>
      </p:sp>
      <p:sp>
        <p:nvSpPr>
          <p:cNvPr id="47" name="Text 4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8" name="Text 44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보장표 · 꼭 알아두세요 — 고객에게 반드시 함께 말할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7492" y="1682496"/>
            <a:ext cx="5522976" cy="3493008"/>
          </a:xfrm>
          <a:prstGeom prst="roundRect">
            <a:avLst>
              <a:gd name="adj" fmla="val 3141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5" name="Image 0" descr="/tmp/claude-0/-home-user-MeAI/ecc740f6-0919-5f47-9404-106c0d41147b/scratchpad/deck/img/sim-matrix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737360"/>
            <a:ext cx="5413248" cy="3383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076956" y="195133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4"/>
          <p:cNvSpPr/>
          <p:nvPr/>
        </p:nvSpPr>
        <p:spPr>
          <a:xfrm>
            <a:off x="3104388" y="1978762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104388" y="197876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994306" y="306781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021738" y="309524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021738" y="30952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430268" y="306781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57700" y="3095244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57700" y="30952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17336" y="1682972"/>
            <a:ext cx="5550408" cy="2943416"/>
          </a:xfrm>
          <a:prstGeom prst="roundRect">
            <a:avLst>
              <a:gd name="adj" fmla="val 3728"/>
            </a:avLst>
          </a:prstGeom>
          <a:solidFill>
            <a:srgbClr val="E5E8EB"/>
          </a:solidFill>
          <a:ln/>
          <a:effectLst>
            <a:outerShdw sx="100000" sy="100000" kx="0" ky="0" algn="bl" rotWithShape="0" blurRad="177800" dist="38100" dir="5400000">
              <a:srgbClr val="0B1F3A">
                <a:alpha val="16000"/>
              </a:srgbClr>
            </a:outerShdw>
          </a:effectLst>
        </p:spPr>
      </p:sp>
      <p:pic>
        <p:nvPicPr>
          <p:cNvPr id="16" name="Image 1" descr="/tmp/claude-0/-home-user-MeAI/ecc740f6-0919-5f47-9404-106c0d41147b/scratchpad/deck/img/crops/b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836"/>
            <a:ext cx="5440680" cy="283368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252210" y="211255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4"/>
          <p:cNvSpPr/>
          <p:nvPr/>
        </p:nvSpPr>
        <p:spPr>
          <a:xfrm>
            <a:off x="6279642" y="2139982"/>
            <a:ext cx="329184" cy="329184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79642" y="213998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5266944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4864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5212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보장표 = 약관 지급금액표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54864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통합치료항목(검사 · 주요치료 · 비급여 치료 · 통증완화 · 재활) × 가입금액 구간. 「지급」 표시는 지금 보는 치료 과정에서 나오는 항목, 파란 열이 현재 가입금액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08076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항목 아래 작은 글씨 = 지급 주기(연간 1회 · 수술 1회당 · 1일 1회 연간 N회)   ③ 가입금액 구간별 금액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172200" y="4709160"/>
            <a:ext cx="5440680" cy="1737360"/>
          </a:xfrm>
          <a:prstGeom prst="roundRect">
            <a:avLst>
              <a:gd name="adj" fmla="val 11579"/>
            </a:avLst>
          </a:prstGeom>
          <a:solidFill>
            <a:srgbClr val="FCE7F3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400800" y="484632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꼭 알아두세요 (화면 하단 자동 안내)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6400800" y="516636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금액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실제 지급은 진단서·진료비세부내역서의 수가코드와 약관 심사로 결정</a:t>
            </a:r>
            <a:endParaRPr lang="en-US" sz="9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한도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검사·주요치료는 같은 항목 연 1회, 수술은 1회당, 재활은 하루 1회</a:t>
            </a:r>
            <a:endParaRPr lang="en-US" sz="950" dirty="0"/>
          </a:p>
          <a:p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특약</a:t>
            </a:r>
            <a:pPr algn="l" indent="0" marL="0">
              <a:lnSpc>
                <a:spcPct val="13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(암 Ⅱ·주요치료)은 급여 치료에 지급하지 않음 · 호르몬 치료제 제외 · 유방 복원술 미지급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 06 · 통합치료비 시뮬레이션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순서와 상담 화법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CE7F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🔤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41525" y="196596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1525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 선택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칩 클릭 또는 병명·코드·초성 검색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44445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790749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91917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CE7F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9191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3634" y="196596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3634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1917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 맞추기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1917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가입(예정) 특약과 가입금액으로 「바꾸기」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86554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32858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234026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CE7F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340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5742" y="196596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5742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4026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 과정 선택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4026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흔한 과정부터, 필요하면 내가 조합 만들기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28662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74966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76134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CE7F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7613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67851" y="196596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7851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76134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 읽기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76134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합계 → 단계별 → 1년 이내 토글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370771" y="1737360"/>
            <a:ext cx="1463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517075" y="1737360"/>
            <a:ext cx="2095805" cy="1554480"/>
          </a:xfrm>
          <a:prstGeom prst="roundRect">
            <a:avLst>
              <a:gd name="adj" fmla="val 12941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9718243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CE7F3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1824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718243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· 제안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718243" y="2761488"/>
            <a:ext cx="17300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가입금액 구간 비교와 5년 계획으로 증액 근거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3520440"/>
            <a:ext cx="11064240" cy="2606040"/>
          </a:xfrm>
          <a:prstGeom prst="roundRect">
            <a:avLst>
              <a:gd name="adj" fmla="val 7719"/>
            </a:avLst>
          </a:prstGeom>
          <a:solidFill>
            <a:srgbClr val="FCE7F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22960" y="3657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보며 이렇게 말합니다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22960" y="4023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위암으로 조기 발견돼 내시경으로 떼어내는 가장 흔한 과정이면 — 내시경·조직검사 25만원, CT 10만원, 내시경 절제술 1,000만원, 합쳐서 1년에 1,035만원이 통합치료비로 나옵니다.”</a:t>
            </a:r>
            <a:endParaRPr lang="en-US" sz="1150" dirty="0"/>
          </a:p>
          <a:p>
            <a:pPr algn="l" indent="0" marL="0">
              <a:lnSpc>
                <a:spcPct val="15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“다빈치 로봇 수술을 선택하시면 수술비에 로봇수술비가 더해지고, 항암약물치료까지 이어지면 이 화면처럼 금액이 올라갑니다.”</a:t>
            </a:r>
            <a:endParaRPr lang="en-US" sz="1150" dirty="0"/>
          </a:p>
          <a:p>
            <a:pPr algn="l" indent="0" marL="0">
              <a:lnSpc>
                <a:spcPct val="15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4,000만원으로 설계돼 있는데 1억으로 올리면 같은 치료에서 이만큼 더 받으십니다 — 여기 막대가 그 차이입니다.”</a:t>
            </a:r>
            <a:endParaRPr lang="en-US" sz="1150" dirty="0"/>
          </a:p>
          <a:p>
            <a:pPr algn="l" indent="0" marL="0">
              <a:lnSpc>
                <a:spcPct val="15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“가입 후 1년 안에 치료받으면 절반만 나오는 특약이 있어요. 스위치를 켜면 그 금액이 이렇게 보입니다.” — 감액·대기기간은 반드시 함께 안내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6400800" cy="8686800"/>
          </a:xfrm>
          <a:prstGeom prst="rect">
            <a:avLst/>
          </a:prstGeom>
          <a:solidFill>
            <a:srgbClr val="111C3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011680"/>
            <a:ext cx="1554480" cy="1554480"/>
          </a:xfrm>
          <a:prstGeom prst="roundRect">
            <a:avLst>
              <a:gd name="adj" fmla="val 23529"/>
            </a:avLst>
          </a:prstGeom>
          <a:solidFill>
            <a:srgbClr val="4E596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07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쓰기 · FAQ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이어서 쓰는 상담 시나리오와 자주 묻는 질문</a:t>
            </a:r>
            <a:endParaRPr lang="en-US" sz="1500" dirty="0"/>
          </a:p>
        </p:txBody>
      </p:sp>
      <p:pic>
        <p:nvPicPr>
          <p:cNvPr id="8" name="Image 0" descr="/tmp/claude-0/-home-user-MeAI/ecc740f6-0919-5f47-9404-106c0d41147b/scratchpad/deck/img/merry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4206240"/>
            <a:ext cx="1408176" cy="2011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A9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함께 쓰기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시나리오 ① — 유병자 고객의 신규 가입 제안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📦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41525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1525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「알릴의무 유형별」에서 고객 병력(예: 고혈압 투약)으로 가입 가능한 간편·건강고지 상품 찾기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44445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790749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91917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9191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🔍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3634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3634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1917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1917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상품에서 고객 관심 질병(뇌경색 I63) 보장 특약과 사각지대 확인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86554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32858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234026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340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🧮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5742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5742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4026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4026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치료 여정별 반응 특약과 부분보장 경고 확인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28662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74966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76134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7613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💊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67851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7851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76134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76134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 통합치료비 가입금액별 금액으로 설계 제안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370771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517075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9718243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1824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✨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718243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프롬프트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718243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「보장분석/리모델링」 프롬프트에 위 내용을 넣어 제안서 초안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3931920"/>
            <a:ext cx="11064240" cy="2148840"/>
          </a:xfrm>
          <a:prstGeom prst="roundRect">
            <a:avLst>
              <a:gd name="adj" fmla="val 9362"/>
            </a:avLst>
          </a:prstGeom>
          <a:solidFill>
            <a:srgbClr val="F9FAFB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22960" y="4069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포인트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22960" y="443484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도구의 결과가 뒤 도구의 입력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됩니다 — 상품 → 특약 → 질병 → 금액 → 문장 순서로 좁혀갑니다</a:t>
            </a:r>
            <a:endParaRPr lang="en-US" sz="1150" dirty="0"/>
          </a:p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전에는 상품 라인업의 알릴의무 표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고지 항목을 고객과 함께 다시 확인합니다</a:t>
            </a:r>
            <a:endParaRPr lang="en-US" sz="1150" dirty="0"/>
          </a:p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답변에 나온 특약명·금액은 특약검색기로 재확인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뒤 고객에게 전달합니다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함께 쓰기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시나리오 ② — 기존 고객 사후관리 · 청구 안내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📞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41525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41525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연락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“위암 진단받았어요” — 당황하지 말고 도구를 엽니다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44445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790749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91917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91917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🧮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83634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3634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1917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991917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위암 입력 → 진단·검사·수술·입원·치료 단계별 청구 가능 특약 목록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86554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32858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234026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340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💊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5742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25742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234026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4026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조합으로 맞춘 뒤 예상 치료 과정을 골라 1년 통합치료비 예상액 안내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128662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74966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76134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7613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🔍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8867851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7851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76134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76134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상세의 약관 본문·지급 조건과 약관 페이지를 근거로 제시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9370771" y="1737360"/>
            <a:ext cx="146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9517075" y="1737360"/>
            <a:ext cx="2095805" cy="1920240"/>
          </a:xfrm>
          <a:prstGeom prst="roundRect">
            <a:avLst>
              <a:gd name="adj" fmla="val 10476"/>
            </a:avLst>
          </a:prstGeom>
          <a:solidFill>
            <a:srgbClr val="F9FAFB"/>
          </a:solidFill>
          <a:ln/>
        </p:spPr>
      </p:sp>
      <p:sp>
        <p:nvSpPr>
          <p:cNvPr id="37" name="Shape 35"/>
          <p:cNvSpPr/>
          <p:nvPr/>
        </p:nvSpPr>
        <p:spPr>
          <a:xfrm>
            <a:off x="9718243" y="193852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8F3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1824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91F28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✨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1109960" y="1965960"/>
            <a:ext cx="292608" cy="292608"/>
          </a:xfrm>
          <a:prstGeom prst="ellipse">
            <a:avLst/>
          </a:prstGeom>
          <a:solidFill>
            <a:srgbClr val="3182F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10996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718243" y="2487168"/>
            <a:ext cx="1730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프롬프트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718243" y="2761488"/>
            <a:ext cx="173004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「사후관리/소개요청」 프롬프트로 청구 서류 안내문·위로 메시지 작성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3931920"/>
            <a:ext cx="11064240" cy="2148840"/>
          </a:xfrm>
          <a:prstGeom prst="roundRect">
            <a:avLst>
              <a:gd name="adj" fmla="val 9362"/>
            </a:avLst>
          </a:prstGeom>
          <a:solidFill>
            <a:srgbClr val="F9FAFB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22960" y="4069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포인트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22960" y="443484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금액은 “예상”이라고 말합니다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실제 지급은 진단서·진료비세부내역서와 심사로 결정</a:t>
            </a:r>
            <a:endParaRPr lang="en-US" sz="1150" dirty="0"/>
          </a:p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 서류는 단계별로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진단(진단서·조직검사 결과), 수술(수술확인서), 입원(입퇴원확인서), 치료(진료비세부내역서)</a:t>
            </a:r>
            <a:endParaRPr lang="en-US" sz="1150" dirty="0"/>
          </a:p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3B2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공백이 보이면 치료가 끝난 뒤</a:t>
            </a:r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리모델링 상담으로 자연스럽게 이어갑니다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FAQ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7830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안 열려요 / 흰 화면이에요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0939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주소를 다시 확인하고 새로고침(F5). 회사 내부망에서는 보안 정책으로 일부 글꼴만 대체될 뿐 기능은 동작합니다. 그래도 안 되면 다른 브라우저(크롬)로 열어 보세요.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55080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17830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검색해도 결과가 0건이에요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0939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띄어쓰기를 빼거나 더 짧은 단어로 검색하세요. 특약검색기는 상품 필터가 걸려 있으면 그 상품만 보여줍니다 — 「전체」로 바꿔 보세요.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88036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880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금액이 약관과 달라요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1912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약관 지급금액표·예시 기준입니다. 데이터 버전(ver2609) 이후 개정분은 반영 전일 수 있으니 문의처로 알려주시면 즉시 수정합니다.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72200" y="278892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288036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2880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휴대폰에서 표가 잘려요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31912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표·지도는 옆으로 밀어서 보세요. 시트(팝업)는 아래로 끌거나 ✕로 닫습니다. 가로 모드로 돌리면 더 편합니다.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776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977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입력해도 되나요?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428853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입력하는 칸 자체가 없습니다. 명패 제작기의 명단은 화면 안에서만 처리되고 서버로 전송·저장되지 않습니다.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388620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5080" y="397764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3977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특약·새 상품은 언제 반영되나요?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28853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출시 후 데이터만 교체해 반영합니다. 오른쪽 위 버전 배지 숫자가 바뀌면 갱신된 것입니다.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498348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07492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507492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인쇄하면 색이 빠져요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538581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인쇄창에서 「배경 그래픽」을 켜고 배율 100%, 여백 없음으로 두세요. PDF로 저장을 고르면 파일로도 받을 수 있습니다.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72200" y="4983480"/>
            <a:ext cx="5440680" cy="987552"/>
          </a:xfrm>
          <a:prstGeom prst="roundRect">
            <a:avLst>
              <a:gd name="adj" fmla="val 20370"/>
            </a:avLst>
          </a:prstGeom>
          <a:solidFill>
            <a:srgbClr val="F9FA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55080" y="507492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675120" y="507492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건의·오류는 어디로?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675120" y="538581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— 화면 캡처와 함께 알려주시면 가장 빠릅니다. 좋은 프롬프트·시나리오 제안도 환영합니다.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8142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걱정은 저희가 대신할게요.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영업만 신경 쓰세요!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49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7D2E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  hunx11-sys.github.io/MeAI   ·   문의  세일즈혁신TF 이헌수   ·   데이터 ver2609</a:t>
            </a:r>
            <a:endParaRPr lang="en-US" sz="1300" dirty="0"/>
          </a:p>
        </p:txBody>
      </p:sp>
      <p:pic>
        <p:nvPicPr>
          <p:cNvPr id="5" name="Image 0" descr="/tmp/claude-0/-home-user-MeAI/ecc740f6-0919-5f47-9404-106c0d41147b/scratchpad/deck/img/merry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558937"/>
            <a:ext cx="658368" cy="940526"/>
          </a:xfrm>
          <a:prstGeom prst="rect">
            <a:avLst/>
          </a:prstGeom>
        </p:spPr>
      </p:pic>
      <p:pic>
        <p:nvPicPr>
          <p:cNvPr id="6" name="Image 1" descr="/tmp/claude-0/-home-user-MeAI/ecc740f6-0919-5f47-9404-106c0d41147b/scratchpad/deck/img/eco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4576194"/>
            <a:ext cx="658368" cy="906011"/>
          </a:xfrm>
          <a:prstGeom prst="rect">
            <a:avLst/>
          </a:prstGeom>
        </p:spPr>
      </p:pic>
      <p:pic>
        <p:nvPicPr>
          <p:cNvPr id="7" name="Image 2" descr="/tmp/claude-0/-home-user-MeAI/ecc740f6-0919-5f47-9404-106c0d41147b/scratchpad/deck/img/rara-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712677"/>
            <a:ext cx="658368" cy="633046"/>
          </a:xfrm>
          <a:prstGeom prst="rect">
            <a:avLst/>
          </a:prstGeom>
        </p:spPr>
      </p:pic>
      <p:pic>
        <p:nvPicPr>
          <p:cNvPr id="8" name="Image 3" descr="/tmp/claude-0/-home-user-MeAI/ecc740f6-0919-5f47-9404-106c0d41147b/scratchpad/deck/img/indi-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4503906"/>
            <a:ext cx="658368" cy="1050587"/>
          </a:xfrm>
          <a:prstGeom prst="rect">
            <a:avLst/>
          </a:prstGeom>
        </p:spPr>
      </p:pic>
      <p:pic>
        <p:nvPicPr>
          <p:cNvPr id="9" name="Image 4" descr="/tmp/claude-0/-home-user-MeAI/ecc740f6-0919-5f47-9404-106c0d41147b/scratchpad/deck/img/tata-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0053" y="4480560"/>
            <a:ext cx="453542" cy="1097280"/>
          </a:xfrm>
          <a:prstGeom prst="rect">
            <a:avLst/>
          </a:prstGeom>
        </p:spPr>
      </p:pic>
      <p:pic>
        <p:nvPicPr>
          <p:cNvPr id="10" name="Image 5" descr="/tmp/claude-0/-home-user-MeAI/ecc740f6-0919-5f47-9404-106c0d41147b/scratchpad/deck/img/zjum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4515896"/>
            <a:ext cx="658368" cy="1026608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B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설계사 교육·업무용 도구입니다. 실제 보장 여부 및 지급금액은 반드시 약관을 확인하세요.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영업지원 도구 6종 사용 매뉴얼</dc:title>
  <dc:subject>PptxGenJS Presentation</dc:subject>
  <dc:creator>세일즈혁신TF</dc:creator>
  <cp:lastModifiedBy>세일즈혁신TF</cp:lastModifiedBy>
  <cp:revision>1</cp:revision>
  <dcterms:created xsi:type="dcterms:W3CDTF">2026-09-15T16:42:24Z</dcterms:created>
  <dcterms:modified xsi:type="dcterms:W3CDTF">2026-09-15T16:42:24Z</dcterms:modified>
</cp:coreProperties>
</file>