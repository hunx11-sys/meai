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D4B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333D4B"/>
                </a:solidFill>
                <a:latin typeface="맑은 고딕"/>
              </a:rPr>
              <a:t>항목별 연간 기대효과 (억원)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항목별 연간 기대효과 (억원)</c:v>
                </c:pt>
              </c:strCache>
            </c:strRef>
          </c:tx>
          <c:spPr>
            <a:solidFill>
              <a:srgbClr val="3182F6"/>
            </a:solidFill>
            <a:effectLst/>
          </c:spPr>
          <c:invertIfNegative val="0"/>
          <c:dLbls>
            <c:numFmt formatCode="0.00&quot;억원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D4B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1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3B2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44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E98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업무효율</c:v>
                  </c:pt>
                  <c:pt idx="1">
                    <c:v>매출증진</c:v>
                  </c:pt>
                  <c:pt idx="2">
                    <c:v>민원 감소</c:v>
                  </c:pt>
                  <c:pt idx="3">
                    <c:v>전파 절감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2.63</c:v>
                </c:pt>
                <c:pt idx="1">
                  <c:v>2.28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.00&quot;억원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33D4B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5968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5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B8C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meritz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메리츠화재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 · AI추진파트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만든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 도구 </a:t>
            </a:r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전속영업채널(TA/PA)의 상담을 데이터로 뒷받침하는 6개의 자체 개발 도구 · 신규 「통합치료비 시뮬레이션」 추가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FFEE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4343400"/>
            <a:ext cx="1472184" cy="329184"/>
          </a:xfrm>
          <a:prstGeom prst="roundRect">
            <a:avLst>
              <a:gd name="adj" fmla="val 50000"/>
            </a:avLst>
          </a:prstGeom>
          <a:solidFill>
            <a:srgbClr val="E5F8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74520" y="4343400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보상시뮬레이터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6432" y="434340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56432" y="43434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E9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라인업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64608" y="4343400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F3F0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4608" y="434340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67728" y="434340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67728" y="43434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명패 제작기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75904" y="4343400"/>
            <a:ext cx="2167128" cy="329184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75904" y="434340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시뮬레이션</a:t>
            </a:r>
            <a:endParaRPr lang="en-US" sz="1100" dirty="0"/>
          </a:p>
        </p:txBody>
      </p:sp>
      <p:pic>
        <p:nvPicPr>
          <p:cNvPr id="19" name="Image 0" descr="/tmp/claude-0/-home-user-MeAI/ecc740f6-0919-5f47-9404-106c0d41147b/scratchpad/deck/img/merry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578031"/>
            <a:ext cx="566928" cy="809897"/>
          </a:xfrm>
          <a:prstGeom prst="rect">
            <a:avLst/>
          </a:prstGeom>
        </p:spPr>
      </p:pic>
      <p:pic>
        <p:nvPicPr>
          <p:cNvPr id="20" name="Image 1" descr="/tmp/claude-0/-home-user-MeAI/ecc740f6-0919-5f47-9404-106c0d41147b/scratchpad/deck/img/eco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592892"/>
            <a:ext cx="566928" cy="780176"/>
          </a:xfrm>
          <a:prstGeom prst="rect">
            <a:avLst/>
          </a:prstGeom>
        </p:spPr>
      </p:pic>
      <p:pic>
        <p:nvPicPr>
          <p:cNvPr id="21" name="Image 2" descr="/tmp/claude-0/-home-user-MeAI/ecc740f6-0919-5f47-9404-106c0d41147b/scratchpad/deck/img/rara-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296" y="710418"/>
            <a:ext cx="566928" cy="545123"/>
          </a:xfrm>
          <a:prstGeom prst="rect">
            <a:avLst/>
          </a:prstGeom>
        </p:spPr>
      </p:pic>
      <p:pic>
        <p:nvPicPr>
          <p:cNvPr id="22" name="Image 3" descr="/tmp/claude-0/-home-user-MeAI/ecc740f6-0919-5f47-9404-106c0d41147b/scratchpad/deck/img/indi-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664" y="530644"/>
            <a:ext cx="566928" cy="904672"/>
          </a:xfrm>
          <a:prstGeom prst="rect">
            <a:avLst/>
          </a:prstGeom>
        </p:spPr>
      </p:pic>
      <p:pic>
        <p:nvPicPr>
          <p:cNvPr id="23" name="Image 4" descr="/tmp/claude-0/-home-user-MeAI/ecc740f6-0919-5f47-9404-106c0d41147b/scratchpad/deck/img/tata-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8071" y="502920"/>
            <a:ext cx="396850" cy="960120"/>
          </a:xfrm>
          <a:prstGeom prst="rect">
            <a:avLst/>
          </a:prstGeom>
        </p:spPr>
      </p:pic>
      <p:pic>
        <p:nvPicPr>
          <p:cNvPr id="24" name="Image 5" descr="/tmp/claude-0/-home-user-MeAI/ecc740f6-0919-5f47-9404-106c0d41147b/scratchpad/deck/img/zst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1929" y="502920"/>
            <a:ext cx="505870" cy="9601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  ·   세일즈혁신TF  이헌수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6858000" y="5989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hunx11-sys.github.io/MeAI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순서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20952"/>
            </a:avLst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31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379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배경과 목적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945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현장의 벽 · 개발 방식 · 0원 운영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960120"/>
          </a:xfrm>
          <a:prstGeom prst="roundRect">
            <a:avLst>
              <a:gd name="adj" fmla="val 20952"/>
            </a:avLst>
          </a:pr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08376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03B2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008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9535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 도구 6종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10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 · 보상시뮬레이터 · 상품 라인업 · 프롬프트 · 명패 · 통합치료비 시뮬레이션(신규)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1064240" cy="960120"/>
          </a:xfrm>
          <a:prstGeom prst="roundRect">
            <a:avLst>
              <a:gd name="adj" fmla="val 20952"/>
            </a:avLst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23944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FE98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23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69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신뢰성과 현장 반응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2569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원문 대조 951건 · 분류표 216개 · 26일 8,066회 사용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11064240" cy="960120"/>
          </a:xfrm>
          <a:prstGeom prst="roundRect">
            <a:avLst>
              <a:gd name="adj" fmla="val 20952"/>
            </a:avLst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23951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239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84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기대효과와 로드맵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54126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업무효율 · 매출증진 · 신담보 전파 · 민원 리스크 · TA 4대 목표 기여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8686800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1554480" cy="1554480"/>
          </a:xfrm>
          <a:prstGeom prst="roundRect">
            <a:avLst>
              <a:gd name="adj" fmla="val 23529"/>
            </a:avLst>
          </a:prstGeom>
          <a:solidFill>
            <a:srgbClr val="3182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B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배경과 목적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만들었고, 어떻게 만들었는가</a:t>
            </a:r>
            <a:endParaRPr lang="en-US" sz="1500" dirty="0"/>
          </a:p>
        </p:txBody>
      </p:sp>
      <p:pic>
        <p:nvPicPr>
          <p:cNvPr id="8" name="Image 0" descr="/tmp/claude-0/-home-user-MeAI/ecc740f6-0919-5f47-9404-106c0d41147b/scratchpad/deck/img/merry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4206240"/>
            <a:ext cx="1408176" cy="20116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9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A9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개발 배경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책상이 아니라, 현장에서 시작했습니다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15184" cy="1600200"/>
          </a:xfrm>
          <a:prstGeom prst="roundRect">
            <a:avLst>
              <a:gd name="adj" fmla="val 12571"/>
            </a:avLst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7568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60904" y="210312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60904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2432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순수신인 FP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9864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모르는 상태에서 상품·특약·약관을 처음부터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163824" y="1874520"/>
            <a:ext cx="201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64992" y="1874520"/>
            <a:ext cx="2615184" cy="1600200"/>
          </a:xfrm>
          <a:prstGeom prst="roundRect">
            <a:avLst>
              <a:gd name="adj" fmla="val 12571"/>
            </a:avLst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207568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77256" y="210312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77256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62432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 활동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89864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 막히던 순간들, 찾을 수 없던 특약과 보상 근거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980176" y="1874520"/>
            <a:ext cx="201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81344" y="1874520"/>
            <a:ext cx="2615184" cy="1600200"/>
          </a:xfrm>
          <a:prstGeom prst="roundRect">
            <a:avLst>
              <a:gd name="adj" fmla="val 12571"/>
            </a:avLst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207568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8251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293608" y="210312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9360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262432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조직관리·매니저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289864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교육·정착의 벽, 반복되는 같은 질문과 교육 공수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1874520"/>
            <a:ext cx="201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997696" y="1874520"/>
            <a:ext cx="2615184" cy="1600200"/>
          </a:xfrm>
          <a:prstGeom prst="roundRect">
            <a:avLst>
              <a:gd name="adj" fmla="val 12571"/>
            </a:avLst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9198864" y="207568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98864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🛠️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109960" y="210312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10996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262432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289864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필요했던 도구를, 지금 직접 만들다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9362"/>
            </a:avLst>
          </a:prstGeom>
          <a:solidFill>
            <a:srgbClr val="E8F3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8680" y="4069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endParaRPr lang="en-US" sz="400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411480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영업가족이 실제로 막히는 지점은 상품설명서 안에 있지 않았습니다.</a:t>
            </a:r>
            <a:endParaRPr lang="en-US" sz="1450" dirty="0"/>
          </a:p>
          <a:p>
            <a:pPr algn="l"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 즉시 꺼내 쓸 수 있는 ‘검색 가능한 도구’가 없었을 뿐입니다.</a:t>
            </a:r>
            <a:endParaRPr lang="en-US" sz="1450" dirty="0"/>
          </a:p>
          <a:p>
            <a:pPr algn="l"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순수신인부터 매니저까지 경험한 사람이, 그때 필요했던 것을 만들었습니다.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개발 배경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반복해서 부딪히는 다섯 가지 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161288"/>
          </a:xfrm>
          <a:prstGeom prst="roundRect">
            <a:avLst>
              <a:gd name="adj" fmla="val 17323"/>
            </a:avLst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116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15568" y="1847088"/>
            <a:ext cx="274320" cy="274320"/>
          </a:xfrm>
          <a:prstGeom prst="ellipse">
            <a:avLst/>
          </a:prstGeom>
          <a:solidFill>
            <a:srgbClr val="F044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5568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883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특약을 찾을 수가 없다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2402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951개 특별약관·매월 바뀌는 신담보. 약관 PDF를 뒤지는 데만 수십 분.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40680" cy="1161288"/>
          </a:xfrm>
          <a:prstGeom prst="roundRect">
            <a:avLst>
              <a:gd name="adj" fmla="val 17323"/>
            </a:avLst>
          </a:pr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73368" y="20116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7336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🧬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39128" y="1847088"/>
            <a:ext cx="274320" cy="274320"/>
          </a:xfrm>
          <a:prstGeom prst="ellipse">
            <a:avLst/>
          </a:prstGeom>
          <a:solidFill>
            <a:srgbClr val="F044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39128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883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질병코드와 보상 구조가 어렵다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2402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KCD 코드는 낯설고, 어떤 특약이 언제 얼마를 주는지 설명하기 어렵다.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5440680" cy="1161288"/>
          </a:xfrm>
          <a:prstGeom prst="roundRect">
            <a:avLst>
              <a:gd name="adj" fmla="val 17323"/>
            </a:avLst>
          </a:pr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31012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💊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115568" y="3145536"/>
            <a:ext cx="274320" cy="274320"/>
          </a:xfrm>
          <a:prstGeom prst="ellipse">
            <a:avLst/>
          </a:prstGeom>
          <a:solidFill>
            <a:srgbClr val="F044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5568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3182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통합치료비는 더 어렵다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5387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12종 특약·항목별 금액표·연 1회 한도. “위암이면 얼마 나와요?”에 즉답이 안 된다.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035808"/>
            <a:ext cx="5440680" cy="1161288"/>
          </a:xfrm>
          <a:prstGeom prst="roundRect">
            <a:avLst>
              <a:gd name="adj" fmla="val 17323"/>
            </a:avLst>
          </a:pr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3368" y="331012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73368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739128" y="3145536"/>
            <a:ext cx="274320" cy="274320"/>
          </a:xfrm>
          <a:prstGeom prst="ellipse">
            <a:avLst/>
          </a:prstGeom>
          <a:solidFill>
            <a:srgbClr val="F044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39128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3182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써도 무엇을 물을지 모른다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35387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있어도 프롬프트를 모르면 보장분석·리모델링까지 가지 못한다.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334256"/>
            <a:ext cx="5440680" cy="1161288"/>
          </a:xfrm>
          <a:prstGeom prst="roundRect">
            <a:avLst>
              <a:gd name="adj" fmla="val 17323"/>
            </a:avLst>
          </a:pr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" y="4608576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9808" y="46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115568" y="4443984"/>
            <a:ext cx="274320" cy="274320"/>
          </a:xfrm>
          <a:prstGeom prst="ellipse">
            <a:avLst/>
          </a:prstGeom>
          <a:solidFill>
            <a:srgbClr val="F0445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15568" y="4443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4480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자체가 생소하다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417320" y="483717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순수·경력신인 모두 라인업·알릴의무·납입면제 학습에 기회비용이 크다.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4334256"/>
            <a:ext cx="5440680" cy="1161288"/>
          </a:xfrm>
          <a:prstGeom prst="roundRect">
            <a:avLst>
              <a:gd name="adj" fmla="val 17323"/>
            </a:avLst>
          </a:prstGeom>
          <a:solidFill>
            <a:srgbClr val="E8F3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46520" y="4334256"/>
            <a:ext cx="4937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다섯 개의 벽에 각각 대응하는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개의 도구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답했습니다.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개발 방식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인력 1인 개발 · 추가 비용 0원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9FA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· 라이선스 · 서버 비용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무료 호스팅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9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· 데이터 · 개발 · 운영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 자체 수행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1828800"/>
          </a:xfrm>
          <a:prstGeom prst="roundRect">
            <a:avLst>
              <a:gd name="adj" fmla="val 11000"/>
            </a:avLst>
          </a:prstGeom>
          <a:solidFill>
            <a:srgbClr val="F9F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E9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수정 · 신담보 반영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개발사 의존 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2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92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379476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11480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· URL 공유만으로 전사 확산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895344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2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920" dirty="0"/>
          </a:p>
        </p:txBody>
      </p:sp>
      <p:sp>
        <p:nvSpPr>
          <p:cNvPr id="22" name="Text 20"/>
          <p:cNvSpPr txBox="1"/>
          <p:nvPr/>
        </p:nvSpPr>
        <p:spPr>
          <a:xfrm>
            <a:off x="6775704" y="379476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75704" y="4114800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실데이터 미사용 · 미저장 · 서버 전송 없음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45152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2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92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4544568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불필요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864608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하나로 PC·모바일 즉시 실행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4645152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2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920" dirty="0"/>
          </a:p>
        </p:txBody>
      </p:sp>
      <p:sp>
        <p:nvSpPr>
          <p:cNvPr id="30" name="Text 28"/>
          <p:cNvSpPr txBox="1"/>
          <p:nvPr/>
        </p:nvSpPr>
        <p:spPr>
          <a:xfrm>
            <a:off x="6775704" y="4544568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원문 기준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75704" y="4864608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교육자료가 아닌 약관 PDF를 정본으로 검증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394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2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92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" y="5294376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" y="5614416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신담보·신상품 출시 시 데이터만 교체 · 재추출 스크립트 내장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72200" y="5394960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72200" y="5394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2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🧱</a:t>
            </a:r>
            <a:endParaRPr lang="en-US" sz="1920" dirty="0"/>
          </a:p>
        </p:txBody>
      </p:sp>
      <p:sp>
        <p:nvSpPr>
          <p:cNvPr id="38" name="Text 36"/>
          <p:cNvSpPr txBox="1"/>
          <p:nvPr/>
        </p:nvSpPr>
        <p:spPr>
          <a:xfrm>
            <a:off x="6775704" y="5294376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자체완결 HTML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775704" y="5614416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서버 없이 단일 파일로 동작 · 폐쇄망 대응(명패 제작기)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사내 예산 집행 없이 구축·운영 중 — 외부 위탁 시 요구되는 요건정의·계약·검수 리드타임도 발생하지 않습니다.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8686800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1554480" cy="1554480"/>
          </a:xfrm>
          <a:prstGeom prst="roundRect">
            <a:avLst>
              <a:gd name="adj" fmla="val 23529"/>
            </a:avLst>
          </a:prstGeom>
          <a:solidFill>
            <a:srgbClr val="03B26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B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 도구 6종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 · 보상시뮬레이터 · 상품 라인업 · 프롬프트 · 명패 제작기 · 통합치료비 시뮬레이션</a:t>
            </a:r>
            <a:endParaRPr lang="en-US" sz="1500" dirty="0"/>
          </a:p>
        </p:txBody>
      </p:sp>
      <p:pic>
        <p:nvPicPr>
          <p:cNvPr id="8" name="Image 0" descr="/tmp/claude-0/-home-user-MeAI/ecc740f6-0919-5f47-9404-106c0d41147b/scratchpad/deck/img/zj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1990" y="4206240"/>
            <a:ext cx="1290099" cy="20116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9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A9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서비스 구성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하나 + 영업지원 도구 6개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hunx11-sys.github.io/MeAI · 단일 URL 진입점 · 걱정인형 6종이 M·E·R·I·T·Z 를 상징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" y="1773936"/>
            <a:ext cx="5230368" cy="4178808"/>
          </a:xfrm>
          <a:prstGeom prst="roundRect">
            <a:avLst>
              <a:gd name="adj" fmla="val 2626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6" name="Image 0" descr="/tmp/claude-0/-home-user-MeAI/ecc740f6-0919-5f47-9404-106c0d41147b/scratchpad/deck/crops/index-full_c12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12064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828800"/>
            <a:ext cx="5669280" cy="603504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6053328" y="192024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53328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84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883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139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951건을 질병코드·질병명·특약명으로 검색하고 약관 본문·분류표·보장 분석까지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9601200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/tool.html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2523744"/>
            <a:ext cx="5669280" cy="603504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053328" y="2615184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E5F8E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533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🧮</a:t>
            </a:r>
            <a:endParaRPr lang="en-US" sz="184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보상시뮬레이터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834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질병·사고를 입력하면 진단→검사→수술→입원→치료 순서로 반응하는 특약을 전수 추출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601200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/tool.html#sim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43600" y="3218688"/>
            <a:ext cx="5669280" cy="603504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</p:sp>
      <p:sp>
        <p:nvSpPr>
          <p:cNvPr id="20" name="Shape 17"/>
          <p:cNvSpPr/>
          <p:nvPr/>
        </p:nvSpPr>
        <p:spPr>
          <a:xfrm>
            <a:off x="6053328" y="33101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FF3E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053328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84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3273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라인업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5295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장기상품 50종을 상품구분·심사유형으로 좁히고 알릴의무 표·납입면제·특징을 한 화면에서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E9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/products.html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0" y="3913632"/>
            <a:ext cx="5669280" cy="603504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</p:sp>
      <p:sp>
        <p:nvSpPr>
          <p:cNvPr id="26" name="Shape 23"/>
          <p:cNvSpPr/>
          <p:nvPr/>
        </p:nvSpPr>
        <p:spPr>
          <a:xfrm>
            <a:off x="6053328" y="400507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3F0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5332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184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3968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42245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 바로 쓰는 검증 프롬프트 270개를 대주제·영업단계·소주제로 골라 원클릭 복사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9601200" y="3968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/prompts.html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43600" y="4608576"/>
            <a:ext cx="5669280" cy="603504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053328" y="470001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053328" y="4700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🪧</a:t>
            </a:r>
            <a:endParaRPr lang="en-US" sz="1840" dirty="0"/>
          </a:p>
        </p:txBody>
      </p:sp>
      <p:sp>
        <p:nvSpPr>
          <p:cNvPr id="34" name="Text 31"/>
          <p:cNvSpPr txBox="1"/>
          <p:nvPr/>
        </p:nvSpPr>
        <p:spPr>
          <a:xfrm>
            <a:off x="6583680" y="4663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명패 제작기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583680" y="4919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명단 한 장으로 행사·교육·시상용 명패와 폼텍 라벨을 즉시 생성해 A4로 인쇄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960120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/명패생성기.html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943600" y="5303520"/>
            <a:ext cx="5669280" cy="603504"/>
          </a:xfrm>
          <a:prstGeom prst="roundRect">
            <a:avLst>
              <a:gd name="adj" fmla="val 33333"/>
            </a:avLst>
          </a:prstGeom>
          <a:solidFill>
            <a:srgbClr val="F9FAFB"/>
          </a:solidFill>
          <a:ln/>
        </p:spPr>
      </p:sp>
      <p:sp>
        <p:nvSpPr>
          <p:cNvPr id="38" name="Shape 35"/>
          <p:cNvSpPr/>
          <p:nvPr/>
        </p:nvSpPr>
        <p:spPr>
          <a:xfrm>
            <a:off x="6053328" y="539496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053328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💊</a:t>
            </a:r>
            <a:endParaRPr lang="en-US" sz="1840" dirty="0"/>
          </a:p>
        </p:txBody>
      </p:sp>
      <p:sp>
        <p:nvSpPr>
          <p:cNvPr id="40" name="Text 37"/>
          <p:cNvSpPr txBox="1"/>
          <p:nvPr/>
        </p:nvSpPr>
        <p:spPr>
          <a:xfrm>
            <a:off x="6583680" y="5358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시뮬레이션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583680" y="56144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질병을 고르면 암·뇌·심장 통합치료비 특약 12종이 치료 단계별로 얼마를 지급하는지 계산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9601200" y="5358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/통합치료비.html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10927080" y="5632704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0927080" y="563270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하나만 공유하면 됩니다. 설치·로그인 없이 즉시 실행되며, 「통합치료비 시뮬레이션」이 6번째 도구로 추가되었습니다.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방식으로 동시에 검색 — 질병코드 · 질병명 · 특약명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‘갑상선암’만 입력해도 특약과 질병이 실시간 자동완성으로 뜹니다. 상품(통합간편·케어프리·운전자·치아)과 분류(암 진단·뇌혈관·치아 등)로 즉시 좁힐 수 있습니다.</a:t>
            </a:r>
            <a:endParaRPr lang="en-US" sz="1150" dirty="0"/>
          </a:p>
        </p:txBody>
      </p:sp>
      <p:pic>
        <p:nvPicPr>
          <p:cNvPr id="6" name="Image 0" descr="/tmp/claude-0/-home-user-MeAI/ecc740f6-0919-5f47-9404-106c0d41147b/scratchpad/deck/img/merry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454" y="411480"/>
            <a:ext cx="1056132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" y="2139696"/>
            <a:ext cx="6327648" cy="3995928"/>
          </a:xfrm>
          <a:prstGeom prst="roundRect">
            <a:avLst>
              <a:gd name="adj" fmla="val 2746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8" name="Image 1" descr="/tmp/claude-0/-home-user-MeAI/ecc740f6-0919-5f47-9404-106c0d41147b/scratchpad/deck/img/tool-sear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6217920" cy="388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2194560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0" name="Shape 6"/>
          <p:cNvSpPr/>
          <p:nvPr/>
        </p:nvSpPr>
        <p:spPr>
          <a:xfrm>
            <a:off x="7269480" y="2313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694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🔤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질병코드 · 질병명 · 특약명 검색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C73 · 갑상선암 · 암진단비 — 어느 쪽으로 쳐도 같은 결과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32320" y="2980944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30998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2694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자동완성 · 결과 건수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즉시 특약/질병 후보를 배지로 구분해 제시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132320" y="3767328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0" name="Shape 16"/>
          <p:cNvSpPr/>
          <p:nvPr/>
        </p:nvSpPr>
        <p:spPr>
          <a:xfrm>
            <a:off x="7269480" y="3886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269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8638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· 분류 필터 · 계열 묶기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863840" y="4114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44 · 암 진단 51 · 뇌혈관 51 … 분류별 건수 표시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4553712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5" name="Shape 21"/>
          <p:cNvSpPr/>
          <p:nvPr/>
        </p:nvSpPr>
        <p:spPr>
          <a:xfrm>
            <a:off x="7269480" y="467258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26948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863840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즐겨찾기 · 최근 본 · 특약비교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86384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쓰는 특약 저장, 여러 특약을 나란히 비교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132320" y="5340096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30" name="Shape 26"/>
          <p:cNvSpPr/>
          <p:nvPr/>
        </p:nvSpPr>
        <p:spPr>
          <a:xfrm>
            <a:off x="7269480" y="54589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694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7863840" y="5413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오매칭 방지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687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‘치매’ 검색 시 ‘치매제외’ 특약은 자동 배제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01 · 특약검색기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본문 · 분류표 · 보장 분석까지 한 화면에서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688211"/>
            <a:ext cx="5870448" cy="3710178"/>
          </a:xfrm>
          <a:prstGeom prst="roundRect">
            <a:avLst>
              <a:gd name="adj" fmla="val 2957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5" name="Image 0" descr="/tmp/claude-0/-home-user-MeAI/ecc740f6-0919-5f47-9404-106c0d41147b/scratchpad/deck/img/tool-ri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3075"/>
            <a:ext cx="5760720" cy="3600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9431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194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205472" y="173736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본문 951건 · 분류표 216개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205472" y="217170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PDF 원문에서 특약 제목 기준으로 재추출 → 잘림 없는 전문 · 관련 KCD 코드·질병명 자동 연결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0" y="28849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0" y="28849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205472" y="2679192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사각지대 자동 검출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205472" y="3113532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“뇌졸중” 중 I63 뇌경색증 미보장처럼 일부만 보장되는 병명을 코드로 적시하고, 메우는 특약을 추천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0" y="382676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83680" y="38267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⤴️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205472" y="3621024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상위호환 특약 제안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205472" y="4055364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질병을 전부 포함하고 더 넓게 보장하는 특약을 포함관계로 증명해 업셀링 근거 제시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0" y="476859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EEE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0" y="47685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205472" y="4562856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프롬프트 복사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205472" y="4997196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실데이터를 주입한 완성형 프롬프트를 클릭 한 번에 복사 → MeAI에 붙여넣기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5486400"/>
            <a:ext cx="2697480" cy="566928"/>
          </a:xfrm>
          <a:prstGeom prst="roundRect">
            <a:avLst>
              <a:gd name="adj" fmla="val 35484"/>
            </a:avLst>
          </a:prstGeom>
          <a:solidFill>
            <a:srgbClr val="FFEEE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5486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54864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표적항암 6종류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364992" y="5486400"/>
            <a:ext cx="2697480" cy="566928"/>
          </a:xfrm>
          <a:prstGeom prst="roundRect">
            <a:avLst>
              <a:gd name="adj" fmla="val 35484"/>
            </a:avLst>
          </a:prstGeom>
          <a:solidFill>
            <a:srgbClr val="FFEEE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502152" y="5486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💉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005072" y="54864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수술비 3종 비교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81344" y="5486400"/>
            <a:ext cx="2697480" cy="566928"/>
          </a:xfrm>
          <a:prstGeom prst="roundRect">
            <a:avLst>
              <a:gd name="adj" fmla="val 35484"/>
            </a:avLst>
          </a:prstGeom>
          <a:solidFill>
            <a:srgbClr val="FFEEE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18504" y="5486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821424" y="54864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상급종합 지도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997696" y="5486400"/>
            <a:ext cx="2697480" cy="566928"/>
          </a:xfrm>
          <a:prstGeom prst="roundRect">
            <a:avLst>
              <a:gd name="adj" fmla="val 35484"/>
            </a:avLst>
          </a:prstGeom>
          <a:solidFill>
            <a:srgbClr val="FFEEE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34856" y="5486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9637776" y="54864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히스토리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보상시뮬레이터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질병·사고를 입력하면 어떤 특약에서 보상받는지, 치료 여정 순서대로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위암 · 뇌졸중 · 골절처럼 병명이나 KCD 코드, 초성만 쳐도 됩니다. 자주 찾는 질병·사고 26종은 원클릭.</a:t>
            </a:r>
            <a:endParaRPr lang="en-US" sz="1150" dirty="0"/>
          </a:p>
        </p:txBody>
      </p:sp>
      <p:pic>
        <p:nvPicPr>
          <p:cNvPr id="6" name="Image 0" descr="/tmp/claude-0/-home-user-MeAI/ecc740f6-0919-5f47-9404-106c0d41147b/scratchpad/deck/img/eco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0337" y="411480"/>
            <a:ext cx="1096366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" y="2139696"/>
            <a:ext cx="6327648" cy="3995928"/>
          </a:xfrm>
          <a:prstGeom prst="roundRect">
            <a:avLst>
              <a:gd name="adj" fmla="val 2746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8" name="Image 1" descr="/tmp/claude-0/-home-user-MeAI/ecc740f6-0919-5f47-9404-106c0d41147b/scratchpad/deck/img/tool-si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6217920" cy="388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2194560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0" name="Shape 6"/>
          <p:cNvSpPr/>
          <p:nvPr/>
        </p:nvSpPr>
        <p:spPr>
          <a:xfrm>
            <a:off x="7269480" y="2313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8E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694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🩺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검색 · 자동완성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병명·KCD 코드·초성 모두 지원, ‘위암’만 입력해도 C16 매칭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32320" y="2980944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30998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8E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2694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🧭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 여정 타임라인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→ 검사 → 수술 → 입원 → 치료 → 재활 단계별 특약 배치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132320" y="3767328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0" name="Shape 16"/>
          <p:cNvSpPr/>
          <p:nvPr/>
        </p:nvSpPr>
        <p:spPr>
          <a:xfrm>
            <a:off x="7269480" y="3886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8E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269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8638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매칭 · 상품별 분류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863840" y="4114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반응하는 특약을 빠짐없이 추출, 모든 질병 공통 특약도 표시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4553712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5" name="Shape 21"/>
          <p:cNvSpPr/>
          <p:nvPr/>
        </p:nvSpPr>
        <p:spPr>
          <a:xfrm>
            <a:off x="7269480" y="467258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8E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26948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🔪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863840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수술종류 자동 분류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86384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1-5종·1-7종 수술분류표 원문 기준으로 종수 제시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132320" y="5340096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30" name="Shape 26"/>
          <p:cNvSpPr/>
          <p:nvPr/>
        </p:nvSpPr>
        <p:spPr>
          <a:xfrm>
            <a:off x="7269480" y="54589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8E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694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7863840" y="5413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부분보장 경고 → 업셀링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687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일부만 보장되면 미보장을 코드로 적시, 빈 단계가 판매 근거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E9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라인업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장기상품 50종을 조건으로 좁히고, 알릴의무 표를 바로 확인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상품구분(통합·간편·전용·단품·펫·재물·실손)과 심사·고지유형(일반·간편·건강고지·태아·단체·화재·반려동물)으로 필터링. 상품명을 누르면 상세가 펼쳐집니다.</a:t>
            </a:r>
            <a:endParaRPr lang="en-US" sz="1150" dirty="0"/>
          </a:p>
        </p:txBody>
      </p:sp>
      <p:pic>
        <p:nvPicPr>
          <p:cNvPr id="6" name="Image 0" descr="/tmp/claude-0/-home-user-MeAI/ecc740f6-0919-5f47-9404-106c0d41147b/scratchpad/deck/img/rara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1505" y="411480"/>
            <a:ext cx="694030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" y="2139696"/>
            <a:ext cx="6327648" cy="3995928"/>
          </a:xfrm>
          <a:prstGeom prst="roundRect">
            <a:avLst>
              <a:gd name="adj" fmla="val 2746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8" name="Image 1" descr="/tmp/claude-0/-home-user-MeAI/ecc740f6-0919-5f47-9404-106c0d41147b/scratchpad/deck/img/products-det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6217920" cy="388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2194560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0" name="Shape 6"/>
          <p:cNvSpPr/>
          <p:nvPr/>
        </p:nvSpPr>
        <p:spPr>
          <a:xfrm>
            <a:off x="7269480" y="2313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E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694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🔘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필터 33개 · 실시간 건수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내 OR · 그룹 간 AND, 조건 바꾸는 즉시 상품 수 표시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32320" y="2980944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30998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E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2694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알릴의무 표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기간/고지대상 2열 표 · 고지유형 배지 · 예외·특례 분리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132320" y="3767328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0" name="Shape 16"/>
          <p:cNvSpPr/>
          <p:nvPr/>
        </p:nvSpPr>
        <p:spPr>
          <a:xfrm>
            <a:off x="7269480" y="3886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E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269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💊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8638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납입면제 · 인수플랜 · 상품특징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863840" y="4114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상품별 면제 요건과 핵심 소구 포인트 정리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4553712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5" name="Shape 21"/>
          <p:cNvSpPr/>
          <p:nvPr/>
        </p:nvSpPr>
        <p:spPr>
          <a:xfrm>
            <a:off x="7269480" y="467258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E0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26948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863840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알릴의무 유형별 역방향 탐색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86384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병력이면 어떤 상품?” 유병자 상담 대응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132320" y="5340096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30" name="Shape 26"/>
          <p:cNvSpPr/>
          <p:nvPr/>
        </p:nvSpPr>
        <p:spPr>
          <a:xfrm>
            <a:off x="7269480" y="54589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E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694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7863840" y="5413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상품명·특징·플랜·고지내용 검색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687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검색어 하나로 상품 전체를 훑기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270개 프롬프트 · 3중 필터 · 원클릭 복사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대주제(상품지식·실전영업·배경지식·업무지원) × 영업단계(고객발굴 → 사후관리) × 소주제로 ‘지금 상황’에 맞는 프롬프트를 바로 찾습니다.</a:t>
            </a:r>
            <a:endParaRPr lang="en-US" sz="1150" dirty="0"/>
          </a:p>
        </p:txBody>
      </p:sp>
      <p:pic>
        <p:nvPicPr>
          <p:cNvPr id="6" name="Image 0" descr="/tmp/claude-0/-home-user-MeAI/ecc740f6-0919-5f47-9404-106c0d41147b/scratchpad/deck/img/indi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5717" y="411480"/>
            <a:ext cx="965606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" y="2139696"/>
            <a:ext cx="6327648" cy="3995928"/>
          </a:xfrm>
          <a:prstGeom prst="roundRect">
            <a:avLst>
              <a:gd name="adj" fmla="val 2746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8" name="Image 1" descr="/tmp/claude-0/-home-user-MeAI/ecc740f6-0919-5f47-9404-106c0d41147b/scratchpad/deck/img/promp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6217920" cy="388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2194560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0" name="Shape 6"/>
          <p:cNvSpPr/>
          <p:nvPr/>
        </p:nvSpPr>
        <p:spPr>
          <a:xfrm>
            <a:off x="7269480" y="2313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3F0F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694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3중 필터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대주제 · 영업단계 · 소주제 + 해시태그 · 키워드 검색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32320" y="2980944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30998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3F0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2694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원클릭 복사 → MeAI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눌러 전문 확인, 복사 후 MeAI에 붙여넣기만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132320" y="3767328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0" name="Shape 16"/>
          <p:cNvSpPr/>
          <p:nvPr/>
        </p:nvSpPr>
        <p:spPr>
          <a:xfrm>
            <a:off x="7269480" y="3886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3F0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269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8638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최적화 문구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863840" y="4114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영업 상황에 맞춰 검증된 270개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4553712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5" name="Shape 21"/>
          <p:cNvSpPr/>
          <p:nvPr/>
        </p:nvSpPr>
        <p:spPr>
          <a:xfrm>
            <a:off x="7269480" y="467258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3F0F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26948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863840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검색기·시뮬레이터 연동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86384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결과를 프롬프트에 결합하면 보장분석·리모델링 완성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명패 제작기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명단 한 장 → 프리미엄 명패 자동 생성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삼각대 명패 150×70mm는 A4 한 장에 4개, 폼텍 라벨 스티커 규격으로 바꾸면 이름표·좌석표·명찰까지. 외부 연결 0으로 폐쇄망·오프라인에서 그대로 동작합니다.</a:t>
            </a:r>
            <a:endParaRPr lang="en-US" sz="1150" dirty="0"/>
          </a:p>
        </p:txBody>
      </p:sp>
      <p:pic>
        <p:nvPicPr>
          <p:cNvPr id="6" name="Image 0" descr="/tmp/claude-0/-home-user-MeAI/ecc740f6-0919-5f47-9404-106c0d41147b/scratchpad/deck/img/tata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6710" y="411480"/>
            <a:ext cx="623621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" y="2139696"/>
            <a:ext cx="6327648" cy="3995928"/>
          </a:xfrm>
          <a:prstGeom prst="roundRect">
            <a:avLst>
              <a:gd name="adj" fmla="val 2746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8" name="Image 1" descr="/tmp/claude-0/-home-user-MeAI/ecc740f6-0919-5f47-9404-106c0d41147b/scratchpad/deck/img/namepla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6217920" cy="388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2194560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0" name="Shape 6"/>
          <p:cNvSpPr/>
          <p:nvPr/>
        </p:nvSpPr>
        <p:spPr>
          <a:xfrm>
            <a:off x="7269480" y="2313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694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📂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첫 줄 = 제목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이름·소속·기타(직함) 열만 있으면 자동 조판 · 샘플 양식 제공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32320" y="2980944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30998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2694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행사명 · 테마 · 글꼴 · 로고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라이트/다크 · 이름 글꼴 5종 · 공식 로고 · 재단선 on/off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132320" y="3767328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0" name="Shape 16"/>
          <p:cNvSpPr/>
          <p:nvPr/>
        </p:nvSpPr>
        <p:spPr>
          <a:xfrm>
            <a:off x="7269480" y="3886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269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🏷️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8638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폼텍 라벨 규격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863840" y="4114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제품번호 선택 시 칸 배치 자동 · 미세조정 · 시험 출력 안내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4553712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5" name="Shape 21"/>
          <p:cNvSpPr/>
          <p:nvPr/>
        </p:nvSpPr>
        <p:spPr>
          <a:xfrm>
            <a:off x="7269480" y="467258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26948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🖨️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863840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A4 인쇄 / PDF 저장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86384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미리보기가 그대로 인쇄, 인쇄창에서 PDF 저장 가능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132320" y="5340096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30" name="Shape 26"/>
          <p:cNvSpPr/>
          <p:nvPr/>
        </p:nvSpPr>
        <p:spPr>
          <a:xfrm>
            <a:off x="7269480" y="54589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694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7863840" y="5413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미저장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687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명단은 화면에서만 처리 · 서버 전송·저장 없음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시뮬레이션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“위암이면 통합치료비로 얼마 받아요?” — 치료 단계별로 즉답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통합간편건강보험 2607 약관의 통합치료비 특약 12종(암 9 · 뇌심장 3)을 지급금액표 그대로 계산합니다. 질병명·KCD·초성 검색, 자주 찾는 질병 원클릭.</a:t>
            </a:r>
            <a:endParaRPr lang="en-US" sz="1150" dirty="0"/>
          </a:p>
        </p:txBody>
      </p:sp>
      <p:pic>
        <p:nvPicPr>
          <p:cNvPr id="6" name="Image 0" descr="/tmp/claude-0/-home-user-MeAI/ecc740f6-0919-5f47-9404-106c0d41147b/scratchpad/deck/img/zj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4733" y="411480"/>
            <a:ext cx="967574" cy="1508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" y="2139696"/>
            <a:ext cx="6327648" cy="3995928"/>
          </a:xfrm>
          <a:prstGeom prst="roundRect">
            <a:avLst>
              <a:gd name="adj" fmla="val 2746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8" name="Image 1" descr="/tmp/claude-0/-home-user-MeAI/ecc740f6-0919-5f47-9404-106c0d41147b/scratchpad/deck/img/sim-resul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6217920" cy="388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0" y="2194560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0" name="Shape 6"/>
          <p:cNvSpPr/>
          <p:nvPr/>
        </p:nvSpPr>
        <p:spPr>
          <a:xfrm>
            <a:off x="7269480" y="2313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694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통합치료비 조합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조합(암 기본형 1억 · 암전후 4천 · 특정순환계 1억 · 주요손상 3천)을 자유롭게 변경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32320" y="2980944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30998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2694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🧭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86384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질병별 다빈도 치료 과정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위암: 내시경 절제 / 로봇 절제+항암 / 진행성 / 전이·재발 — 골라서 비교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132320" y="3767328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0" name="Shape 16"/>
          <p:cNvSpPr/>
          <p:nvPr/>
        </p:nvSpPr>
        <p:spPr>
          <a:xfrm>
            <a:off x="7269480" y="3886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269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78638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동안 받는 통합치료비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863840" y="4114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검사·수술·항암·비급여 항목별 지급액을 특약별로 합산, 연간 한도 자동 적용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4553712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25" name="Shape 21"/>
          <p:cNvSpPr/>
          <p:nvPr/>
        </p:nvSpPr>
        <p:spPr>
          <a:xfrm>
            <a:off x="7269480" y="467258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26948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7863840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후 1년 이내 토글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863840" y="49011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감액(50%) 특약과 암 90일 대기 반영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132320" y="5340096"/>
            <a:ext cx="4480560" cy="694944"/>
          </a:xfrm>
          <a:prstGeom prst="roundRect">
            <a:avLst>
              <a:gd name="adj" fmla="val 28947"/>
            </a:avLst>
          </a:prstGeom>
          <a:solidFill>
            <a:srgbClr val="F9FAFB"/>
          </a:solidFill>
          <a:ln/>
        </p:spPr>
      </p:sp>
      <p:sp>
        <p:nvSpPr>
          <p:cNvPr id="30" name="Shape 26"/>
          <p:cNvSpPr/>
          <p:nvPr/>
        </p:nvSpPr>
        <p:spPr>
          <a:xfrm>
            <a:off x="7269480" y="54589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6948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🧺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7863840" y="5413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조합 만들기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687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받을 치료를 직접 담아 반복 치료까지 계산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약관 : 무배당 메리츠 통합간편건강보험(세만기형) 2607 통합간편심사형 · 예시 금액은 약관 지급금액표 기준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06 · 통합치료비 시뮬레이션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 행위마다 “어느 특약에서 얼마” — 쉬운 말 풀이와 함께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682496"/>
            <a:ext cx="4041648" cy="4407408"/>
          </a:xfrm>
          <a:prstGeom prst="roundRect">
            <a:avLst>
              <a:gd name="adj" fmla="val 2715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5" name="Image 0" descr="/tmp/claude-0/-home-user-MeAI/ecc740f6-0919-5f47-9404-106c0d41147b/scratchpad/deck/crops/sim-result-full_c17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9319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08576" y="1682496"/>
            <a:ext cx="3401568" cy="2167128"/>
          </a:xfrm>
          <a:prstGeom prst="roundRect">
            <a:avLst>
              <a:gd name="adj" fmla="val 5063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7" name="Image 1" descr="/tmp/claude-0/-home-user-MeAI/ecc740f6-0919-5f47-9404-106c0d41147b/scratchpad/deck/img/sim-comb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3291840" cy="2057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08576" y="3922776"/>
            <a:ext cx="3401568" cy="2167128"/>
          </a:xfrm>
          <a:prstGeom prst="roundRect">
            <a:avLst>
              <a:gd name="adj" fmla="val 5063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9" name="Image 2" descr="/tmp/claude-0/-home-user-MeAI/ecc740f6-0919-5f47-9404-106c0d41147b/scratchpad/deck/img/sim-build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977640"/>
            <a:ext cx="3291840" cy="20574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183880" y="19385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18388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1840" dirty="0"/>
          </a:p>
        </p:txBody>
      </p:sp>
      <p:sp>
        <p:nvSpPr>
          <p:cNvPr id="12" name="Text 7"/>
          <p:cNvSpPr txBox="1"/>
          <p:nvPr/>
        </p:nvSpPr>
        <p:spPr>
          <a:xfrm>
            <a:off x="8769096" y="173736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 단계별 금액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8769096" y="214884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특약·항목·횟수·금액을 표시. “같은 해 두 번째 검사라 0원” 같은 사유까지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183880" y="281635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1838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❓</a:t>
            </a:r>
            <a:endParaRPr lang="en-US" sz="1840" dirty="0"/>
          </a:p>
        </p:txBody>
      </p:sp>
      <p:sp>
        <p:nvSpPr>
          <p:cNvPr id="16" name="Text 11"/>
          <p:cNvSpPr txBox="1"/>
          <p:nvPr/>
        </p:nvSpPr>
        <p:spPr>
          <a:xfrm>
            <a:off x="8769096" y="2615184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용어 쉬운 풀이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8769096" y="3026664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ESD · IMRT · ECMO 등 치료명을 누르면 한 줄 설명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183880" y="369417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18388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en-US" sz="1840" dirty="0"/>
          </a:p>
        </p:txBody>
      </p:sp>
      <p:sp>
        <p:nvSpPr>
          <p:cNvPr id="20" name="Text 15"/>
          <p:cNvSpPr txBox="1"/>
          <p:nvPr/>
        </p:nvSpPr>
        <p:spPr>
          <a:xfrm>
            <a:off x="8769096" y="349300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바꾸기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769096" y="390448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계열 · 뇌심장 계열 12종을 스위치로 켜고 가입금액 구간 선택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183880" y="457200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18388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🧺</a:t>
            </a:r>
            <a:endParaRPr lang="en-US" sz="1840" dirty="0"/>
          </a:p>
        </p:txBody>
      </p:sp>
      <p:sp>
        <p:nvSpPr>
          <p:cNvPr id="24" name="Text 19"/>
          <p:cNvSpPr txBox="1"/>
          <p:nvPr/>
        </p:nvSpPr>
        <p:spPr>
          <a:xfrm>
            <a:off x="8769096" y="437083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만드는 치료 조합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8769096" y="478231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검사·수술·항암을 직접 담아 “이 치료 과정이면” 즉시 합계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8183880" y="5449824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183880" y="5449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📌</a:t>
            </a:r>
            <a:endParaRPr lang="en-US" sz="1840" dirty="0"/>
          </a:p>
        </p:txBody>
      </p:sp>
      <p:sp>
        <p:nvSpPr>
          <p:cNvPr id="28" name="Text 23"/>
          <p:cNvSpPr txBox="1"/>
          <p:nvPr/>
        </p:nvSpPr>
        <p:spPr>
          <a:xfrm>
            <a:off x="8769096" y="5248656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비급여 · 병원조건 · 표적항암 배지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8769096" y="5660136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 조건이 다른 항목은 배지로 구분, 미지급 사유를 문장으로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06 · 통합치료비 시뮬레이션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치료 계획 · 가입금액 비교 · 보장표 — 설계 근거가 숫자로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682496"/>
            <a:ext cx="4041648" cy="4407408"/>
          </a:xfrm>
          <a:prstGeom prst="roundRect">
            <a:avLst>
              <a:gd name="adj" fmla="val 2715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5" name="Image 0" descr="/tmp/claude-0/-home-user-MeAI/ecc740f6-0919-5f47-9404-106c0d41147b/scratchpad/deck/crops/sim-breast-full_c17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9319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08576" y="1682496"/>
            <a:ext cx="3401568" cy="2167128"/>
          </a:xfrm>
          <a:prstGeom prst="roundRect">
            <a:avLst>
              <a:gd name="adj" fmla="val 5063"/>
            </a:avLst>
          </a:prstGeom>
          <a:solidFill>
            <a:srgbClr val="E5E8EB"/>
          </a:solidFill>
          <a:ln/>
          <a:effectLst>
            <a:outerShdw sx="100000" sy="100000" kx="0" ky="0" algn="bl" rotWithShape="0" blurRad="177800" dist="38100" dir="5400000">
              <a:srgbClr val="0B1F3A">
                <a:alpha val="16000"/>
              </a:srgbClr>
            </a:outerShdw>
          </a:effectLst>
        </p:spPr>
      </p:sp>
      <p:pic>
        <p:nvPicPr>
          <p:cNvPr id="7" name="Image 1" descr="/tmp/claude-0/-home-user-MeAI/ecc740f6-0919-5f47-9404-106c0d41147b/scratchpad/deck/img/sim-matri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3291840" cy="2057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3977640"/>
            <a:ext cx="1600200" cy="2057400"/>
          </a:xfrm>
          <a:prstGeom prst="roundRect">
            <a:avLst>
              <a:gd name="adj" fmla="val 12571"/>
            </a:avLst>
          </a:prstGeom>
          <a:solidFill>
            <a:srgbClr val="F9FAF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937760" y="4206240"/>
            <a:ext cx="10515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12종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515493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수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937760" y="5493258"/>
            <a:ext cx="105156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9 · 뇌심장 3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55080" y="3977640"/>
            <a:ext cx="1600200" cy="2057400"/>
          </a:xfrm>
          <a:prstGeom prst="roundRect">
            <a:avLst>
              <a:gd name="adj" fmla="val 12571"/>
            </a:avLst>
          </a:prstGeom>
          <a:solidFill>
            <a:srgbClr val="F9FAF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629400" y="4206240"/>
            <a:ext cx="10515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DB2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30+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515493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 예시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5493258"/>
            <a:ext cx="105156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암·뇌·심장·양성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3880" y="19385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18388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📆</a:t>
            </a:r>
            <a:endParaRPr lang="en-US" sz="1840" dirty="0"/>
          </a:p>
        </p:txBody>
      </p:sp>
      <p:sp>
        <p:nvSpPr>
          <p:cNvPr id="18" name="Text 14"/>
          <p:cNvSpPr txBox="1"/>
          <p:nvPr/>
        </p:nvSpPr>
        <p:spPr>
          <a:xfrm>
            <a:off x="8769096" y="173736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치료 계획으로 보면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8769096" y="214884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재발·전이로 치료가 이어지는 경우, 해마다 연간 한도가 새로 적용되어 5년 합계를 산출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183880" y="281635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1838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40" dirty="0"/>
          </a:p>
        </p:txBody>
      </p:sp>
      <p:sp>
        <p:nvSpPr>
          <p:cNvPr id="22" name="Text 18"/>
          <p:cNvSpPr txBox="1"/>
          <p:nvPr/>
        </p:nvSpPr>
        <p:spPr>
          <a:xfrm>
            <a:off x="8769096" y="2615184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가입금액을 바꾸면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8769096" y="3026664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치료 과정을 4천만·8천만·1억 구간별로 계산, 누르면 조합에 즉시 반영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183880" y="369417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18388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40" dirty="0"/>
          </a:p>
        </p:txBody>
      </p:sp>
      <p:sp>
        <p:nvSpPr>
          <p:cNvPr id="26" name="Text 22"/>
          <p:cNvSpPr txBox="1"/>
          <p:nvPr/>
        </p:nvSpPr>
        <p:spPr>
          <a:xfrm>
            <a:off x="8769096" y="349300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보장표 보기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8769096" y="3904488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특약별 통합치료항목 × 가입금액 지급금액표 · 지금 과정에서 지급되는 항목 표시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183880" y="457200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18388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1840" dirty="0"/>
          </a:p>
        </p:txBody>
      </p:sp>
      <p:sp>
        <p:nvSpPr>
          <p:cNvPr id="30" name="Text 26"/>
          <p:cNvSpPr txBox="1"/>
          <p:nvPr/>
        </p:nvSpPr>
        <p:spPr>
          <a:xfrm>
            <a:off x="8769096" y="437083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알아두세요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8769096" y="478231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1회 한도 · 경피적 시술의 수술 인정 · 호르몬 치료제 제외 등 약관 유의사항 자동 안내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183880" y="5449824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CE7F3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83880" y="5449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4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840" dirty="0"/>
          </a:p>
        </p:txBody>
      </p:sp>
      <p:sp>
        <p:nvSpPr>
          <p:cNvPr id="34" name="Text 30"/>
          <p:cNvSpPr txBox="1"/>
          <p:nvPr/>
        </p:nvSpPr>
        <p:spPr>
          <a:xfrm>
            <a:off x="8769096" y="5248656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대화로 연결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8769096" y="5660136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“1억으로 올리면 이 치료에서 +250만원” — 증액·추가 가입 근거가 숫자로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효과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개 도구가 하나의 영업 흐름으로 연결됩니다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1174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26894" y="201168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26894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1715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라인업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07208"/>
            <a:ext cx="1715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조건에 맞는 상품과 알릴의무를 고른다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29814" y="178308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94406" y="1783080"/>
            <a:ext cx="2081174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2995574" y="1984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9557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72661" y="201168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72661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95574" y="2532888"/>
            <a:ext cx="1715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95574" y="2807208"/>
            <a:ext cx="1715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상품의 특약·보장범위·사각지대 확인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75581" y="178308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40173" y="1783080"/>
            <a:ext cx="2081174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241341" y="1984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41341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🧮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618427" y="201168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18427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241341" y="2532888"/>
            <a:ext cx="1715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보상시뮬레이터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41341" y="2807208"/>
            <a:ext cx="1715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 여정별 보장·공백을 진단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21347" y="178308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285939" y="1783080"/>
            <a:ext cx="2081174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7487107" y="1984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87107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💊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864194" y="201168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864194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87107" y="2532888"/>
            <a:ext cx="1715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시뮬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87107" y="2807208"/>
            <a:ext cx="1715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치료비 특약을 얼마로 설계할지 숫자로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367114" y="178308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531706" y="1783080"/>
            <a:ext cx="2081174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9732874" y="1984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3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73287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1109960" y="2011680"/>
            <a:ext cx="292608" cy="29260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10996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732874" y="2532888"/>
            <a:ext cx="1715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프롬프트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732874" y="2807208"/>
            <a:ext cx="17154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보장분석·리모델링 제안을 완성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3840480"/>
            <a:ext cx="11064240" cy="1371600"/>
          </a:xfrm>
          <a:prstGeom prst="roundRect">
            <a:avLst>
              <a:gd name="adj" fmla="val 14667"/>
            </a:avLst>
          </a:prstGeom>
          <a:solidFill>
            <a:srgbClr val="E5F8E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8680" y="3977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: 신인도 베테랑과 같은 정보로, 같은 수준의 보장분석·리모델링 제안을 할 수 있습니다.</a:t>
            </a:r>
            <a:endParaRPr lang="en-US" sz="1300" dirty="0"/>
          </a:p>
          <a:p>
            <a:pPr algn="l" indent="0" marL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간 결과가 서로의 입력값이 되므로 개별 도구의 합보다 큰 효과가 발생하고, MeAI 활용 환경이 자연스럽게 구축됩니다. 명패 제작기는 교육·행사 운영 공수를 줄여 조직관리 시간을 되돌려 줍니다.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5486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🪧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1170432" y="5394960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명패 제작기 — 조직 운영 도구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170432" y="5715000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위촉·환영식 · 집합교육 · 시상 — 엑셀 한 장으로 즉시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72200" y="5486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17220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6793992" y="5394960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하나 — URL 하나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793992" y="5715000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6개 · 걱정인형 6종 · 각 도구에서 🏠 대문으로 복귀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8686800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1554480" cy="1554480"/>
          </a:xfrm>
          <a:prstGeom prst="roundRect">
            <a:avLst>
              <a:gd name="adj" fmla="val 23529"/>
            </a:avLst>
          </a:prstGeom>
          <a:solidFill>
            <a:srgbClr val="FE98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B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신뢰성과 현장 반응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원문 대조로 검증한 특약 951건 · 분류표 216개 · 통합치료비 금액표 12종</a:t>
            </a:r>
            <a:endParaRPr lang="en-US" sz="1500" dirty="0"/>
          </a:p>
        </p:txBody>
      </p:sp>
      <p:pic>
        <p:nvPicPr>
          <p:cNvPr id="8" name="Image 0" descr="/tmp/claude-0/-home-user-MeAI/ecc740f6-0919-5f47-9404-106c0d41147b/scratchpad/deck/img/rara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4354" y="4206240"/>
            <a:ext cx="925373" cy="20116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9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A9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데이터 신뢰성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원문 대조로 검증한 951건 · 분류표 216개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1031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951건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386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정본 대조 검증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76956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통합간편·케어프리·운전자·치아 4종 약관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51760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965960"/>
            <a:ext cx="21031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216개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386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분류표(별표) 전수 연결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076956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미연결·유령 참조 0건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51760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965960"/>
            <a:ext cx="21031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E9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935건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386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본문이 문장으로 끝남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076956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잘림 복구 909건 (42 → 935)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697480" cy="1737360"/>
          </a:xfrm>
          <a:prstGeom prst="roundRect">
            <a:avLst>
              <a:gd name="adj" fmla="val 11579"/>
            </a:avLst>
          </a:prstGeom>
          <a:solidFill>
            <a:srgbClr val="F9FA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89720" y="1965960"/>
            <a:ext cx="214884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87건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7386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질병코드 매핑 정정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076956"/>
            <a:ext cx="2148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C64 신장암 누락 등 수정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896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6896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3657600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PDF 정본 대조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872484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통합간편 2607 · 케어프리 M-Basket 2607 · 운전자 2608 · 치아 2601 원문과 1:1 검증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55948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155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✂️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4123944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조판 잘림 복원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4338828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제목 위치 기준으로 다음 특약까지 재추출 → 909건의 준용규정 잘림 복구, 페이지 번호 97건 보정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2229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46222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🧬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78992" y="4590288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오수집 코드 정정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4805172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통합암 분류표의 C64(신장암) 누락, 제자리암 D00~D09 누락, 제외코드 오등록 등 87건 정정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08863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0886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78992" y="5056632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재실행 가능한 복구 스크립트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" y="5271516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판 약관이 나오면 PDF만 올리고 스크립트를 돌려 같은 방식으로 갱신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55498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55549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91F2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078992" y="5522976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곧 점검 도구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8992" y="5737860"/>
            <a:ext cx="1053388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부분보장·상위호환·시뮬레이션 로직이 데이터 오류를 역검출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도구의 신뢰도는 데이터 정합성에서 나옵니다 — 통합치료비 금액표 12종도 약관 지급금액표(가입금액별)를 그대로 옮겼습니다.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현장 반응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배포 전인데, 현장이 먼저 찾았습니다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4681"/>
            </a:avLst>
          </a:prstGeom>
          <a:solidFill>
            <a:srgbClr val="E8F3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8,066</a:t>
            </a:r>
            <a:pPr algn="l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배포·교육 없이 입소문만으로 — 단 26일 만에 기록한 누적 조회 (도구 5종 시절 집계)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「통합치료비 시뮬레이션」 추가 · 특약 데이터 951건으로 확장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2697480" cy="2057400"/>
          </a:xfrm>
          <a:prstGeom prst="roundRect">
            <a:avLst>
              <a:gd name="adj" fmla="val 9778"/>
            </a:avLst>
          </a:prstGeom>
          <a:solidFill>
            <a:srgbClr val="F9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965960"/>
            <a:ext cx="214884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1,010회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91465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최대 사용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25297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배포·교육 전 최고치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15400" y="1737360"/>
            <a:ext cx="2697480" cy="2057400"/>
          </a:xfrm>
          <a:prstGeom prst="roundRect">
            <a:avLst>
              <a:gd name="adj" fmla="val 9778"/>
            </a:avLst>
          </a:prstGeom>
          <a:solidFill>
            <a:srgbClr val="F9FA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1965960"/>
            <a:ext cx="214884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E9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26일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91465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매일 사용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325297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반복적으로 활용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3977640"/>
            <a:ext cx="2697480" cy="2057400"/>
          </a:xfrm>
          <a:prstGeom prst="roundRect">
            <a:avLst>
              <a:gd name="adj" fmla="val 9778"/>
            </a:avLst>
          </a:prstGeom>
          <a:solidFill>
            <a:srgbClr val="F9FA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4206240"/>
            <a:ext cx="214884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1·2위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515493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 · 검색기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54932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도구가 사용 견인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3977640"/>
            <a:ext cx="2697480" cy="2057400"/>
          </a:xfrm>
          <a:prstGeom prst="roundRect">
            <a:avLst>
              <a:gd name="adj" fmla="val 9778"/>
            </a:avLst>
          </a:prstGeom>
          <a:solidFill>
            <a:srgbClr val="F9FA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4206240"/>
            <a:ext cx="214884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515493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수집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54932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없이 익명 집계만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8686800"/>
          </a:xfrm>
          <a:prstGeom prst="rect">
            <a:avLst/>
          </a:prstGeom>
          <a:solidFill>
            <a:srgbClr val="111C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1554480" cy="155448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B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기대효과와 로드맵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개 도구가 만들어내는 정량·정성 효과</a:t>
            </a:r>
            <a:endParaRPr lang="en-US" sz="1500" dirty="0"/>
          </a:p>
        </p:txBody>
      </p:sp>
      <p:pic>
        <p:nvPicPr>
          <p:cNvPr id="8" name="Image 0" descr="/tmp/claude-0/-home-user-MeAI/ecc740f6-0919-5f47-9404-106c0d41147b/scratchpad/deck/img/indi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302" y="4206240"/>
            <a:ext cx="1287475" cy="20116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9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A9B4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 01 · 업무효율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되돌려 드립니다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97680"/>
          </a:xfrm>
          <a:prstGeom prst="roundRect">
            <a:avLst>
              <a:gd name="adj" fmla="val 4681"/>
            </a:avLst>
          </a:prstGeom>
          <a:solidFill>
            <a:srgbClr val="F9FA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절감액 = 상담건수 × 절감시간 × 인원 × 인건비 × 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2.63억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상당의 업무시간 절감 추정 (연간 약 20.8만 시간)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605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 시간은 곧 상담 활동 시간입니다. 영업가족뿐 아니라 매니저·본부장의 확인·검수 시간도 함께 줄어들며, 통합치료비처럼 계산이 복잡한 특약일수록 절감 폭이 큽니다.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4023360" cy="4297680"/>
          </a:xfrm>
          <a:prstGeom prst="roundRect">
            <a:avLst>
              <a:gd name="adj" fmla="val 5000"/>
            </a:avLst>
          </a:prstGeom>
          <a:solidFill>
            <a:srgbClr val="E8F3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7744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월 상담 3건</a:t>
            </a:r>
            <a:endParaRPr lang="en-US" sz="125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확인 10분 → 30초 (9.5분↓)</a:t>
            </a:r>
            <a:endParaRPr lang="en-US" sz="125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3,667명 (TA채널 월 활동 기준)</a:t>
            </a:r>
            <a:endParaRPr lang="en-US" sz="125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시간당 인건비 1.25만원</a:t>
            </a:r>
            <a:endParaRPr lang="en-US" sz="125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반복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 02 · 매출증진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즉답이 곧 계약체결로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97680"/>
          </a:xfrm>
          <a:prstGeom prst="roundRect">
            <a:avLst>
              <a:gd name="adj" fmla="val 4681"/>
            </a:avLst>
          </a:prstGeom>
          <a:solidFill>
            <a:srgbClr val="F9FA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= 상담 × 체결률 개선 × 초회보험료 × 유지율 + 업셀링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540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2.28억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상당의 매출 증진 추정 (신규 1.5억 + 업셀링 0.78억)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605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정확하고 즉각적인 설명 → 고객 신뢰 → 클로징. 상위호환 특약 제안과 통합치료비 가입금액 비교 화면은 신담보·증액 제안(업셀링)의 접점이 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4023360" cy="4297680"/>
          </a:xfrm>
          <a:prstGeom prst="roundRect">
            <a:avLst>
              <a:gd name="adj" fmla="val 5000"/>
            </a:avLst>
          </a:prstGeom>
          <a:solidFill>
            <a:srgbClr val="E5F8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7744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체결률 개선 1%p</a:t>
            </a:r>
            <a:endParaRPr lang="en-US" sz="125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초회보험료 5만원</a:t>
            </a:r>
            <a:endParaRPr lang="en-US" sz="125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유지율 보정 85%</a:t>
            </a:r>
            <a:endParaRPr lang="en-US" sz="125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업셀링 적용률 10%</a:t>
            </a:r>
            <a:endParaRPr lang="en-US" sz="125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3B2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객단가 증가 3만원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 03 · 04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신담보 전파 절감  +  민원 리스크 감소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297680"/>
          </a:xfrm>
          <a:prstGeom prst="roundRect">
            <a:avLst>
              <a:gd name="adj" fmla="val 4681"/>
            </a:avLst>
          </a:prstGeom>
          <a:solidFill>
            <a:srgbClr val="FFF3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E9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신담보 전파·교육 절감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E98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1억원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집합교육 시간 대체 + 인쇄·배포비 절감 + 출시 리드타임 단축으로 발생한 추가 판매액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당일 반영 → 초기 판매 골든타임 확보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약관 개정판도 스크립트로 즉시 갱신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440680" cy="4297680"/>
          </a:xfrm>
          <a:prstGeom prst="roundRect">
            <a:avLst>
              <a:gd name="adj" fmla="val 4681"/>
            </a:avLst>
          </a:prstGeom>
          <a:solidFill>
            <a:srgbClr val="FFEE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오안내·민원 리스크 감소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1억원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657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오안내 감소 × 건당 처리시간 × 인건비 + 품질지표 패널티·환급비 감소분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연 약 1천 건 오안내 예방 가정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약관 원문·지급금액표 기반 설명으로 분쟁 소지 축소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전파 절감은 매 개정판마다, 민원 감소는 매 상담마다 — 두 효과 모두 반복적으로 누적됩니다.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· 연간 기대효과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구축된 도구는 감가 없이 매년 반복됩니다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0" cy="4297680"/>
          </a:xfrm>
          <a:prstGeom prst="roundRect">
            <a:avLst>
              <a:gd name="adj" fmla="val 4783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B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기대효과 합계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6.91억원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년 · 월 TA채널 영업가족 3,667명 사용 가정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6번째 도구(통합치료비 시뮬레이션)의 효과는 보수적으로 산입하지 않았습니다. 통합치료비 계열 44개 특약의 설명 시간 절감과 증액 제안 효과는 추가 상방입니다.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737360"/>
            <a:ext cx="6583680" cy="4297680"/>
          </a:xfrm>
          <a:prstGeom prst="roundRect">
            <a:avLst>
              <a:gd name="adj" fmla="val 4681"/>
            </a:avLst>
          </a:prstGeom>
          <a:solidFill>
            <a:srgbClr val="F9FAFB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5212080" y="1828800"/>
          <a:ext cx="6217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 4대 목표별 기여도 · 향후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0" cy="3035808"/>
          </a:xfrm>
          <a:prstGeom prst="roundRect">
            <a:avLst>
              <a:gd name="adj" fmla="val 6627"/>
            </a:avLst>
          </a:prstGeom>
          <a:solidFill>
            <a:srgbClr val="F9FA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926080" y="17830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경쟁력·생산성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7830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영업관리력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7830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도입·정착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78308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완전판매·리스크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037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특약검색기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243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보상시뮬레이터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624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2624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624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62432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0449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라인업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0449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30449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0449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0449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4655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34655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34655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4655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4655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8862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명패 제작기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38862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160520" y="38862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38862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38862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3068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시뮬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2926080" y="430682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160520" y="430682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430682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430682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직접 기여      ○  간접 기여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로드맵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8160" y="2194560"/>
            <a:ext cx="3474720" cy="1143000"/>
          </a:xfrm>
          <a:prstGeom prst="roundRect">
            <a:avLst>
              <a:gd name="adj" fmla="val 17600"/>
            </a:avLst>
          </a:pr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8321040" y="2377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32104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2697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신담보 즉시 반영 · 사용 로그 기반 UI 개선 · 통합치료비 시나리오 확장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3474720"/>
            <a:ext cx="3474720" cy="1143000"/>
          </a:xfrm>
          <a:prstGeom prst="roundRect">
            <a:avLst>
              <a:gd name="adj" fmla="val 17600"/>
            </a:avLst>
          </a:prstGeom>
          <a:solidFill>
            <a:srgbClr val="F9FAFB"/>
          </a:solidFill>
          <a:ln/>
        </p:spPr>
      </p:sp>
      <p:sp>
        <p:nvSpPr>
          <p:cNvPr id="46" name="Shape 44"/>
          <p:cNvSpPr/>
          <p:nvPr/>
        </p:nvSpPr>
        <p:spPr>
          <a:xfrm>
            <a:off x="8321040" y="36576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03B26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2104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중기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321040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연동 강화 · 보장 공백 진단 확장 · 경쟁사 비교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38160" y="4754880"/>
            <a:ext cx="3474720" cy="1143000"/>
          </a:xfrm>
          <a:prstGeom prst="roundRect">
            <a:avLst>
              <a:gd name="adj" fmla="val 17600"/>
            </a:avLst>
          </a:prstGeom>
          <a:solidFill>
            <a:srgbClr val="F9FAFB"/>
          </a:solidFill>
          <a:ln/>
        </p:spPr>
      </p:sp>
      <p:sp>
        <p:nvSpPr>
          <p:cNvPr id="50" name="Shape 48"/>
          <p:cNvSpPr/>
          <p:nvPr/>
        </p:nvSpPr>
        <p:spPr>
          <a:xfrm>
            <a:off x="8321040" y="49377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321040" y="4937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321040" y="5257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정식 시스템 이관 · 전 채널 표준 도구화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필요로 한 도구를,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현장을 아는 사람이 만들었습니다.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· 특약검색기 · 보상시뮬레이터 · 상품 라인업 · 프롬프트 라이브러리 · 명패 제작기 · 통합치료비 시뮬레이션</a:t>
            </a:r>
            <a:endParaRPr lang="en-US" sz="1300" dirty="0"/>
          </a:p>
        </p:txBody>
      </p:sp>
      <p:pic>
        <p:nvPicPr>
          <p:cNvPr id="5" name="Image 0" descr="/tmp/claude-0/-home-user-MeAI/ecc740f6-0919-5f47-9404-106c0d41147b/scratchpad/deck/img/merry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558937"/>
            <a:ext cx="658368" cy="940526"/>
          </a:xfrm>
          <a:prstGeom prst="rect">
            <a:avLst/>
          </a:prstGeom>
        </p:spPr>
      </p:pic>
      <p:pic>
        <p:nvPicPr>
          <p:cNvPr id="6" name="Image 1" descr="/tmp/claude-0/-home-user-MeAI/ecc740f6-0919-5f47-9404-106c0d41147b/scratchpad/deck/img/eco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576194"/>
            <a:ext cx="658368" cy="906011"/>
          </a:xfrm>
          <a:prstGeom prst="rect">
            <a:avLst/>
          </a:prstGeom>
        </p:spPr>
      </p:pic>
      <p:pic>
        <p:nvPicPr>
          <p:cNvPr id="7" name="Image 2" descr="/tmp/claude-0/-home-user-MeAI/ecc740f6-0919-5f47-9404-106c0d41147b/scratchpad/deck/img/rara-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4712677"/>
            <a:ext cx="658368" cy="633046"/>
          </a:xfrm>
          <a:prstGeom prst="rect">
            <a:avLst/>
          </a:prstGeom>
        </p:spPr>
      </p:pic>
      <p:pic>
        <p:nvPicPr>
          <p:cNvPr id="8" name="Image 3" descr="/tmp/claude-0/-home-user-MeAI/ecc740f6-0919-5f47-9404-106c0d41147b/scratchpad/deck/img/indi-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03906"/>
            <a:ext cx="658368" cy="1050587"/>
          </a:xfrm>
          <a:prstGeom prst="rect">
            <a:avLst/>
          </a:prstGeom>
        </p:spPr>
      </p:pic>
      <p:pic>
        <p:nvPicPr>
          <p:cNvPr id="9" name="Image 4" descr="/tmp/claude-0/-home-user-MeAI/ecc740f6-0919-5f47-9404-106c0d41147b/scratchpad/deck/img/tata-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053" y="4480560"/>
            <a:ext cx="453542" cy="1097280"/>
          </a:xfrm>
          <a:prstGeom prst="rect">
            <a:avLst/>
          </a:prstGeom>
        </p:spPr>
      </p:pic>
      <p:pic>
        <p:nvPicPr>
          <p:cNvPr id="10" name="Image 5" descr="/tmp/claude-0/-home-user-MeAI/ecc740f6-0919-5f47-9404-106c0d41147b/scratchpad/deck/img/zjum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515896"/>
            <a:ext cx="658368" cy="1026608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FB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hunx11-sys.github.io/MeAI</a:t>
            </a:r>
            <a:endParaRPr lang="en-US" sz="1300" dirty="0"/>
          </a:p>
        </p:txBody>
      </p:sp>
      <p:sp>
        <p:nvSpPr>
          <p:cNvPr id="12" name="Text 4"/>
          <p:cNvSpPr txBox="1"/>
          <p:nvPr/>
        </p:nvSpPr>
        <p:spPr>
          <a:xfrm>
            <a:off x="676656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  이헌수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메리츠화재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현장이 만든 영업지원 도구 6종 — 사내공모전 제출용</dc:title>
  <dc:subject>PptxGenJS Presentation</dc:subject>
  <dc:creator>세일즈혁신TF</dc:creator>
  <cp:lastModifiedBy>세일즈혁신TF</cp:lastModifiedBy>
  <cp:revision>1</cp:revision>
  <dcterms:created xsi:type="dcterms:W3CDTF">2026-09-15T16:42:27Z</dcterms:created>
  <dcterms:modified xsi:type="dcterms:W3CDTF">2026-09-15T16:42:27Z</dcterms:modified>
</cp:coreProperties>
</file>