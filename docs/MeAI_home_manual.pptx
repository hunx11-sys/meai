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2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2"/>
          <c:w val="1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4E59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E59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E59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048E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1개</c:v>
                  </c:pt>
                  <c:pt idx="1">
                    <c:v>2개</c:v>
                  </c:pt>
                  <c:pt idx="2">
                    <c:v>3개 이상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11.99</c:v>
                </c:pt>
                <c:pt idx="1">
                  <c:v>17.02</c:v>
                </c:pt>
                <c:pt idx="2">
                  <c:v>27.79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image" Target="../media/image-2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jpe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jpe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jpe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jpe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jpe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Slide-46-image-1.jpeg"/><Relationship Id="rId2" Type="http://schemas.openxmlformats.org/officeDocument/2006/relationships/image" Target="../media/image-4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jpe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6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메리츠화재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매뉴얼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54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C9E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화면별 기능 안내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영업포탈에서 들어가기부터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· 요약 리포트 발송까지 · 영업가족 편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5120640"/>
            <a:ext cx="1630680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120640"/>
            <a:ext cx="163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세일즈혁신TF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37960" y="966787"/>
            <a:ext cx="5394960" cy="4832985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966787"/>
            <a:ext cx="5394960" cy="483298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그림의 번호와 옆·아래 설명의 번호가 짝 · 화면 속 이름·숫자는 모두 예시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1004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984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965960"/>
            <a:ext cx="339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영업포탈에서 들어가기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61408" y="19659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313432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홈으로 들어오는 길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606040"/>
            <a:ext cx="412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2쪽 · 진입로 6곳 · 새 버튼 3개(롤링배너 · CRM 리스트 · 떠 있는 버튼)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008" y="1783080"/>
            <a:ext cx="541004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07328" y="1984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238848" y="1965960"/>
            <a:ext cx="339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0545775" y="19659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238848" y="2313432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하루가 시작되는 첫 화면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238848" y="2606040"/>
            <a:ext cx="412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8쪽 · 화면 구성 · 글씨 확대 · 대화 카드 · 숫자 4개 · 추천 카드 · 범례 · 가는 곳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209544"/>
            <a:ext cx="541004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34107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392424"/>
            <a:ext cx="339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검색 팝업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61408" y="33924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3739896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이름으로 고객을 골라 맞춤대화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032504"/>
            <a:ext cx="412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3쪽 · 팝업 구성 · 이름 검색 · 동의 상태(D-n · 회색)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33008" y="3209544"/>
            <a:ext cx="541004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507328" y="34107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238848" y="3392424"/>
            <a:ext cx="339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고객찾기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545775" y="339242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238848" y="3739896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그룹으로 묶인 내 고객과 다음 행동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238848" y="4032504"/>
            <a:ext cx="412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10쪽 · 화면 구성 · 그룹 · 고객 카드 6칸 · 태그 색 · 다음 행동 · 동의별 행동 · 검색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636008"/>
            <a:ext cx="541004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22960" y="48371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1554480" y="4818888"/>
            <a:ext cx="339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· 사전조회 동의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4861408" y="48188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554480" y="5166360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 확인과 동의 요청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554480" y="5458968"/>
            <a:ext cx="412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3쪽 · 게시판 목록 · 글 본문과 첨부파일 · 사전조회 동의 알림톡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33008" y="4636008"/>
            <a:ext cx="5410048" cy="1298448"/>
          </a:xfrm>
          <a:prstGeom prst="roundRect">
            <a:avLst>
              <a:gd name="adj" fmla="val 1126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6507328" y="483717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7238848" y="4818888"/>
            <a:ext cx="3398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· 맞춤대화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0545775" y="481888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p.34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238848" y="5166360"/>
            <a:ext cx="412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묻고, 읽고, 보내기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238848" y="5458968"/>
            <a:ext cx="412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13쪽 · 대화 열기 · 일반/맞춤대화 화면 · 답변 읽기 · 용어 · 간편/상세 · 꼬리질문 · 요약 리포트 · 모바일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영업포탈에서 들어가기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홈으로 들어오는 길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장의 화면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영업포탈에서 MeAI 홈으로 가는 진입로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p.5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생긴 문 ③④⑤ 한눈에 보기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1장 · 영업포탈에서 들어가기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영업포탈에서 MeAI 홈으로 가는 진입로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 배너와 CRM을 통해 들어가는 MeAI는 누구나 사용 가능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589520" cy="4139738"/>
          </a:xfrm>
          <a:prstGeom prst="roundRect">
            <a:avLst>
              <a:gd name="adj" fmla="val 30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589520" cy="413973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6676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36676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750808" y="169164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위 [MeAI 홈]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750808" y="1984248"/>
            <a:ext cx="28895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· 사용권한이 있어야 사용 가능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366760" y="2313051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366760" y="23130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750808" y="2294763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위 [보장분석]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8750808" y="2587371"/>
            <a:ext cx="28895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· 사용권한이 있어야 사용 가능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366760" y="291617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8366760" y="29161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8750808" y="289788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 롤링배너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750808" y="3190494"/>
            <a:ext cx="28895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신설 · [MeAI 홈 바로가기]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366760" y="3519297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8366760" y="35192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8750808" y="3501009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CRM 리스트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8750808" y="3793617"/>
            <a:ext cx="28895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신설 · [MeAI 일반대화] [MeAI 맞춤대화]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366760" y="412242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366760" y="41224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750808" y="410413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 있는 MeAI 버튼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8750808" y="4396740"/>
            <a:ext cx="28895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신설 · 목록 위 둥근 버튼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366760" y="4725543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366760" y="47255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8750808" y="4707255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[MeAI 홈]</a:t>
            </a:r>
            <a:endParaRPr lang="en-US" sz="1350" dirty="0"/>
          </a:p>
        </p:txBody>
      </p:sp>
      <p:sp>
        <p:nvSpPr>
          <p:cNvPr id="32" name="Text 29"/>
          <p:cNvSpPr txBox="1"/>
          <p:nvPr/>
        </p:nvSpPr>
        <p:spPr>
          <a:xfrm>
            <a:off x="8750808" y="4999863"/>
            <a:ext cx="28895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· 사용권한이 있어야 사용 가능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8366760" y="5349240"/>
            <a:ext cx="3273552" cy="475488"/>
          </a:xfrm>
          <a:prstGeom prst="roundRect">
            <a:avLst>
              <a:gd name="adj" fmla="val 23077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595360" y="5440680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신설 ③④⑤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권한과 상관없이 누구나 사용 가능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1장 · 새로 생긴 문 3개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생긴 문 ③④⑤ 한눈에 보기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목록에서 바로 대화를 시작하는 ④가 핵심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롤링배너 → [MeAI 홈 바로가기]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206240" cy="1150144"/>
          </a:xfrm>
          <a:prstGeom prst="roundRect">
            <a:avLst>
              <a:gd name="adj" fmla="val 73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4206240" cy="11501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8640" y="3429000"/>
            <a:ext cx="4206240" cy="1417320"/>
          </a:xfrm>
          <a:prstGeom prst="roundRect">
            <a:avLst>
              <a:gd name="adj" fmla="val 7742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5204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[MeAI 홈 바로가기] → MeAI 홈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[MeAI 맞춤대화] → 그 고객 대화가 바로 열림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[MeAI 일반대화] → 일반대화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1691640"/>
            <a:ext cx="6611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CRM 리스트 [MeAI 일반대화] [MeAI 맞춤대화] · ⑤ 떠 있는 MeAI 버튼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0" y="2011680"/>
            <a:ext cx="6611112" cy="3105892"/>
          </a:xfrm>
          <a:prstGeom prst="roundRect">
            <a:avLst>
              <a:gd name="adj" fmla="val 412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011680"/>
            <a:ext cx="6611112" cy="31058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029200" y="5349240"/>
            <a:ext cx="6611112" cy="960120"/>
          </a:xfrm>
          <a:prstGeom prst="roundRect">
            <a:avLst>
              <a:gd name="adj" fmla="val 11429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257800" y="5440680"/>
            <a:ext cx="6153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④가 핵심인 이유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고객 생일·상령일 목록에서 바로 [MeAI 맞춤대화]를 눌러서 시작.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고객 대화가 한 번에 열림.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하루가 시작되는 첫 화면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장의 화면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p.7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한 화면에 담긴 오늘 연락할 고객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p.8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글씨가 작으면, 오른쪽 위 스위치 하나로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262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p.9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526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대화를 시작할지 먼저 고르기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92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p.10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892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아침, 숫자 4개만 훑어보기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7947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p.11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08660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MeAI가 먼저 고른 오늘 연락할 고객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p.12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한 문장이 고객에게 건네는 명분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5262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p.13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4526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태그·동의·유형, 색으로 읽기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892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p.14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892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홈에서 가는 곳, 다섯 군데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 · MeAI 홈 화면 구성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한 화면에 담긴 오늘 연락할 고객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511918" cy="4937760"/>
          </a:xfrm>
          <a:prstGeom prst="roundRect">
            <a:avLst>
              <a:gd name="adj" fmla="val 22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511918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2855" y="1637201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22855" y="163720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49151" y="185155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149151" y="1851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2855" y="290800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22855" y="29080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49151" y="352426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149151" y="35242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2855" y="5702241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22855" y="57022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14683" y="137691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5514683" y="13769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92240" y="13898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649224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876288" y="1371600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 + 최근 업데이트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76288" y="166420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"OO님 안녕하세요" · 오른쪽 '최근 업데이트' = 데이터 기준 시각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92240" y="209397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49224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876288" y="2075688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카드 두 장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876288" y="2368296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일반대화는 바로 질문 창, 맞춤대화는 고객 검색 팝업이 먼저 뜸.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492240" y="27980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49224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876288" y="2779776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고객 숫자 4개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876288" y="307238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· 맞춤대화 가능 · 동의 필요 · 상품제안 가능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492240" y="350215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649224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876288" y="3483864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876288" y="3776472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이유가 붙은 카드 3장 × 세트 3개. 화살표로 넘김.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6492240" y="420624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649224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876288" y="4187952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범례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876288" y="4480560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색 · 동의 상태 · 고객 유형의 뜻.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6492240" y="49103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6492240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876288" y="4892040"/>
            <a:ext cx="4764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스위치·버튼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876288" y="518464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[글씨 확대] ON/OFF · [고객 동의] · [게시판]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6492240" y="5760720"/>
            <a:ext cx="5148072" cy="548640"/>
          </a:xfrm>
          <a:prstGeom prst="roundRect">
            <a:avLst>
              <a:gd name="adj" fmla="val 20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720840" y="5852160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데이터와 추천 결과는 매일 새로 계산해 다음 날 반영.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5973775" y="1024128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이름과 숫자는 예시 · 업데이트 시각은 가림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 · 글씨 확대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글씨가 작으면, 오른쪽 위 스위치 하나로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홈·고객찾기·게시판 오른쪽 위 [글씨 확대]. 기본은 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52886" y="384048"/>
            <a:ext cx="590169" cy="27432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052886" y="384048"/>
            <a:ext cx="5901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783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· 기본 (글씨 한 단계 크게)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4297680" cy="595063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4297680" cy="59506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29718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 · 원래 크기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291840"/>
            <a:ext cx="4297680" cy="595063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0"/>
            <a:ext cx="4297680" cy="59506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8640" y="4206240"/>
            <a:ext cx="4297680" cy="1143000"/>
          </a:xfrm>
          <a:prstGeom prst="roundRect">
            <a:avLst>
              <a:gd name="adj" fmla="val 96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77240" y="42976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번만 바꾸면 끝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화면이 같이 바뀜.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PC에서는 다음에도 그대로 유지.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5486400"/>
            <a:ext cx="4297680" cy="777240"/>
          </a:xfrm>
          <a:prstGeom prst="roundRect">
            <a:avLst>
              <a:gd name="adj" fmla="val 141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77240" y="55778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OFF는 언제?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화면에 더 많이 보고 싶을 때.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5257800" y="1783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257800" y="2103120"/>
            <a:ext cx="3063240" cy="366017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103120"/>
            <a:ext cx="3063240" cy="366017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549640" y="17830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8549640" y="2103120"/>
            <a:ext cx="3063240" cy="330672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3" descr="MeAI 화면 캡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103120"/>
            <a:ext cx="3063240" cy="330672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257800" y="598932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이름과 숫자는 예시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 · 대화 카드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대화를 시작할지 먼저 고르기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홈에서 카드 하나만 누르면, 나머지는 MeAI가 준비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1508451"/>
          </a:xfrm>
          <a:prstGeom prst="roundRect">
            <a:avLst>
              <a:gd name="adj" fmla="val 848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11094415" cy="150845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520440"/>
            <a:ext cx="5440680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372160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· 왼쪽 카드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9776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정하지 않은 질문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361688"/>
            <a:ext cx="49834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바로 질문 창이 열림.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상품·특약, 화법, 약관, 자사·타사 보장 비교까지.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217920" y="3520440"/>
            <a:ext cx="5422392" cy="155448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446520" y="3721608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· 오른쪽(검은) 카드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3977640"/>
            <a:ext cx="4965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명의 보장을 함께 보기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4361688"/>
            <a:ext cx="49651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고객 검색 팝업이 뜸.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고르면 그 고객 대화가 열림. (3장 고객 검색 팝업)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53035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3949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처음엔 일반대화로 감을 익히고, 내 고객을 만나기 전엔 꼭 맞춤대화.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 · 내 고객 찾기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아침, 숫자 4개만 훑어보기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숫자가 오늘 할 일의 크기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1897729"/>
          </a:xfrm>
          <a:prstGeom prst="roundRect">
            <a:avLst>
              <a:gd name="adj" fmla="val 67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11094415" cy="189772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84048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342명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572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전체 고객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49194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보유·가망·이관을 모두 더한 수.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364992" y="384048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593592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137명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3593592" y="4572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가능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593592" y="49194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동의일부터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90일이 지나지 않은 고객.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바로 시작.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81344" y="384048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09944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186명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409944" y="4572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 필요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9944" y="49194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동의가 없거나 만료된 고객.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알림톡부터 보낼 고객.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97696" y="3840480"/>
            <a:ext cx="26517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226296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84명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9226296" y="45720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상품제안 가능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9226296" y="491947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소개에 동의한 고객.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"AI 추천 고객" 리본.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97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숫자는 예시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156655" y="5897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 →] 누른 뒤 화면은 20쪽 참고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 · 오늘의 추천 고객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MeAI가 먼저 고른 오늘 연락할 고객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3장 × 세트 3개 · 화살표로 다음 세트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92715" y="1691640"/>
            <a:ext cx="8806265" cy="393192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2715" y="1691640"/>
            <a:ext cx="8806265" cy="3931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927730" y="171386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927730" y="17138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45714" y="224687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545714" y="22468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622240" y="273353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622240" y="27335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004978" y="393087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004978" y="39308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24528" y="420124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824528" y="420124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52171" y="471880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252171" y="47188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068219" y="191470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068219" y="191470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372988" y="521319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372988" y="521319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7790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548640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877824" y="5760720"/>
            <a:ext cx="23895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추천 고객 구역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322244" y="57790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3322244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3651428" y="5760720"/>
            <a:ext cx="23895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나이 · 유형 · 담당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095848" y="57790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095848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6425032" y="5760720"/>
            <a:ext cx="23895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이유 + 근거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869451" y="57790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869451" y="5779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9198635" y="5760720"/>
            <a:ext cx="23895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48640" y="6062472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548640" y="6062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877824" y="6044184"/>
            <a:ext cx="23895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 / 필요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3322244" y="6062472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3322244" y="6062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3651428" y="6044184"/>
            <a:ext cx="23895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고객찾기에서 열기]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095848" y="6062472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6095848" y="6062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6425032" y="6044184"/>
            <a:ext cx="23895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추천 고객 리본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8869451" y="6062472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7" name="Text 44"/>
          <p:cNvSpPr txBox="1"/>
          <p:nvPr/>
        </p:nvSpPr>
        <p:spPr>
          <a:xfrm>
            <a:off x="8869451" y="6062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  <p:sp>
        <p:nvSpPr>
          <p:cNvPr id="48" name="Text 45"/>
          <p:cNvSpPr txBox="1"/>
          <p:nvPr/>
        </p:nvSpPr>
        <p:spPr>
          <a:xfrm>
            <a:off x="9198635" y="6044184"/>
            <a:ext cx="23895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세트 위치</a:t>
            </a:r>
            <a:endParaRPr lang="en-US" sz="1050" dirty="0"/>
          </a:p>
        </p:txBody>
      </p:sp>
      <p:sp>
        <p:nvSpPr>
          <p:cNvPr id="49" name="Text 46"/>
          <p:cNvSpPr txBox="1"/>
          <p:nvPr/>
        </p:nvSpPr>
        <p:spPr>
          <a:xfrm>
            <a:off x="6156655" y="1252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이름과 숫자는 예시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 · 추천 카드 읽는 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한 문장이 고객에게 건네는 명분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· 왜 · 언제 · 다음이 카드 한 장에. 이유 문장을 내 말로 풀면 곧 첫 말.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4260795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4260795" cy="4617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38193" y="207102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38193" y="207102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49364" y="197063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449364" y="197063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8193" y="258410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38193" y="25841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8193" y="349872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38193" y="34987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38193" y="4513729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38193" y="451372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38193" y="490411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38193" y="49041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38193" y="564027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538193" y="564027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53212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53212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5916168" y="1691640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나이 · 유형 · 담당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916168" y="1984248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유형은 보유·가망·이관 중 하나. 긴 이름은 줄여서 표시.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532120" y="232257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53212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5916168" y="2304288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추천 고객 리본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916168" y="2596896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소개에 동의한 고객. 상품 제안까지 가능.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532120" y="293522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5532120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5916168" y="2916936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이유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5916168" y="3209544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아래 굵은 한 문장. "상령일이 2주 남았고 암진단비가 1천만원뿐입니다."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532120" y="354787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553212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5916168" y="3529584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설명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916168" y="3822192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 좋은 기회인지. 여기서 상담 방향이 정해짐.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532120" y="416052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553212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5916168" y="4142232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916168" y="4434840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#이벤트 임박(파랑) #보장 공백(빨강) #당월 타겟(보라)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5532120" y="47731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5532120" y="4773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5916168" y="4754880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필요 · D-n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916168" y="5047488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'필요'면 알림톡으로 동의부터, D-n(남은 날)이 보이면 바로 시작.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5532120" y="538581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5532120" y="5385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5916168" y="5367528"/>
            <a:ext cx="5724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고객찾기에서 열기]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5916168" y="5660136"/>
            <a:ext cx="5724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누르면 고객찾기의 이 고객 카드로 바로 이동.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5532120" y="6053328"/>
            <a:ext cx="6108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이름과 숫자는 예시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 · 범례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태그·동의·유형, 색으로 읽기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맨 아래 범례. 추천 카드 태그 3종은 아래에 따로 정리.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4415" cy="1815450"/>
          </a:xfrm>
          <a:prstGeom prst="roundRect">
            <a:avLst>
              <a:gd name="adj" fmla="val 70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11094415" cy="18154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931920"/>
            <a:ext cx="11094415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68680" y="41879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 태그 3종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68680" y="4800600"/>
            <a:ext cx="1070102" cy="384048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" y="4800600"/>
            <a:ext cx="10701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#보장 공백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5330952"/>
            <a:ext cx="32104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담보가 있음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353458" y="4800600"/>
            <a:ext cx="1070102" cy="384048"/>
          </a:xfrm>
          <a:prstGeom prst="roundRect">
            <a:avLst>
              <a:gd name="adj" fmla="val 50000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53458" y="4800600"/>
            <a:ext cx="10701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048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#당월 타겟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353458" y="5330952"/>
            <a:ext cx="32104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 영업 목표 대상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7838237" y="4800600"/>
            <a:ext cx="1235202" cy="384048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38237" y="4800600"/>
            <a:ext cx="123520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#이벤트 임박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838237" y="5330952"/>
            <a:ext cx="32104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만기·동의 만료·상령일이 코앞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6868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그룹 태그 색은 24쪽 참고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 · 길 안내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홈에서 가는 곳, 다섯 군데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카드나 버튼을 한 번 누르면 이동. 돌아올 땐 어디서든 왼쪽 위 [MeAI 홈].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3291840"/>
            <a:ext cx="2697480" cy="1188720"/>
          </a:xfrm>
          <a:prstGeom prst="roundRect">
            <a:avLst>
              <a:gd name="adj" fmla="val 12308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54880" y="3337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8862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→ MeAI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578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944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[일반대화] 카드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246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무엇이든 물어보는 창. 상품·약관·화법.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08736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453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[맞춤대화] 카드 → 고객 검색 팝업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754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고르면 그 고객의 대화가 열림. (3장 고객 검색 팝업)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66760" y="18470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고객찾기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2128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 →] 버튼 · 추천 카드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그룹별 고객 목록과 다음 행동. (4장 MeAI 고객찾기)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38160" y="324612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366760" y="33558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3721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[게시판] 버튼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40233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공지·이슈·기능안내. 빨간 점은 새 글. (5장 게시판 · 사전조회 동의)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4754880"/>
            <a:ext cx="352044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66760" y="486460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동의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5230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[고객 동의] 버튼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5532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번호 → 동의 요청 알림톡. (5장 게시판 · 사전조회 동의)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069080" y="3131820"/>
            <a:ext cx="685800" cy="434340"/>
          </a:xfrm>
          <a:prstGeom prst="line">
            <a:avLst/>
          </a:prstGeom>
          <a:noFill/>
          <a:ln w="15875">
            <a:solidFill>
              <a:srgbClr val="D1D6D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 flipV="1">
            <a:off x="4069080" y="4206240"/>
            <a:ext cx="685800" cy="434340"/>
          </a:xfrm>
          <a:prstGeom prst="line">
            <a:avLst/>
          </a:prstGeom>
          <a:noFill/>
          <a:ln w="15875">
            <a:solidFill>
              <a:srgbClr val="D1D6D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V="1">
            <a:off x="7452360" y="2395728"/>
            <a:ext cx="685800" cy="1033272"/>
          </a:xfrm>
          <a:prstGeom prst="line">
            <a:avLst/>
          </a:prstGeom>
          <a:noFill/>
          <a:ln w="15875">
            <a:solidFill>
              <a:srgbClr val="D1D6DB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452360" y="3904488"/>
            <a:ext cx="685800" cy="9144"/>
          </a:xfrm>
          <a:prstGeom prst="line">
            <a:avLst/>
          </a:prstGeom>
          <a:noFill/>
          <a:ln w="15875">
            <a:solidFill>
              <a:srgbClr val="D1D6DB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452360" y="4343400"/>
            <a:ext cx="685800" cy="1069848"/>
          </a:xfrm>
          <a:prstGeom prst="line">
            <a:avLst/>
          </a:prstGeom>
          <a:noFill/>
          <a:ln w="15875">
            <a:solidFill>
              <a:srgbClr val="D1D6DB"/>
            </a:solidFill>
            <a:prstDash val="dash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검색 팝업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이름으로 고객을 골라 맞춤대화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장의 화면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p.16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알면, 고객 검색 팝업으로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p.17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글자만 넣어도 좁혀지는 목록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262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p.18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526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D-n이면 바로, 회색이면 동의부터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3장 · 팝업 화면 구성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알면, 고객 검색 팝업으로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홈의 검은 맞춤대화 카드를 누르면 열림. 고객을 고르면 바로 시작.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243667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3243667" cy="4617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30251" y="181550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330251" y="18155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79873" y="230205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879873" y="23020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068956" y="263093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068956" y="26309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037551" y="2851679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037551" y="285167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32288" y="2621919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132288" y="26219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50048" y="592865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150048" y="592865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177339" y="178847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3177339" y="178847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4340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434340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4727448" y="1691640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검색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727448" y="1984248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"고객을 선택하면 맞춤대화를 시작합니다"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43400" y="235915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34340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4727448" y="2340864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727448" y="2633472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글자만 넣어도 검색됨. 담당자 이름으로도 검색 가능.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343400" y="300837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4343400" y="3008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4727448" y="2990088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61명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4727448" y="3282696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 동의가 유효한 고객만 · 가나다순.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343400" y="365760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43434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4727448" y="3639312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727448" y="3931920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90일 만료까지 남은 날. 오늘 철회한 고객은 회색.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343400" y="430682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4343400" y="4306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4727448" y="4288536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[맞춤대화] 버튼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4727448" y="4581144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팝업이 닫히고 그 고객의 맞춤대화 시작.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343400" y="495604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4343400" y="4956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4727448" y="4937760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4727448" y="5230368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쪽에 10명. 이름으로 찾으면 넘길 일이 거의 없음.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4343400" y="560527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4343400" y="5605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4727448" y="5586984"/>
            <a:ext cx="691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닫기(X)</a:t>
            </a:r>
            <a:endParaRPr lang="en-US" sz="1400" dirty="0"/>
          </a:p>
        </p:txBody>
      </p:sp>
      <p:sp>
        <p:nvSpPr>
          <p:cNvPr id="50" name="Text 47"/>
          <p:cNvSpPr txBox="1"/>
          <p:nvPr/>
        </p:nvSpPr>
        <p:spPr>
          <a:xfrm>
            <a:off x="4727448" y="5879592"/>
            <a:ext cx="6912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홈으로 이동. 검색어는 지워짐.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3장 · 이름으로 찾기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글자만 넣어도 좁혀지는 목록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성만 알아도 검색 가능. 담당자 이름으로도 검색.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045032" cy="4343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3045032" cy="43434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062472"/>
            <a:ext cx="304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"김" 입력 → 김씨 고객 + 담당자 김OO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34531" y="225515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34531" y="22551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577371" y="318558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577371" y="3185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06908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06908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453128" y="1691640"/>
            <a:ext cx="7187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글자부터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453128" y="1984248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"김"만 넣어도 김씨 고객이 모두 보임. 입력하는 즉시 걸러짐.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069080" y="23957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06908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4453128" y="2377440"/>
            <a:ext cx="7187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이름이 같아도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453128" y="2670048"/>
            <a:ext cx="7187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나이·담당자가 함께 보여 구분 가능.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069080" y="3291840"/>
            <a:ext cx="4434214" cy="26974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3291840"/>
            <a:ext cx="4434214" cy="269748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069080" y="6035040"/>
            <a:ext cx="44342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이름 → "조건에 맞는 고객이 없습니다"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609557" y="514410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4609557" y="514410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823334" y="33101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8823334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9207382" y="3291840"/>
            <a:ext cx="243567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없으면</a:t>
            </a:r>
            <a:endParaRPr lang="en-US" sz="1400" dirty="0"/>
          </a:p>
        </p:txBody>
      </p:sp>
      <p:sp>
        <p:nvSpPr>
          <p:cNvPr id="30" name="Text 26"/>
          <p:cNvSpPr txBox="1"/>
          <p:nvPr/>
        </p:nvSpPr>
        <p:spPr>
          <a:xfrm>
            <a:off x="9207382" y="3584448"/>
            <a:ext cx="24356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"조건에 맞는 고객이 없습니다."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등록·동의 여부부터 확인.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3장 · 동의 상태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D-n이면 바로, 회색이면 동의부터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만료된 고객은 목록에 없고, 오늘 철회한 고객은 회색.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315200" cy="748858"/>
          </a:xfrm>
          <a:prstGeom prst="roundRect">
            <a:avLst>
              <a:gd name="adj" fmla="val 170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315200" cy="74885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5877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유효 · D-26 · [맞춤대화] 활성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7315200" cy="748858"/>
          </a:xfrm>
          <a:prstGeom prst="roundRect">
            <a:avLst>
              <a:gd name="adj" fmla="val 170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17520"/>
            <a:ext cx="7315200" cy="74885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3913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하루 전 · D-1 · 아직 시작 가능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343400"/>
            <a:ext cx="7315200" cy="748858"/>
          </a:xfrm>
          <a:prstGeom prst="roundRect">
            <a:avLst>
              <a:gd name="adj" fmla="val 170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43400"/>
            <a:ext cx="7315200" cy="74885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8640" y="5239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철회 · 회색 · 정보를 볼 수 없음 · [맞춤대화] 비활성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5577840"/>
            <a:ext cx="7315200" cy="731520"/>
          </a:xfrm>
          <a:prstGeom prst="roundRect">
            <a:avLst>
              <a:gd name="adj" fmla="val 1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77240" y="5669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다시 받기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전이면 고객찾기 [사전동의 만료] 그룹에서 미리 챙기기.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만료됐으면 고객찾기 [사전조회동의 요청하기] 또는 MeAI 홈 [고객 동의]로 다시 발송.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38160" y="1691640"/>
            <a:ext cx="3502152" cy="1920240"/>
          </a:xfrm>
          <a:prstGeom prst="roundRect">
            <a:avLst>
              <a:gd name="adj" fmla="val 5714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8366760" y="1783080"/>
            <a:ext cx="3044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동의가 먼저인 이유  </a:t>
            </a:r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보장 내역을 읽고 답변.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동의일부터 90일 동안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맞춤대화 가능.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동의하면 15분 안팎으로 반영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(게시판 공지)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138160" y="3794760"/>
            <a:ext cx="3502152" cy="2514600"/>
          </a:xfrm>
          <a:prstGeom prst="roundRect">
            <a:avLst>
              <a:gd name="adj" fmla="val 4364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366760" y="3886200"/>
            <a:ext cx="30449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화법  </a:t>
            </a:r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"보장을 정확히 보고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말씀드리려면 동의가 필요해요.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알림톡으로 금방 끝나요."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고객찾기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그룹으로 묶인 내 고객과 다음 행동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장의 화면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p.20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고객찾기는 왼쪽에서 오른쪽으로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p.21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이름이 곧 연락 이유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262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p.22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526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설명 한 줄이 곧 상담 화법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92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p.23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892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누르면 펼쳐지는 여섯 칸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257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p.24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257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태그는 이제 색으로 구분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7947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p.25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칸으로 보는 이 고객의 상황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p.26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패널에서 고르는 다음 행동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5262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p.27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4526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채워진 채로 열리는 대화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892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p.28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892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상태별로 달라지는 다음 행동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5257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p.29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5257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이름으로도, 조건으로도 검색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· 화면 구성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고객찾기는 왼쪽에서 오른쪽으로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 → 펼쳐 보고 → MeAI 대화하고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388352" cy="4617720"/>
          </a:xfrm>
          <a:prstGeom prst="roundRect">
            <a:avLst>
              <a:gd name="adj" fmla="val 27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388352" cy="4617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62812" y="204927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162812" y="204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81124" y="269575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881124" y="26957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38170" y="200822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138170" y="20082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93106" y="266496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5293106" y="2664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978609" y="477885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1978609" y="477885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606591" y="2285289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606591" y="228528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699451" y="381426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699451" y="3814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419858" y="169524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2419858" y="16952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93612" y="192100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293612" y="192100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040880" y="1796796"/>
            <a:ext cx="66751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66760" y="16642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366760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8750808" y="164592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그룹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750808" y="1938528"/>
            <a:ext cx="288950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연락할 이유별로 묶인 그룹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366760" y="218389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8366760" y="21838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8750808" y="216560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전환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8750808" y="2458212"/>
            <a:ext cx="288950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기준 10개 · 영업 기회 3개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366760" y="270357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8366760" y="2703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8750808" y="268528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설명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750808" y="2977896"/>
            <a:ext cx="288950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묶인 이유 한 줄 · [전체] 필터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366760" y="322326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366760" y="32232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8750808" y="320497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펼친 카드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8750808" y="3497580"/>
            <a:ext cx="288950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· 태그 · 한눈에 보기 6칸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366760" y="374294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8366760" y="3742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6" name="Text 43"/>
          <p:cNvSpPr txBox="1"/>
          <p:nvPr/>
        </p:nvSpPr>
        <p:spPr>
          <a:xfrm>
            <a:off x="8750808" y="3724656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카드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8750808" y="4017264"/>
            <a:ext cx="288950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펼쳐지고 오른쪽 패널도 바뀜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366760" y="42626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8366760" y="42626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50" name="Text 47"/>
          <p:cNvSpPr txBox="1"/>
          <p:nvPr/>
        </p:nvSpPr>
        <p:spPr>
          <a:xfrm>
            <a:off x="8750808" y="424434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질문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8750808" y="4536948"/>
            <a:ext cx="288950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일반대화용 · 맞춤대화용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366760" y="478231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3" name="Text 50"/>
          <p:cNvSpPr txBox="1"/>
          <p:nvPr/>
        </p:nvSpPr>
        <p:spPr>
          <a:xfrm>
            <a:off x="8366760" y="4782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8750808" y="4764024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버튼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8750808" y="5056632"/>
            <a:ext cx="288950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[보장분석] · [맞춤대화 시작]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8366760" y="530199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7" name="Text 54"/>
          <p:cNvSpPr txBox="1"/>
          <p:nvPr/>
        </p:nvSpPr>
        <p:spPr>
          <a:xfrm>
            <a:off x="8366760" y="53019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8750808" y="528370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8750808" y="5576316"/>
            <a:ext cx="288950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이름·조건으로 검색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366760" y="582168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61" name="Text 58"/>
          <p:cNvSpPr txBox="1"/>
          <p:nvPr/>
        </p:nvSpPr>
        <p:spPr>
          <a:xfrm>
            <a:off x="8366760" y="582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  <p:sp>
        <p:nvSpPr>
          <p:cNvPr id="62" name="Text 59"/>
          <p:cNvSpPr txBox="1"/>
          <p:nvPr/>
        </p:nvSpPr>
        <p:spPr>
          <a:xfrm>
            <a:off x="8750808" y="5803392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[글씨 확대]</a:t>
            </a:r>
            <a:endParaRPr lang="en-US" sz="1200" dirty="0"/>
          </a:p>
        </p:txBody>
      </p:sp>
      <p:sp>
        <p:nvSpPr>
          <p:cNvPr id="63" name="Text 60"/>
          <p:cNvSpPr txBox="1"/>
          <p:nvPr/>
        </p:nvSpPr>
        <p:spPr>
          <a:xfrm>
            <a:off x="8750808" y="6096000"/>
            <a:ext cx="2889504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ON, 끄면 원래 크기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· 고객 그룹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이름이 곧 연락 이유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기준 10개 · 영업 기회 3개 · 신규 등록. 인원은 예시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611295" cy="431596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1611295" cy="43159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6053328"/>
            <a:ext cx="1611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기준 탭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77440" y="1691640"/>
            <a:ext cx="1965960" cy="26680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691640"/>
            <a:ext cx="1965960" cy="266808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377440" y="4405449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기회 탭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377440" y="4846320"/>
            <a:ext cx="1965960" cy="502920"/>
          </a:xfrm>
          <a:prstGeom prst="roundRect">
            <a:avLst>
              <a:gd name="adj" fmla="val 21818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606040" y="49377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색은 24쪽 참고</a:t>
            </a:r>
            <a:endParaRPr lang="en-US" sz="10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91640"/>
          <a:ext cx="706831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639312"/>
                <a:gridCol w="960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그룹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 들어오나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B768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우선순위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등록 고객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아직 분류 전인 신규 고객 · 다음 날 반영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-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암·뇌·심진단비 부족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진단비 2천만원 이하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표적항암 · 종수술비 부족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표적항암 5천만원 이하 · 종수술비 없음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지원일당 없음 · 치아 부족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간병인지원 입원일당 · 치아보철 없음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당월 영업 타겟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044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NEW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당월 회사 전략 담보 대상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(최상)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증권 5건 이상 · 월 50만원 이상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증권이 많거나 보험료가 큰 우량 고객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상령일 임박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044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NEW</a:t>
                      </a:r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· 생일 임박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30일 안에 보험 나이가 오름 · 곧 생일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사전동의 만료</a:t>
                      </a:r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0445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NEW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D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만료 임박 · 재동의 대상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182F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4572000" y="5897880"/>
            <a:ext cx="7068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고객이 여러 그룹에 들 수 있음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· 그룹 설명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설명 한 줄이 곧 상담 화법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그룹을 누르면 설명이 생성. 앞은 그룹 기준, 뒤는 고객 맞춤 화법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766560" cy="1249211"/>
          </a:xfrm>
          <a:prstGeom prst="roundRect">
            <a:avLst>
              <a:gd name="adj" fmla="val 102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766560" cy="124921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154680"/>
            <a:ext cx="6766560" cy="1186211"/>
          </a:xfrm>
          <a:prstGeom prst="roundRect">
            <a:avLst>
              <a:gd name="adj" fmla="val 107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6766560" cy="118621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293034" y="191095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2293034" y="191095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043823" y="255117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1043823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017785" y="395851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2017785" y="39585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48640" y="4617720"/>
            <a:ext cx="6766560" cy="1186211"/>
          </a:xfrm>
          <a:prstGeom prst="roundRect">
            <a:avLst>
              <a:gd name="adj" fmla="val 107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17720"/>
            <a:ext cx="6766560" cy="1186211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177123" y="542155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1177123" y="54215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680960" y="18013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768096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8065008" y="178308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이름 · 인원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8065008" y="2075688"/>
            <a:ext cx="35753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 부족 35명" · [전체]로 동의 고객만 골라 보기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680960" y="267004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768096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8065008" y="26517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한 줄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065008" y="294436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앞은 묶인 기준, 뒤는 말할 방향(화법)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7680960" y="35387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7680960" y="3538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6"/>
          <p:cNvSpPr txBox="1"/>
          <p:nvPr/>
        </p:nvSpPr>
        <p:spPr>
          <a:xfrm>
            <a:off x="8065008" y="352044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첫 말로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065008" y="381304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"재활·간병 기간이 길어 진단비가 곧 생활비예요."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7680960" y="44074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4" name="Text 29"/>
          <p:cNvSpPr txBox="1"/>
          <p:nvPr/>
        </p:nvSpPr>
        <p:spPr>
          <a:xfrm>
            <a:off x="768096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5" name="Text 30"/>
          <p:cNvSpPr txBox="1"/>
          <p:nvPr/>
        </p:nvSpPr>
        <p:spPr>
          <a:xfrm>
            <a:off x="8065008" y="43891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 임박이면</a:t>
            </a:r>
            <a:endParaRPr lang="en-US" sz="1400" dirty="0"/>
          </a:p>
        </p:txBody>
      </p:sp>
      <p:sp>
        <p:nvSpPr>
          <p:cNvPr id="36" name="Text 31"/>
          <p:cNvSpPr txBox="1"/>
          <p:nvPr/>
        </p:nvSpPr>
        <p:spPr>
          <a:xfrm>
            <a:off x="8065008" y="468172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축하 인사로 열고, MeAI 맞춤대화 보장 점검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7680960" y="5303520"/>
            <a:ext cx="3959352" cy="868680"/>
          </a:xfrm>
          <a:prstGeom prst="roundRect">
            <a:avLst>
              <a:gd name="adj" fmla="val 12632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7909560" y="5394960"/>
            <a:ext cx="3502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문자 초안은 MeAI에게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 오른쪽 패널의 일반대화 추천 질문을 누르면 이 그룹에 보낼 안내 문자 초안이 완성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· 고객 카드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누르면 펼쳐지는 여섯 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766560" cy="1148644"/>
          </a:xfrm>
          <a:prstGeom prst="roundRect">
            <a:avLst>
              <a:gd name="adj" fmla="val 111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11486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55682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접힌 카드 · AI 추천 고객 리본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926080"/>
            <a:ext cx="5550292" cy="3383280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5550292" cy="3383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01757" y="305328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01757" y="30532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01757" y="345585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01757" y="34558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892093" y="339589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5892093" y="3395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01757" y="384129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01757" y="384129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01757" y="426955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401757" y="426955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892093" y="512608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5892093" y="51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680960" y="14813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768096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1"/>
          <p:cNvSpPr txBox="1"/>
          <p:nvPr/>
        </p:nvSpPr>
        <p:spPr>
          <a:xfrm>
            <a:off x="8065008" y="146304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나이 · 유형</a:t>
            </a:r>
            <a:endParaRPr lang="en-US" sz="1350" dirty="0"/>
          </a:p>
        </p:txBody>
      </p:sp>
      <p:sp>
        <p:nvSpPr>
          <p:cNvPr id="26" name="Text 22"/>
          <p:cNvSpPr txBox="1"/>
          <p:nvPr/>
        </p:nvSpPr>
        <p:spPr>
          <a:xfrm>
            <a:off x="8065008" y="1755648"/>
            <a:ext cx="35753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담당자가 다르면 "담당 OOO" 표시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7680960" y="23042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768096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8065008" y="228600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이유 한 문장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8065008" y="2578608"/>
            <a:ext cx="35753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"암진단비가 1천만원대에 머물러 있습니다."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7680960" y="312724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768096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3" name="Text 29"/>
          <p:cNvSpPr txBox="1"/>
          <p:nvPr/>
        </p:nvSpPr>
        <p:spPr>
          <a:xfrm>
            <a:off x="8065008" y="310896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8065008" y="3401568"/>
            <a:ext cx="3575304" cy="483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만료(90일)까지 남은 날. 만료면 "필요", 철회면 "철회"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7680960" y="39502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768096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8065008" y="393192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 (우선순위 순)</a:t>
            </a:r>
            <a:endParaRPr lang="en-US" sz="1350" dirty="0"/>
          </a:p>
        </p:txBody>
      </p:sp>
      <p:sp>
        <p:nvSpPr>
          <p:cNvPr id="38" name="Text 34"/>
          <p:cNvSpPr txBox="1"/>
          <p:nvPr/>
        </p:nvSpPr>
        <p:spPr>
          <a:xfrm>
            <a:off x="8065008" y="4224528"/>
            <a:ext cx="35753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보라 = 당월 타겟. 부족 그룹은 그룹마다 색이 다름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7680960" y="47731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0" name="Text 36"/>
          <p:cNvSpPr txBox="1"/>
          <p:nvPr/>
        </p:nvSpPr>
        <p:spPr>
          <a:xfrm>
            <a:off x="7680960" y="4773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8065008" y="475488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고객 한눈에 보기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8065008" y="5047488"/>
            <a:ext cx="35753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칸 자세한 설명은 25쪽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7680960" y="55961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4" name="Text 40"/>
          <p:cNvSpPr txBox="1"/>
          <p:nvPr/>
        </p:nvSpPr>
        <p:spPr>
          <a:xfrm>
            <a:off x="7680960" y="5596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41"/>
          <p:cNvSpPr txBox="1"/>
          <p:nvPr/>
        </p:nvSpPr>
        <p:spPr>
          <a:xfrm>
            <a:off x="8065008" y="5577840"/>
            <a:ext cx="3575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 칸 · 미확인</a:t>
            </a:r>
            <a:endParaRPr lang="en-US" sz="1350" dirty="0"/>
          </a:p>
        </p:txBody>
      </p:sp>
      <p:sp>
        <p:nvSpPr>
          <p:cNvPr id="46" name="Text 42"/>
          <p:cNvSpPr txBox="1"/>
          <p:nvPr/>
        </p:nvSpPr>
        <p:spPr>
          <a:xfrm>
            <a:off x="8065008" y="5870448"/>
            <a:ext cx="35753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없으면 "미확인". 추정하지 않음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· 태그 색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태그는 이제 색으로 구분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그룹 7개가 저마다 다른 색. 여러 개 붙어도 한눈에 구분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1052886" y="384048"/>
            <a:ext cx="590169" cy="274320"/>
          </a:xfrm>
          <a:prstGeom prst="roundRect">
            <a:avLst>
              <a:gd name="adj" fmla="val 50000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052886" y="384048"/>
            <a:ext cx="59016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5257800" cy="452628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18745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그룹 · 색 7가지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840480" y="1874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3</a:t>
            </a:r>
            <a:endParaRPr lang="en-US" sz="1100" dirty="0"/>
          </a:p>
        </p:txBody>
      </p:sp>
      <p:pic>
        <p:nvPicPr>
          <p:cNvPr id="12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86000"/>
            <a:ext cx="1012874" cy="329184"/>
          </a:xfrm>
          <a:prstGeom prst="rect">
            <a:avLst/>
          </a:prstGeom>
        </p:spPr>
      </p:pic>
      <p:pic>
        <p:nvPicPr>
          <p:cNvPr id="13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06624"/>
            <a:ext cx="1012874" cy="329184"/>
          </a:xfrm>
          <a:prstGeom prst="rect">
            <a:avLst/>
          </a:prstGeom>
        </p:spPr>
      </p:pic>
      <p:pic>
        <p:nvPicPr>
          <p:cNvPr id="14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127248"/>
            <a:ext cx="1012874" cy="329184"/>
          </a:xfrm>
          <a:prstGeom prst="rect">
            <a:avLst/>
          </a:prstGeom>
        </p:spPr>
      </p:pic>
      <p:pic>
        <p:nvPicPr>
          <p:cNvPr id="15" name="Image 3" descr="MeAI 화면 캡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547872"/>
            <a:ext cx="1012874" cy="329184"/>
          </a:xfrm>
          <a:prstGeom prst="rect">
            <a:avLst/>
          </a:prstGeom>
        </p:spPr>
      </p:pic>
      <p:pic>
        <p:nvPicPr>
          <p:cNvPr id="16" name="Image 4" descr="MeAI 화면 캡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2286000"/>
            <a:ext cx="1012874" cy="329184"/>
          </a:xfrm>
          <a:prstGeom prst="rect">
            <a:avLst/>
          </a:prstGeom>
        </p:spPr>
      </p:pic>
      <p:pic>
        <p:nvPicPr>
          <p:cNvPr id="17" name="Image 5" descr="MeAI 화면 캡처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" y="2706624"/>
            <a:ext cx="1012874" cy="329184"/>
          </a:xfrm>
          <a:prstGeom prst="rect">
            <a:avLst/>
          </a:prstGeom>
        </p:spPr>
      </p:pic>
      <p:pic>
        <p:nvPicPr>
          <p:cNvPr id="18" name="Image 6" descr="MeAI 화면 캡처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3127248"/>
            <a:ext cx="739398" cy="32918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7724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당월 영업 타겟</a:t>
            </a:r>
            <a:endParaRPr lang="en-US" sz="1150" dirty="0"/>
          </a:p>
        </p:txBody>
      </p:sp>
      <p:sp>
        <p:nvSpPr>
          <p:cNvPr id="20" name="Text 11"/>
          <p:cNvSpPr txBox="1"/>
          <p:nvPr/>
        </p:nvSpPr>
        <p:spPr>
          <a:xfrm>
            <a:off x="777240" y="4389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1</a:t>
            </a:r>
            <a:endParaRPr lang="en-US" sz="1000" dirty="0"/>
          </a:p>
        </p:txBody>
      </p:sp>
      <p:pic>
        <p:nvPicPr>
          <p:cNvPr id="21" name="Image 7" descr="MeAI 화면 캡처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709160"/>
            <a:ext cx="1043260" cy="32918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246888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증권 · 납입</a:t>
            </a:r>
            <a:endParaRPr lang="en-US" sz="1150" dirty="0"/>
          </a:p>
        </p:txBody>
      </p:sp>
      <p:sp>
        <p:nvSpPr>
          <p:cNvPr id="23" name="Text 13"/>
          <p:cNvSpPr txBox="1"/>
          <p:nvPr/>
        </p:nvSpPr>
        <p:spPr>
          <a:xfrm>
            <a:off x="2468880" y="4389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2</a:t>
            </a:r>
            <a:endParaRPr lang="en-US" sz="1000" dirty="0"/>
          </a:p>
        </p:txBody>
      </p:sp>
      <p:pic>
        <p:nvPicPr>
          <p:cNvPr id="24" name="Image 8" descr="MeAI 화면 캡처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8880" y="4709160"/>
            <a:ext cx="997681" cy="329184"/>
          </a:xfrm>
          <a:prstGeom prst="rect">
            <a:avLst/>
          </a:prstGeom>
        </p:spPr>
      </p:pic>
      <p:pic>
        <p:nvPicPr>
          <p:cNvPr id="25" name="Image 9" descr="MeAI 화면 캡처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68880" y="5129784"/>
            <a:ext cx="1088839" cy="329184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416052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임박</a:t>
            </a:r>
            <a:endParaRPr lang="en-US" sz="1150" dirty="0"/>
          </a:p>
        </p:txBody>
      </p:sp>
      <p:sp>
        <p:nvSpPr>
          <p:cNvPr id="27" name="Text 15"/>
          <p:cNvSpPr txBox="1"/>
          <p:nvPr/>
        </p:nvSpPr>
        <p:spPr>
          <a:xfrm>
            <a:off x="4160520" y="438912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2</a:t>
            </a:r>
            <a:endParaRPr lang="en-US" sz="1000" dirty="0"/>
          </a:p>
        </p:txBody>
      </p:sp>
      <p:pic>
        <p:nvPicPr>
          <p:cNvPr id="28" name="Image 10" descr="MeAI 화면 캡처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0520" y="4709160"/>
            <a:ext cx="860943" cy="329184"/>
          </a:xfrm>
          <a:prstGeom prst="rect">
            <a:avLst/>
          </a:prstGeom>
        </p:spPr>
      </p:pic>
      <p:pic>
        <p:nvPicPr>
          <p:cNvPr id="29" name="Image 11" descr="MeAI 화면 캡처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0520" y="5129784"/>
            <a:ext cx="724205" cy="329184"/>
          </a:xfrm>
          <a:prstGeom prst="rect">
            <a:avLst/>
          </a:prstGeom>
        </p:spPr>
      </p:pic>
      <p:pic>
        <p:nvPicPr>
          <p:cNvPr id="30" name="Image 12" descr="MeAI 화면 캡처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60520" y="5550408"/>
            <a:ext cx="1271157" cy="329184"/>
          </a:xfrm>
          <a:prstGeom prst="rect">
            <a:avLst/>
          </a:prstGeom>
        </p:spPr>
      </p:pic>
      <p:sp>
        <p:nvSpPr>
          <p:cNvPr id="31" name="Text 16"/>
          <p:cNvSpPr txBox="1"/>
          <p:nvPr/>
        </p:nvSpPr>
        <p:spPr>
          <a:xfrm>
            <a:off x="6080760" y="178308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카드에는 우선순위 순서대로 표시</a:t>
            </a:r>
            <a:endParaRPr lang="en-US" sz="1200" dirty="0"/>
          </a:p>
        </p:txBody>
      </p:sp>
      <p:sp>
        <p:nvSpPr>
          <p:cNvPr id="32" name="Shape 17"/>
          <p:cNvSpPr/>
          <p:nvPr/>
        </p:nvSpPr>
        <p:spPr>
          <a:xfrm>
            <a:off x="6080760" y="2103120"/>
            <a:ext cx="5559552" cy="2009992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13" descr="MeAI 화면 캡처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80760" y="2103120"/>
            <a:ext cx="5559552" cy="2009992"/>
          </a:xfrm>
          <a:prstGeom prst="rect">
            <a:avLst/>
          </a:prstGeom>
        </p:spPr>
      </p:pic>
      <p:sp>
        <p:nvSpPr>
          <p:cNvPr id="34" name="Shape 18"/>
          <p:cNvSpPr/>
          <p:nvPr/>
        </p:nvSpPr>
        <p:spPr>
          <a:xfrm>
            <a:off x="6345908" y="3548604"/>
            <a:ext cx="4404876" cy="410552"/>
          </a:xfrm>
          <a:prstGeom prst="roundRect">
            <a:avLst>
              <a:gd name="adj" fmla="val 13363"/>
            </a:avLst>
          </a:prstGeom>
          <a:ln w="25400">
            <a:solidFill>
              <a:srgbClr val="3182F6"/>
            </a:solidFill>
            <a:prstDash val="solid"/>
          </a:ln>
        </p:spPr>
      </p:sp>
      <p:sp>
        <p:nvSpPr>
          <p:cNvPr id="35" name="Shape 19"/>
          <p:cNvSpPr/>
          <p:nvPr/>
        </p:nvSpPr>
        <p:spPr>
          <a:xfrm>
            <a:off x="6080760" y="4526280"/>
            <a:ext cx="1773936" cy="1737360"/>
          </a:xfrm>
          <a:prstGeom prst="roundRect">
            <a:avLst>
              <a:gd name="adj" fmla="val 7368"/>
            </a:avLst>
          </a:prstGeom>
          <a:solidFill>
            <a:srgbClr val="F0EDFF"/>
          </a:solidFill>
          <a:ln w="12700">
            <a:solidFill>
              <a:srgbClr val="F0EDFF"/>
            </a:solidFill>
            <a:prstDash val="solid"/>
          </a:ln>
        </p:spPr>
      </p:sp>
      <p:sp>
        <p:nvSpPr>
          <p:cNvPr id="36" name="Text 20"/>
          <p:cNvSpPr txBox="1"/>
          <p:nvPr/>
        </p:nvSpPr>
        <p:spPr>
          <a:xfrm>
            <a:off x="6263640" y="46908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48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1</a:t>
            </a:r>
            <a:endParaRPr lang="en-US" sz="1100" dirty="0"/>
          </a:p>
        </p:txBody>
      </p:sp>
      <p:sp>
        <p:nvSpPr>
          <p:cNvPr id="37" name="Text 21"/>
          <p:cNvSpPr txBox="1"/>
          <p:nvPr/>
        </p:nvSpPr>
        <p:spPr>
          <a:xfrm>
            <a:off x="6263640" y="50749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보라</a:t>
            </a:r>
            <a:endParaRPr lang="en-US" sz="1800" dirty="0"/>
          </a:p>
        </p:txBody>
      </p:sp>
      <p:sp>
        <p:nvSpPr>
          <p:cNvPr id="38" name="Text 22"/>
          <p:cNvSpPr txBox="1"/>
          <p:nvPr/>
        </p:nvSpPr>
        <p:spPr>
          <a:xfrm>
            <a:off x="6263640" y="55778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달 목표</a:t>
            </a:r>
            <a:endParaRPr lang="en-US" sz="1300" dirty="0"/>
          </a:p>
        </p:txBody>
      </p:sp>
      <p:sp>
        <p:nvSpPr>
          <p:cNvPr id="39" name="Shape 23"/>
          <p:cNvSpPr/>
          <p:nvPr/>
        </p:nvSpPr>
        <p:spPr>
          <a:xfrm>
            <a:off x="7973568" y="4526280"/>
            <a:ext cx="1773936" cy="1737360"/>
          </a:xfrm>
          <a:prstGeom prst="roundRect">
            <a:avLst>
              <a:gd name="adj" fmla="val 7368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40" name="Text 24"/>
          <p:cNvSpPr txBox="1"/>
          <p:nvPr/>
        </p:nvSpPr>
        <p:spPr>
          <a:xfrm>
            <a:off x="8156448" y="46908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2</a:t>
            </a:r>
            <a:endParaRPr lang="en-US" sz="1100" dirty="0"/>
          </a:p>
        </p:txBody>
      </p:sp>
      <p:sp>
        <p:nvSpPr>
          <p:cNvPr id="41" name="Text 25"/>
          <p:cNvSpPr txBox="1"/>
          <p:nvPr/>
        </p:nvSpPr>
        <p:spPr>
          <a:xfrm>
            <a:off x="8156448" y="50749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파랑 · 주황</a:t>
            </a:r>
            <a:endParaRPr lang="en-US" sz="1800" dirty="0"/>
          </a:p>
        </p:txBody>
      </p:sp>
      <p:sp>
        <p:nvSpPr>
          <p:cNvPr id="42" name="Text 26"/>
          <p:cNvSpPr txBox="1"/>
          <p:nvPr/>
        </p:nvSpPr>
        <p:spPr>
          <a:xfrm>
            <a:off x="8156448" y="55778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우량 · 날짜 임박</a:t>
            </a:r>
            <a:endParaRPr lang="en-US" sz="1300" dirty="0"/>
          </a:p>
        </p:txBody>
      </p:sp>
      <p:sp>
        <p:nvSpPr>
          <p:cNvPr id="43" name="Shape 27"/>
          <p:cNvSpPr/>
          <p:nvPr/>
        </p:nvSpPr>
        <p:spPr>
          <a:xfrm>
            <a:off x="9866376" y="4526280"/>
            <a:ext cx="1773936" cy="1737360"/>
          </a:xfrm>
          <a:prstGeom prst="roundRect">
            <a:avLst>
              <a:gd name="adj" fmla="val 7368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44" name="Text 28"/>
          <p:cNvSpPr txBox="1"/>
          <p:nvPr/>
        </p:nvSpPr>
        <p:spPr>
          <a:xfrm>
            <a:off x="10049256" y="46908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3</a:t>
            </a:r>
            <a:endParaRPr lang="en-US" sz="1100" dirty="0"/>
          </a:p>
        </p:txBody>
      </p:sp>
      <p:sp>
        <p:nvSpPr>
          <p:cNvPr id="45" name="Text 29"/>
          <p:cNvSpPr txBox="1"/>
          <p:nvPr/>
        </p:nvSpPr>
        <p:spPr>
          <a:xfrm>
            <a:off x="10049256" y="5074920"/>
            <a:ext cx="1408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7가지</a:t>
            </a:r>
            <a:endParaRPr lang="en-US" sz="1800" dirty="0"/>
          </a:p>
        </p:txBody>
      </p:sp>
      <p:sp>
        <p:nvSpPr>
          <p:cNvPr id="46" name="Text 30"/>
          <p:cNvSpPr txBox="1"/>
          <p:nvPr/>
        </p:nvSpPr>
        <p:spPr>
          <a:xfrm>
            <a:off x="10049256" y="5577840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부족한 보장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· 이 고객 한눈에 보기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칸으로 보는 이 고객의 상황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92258" y="1371600"/>
            <a:ext cx="800717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258" y="1371600"/>
            <a:ext cx="8007178" cy="2468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92258" y="3877056"/>
            <a:ext cx="80071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숫자는 예시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224528"/>
            <a:ext cx="35661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49808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가입한 보험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4663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계약 수. "지금 세 건 갖고 계세요"로 대화 시작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11396" y="4224528"/>
            <a:ext cx="35661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12564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보험료 납입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4512564" y="4663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납입액. 예산 감각을 잡는 기준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074152" y="4224528"/>
            <a:ext cx="35661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7532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접촉기회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46634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고객 행동. 계약변경조회는 관심 신호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5321808"/>
            <a:ext cx="35661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9808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금액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749808" y="57607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기준 대비 부족한 진단비. 이 금액이 곧 제안 크기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11396" y="5321808"/>
            <a:ext cx="35661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512564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1-5종수술비(plus)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4512564" y="57607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수술 담보 유무. "없음"이 곧 제안 포인트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074152" y="5321808"/>
            <a:ext cx="356616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827532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표적항암약물허가치료비(비급여)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8275320" y="57607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없으면 미확인. 보장분석에서 확인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· 다음 행동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패널에서 고르는 다음 행동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4526280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526280" cy="4937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1772" y="1521333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61772" y="15213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" y="2426589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61772" y="242658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61772" y="373303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61772" y="373303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05756" y="4751451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4905756" y="47514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905756" y="5389245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905756" y="538924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61772" y="58933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461772" y="58933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669280" y="14813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66928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053328" y="14630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고객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053328" y="1755648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바꾸면 패널도 바뀜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669280" y="22585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566928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6053328" y="224028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일반대화용 추천 질문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053328" y="2532888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조건에 맞는 안내 문자 문안 요청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0" y="30358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566928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6053328" y="301752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맞춤대화용 추천 질문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053328" y="3310128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질문이 채워진 채로 이 고객의 맞춤대화 시작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5669280" y="381304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566928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053328" y="379476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[보장분석]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053328" y="4087368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영업포탈의 이 고객 보장분석 화면으로 이동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669280" y="45902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566928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6053328" y="457200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 고객으로 맞춤대화 시작]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6053328" y="4864608"/>
            <a:ext cx="5559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고른 상태로 맞춤대화 시작.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동의가 필요한 고객은 이 자리에 [사전조회동의 요청하기]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5669280" y="55961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5669280" y="5596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6053328" y="55778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안내 문구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053328" y="5870448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다시 찾을 필요가 없다는 뜻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· 추천 질문 → 대화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채워진 채로 열리는 대화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223760" cy="451485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7223760" cy="45148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23594" y="2011108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323594" y="20111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08148" y="1885696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708148" y="1885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861810" y="1860614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861810" y="186061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08148" y="3957511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708148" y="395751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08148" y="4970844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708148" y="49708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708148" y="5246751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2708148" y="524675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587619" y="1384046"/>
            <a:ext cx="256032" cy="256032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587619" y="13840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93217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김도윤 패널에서 맞춤대화 추천 질문을 누른 화면 · 이름·계약·남은 날은 예시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092440" y="14356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09244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8476488" y="1417320"/>
            <a:ext cx="3166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고객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476488" y="1709928"/>
            <a:ext cx="316656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고객이 이미 들어와 있음.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남은 날(화면엔 '보장분석 동의')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92440" y="231343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8092440" y="2313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8476488" y="2295144"/>
            <a:ext cx="3166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계약 리스트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8476488" y="2587752"/>
            <a:ext cx="3166567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상품명 · 보험료 · 납입기간 · 기납입보험료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2440" y="297180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0924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8476488" y="2953512"/>
            <a:ext cx="3166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자료 준비 상태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476488" y="3246120"/>
            <a:ext cx="3166567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완료 · 구성 중 · 미확보.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완료가 아닌 상품은 답이 부정확할 수 있음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092440" y="384962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092440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8476488" y="3831336"/>
            <a:ext cx="3166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안내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8476488" y="4123944"/>
            <a:ext cx="3166567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"김도윤님의 보험 가입 내역이에요…"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092440" y="450799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8092440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8476488" y="4489704"/>
            <a:ext cx="3166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[보장분석 해줘]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8476488" y="4782312"/>
            <a:ext cx="3166567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위 버튼 하나로 전체 그림부터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092440" y="516636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809244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8476488" y="5148072"/>
            <a:ext cx="3166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채워진 질문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8476488" y="5440680"/>
            <a:ext cx="3166567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질문이 이미 입력됨. 전송(↑)만 누르면 시작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092440" y="58247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809244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8476488" y="5806440"/>
            <a:ext cx="3166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버튼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8476488" y="6099048"/>
            <a:ext cx="3166567" cy="25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분석 · 사용중인 정보 수정 · 요약 리포트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· 동의 상태별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상태별로 달라지는 다음 행동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보장 내역을 읽기 때문에 동의가 먼저. "D-n"이면 바로, "필요"면 알림톡 한 통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D-n · 유효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750404" cy="3154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11680"/>
            <a:ext cx="2750404" cy="31546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276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[이 고객으로 맞춤대화 시작]으로 바로 시작.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동의일부터 90일 동안 MeAI 맞춤대화 가능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311396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필요 · 만료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11396" y="2011680"/>
            <a:ext cx="3147097" cy="3154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96" y="2011680"/>
            <a:ext cx="3147097" cy="31546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311396" y="5276088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[사전조회동의 요청하기] → 휴대폰 번호 → 알림톡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김민수 고객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8074152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철회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74152" y="2011680"/>
            <a:ext cx="3566160" cy="1237415"/>
          </a:xfrm>
          <a:prstGeom prst="roundRect">
            <a:avLst>
              <a:gd name="adj" fmla="val 57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2011680"/>
            <a:ext cx="3566160" cy="123741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074152" y="3358823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회색 · 정보를 볼 수 없음. 버튼도 없음.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우회 말고 새 동의부터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74152" y="4023360"/>
            <a:ext cx="3566160" cy="1691640"/>
          </a:xfrm>
          <a:prstGeom prst="roundRect">
            <a:avLst>
              <a:gd name="adj" fmla="val 7568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 rot="16200000">
            <a:off x="7827264" y="4377250"/>
            <a:ext cx="310896" cy="182880"/>
          </a:xfrm>
          <a:prstGeom prst="triangl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348472" y="4133088"/>
            <a:ext cx="3154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· 만료 고객 수는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"사전조회 동의 필요"에 표시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8348472" y="46268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186</a:t>
            </a:r>
            <a:pPr indent="0" marL="0">
              <a:buNone/>
            </a:pPr>
            <a:r>
              <a:rPr lang="en-US" sz="16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명</a:t>
            </a:r>
            <a:pPr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예시</a:t>
            </a:r>
            <a:endParaRPr lang="en-US" sz="4000" dirty="0"/>
          </a:p>
        </p:txBody>
      </p:sp>
      <p:sp>
        <p:nvSpPr>
          <p:cNvPr id="23" name="Text 18"/>
          <p:cNvSpPr txBox="1"/>
          <p:nvPr/>
        </p:nvSpPr>
        <p:spPr>
          <a:xfrm>
            <a:off x="8348472" y="528523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동의를 받아야 맞춤대화가 열리는 고객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5989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동의하면 15분 안팎으로 반영 · MeAI 홈 [고객 동의]에서도 사전조회동의 발송 가능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4장 · 검색·필터·페이지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이름으로도, 조건으로도 검색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검색창을 누르면 추천 속성, 글자를 치면 연관검색어 표시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40680" cy="1229868"/>
          </a:xfrm>
          <a:prstGeom prst="roundRect">
            <a:avLst>
              <a:gd name="adj" fmla="val 884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440680" cy="12298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958084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검색창 → 추천 속성(암진단비 · 실손 · 상령일 · 자동차)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1691640"/>
            <a:ext cx="5422392" cy="212377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422392" cy="21237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217920" y="3851986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"암진단비" 입력 → 연관검색어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3566160"/>
            <a:ext cx="1921514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66160"/>
            <a:ext cx="1921514" cy="21031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330516" y="371534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1330516" y="371534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2880360" y="36301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2880360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3264408" y="361188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[전체] 드롭다운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264408" y="3904488"/>
            <a:ext cx="2770632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· 상품소개동의 고객만 골라 보기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880360" y="43616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2880360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3264408" y="4343400"/>
            <a:ext cx="2770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 N명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3264408" y="4636008"/>
            <a:ext cx="2770632" cy="46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 제목이 "검색 결과 N명"으로 바뀜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0명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217920" y="4315968"/>
            <a:ext cx="5422392" cy="1653168"/>
          </a:xfrm>
          <a:prstGeom prst="roundRect">
            <a:avLst>
              <a:gd name="adj" fmla="val 65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MeAI 화면 캡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315968"/>
            <a:ext cx="5422392" cy="165316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217920" y="6005712"/>
            <a:ext cx="5422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없을 때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318880" y="439196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7318880" y="43919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2880360" y="5349240"/>
            <a:ext cx="3154680" cy="457200"/>
          </a:xfrm>
          <a:prstGeom prst="roundRect">
            <a:avLst>
              <a:gd name="adj" fmla="val 24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3108960" y="5440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아래 ‹ 1 2 ›로 넘기기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게시판 · 사전조회 동의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 확인과 동의 요청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장의 화면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공지·이슈·기능안내를 한 곳에서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p.32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누르면 열리는 본문과 첨부파일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262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p.33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526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동의는 알림톡 한 통으로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5장 · 게시판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공지·이슈·기능안내를 한 곳에서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504213" cy="470916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504213" cy="47091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071616"/>
            <a:ext cx="55042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글 제목·날짜·내용은 예시.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56302" y="141500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356302" y="14150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230724" y="141500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230724" y="14150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954" y="2038815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94954" y="20388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863913" y="1818647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863913" y="18186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521292" y="1818647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4521292" y="18186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90849" y="5702175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2490849" y="57021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0" y="13898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6583680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6967728" y="137160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필터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967728" y="1664208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· 공지사항 · 이슈 · 기능안내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583680" y="20299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583680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967728" y="201168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967728" y="2304288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최신순이 기본, 조회순도 가능.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583680" y="267004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58368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Text 28"/>
          <p:cNvSpPr txBox="1"/>
          <p:nvPr/>
        </p:nvSpPr>
        <p:spPr>
          <a:xfrm>
            <a:off x="6967728" y="265176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표시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967728" y="2944368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공지사항 파랑 · 이슈 주황 · 기능안내 초록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583680" y="33101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6583680" y="3310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967728" y="329184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 · NEW · 첨부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6967728" y="3584448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핀 = 고정 글 · NEW = 7일 이내 · 클립 = 첨부 수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583680" y="39502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6583680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967728" y="393192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 · 조회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967728" y="4224528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게시일과 조회수.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583680" y="45902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658368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967728" y="4572000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6967728" y="4864608"/>
            <a:ext cx="4672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쪽 6건, ‹ 1 2 ›로 넘기기.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583680" y="5230368"/>
            <a:ext cx="5059375" cy="1078992"/>
          </a:xfrm>
          <a:prstGeom prst="roundRect">
            <a:avLst>
              <a:gd name="adj" fmla="val 10169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pic>
        <p:nvPicPr>
          <p:cNvPr id="46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5376672"/>
            <a:ext cx="2824399" cy="329184"/>
          </a:xfrm>
          <a:prstGeom prst="rect">
            <a:avLst/>
          </a:prstGeom>
        </p:spPr>
      </p:pic>
      <p:pic>
        <p:nvPicPr>
          <p:cNvPr id="47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4795" y="5376672"/>
            <a:ext cx="895380" cy="329184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9590959" y="5376672"/>
            <a:ext cx="973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· ·</a:t>
            </a:r>
            <a:endParaRPr lang="en-US" sz="1100" dirty="0"/>
          </a:p>
        </p:txBody>
      </p:sp>
      <p:sp>
        <p:nvSpPr>
          <p:cNvPr id="49" name="Text 44"/>
          <p:cNvSpPr txBox="1"/>
          <p:nvPr/>
        </p:nvSpPr>
        <p:spPr>
          <a:xfrm>
            <a:off x="6766560" y="5815584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위쪽  </a:t>
            </a:r>
            <a:pPr indent="0" marL="0"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홈]을 누르면 MeAI 홈으로 이동, [글씨 확대]는 기본 ON.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5장 · 글 상세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누르면 열리는 본문과 첨부파일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6127147" cy="4663440"/>
          </a:xfrm>
          <a:prstGeom prst="roundRect">
            <a:avLst>
              <a:gd name="adj" fmla="val 262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127147" cy="46634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089904"/>
            <a:ext cx="61271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오픈 안내 공지를 예로 든 화면 · 글 내용은 예시.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037811" y="1397831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37811" y="13978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71717" y="222159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2671717" y="2221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5294" y="3004505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95294" y="30045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24828" y="4427365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3624828" y="442736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475054" y="5319205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3475054" y="531920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995160" y="14813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99516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7379208" y="1463040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 목록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379208" y="175564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분류·정렬 상태 그대로 목록으로 이동.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95160" y="22585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99516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379208" y="2240280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 줄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379208" y="253288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· NEW · 날짜 · 조회. 핀은 고정 글.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995160" y="30358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99516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379208" y="3017520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379208" y="331012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시작 조건 같은 운영 기준 안내.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995160" y="381304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99516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7379208" y="3794760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7379208" y="408736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누르면 바로 내려받기.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995160" y="45902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99516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7379208" y="4572000"/>
            <a:ext cx="4261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글 · 다음 글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7379208" y="4864608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목록으로 나가지 않고 이어서 읽기.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995160" y="5349240"/>
            <a:ext cx="4645152" cy="960120"/>
          </a:xfrm>
          <a:prstGeom prst="roundRect">
            <a:avLst>
              <a:gd name="adj" fmla="val 11429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7223760" y="5440680"/>
            <a:ext cx="4187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점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글이 오면 MeAI 홈 [게시판] 버튼에 빨간 점 표시.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보이면 먼저 읽기.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5장 · 사전조회 동의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동의는 알림톡 한 통으로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보장 내역을 읽고 답변. 그래서 사전조회 동의가 먼저.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481328" cy="1188720"/>
          </a:xfrm>
          <a:prstGeom prst="roundRect">
            <a:avLst>
              <a:gd name="adj" fmla="val 10769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9280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579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알림톡 한 통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52374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[보내기] →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동의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17190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 가능 · 동의일부터 90일 · 칩의 D-n = 남은 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0891" y="1709928"/>
            <a:ext cx="2499421" cy="292608"/>
          </a:xfrm>
          <a:prstGeom prst="roundRect">
            <a:avLst>
              <a:gd name="adj" fmla="val 50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68907" y="1801368"/>
            <a:ext cx="109728" cy="109728"/>
          </a:xfrm>
          <a:prstGeom prst="ellipse">
            <a:avLst/>
          </a:prstGeom>
          <a:solidFill>
            <a:srgbClr val="F04452"/>
          </a:solidFill>
          <a:ln w="12700">
            <a:solidFill>
              <a:srgbClr val="F0445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470075" y="170992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철회 → 즉시 회색 · 정보를 볼 수 없음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31720" y="2029968"/>
            <a:ext cx="0" cy="713232"/>
          </a:xfrm>
          <a:prstGeom prst="line">
            <a:avLst/>
          </a:prstGeom>
          <a:noFill/>
          <a:ln w="9525">
            <a:solidFill>
              <a:srgbClr val="B0B8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83282" y="2029968"/>
            <a:ext cx="0" cy="713232"/>
          </a:xfrm>
          <a:prstGeom prst="line">
            <a:avLst/>
          </a:prstGeom>
          <a:noFill/>
          <a:ln w="9525">
            <a:solidFill>
              <a:srgbClr val="B0B8C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75720" y="2450592"/>
            <a:ext cx="0" cy="292608"/>
          </a:xfrm>
          <a:prstGeom prst="line">
            <a:avLst/>
          </a:prstGeom>
          <a:noFill/>
          <a:ln w="9525">
            <a:solidFill>
              <a:srgbClr val="B0B8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31720" y="2084832"/>
            <a:ext cx="751562" cy="310896"/>
          </a:xfrm>
          <a:prstGeom prst="roundRect">
            <a:avLst>
              <a:gd name="adj" fmla="val 17647"/>
            </a:avLst>
          </a:prstGeom>
          <a:solidFill>
            <a:srgbClr val="3182F6"/>
          </a:solidFill>
          <a:ln w="12700">
            <a:solidFill>
              <a:srgbClr val="31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9274" y="2176272"/>
            <a:ext cx="128016" cy="128016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66162" y="208483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만료 전 → [사전동의 만료] 그룹에서 미리 재요청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331720" y="2505456"/>
            <a:ext cx="9144000" cy="182880"/>
          </a:xfrm>
          <a:prstGeom prst="roundRect">
            <a:avLst>
              <a:gd name="adj" fmla="val 25000"/>
            </a:avLst>
          </a:prstGeom>
          <a:solidFill>
            <a:srgbClr val="C9E2FF"/>
          </a:solidFill>
          <a:ln w="12700">
            <a:solidFill>
              <a:srgbClr val="C9E2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27249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노출 · 사전조회 동의일로부터 3년 이내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30175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동의일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119858" y="30175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90일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56132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3년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331720" y="329184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후 15분 안팎 반영 · 90일이 지나면 만료 → "사전조회동의 필요"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291840"/>
            <a:ext cx="4142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 길이는 기간에 비례 (90일 : 3년)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611880"/>
            <a:ext cx="3931920" cy="1982343"/>
          </a:xfrm>
          <a:prstGeom prst="roundRect">
            <a:avLst>
              <a:gd name="adj" fmla="val 39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30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3931920" cy="1982343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548640" y="5639943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[고객 동의]에서도 사전조회동의 발송 가능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709160" y="3611880"/>
            <a:ext cx="3429000" cy="1076255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611880"/>
            <a:ext cx="3429000" cy="107625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4709160" y="4733855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고객찾기에서 요청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709160" y="5145335"/>
            <a:ext cx="3429000" cy="459988"/>
          </a:xfrm>
          <a:prstGeom prst="roundRect">
            <a:avLst>
              <a:gd name="adj" fmla="val 14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36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5145335"/>
            <a:ext cx="3429000" cy="45998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4709160" y="5651043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[보내기] 뒤 뜨는 알림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8366760" y="3611880"/>
            <a:ext cx="3276295" cy="1982343"/>
          </a:xfrm>
          <a:prstGeom prst="roundRect">
            <a:avLst>
              <a:gd name="adj" fmla="val 553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8595360" y="3703320"/>
            <a:ext cx="2819095" cy="1799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상품소개 동의  </a:t>
            </a:r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소개에 동의한 고객은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"AI 추천 고객" 리본 표시.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"상품제안 가능"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숫자에도 포함.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22415" y="82296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FFFFFF">
                    <a:alpha val="18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· 맞춤대화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묻고, 읽고, 보내기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>
                    <a:alpha val="7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장의 화면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p.35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홈에서 누르기만 하면 MeAI 시작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p.36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vs 맞춤대화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5262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p.37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526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 → 보장분석 → MeAI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892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p.38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892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일반대화는 무엇이든 물어보세요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257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p.39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257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고객 1명에 맞춘 보장분석부터 설계까지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623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p.40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5623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보장분석 해줘 한 마디로 시작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p.41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59893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분석 → 제안 → 다음 행동 순서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7947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p.42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[용어] 버튼 하나로 바로 뜻풀이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160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p.43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1605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모바일은 오른쪽 아래 [용어]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5262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p.44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526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질문마다 간편·상세 선택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48920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p.45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48920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모바일도 입력창 아래 [간편 분석]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52578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p.46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52578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버튼으로 이어가기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0" y="5623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>
                    <a:alpha val="7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p.47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5623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리포트는 네 단계로 발송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대화 열기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홈에서 누르기만 하면 MeAI 시작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즉시 대화 = 흰 카드, 검은 카드, 추천 카드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760720" cy="1288582"/>
          </a:xfrm>
          <a:prstGeom prst="roundRect">
            <a:avLst>
              <a:gd name="adj" fmla="val 8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760720" cy="128858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89066" y="2262659"/>
            <a:ext cx="2809614" cy="687244"/>
          </a:xfrm>
          <a:prstGeom prst="roundRect">
            <a:avLst>
              <a:gd name="adj" fmla="val 7983"/>
            </a:avLst>
          </a:prstGeom>
          <a:ln w="22225">
            <a:solidFill>
              <a:srgbClr val="3182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59320" y="2262659"/>
            <a:ext cx="2809614" cy="687244"/>
          </a:xfrm>
          <a:prstGeom prst="roundRect">
            <a:avLst>
              <a:gd name="adj" fmla="val 7983"/>
            </a:avLst>
          </a:prstGeom>
          <a:ln w="22225">
            <a:solidFill>
              <a:srgbClr val="3182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725" y="211731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43725" y="21173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13978" y="211731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3313978" y="21173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144814"/>
            <a:ext cx="5760720" cy="896112"/>
          </a:xfrm>
          <a:prstGeom prst="roundRect">
            <a:avLst>
              <a:gd name="adj" fmla="val 14286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7240" y="326368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문구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3556294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“어떤 대화를 시작할지만 고르면, 나머지는 MeAI가 준비합니다.”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178086"/>
            <a:ext cx="576072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</p:spPr>
      </p:sp>
      <p:pic>
        <p:nvPicPr>
          <p:cNvPr id="19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421317"/>
            <a:ext cx="1188720" cy="42793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194560" y="429695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잃으면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2194560" y="458956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화면이든 왼쪽 위 [MeAI 홈]을 누르면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화면으로 이동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14735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화면의 이름·숫자는 예시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6537960" y="1691640"/>
            <a:ext cx="5105095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10070287" y="1828800"/>
            <a:ext cx="1463040" cy="914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287" y="1828800"/>
            <a:ext cx="1463040" cy="9144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702552" y="181965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6702552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7104888" y="1801368"/>
            <a:ext cx="2855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</a:t>
            </a:r>
            <a:endParaRPr lang="en-US" sz="1450" dirty="0"/>
          </a:p>
        </p:txBody>
      </p:sp>
      <p:sp>
        <p:nvSpPr>
          <p:cNvPr id="29" name="Text 24"/>
          <p:cNvSpPr txBox="1"/>
          <p:nvPr/>
        </p:nvSpPr>
        <p:spPr>
          <a:xfrm>
            <a:off x="7104888" y="2148840"/>
            <a:ext cx="2855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[일반대화] 카드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질문 예시 누르기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104888" y="2569464"/>
            <a:ext cx="28556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무엇이든 질문 · 바로 시작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537960" y="2990088"/>
            <a:ext cx="5105095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10070287" y="3085592"/>
            <a:ext cx="1463040" cy="997712"/>
          </a:xfrm>
          <a:prstGeom prst="roundRect">
            <a:avLst>
              <a:gd name="adj" fmla="val 29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3" descr="MeAI 화면 캡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0287" y="3085592"/>
            <a:ext cx="1463040" cy="997712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6702552" y="311810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5" name="Text 29"/>
          <p:cNvSpPr txBox="1"/>
          <p:nvPr/>
        </p:nvSpPr>
        <p:spPr>
          <a:xfrm>
            <a:off x="6702552" y="3118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7104888" y="3099816"/>
            <a:ext cx="2855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7104888" y="3447288"/>
            <a:ext cx="2855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[맞춤대화] 카드 → 이름 한 글자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[맞춤대화]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7104888" y="3867912"/>
            <a:ext cx="28556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한 명의 보장 내역으로 답변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6537960" y="4288536"/>
            <a:ext cx="5105095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10070287" y="4495102"/>
            <a:ext cx="1463040" cy="775587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41" name="Image 4" descr="MeAI 화면 캡처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0287" y="4495102"/>
            <a:ext cx="1463040" cy="775587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6702552" y="441655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3" name="Text 36"/>
          <p:cNvSpPr txBox="1"/>
          <p:nvPr/>
        </p:nvSpPr>
        <p:spPr>
          <a:xfrm>
            <a:off x="6702552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7104888" y="4398264"/>
            <a:ext cx="285567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카드에서</a:t>
            </a:r>
            <a:endParaRPr lang="en-US" sz="1450" dirty="0"/>
          </a:p>
        </p:txBody>
      </p:sp>
      <p:sp>
        <p:nvSpPr>
          <p:cNvPr id="45" name="Text 38"/>
          <p:cNvSpPr txBox="1"/>
          <p:nvPr/>
        </p:nvSpPr>
        <p:spPr>
          <a:xfrm>
            <a:off x="7104888" y="4745736"/>
            <a:ext cx="2855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고객찾기에서 열기]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추천 질문 → 전송(↑)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7104888" y="5166360"/>
            <a:ext cx="28556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질문이 채워진 채로 열림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548640" y="5614416"/>
            <a:ext cx="11094415" cy="603504"/>
          </a:xfrm>
          <a:prstGeom prst="roundRect">
            <a:avLst>
              <a:gd name="adj" fmla="val 21212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822960" y="5614416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E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기억할 것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누르고 → 고르고 → 보내기. 클릭만으로 편하게 시작하는 MeAI 대화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두 가지 대화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 vs 맞춤대화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정하지 않으면 일반대화, 정하면 맞춤대화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40680" cy="3931920"/>
          </a:xfrm>
          <a:prstGeom prst="roundRect">
            <a:avLst>
              <a:gd name="adj" fmla="val 3721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128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무엇이든 물어보는 창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28529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52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상품·특약 개념 질문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2826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2826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 보장 비교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7124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124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설득 화법 만들기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1422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142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지식 확인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645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들어가는 곳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9194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[일반대화] 카드 · 모바일 [MeAI 일반대화]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CRM 리스트 [MeAI 일반대화]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9632" y="1691640"/>
            <a:ext cx="5440680" cy="3931920"/>
          </a:xfrm>
          <a:prstGeom prst="roundRect">
            <a:avLst>
              <a:gd name="adj" fmla="val 3721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65392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65392" y="22128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1명에 맞춘 보장분석부터 설계까지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28529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31152" y="2852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선택 → 보장분석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328269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931152" y="32826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부족 보장 · 제안 우선순위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65392" y="37124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931152" y="37124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상세설계 · 가계약 요청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565392" y="41422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31152" y="41422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 → 카카오톡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565392" y="46451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들어가는 곳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65392" y="49194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[맞춤대화] 카드 · 고객찾기 · 모바일 [MeAI]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영업포탈 CRM 리스트 [MeAI 맞춤대화]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760720"/>
            <a:ext cx="11094415" cy="548640"/>
          </a:xfrm>
          <a:prstGeom prst="roundRect">
            <a:avLst>
              <a:gd name="adj" fmla="val 20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58521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만나기 전에는 꼭 맞춤대화로 준비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모바일에서 들어가기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 → 보장분석 → MeAI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휴대폰은 앱 홈 → 보장분석 → MeAI 순서로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</a:t>
            </a:r>
            <a:endParaRPr lang="en-US" sz="900" dirty="0"/>
          </a:p>
        </p:txBody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28" y="1691640"/>
            <a:ext cx="2142785" cy="4343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6071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앱 홈 · [보장분석]</a:t>
            </a:r>
            <a:endParaRPr lang="en-US" sz="1000" dirty="0"/>
          </a:p>
        </p:txBody>
      </p:sp>
      <p:pic>
        <p:nvPicPr>
          <p:cNvPr id="9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691640"/>
            <a:ext cx="2194560" cy="429506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958829" y="2271631"/>
            <a:ext cx="702259" cy="100323"/>
          </a:xfrm>
          <a:prstGeom prst="rect">
            <a:avLst/>
          </a:prstGeom>
          <a:solidFill>
            <a:srgbClr val="37383C"/>
          </a:solidFill>
          <a:ln w="12700">
            <a:solidFill>
              <a:srgbClr val="37383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880360" y="60716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상단 버튼 · ③ 카드 [MeAI]</a:t>
            </a:r>
            <a:endParaRPr lang="en-US" sz="1000" dirty="0"/>
          </a:p>
        </p:txBody>
      </p:sp>
      <p:pic>
        <p:nvPicPr>
          <p:cNvPr id="12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39" y="1691640"/>
            <a:ext cx="2068801" cy="4343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12080" y="60716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대화 화면 ≡ 메뉴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49808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749808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7882128" y="1691640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[보장분석] 누르기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7882128" y="1984248"/>
            <a:ext cx="375818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홈 아이콘 묶음의 첫 번째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498080" y="2386203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498080" y="23862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7882128" y="2367915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일반대화]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7882128" y="2660523"/>
            <a:ext cx="375818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 위, 무엇이든 묻는 창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498080" y="306247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498080" y="30624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7882128" y="3044190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카드의 [MeAI]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7882128" y="3336798"/>
            <a:ext cx="375818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그 고객 맞춤대화가 열림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7498080" y="3738753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7498080" y="37387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7882128" y="3720465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≡ 메뉴</a:t>
            </a:r>
            <a:endParaRPr lang="en-US" sz="1350" dirty="0"/>
          </a:p>
        </p:txBody>
      </p:sp>
      <p:sp>
        <p:nvSpPr>
          <p:cNvPr id="29" name="Text 24"/>
          <p:cNvSpPr txBox="1"/>
          <p:nvPr/>
        </p:nvSpPr>
        <p:spPr>
          <a:xfrm>
            <a:off x="7882128" y="4013073"/>
            <a:ext cx="375818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 · 사용 가이드 · 월별 대화 목록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438912" y="314553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Text 26"/>
          <p:cNvSpPr txBox="1"/>
          <p:nvPr/>
        </p:nvSpPr>
        <p:spPr>
          <a:xfrm>
            <a:off x="438912" y="3145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983480" y="29900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28"/>
          <p:cNvSpPr txBox="1"/>
          <p:nvPr/>
        </p:nvSpPr>
        <p:spPr>
          <a:xfrm>
            <a:off x="4983480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4983480" y="398678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4983480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5111496" y="243230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2"/>
          <p:cNvSpPr txBox="1"/>
          <p:nvPr/>
        </p:nvSpPr>
        <p:spPr>
          <a:xfrm>
            <a:off x="5111496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7498080" y="4389120"/>
            <a:ext cx="4142232" cy="713232"/>
          </a:xfrm>
          <a:prstGeom prst="roundRect">
            <a:avLst>
              <a:gd name="adj" fmla="val 15385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7726680" y="4480560"/>
            <a:ext cx="3685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이력·저장한 나의 질문은 PC와 모바일이 같음</a:t>
            </a:r>
            <a:endParaRPr lang="en-US" sz="1150" dirty="0"/>
          </a:p>
        </p:txBody>
      </p:sp>
      <p:sp>
        <p:nvSpPr>
          <p:cNvPr id="40" name="Shape 35"/>
          <p:cNvSpPr/>
          <p:nvPr/>
        </p:nvSpPr>
        <p:spPr>
          <a:xfrm>
            <a:off x="7498080" y="5230368"/>
            <a:ext cx="4142232" cy="768096"/>
          </a:xfrm>
          <a:prstGeom prst="roundRect">
            <a:avLst>
              <a:gd name="adj" fmla="val 14286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726680" y="5321808"/>
            <a:ext cx="3685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목록 위 "오늘 보장분석 활용"에서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쓴 횟수 확인</a:t>
            </a:r>
            <a:endParaRPr lang="en-US" sz="1150" dirty="0"/>
          </a:p>
        </p:txBody>
      </p:sp>
      <p:sp>
        <p:nvSpPr>
          <p:cNvPr id="42" name="Text 37"/>
          <p:cNvSpPr txBox="1"/>
          <p:nvPr/>
        </p:nvSpPr>
        <p:spPr>
          <a:xfrm>
            <a:off x="7498080" y="6071616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화면 속 이름은 예시 · 일부 글자는 가림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일반대화 화면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일반대화는 “무엇이든 물어보세요”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고객을 정하지 않고 상품·약관·화법을 일반대화에서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035040" cy="4310743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035040" cy="431074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64920" y="176609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264920" y="17660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83495" y="230733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183495" y="2307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183495" y="2901261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183495" y="290126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24615" y="386878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524615" y="3868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24615" y="525301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524615" y="52530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11649" y="521469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1111649" y="52146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866862" y="4991753"/>
            <a:ext cx="1982942" cy="129322"/>
          </a:xfrm>
          <a:prstGeom prst="roundRect">
            <a:avLst>
              <a:gd name="adj" fmla="val 21212"/>
            </a:avLst>
          </a:prstGeom>
          <a:ln w="19050">
            <a:solidFill>
              <a:srgbClr val="F0445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6029815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[일반대화] 카드로 들어온 첫 화면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49440" y="170078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949440" y="1700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333488" y="1691640"/>
            <a:ext cx="4309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[MeAI 홈]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7333488" y="1984248"/>
            <a:ext cx="4309567" cy="22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누르면 MeAI 홈으로 이동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949440" y="226847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6949440" y="22684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7333488" y="2259330"/>
            <a:ext cx="4309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 · 사용 가이드</a:t>
            </a:r>
            <a:endParaRPr 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7333488" y="2551938"/>
            <a:ext cx="4309567" cy="22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원문 찾기 · 화면 사용법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949440" y="28361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949440" y="28361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3" name="Text 30"/>
          <p:cNvSpPr txBox="1"/>
          <p:nvPr/>
        </p:nvSpPr>
        <p:spPr>
          <a:xfrm>
            <a:off x="7333488" y="2827020"/>
            <a:ext cx="4309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</a:t>
            </a:r>
            <a:endParaRPr lang="en-US" sz="1350" dirty="0"/>
          </a:p>
        </p:txBody>
      </p:sp>
      <p:sp>
        <p:nvSpPr>
          <p:cNvPr id="34" name="Text 31"/>
          <p:cNvSpPr txBox="1"/>
          <p:nvPr/>
        </p:nvSpPr>
        <p:spPr>
          <a:xfrm>
            <a:off x="7333488" y="3119628"/>
            <a:ext cx="4309567" cy="22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월별로 쌓임 · 누르면 이어서 질문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949440" y="340385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6949440" y="34038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7333488" y="3394710"/>
            <a:ext cx="4309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예시 탭 3개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7333488" y="3687318"/>
            <a:ext cx="4309567" cy="22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비교 · 지식 검색 · 자주하는 질문 → 누르면 시작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49440" y="397154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949440" y="3971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7333488" y="3962400"/>
            <a:ext cx="4309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</a:t>
            </a:r>
            <a:endParaRPr lang="en-US" sz="1350" dirty="0"/>
          </a:p>
        </p:txBody>
      </p:sp>
      <p:sp>
        <p:nvSpPr>
          <p:cNvPr id="42" name="Text 39"/>
          <p:cNvSpPr txBox="1"/>
          <p:nvPr/>
        </p:nvSpPr>
        <p:spPr>
          <a:xfrm>
            <a:off x="7333488" y="4255008"/>
            <a:ext cx="4309567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말하듯 쓰고 전송(↑) · [상품 선택]으로 상품 고르기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044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테두리 안내대로 이름·연락처는 넣지 않음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949440" y="473202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6949440" y="4732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7333488" y="4722876"/>
            <a:ext cx="430956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[새로 대화하기]</a:t>
            </a:r>
            <a:endParaRPr lang="en-US" sz="1350" dirty="0"/>
          </a:p>
        </p:txBody>
      </p:sp>
      <p:sp>
        <p:nvSpPr>
          <p:cNvPr id="46" name="Text 43"/>
          <p:cNvSpPr txBox="1"/>
          <p:nvPr/>
        </p:nvSpPr>
        <p:spPr>
          <a:xfrm>
            <a:off x="7333488" y="5015484"/>
            <a:ext cx="4309567" cy="229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주제가 바뀌면 새로 열기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6949440" y="5308854"/>
            <a:ext cx="4693615" cy="768096"/>
          </a:xfrm>
          <a:prstGeom prst="roundRect">
            <a:avLst>
              <a:gd name="adj" fmla="val 16667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132320" y="5400294"/>
            <a:ext cx="108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사용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8214360" y="5400294"/>
            <a:ext cx="126517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E2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14360" y="5400294"/>
            <a:ext cx="12651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상품·특약 개념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570974" y="5400294"/>
            <a:ext cx="15864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E2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570974" y="5400294"/>
            <a:ext cx="15864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자사·타사 보장 비교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8214360" y="5747766"/>
            <a:ext cx="12512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E2FF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214360" y="5747766"/>
            <a:ext cx="1251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설득 화법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9557004" y="5747766"/>
            <a:ext cx="12512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E2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557004" y="5747766"/>
            <a:ext cx="1251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지식 확인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PC 맞춤대화 화면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“고객 1명에 맞춘 보장분석부터 설계까지”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고객의 보장 내역을 읽고 답변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461504" cy="466344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461504" cy="4663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802587" y="233934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802587" y="23393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02587" y="311658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1802587" y="31165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802587" y="402336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1802587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170432" y="561929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1170432" y="561929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36971" y="167609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636971" y="167609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56002" y="265023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2756002" y="2650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56002" y="412699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2756002" y="4126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73824" y="529803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973824" y="529803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56002" y="568147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2756002" y="5681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156655" y="12527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이름·숫자는 예시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421624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421624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8805672" y="1691640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고객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805672" y="1993392"/>
            <a:ext cx="283738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사전조회동의 남은 일수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(화면엔 '보장분석 동의')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421624" y="241401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8421624" y="2414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8805672" y="2395728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검색·사용 가이드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805672" y="2697480"/>
            <a:ext cx="28373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약관 원문과 화면 안내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8421624" y="292608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4"/>
          <p:cNvSpPr txBox="1"/>
          <p:nvPr/>
        </p:nvSpPr>
        <p:spPr>
          <a:xfrm>
            <a:off x="8421624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8" name="Text 35"/>
          <p:cNvSpPr txBox="1"/>
          <p:nvPr/>
        </p:nvSpPr>
        <p:spPr>
          <a:xfrm>
            <a:off x="8805672" y="2907792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이력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805672" y="3209544"/>
            <a:ext cx="28373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목록 · 누르면 이어서 질문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8421624" y="343814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421624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8805672" y="341985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대화하기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8421624" y="395020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8421624" y="3950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5" name="Text 42"/>
          <p:cNvSpPr txBox="1"/>
          <p:nvPr/>
        </p:nvSpPr>
        <p:spPr>
          <a:xfrm>
            <a:off x="8805672" y="3931920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버튼 3개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8805672" y="4233672"/>
            <a:ext cx="28373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 분석 · 사용중인 정보 수정 · 요약 리포트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8421624" y="446227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8" name="Text 45"/>
          <p:cNvSpPr txBox="1"/>
          <p:nvPr/>
        </p:nvSpPr>
        <p:spPr>
          <a:xfrm>
            <a:off x="8421624" y="4462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49" name="Text 46"/>
          <p:cNvSpPr txBox="1"/>
          <p:nvPr/>
        </p:nvSpPr>
        <p:spPr>
          <a:xfrm>
            <a:off x="8805672" y="4443984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질문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8805672" y="4745736"/>
            <a:ext cx="28373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복사·편집·저장 아이콘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8421624" y="497433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2" name="Text 49"/>
          <p:cNvSpPr txBox="1"/>
          <p:nvPr/>
        </p:nvSpPr>
        <p:spPr>
          <a:xfrm>
            <a:off x="8421624" y="4974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53" name="Text 50"/>
          <p:cNvSpPr txBox="1"/>
          <p:nvPr/>
        </p:nvSpPr>
        <p:spPr>
          <a:xfrm>
            <a:off x="8805672" y="4956048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</a:t>
            </a:r>
            <a:endParaRPr lang="en-US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8805672" y="5257800"/>
            <a:ext cx="28373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갖춰진 것 → 비어 있는 것 → 할 일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8421624" y="548640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8421624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8805672" y="5468112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NEW [용어] 버튼</a:t>
            </a:r>
            <a:endParaRPr lang="en-US" sz="1300" dirty="0"/>
          </a:p>
        </p:txBody>
      </p:sp>
      <p:sp>
        <p:nvSpPr>
          <p:cNvPr id="58" name="Text 55"/>
          <p:cNvSpPr txBox="1"/>
          <p:nvPr/>
        </p:nvSpPr>
        <p:spPr>
          <a:xfrm>
            <a:off x="8805672" y="5769864"/>
            <a:ext cx="28373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오른쪽 위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8421624" y="599846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60" name="Text 57"/>
          <p:cNvSpPr txBox="1"/>
          <p:nvPr/>
        </p:nvSpPr>
        <p:spPr>
          <a:xfrm>
            <a:off x="8421624" y="5998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50" dirty="0"/>
          </a:p>
        </p:txBody>
      </p:sp>
      <p:sp>
        <p:nvSpPr>
          <p:cNvPr id="61" name="Text 58"/>
          <p:cNvSpPr txBox="1"/>
          <p:nvPr/>
        </p:nvSpPr>
        <p:spPr>
          <a:xfrm>
            <a:off x="8805672" y="5980176"/>
            <a:ext cx="283738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맞춤대화 시작 화면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“보장분석 해줘” 한 마디로 시작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21808" cy="2187621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21808" cy="218762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668949"/>
            <a:ext cx="5321808" cy="2673605"/>
          </a:xfrm>
          <a:prstGeom prst="roundRect">
            <a:avLst>
              <a:gd name="adj" fmla="val 39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68949"/>
            <a:ext cx="5321808" cy="26736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310310" y="182616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1310310" y="182616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370465" y="150643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2370465" y="1506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370465" y="2385688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2370465" y="238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39275" y="3142941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5639275" y="31429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2762" y="3970744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602762" y="3970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895331" y="3958043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2895331" y="395804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2762" y="492968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602762" y="492968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02762" y="538693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602762" y="538693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6236208" y="1024128"/>
            <a:ext cx="5404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이름·숫자는 예시 · 정보 칸이 열려 있으면 아래가 흐림(^로 접으면 밝아짐)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236208" y="144475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6236208" y="1444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9" name="Text 25"/>
          <p:cNvSpPr txBox="1"/>
          <p:nvPr/>
        </p:nvSpPr>
        <p:spPr>
          <a:xfrm>
            <a:off x="6620256" y="14173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고객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8906256" y="1417320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정해진 채로 열렸다는 표시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236208" y="190195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23620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3" name="Text 29"/>
          <p:cNvSpPr txBox="1"/>
          <p:nvPr/>
        </p:nvSpPr>
        <p:spPr>
          <a:xfrm>
            <a:off x="6620256" y="18745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정보 입력</a:t>
            </a:r>
            <a:endParaRPr lang="en-US" sz="1350" dirty="0"/>
          </a:p>
        </p:txBody>
      </p:sp>
      <p:sp>
        <p:nvSpPr>
          <p:cNvPr id="34" name="Text 30"/>
          <p:cNvSpPr txBox="1"/>
          <p:nvPr/>
        </p:nvSpPr>
        <p:spPr>
          <a:xfrm>
            <a:off x="8906256" y="1874520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넣으면 고객 맥락을 살려 답변</a:t>
            </a:r>
            <a:endParaRPr lang="en-US" sz="1150" dirty="0"/>
          </a:p>
        </p:txBody>
      </p:sp>
      <p:sp>
        <p:nvSpPr>
          <p:cNvPr id="35" name="Shape 31"/>
          <p:cNvSpPr/>
          <p:nvPr/>
        </p:nvSpPr>
        <p:spPr>
          <a:xfrm>
            <a:off x="6236208" y="243230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6" name="Text 32"/>
          <p:cNvSpPr txBox="1"/>
          <p:nvPr/>
        </p:nvSpPr>
        <p:spPr>
          <a:xfrm>
            <a:off x="6236208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7" name="Text 33"/>
          <p:cNvSpPr txBox="1"/>
          <p:nvPr/>
        </p:nvSpPr>
        <p:spPr>
          <a:xfrm>
            <a:off x="6620256" y="23317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칸, 아는 것만</a:t>
            </a:r>
            <a:endParaRPr lang="en-US" sz="1350" dirty="0"/>
          </a:p>
        </p:txBody>
      </p:sp>
      <p:sp>
        <p:nvSpPr>
          <p:cNvPr id="38" name="Text 34"/>
          <p:cNvSpPr txBox="1"/>
          <p:nvPr/>
        </p:nvSpPr>
        <p:spPr>
          <a:xfrm>
            <a:off x="8906256" y="2331720"/>
            <a:ext cx="2734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병력·가족력이 핵심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이름·연락처는 넣지 않음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6236208" y="296265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0" name="Text 36"/>
          <p:cNvSpPr txBox="1"/>
          <p:nvPr/>
        </p:nvSpPr>
        <p:spPr>
          <a:xfrm>
            <a:off x="6236208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6620256" y="29352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[입력 완료]로 반영</a:t>
            </a:r>
            <a:endParaRPr lang="en-US" sz="1350" dirty="0"/>
          </a:p>
        </p:txBody>
      </p:sp>
      <p:sp>
        <p:nvSpPr>
          <p:cNvPr id="42" name="Text 38"/>
          <p:cNvSpPr txBox="1"/>
          <p:nvPr/>
        </p:nvSpPr>
        <p:spPr>
          <a:xfrm>
            <a:off x="8906256" y="2935224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땐 [사용중인 정보 수정]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6236208" y="3355848"/>
            <a:ext cx="5404104" cy="420624"/>
          </a:xfrm>
          <a:prstGeom prst="roundRect">
            <a:avLst>
              <a:gd name="adj" fmla="val 26087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6437376" y="3355848"/>
            <a:ext cx="5038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고객에 대한 정보를 잘 모르겠다면 </a:t>
            </a:r>
            <a:pPr indent="0" marL="0">
              <a:buNone/>
            </a:pPr>
            <a:r>
              <a:rPr lang="en-US" sz="11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“입력하지 않고 넘어가기”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6236208" y="393192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6" name="Text 42"/>
          <p:cNvSpPr txBox="1"/>
          <p:nvPr/>
        </p:nvSpPr>
        <p:spPr>
          <a:xfrm>
            <a:off x="6236208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7" name="Text 43"/>
          <p:cNvSpPr txBox="1"/>
          <p:nvPr/>
        </p:nvSpPr>
        <p:spPr>
          <a:xfrm>
            <a:off x="6620256" y="39044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계약 총 보험료</a:t>
            </a:r>
            <a:endParaRPr lang="en-US" sz="1350" dirty="0"/>
          </a:p>
        </p:txBody>
      </p:sp>
      <p:sp>
        <p:nvSpPr>
          <p:cNvPr id="48" name="Text 44"/>
          <p:cNvSpPr txBox="1"/>
          <p:nvPr/>
        </p:nvSpPr>
        <p:spPr>
          <a:xfrm>
            <a:off x="8906256" y="390448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"지금 매달 이만큼 내고 계세요"로 시작</a:t>
            </a:r>
            <a:endParaRPr lang="en-US" sz="1150" dirty="0"/>
          </a:p>
        </p:txBody>
      </p:sp>
      <p:sp>
        <p:nvSpPr>
          <p:cNvPr id="49" name="Shape 45"/>
          <p:cNvSpPr/>
          <p:nvPr/>
        </p:nvSpPr>
        <p:spPr>
          <a:xfrm>
            <a:off x="6236208" y="438912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0" name="Text 46"/>
          <p:cNvSpPr txBox="1"/>
          <p:nvPr/>
        </p:nvSpPr>
        <p:spPr>
          <a:xfrm>
            <a:off x="6236208" y="4389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6620256" y="43616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약관DB 준비 상태</a:t>
            </a:r>
            <a:endParaRPr lang="en-US" sz="1350" dirty="0"/>
          </a:p>
        </p:txBody>
      </p:sp>
      <p:sp>
        <p:nvSpPr>
          <p:cNvPr id="52" name="Text 48"/>
          <p:cNvSpPr txBox="1"/>
          <p:nvPr/>
        </p:nvSpPr>
        <p:spPr>
          <a:xfrm>
            <a:off x="8906256" y="436168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안 된 상품은 답이 부정확할 수 있음</a:t>
            </a:r>
            <a:endParaRPr lang="en-US" sz="1150" dirty="0"/>
          </a:p>
        </p:txBody>
      </p:sp>
      <p:sp>
        <p:nvSpPr>
          <p:cNvPr id="53" name="Shape 49"/>
          <p:cNvSpPr/>
          <p:nvPr/>
        </p:nvSpPr>
        <p:spPr>
          <a:xfrm>
            <a:off x="6236208" y="484632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4" name="Text 50"/>
          <p:cNvSpPr txBox="1"/>
          <p:nvPr/>
        </p:nvSpPr>
        <p:spPr>
          <a:xfrm>
            <a:off x="6236208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50" dirty="0"/>
          </a:p>
        </p:txBody>
      </p:sp>
      <p:sp>
        <p:nvSpPr>
          <p:cNvPr id="55" name="Text 51"/>
          <p:cNvSpPr txBox="1"/>
          <p:nvPr/>
        </p:nvSpPr>
        <p:spPr>
          <a:xfrm>
            <a:off x="6620256" y="48188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담보별로 거르기</a:t>
            </a:r>
            <a:endParaRPr lang="en-US" sz="1350" dirty="0"/>
          </a:p>
        </p:txBody>
      </p:sp>
      <p:sp>
        <p:nvSpPr>
          <p:cNvPr id="56" name="Text 52"/>
          <p:cNvSpPr txBox="1"/>
          <p:nvPr/>
        </p:nvSpPr>
        <p:spPr>
          <a:xfrm>
            <a:off x="8906256" y="481888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암 · 뇌/심장 · 치료비 등 버튼으로 고르기</a:t>
            </a:r>
            <a:endParaRPr lang="en-US" sz="1150" dirty="0"/>
          </a:p>
        </p:txBody>
      </p:sp>
      <p:sp>
        <p:nvSpPr>
          <p:cNvPr id="57" name="Shape 53"/>
          <p:cNvSpPr/>
          <p:nvPr/>
        </p:nvSpPr>
        <p:spPr>
          <a:xfrm>
            <a:off x="6236208" y="530352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58" name="Text 54"/>
          <p:cNvSpPr txBox="1"/>
          <p:nvPr/>
        </p:nvSpPr>
        <p:spPr>
          <a:xfrm>
            <a:off x="6236208" y="5303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50" dirty="0"/>
          </a:p>
        </p:txBody>
      </p:sp>
      <p:sp>
        <p:nvSpPr>
          <p:cNvPr id="59" name="Text 55"/>
          <p:cNvSpPr txBox="1"/>
          <p:nvPr/>
        </p:nvSpPr>
        <p:spPr>
          <a:xfrm>
            <a:off x="6620256" y="52760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 전체 선택</a:t>
            </a:r>
            <a:endParaRPr lang="en-US" sz="1350" dirty="0"/>
          </a:p>
        </p:txBody>
      </p:sp>
      <p:sp>
        <p:nvSpPr>
          <p:cNvPr id="60" name="Text 56"/>
          <p:cNvSpPr txBox="1"/>
          <p:nvPr/>
        </p:nvSpPr>
        <p:spPr>
          <a:xfrm>
            <a:off x="8906256" y="527608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관계없는 계약은 체크를 풀면 분석에서 빠짐</a:t>
            </a:r>
            <a:endParaRPr lang="en-US" sz="1150" dirty="0"/>
          </a:p>
        </p:txBody>
      </p:sp>
      <p:sp>
        <p:nvSpPr>
          <p:cNvPr id="61" name="Shape 57"/>
          <p:cNvSpPr/>
          <p:nvPr/>
        </p:nvSpPr>
        <p:spPr>
          <a:xfrm>
            <a:off x="6236208" y="5760720"/>
            <a:ext cx="5404104" cy="594360"/>
          </a:xfrm>
          <a:prstGeom prst="roundRect">
            <a:avLst>
              <a:gd name="adj" fmla="val 18462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62" name="Text 58"/>
          <p:cNvSpPr txBox="1"/>
          <p:nvPr/>
        </p:nvSpPr>
        <p:spPr>
          <a:xfrm>
            <a:off x="6464808" y="5760720"/>
            <a:ext cx="5038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E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질문은 버튼 하나 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위 [보장분석 해줘]로 전체 그림부터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답변 읽는 법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맞춤대화는 분석 → 제안 → 다음 행동 순서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 순서에 맞춘 답변 구성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40680" cy="3169512"/>
          </a:xfrm>
          <a:prstGeom prst="roundRect">
            <a:avLst>
              <a:gd name="adj" fmla="val 34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440680" cy="31695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217920" y="1691640"/>
            <a:ext cx="5281466" cy="3310128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5281466" cy="331012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15570" y="3159358"/>
            <a:ext cx="4959876" cy="1164052"/>
          </a:xfrm>
          <a:prstGeom prst="roundRect">
            <a:avLst>
              <a:gd name="adj" fmla="val 4713"/>
            </a:avLst>
          </a:prstGeom>
          <a:ln w="22225">
            <a:solidFill>
              <a:srgbClr val="00A86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755274" y="2225928"/>
            <a:ext cx="1572157" cy="479017"/>
          </a:xfrm>
          <a:prstGeom prst="roundRect">
            <a:avLst>
              <a:gd name="adj" fmla="val 11453"/>
            </a:avLst>
          </a:prstGeom>
          <a:ln w="22225">
            <a:solidFill>
              <a:srgbClr val="F0445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610959" y="3552436"/>
            <a:ext cx="958033" cy="196520"/>
          </a:xfrm>
          <a:prstGeom prst="roundRect">
            <a:avLst>
              <a:gd name="adj" fmla="val 27918"/>
            </a:avLst>
          </a:prstGeom>
          <a:ln w="22225">
            <a:solidFill>
              <a:srgbClr val="318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70861" y="2446498"/>
            <a:ext cx="274320" cy="274320"/>
          </a:xfrm>
          <a:prstGeom prst="ellipse">
            <a:avLst/>
          </a:prstGeom>
          <a:solidFill>
            <a:srgbClr val="191F2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670861" y="24464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70861" y="3136073"/>
            <a:ext cx="274320" cy="274320"/>
          </a:xfrm>
          <a:prstGeom prst="ellipse">
            <a:avLst/>
          </a:prstGeom>
          <a:solidFill>
            <a:srgbClr val="00A86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670861" y="31360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9489148" y="2328276"/>
            <a:ext cx="274320" cy="274320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9489148" y="23282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332551" y="350739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6332551" y="35073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7985455" y="1252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화면 속 금액은 예시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48640" y="5184648"/>
            <a:ext cx="25815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91F2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5330952"/>
            <a:ext cx="310896" cy="310896"/>
          </a:xfrm>
          <a:prstGeom prst="ellipse">
            <a:avLst/>
          </a:prstGeom>
          <a:solidFill>
            <a:srgbClr val="191F28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5" name="Text 21"/>
          <p:cNvSpPr txBox="1"/>
          <p:nvPr/>
        </p:nvSpPr>
        <p:spPr>
          <a:xfrm>
            <a:off x="694944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1115568" y="5248656"/>
            <a:ext cx="1923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결론</a:t>
            </a:r>
            <a:endParaRPr lang="en-US" sz="1350" dirty="0"/>
          </a:p>
        </p:txBody>
      </p:sp>
      <p:sp>
        <p:nvSpPr>
          <p:cNvPr id="27" name="Text 23"/>
          <p:cNvSpPr txBox="1"/>
          <p:nvPr/>
        </p:nvSpPr>
        <p:spPr>
          <a:xfrm>
            <a:off x="1115568" y="5522976"/>
            <a:ext cx="19232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상담 주제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3111932" y="5266944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3386252" y="5184648"/>
            <a:ext cx="25815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00A86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532556" y="5330952"/>
            <a:ext cx="310896" cy="310896"/>
          </a:xfrm>
          <a:prstGeom prst="ellipse">
            <a:avLst/>
          </a:prstGeom>
          <a:solidFill>
            <a:srgbClr val="00A86B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Text 27"/>
          <p:cNvSpPr txBox="1"/>
          <p:nvPr/>
        </p:nvSpPr>
        <p:spPr>
          <a:xfrm>
            <a:off x="3532556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3953180" y="5248656"/>
            <a:ext cx="1923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갖춰진 것</a:t>
            </a:r>
            <a:endParaRPr lang="en-US" sz="1350" dirty="0"/>
          </a:p>
        </p:txBody>
      </p:sp>
      <p:sp>
        <p:nvSpPr>
          <p:cNvPr id="33" name="Text 29"/>
          <p:cNvSpPr txBox="1"/>
          <p:nvPr/>
        </p:nvSpPr>
        <p:spPr>
          <a:xfrm>
            <a:off x="3953180" y="5522976"/>
            <a:ext cx="19232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보장분석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5949544" y="5266944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6223864" y="5184648"/>
            <a:ext cx="25815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F0445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370168" y="5330952"/>
            <a:ext cx="310896" cy="310896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7" name="Text 33"/>
          <p:cNvSpPr txBox="1"/>
          <p:nvPr/>
        </p:nvSpPr>
        <p:spPr>
          <a:xfrm>
            <a:off x="6370168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6790792" y="5248656"/>
            <a:ext cx="1923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비어 있는 것</a:t>
            </a:r>
            <a:endParaRPr lang="en-US" sz="1350" dirty="0"/>
          </a:p>
        </p:txBody>
      </p:sp>
      <p:sp>
        <p:nvSpPr>
          <p:cNvPr id="39" name="Text 35"/>
          <p:cNvSpPr txBox="1"/>
          <p:nvPr/>
        </p:nvSpPr>
        <p:spPr>
          <a:xfrm>
            <a:off x="6790792" y="5522976"/>
            <a:ext cx="19232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'미가입' 줄이 제안 포인트</a:t>
            </a:r>
            <a:endParaRPr lang="en-US" sz="1100" dirty="0"/>
          </a:p>
        </p:txBody>
      </p:sp>
      <p:sp>
        <p:nvSpPr>
          <p:cNvPr id="40" name="Text 36"/>
          <p:cNvSpPr txBox="1"/>
          <p:nvPr/>
        </p:nvSpPr>
        <p:spPr>
          <a:xfrm>
            <a:off x="8787155" y="5266944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41" name="Shape 37"/>
          <p:cNvSpPr/>
          <p:nvPr/>
        </p:nvSpPr>
        <p:spPr>
          <a:xfrm>
            <a:off x="9061475" y="5184648"/>
            <a:ext cx="258158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3182F6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9207779" y="533095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43" name="Text 39"/>
          <p:cNvSpPr txBox="1"/>
          <p:nvPr/>
        </p:nvSpPr>
        <p:spPr>
          <a:xfrm>
            <a:off x="9207779" y="5330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9628403" y="5248656"/>
            <a:ext cx="19232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하면 되는 일</a:t>
            </a:r>
            <a:endParaRPr lang="en-US" sz="1350" dirty="0"/>
          </a:p>
        </p:txBody>
      </p:sp>
      <p:sp>
        <p:nvSpPr>
          <p:cNvPr id="45" name="Text 41"/>
          <p:cNvSpPr txBox="1"/>
          <p:nvPr/>
        </p:nvSpPr>
        <p:spPr>
          <a:xfrm>
            <a:off x="9628403" y="5522976"/>
            <a:ext cx="19232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해야 할 액션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548640" y="5916168"/>
            <a:ext cx="11094415" cy="402336"/>
          </a:xfrm>
          <a:prstGeom prst="roundRect">
            <a:avLst>
              <a:gd name="adj" fmla="val 27273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777240" y="5916168"/>
            <a:ext cx="10637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 </a:t>
            </a:r>
            <a:pPr indent="0" marL="0">
              <a:buNone/>
            </a:pPr>
            <a:r>
              <a:rPr lang="en-US" sz="12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사용자가 가장 많이 사용하는 질문  </a:t>
            </a:r>
            <a:pPr indent="0" marL="0">
              <a:buNone/>
            </a:pPr>
            <a:r>
              <a:rPr lang="en-US" sz="13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“가입증권 별로 핵심만 표로 요약해줘”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NEW 용어 설명 (PC)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[용어] 버튼 하나로 바로 뜻풀이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94960" cy="1383323"/>
          </a:xfrm>
          <a:prstGeom prst="roundRect">
            <a:avLst>
              <a:gd name="adj" fmla="val 7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94960" cy="138332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782355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오른쪽 위 [용어] 버튼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5394960" cy="2669814"/>
          </a:xfrm>
          <a:prstGeom prst="roundRect">
            <a:avLst>
              <a:gd name="adj" fmla="val 40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5394960" cy="26698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585192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켜면 어려운 말에 표시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360224" y="1371600"/>
            <a:ext cx="5092065" cy="3291840"/>
          </a:xfrm>
          <a:prstGeom prst="roundRect">
            <a:avLst>
              <a:gd name="adj" fmla="val 30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224" y="1371600"/>
            <a:ext cx="5092065" cy="32918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60224" y="4690872"/>
            <a:ext cx="509206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끝 [용어 설명 6] · 뜻을 한 번에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172200" y="5029200"/>
            <a:ext cx="2377440" cy="981166"/>
          </a:xfrm>
          <a:prstGeom prst="roundRect">
            <a:avLst>
              <a:gd name="adj" fmla="val 48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MeAI 화면 캡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5029200"/>
            <a:ext cx="2377440" cy="9811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72200" y="603779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용어를 누르면 뜻 표시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8823960" y="5029200"/>
            <a:ext cx="2816352" cy="1051560"/>
          </a:xfrm>
          <a:prstGeom prst="roundRect">
            <a:avLst>
              <a:gd name="adj" fmla="val 10435"/>
            </a:avLst>
          </a:prstGeom>
          <a:solidFill>
            <a:srgbClr val="E8F3FF"/>
          </a:solidFill>
          <a:ln w="12700">
            <a:solidFill>
              <a:srgbClr val="E8F3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9052560" y="512064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눈높이 뜻풀이라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읽어 주기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NEW 용어 설명 (모바일)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모바일은 오른쪽 아래 [용어]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</a:t>
            </a:r>
            <a:endParaRPr lang="en-US" sz="900" dirty="0"/>
          </a:p>
        </p:txBody>
      </p:sp>
      <p:pic>
        <p:nvPicPr>
          <p:cNvPr id="6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70" y="1371600"/>
            <a:ext cx="2230341" cy="4663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071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화면 · 오른쪽 아래 [용어]</a:t>
            </a:r>
            <a:endParaRPr lang="en-US" sz="1000" dirty="0"/>
          </a:p>
        </p:txBody>
      </p:sp>
      <p:pic>
        <p:nvPicPr>
          <p:cNvPr id="8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250" y="1371600"/>
            <a:ext cx="2230341" cy="46634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46120" y="6071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[용어]를 켜면 용어에 표시</a:t>
            </a:r>
            <a:endParaRPr lang="en-US" sz="1000" dirty="0"/>
          </a:p>
        </p:txBody>
      </p:sp>
      <p:pic>
        <p:nvPicPr>
          <p:cNvPr id="10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280" y="1371600"/>
            <a:ext cx="2221240" cy="46634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361636" y="2049989"/>
            <a:ext cx="1686281" cy="1162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5943600" y="6071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끝 [용어 설명 6] 목록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8686800" y="161848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8686800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9070848" y="160020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위치만 다름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9070848" y="189280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PC는 입력창 오른쪽 위,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모바일은 오른쪽 아래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686800" y="26243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68680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9070848" y="260604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켜고 끄기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9070848" y="289864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누르면 표시,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누르면 원래대로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686800" y="363016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8686800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9070848" y="361188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목록으로 보기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9070848" y="3904488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끝 [용어 설명 N]에서 한 번에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2798064" y="506577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2798064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5495544" y="506577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8" name="Text 23"/>
          <p:cNvSpPr txBox="1"/>
          <p:nvPr/>
        </p:nvSpPr>
        <p:spPr>
          <a:xfrm>
            <a:off x="5495544" y="5065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980176" y="226771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5980176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8686800" y="4846320"/>
            <a:ext cx="2953512" cy="731520"/>
          </a:xfrm>
          <a:prstGeom prst="roundRect">
            <a:avLst>
              <a:gd name="adj" fmla="val 15000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915400" y="4937760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현장에서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뜻풀이를 고객에게 그대로 읽어 주기</a:t>
            </a:r>
            <a:endParaRPr lang="en-US" sz="11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NEW 모드 변경 (PC)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질문마다 간편·상세 선택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앞에서는 간편, 약관을 따질 때는 상세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828817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828817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57202" y="2602149"/>
            <a:ext cx="2848259" cy="145915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7202" y="2978609"/>
            <a:ext cx="3379389" cy="78794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5654" y="2978609"/>
            <a:ext cx="930937" cy="15467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5833872"/>
            <a:ext cx="68288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[간편 분석]을 누르면 두 가지가 펼쳐짐 · ※ 답 아래 질문 버튼 일부는 가림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635240" y="1691640"/>
            <a:ext cx="4005072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863840" y="189280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상담 · 직관적 검토용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214884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 분석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2532888"/>
            <a:ext cx="3547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모드. 고객과 함께 보는 화면, 첫 상담용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35240" y="3291840"/>
            <a:ext cx="4005072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863840" y="349300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· 담보 정밀 검토용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0" y="3749040"/>
            <a:ext cx="3547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분석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4133088"/>
            <a:ext cx="3547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약관 근거를 확인하거나 자사·타사 담보를 숫자로 비교할 때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635240" y="4892040"/>
            <a:ext cx="4005072" cy="777240"/>
          </a:xfrm>
          <a:prstGeom prst="roundRect">
            <a:avLst>
              <a:gd name="adj" fmla="val 1411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0" y="4983480"/>
            <a:ext cx="3547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바꾸면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대화에 아래 안내줄이 붙고,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질문부터 그 모드로 답변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635240" y="5760720"/>
            <a:ext cx="4005072" cy="421587"/>
          </a:xfrm>
          <a:prstGeom prst="roundRect">
            <a:avLst>
              <a:gd name="adj" fmla="val 19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24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5760720"/>
            <a:ext cx="4005072" cy="42158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NEW 모드 변경 (모바일)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모바일도 입력창 아래 [간편 분석]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en-US" sz="900" dirty="0"/>
          </a:p>
        </p:txBody>
      </p:sp>
      <p:pic>
        <p:nvPicPr>
          <p:cNvPr id="6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70" y="1371600"/>
            <a:ext cx="2230341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84700" y="3982354"/>
            <a:ext cx="1579583" cy="208551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4700" y="4341526"/>
            <a:ext cx="1579583" cy="214344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6071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 아래 [간편 분석] · [상품 선택]</a:t>
            </a:r>
            <a:endParaRPr lang="en-US" sz="1000" dirty="0"/>
          </a:p>
        </p:txBody>
      </p:sp>
      <p:pic>
        <p:nvPicPr>
          <p:cNvPr id="10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250" y="1371600"/>
            <a:ext cx="2230341" cy="46634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82180" y="3982354"/>
            <a:ext cx="1579583" cy="65655"/>
          </a:xfrm>
          <a:prstGeom prst="rect">
            <a:avLst/>
          </a:prstGeom>
          <a:solidFill>
            <a:srgbClr val="8B8C8D"/>
          </a:solidFill>
          <a:ln w="12700">
            <a:solidFill>
              <a:srgbClr val="8B8C8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246120" y="6071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"분석 모드" 선택창 · 간편 / 상세</a:t>
            </a:r>
            <a:endParaRPr lang="en-US" sz="1000" dirty="0"/>
          </a:p>
        </p:txBody>
      </p:sp>
      <p:pic>
        <p:nvPicPr>
          <p:cNvPr id="13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280" y="1371600"/>
            <a:ext cx="2221240" cy="46634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479869" y="3689752"/>
            <a:ext cx="1585492" cy="209331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79869" y="4050268"/>
            <a:ext cx="1585492" cy="215146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0" y="60716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뒤 · 버튼과 안내줄이 바뀜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686800" y="175564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868680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9070848" y="1737360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버튼을 누르면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9070848" y="202996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아래에서 "분석 모드" 선택창이 올라옴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686800" y="281635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86868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Text 18"/>
          <p:cNvSpPr txBox="1"/>
          <p:nvPr/>
        </p:nvSpPr>
        <p:spPr>
          <a:xfrm>
            <a:off x="9070848" y="2798064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고르면 끝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9070848" y="309067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선택창이 닫히고 버튼 이름이 바뀜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686800" y="364845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868680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9070848" y="3630168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질문마다 바꾸기 가능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9070848" y="3922776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앞에서는 간편, 약관을 따질 땐 상세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76072" y="544982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576072" y="5449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5980176" y="544982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5980176" y="5449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5980176" y="4754880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4" name="Text 29"/>
          <p:cNvSpPr txBox="1"/>
          <p:nvPr/>
        </p:nvSpPr>
        <p:spPr>
          <a:xfrm>
            <a:off x="5980176" y="4754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5" name="Text 30"/>
          <p:cNvSpPr txBox="1"/>
          <p:nvPr/>
        </p:nvSpPr>
        <p:spPr>
          <a:xfrm>
            <a:off x="8686800" y="6071616"/>
            <a:ext cx="2953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답 아래 질문 버튼 일부는 가림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답변 아래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버튼으로 이어가기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이어서 물을 질문은 꼬리질문이 제시 · 타이핑 없이 버튼만 누르기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483927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483927" cy="4572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36567" y="3221182"/>
            <a:ext cx="2704407" cy="138545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36567" y="3578629"/>
            <a:ext cx="3208713" cy="138545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28255" y="12527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꼬리질문 둘째·셋째 줄 글자는 가림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10065" y="1760636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10065" y="17606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0065" y="2816352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310065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0065" y="4013385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10065" y="401338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10065" y="4944410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10065" y="49444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10065" y="5360047"/>
            <a:ext cx="310896" cy="310896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10065" y="53600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498080" y="1709928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49808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7882128" y="1691640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 아래 아이콘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7882128" y="1984248"/>
            <a:ext cx="375818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 · 출처 · 좋아요/싫어요 평가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498080" y="2276475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7498080" y="22764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882128" y="2258187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꼬리질문 3개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7882128" y="2550795"/>
            <a:ext cx="375818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글자는 ‘질문 예시’ · 누르면 바로 전송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498080" y="2843022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7498080" y="28430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7882128" y="2824734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더보기</a:t>
            </a:r>
            <a:endParaRPr 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7882128" y="3117342"/>
            <a:ext cx="375818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만든 질문 모음에서 골라 쓰기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498080" y="3409569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7498080" y="340956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6" name="Text 33"/>
          <p:cNvSpPr txBox="1"/>
          <p:nvPr/>
        </p:nvSpPr>
        <p:spPr>
          <a:xfrm>
            <a:off x="7882128" y="3391281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입력창</a:t>
            </a:r>
            <a:endParaRPr lang="en-US" sz="1350" dirty="0"/>
          </a:p>
        </p:txBody>
      </p:sp>
      <p:sp>
        <p:nvSpPr>
          <p:cNvPr id="37" name="Text 34"/>
          <p:cNvSpPr txBox="1"/>
          <p:nvPr/>
        </p:nvSpPr>
        <p:spPr>
          <a:xfrm>
            <a:off x="7882128" y="3683889"/>
            <a:ext cx="375818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쓰거나, 모바일은 마이크로 말하기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7498080" y="3976116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7498080" y="3976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  <p:sp>
        <p:nvSpPr>
          <p:cNvPr id="40" name="Text 37"/>
          <p:cNvSpPr txBox="1"/>
          <p:nvPr/>
        </p:nvSpPr>
        <p:spPr>
          <a:xfrm>
            <a:off x="7882128" y="3957828"/>
            <a:ext cx="3758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모드 · 상품 선택</a:t>
            </a:r>
            <a:endParaRPr lang="en-US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7882128" y="4250436"/>
            <a:ext cx="375818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간편/상세를 고르고 분석할 상품 좁히기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7498080" y="4617720"/>
            <a:ext cx="4142232" cy="1737360"/>
          </a:xfrm>
          <a:prstGeom prst="roundRect">
            <a:avLst>
              <a:gd name="adj" fmla="val 7368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772400" y="4745736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E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질문할수록 늘어나는 영업기회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7772400" y="50292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2.3배</a:t>
            </a:r>
            <a:endParaRPr lang="en-US" sz="3400" dirty="0"/>
          </a:p>
        </p:txBody>
      </p:sp>
      <p:sp>
        <p:nvSpPr>
          <p:cNvPr id="45" name="Text 42"/>
          <p:cNvSpPr txBox="1"/>
          <p:nvPr/>
        </p:nvSpPr>
        <p:spPr>
          <a:xfrm>
            <a:off x="7772400" y="559612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1건 대비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1D6D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3건 이상 평균 가계약 수</a:t>
            </a:r>
            <a:endParaRPr lang="en-US" sz="10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9464040" y="4983480"/>
          <a:ext cx="1920240" cy="868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7" name="Text 43"/>
          <p:cNvSpPr txBox="1"/>
          <p:nvPr/>
        </p:nvSpPr>
        <p:spPr>
          <a:xfrm>
            <a:off x="9464040" y="528180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11.99건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9464040" y="58887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</a:t>
            </a:r>
            <a:endParaRPr lang="en-US" sz="950" dirty="0"/>
          </a:p>
        </p:txBody>
      </p:sp>
      <p:sp>
        <p:nvSpPr>
          <p:cNvPr id="49" name="Text 45"/>
          <p:cNvSpPr txBox="1"/>
          <p:nvPr/>
        </p:nvSpPr>
        <p:spPr>
          <a:xfrm>
            <a:off x="10104120" y="5165287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17.02건</a:t>
            </a:r>
            <a:endParaRPr lang="en-US" sz="1000" dirty="0"/>
          </a:p>
        </p:txBody>
      </p:sp>
      <p:sp>
        <p:nvSpPr>
          <p:cNvPr id="50" name="Text 46"/>
          <p:cNvSpPr txBox="1"/>
          <p:nvPr/>
        </p:nvSpPr>
        <p:spPr>
          <a:xfrm>
            <a:off x="10104120" y="58887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2개</a:t>
            </a:r>
            <a:endParaRPr lang="en-US" sz="950" dirty="0"/>
          </a:p>
        </p:txBody>
      </p:sp>
      <p:sp>
        <p:nvSpPr>
          <p:cNvPr id="51" name="Text 47"/>
          <p:cNvSpPr txBox="1"/>
          <p:nvPr/>
        </p:nvSpPr>
        <p:spPr>
          <a:xfrm>
            <a:off x="10744200" y="491580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27.79건</a:t>
            </a:r>
            <a:endParaRPr lang="en-US" sz="1000" dirty="0"/>
          </a:p>
        </p:txBody>
      </p:sp>
      <p:sp>
        <p:nvSpPr>
          <p:cNvPr id="52" name="Text 48"/>
          <p:cNvSpPr txBox="1"/>
          <p:nvPr/>
        </p:nvSpPr>
        <p:spPr>
          <a:xfrm>
            <a:off x="10744200" y="58887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이상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9464040" y="5852160"/>
            <a:ext cx="1920240" cy="0"/>
          </a:xfrm>
          <a:prstGeom prst="line">
            <a:avLst/>
          </a:prstGeom>
          <a:noFill/>
          <a:ln w="9525">
            <a:solidFill>
              <a:srgbClr val="4E5968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7772400" y="6126480"/>
            <a:ext cx="3593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2026년 8월 TA채널 MeAI 사용 데이터 분석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6장 · 요약 리포트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리포트는 네 단계로 발송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하나로 발송까지 완료 · PC는 오른쪽 위 [요약 리포트]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</a:t>
            </a:r>
            <a:endParaRPr lang="en-US" sz="900" dirty="0"/>
          </a:p>
        </p:txBody>
      </p:sp>
      <p:pic>
        <p:nvPicPr>
          <p:cNvPr id="7" name="Image 0" descr="MeAI 화면 캡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734" y="1691640"/>
            <a:ext cx="1753573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98901" y="3074265"/>
            <a:ext cx="1509084" cy="21076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09410" y="2172186"/>
            <a:ext cx="282426" cy="126460"/>
          </a:xfrm>
          <a:prstGeom prst="roundRect">
            <a:avLst>
              <a:gd name="adj" fmla="val 21692"/>
            </a:avLst>
          </a:prstGeom>
          <a:ln w="19050">
            <a:solidFill>
              <a:srgbClr val="F0445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535838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548640" y="5358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53400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생성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60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화면 상단 [요약 생성]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3127248" y="3246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pic>
        <p:nvPicPr>
          <p:cNvPr id="15" name="Image 1" descr="MeAI 화면 캡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086" y="1691640"/>
            <a:ext cx="1753573" cy="356616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364992" y="535838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3364992" y="5358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3730752" y="53400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→ 편집하기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3364992" y="5660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넣을 답변만 체크, 내부용은 빼기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5943600" y="3246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pic>
        <p:nvPicPr>
          <p:cNvPr id="21" name="Image 2" descr="MeAI 화면 캡처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438" y="1691640"/>
            <a:ext cx="1753573" cy="35661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181344" y="535838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6181344" y="5358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19"/>
          <p:cNvSpPr txBox="1"/>
          <p:nvPr/>
        </p:nvSpPr>
        <p:spPr>
          <a:xfrm>
            <a:off x="6547104" y="53400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리포트 생성하기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6181344" y="5660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카카오톡으로 링크 전송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8759952" y="32461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0B8C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pic>
        <p:nvPicPr>
          <p:cNvPr id="27" name="Image 3" descr="MeAI 화면 캡처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2364835"/>
            <a:ext cx="2651760" cy="2219769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997696" y="5358384"/>
            <a:ext cx="274320" cy="274320"/>
          </a:xfrm>
          <a:prstGeom prst="ellipse">
            <a:avLst/>
          </a:prstGeom>
          <a:solidFill>
            <a:srgbClr val="3182F6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8997696" y="5358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9363456" y="53400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알림톡 도착</a:t>
            </a:r>
            <a:endParaRPr lang="en-US" sz="1350" dirty="0"/>
          </a:p>
        </p:txBody>
      </p:sp>
      <p:sp>
        <p:nvSpPr>
          <p:cNvPr id="31" name="Text 25"/>
          <p:cNvSpPr txBox="1"/>
          <p:nvPr/>
        </p:nvSpPr>
        <p:spPr>
          <a:xfrm>
            <a:off x="8997696" y="56601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[요약레포트 확인하기] · 7일간 열람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548640" y="5980176"/>
            <a:ext cx="6766560" cy="365760"/>
          </a:xfrm>
          <a:prstGeom prst="roundRect">
            <a:avLst>
              <a:gd name="adj" fmla="val 30000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777240" y="6071616"/>
            <a:ext cx="6309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보내기 전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D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숫자·약관 근거·개인정보 확인. "AI로 생성된 보조자료" 표시가 붙음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7498080" y="603504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이름과 일부 글자는 가림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1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지켜 주세요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MeAI를 쓸 때 지킬 것 네 가지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활용법은 「MeAI 활용 가이드북(영업가족 편)」 참고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홈 사용 매뉴얼 · 세일즈혁신TF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6624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057400"/>
            <a:ext cx="402336" cy="402336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2296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011680"/>
            <a:ext cx="434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넣지 않기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514600"/>
            <a:ext cx="434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이름·연락처·주소·주민번호는 질문에도 메모에도 넣지 않음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96432" y="1783080"/>
            <a:ext cx="5446624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0752" y="2057400"/>
            <a:ext cx="402336" cy="402336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70752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65112" y="2011680"/>
            <a:ext cx="434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답변은 검증 후 사용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065112" y="2514600"/>
            <a:ext cx="434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숫자·약관 근거를 직접 확인한 뒤 사용. 미검증으로 인한 관련 법령상 책임은 사용자에게 있음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5446624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675888"/>
            <a:ext cx="402336" cy="402336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630168"/>
            <a:ext cx="434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없으면 보지 않기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133088"/>
            <a:ext cx="434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동의가 없거나 철회된 고객은 우회하지 않고 동의부터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96432" y="3401568"/>
            <a:ext cx="5446624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9525">
            <a:solidFill>
              <a:srgbClr val="E5E8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70752" y="3675888"/>
            <a:ext cx="402336" cy="402336"/>
          </a:xfrm>
          <a:prstGeom prst="ellipse">
            <a:avLst/>
          </a:prstGeom>
          <a:solidFill>
            <a:srgbClr val="F04452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70752" y="3675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065112" y="3630168"/>
            <a:ext cx="434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1F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외부 반출 금지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65112" y="4133088"/>
            <a:ext cx="434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E596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MeAI 답변·화면 캡처·이 매뉴얼은 외부에 제공·배포·게시 금지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029200"/>
            <a:ext cx="11094415" cy="914400"/>
          </a:xfrm>
          <a:prstGeom prst="roundRect">
            <a:avLst>
              <a:gd name="adj" fmla="val 16000"/>
            </a:avLst>
          </a:prstGeom>
          <a:solidFill>
            <a:srgbClr val="191F28"/>
          </a:solidFill>
          <a:ln w="12700">
            <a:solidFill>
              <a:srgbClr val="191F2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 세일즈혁신TF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속 고객 이름·숫자는 모두 예시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MeAI 홈 사용 매뉴얼</dc:title>
  <dc:subject>PptxGenJS Presentation</dc:subject>
  <dc:creator>세일즈혁신TF</dc:creator>
  <cp:lastModifiedBy>세일즈혁신TF</cp:lastModifiedBy>
  <cp:revision>1</cp:revision>
  <dcterms:created xsi:type="dcterms:W3CDTF">2026-10-01T09:00:50Z</dcterms:created>
  <dcterms:modified xsi:type="dcterms:W3CDTF">2026-10-01T09:00:50Z</dcterms:modified>
</cp:coreProperties>
</file>