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00:00–00:35 · 35초] 표지 · MeAI 홈(추천 세트 3)
진행: 오프닝 음악이 끝나면 바로 시작. '이 화면이'에서 오른쪽 MeAI 홈 캡처를 손으로 가리킴. 마지막 문장은 태그라인을 보며 천천히.
안녕하세요, 세일즈혁신TF입니다. 10월부터 PC 영업포탈에서 MeAI로 들어오시면 MeAI 홈이 먼저 열립니다. 오늘 만날 고객과 첫 마디를 이 화면이 먼저 준비해 둡니다. 여러분의 고객을 MeAI 홈에서 찾아, MeAI에게 묻고, 직접 연락해 보세요. 찾는 영업에서 찾아가는 영업으로.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00:35–01:35 · 60초] 오늘의 순서 · 먼저 줄 + 네 걸음
진행: 위 '먼저' 줄을 왼쪽에서 오른쪽으로 짚고(왜 MeAI 홈인가 → 만든 분께 듣기), 이어서 아래 네 칸을 1→4로 짚음. 3 묻기에서 잠깐 멈춤. 마지막 문장은 아래 띠를 가리키며 천천히.
오늘은 이 순서로 보겠습니다. 먼저 왜 MeAI 홈인지 짚고, 오늘의 추천 고객과 고객찾기를 만든 두 분께 원리와 개발 방식을 듣겠습니다. 그다음이 네 걸음입니다. 첫째, 찾기. MeAI 홈에서 오늘 연락할 내 고객을 찾습니다. 둘째, 고르기. MeAI 고객찾기에서 상황을 보고 한 분을 고릅니다. 셋째, 묻기. MeAI 활용 방법입니다. MeAI에게 묻는 법을 직접 눌러 가며 보여드립니다. 넷째, 터치하기. 카드의 첫 말로 연락하고, 요약 리포트까지 보냅니다. 한 문장만 기억해 주세요. 카드 문장은 고객에게 첫 말, 추천 질문은 MeAI에게 첫 질문.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01:35–03:25 · 110초] 왜 MeAI 홈인가 · 7%·2%·2.8배·4배
진행: 숫자 7%와 2% 뒤 한 박자 쉼. 4배는 '같은 FP의 고객끼리' 조건을 꼭 붙여 읽기. '빨라진다'는 쓰지 않음. 'MeAI 홈이 바꾸는 하루의 순서입니다'에서 한 박자 쉬고, '두 분을 모셨습니다' 뒤 바로 4장(손님 소개)으로 넘김.
먼저, 왜 MeAI 홈인지 짚겠습니다. 고객을 만나기 전에 우리는 세 가지를 스스로 정해야 했습니다. 누구에게 연락하지? 왜 지금이지? 무슨 말로 시작하지? 목록을 뒤져 사람을 고르고, 명분을 만들고, 첫 마디를 고민하다 하루를 넘기기 일쑤였습니다.
보유 고객 가운데 영업을 시도한 비율은 7%가 안 됩니다. 넘겨받은 이관 고객은 2%도 안 됩니다. 세일즈혁신TF의 9월 자료입니다. 열 명 중 아홉 명 넘게 연락조차 못 하고 있다는 뜻입니다. 문제는 의지가 아니라 순서입니다. 찾는 일이 앞에 있으면 만나는 일은 뒤로 밀립니다.
MeAI를 쓴 경우는 달랐습니다. 체결전환율이 안 썼을 때 12.7%, 썼을 때 35.4%로 2.8배입니다. 같은 FP의 고객끼리 비교해도 9.0%에서 36.0%, 4배입니다. 데이터분석팀의 8월 분석입니다.
찾는 일은 MeAI가, 만나는 일은 여러분이. MeAI 홈이 바꾸는 하루의 순서입니다. 그 안의 추천 고객과 고객찾기를 만든 두 분을 모셨습니다.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03:25–04:25 · 60초] 만든 분 소개 · 두 분 초대
진행: 두 분 입장·착석(진행자 오른쪽 두 자리), 핀마이크 2개 사전 음량 확인. 화면에 두 분이 잡히면 하단 자막 '문현우 · AI추진파트' '이경복 · AI추진파트'(직급·직함 없이). '두 분, 반갑습니다' 뒤 짧은 인사(5초 안팎)를 받고 세 질문 소개. 오른쪽 '오늘 여쭤볼 것' 질문 1→3을 차례로 짚고, 마지막 질문 문장 끝에서 5장으로 넘김. 예상 60초.
소개합니다. AI추진파트 문현우님, 그리고 AI추진파트 이경복님입니다. 두 분은 MeAI 홈의 CRM, 오늘의 추천 고객과 고객찾기를 직접 만드셨습니다. 두 분, 반갑습니다.
[두 분 인사]
오늘 두 분께 세 가지를 여쭙겠습니다. 첫째, 오늘의 추천 고객은 어떤 원리로 고르는지. 둘째, 어떤 방식으로 개발하고 구현했는지. 셋째, 영업가족에게 꼭 전하고 싶은 한 가지입니다. 여러분의 고객을 떠올리며 들어 주십시오.
그럼 첫 질문입니다. 오늘의 추천 고객, 무엇을 보고 고르나요?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04:25–08:25 · 240초 · 개발자 설명 시간 유동] MeAI 홈이 움직이는 방식 · 개발자 설명
진행: 개발자 두 분은 4장 자리 그대로(진행자 오른쪽 두 자리), 핀마이크 2개 켠 채 유지. 시간 유동: 진행자 멘트 약 60초 + 개발자 설명 3~4분 예상(대본 괄호의 질문 1 약 90초 · 질문 2 약 60초 · 질문 3 약 30초는 가이드). 설명 내내 이 장을 띄워 두고, 두 분이 왼쪽 ①→⑤를 짚을 수 있게 레이저 포인터를 드리거나 연출 쪽에서 해당 줄을 차례로 강조. 오른쪽 캡처의 핀 ③(세트 점)·④(이유 문장)는 왼쪽 줄 번호와 짝. 설명이 길어지면 진행자가 '정리하면'으로 받아 마무리. 목업 MeAI 홈을 직접 열지 않음(세트 1 첫 카드가 쓸 수 없는 예시). 리허설 때 발표자 노트의 '확인할 것' 7가지를 두 분과 맞추고, 확인되지 않은 기술 세부는 말하지 않기로 미리 합의. syllables 는 진행자 멘트만 셈(괄호·노트 제외, 진행자 60초 기준 77%).
MeAI 홈이 움직이는 순서를 그려 두었습니다. 두 분, 그림을 따라 설명 부탁드립니다.
[개발자 설명 · 질문 1 무엇을 보고 고르나요 — 그림 ①→⑤를 짚으며 · 약 90초]
이 흐름은 어떤 방식으로 개발하고 구현하셨나요?
[개발자 설명 · 질문 2 어떻게 만들었나요 · 약 60초]
끝으로, 영업가족에게 꼭 전하고 싶은 한 가지는 무엇인가요?
[개발자 설명 · 질문 3 꼭 전할 한 가지 · 약 30초]
정리하면, 매일 밤 계산해 다음 날 아홉 분을 이유 한 문장과 함께 보여 줍니다. 대상은 사전조회 동의일로부터 1년 이내 고객입니다. 추천은 지시가 아니라 이유가 있는 고객입니다. 그룹에서 직접 골라도 됩니다. 발굴은 시스템이, 설득은 사람이 합니다.
【발표자 노트 — 송출·낭독하지 않음】
■ 방송 전 두 분과 확인할 것
1) 선정 기준: 오늘의 추천 고객 9명을 고르는 기준을 방송에서 어디까지 말할지, 기준이 확정됐는지.
2) 데이터 원천: 그림 ① '계약 · 보상 · 동의 · 상령일 · 생일 · 접촉 이력'이 실제로 쓰는 데이터와 맞는지. 원천 시스템 이름은 두 분 확인 없이 화면·대본에 넣지 않는다.
3) 개발 방식: 매일 밤 계산(야간 배치) → 다음 날 반영 구조를 영업가족 말로 어떻게 풀지. 모델 이름·가중치 같은 기술 세부는 말할지 여부를 두 분이 정한다.
4) 강조하고 싶은 점: 영업가족에게 꼭 전할 한 가지(질문 3의 답).
5) 나눠 맡기: 질문 1·2·3을 누가 답할지, 두 분 합쳐 3~4분.
6) 그림 점검: 화면 흐름 그림에 틀린 곳이 있으면 방송 전에 고친다.
7) 말하지 않을 것: MeAI 홈에서 쓸 수 없는 데이터(소유자 지시 — 가이드북 v4 8·21쪽 예시 가운데 해당 항목)와 그 예시 카드, 오픈 단계·시점 이야기, 목업 날짜·숫자는 방송에서 말하지 않기로 두 분과 미리 합의. 목업을 직접 열어 추천 세트 1을 띄우지 않는다(첫 카드가 쓸 수 없는 예시).
■ 말씀 포인트 후보(자료 원문 그대로 · 두 분 확인 뒤 사용)
- "오늘의 추천 고객은 매일 야간 배치로 9명을 뽑아 3명씩 세 세트로 보여줍니다." (목업 게시판 예시 글 · 두 분 확인 뒤 사용)
- "점수는 화면에 표시하지 않고, 왜 지금 이 고객인지를 공략 포인트 한 문장으로 전달합니다." (같은 글)
- "고객 데이터와 추천 결과는 익일에 반영됩니다." (MeAI 홈 오른쪽 위 안내)
- "그룹 분류와 고객 정보는 익일에 반영됩니다." (고객찾기 안내)
- "MeAI 홈에 노출되는 고객은 사전조회 동의일로부터 1년 이내의 고객입니다." (MeAI 홈 범례)
- "한 고객은 보유·가망·이관 중 하나로만 분류됩니다." (MeAI 홈 범례)
- "카드 칩은 우선순위 순으로 노출됩니다." (태그 분류표)
- "고객 타겟팅이 끝난 상태로 맞춤대화 화면에 진입합니다." (고객찾기 오른쪽 안내)
- "'암진단비 부족' '상령일 임박' 같은 그룹을 매일 다시 계산해요." (가이드북 v4 8쪽)
- "발굴은 시스템, 설득은 사람 — 고르는 시간을 없애고, 만나는 일에 집중해요." (가이드북 v4 8쪽)
- "추천은 지시가 아니라 '이유가 있는 고객'. 그룹에서 직접 골라도 돼요." (가이드북 v4 74쪽 자주 묻는 질문)
- "선정 기준의 세부 항목은 확정되는 대로 이 게시판에서 다시 안내하겠습니다." (목업 게시판 예시 글 · 기준 확정 여부는 두 분께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08:25–09:25 · 60초] MeAI 홈 가는 문 6
진행: 5장(개발자 코너)에서 이 장으로 먼저 넘긴 뒤 첫 문장 시작: 두 분이 자리에 계시면 두 분을 향해, 이미 자리를 떠나셨으면 이름만 부르며 감사 인사를 하고 카메라로 돌아섬. '첫 번째 걸음, 찾기입니다'에서 머리의 챕터 칩 '1 찾기'를 가리킴. ③·⑤를 가리킨 뒤 ④에서 멈춤. 별표 안내(적용 시점)는 화면에만 두고 읽지 않아도 됨. 송출 전 캡처 가림 상자 5개 확인.
문현우님, 이경복님, 고맙습니다. 두 분이 만든 오늘의 추천 고객과 고객찾기, 이제 직접 써 보겠습니다. 첫 번째 걸음, 찾기입니다.
10월 2일부터 영업포탈에는 MeAI 홈으로 가는 문이 여섯 개입니다. 원래 있던 1, 2, 6번은 사용권한이 필요하고, 새 문 세 개는 권한과 상관없이 누구나 씁니다. 3번 롤링배너, 5번 떠 있는 버튼, 그리고 핵심은 4번 CRM 리스트입니다. 생일·상령일 목록에서 [MeAI 맞춤대화]를 눌러 보세요. 그 고객 대화가 바로 열립니다. 휴대폰은 지금처럼 앱 홈, 보장분석, MeAI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09:25–11:00 · 95초] MeAI 홈 한 화면(세트 3)
진행: 번호 1→5 차례로 짚기. 1번에서 오른쪽 '최근 업데이트' 파란 테두리를 가리킴(시각은 가림 상자로 덮었으니 날짜를 읽지 않음). 4번에서 캡처 아래 점 세 개 중 셋째(파란 테두리)를 가리키며 '지금 화면이 세트 3'. 목업을 직접 열어 화살표를 넘기는 시연은 하지 않음: 첫 세트에 이번 방송에서 빼기로 한 예시 카드가 있음. 세트 넘김을 보여 주고 싶으면 gate010/05_reco_set2.png(세트 2)를 캡처 위에 잠깐 겹쳐 띄운 뒤 본 캡처로 돌아옴. [게시판]도 열지 않고 빨간 점만 가리킴.
MeAI 홈에 들어오시면 이 화면입니다.
1번, 오른쪽 '최근 업데이트'에 뜨는 시각이 데이터 기준입니다. 데이터와 추천 결과는 매일 새로 계산되어 다음 날 반영됩니다.
2번, 대화 카드. 일반대화는 무엇이든, 맞춤대화는 고객 한 명입니다. 이름을 알면 검은 [맞춤대화] 카드를 누르세요. 고객 검색 창에 한 글자만 넣어도 목록이 좁혀집니다.
3번, 내 고객 숫자 네 개. 아침마다 '사전조회 동의 필요'가 늘었는지 보세요.
4번, 오늘의 추천 고객. 이유가 붙은 카드가 세 장씩, 화살표로 넘기면 세트 2, 세트 3이 나옵니다. 지금 화면이 세트 3입니다. 상령일, 보상 뒤 상담처럼 카드마다 이유가 한 문장씩 있습니다.
5번, 오른쪽 위. [글씨 확대]는 기본으로 켜져 있고, [고객 동의]로 동의 요청 알림톡을 보냅니다. [게시판]의 빨간 점은 새 글입니다.
MeAI 홈을 열면 숫자 네 개와 게시판 빨간 점부터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11:00–12:50 · 110초] 추천 카드 한 장(김민수)
진행: 번호 ①→⑤ 순서로 카드를 짚음. ④에서 빨간 '사전조회동의 필요' 칩을 가리키며 '알림톡으로 동의부터'를 또렷이. 첫 말은 실제로 고객에게 말하듯이 천천히. 되풀이 문장 앞에서 한 박자 쉼. 마지막 문장 뒤 다음 장(챕터 칩 '2 고르기')으로 넘김. '두 번째 걸음, 고르기' 안내는 9장 첫 문장에서 함.
김민수 고객 카드를 크게 보겠습니다. 이름과 숫자는 예시입니다.
1번, 누구에게. 이름과 나이, 보유·가망·이관입니다. 'AI 추천 고객'은 상품 제안이 가능한 고객입니다.
2번, 왜 지금. 굵은 한 문장, '상령일이 2주 남았고 암진단비가 1천만원뿐입니다.' 연락할 이유입니다. 아래 설명은 상담 방향입니다.
3번, 태그. 아침엔 이벤트 임박과 당월 타겟부터 읽으세요.
4번, '사전조회동의 필요'가 붙으면 알림톡으로 동의부터 받고, '사전조회동의 디' 뒤에 남은 날 숫자가 붙어 있으면 바로 시작합니다.
5번, [MeAI 고객찾기에서 열기]를 누르면 고객찾기의 이 고객 카드로 넘어갑니다.
고객에게는 이렇게 여세요. "고객님, 2주 뒤 보험 나이가 올라가요. 그 전에 점검하려고 동의 알림톡 보내요."
카드 문장은 고객에게 첫 말, 추천 질문은 MeAI에게 첫 질문. 이 카드가 앞의 절반입니다.
추천은 지시가 아니라 이유가 있는 고객입니다. 오늘 연락할 분이 아니면 그룹에서 직접 고르셔도 됩니다. 그 방법이 다음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12:50–14:15 · 85초] 고객찾기 세 단 · 김민수 펼친 카드
진행: 첫 문장에서 앞 장의 김민수 카드를 떠올리게 한 뒤 핀 ①→②→③ 순서로 짚기. 6칸은 왼쪽 캡처의 점선 상자와 오른쪽 '6칸 읽는 법'을 가리키며 '장기 3건 · 1,000만원 · 없음'을 차례로. ③에서는 빨간 테두리 [사전조회동의 요청하기]를 짚고, 동의 이야기는 두 장 뒤로 넘긴다는 뜻으로 가볍게. 검색 줄과 태그 색은 화면으로만.
두 번째 걸음, 고르기입니다. 김민수 고객 카드의 [MeAI 고객찾기에서 열기]를 누르면 이 화면이 열립니다. 그룹에서 직접 고르실 때는 MeAI 홈의 [MeAI 고객찾기] 버튼으로 들어옵니다. 왼쪽에서 오른쪽으로 읽습니다.
1번, 왼쪽은 연락할 이유별로 묶인 고객 그룹입니다.
2번, 카드를 누르면 '이 고객 한눈에 보기' 여섯 칸이 펼쳐집니다. 장기 세 건이면 '지금 세 건 갖고 계세요'로 대화를 여세요. 부족 금액 천만 원이 제안 크기, 1-5종수술비 '없음'이 제안 포인트입니다. 자료가 없으면 '미확인', 추정하지 않습니다.
3번, 오른쪽이 다음 행동입니다. 동의가 있으면 [이 고객으로 맞춤대화 시작], 김민수 고객처럼 동의가 필요하면 [사전조회동의 요청하기]가 보입니다. 추천 질문은 세 번째 걸음에서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14:15–15:55 · 100초] 그룹 설명 · 언제 열까
진행: 왼쪽 캡처는 위에서 아래로 파란 밑줄(묶인 기준)과 노란 표시(말할 방향)를 짚고, 그룹 설명은 '안내합니다'라는 대본 말 그대로 인용. 오른쪽 네 줄은 월초부터 빠르게. '김민수 고객도…'에서는 회색 칸의 둘째 줄을 짚는다. 마지막 문장은 다음 장(동의)으로 넘기는 말이라 천천히.
왼쪽 그룹을 자세히 보겠습니다. 그룹 이름이 곧 연락할 이유입니다. 그룹을 누르면 제목 아래 설명이 붙습니다. 앞은 묶인 기준, 뒤는 어떻게 말할지입니다. 뇌진단비 부족 그룹이면 전화로 '재활·간병 기간이 길어 진단비가 곧 생활비예요' 하고 여세요. 생일 임박은 축하 인사로 대화를 열고 보장 점검으로 이어 가라고 안내합니다. 상령일 임박은 같은 보장을 더 싸게 준비할 수 있는 마지막 구간입니다.
언제 어느 그룹을 열까요. 월초에는 우선순위 1위인 당월 영업 타겟. 매주 월요일에는 상령일과 생일 임박. 한 달에 한 번은 사전동의 만료. 수시로는 신규 등록 고객입니다. 보장 부족 그룹은 이번 달 주력 상품의 담보부터 여세요.
한 고객이 여러 그룹에 있어도 정상입니다. 김민수 고객도 암진단비 부족과 상령일 임박, 두 그룹에 있습니다. 설명 문장은 화면 안내입니다. 이 고객 금액은 보장분석으로 확인하고 말씀하세요.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15:55–17:25 · 90초] 동의 상태 · 알림톡
진행: 세 줄을 위에서 아래로 짚기. 둘째 줄에서 '김민수 고객처럼'은 9장 캡처의 빨간 테두리 버튼을 떠올리게 하고, 버튼 → 팝업 화살표를 따라 손으로 짚는다. 전화 한 마디는 실제 통화하듯. '15분 안팎'으로 읽기. 다음 장은 '세 번째 걸음, 묻기입니다'로 이어진다.
맞춤대화를 열기 전에 하나만 보세요. 사전조회 동의입니다. 맞춤대화는 보장 내역을 읽기 때문에 동의가 먼저입니다. 상태는 세 가지뿐입니다.
첫째, 남은 날이 보이면 유효합니다. 동의일부터 1년 동안 보입니다. 바로 맞춤대화를 시작하세요.
둘째, 김민수 고객처럼 '동의 필요'가 보이면 [사전조회동의 요청하기]를 누르고 휴대폰 번호를 넣으세요. 고객에게 알림톡이 갑니다. MeAI 홈 [고객 동의]에서도 보낼 수 있습니다. 전화로는 이렇게 말씀하세요. '보장을 정확히 보고 말씀드리려면 동의가 필요해요. 알림톡으로 금방 끝나요.' 동의하면 15분 안팎에 반영됩니다.
셋째, 오늘 철회한 고객은 회색입니다. 새 동의 없이는 볼 수 없으니, 우회하지 말고 동의부터입니다.
MeAI 홈 '사전조회 동의 필요' 숫자가 이번 달 알림톡 보낼 고객입니다.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17:25–19:35 · 130초] 질문 고르기
진행: 첫 문장 '세 번째 걸음, 묻기입니다'에서 챕터 칩 '3 묻기'가 켜진 이 화면으로 전환. 하나→넷 순서로 칸을 짚음. 시연: '하나'에서 일반대화 첫 화면 보장 비교 예시 첫 줄을 커서로 짚기만 함(목업에서는 눌러도 반응 없음). '셋'에서는 답 아래 첫 번째(청록) 버튼만 짚고 버튼 문장은 읽지 않음(2·3번 버튼은 짚지 않음). '셋'은 슬라이드 ③ 칸만 짚고 목업 답 화면은 띄우지 않음(답 아래 2·3번 버튼이 전환·정리 문장이라 송출 금지). 지식 검색·자주하는 질문 탭의 예시 문장은 목업에 없으니 지어내 읽지 않음. 화면 속 질문 버튼 문장은 예시라고만 말함. '둘'에서 되풀이 문장 앞 한 박자 쉼. 계단 막대 숫자는 또박또박. 고객찾기 목록·검색창은 이 장에서 띄우지 않음(캡처로만).
세 번째 걸음, 묻기입니다. 프롬프트라는 말에 겁먹지 마세요. 질문은 만드는 게 아니라 고르는 겁니다. 화면 안에 질문 창구가 네 곳 있습니다.
하나, 시작할 때는 일반대화 첫 화면의 탭 세 개. 보장 비교는 담보 간 차이, 지식 검색은 처음 듣는 용어, 자주하는 질문은 영업가족이 많이 물은 질문입니다. 예시를 누르면 바로 대화가 시작됩니다.
둘, 고객이 정해졌을 때는 고객찾기 오른쪽 'MeAI에 이렇게 물어보세요'. 누르면 입력창에 질문이 채워진 채로 열리고, 전송만 누르면 됩니다. 기억하시죠. 카드 문장은 고객에게 첫 말, 추천 질문은 MeAI에게 첫 질문.
셋, 답을 받은 뒤에는 답 아래 다음 질문 버튼 세 개. 가이드북에서 꼬리질문이라 부르는 버튼입니다. 누르면 타이핑 없이 이어집니다.
넷, 더 필요하면 [질문 더보기]에서 골라 쓰세요. 좋았던 질문은 저장 아이콘으로 나의 질문에 모아 두세요. PC와 휴대폰에서 똑같이 보입니다.
질문을 하나만 쓴 분의 평균 가계약은 11.99건, 두 개면 17.02건, 세 개 이상이면 27.79건, 2.3배였습니다. 데이터분석팀의 8월 분석입니다. 답 아래 버튼을 한 번 더, 또 한 번 더 눌러 보세요. 그럼 고객 한 분과 맞춤대화를 열어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19:35–21:45 · 130초] 보장분석 해줘
진행: 탭 2개 미리 열어 둠: ① 고객찾기 김도윤(동의 유효) [이 고객으로 맞춤대화 시작]을 누른 고객 정보 칸 화면 ② 김도윤의 빨간 맞춤대화 추천 질문을 누른 화면(입력창에 질문이 채워짐). 핀 1→4는 ① 화면, 핀 5·6은 ② 화면에서 짚음. [보장분석 해줘]는 짚기만(목업에서 눌러도 반응 없음). ② 화면 안내문 속 고객 이름은 목업 고정 문구라 짚지 않음. 고객찾기 목록과 검색창은 송출하지 않음. 화면 속 날짜는 읽지 않음. '아래 계약 목록' 문장에서 고객 정보 카드 오른쪽 위 ^ 를 눌러 접고, 밝아진 계약 목록의 체크칸과 약관DB 범례를 짚음. 시연이 준비 안 됐거나 슬라이드를 송출 중이면 핀 1→4를 짚고, '아래 계약 목록' 문장에서는 오른쪽 회색 상자 두 줄을 짚은 뒤 핀 5·6으로 넘어감(^ 접기는 시연 탭에서만).
화면은 동의가 유효한 예시 고객입니다. 동의가 유효한 고객은 고객찾기 오른쪽에 [이 고객으로 맞춤대화 시작]이 보입니다. 누르면 먼저 '분석할 고객 정보를 입력하세요'가 나옵니다. 고객 정보를 먼저 알려 주면 답이 그 고객 것이 됩니다. 직업, 병력, 가족력, 설계사 희망 보험료, 메모. 아는 것만 넣으시면 됩니다. 병력과 가족력이 답의 방향을 가장 크게 바꾸고, 희망 보험료를 넣으면 그 예산 안에서 제안합니다. 메모에는 '자녀 결혼 앞둠, 배우자 암 진단 이력'처럼 상황만 적고, 이름과 연락처는 넣지 않습니다. [입력 완료]를 눌러야 반영되고, 비워 두려면 [입력하지 않고 넘어가기]를 누르세요. 고칠 때는 오른쪽 위 [사용중인 정보 수정]입니다.
아래 계약 목록에서 관계없는 계약은 체크를 풀면 분석에서 빠집니다. 약관DB 구성이 끝나지 않은 상품은 답이 부정확할 수 있다는 표시도 봐 두세요.
이제 첫 질문입니다. 처음엔 전체 선택 그대로 두고, 입력창 위 [보장분석 해줘]를 한 번 누르세요. 추천 질문을 눌러 들어오셨다면 질문이 채워져 있으니 전송만 누르시면 됩니다. 전체 그림을 먼저 보고, 그다음 담보를 좁혀 다시 묻는 순서가 가장 자연스럽습니다. 그럼 답은 어떻게 읽을까요?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21:45–23:15 · 90초] 답 읽는 순서
진행: 핀 1→4 차례로 짚기. '미가입' 두 줄에서 잠깐 멈춤. '안심, 제안, 다음 행동'은 손가락 셋으로 천천히. 시연 중이면 이 답 화면을 미리 띄우되 맨 위 날짜 줄은 안 보이게 내려 둠. 노란 [용어 설명]은 16장에서 다루니 여기서는 짚지 않음. 마지막 질문으로 15장(직접 묻기)으로 넘김. ④ 아래 둘째 줄은 가려 두었으니 읽지 않음. 답 화면을 띄우면 아래 다음 질문 버튼 줄이 화면에 들어오지 않게 둠.
이제 답을 읽는 법입니다. 화면은 '이 고객 보험 어디가 부족한지 알려줘'라고 물은 답입니다. 답변은 이 순서로 옵니다.
1번, 맨 위 굵은 한 줄 결론. 이게 오늘 상담 주제입니다.
2번, 잘 갖춰진 보장. 여기서는 실손, 암 진단, 뇌심장 진단, 운전자 보장입니다. 고객에게도 안심부터 드리세요.
3번, 비어 있는 것. 표에서 '미가입'이라고 적힌 두 줄, 암 치료비와 2대 주요치료비가 바로 제안 포인트입니다.
4번, '이제 하면 되는 일'. 이게 다음 행동입니다.
안심, 제안, 다음 행동. 답의 순서대로 상담하시면 됩니다.
여기서 멈추지 마세요. 답 아래 다음 질문 버튼을 누르셔도 되고, 고객에게 보여 줄 표가 필요하면 '가입증권 별로 핵심만 표로 요약해줘'라고 이어 물으세요. 화면 속 금액은 예시입니다.
그럼 직접 물을 때는 어떻게 쓰면 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23:15–25:05 · 110초] 직접 묻는 공식(누구에게 + 무엇을)
진행: 14장 마지막 물음('직접 물을 때는 어떻게?')을 받아 바로 시작. 공식 네 칸을 왼쪽부터 짚기. 안전장치 한 마디는 천천히 두 번 읽어도 됨. 실손 문장은 끝까지 천천히 읽되 '비교 예시'로만 소개(전환을 권하는 말로 들리지 않게). 마지막 두 문장에서 아래 띠의 ① 마이크, ② 전송 핀을 차례로 가리킴. PC 마이크 유무는 말하지 않음.
이번에는 직접 묻는 법입니다. 두 조각만 이어 붙이세요. 누구에게, 그리고 무엇을. '40대 자녀 둘 가장, 암진단비만 있는 고객에게', 더하기 '암 통합치료비가 왜 필요한지 설명해줘.' 말하듯 써도 MeAI가 알아듣습니다. 형식은 덧붙이면 좋고, 없어도 괜찮습니다. 표로, 구어체로, 카톡 6줄로. 이 한 마디는 외워 두세요. '자료에 없으면 추정하지 말고 확인필요로 표시해.'
한 줄만 바꿔도 답이 달라집니다. '실손 설명해줘'라고만 물으면 일반 개념이 길게 옵니다. 이렇게 바꿔 보세요. '3세대 실손 가입한 50대 고객에게, 4세대와 비교해서 자기부담과 비급여 한도의 차이를 표 1개로 정리하고, 유지가 유리한 경우 3가지를 구어체로 알려줘.' 그러면 고객 세대 기준 비교표와 바로 말할 세 가지가 옵니다.
틀려도 괜찮습니다. 마음에 안 들면 '더 쉽게', '표로 다시' 한 마디면 됩니다. 휴대폰에서는 입력창 오른쪽 마이크를 누르고 평소 말투로 말하세요. 글자로 바뀌면 오타만 확인하고 보내시면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25:05–26:55 · 110초] 고객에게 할 말 초안
진행: 캡처 핀 1→3, 3번 성명·연락처 밑줄에서 멈춤. 추천 질문 원문과 직접 부탁 두 개는 화면대로 읽기. '두 기능은 개발 중이라 바뀔 수 있습니다'는 꼭 말하기. 마지막 문장에서 노란 띠 가리킴.
고객에게 할 말도 MeAI가 초안을 써 줍니다. 고객찾기의 파란 일반대화 추천 질문을 누르면 일반대화 입력창에 이 문장이 채워집니다. "암진단비 부족, 40대, 보유. 이 조건에 해당하는 고객에게 보낼 안내 문자 문안을 작성해줘. 3~4줄 분량으로, 부담스럽지 않은 톤으로 부탁해." 끝에 "고객 성명·연락처는 넣지 말 것"까지 붙어 있습니다. 이름 대신 조건으로 묻는 겁니다.
직접 부탁하셔도 됩니다. "보장분석 결과를 고객에게 보낼 카톡 안내문 6줄로 써줘. 존댓말, 단정 표현은 빼고." 첫 만남 전이면 "이 고객에게 첫 만남에서 꺼낼 질문 3개 만들어줘."
고객 앞에서는 두 버튼을 쓰세요. [간편 분석]은 어려운 보험 용어를 일상 언어로 풀어 줍니다. 약관을 따질 땐 상세 분석으로 바꿉니다. [용어]를 켜고 표시된 말을 누르면 고객 눈높이 뜻풀이가 뜹니다. 그대로 읽어 주세요. 두 기능은 개발 중이라 바뀔 수 있습니다.
어떤 답이든 초안입니다. 숫자와 약관 근거를 확인하고 내 말투로 다듬어 보내세요.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26:55–28:40 · 105초] 이렇게는 묻지 마세요
진행: ①→④ 차례로 짚기. ③에서 아래 안내문 띠 둘째 줄 가리키기(화면 안내문 원문을 가리키며 전하는 방식). ✕ 예문은 ④만 소리 내 읽기. '김민수 고객이' 앞에서 8장 카드의 '사전조회동의 필요'를 떠올리도록 한 박자 쉼. 마지막 문장 뒤 챕터 칩 '4 터치하기'가 켜진 18장으로 넘김.
묻기 마지막, 이렇게는 묻지 마세요. 답도 나빠지고, 규정에도 어긋납니다.
하나, 개인정보를 넣는 질문. 이름, 연락처, 주소, 주민번호는 질문에도 메모에도 넣지 않습니다. 맞춤대화는 이미 그 고객을 알고 있으니, '이 고객'이라고만 하세요.
둘, 여러 질문을 한 번에. 하나씩 이어 가야 답마다 품질이 올라갑니다. 고객이나 주제가 바뀌면 [새로 대화하기]를 누르세요.
셋, 답을 그대로 고객에게. 숫자와 약관 근거를 확인하고 내 말로 다듬어 보내세요. 검증 없이 안내하면 법령상 책임은 사용자에게 있습니다.
넷, 단정을 강요하는 질문. '무조건 가입 가능하다고 말해줘' 대신 '가능성과 확인할 조건을 알려줘'라고 물으세요. 인수 가능 여부와 지급 여부는 심사와 약관이 결정합니다.
동의 없는 고객은 우회하지 말고 동의부터 받습니다. 앞에서 본 김민수 고객이 그렇습니다. 답변과 화면 캡처는 외부로 내보내지 않습니다.
이제 고객에게 연락할 차례입니다.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28:40–31:00 · 140초] 김민수 고객 시연(상령일 2주 전 · 동의부터)
진행: 방송 화면으로 넘기기 전에 MeAI 홈 추천 카드 아래 세 번째 점(추천 세트 3)을 눌러 김민수·정재민·서은아 세트를 띄워 둔다. 세트 1·2 화면과 검색창(추천 조건 칩)은 방송에 내보내지 않는다. 준비가 안 됐으면 시연 없이 슬라이드 네 칸만 짚는다. 화면 오른쪽 위 업데이트 날짜와 홈 숫자는 목업 예시라 읽거나 확대하지 않고, 카메라는 김민수 카드와 오른쪽 패널만 확대한다. 17장 끝('이제 고객에게 연락할 차례입니다')을 받아 바로 시작. 목업 시연은 클릭만: MeAI 홈 추천 세트 3의 김민수 카드 → [MeAI 고객찾기에서 열기] → 오른쪽 [사전조회동의 요청하기] → 팝업이 뜨면 번호 칸은 비운 채 닫기(실제·가짜 번호 모두 입력 금지). 목업에서는 동의 상태가 바뀌지 않으므로 ③④는 슬라이드 네 칸을 차례로 짚으며 진행(목업 맞춤대화 답은 고정 예시라 첫 질문은 보내지 않음). ② 첫 말은 아래 검은 띠를 가리키며 천천히 읽기. 시연이 어려우면 네 칸을 ①→④ 차례로 짚기. 마지막 물음 뒤 19장으로. 라이브 화면은 김민수 카드를 확대한 상태로 넘기고, 정재민 카드 문장은 송출하지 않음.
네 번째 걸음, 터치하기입니다. 고객에게 연락하는 순서입니다. 지금까지 본 것을 고객 한 명으로 이어 보겠습니다. 앞에서 본 김민수 고객입니다. 화면 속 이름과 숫자는 예시입니다.
첫째, MeAI 홈에서 카드를 읽습니다. 상령일이 2주 남았고 암진단비가 1천만 원뿐입니다. AI 추천 고객이지만 '사전조회동의 필요'가 붙어 있습니다. 그러니 오늘은 동의부터 받습니다.
둘째, 전화를 들고 카드 문장으로 첫 말을 건넵니다. "고객님, 2주 뒤 보험 나이가 올라가요. 그 전에 점검하려고 동의 알림톡 보내요." 그리고 [MeAI 고객찾기에서 열기]로 들어가 오른쪽 [사전조회동의 요청하기]를 누릅니다. 휴대폰 번호를 넣고 [보내기]를 누르면 고객에게 알림톡이 갑니다.
셋째, 고객이 동의하면 15분 안팎에 반영됩니다. 그러면 오른쪽에 [이 고객으로 맞춤대화 시작]이 보입니다. 들어가서 먼저 [보장분석 해줘]로 전체 그림을 봅니다. 이어서 MeAI에게 첫 질문입니다. "상령일 전에 암진단비를 늘려야 하는 이유를 쉽게 설명해줘." 답 아래 다음 질문 버튼으로 이어 물어도 됩니다.
넷째, 상령일 전에 제안합니다. 인상 전 가입의 이점을 요약 리포트로 보내 드립니다. 보내는 법은 곧 보여 드리겠습니다.
그럼 카드가 다르면 첫 말은 어떻게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31:00–32:00 · 60초] 첫 말·첫 질문 짝
진행: 첫 줄은 앞 장 정리라 가리키기만. 둘째 줄은 첫 말→첫 질문 순서로 읽고, ※ 줄(D-90은 사전조회동의, 가입설계동의와 별개)을 손으로 짚기만(소리 내 읽지 않아도 됨). 셋째 줄은 화면 안내 문장과 파란 추천 질문 틀을 차례로 가리키며 '내 말로'에 힘주기. 마지막에 아래 띠의 되풀이 문장을 가리키고 '오늘 한 분께 터치해 보세요'.
카드가 달라도 짝은 같습니다. 카드 문장은 고객에게 첫 말, 추천 질문은 MeAI에게 첫 질문.
상령일 2주 전인데 동의가 필요하면, 앞에서 본 대로 알림톡부터 보냅니다.
동의 만료 임박 고객이면, "고객님, 이달 말 동의가 만료돼 연장 부탁드려요. 새로 나온 보장도 봐 드릴게요." MeAI에게는 "최근 신담보 기준으로 이 고객 보장의 빈 곳을 알려줘."
생일 임박 그룹은 화면 안내를 내 말로 풀어 첫 말로 쓰세요. 보낼 문자는 파란 일반대화 추천 질문으로 초안을 받습니다.
오늘 한 분께 터치해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32:00–33:15 · 75초] 요약 리포트 보내기
진행: ①→④ 핀 순서로 짚기. [요약 생성]·[요약 리포트] 둘 다 말함. 첫 두 문장에서 18장 ④ 칸(인상 전 가입의 이점)을 떠올리게 한 박자 쉼. 마지막 카톡 화면에서 멈춘 뒤 21장(첫 5일)으로.
맞춤대화가 끝나면 좋았던 답만 골라 요약 리포트로 보내 드리세요. 김민수 고객이라면 인상 전 가입의 이점을 담은 답입니다.
첫째, 휴대폰은 대화 화면 위 [요약 생성]을 누릅니다. PC는 오른쪽 위 [요약 리포트]입니다. 둘째, 넣을 답만 체크하고 [편집하기]로 다듬습니다. 내부 판단용 답은 빼 주세요. 셋째, [리포트 생성하기]를 누르면 카카오톡으로 링크가 갑니다. 넷째, 고객은 알림톡을 받은 날부터 7일까지 열 수 있습니다. 기간도 함께 알려 주세요.
보내기 전에 숫자, 약관 근거, 개인정보를 확인합니다. 'AI로 생성된 보조자료' 표시가 붙어도 최종 책임은 보내는 사람에게 있습니다. 처음 한 번은 내 카톡으로 먼저 받아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33:15–34:40 · 85초] 첫 5일 미션
진행: DAY 1→5 칸을 차례로 짚으며 빠르게. '데이터분석팀 8월 분석'은 부제 괄호를 가리킴. 끝 문장에서 아래 남색 띠를 가리키고 바로 마무리 장으로.
그럼 무엇부터 할까요. 첫 5일, 하루 하나씩만 해 보세요. 첫째 날, MeAI 홈에서 숫자 네 개와 추천 카드 세 장을 읽습니다. 일반대화 질문 예시도 하나 눌러 보세요. 둘째 날, 카드에서 고객찾기로 가서 한눈에 보기 여섯 칸을 보고, 추천 질문을 눌러 봅니다. 셋째 날, 맞춤대화에서 ‘보장분석 해줘’를 누르고, 다음 질문 버튼으로 두 번 이어 갑니다. 부족한 보장 세 개는 메모해 두세요. 넷째 날, 사전동의 만료 그룹에서 남은 날이 짧은 고객 한 명께 재동의를 부탁합니다. 다섯째 날, 요약 리포트를 내 카톡으로 받아 보고, 좋았던 질문은 나의 질문에 저장합니다. 첫 사용까지 걸린 시간이 짧을수록 정착률이 높았습니다. 데이터분석팀의 8월 MeAI 사용 분석입니다. 5일 뒤면 여러분은 MeAI 홈에서 하루를 시작하는 사람이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34:40–35:35 · 55초] 마무리
진행: 네 걸음은 위 칩 1→4를 차례로 짚듯 천천히(칩은 강조 없이 넷 다 같은 모양). 두 분이 스튜디오에 계시면 이름을 부를 때 함께 인사, 자리를 떠나셨으면 아래 감사 줄을 가리킴. '찾는 일은 MeAI가'에서 부제를 가리키고, '감사합니다' 뒤 3초 멈춘 뒤 엔딩.
정리하겠습니다. 오늘 연락할 내 고객은 MeAI 홈에 있습니다. MeAI 홈에서 찾고, 고객찾기에서 고르고, MeAI에게 묻고, 고객에게 터치합니다. 카드 문장은 고객에게 첫 말, 추천 질문은 MeAI에게 첫 질문. 매일 아침 MeAI 홈을 열고, 오늘 한 분께 첫 말을 건네 보세요. 오늘 자료는 외부에 공유하지 말아 주시고, 문의는 세일즈혁신TF로 해 주세요. 오늘의 추천 고객과 고객찾기를 만든 문현우님, 이경복님, 고맙습니다. 찾는 일은 MeAI가, 만나는 일은 여러분이 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진행용 큐시트 · 방송 송출 제외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F28"/>
        </a:solidFill>
      </p:bgPr>
    </p:bg>
    <p:spTree>
      <p:nvGrpSpPr>
        <p:cNvPr id="1" name=""/>
        <p:cNvGrpSpPr/>
        <p:nvPr/>
      </p:nvGrpSpPr>
      <p:grpSpPr>
        <a:xfrm>
          <a:off x="0" y="0"/>
          <a:ext cx="0" cy="0"/>
          <a:chOff x="0" y="0"/>
          <a:chExt cx="0" cy="0"/>
        </a:xfrm>
      </p:grpSpPr>
      <p:sp>
        <p:nvSpPr>
          <p:cNvPr id="2" name="Shape 0"/>
          <p:cNvSpPr/>
          <p:nvPr/>
        </p:nvSpPr>
        <p:spPr>
          <a:xfrm>
            <a:off x="731520" y="868680"/>
            <a:ext cx="2769616" cy="365760"/>
          </a:xfrm>
          <a:prstGeom prst="roundRect">
            <a:avLst>
              <a:gd name="adj" fmla="val 50000"/>
            </a:avLst>
          </a:prstGeom>
          <a:solidFill>
            <a:srgbClr val="2B3340"/>
          </a:solidFill>
          <a:ln w="12700">
            <a:solidFill>
              <a:srgbClr val="2B3340"/>
            </a:solidFill>
            <a:prstDash val="solid"/>
          </a:ln>
        </p:spPr>
      </p:sp>
      <p:sp>
        <p:nvSpPr>
          <p:cNvPr id="3" name="Text 1"/>
          <p:cNvSpPr txBox="1"/>
          <p:nvPr/>
        </p:nvSpPr>
        <p:spPr>
          <a:xfrm>
            <a:off x="731520" y="868680"/>
            <a:ext cx="276961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10월 MeAI 홈 · 영업가족 방송</a:t>
            </a:r>
            <a:endParaRPr lang="en-US" sz="1400" dirty="0"/>
          </a:p>
        </p:txBody>
      </p:sp>
      <p:sp>
        <p:nvSpPr>
          <p:cNvPr id="4" name="Text 2"/>
          <p:cNvSpPr txBox="1"/>
          <p:nvPr/>
        </p:nvSpPr>
        <p:spPr>
          <a:xfrm>
            <a:off x="731520" y="1508760"/>
            <a:ext cx="6035040" cy="2011680"/>
          </a:xfrm>
          <a:prstGeom prst="rect">
            <a:avLst/>
          </a:prstGeom>
          <a:noFill/>
          <a:ln/>
        </p:spPr>
        <p:txBody>
          <a:bodyPr wrap="square" lIns="0" tIns="0" rIns="0" bIns="0" rtlCol="0" anchor="t"/>
          <a:lstStyle/>
          <a:p>
            <a:pPr indent="0" marL="0">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오늘 연락할 내 고객,</a:t>
            </a:r>
            <a:endParaRPr lang="en-US" sz="4600" dirty="0"/>
          </a:p>
          <a:p>
            <a:pPr indent="0" marL="0">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MeAI 홈에서 찾아요</a:t>
            </a:r>
            <a:endParaRPr lang="en-US" sz="4600" dirty="0"/>
          </a:p>
        </p:txBody>
      </p:sp>
      <p:sp>
        <p:nvSpPr>
          <p:cNvPr id="5" name="Text 3"/>
          <p:cNvSpPr txBox="1"/>
          <p:nvPr/>
        </p:nvSpPr>
        <p:spPr>
          <a:xfrm>
            <a:off x="731520" y="3657600"/>
            <a:ext cx="5852160" cy="457200"/>
          </a:xfrm>
          <a:prstGeom prst="rect">
            <a:avLst/>
          </a:prstGeom>
          <a:noFill/>
          <a:ln/>
        </p:spPr>
        <p:txBody>
          <a:bodyPr wrap="square" lIns="0" tIns="0" rIns="0" bIns="0" rtlCol="0" anchor="ctr"/>
          <a:lstStyle/>
          <a:p>
            <a:pPr indent="0" marL="0">
              <a:buNone/>
            </a:pPr>
            <a:r>
              <a:rPr lang="en-US" sz="2200" b="1" dirty="0">
                <a:solidFill>
                  <a:srgbClr val="C9E2FF"/>
                </a:solidFill>
                <a:latin typeface="맑은 고딕" pitchFamily="34" charset="0"/>
                <a:ea typeface="맑은 고딕" pitchFamily="34" charset="-122"/>
                <a:cs typeface="맑은 고딕" pitchFamily="34" charset="-120"/>
              </a:rPr>
              <a:t>찾고 · 고르고 · 묻고 · 터치해요</a:t>
            </a:r>
            <a:endParaRPr lang="en-US" sz="2200" dirty="0"/>
          </a:p>
        </p:txBody>
      </p:sp>
      <p:sp>
        <p:nvSpPr>
          <p:cNvPr id="6" name="Text 4"/>
          <p:cNvSpPr txBox="1"/>
          <p:nvPr/>
        </p:nvSpPr>
        <p:spPr>
          <a:xfrm>
            <a:off x="731520" y="4206240"/>
            <a:ext cx="5852160" cy="411480"/>
          </a:xfrm>
          <a:prstGeom prst="rect">
            <a:avLst/>
          </a:prstGeom>
          <a:noFill/>
          <a:ln/>
        </p:spPr>
        <p:txBody>
          <a:bodyPr wrap="square" lIns="0" tIns="0" rIns="0" bIns="0" rtlCol="0" anchor="ctr"/>
          <a:lstStyle/>
          <a:p>
            <a:pPr indent="0" marL="0">
              <a:buNone/>
            </a:pPr>
            <a:r>
              <a:rPr lang="en-US" sz="1800" dirty="0">
                <a:solidFill>
                  <a:srgbClr val="FFFFFF">
                    <a:alpha val="75000"/>
                  </a:srgbClr>
                </a:solidFill>
                <a:latin typeface="맑은 고딕" pitchFamily="34" charset="0"/>
                <a:ea typeface="맑은 고딕" pitchFamily="34" charset="-122"/>
                <a:cs typeface="맑은 고딕" pitchFamily="34" charset="-120"/>
              </a:rPr>
              <a:t>찾는 영업에서, 찾아가는 영업으로</a:t>
            </a:r>
            <a:endParaRPr lang="en-US" sz="1800" dirty="0"/>
          </a:p>
        </p:txBody>
      </p:sp>
      <p:sp>
        <p:nvSpPr>
          <p:cNvPr id="7" name="Text 5"/>
          <p:cNvSpPr txBox="1"/>
          <p:nvPr/>
        </p:nvSpPr>
        <p:spPr>
          <a:xfrm>
            <a:off x="731520" y="5440680"/>
            <a:ext cx="5486400" cy="320040"/>
          </a:xfrm>
          <a:prstGeom prst="rect">
            <a:avLst/>
          </a:prstGeom>
          <a:noFill/>
          <a:ln/>
        </p:spPr>
        <p:txBody>
          <a:bodyPr wrap="square" lIns="0" tIns="0" rIns="0" bIns="0" rtlCol="0" anchor="t"/>
          <a:lstStyle/>
          <a:p>
            <a:pPr indent="0" marL="0">
              <a:buNone/>
            </a:pPr>
            <a:r>
              <a:rPr lang="en-US" sz="1400" dirty="0">
                <a:solidFill>
                  <a:srgbClr val="FFFFFF">
                    <a:alpha val="70000"/>
                  </a:srgbClr>
                </a:solidFill>
                <a:latin typeface="맑은 고딕" pitchFamily="34" charset="0"/>
                <a:ea typeface="맑은 고딕" pitchFamily="34" charset="-122"/>
                <a:cs typeface="맑은 고딕" pitchFamily="34" charset="-120"/>
              </a:rPr>
              <a:t>메리츠화재 세일즈혁신TF · 2026.10</a:t>
            </a:r>
            <a:endParaRPr lang="en-US" sz="1400" dirty="0"/>
          </a:p>
        </p:txBody>
      </p:sp>
      <p:sp>
        <p:nvSpPr>
          <p:cNvPr id="8" name="Shape 6"/>
          <p:cNvSpPr/>
          <p:nvPr/>
        </p:nvSpPr>
        <p:spPr>
          <a:xfrm>
            <a:off x="6629400" y="995521"/>
            <a:ext cx="5029200" cy="4592638"/>
          </a:xfrm>
          <a:prstGeom prst="roundRect">
            <a:avLst>
              <a:gd name="adj" fmla="val 2190"/>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9" name="Image 0" descr="MeAI 화면 캡처">    </p:cNvPr>
          <p:cNvPicPr>
            <a:picLocks noChangeAspect="1"/>
          </p:cNvPicPr>
          <p:nvPr/>
        </p:nvPicPr>
        <p:blipFill>
          <a:blip r:embed="rId1"/>
          <a:stretch>
            <a:fillRect/>
          </a:stretch>
        </p:blipFill>
        <p:spPr>
          <a:xfrm>
            <a:off x="6629400" y="995521"/>
            <a:ext cx="5029200" cy="4592638"/>
          </a:xfrm>
          <a:prstGeom prst="rect">
            <a:avLst/>
          </a:prstGeom>
        </p:spPr>
      </p:pic>
      <p:sp>
        <p:nvSpPr>
          <p:cNvPr id="10" name="Text 7"/>
          <p:cNvSpPr txBox="1"/>
          <p:nvPr/>
        </p:nvSpPr>
        <p:spPr>
          <a:xfrm>
            <a:off x="6629400" y="5897880"/>
            <a:ext cx="5029200" cy="274320"/>
          </a:xfrm>
          <a:prstGeom prst="rect">
            <a:avLst/>
          </a:prstGeom>
          <a:noFill/>
          <a:ln/>
        </p:spPr>
        <p:txBody>
          <a:bodyPr wrap="square" lIns="0" tIns="0" rIns="0" bIns="0" rtlCol="0" anchor="ctr"/>
          <a:lstStyle/>
          <a:p>
            <a:pPr algn="r" indent="0" marL="0">
              <a:buNone/>
            </a:pPr>
            <a:r>
              <a:rPr lang="en-US" sz="1200" dirty="0">
                <a:solidFill>
                  <a:srgbClr val="FFFFFF">
                    <a:alpha val="65000"/>
                  </a:srgbClr>
                </a:solidFill>
                <a:latin typeface="맑은 고딕" pitchFamily="34" charset="0"/>
                <a:ea typeface="맑은 고딕" pitchFamily="34" charset="-122"/>
                <a:cs typeface="맑은 고딕" pitchFamily="34" charset="-120"/>
              </a:rPr>
              <a:t>화면 속 이름·숫자는 모두 예시예요</a:t>
            </a:r>
            <a:endParaRPr lang="en-US" sz="1200" dirty="0"/>
          </a:p>
        </p:txBody>
      </p:sp>
      <p:sp>
        <p:nvSpPr>
          <p:cNvPr id="11" name="Text 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12" name="Text 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FFFFFF"/>
                </a:solidFill>
                <a:latin typeface="맑은 고딕" pitchFamily="34" charset="0"/>
                <a:ea typeface="맑은 고딕" pitchFamily="34" charset="-122"/>
                <a:cs typeface="맑은 고딕"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여는 말 · 오늘의 순서</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오늘은 이 순서로 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내 고객을 MeAI 홈에서 찾아, MeAI에게 묻고, 터치해 보세요</a:t>
            </a:r>
            <a:endParaRPr lang="en-US" sz="1700" dirty="0"/>
          </a:p>
        </p:txBody>
      </p:sp>
      <p:sp>
        <p:nvSpPr>
          <p:cNvPr id="13" name="Shape 11"/>
          <p:cNvSpPr/>
          <p:nvPr/>
        </p:nvSpPr>
        <p:spPr>
          <a:xfrm>
            <a:off x="548640" y="1965960"/>
            <a:ext cx="11094415" cy="822960"/>
          </a:xfrm>
          <a:prstGeom prst="roundRect">
            <a:avLst>
              <a:gd name="adj" fmla="val 15556"/>
            </a:avLst>
          </a:prstGeom>
          <a:solidFill>
            <a:srgbClr val="F9FAFB"/>
          </a:solidFill>
          <a:ln w="12700">
            <a:solidFill>
              <a:srgbClr val="F9FAFB"/>
            </a:solidFill>
            <a:prstDash val="solid"/>
          </a:ln>
        </p:spPr>
      </p:sp>
      <p:sp>
        <p:nvSpPr>
          <p:cNvPr id="14" name="Shape 12"/>
          <p:cNvSpPr/>
          <p:nvPr/>
        </p:nvSpPr>
        <p:spPr>
          <a:xfrm>
            <a:off x="822960" y="2185416"/>
            <a:ext cx="721360" cy="384048"/>
          </a:xfrm>
          <a:prstGeom prst="roundRect">
            <a:avLst>
              <a:gd name="adj" fmla="val 50000"/>
            </a:avLst>
          </a:prstGeom>
          <a:solidFill>
            <a:srgbClr val="191F28"/>
          </a:solidFill>
          <a:ln w="12700">
            <a:solidFill>
              <a:srgbClr val="191F28"/>
            </a:solidFill>
            <a:prstDash val="solid"/>
          </a:ln>
        </p:spPr>
      </p:sp>
      <p:sp>
        <p:nvSpPr>
          <p:cNvPr id="15" name="Text 13"/>
          <p:cNvSpPr txBox="1"/>
          <p:nvPr/>
        </p:nvSpPr>
        <p:spPr>
          <a:xfrm>
            <a:off x="822960" y="2185416"/>
            <a:ext cx="7213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먼저</a:t>
            </a:r>
            <a:endParaRPr lang="en-US" sz="1400" dirty="0"/>
          </a:p>
        </p:txBody>
      </p:sp>
      <p:sp>
        <p:nvSpPr>
          <p:cNvPr id="16" name="Text 14"/>
          <p:cNvSpPr txBox="1"/>
          <p:nvPr/>
        </p:nvSpPr>
        <p:spPr>
          <a:xfrm>
            <a:off x="1818640" y="1965960"/>
            <a:ext cx="2103120" cy="822960"/>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왜 MeAI 홈인가</a:t>
            </a:r>
            <a:endParaRPr lang="en-US" sz="1900" dirty="0"/>
          </a:p>
        </p:txBody>
      </p:sp>
      <p:sp>
        <p:nvSpPr>
          <p:cNvPr id="17" name="Text 15"/>
          <p:cNvSpPr txBox="1"/>
          <p:nvPr/>
        </p:nvSpPr>
        <p:spPr>
          <a:xfrm>
            <a:off x="3731514" y="1965960"/>
            <a:ext cx="320040" cy="82296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8" name="Text 16"/>
          <p:cNvSpPr txBox="1"/>
          <p:nvPr/>
        </p:nvSpPr>
        <p:spPr>
          <a:xfrm>
            <a:off x="4188714" y="1965960"/>
            <a:ext cx="2103120" cy="822960"/>
          </a:xfrm>
          <a:prstGeom prst="rect">
            <a:avLst/>
          </a:prstGeom>
          <a:noFill/>
          <a:ln/>
        </p:spPr>
        <p:txBody>
          <a:bodyPr wrap="square" lIns="0" tIns="0" rIns="0" bIns="0" rtlCol="0" anchor="ctr"/>
          <a:lstStyle/>
          <a:p>
            <a:pPr indent="0" marL="0">
              <a:buNone/>
            </a:pPr>
            <a:r>
              <a:rPr lang="en-US" sz="1900" b="1" dirty="0">
                <a:solidFill>
                  <a:srgbClr val="7048E8"/>
                </a:solidFill>
                <a:latin typeface="맑은 고딕" pitchFamily="34" charset="0"/>
                <a:ea typeface="맑은 고딕" pitchFamily="34" charset="-122"/>
                <a:cs typeface="맑은 고딕" pitchFamily="34" charset="-120"/>
              </a:rPr>
              <a:t>만든 분께 듣기</a:t>
            </a:r>
            <a:endParaRPr lang="en-US" sz="1900" dirty="0"/>
          </a:p>
        </p:txBody>
      </p:sp>
      <p:sp>
        <p:nvSpPr>
          <p:cNvPr id="19" name="Text 17"/>
          <p:cNvSpPr txBox="1"/>
          <p:nvPr/>
        </p:nvSpPr>
        <p:spPr>
          <a:xfrm>
            <a:off x="6055614" y="1965960"/>
            <a:ext cx="5404561" cy="822960"/>
          </a:xfrm>
          <a:prstGeom prst="rect">
            <a:avLst/>
          </a:prstGeom>
          <a:noFill/>
          <a:ln/>
        </p:spPr>
        <p:txBody>
          <a:bodyPr wrap="square" lIns="0" tIns="0" rIns="0" bIns="0" rtlCol="0" anchor="ctr"/>
          <a:lstStyle/>
          <a:p>
            <a:pPr indent="0" marL="0">
              <a:buNone/>
            </a:pPr>
            <a:r>
              <a:rPr lang="en-US" sz="1600" b="1" dirty="0">
                <a:solidFill>
                  <a:srgbClr val="191F28"/>
                </a:solidFill>
                <a:latin typeface="맑은 고딕" pitchFamily="34" charset="0"/>
                <a:ea typeface="맑은 고딕" pitchFamily="34" charset="-122"/>
                <a:cs typeface="맑은 고딕" pitchFamily="34" charset="-120"/>
              </a:rPr>
              <a:t>AI추진파트 문현우님 · 이경복님</a:t>
            </a:r>
            <a:endParaRPr lang="en-US" sz="1600" dirty="0"/>
          </a:p>
          <a:p>
            <a:pPr indent="0" marL="0">
              <a:buNone/>
            </a:pPr>
            <a:r>
              <a:rPr lang="en-US" sz="1400" dirty="0">
                <a:solidFill>
                  <a:srgbClr val="6B7684"/>
                </a:solidFill>
                <a:latin typeface="맑은 고딕" pitchFamily="34" charset="0"/>
                <a:ea typeface="맑은 고딕" pitchFamily="34" charset="-122"/>
                <a:cs typeface="맑은 고딕" pitchFamily="34" charset="-120"/>
              </a:rPr>
              <a:t>MeAI 홈이 어떻게 움직이는지 들어요</a:t>
            </a:r>
            <a:endParaRPr lang="en-US" sz="1600" dirty="0"/>
          </a:p>
        </p:txBody>
      </p:sp>
      <p:sp>
        <p:nvSpPr>
          <p:cNvPr id="20" name="Text 18"/>
          <p:cNvSpPr txBox="1"/>
          <p:nvPr/>
        </p:nvSpPr>
        <p:spPr>
          <a:xfrm>
            <a:off x="548640" y="2926080"/>
            <a:ext cx="3657600" cy="329184"/>
          </a:xfrm>
          <a:prstGeom prst="rect">
            <a:avLst/>
          </a:prstGeom>
          <a:noFill/>
          <a:ln/>
        </p:spPr>
        <p:txBody>
          <a:bodyPr wrap="square" lIns="0" tIns="0" rIns="0" bIns="0" rtlCol="0" anchor="ctr"/>
          <a:lstStyle/>
          <a:p>
            <a:pPr indent="0" marL="0">
              <a:buNone/>
            </a:pPr>
            <a:r>
              <a:rPr lang="en-US" sz="1400" b="1" dirty="0">
                <a:solidFill>
                  <a:srgbClr val="6B7684"/>
                </a:solidFill>
                <a:latin typeface="맑은 고딕" pitchFamily="34" charset="0"/>
                <a:ea typeface="맑은 고딕" pitchFamily="34" charset="-122"/>
                <a:cs typeface="맑은 고딕" pitchFamily="34" charset="-120"/>
              </a:rPr>
              <a:t>그다음, 네 걸음</a:t>
            </a:r>
            <a:endParaRPr lang="en-US" sz="1400" dirty="0"/>
          </a:p>
        </p:txBody>
      </p:sp>
      <p:sp>
        <p:nvSpPr>
          <p:cNvPr id="21" name="Shape 19"/>
          <p:cNvSpPr/>
          <p:nvPr/>
        </p:nvSpPr>
        <p:spPr>
          <a:xfrm>
            <a:off x="548640" y="3310128"/>
            <a:ext cx="2622728" cy="1920240"/>
          </a:xfrm>
          <a:prstGeom prst="roundRect">
            <a:avLst>
              <a:gd name="adj" fmla="val 761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2" name="Text 20"/>
          <p:cNvSpPr txBox="1"/>
          <p:nvPr/>
        </p:nvSpPr>
        <p:spPr>
          <a:xfrm>
            <a:off x="822960" y="3493008"/>
            <a:ext cx="2165528"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1 찾기</a:t>
            </a:r>
            <a:endParaRPr lang="en-US" sz="2400" dirty="0"/>
          </a:p>
        </p:txBody>
      </p:sp>
      <p:sp>
        <p:nvSpPr>
          <p:cNvPr id="23" name="Text 21"/>
          <p:cNvSpPr txBox="1"/>
          <p:nvPr/>
        </p:nvSpPr>
        <p:spPr>
          <a:xfrm>
            <a:off x="822960" y="3995928"/>
            <a:ext cx="2165528"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MeAI 홈</a:t>
            </a:r>
            <a:endParaRPr lang="en-US" sz="1400" dirty="0"/>
          </a:p>
        </p:txBody>
      </p:sp>
      <p:sp>
        <p:nvSpPr>
          <p:cNvPr id="24" name="Text 22"/>
          <p:cNvSpPr txBox="1"/>
          <p:nvPr/>
        </p:nvSpPr>
        <p:spPr>
          <a:xfrm>
            <a:off x="822960" y="4361688"/>
            <a:ext cx="2165528" cy="731520"/>
          </a:xfrm>
          <a:prstGeom prst="rect">
            <a:avLst/>
          </a:prstGeom>
          <a:noFill/>
          <a:ln/>
        </p:spPr>
        <p:txBody>
          <a:bodyPr wrap="square" lIns="0" tIns="0" rIns="0" bIns="0" rtlCol="0" anchor="t"/>
          <a:lstStyle/>
          <a:p>
            <a:pPr indent="0" marL="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오늘 연락할 내 고객을</a:t>
            </a:r>
            <a:endParaRPr lang="en-US" sz="1450" dirty="0"/>
          </a:p>
          <a:p>
            <a:pPr indent="0" marL="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추천 카드로 찾아요</a:t>
            </a:r>
            <a:endParaRPr lang="en-US" sz="1450" dirty="0"/>
          </a:p>
        </p:txBody>
      </p:sp>
      <p:sp>
        <p:nvSpPr>
          <p:cNvPr id="25" name="Shape 23"/>
          <p:cNvSpPr/>
          <p:nvPr/>
        </p:nvSpPr>
        <p:spPr>
          <a:xfrm>
            <a:off x="3372536" y="3310128"/>
            <a:ext cx="2622728" cy="1920240"/>
          </a:xfrm>
          <a:prstGeom prst="roundRect">
            <a:avLst>
              <a:gd name="adj" fmla="val 761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6" name="Text 24"/>
          <p:cNvSpPr txBox="1"/>
          <p:nvPr/>
        </p:nvSpPr>
        <p:spPr>
          <a:xfrm>
            <a:off x="3646856" y="3493008"/>
            <a:ext cx="2165528"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2 고르기</a:t>
            </a:r>
            <a:endParaRPr lang="en-US" sz="2400" dirty="0"/>
          </a:p>
        </p:txBody>
      </p:sp>
      <p:sp>
        <p:nvSpPr>
          <p:cNvPr id="27" name="Text 25"/>
          <p:cNvSpPr txBox="1"/>
          <p:nvPr/>
        </p:nvSpPr>
        <p:spPr>
          <a:xfrm>
            <a:off x="3646856" y="3995928"/>
            <a:ext cx="2165528"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MeAI 고객찾기</a:t>
            </a:r>
            <a:endParaRPr lang="en-US" sz="1400" dirty="0"/>
          </a:p>
        </p:txBody>
      </p:sp>
      <p:sp>
        <p:nvSpPr>
          <p:cNvPr id="28" name="Text 26"/>
          <p:cNvSpPr txBox="1"/>
          <p:nvPr/>
        </p:nvSpPr>
        <p:spPr>
          <a:xfrm>
            <a:off x="3646856" y="4361688"/>
            <a:ext cx="2165528" cy="731520"/>
          </a:xfrm>
          <a:prstGeom prst="rect">
            <a:avLst/>
          </a:prstGeom>
          <a:noFill/>
          <a:ln/>
        </p:spPr>
        <p:txBody>
          <a:bodyPr wrap="square" lIns="0" tIns="0" rIns="0" bIns="0" rtlCol="0" anchor="t"/>
          <a:lstStyle/>
          <a:p>
            <a:pPr indent="0" marL="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상황을 한눈에 보고</a:t>
            </a:r>
            <a:endParaRPr lang="en-US" sz="1450" dirty="0"/>
          </a:p>
          <a:p>
            <a:pPr indent="0" marL="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연락할 한 분을 골라요</a:t>
            </a:r>
            <a:endParaRPr lang="en-US" sz="1450" dirty="0"/>
          </a:p>
        </p:txBody>
      </p:sp>
      <p:sp>
        <p:nvSpPr>
          <p:cNvPr id="29" name="Shape 27"/>
          <p:cNvSpPr/>
          <p:nvPr/>
        </p:nvSpPr>
        <p:spPr>
          <a:xfrm>
            <a:off x="6196432" y="3310128"/>
            <a:ext cx="2622728" cy="1920240"/>
          </a:xfrm>
          <a:prstGeom prst="roundRect">
            <a:avLst>
              <a:gd name="adj" fmla="val 7619"/>
            </a:avLst>
          </a:prstGeom>
          <a:solidFill>
            <a:srgbClr val="3182F6"/>
          </a:solidFill>
          <a:ln w="12700">
            <a:solidFill>
              <a:srgbClr val="3182F6"/>
            </a:solidFill>
            <a:prstDash val="solid"/>
          </a:ln>
        </p:spPr>
      </p:sp>
      <p:sp>
        <p:nvSpPr>
          <p:cNvPr id="30" name="Text 28"/>
          <p:cNvSpPr txBox="1"/>
          <p:nvPr/>
        </p:nvSpPr>
        <p:spPr>
          <a:xfrm>
            <a:off x="6470752" y="3493008"/>
            <a:ext cx="2165528" cy="502920"/>
          </a:xfrm>
          <a:prstGeom prst="rect">
            <a:avLst/>
          </a:prstGeom>
          <a:noFill/>
          <a:ln/>
        </p:spPr>
        <p:txBody>
          <a:bodyPr wrap="square" lIns="0" tIns="0" rIns="0" bIns="0" rtlCol="0" anchor="ctr"/>
          <a:lstStyle/>
          <a:p>
            <a:pPr indent="0" marL="0">
              <a:buNone/>
            </a:pPr>
            <a:r>
              <a:rPr lang="en-US" sz="2400" b="1" dirty="0">
                <a:solidFill>
                  <a:srgbClr val="FFFFFF"/>
                </a:solidFill>
                <a:latin typeface="맑은 고딕" pitchFamily="34" charset="0"/>
                <a:ea typeface="맑은 고딕" pitchFamily="34" charset="-122"/>
                <a:cs typeface="맑은 고딕" pitchFamily="34" charset="-120"/>
              </a:rPr>
              <a:t>3 묻기</a:t>
            </a:r>
            <a:endParaRPr lang="en-US" sz="2400" dirty="0"/>
          </a:p>
        </p:txBody>
      </p:sp>
      <p:sp>
        <p:nvSpPr>
          <p:cNvPr id="31" name="Text 29"/>
          <p:cNvSpPr txBox="1"/>
          <p:nvPr/>
        </p:nvSpPr>
        <p:spPr>
          <a:xfrm>
            <a:off x="6470752" y="3995928"/>
            <a:ext cx="2165528" cy="329184"/>
          </a:xfrm>
          <a:prstGeom prst="rect">
            <a:avLst/>
          </a:prstGeom>
          <a:noFill/>
          <a:ln/>
        </p:spPr>
        <p:txBody>
          <a:bodyPr wrap="square" lIns="0" tIns="0" rIns="0" bIns="0" rtlCol="0" anchor="ctr"/>
          <a:lstStyle/>
          <a:p>
            <a:pPr indent="0" marL="0">
              <a:buNone/>
            </a:pPr>
            <a:r>
              <a:rPr lang="en-US" sz="1400" b="1" dirty="0">
                <a:solidFill>
                  <a:srgbClr val="C9E2FF"/>
                </a:solidFill>
                <a:latin typeface="맑은 고딕" pitchFamily="34" charset="0"/>
                <a:ea typeface="맑은 고딕" pitchFamily="34" charset="-122"/>
                <a:cs typeface="맑은 고딕" pitchFamily="34" charset="-120"/>
              </a:rPr>
              <a:t>일반대화 · 맞춤대화</a:t>
            </a:r>
            <a:endParaRPr lang="en-US" sz="1400" dirty="0"/>
          </a:p>
        </p:txBody>
      </p:sp>
      <p:sp>
        <p:nvSpPr>
          <p:cNvPr id="32" name="Text 30"/>
          <p:cNvSpPr txBox="1"/>
          <p:nvPr/>
        </p:nvSpPr>
        <p:spPr>
          <a:xfrm>
            <a:off x="6470752" y="4361688"/>
            <a:ext cx="2165528" cy="731520"/>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MeAI 활용 방법을</a:t>
            </a:r>
            <a:endParaRPr lang="en-US" sz="1450" dirty="0"/>
          </a:p>
          <a:p>
            <a:pPr indent="0" marL="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직접 눌러 보며 익혀요</a:t>
            </a:r>
            <a:endParaRPr lang="en-US" sz="1450" dirty="0"/>
          </a:p>
        </p:txBody>
      </p:sp>
      <p:sp>
        <p:nvSpPr>
          <p:cNvPr id="33" name="Shape 31"/>
          <p:cNvSpPr/>
          <p:nvPr/>
        </p:nvSpPr>
        <p:spPr>
          <a:xfrm>
            <a:off x="7104659" y="3127248"/>
            <a:ext cx="1531620" cy="365760"/>
          </a:xfrm>
          <a:prstGeom prst="roundRect">
            <a:avLst>
              <a:gd name="adj" fmla="val 50000"/>
            </a:avLst>
          </a:prstGeom>
          <a:solidFill>
            <a:srgbClr val="FFFFFF"/>
          </a:solidFill>
          <a:ln w="15875">
            <a:solidFill>
              <a:srgbClr val="3182F6"/>
            </a:solidFill>
            <a:prstDash val="solid"/>
          </a:ln>
        </p:spPr>
      </p:sp>
      <p:sp>
        <p:nvSpPr>
          <p:cNvPr id="34" name="Text 32"/>
          <p:cNvSpPr txBox="1"/>
          <p:nvPr/>
        </p:nvSpPr>
        <p:spPr>
          <a:xfrm>
            <a:off x="7104659" y="3127248"/>
            <a:ext cx="1531620" cy="365760"/>
          </a:xfrm>
          <a:prstGeom prst="rect">
            <a:avLst/>
          </a:prstGeom>
          <a:noFill/>
          <a:ln/>
        </p:spPr>
        <p:txBody>
          <a:bodyPr wrap="square" lIns="0" tIns="0" rIns="0" bIns="0" rtlCol="0" anchor="ctr"/>
          <a:lstStyle/>
          <a:p>
            <a:pPr algn="ctr" indent="0" marL="0">
              <a:buNone/>
            </a:pPr>
            <a:r>
              <a:rPr lang="en-US" sz="1400" b="1" dirty="0">
                <a:solidFill>
                  <a:srgbClr val="3182F6"/>
                </a:solidFill>
                <a:latin typeface="맑은 고딕" pitchFamily="34" charset="0"/>
                <a:ea typeface="맑은 고딕" pitchFamily="34" charset="-122"/>
                <a:cs typeface="맑은 고딕" pitchFamily="34" charset="-120"/>
              </a:rPr>
              <a:t>시연으로 봐요</a:t>
            </a:r>
            <a:endParaRPr lang="en-US" sz="1400" dirty="0"/>
          </a:p>
        </p:txBody>
      </p:sp>
      <p:sp>
        <p:nvSpPr>
          <p:cNvPr id="35" name="Shape 33"/>
          <p:cNvSpPr/>
          <p:nvPr/>
        </p:nvSpPr>
        <p:spPr>
          <a:xfrm>
            <a:off x="9020327" y="3310128"/>
            <a:ext cx="2622728" cy="1920240"/>
          </a:xfrm>
          <a:prstGeom prst="roundRect">
            <a:avLst>
              <a:gd name="adj" fmla="val 761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6" name="Text 34"/>
          <p:cNvSpPr txBox="1"/>
          <p:nvPr/>
        </p:nvSpPr>
        <p:spPr>
          <a:xfrm>
            <a:off x="9294647" y="3493008"/>
            <a:ext cx="2165528"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4 터치하기</a:t>
            </a:r>
            <a:endParaRPr lang="en-US" sz="2400" dirty="0"/>
          </a:p>
        </p:txBody>
      </p:sp>
      <p:sp>
        <p:nvSpPr>
          <p:cNvPr id="37" name="Text 35"/>
          <p:cNvSpPr txBox="1"/>
          <p:nvPr/>
        </p:nvSpPr>
        <p:spPr>
          <a:xfrm>
            <a:off x="9294647" y="3995928"/>
            <a:ext cx="2165528"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고객에게 연락</a:t>
            </a:r>
            <a:endParaRPr lang="en-US" sz="1400" dirty="0"/>
          </a:p>
        </p:txBody>
      </p:sp>
      <p:sp>
        <p:nvSpPr>
          <p:cNvPr id="38" name="Text 36"/>
          <p:cNvSpPr txBox="1"/>
          <p:nvPr/>
        </p:nvSpPr>
        <p:spPr>
          <a:xfrm>
            <a:off x="9294647" y="4361688"/>
            <a:ext cx="2165528" cy="731520"/>
          </a:xfrm>
          <a:prstGeom prst="rect">
            <a:avLst/>
          </a:prstGeom>
          <a:noFill/>
          <a:ln/>
        </p:spPr>
        <p:txBody>
          <a:bodyPr wrap="square" lIns="0" tIns="0" rIns="0" bIns="0" rtlCol="0" anchor="t"/>
          <a:lstStyle/>
          <a:p>
            <a:pPr indent="0" marL="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카드의 첫 말로 연락하고</a:t>
            </a:r>
            <a:endParaRPr lang="en-US" sz="1450" dirty="0"/>
          </a:p>
          <a:p>
            <a:pPr indent="0" marL="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리포트까지 보내요</a:t>
            </a:r>
            <a:endParaRPr lang="en-US" sz="1450" dirty="0"/>
          </a:p>
        </p:txBody>
      </p:sp>
      <p:sp>
        <p:nvSpPr>
          <p:cNvPr id="39" name="Shape 37"/>
          <p:cNvSpPr/>
          <p:nvPr/>
        </p:nvSpPr>
        <p:spPr>
          <a:xfrm>
            <a:off x="548640" y="5440680"/>
            <a:ext cx="11094415" cy="777240"/>
          </a:xfrm>
          <a:prstGeom prst="roundRect">
            <a:avLst>
              <a:gd name="adj" fmla="val 16471"/>
            </a:avLst>
          </a:prstGeom>
          <a:solidFill>
            <a:srgbClr val="191F28"/>
          </a:solidFill>
          <a:ln w="12700">
            <a:solidFill>
              <a:srgbClr val="191F28"/>
            </a:solidFill>
            <a:prstDash val="solid"/>
          </a:ln>
        </p:spPr>
      </p:sp>
      <p:sp>
        <p:nvSpPr>
          <p:cNvPr id="40" name="Text 38"/>
          <p:cNvSpPr txBox="1"/>
          <p:nvPr/>
        </p:nvSpPr>
        <p:spPr>
          <a:xfrm>
            <a:off x="868680" y="5440680"/>
            <a:ext cx="10454335" cy="777240"/>
          </a:xfrm>
          <a:prstGeom prst="rect">
            <a:avLst/>
          </a:prstGeom>
          <a:noFill/>
          <a:ln/>
        </p:spPr>
        <p:txBody>
          <a:bodyPr wrap="square" lIns="0" tIns="0" rIns="0" bIns="0" rtlCol="0" anchor="ctr"/>
          <a:lstStyle/>
          <a:p>
            <a:pPr indent="0" marL="0">
              <a:buNone/>
            </a:pPr>
            <a:r>
              <a:rPr lang="en-US" sz="2000" b="1" dirty="0">
                <a:solidFill>
                  <a:srgbClr val="C9E2FF"/>
                </a:solidFill>
                <a:latin typeface="맑은 고딕" pitchFamily="34" charset="0"/>
                <a:ea typeface="맑은 고딕" pitchFamily="34" charset="-122"/>
                <a:cs typeface="맑은 고딕" pitchFamily="34" charset="-120"/>
              </a:rPr>
              <a:t>기억할 한 문장   </a:t>
            </a:r>
            <a:pPr indent="0" marL="0">
              <a:buNone/>
            </a:pPr>
            <a:r>
              <a:rPr lang="en-US" sz="20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2000" dirty="0"/>
          </a:p>
        </p:txBody>
      </p:sp>
      <p:sp>
        <p:nvSpPr>
          <p:cNvPr id="41" name="Text 3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2" name="Text 4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왜 MeAI 홈인가</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보유 고객 열에 아홉 넘게 연락 전이에요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누구에게 · 왜 지금 · 무슨 말로, 스스로 정해야 했어요</a:t>
            </a:r>
            <a:endParaRPr lang="en-US" sz="1700" dirty="0"/>
          </a:p>
        </p:txBody>
      </p:sp>
      <p:sp>
        <p:nvSpPr>
          <p:cNvPr id="13" name="Shape 11"/>
          <p:cNvSpPr/>
          <p:nvPr/>
        </p:nvSpPr>
        <p:spPr>
          <a:xfrm>
            <a:off x="548640" y="2011680"/>
            <a:ext cx="3564026" cy="2240280"/>
          </a:xfrm>
          <a:prstGeom prst="roundRect">
            <a:avLst>
              <a:gd name="adj" fmla="val 6531"/>
            </a:avLst>
          </a:prstGeom>
          <a:solidFill>
            <a:srgbClr val="FFFFFF"/>
          </a:solidFill>
          <a:ln w="9525">
            <a:solidFill>
              <a:srgbClr val="E5E8EB"/>
            </a:solidFill>
            <a:prstDash val="solid"/>
          </a:ln>
        </p:spPr>
      </p:sp>
      <p:sp>
        <p:nvSpPr>
          <p:cNvPr id="14" name="Text 12"/>
          <p:cNvSpPr txBox="1"/>
          <p:nvPr/>
        </p:nvSpPr>
        <p:spPr>
          <a:xfrm>
            <a:off x="868680" y="2194560"/>
            <a:ext cx="3106826" cy="1188720"/>
          </a:xfrm>
          <a:prstGeom prst="rect">
            <a:avLst/>
          </a:prstGeom>
          <a:noFill/>
          <a:ln/>
        </p:spPr>
        <p:txBody>
          <a:bodyPr wrap="square" lIns="0" tIns="0" rIns="0" bIns="0" rtlCol="0" anchor="ctr"/>
          <a:lstStyle/>
          <a:p>
            <a:pPr indent="0" marL="0">
              <a:buNone/>
            </a:pPr>
            <a:r>
              <a:rPr lang="en-US" sz="7200" b="1" dirty="0">
                <a:solidFill>
                  <a:srgbClr val="F04452"/>
                </a:solidFill>
                <a:latin typeface="맑은 고딕" pitchFamily="34" charset="0"/>
                <a:ea typeface="맑은 고딕" pitchFamily="34" charset="-122"/>
                <a:cs typeface="맑은 고딕" pitchFamily="34" charset="-120"/>
              </a:rPr>
              <a:t>7%</a:t>
            </a:r>
            <a:pPr indent="0" marL="0">
              <a:buNone/>
            </a:pP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5" name="Text 13"/>
          <p:cNvSpPr txBox="1"/>
          <p:nvPr/>
        </p:nvSpPr>
        <p:spPr>
          <a:xfrm>
            <a:off x="868680" y="3474720"/>
            <a:ext cx="3106826" cy="457200"/>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보유 고객 중 영업 시도</a:t>
            </a:r>
            <a:endParaRPr lang="en-US" sz="1900" dirty="0"/>
          </a:p>
        </p:txBody>
      </p:sp>
      <p:sp>
        <p:nvSpPr>
          <p:cNvPr id="16" name="Shape 14"/>
          <p:cNvSpPr/>
          <p:nvPr/>
        </p:nvSpPr>
        <p:spPr>
          <a:xfrm>
            <a:off x="4313834" y="2011680"/>
            <a:ext cx="3564026" cy="2240280"/>
          </a:xfrm>
          <a:prstGeom prst="roundRect">
            <a:avLst>
              <a:gd name="adj" fmla="val 6531"/>
            </a:avLst>
          </a:prstGeom>
          <a:solidFill>
            <a:srgbClr val="FFFFFF"/>
          </a:solidFill>
          <a:ln w="9525">
            <a:solidFill>
              <a:srgbClr val="E5E8EB"/>
            </a:solidFill>
            <a:prstDash val="solid"/>
          </a:ln>
        </p:spPr>
      </p:sp>
      <p:sp>
        <p:nvSpPr>
          <p:cNvPr id="17" name="Text 15"/>
          <p:cNvSpPr txBox="1"/>
          <p:nvPr/>
        </p:nvSpPr>
        <p:spPr>
          <a:xfrm>
            <a:off x="4633874" y="2194560"/>
            <a:ext cx="3106826" cy="1188720"/>
          </a:xfrm>
          <a:prstGeom prst="rect">
            <a:avLst/>
          </a:prstGeom>
          <a:noFill/>
          <a:ln/>
        </p:spPr>
        <p:txBody>
          <a:bodyPr wrap="square" lIns="0" tIns="0" rIns="0" bIns="0" rtlCol="0" anchor="ctr"/>
          <a:lstStyle/>
          <a:p>
            <a:pPr indent="0" marL="0">
              <a:buNone/>
            </a:pPr>
            <a:r>
              <a:rPr lang="en-US" sz="7200" b="1" dirty="0">
                <a:solidFill>
                  <a:srgbClr val="F04452"/>
                </a:solidFill>
                <a:latin typeface="맑은 고딕" pitchFamily="34" charset="0"/>
                <a:ea typeface="맑은 고딕" pitchFamily="34" charset="-122"/>
                <a:cs typeface="맑은 고딕" pitchFamily="34" charset="-120"/>
              </a:rPr>
              <a:t>2%</a:t>
            </a:r>
            <a:pPr indent="0" marL="0">
              <a:buNone/>
            </a:pP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8" name="Text 16"/>
          <p:cNvSpPr txBox="1"/>
          <p:nvPr/>
        </p:nvSpPr>
        <p:spPr>
          <a:xfrm>
            <a:off x="4633874" y="3474720"/>
            <a:ext cx="3106826" cy="457200"/>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이관 고객 중 영업 시도</a:t>
            </a:r>
            <a:endParaRPr lang="en-US" sz="1900" dirty="0"/>
          </a:p>
        </p:txBody>
      </p:sp>
      <p:sp>
        <p:nvSpPr>
          <p:cNvPr id="19" name="Shape 17"/>
          <p:cNvSpPr/>
          <p:nvPr/>
        </p:nvSpPr>
        <p:spPr>
          <a:xfrm>
            <a:off x="8079029" y="2011680"/>
            <a:ext cx="3564026" cy="2240280"/>
          </a:xfrm>
          <a:prstGeom prst="roundRect">
            <a:avLst>
              <a:gd name="adj" fmla="val 6531"/>
            </a:avLst>
          </a:prstGeom>
          <a:solidFill>
            <a:srgbClr val="191F28"/>
          </a:solidFill>
          <a:ln w="12700">
            <a:solidFill>
              <a:srgbClr val="191F28"/>
            </a:solidFill>
            <a:prstDash val="solid"/>
          </a:ln>
        </p:spPr>
      </p:sp>
      <p:sp>
        <p:nvSpPr>
          <p:cNvPr id="20" name="Text 18"/>
          <p:cNvSpPr txBox="1"/>
          <p:nvPr/>
        </p:nvSpPr>
        <p:spPr>
          <a:xfrm>
            <a:off x="8444789" y="2286000"/>
            <a:ext cx="2923946" cy="1051560"/>
          </a:xfrm>
          <a:prstGeom prst="rect">
            <a:avLst/>
          </a:prstGeom>
          <a:noFill/>
          <a:ln/>
        </p:spPr>
        <p:txBody>
          <a:bodyPr wrap="square" lIns="0" tIns="0" rIns="0" bIns="0" rtlCol="0" anchor="ctr"/>
          <a:lstStyle/>
          <a:p>
            <a:pPr indent="0" marL="0">
              <a:lnSpc>
                <a:spcPct val="125000"/>
              </a:lnSpc>
              <a:buNone/>
            </a:pPr>
            <a:r>
              <a:rPr lang="en-US" sz="2400" b="1" dirty="0">
                <a:solidFill>
                  <a:srgbClr val="FFFFFF"/>
                </a:solidFill>
                <a:latin typeface="맑은 고딕" pitchFamily="34" charset="0"/>
                <a:ea typeface="맑은 고딕" pitchFamily="34" charset="-122"/>
                <a:cs typeface="맑은 고딕" pitchFamily="34" charset="-120"/>
              </a:rPr>
              <a:t>문제는 의지가 아니라</a:t>
            </a:r>
            <a:endParaRPr lang="en-US" sz="2400" dirty="0"/>
          </a:p>
          <a:p>
            <a:pPr indent="0" marL="0">
              <a:lnSpc>
                <a:spcPct val="125000"/>
              </a:lnSpc>
              <a:buNone/>
            </a:pPr>
            <a:r>
              <a:rPr lang="en-US" sz="2400" b="1" dirty="0">
                <a:solidFill>
                  <a:srgbClr val="FFFFFF"/>
                </a:solidFill>
                <a:latin typeface="맑은 고딕" pitchFamily="34" charset="0"/>
                <a:ea typeface="맑은 고딕" pitchFamily="34" charset="-122"/>
                <a:cs typeface="맑은 고딕" pitchFamily="34" charset="-120"/>
              </a:rPr>
              <a:t>순서예요.</a:t>
            </a:r>
            <a:endParaRPr lang="en-US" sz="2400" dirty="0"/>
          </a:p>
        </p:txBody>
      </p:sp>
      <p:sp>
        <p:nvSpPr>
          <p:cNvPr id="21" name="Text 19"/>
          <p:cNvSpPr txBox="1"/>
          <p:nvPr/>
        </p:nvSpPr>
        <p:spPr>
          <a:xfrm>
            <a:off x="8444789" y="3383280"/>
            <a:ext cx="2923946" cy="731520"/>
          </a:xfrm>
          <a:prstGeom prst="rect">
            <a:avLst/>
          </a:prstGeom>
          <a:noFill/>
          <a:ln/>
        </p:spPr>
        <p:txBody>
          <a:bodyPr wrap="square" lIns="0" tIns="0" rIns="0" bIns="0" rtlCol="0" anchor="t"/>
          <a:lstStyle/>
          <a:p>
            <a:pPr indent="0" marL="0">
              <a:lnSpc>
                <a:spcPct val="125000"/>
              </a:lnSpc>
              <a:buNone/>
            </a:pPr>
            <a:r>
              <a:rPr lang="en-US" sz="1500" dirty="0">
                <a:solidFill>
                  <a:srgbClr val="C9E2FF"/>
                </a:solidFill>
                <a:latin typeface="맑은 고딕" pitchFamily="34" charset="0"/>
                <a:ea typeface="맑은 고딕" pitchFamily="34" charset="-122"/>
                <a:cs typeface="맑은 고딕" pitchFamily="34" charset="-120"/>
              </a:rPr>
              <a:t>찾는 일이 앞에 있으면</a:t>
            </a:r>
            <a:endParaRPr lang="en-US" sz="1500" dirty="0"/>
          </a:p>
          <a:p>
            <a:pPr indent="0" marL="0">
              <a:lnSpc>
                <a:spcPct val="125000"/>
              </a:lnSpc>
              <a:buNone/>
            </a:pPr>
            <a:r>
              <a:rPr lang="en-US" sz="1500" dirty="0">
                <a:solidFill>
                  <a:srgbClr val="C9E2FF"/>
                </a:solidFill>
                <a:latin typeface="맑은 고딕" pitchFamily="34" charset="0"/>
                <a:ea typeface="맑은 고딕" pitchFamily="34" charset="-122"/>
                <a:cs typeface="맑은 고딕" pitchFamily="34" charset="-120"/>
              </a:rPr>
              <a:t>만나는 일은 뒤로 밀려요.</a:t>
            </a:r>
            <a:endParaRPr lang="en-US" sz="1500" dirty="0"/>
          </a:p>
        </p:txBody>
      </p:sp>
      <p:sp>
        <p:nvSpPr>
          <p:cNvPr id="22" name="Text 20"/>
          <p:cNvSpPr txBox="1"/>
          <p:nvPr/>
        </p:nvSpPr>
        <p:spPr>
          <a:xfrm>
            <a:off x="548640" y="4297680"/>
            <a:ext cx="11094415" cy="256032"/>
          </a:xfrm>
          <a:prstGeom prst="rect">
            <a:avLst/>
          </a:prstGeom>
          <a:noFill/>
          <a:ln/>
        </p:spPr>
        <p:txBody>
          <a:bodyPr wrap="square" lIns="0" tIns="0" rIns="0" bIns="0" rtlCol="0" anchor="ctr"/>
          <a:lstStyle/>
          <a:p>
            <a:pPr algn="r" indent="0" marL="0">
              <a:buNone/>
            </a:pPr>
            <a:r>
              <a:rPr lang="en-US" sz="1200" dirty="0">
                <a:solidFill>
                  <a:srgbClr val="8B95A1"/>
                </a:solidFill>
                <a:latin typeface="맑은 고딕" pitchFamily="34" charset="0"/>
                <a:ea typeface="맑은 고딕" pitchFamily="34" charset="-122"/>
                <a:cs typeface="맑은 고딕" pitchFamily="34" charset="-120"/>
              </a:rPr>
              <a:t>출처: 세일즈혁신TF 「MeAI CRM 대문 고도화 제안」 2026.09</a:t>
            </a:r>
            <a:endParaRPr lang="en-US" sz="1200" dirty="0"/>
          </a:p>
        </p:txBody>
      </p:sp>
      <p:sp>
        <p:nvSpPr>
          <p:cNvPr id="23" name="Shape 21"/>
          <p:cNvSpPr/>
          <p:nvPr/>
        </p:nvSpPr>
        <p:spPr>
          <a:xfrm>
            <a:off x="548640" y="4663440"/>
            <a:ext cx="11094415" cy="1097280"/>
          </a:xfrm>
          <a:prstGeom prst="roundRect">
            <a:avLst>
              <a:gd name="adj" fmla="val 13333"/>
            </a:avLst>
          </a:prstGeom>
          <a:solidFill>
            <a:srgbClr val="E8F3FF"/>
          </a:solidFill>
          <a:ln w="12700">
            <a:solidFill>
              <a:srgbClr val="E8F3FF"/>
            </a:solidFill>
            <a:prstDash val="solid"/>
          </a:ln>
        </p:spPr>
      </p:sp>
      <p:sp>
        <p:nvSpPr>
          <p:cNvPr id="24" name="Text 22"/>
          <p:cNvSpPr txBox="1"/>
          <p:nvPr/>
        </p:nvSpPr>
        <p:spPr>
          <a:xfrm>
            <a:off x="868680" y="4663440"/>
            <a:ext cx="2011680" cy="1097280"/>
          </a:xfrm>
          <a:prstGeom prst="rect">
            <a:avLst/>
          </a:prstGeom>
          <a:noFill/>
          <a:ln/>
        </p:spPr>
        <p:txBody>
          <a:bodyPr wrap="square" lIns="0" tIns="0" rIns="0" bIns="0" rtlCol="0" anchor="ctr"/>
          <a:lstStyle/>
          <a:p>
            <a:pPr indent="0" marL="0">
              <a:buNone/>
            </a:pPr>
            <a:r>
              <a:rPr lang="en-US" sz="1800" b="1" dirty="0">
                <a:solidFill>
                  <a:srgbClr val="3182F6"/>
                </a:solidFill>
                <a:latin typeface="맑은 고딕" pitchFamily="34" charset="0"/>
                <a:ea typeface="맑은 고딕" pitchFamily="34" charset="-122"/>
                <a:cs typeface="맑은 고딕" pitchFamily="34" charset="-120"/>
              </a:rPr>
              <a:t>MeAI를 쓴 경우</a:t>
            </a:r>
            <a:endParaRPr lang="en-US" sz="1800" dirty="0"/>
          </a:p>
        </p:txBody>
      </p:sp>
      <p:sp>
        <p:nvSpPr>
          <p:cNvPr id="25" name="Text 23"/>
          <p:cNvSpPr txBox="1"/>
          <p:nvPr/>
        </p:nvSpPr>
        <p:spPr>
          <a:xfrm>
            <a:off x="2926080" y="4828032"/>
            <a:ext cx="4084168" cy="457200"/>
          </a:xfrm>
          <a:prstGeom prst="rect">
            <a:avLst/>
          </a:prstGeom>
          <a:noFill/>
          <a:ln/>
        </p:spPr>
        <p:txBody>
          <a:bodyPr wrap="square" lIns="0" tIns="0" rIns="0" bIns="0" rtlCol="0" anchor="ctr"/>
          <a:lstStyle/>
          <a:p>
            <a:pPr indent="0" marL="0">
              <a:buNone/>
            </a:pPr>
            <a:r>
              <a:rPr lang="en-US" sz="2300" b="1" dirty="0">
                <a:solidFill>
                  <a:srgbClr val="191F28"/>
                </a:solidFill>
                <a:latin typeface="맑은 고딕" pitchFamily="34" charset="0"/>
                <a:ea typeface="맑은 고딕" pitchFamily="34" charset="-122"/>
                <a:cs typeface="맑은 고딕" pitchFamily="34" charset="-120"/>
              </a:rPr>
              <a:t>체결전환율 2.8배</a:t>
            </a:r>
            <a:endParaRPr lang="en-US" sz="2300" dirty="0"/>
          </a:p>
        </p:txBody>
      </p:sp>
      <p:sp>
        <p:nvSpPr>
          <p:cNvPr id="26" name="Text 24"/>
          <p:cNvSpPr txBox="1"/>
          <p:nvPr/>
        </p:nvSpPr>
        <p:spPr>
          <a:xfrm>
            <a:off x="2926080" y="5266944"/>
            <a:ext cx="4084168" cy="365760"/>
          </a:xfrm>
          <a:prstGeom prst="rect">
            <a:avLst/>
          </a:prstGeom>
          <a:noFill/>
          <a:ln/>
        </p:spPr>
        <p:txBody>
          <a:bodyPr wrap="square" lIns="0" tIns="0" rIns="0" bIns="0" rtlCol="0" anchor="ctr"/>
          <a:lstStyle/>
          <a:p>
            <a:pPr indent="0" marL="0">
              <a:buNone/>
            </a:pPr>
            <a:r>
              <a:rPr lang="en-US" sz="1550" dirty="0">
                <a:solidFill>
                  <a:srgbClr val="4E5968"/>
                </a:solidFill>
                <a:latin typeface="맑은 고딕" pitchFamily="34" charset="0"/>
                <a:ea typeface="맑은 고딕" pitchFamily="34" charset="-122"/>
                <a:cs typeface="맑은 고딕" pitchFamily="34" charset="-120"/>
              </a:rPr>
              <a:t>미활용 12.7% → 활용 35.4%</a:t>
            </a:r>
            <a:endParaRPr lang="en-US" sz="1550" dirty="0"/>
          </a:p>
        </p:txBody>
      </p:sp>
      <p:sp>
        <p:nvSpPr>
          <p:cNvPr id="27" name="Text 25"/>
          <p:cNvSpPr txBox="1"/>
          <p:nvPr/>
        </p:nvSpPr>
        <p:spPr>
          <a:xfrm>
            <a:off x="7193128" y="4828032"/>
            <a:ext cx="4084168" cy="457200"/>
          </a:xfrm>
          <a:prstGeom prst="rect">
            <a:avLst/>
          </a:prstGeom>
          <a:noFill/>
          <a:ln/>
        </p:spPr>
        <p:txBody>
          <a:bodyPr wrap="square" lIns="0" tIns="0" rIns="0" bIns="0" rtlCol="0" anchor="ctr"/>
          <a:lstStyle/>
          <a:p>
            <a:pPr indent="0" marL="0">
              <a:buNone/>
            </a:pPr>
            <a:r>
              <a:rPr lang="en-US" sz="2300" b="1" dirty="0">
                <a:solidFill>
                  <a:srgbClr val="191F28"/>
                </a:solidFill>
                <a:latin typeface="맑은 고딕" pitchFamily="34" charset="0"/>
                <a:ea typeface="맑은 고딕" pitchFamily="34" charset="-122"/>
                <a:cs typeface="맑은 고딕" pitchFamily="34" charset="-120"/>
              </a:rPr>
              <a:t>같은 FP 고객끼리도 4배</a:t>
            </a:r>
            <a:endParaRPr lang="en-US" sz="2300" dirty="0"/>
          </a:p>
        </p:txBody>
      </p:sp>
      <p:sp>
        <p:nvSpPr>
          <p:cNvPr id="28" name="Text 26"/>
          <p:cNvSpPr txBox="1"/>
          <p:nvPr/>
        </p:nvSpPr>
        <p:spPr>
          <a:xfrm>
            <a:off x="7193128" y="5266944"/>
            <a:ext cx="4084168" cy="365760"/>
          </a:xfrm>
          <a:prstGeom prst="rect">
            <a:avLst/>
          </a:prstGeom>
          <a:noFill/>
          <a:ln/>
        </p:spPr>
        <p:txBody>
          <a:bodyPr wrap="square" lIns="0" tIns="0" rIns="0" bIns="0" rtlCol="0" anchor="ctr"/>
          <a:lstStyle/>
          <a:p>
            <a:pPr indent="0" marL="0">
              <a:buNone/>
            </a:pPr>
            <a:r>
              <a:rPr lang="en-US" sz="1550" dirty="0">
                <a:solidFill>
                  <a:srgbClr val="4E5968"/>
                </a:solidFill>
                <a:latin typeface="맑은 고딕" pitchFamily="34" charset="0"/>
                <a:ea typeface="맑은 고딕" pitchFamily="34" charset="-122"/>
                <a:cs typeface="맑은 고딕" pitchFamily="34" charset="-120"/>
              </a:rPr>
              <a:t>미활용 9.0% → 활용 36.0%</a:t>
            </a:r>
            <a:endParaRPr lang="en-US" sz="1550" dirty="0"/>
          </a:p>
        </p:txBody>
      </p:sp>
      <p:sp>
        <p:nvSpPr>
          <p:cNvPr id="29" name="Text 27"/>
          <p:cNvSpPr txBox="1"/>
          <p:nvPr/>
        </p:nvSpPr>
        <p:spPr>
          <a:xfrm>
            <a:off x="548640" y="5897880"/>
            <a:ext cx="11094415" cy="256032"/>
          </a:xfrm>
          <a:prstGeom prst="rect">
            <a:avLst/>
          </a:prstGeom>
          <a:noFill/>
          <a:ln/>
        </p:spPr>
        <p:txBody>
          <a:bodyPr wrap="square" lIns="0" tIns="0" rIns="0" bIns="0" rtlCol="0" anchor="ctr"/>
          <a:lstStyle/>
          <a:p>
            <a:pPr indent="0" marL="0">
              <a:buNone/>
            </a:pPr>
            <a:r>
              <a:rPr lang="en-US" sz="1200" dirty="0">
                <a:solidFill>
                  <a:srgbClr val="8B95A1"/>
                </a:solidFill>
                <a:latin typeface="맑은 고딕" pitchFamily="34" charset="0"/>
                <a:ea typeface="맑은 고딕" pitchFamily="34" charset="-122"/>
                <a:cs typeface="맑은 고딕" pitchFamily="34" charset="-120"/>
              </a:rPr>
              <a:t>출처: 데이터분석팀 「MeAI 사용 실태 분석」·「MeAI 효과 분석」 2026.08 · TA 개인영업 채널 기준</a:t>
            </a:r>
            <a:endParaRPr lang="en-US" sz="1200" dirty="0"/>
          </a:p>
        </p:txBody>
      </p:sp>
      <p:sp>
        <p:nvSpPr>
          <p:cNvPr id="30" name="Text 2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1" name="Text 2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MeAI 홈, 만든 분께 직접 들어요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어떤 원리로, 어떤 방식으로 만들었는지 들어 봐요</a:t>
            </a:r>
            <a:endParaRPr lang="en-US" sz="1700" dirty="0"/>
          </a:p>
        </p:txBody>
      </p:sp>
      <p:sp>
        <p:nvSpPr>
          <p:cNvPr id="13" name="Shape 11"/>
          <p:cNvSpPr/>
          <p:nvPr/>
        </p:nvSpPr>
        <p:spPr>
          <a:xfrm>
            <a:off x="548640" y="2011680"/>
            <a:ext cx="2880360" cy="2331720"/>
          </a:xfrm>
          <a:prstGeom prst="roundRect">
            <a:avLst>
              <a:gd name="adj" fmla="val 7843"/>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4" name="Shape 12"/>
          <p:cNvSpPr/>
          <p:nvPr/>
        </p:nvSpPr>
        <p:spPr>
          <a:xfrm>
            <a:off x="1531620" y="2286000"/>
            <a:ext cx="914400" cy="914400"/>
          </a:xfrm>
          <a:prstGeom prst="ellipse">
            <a:avLst/>
          </a:prstGeom>
          <a:solidFill>
            <a:srgbClr val="7048E8"/>
          </a:solidFill>
          <a:ln w="12700">
            <a:solidFill>
              <a:srgbClr val="FFFFFF"/>
            </a:solidFill>
            <a:prstDash val="solid"/>
          </a:ln>
        </p:spPr>
      </p:sp>
      <p:sp>
        <p:nvSpPr>
          <p:cNvPr id="15" name="Text 13"/>
          <p:cNvSpPr txBox="1"/>
          <p:nvPr/>
        </p:nvSpPr>
        <p:spPr>
          <a:xfrm>
            <a:off x="1531620" y="22860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맑은 고딕" pitchFamily="34" charset="0"/>
                <a:ea typeface="맑은 고딕" pitchFamily="34" charset="-122"/>
                <a:cs typeface="맑은 고딕" pitchFamily="34" charset="-120"/>
              </a:rPr>
              <a:t>문</a:t>
            </a:r>
            <a:endParaRPr lang="en-US" sz="3000" dirty="0"/>
          </a:p>
        </p:txBody>
      </p:sp>
      <p:sp>
        <p:nvSpPr>
          <p:cNvPr id="16" name="Text 14"/>
          <p:cNvSpPr txBox="1"/>
          <p:nvPr/>
        </p:nvSpPr>
        <p:spPr>
          <a:xfrm>
            <a:off x="548640" y="3310128"/>
            <a:ext cx="2880360" cy="530352"/>
          </a:xfrm>
          <a:prstGeom prst="rect">
            <a:avLst/>
          </a:prstGeom>
          <a:noFill/>
          <a:ln/>
        </p:spPr>
        <p:txBody>
          <a:bodyPr wrap="square" lIns="0" tIns="0" rIns="0" bIns="0" rtlCol="0" anchor="ctr"/>
          <a:lstStyle/>
          <a:p>
            <a:pPr algn="ctr" indent="0" marL="0">
              <a:buNone/>
            </a:pPr>
            <a:r>
              <a:rPr lang="en-US" sz="3000" b="1" dirty="0">
                <a:solidFill>
                  <a:srgbClr val="191F28"/>
                </a:solidFill>
                <a:latin typeface="맑은 고딕" pitchFamily="34" charset="0"/>
                <a:ea typeface="맑은 고딕" pitchFamily="34" charset="-122"/>
                <a:cs typeface="맑은 고딕" pitchFamily="34" charset="-120"/>
              </a:rPr>
              <a:t>문현우</a:t>
            </a:r>
            <a:endParaRPr lang="en-US" sz="3000" dirty="0"/>
          </a:p>
        </p:txBody>
      </p:sp>
      <p:sp>
        <p:nvSpPr>
          <p:cNvPr id="17" name="Text 15"/>
          <p:cNvSpPr txBox="1"/>
          <p:nvPr/>
        </p:nvSpPr>
        <p:spPr>
          <a:xfrm>
            <a:off x="548640" y="3822192"/>
            <a:ext cx="2880360" cy="365760"/>
          </a:xfrm>
          <a:prstGeom prst="rect">
            <a:avLst/>
          </a:prstGeom>
          <a:noFill/>
          <a:ln/>
        </p:spPr>
        <p:txBody>
          <a:bodyPr wrap="square" lIns="0" tIns="0" rIns="0" bIns="0" rtlCol="0" anchor="ctr"/>
          <a:lstStyle/>
          <a:p>
            <a:pPr algn="ctr" indent="0" marL="0">
              <a:buNone/>
            </a:pPr>
            <a:r>
              <a:rPr lang="en-US" sz="1700" b="1" dirty="0">
                <a:solidFill>
                  <a:srgbClr val="7048E8"/>
                </a:solidFill>
                <a:latin typeface="맑은 고딕" pitchFamily="34" charset="0"/>
                <a:ea typeface="맑은 고딕" pitchFamily="34" charset="-122"/>
                <a:cs typeface="맑은 고딕" pitchFamily="34" charset="-120"/>
              </a:rPr>
              <a:t>AI추진파트</a:t>
            </a:r>
            <a:endParaRPr lang="en-US" sz="1700" dirty="0"/>
          </a:p>
        </p:txBody>
      </p:sp>
      <p:sp>
        <p:nvSpPr>
          <p:cNvPr id="18" name="Shape 16"/>
          <p:cNvSpPr/>
          <p:nvPr/>
        </p:nvSpPr>
        <p:spPr>
          <a:xfrm>
            <a:off x="3630168" y="2011680"/>
            <a:ext cx="2880360" cy="2331720"/>
          </a:xfrm>
          <a:prstGeom prst="roundRect">
            <a:avLst>
              <a:gd name="adj" fmla="val 7843"/>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9" name="Shape 17"/>
          <p:cNvSpPr/>
          <p:nvPr/>
        </p:nvSpPr>
        <p:spPr>
          <a:xfrm>
            <a:off x="4613148" y="2286000"/>
            <a:ext cx="914400" cy="914400"/>
          </a:xfrm>
          <a:prstGeom prst="ellipse">
            <a:avLst/>
          </a:prstGeom>
          <a:solidFill>
            <a:srgbClr val="3182F6"/>
          </a:solidFill>
          <a:ln w="12700">
            <a:solidFill>
              <a:srgbClr val="FFFFFF"/>
            </a:solidFill>
            <a:prstDash val="solid"/>
          </a:ln>
        </p:spPr>
      </p:sp>
      <p:sp>
        <p:nvSpPr>
          <p:cNvPr id="20" name="Text 18"/>
          <p:cNvSpPr txBox="1"/>
          <p:nvPr/>
        </p:nvSpPr>
        <p:spPr>
          <a:xfrm>
            <a:off x="4613148" y="22860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맑은 고딕" pitchFamily="34" charset="0"/>
                <a:ea typeface="맑은 고딕" pitchFamily="34" charset="-122"/>
                <a:cs typeface="맑은 고딕" pitchFamily="34" charset="-120"/>
              </a:rPr>
              <a:t>이</a:t>
            </a:r>
            <a:endParaRPr lang="en-US" sz="3000" dirty="0"/>
          </a:p>
        </p:txBody>
      </p:sp>
      <p:sp>
        <p:nvSpPr>
          <p:cNvPr id="21" name="Text 19"/>
          <p:cNvSpPr txBox="1"/>
          <p:nvPr/>
        </p:nvSpPr>
        <p:spPr>
          <a:xfrm>
            <a:off x="3630168" y="3310128"/>
            <a:ext cx="2880360" cy="530352"/>
          </a:xfrm>
          <a:prstGeom prst="rect">
            <a:avLst/>
          </a:prstGeom>
          <a:noFill/>
          <a:ln/>
        </p:spPr>
        <p:txBody>
          <a:bodyPr wrap="square" lIns="0" tIns="0" rIns="0" bIns="0" rtlCol="0" anchor="ctr"/>
          <a:lstStyle/>
          <a:p>
            <a:pPr algn="ctr" indent="0" marL="0">
              <a:buNone/>
            </a:pPr>
            <a:r>
              <a:rPr lang="en-US" sz="3000" b="1" dirty="0">
                <a:solidFill>
                  <a:srgbClr val="191F28"/>
                </a:solidFill>
                <a:latin typeface="맑은 고딕" pitchFamily="34" charset="0"/>
                <a:ea typeface="맑은 고딕" pitchFamily="34" charset="-122"/>
                <a:cs typeface="맑은 고딕" pitchFamily="34" charset="-120"/>
              </a:rPr>
              <a:t>이경복</a:t>
            </a:r>
            <a:endParaRPr lang="en-US" sz="3000" dirty="0"/>
          </a:p>
        </p:txBody>
      </p:sp>
      <p:sp>
        <p:nvSpPr>
          <p:cNvPr id="22" name="Text 20"/>
          <p:cNvSpPr txBox="1"/>
          <p:nvPr/>
        </p:nvSpPr>
        <p:spPr>
          <a:xfrm>
            <a:off x="3630168" y="3822192"/>
            <a:ext cx="2880360" cy="365760"/>
          </a:xfrm>
          <a:prstGeom prst="rect">
            <a:avLst/>
          </a:prstGeom>
          <a:noFill/>
          <a:ln/>
        </p:spPr>
        <p:txBody>
          <a:bodyPr wrap="square" lIns="0" tIns="0" rIns="0" bIns="0" rtlCol="0" anchor="ctr"/>
          <a:lstStyle/>
          <a:p>
            <a:pPr algn="ctr" indent="0" marL="0">
              <a:buNone/>
            </a:pPr>
            <a:r>
              <a:rPr lang="en-US" sz="1700" b="1" dirty="0">
                <a:solidFill>
                  <a:srgbClr val="3182F6"/>
                </a:solidFill>
                <a:latin typeface="맑은 고딕" pitchFamily="34" charset="0"/>
                <a:ea typeface="맑은 고딕" pitchFamily="34" charset="-122"/>
                <a:cs typeface="맑은 고딕" pitchFamily="34" charset="-120"/>
              </a:rPr>
              <a:t>AI추진파트</a:t>
            </a:r>
            <a:endParaRPr lang="en-US" sz="1700" dirty="0"/>
          </a:p>
        </p:txBody>
      </p:sp>
      <p:sp>
        <p:nvSpPr>
          <p:cNvPr id="23" name="Shape 21"/>
          <p:cNvSpPr/>
          <p:nvPr/>
        </p:nvSpPr>
        <p:spPr>
          <a:xfrm>
            <a:off x="548640" y="4526280"/>
            <a:ext cx="5961888" cy="566928"/>
          </a:xfrm>
          <a:prstGeom prst="roundRect">
            <a:avLst>
              <a:gd name="adj" fmla="val 22581"/>
            </a:avLst>
          </a:prstGeom>
          <a:solidFill>
            <a:srgbClr val="E8F3FF"/>
          </a:solidFill>
          <a:ln w="12700">
            <a:solidFill>
              <a:srgbClr val="E8F3FF"/>
            </a:solidFill>
            <a:prstDash val="solid"/>
          </a:ln>
        </p:spPr>
      </p:sp>
      <p:sp>
        <p:nvSpPr>
          <p:cNvPr id="24" name="Text 22"/>
          <p:cNvSpPr txBox="1"/>
          <p:nvPr/>
        </p:nvSpPr>
        <p:spPr>
          <a:xfrm>
            <a:off x="777240" y="4526280"/>
            <a:ext cx="5596128" cy="56692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MeAI 홈 CRM(오늘의 추천 고객 · 고객찾기)을 만든 분</a:t>
            </a:r>
            <a:endParaRPr lang="en-US" sz="1550" dirty="0"/>
          </a:p>
        </p:txBody>
      </p:sp>
      <p:sp>
        <p:nvSpPr>
          <p:cNvPr id="25" name="Shape 23"/>
          <p:cNvSpPr/>
          <p:nvPr/>
        </p:nvSpPr>
        <p:spPr>
          <a:xfrm>
            <a:off x="6922008" y="2011680"/>
            <a:ext cx="4721047" cy="3081528"/>
          </a:xfrm>
          <a:prstGeom prst="roundRect">
            <a:avLst>
              <a:gd name="adj" fmla="val 5935"/>
            </a:avLst>
          </a:prstGeom>
          <a:solidFill>
            <a:srgbClr val="191F28"/>
          </a:solidFill>
          <a:ln w="12700">
            <a:solidFill>
              <a:srgbClr val="191F28"/>
            </a:solidFill>
            <a:prstDash val="solid"/>
          </a:ln>
        </p:spPr>
      </p:sp>
      <p:sp>
        <p:nvSpPr>
          <p:cNvPr id="26" name="Text 24"/>
          <p:cNvSpPr txBox="1"/>
          <p:nvPr/>
        </p:nvSpPr>
        <p:spPr>
          <a:xfrm>
            <a:off x="7242048" y="2212848"/>
            <a:ext cx="4172407" cy="384048"/>
          </a:xfrm>
          <a:prstGeom prst="rect">
            <a:avLst/>
          </a:prstGeom>
          <a:noFill/>
          <a:ln/>
        </p:spPr>
        <p:txBody>
          <a:bodyPr wrap="square" lIns="0" tIns="0" rIns="0" bIns="0" rtlCol="0" anchor="ctr"/>
          <a:lstStyle/>
          <a:p>
            <a:pPr indent="0" marL="0">
              <a:buNone/>
            </a:pPr>
            <a:r>
              <a:rPr lang="en-US" sz="1600" b="1" dirty="0">
                <a:solidFill>
                  <a:srgbClr val="C9E2FF"/>
                </a:solidFill>
                <a:latin typeface="맑은 고딕" pitchFamily="34" charset="0"/>
                <a:ea typeface="맑은 고딕" pitchFamily="34" charset="-122"/>
                <a:cs typeface="맑은 고딕" pitchFamily="34" charset="-120"/>
              </a:rPr>
              <a:t>오늘 여쭤볼 것</a:t>
            </a:r>
            <a:endParaRPr lang="en-US" sz="1600" dirty="0"/>
          </a:p>
        </p:txBody>
      </p:sp>
      <p:sp>
        <p:nvSpPr>
          <p:cNvPr id="27" name="Text 25"/>
          <p:cNvSpPr txBox="1"/>
          <p:nvPr/>
        </p:nvSpPr>
        <p:spPr>
          <a:xfrm>
            <a:off x="7242048" y="2697480"/>
            <a:ext cx="4172407" cy="365760"/>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800" dirty="0"/>
          </a:p>
        </p:txBody>
      </p:sp>
      <p:sp>
        <p:nvSpPr>
          <p:cNvPr id="28" name="Text 26"/>
          <p:cNvSpPr txBox="1"/>
          <p:nvPr/>
        </p:nvSpPr>
        <p:spPr>
          <a:xfrm>
            <a:off x="7242048" y="3044952"/>
            <a:ext cx="4172407" cy="347472"/>
          </a:xfrm>
          <a:prstGeom prst="rect">
            <a:avLst/>
          </a:prstGeom>
          <a:noFill/>
          <a:ln/>
        </p:spPr>
        <p:txBody>
          <a:bodyPr wrap="square" lIns="0" tIns="0" rIns="0" bIns="0" rtlCol="0" anchor="t"/>
          <a:lstStyle/>
          <a:p>
            <a:pPr indent="0" marL="0">
              <a:buNone/>
            </a:pPr>
            <a:r>
              <a:rPr lang="en-US" sz="1400" dirty="0">
                <a:solidFill>
                  <a:srgbClr val="C9E2FF"/>
                </a:solidFill>
                <a:latin typeface="맑은 고딕" pitchFamily="34" charset="0"/>
                <a:ea typeface="맑은 고딕" pitchFamily="34" charset="-122"/>
                <a:cs typeface="맑은 고딕" pitchFamily="34" charset="-120"/>
              </a:rPr>
              <a:t>오늘의 추천 고객은 어떤 원리로 정해지나요?</a:t>
            </a:r>
            <a:endParaRPr lang="en-US" sz="1400" dirty="0"/>
          </a:p>
        </p:txBody>
      </p:sp>
      <p:sp>
        <p:nvSpPr>
          <p:cNvPr id="29" name="Text 27"/>
          <p:cNvSpPr txBox="1"/>
          <p:nvPr/>
        </p:nvSpPr>
        <p:spPr>
          <a:xfrm>
            <a:off x="7242048" y="3483864"/>
            <a:ext cx="4172407" cy="365760"/>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질문 2 · 어떻게 만들었나요</a:t>
            </a:r>
            <a:endParaRPr lang="en-US" sz="1800" dirty="0"/>
          </a:p>
        </p:txBody>
      </p:sp>
      <p:sp>
        <p:nvSpPr>
          <p:cNvPr id="30" name="Text 28"/>
          <p:cNvSpPr txBox="1"/>
          <p:nvPr/>
        </p:nvSpPr>
        <p:spPr>
          <a:xfrm>
            <a:off x="7242048" y="3831336"/>
            <a:ext cx="4172407" cy="347472"/>
          </a:xfrm>
          <a:prstGeom prst="rect">
            <a:avLst/>
          </a:prstGeom>
          <a:noFill/>
          <a:ln/>
        </p:spPr>
        <p:txBody>
          <a:bodyPr wrap="square" lIns="0" tIns="0" rIns="0" bIns="0" rtlCol="0" anchor="t"/>
          <a:lstStyle/>
          <a:p>
            <a:pPr indent="0" marL="0">
              <a:buNone/>
            </a:pPr>
            <a:r>
              <a:rPr lang="en-US" sz="1400" dirty="0">
                <a:solidFill>
                  <a:srgbClr val="C9E2FF"/>
                </a:solidFill>
                <a:latin typeface="맑은 고딕" pitchFamily="34" charset="0"/>
                <a:ea typeface="맑은 고딕" pitchFamily="34" charset="-122"/>
                <a:cs typeface="맑은 고딕" pitchFamily="34" charset="-120"/>
              </a:rPr>
              <a:t>어떤 방식으로 개발하고 구현했나요?</a:t>
            </a:r>
            <a:endParaRPr lang="en-US" sz="1400" dirty="0"/>
          </a:p>
        </p:txBody>
      </p:sp>
      <p:sp>
        <p:nvSpPr>
          <p:cNvPr id="31" name="Text 29"/>
          <p:cNvSpPr txBox="1"/>
          <p:nvPr/>
        </p:nvSpPr>
        <p:spPr>
          <a:xfrm>
            <a:off x="7242048" y="4270248"/>
            <a:ext cx="4172407" cy="365760"/>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질문 3 · 꼭 전할 한 가지</a:t>
            </a:r>
            <a:endParaRPr lang="en-US" sz="1800" dirty="0"/>
          </a:p>
        </p:txBody>
      </p:sp>
      <p:sp>
        <p:nvSpPr>
          <p:cNvPr id="32" name="Text 30"/>
          <p:cNvSpPr txBox="1"/>
          <p:nvPr/>
        </p:nvSpPr>
        <p:spPr>
          <a:xfrm>
            <a:off x="7242048" y="4617720"/>
            <a:ext cx="4172407" cy="347472"/>
          </a:xfrm>
          <a:prstGeom prst="rect">
            <a:avLst/>
          </a:prstGeom>
          <a:noFill/>
          <a:ln/>
        </p:spPr>
        <p:txBody>
          <a:bodyPr wrap="square" lIns="0" tIns="0" rIns="0" bIns="0" rtlCol="0" anchor="t"/>
          <a:lstStyle/>
          <a:p>
            <a:pPr indent="0" marL="0">
              <a:buNone/>
            </a:pPr>
            <a:r>
              <a:rPr lang="en-US" sz="1400" dirty="0">
                <a:solidFill>
                  <a:srgbClr val="C9E2FF"/>
                </a:solidFill>
                <a:latin typeface="맑은 고딕" pitchFamily="34" charset="0"/>
                <a:ea typeface="맑은 고딕" pitchFamily="34" charset="-122"/>
                <a:cs typeface="맑은 고딕" pitchFamily="34" charset="-120"/>
              </a:rPr>
              <a:t>영업가족에게 한마디 부탁드려요</a:t>
            </a:r>
            <a:endParaRPr lang="en-US" sz="1400" dirty="0"/>
          </a:p>
        </p:txBody>
      </p:sp>
      <p:sp>
        <p:nvSpPr>
          <p:cNvPr id="33" name="Shape 31"/>
          <p:cNvSpPr/>
          <p:nvPr/>
        </p:nvSpPr>
        <p:spPr>
          <a:xfrm>
            <a:off x="548640" y="5440680"/>
            <a:ext cx="11094415" cy="731520"/>
          </a:xfrm>
          <a:prstGeom prst="roundRect">
            <a:avLst>
              <a:gd name="adj" fmla="val 17500"/>
            </a:avLst>
          </a:prstGeom>
          <a:solidFill>
            <a:srgbClr val="E8F3FF"/>
          </a:solidFill>
          <a:ln w="12700">
            <a:solidFill>
              <a:srgbClr val="E8F3FF"/>
            </a:solidFill>
            <a:prstDash val="solid"/>
          </a:ln>
        </p:spPr>
      </p:sp>
      <p:sp>
        <p:nvSpPr>
          <p:cNvPr id="34" name="Text 32"/>
          <p:cNvSpPr txBox="1"/>
          <p:nvPr/>
        </p:nvSpPr>
        <p:spPr>
          <a:xfrm>
            <a:off x="868680" y="5440680"/>
            <a:ext cx="10454335" cy="731520"/>
          </a:xfrm>
          <a:prstGeom prst="rect">
            <a:avLst/>
          </a:prstGeom>
          <a:noFill/>
          <a:ln/>
        </p:spPr>
        <p:txBody>
          <a:bodyPr wrap="square" lIns="0" tIns="0" rIns="0" bIns="0" rtlCol="0" anchor="ctr"/>
          <a:lstStyle/>
          <a:p>
            <a:pPr indent="0" marL="0">
              <a:buNone/>
            </a:pPr>
            <a:r>
              <a:rPr lang="en-US" sz="1900" dirty="0">
                <a:solidFill>
                  <a:srgbClr val="191F28"/>
                </a:solidFill>
                <a:latin typeface="맑은 고딕" pitchFamily="34" charset="0"/>
                <a:ea typeface="맑은 고딕" pitchFamily="34" charset="-122"/>
                <a:cs typeface="맑은 고딕" pitchFamily="34" charset="-120"/>
              </a:rPr>
              <a:t>들으면서 오늘 연락할 내 고객 한 분을 떠올려 보세요</a:t>
            </a:r>
            <a:endParaRPr lang="en-US" sz="1900" dirty="0"/>
          </a:p>
        </p:txBody>
      </p:sp>
      <p:sp>
        <p:nvSpPr>
          <p:cNvPr id="35" name="Text 33"/>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6" name="Text 3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MeAI 홈은 이렇게 움직여요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매일 밤 계산하고, 다음 날 이유와 함께 보여줘요</a:t>
            </a:r>
            <a:endParaRPr lang="en-US" sz="1700" dirty="0"/>
          </a:p>
        </p:txBody>
      </p:sp>
      <p:sp>
        <p:nvSpPr>
          <p:cNvPr id="13" name="Shape 11"/>
          <p:cNvSpPr/>
          <p:nvPr/>
        </p:nvSpPr>
        <p:spPr>
          <a:xfrm>
            <a:off x="1115568" y="1920240"/>
            <a:ext cx="5605272" cy="676656"/>
          </a:xfrm>
          <a:prstGeom prst="roundRect">
            <a:avLst>
              <a:gd name="adj" fmla="val 18919"/>
            </a:avLst>
          </a:prstGeom>
          <a:solidFill>
            <a:srgbClr val="FFFFFF"/>
          </a:solidFill>
          <a:ln w="9525">
            <a:solidFill>
              <a:srgbClr val="E5E8EB"/>
            </a:solidFill>
            <a:prstDash val="solid"/>
          </a:ln>
        </p:spPr>
      </p:sp>
      <p:sp>
        <p:nvSpPr>
          <p:cNvPr id="14" name="Shape 12"/>
          <p:cNvSpPr/>
          <p:nvPr/>
        </p:nvSpPr>
        <p:spPr>
          <a:xfrm>
            <a:off x="548640" y="2048256"/>
            <a:ext cx="420624" cy="420624"/>
          </a:xfrm>
          <a:prstGeom prst="ellipse">
            <a:avLst/>
          </a:prstGeom>
          <a:solidFill>
            <a:srgbClr val="191F28"/>
          </a:solidFill>
          <a:ln w="19050">
            <a:solidFill>
              <a:srgbClr val="FFFFFF"/>
            </a:solidFill>
            <a:prstDash val="solid"/>
          </a:ln>
        </p:spPr>
      </p:sp>
      <p:sp>
        <p:nvSpPr>
          <p:cNvPr id="15" name="Text 13"/>
          <p:cNvSpPr txBox="1"/>
          <p:nvPr/>
        </p:nvSpPr>
        <p:spPr>
          <a:xfrm>
            <a:off x="548640" y="20482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16" name="Shape 14"/>
          <p:cNvSpPr/>
          <p:nvPr/>
        </p:nvSpPr>
        <p:spPr>
          <a:xfrm>
            <a:off x="758952" y="2487168"/>
            <a:ext cx="0" cy="310896"/>
          </a:xfrm>
          <a:prstGeom prst="line">
            <a:avLst/>
          </a:prstGeom>
          <a:noFill/>
          <a:ln w="19050">
            <a:solidFill>
              <a:srgbClr val="3182F6"/>
            </a:solidFill>
            <a:prstDash val="solid"/>
            <a:tailEnd type="triangle"/>
          </a:ln>
        </p:spPr>
      </p:sp>
      <p:sp>
        <p:nvSpPr>
          <p:cNvPr id="17" name="Text 15"/>
          <p:cNvSpPr txBox="1"/>
          <p:nvPr/>
        </p:nvSpPr>
        <p:spPr>
          <a:xfrm>
            <a:off x="1325880" y="1975104"/>
            <a:ext cx="5166360" cy="329184"/>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고객 데이터</a:t>
            </a:r>
            <a:endParaRPr lang="en-US" sz="1700" dirty="0"/>
          </a:p>
        </p:txBody>
      </p:sp>
      <p:sp>
        <p:nvSpPr>
          <p:cNvPr id="18" name="Text 16"/>
          <p:cNvSpPr txBox="1"/>
          <p:nvPr/>
        </p:nvSpPr>
        <p:spPr>
          <a:xfrm>
            <a:off x="1325880" y="2286000"/>
            <a:ext cx="5166360" cy="274320"/>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계약 · 보상 · 동의 · 상령일 · 생일 · 접촉 이력</a:t>
            </a:r>
            <a:endParaRPr lang="en-US" sz="1400" dirty="0"/>
          </a:p>
        </p:txBody>
      </p:sp>
      <p:sp>
        <p:nvSpPr>
          <p:cNvPr id="19" name="Shape 17"/>
          <p:cNvSpPr/>
          <p:nvPr/>
        </p:nvSpPr>
        <p:spPr>
          <a:xfrm>
            <a:off x="1115568" y="2688336"/>
            <a:ext cx="5605272" cy="676656"/>
          </a:xfrm>
          <a:prstGeom prst="roundRect">
            <a:avLst>
              <a:gd name="adj" fmla="val 18919"/>
            </a:avLst>
          </a:prstGeom>
          <a:solidFill>
            <a:srgbClr val="FFFFFF"/>
          </a:solidFill>
          <a:ln w="9525">
            <a:solidFill>
              <a:srgbClr val="E5E8EB"/>
            </a:solidFill>
            <a:prstDash val="solid"/>
          </a:ln>
        </p:spPr>
      </p:sp>
      <p:sp>
        <p:nvSpPr>
          <p:cNvPr id="20" name="Shape 18"/>
          <p:cNvSpPr/>
          <p:nvPr/>
        </p:nvSpPr>
        <p:spPr>
          <a:xfrm>
            <a:off x="548640" y="2816352"/>
            <a:ext cx="420624" cy="420624"/>
          </a:xfrm>
          <a:prstGeom prst="ellipse">
            <a:avLst/>
          </a:prstGeom>
          <a:solidFill>
            <a:srgbClr val="191F28"/>
          </a:solidFill>
          <a:ln w="19050">
            <a:solidFill>
              <a:srgbClr val="FFFFFF"/>
            </a:solidFill>
            <a:prstDash val="solid"/>
          </a:ln>
        </p:spPr>
      </p:sp>
      <p:sp>
        <p:nvSpPr>
          <p:cNvPr id="21" name="Text 19"/>
          <p:cNvSpPr txBox="1"/>
          <p:nvPr/>
        </p:nvSpPr>
        <p:spPr>
          <a:xfrm>
            <a:off x="548640" y="28163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22" name="Shape 20"/>
          <p:cNvSpPr/>
          <p:nvPr/>
        </p:nvSpPr>
        <p:spPr>
          <a:xfrm>
            <a:off x="758952" y="3255264"/>
            <a:ext cx="0" cy="310896"/>
          </a:xfrm>
          <a:prstGeom prst="line">
            <a:avLst/>
          </a:prstGeom>
          <a:noFill/>
          <a:ln w="19050">
            <a:solidFill>
              <a:srgbClr val="3182F6"/>
            </a:solidFill>
            <a:prstDash val="solid"/>
            <a:tailEnd type="triangle"/>
          </a:ln>
        </p:spPr>
      </p:sp>
      <p:sp>
        <p:nvSpPr>
          <p:cNvPr id="23" name="Text 21"/>
          <p:cNvSpPr txBox="1"/>
          <p:nvPr/>
        </p:nvSpPr>
        <p:spPr>
          <a:xfrm>
            <a:off x="1325880" y="2743200"/>
            <a:ext cx="5166360" cy="329184"/>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매일 밤 계산</a:t>
            </a:r>
            <a:endParaRPr lang="en-US" sz="1700" dirty="0"/>
          </a:p>
        </p:txBody>
      </p:sp>
      <p:sp>
        <p:nvSpPr>
          <p:cNvPr id="24" name="Shape 22"/>
          <p:cNvSpPr/>
          <p:nvPr/>
        </p:nvSpPr>
        <p:spPr>
          <a:xfrm>
            <a:off x="2717800" y="2761488"/>
            <a:ext cx="1371600" cy="274320"/>
          </a:xfrm>
          <a:prstGeom prst="roundRect">
            <a:avLst>
              <a:gd name="adj" fmla="val 50000"/>
            </a:avLst>
          </a:prstGeom>
          <a:solidFill>
            <a:srgbClr val="F0EDFF"/>
          </a:solidFill>
          <a:ln w="12700">
            <a:solidFill>
              <a:srgbClr val="F0EDFF"/>
            </a:solidFill>
            <a:prstDash val="solid"/>
          </a:ln>
        </p:spPr>
      </p:sp>
      <p:sp>
        <p:nvSpPr>
          <p:cNvPr id="25" name="Text 23"/>
          <p:cNvSpPr txBox="1"/>
          <p:nvPr/>
        </p:nvSpPr>
        <p:spPr>
          <a:xfrm>
            <a:off x="2717800" y="2761488"/>
            <a:ext cx="1371600" cy="274320"/>
          </a:xfrm>
          <a:prstGeom prst="rect">
            <a:avLst/>
          </a:prstGeom>
          <a:noFill/>
          <a:ln/>
        </p:spPr>
        <p:txBody>
          <a:bodyPr wrap="square" lIns="0" tIns="0" rIns="0" bIns="0" rtlCol="0" anchor="ctr"/>
          <a:lstStyle/>
          <a:p>
            <a:pPr algn="ctr" indent="0" marL="0">
              <a:buNone/>
            </a:pPr>
            <a:r>
              <a:rPr lang="en-US" sz="1200" b="1" dirty="0">
                <a:solidFill>
                  <a:srgbClr val="7048E8"/>
                </a:solidFill>
                <a:latin typeface="맑은 고딕" pitchFamily="34" charset="0"/>
                <a:ea typeface="맑은 고딕" pitchFamily="34" charset="-122"/>
                <a:cs typeface="맑은 고딕" pitchFamily="34" charset="-120"/>
              </a:rPr>
              <a:t>매일 자동 계산</a:t>
            </a:r>
            <a:endParaRPr lang="en-US" sz="1200" dirty="0"/>
          </a:p>
        </p:txBody>
      </p:sp>
      <p:sp>
        <p:nvSpPr>
          <p:cNvPr id="26" name="Text 24"/>
          <p:cNvSpPr txBox="1"/>
          <p:nvPr/>
        </p:nvSpPr>
        <p:spPr>
          <a:xfrm>
            <a:off x="1325880" y="3054096"/>
            <a:ext cx="5166360" cy="274320"/>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추천 고객과 고객찾기 그룹을 다시 계산해요</a:t>
            </a:r>
            <a:endParaRPr lang="en-US" sz="1400" dirty="0"/>
          </a:p>
        </p:txBody>
      </p:sp>
      <p:sp>
        <p:nvSpPr>
          <p:cNvPr id="27" name="Shape 25"/>
          <p:cNvSpPr/>
          <p:nvPr/>
        </p:nvSpPr>
        <p:spPr>
          <a:xfrm>
            <a:off x="1115568" y="3456432"/>
            <a:ext cx="5605272" cy="676656"/>
          </a:xfrm>
          <a:prstGeom prst="roundRect">
            <a:avLst>
              <a:gd name="adj" fmla="val 18919"/>
            </a:avLst>
          </a:prstGeom>
          <a:solidFill>
            <a:srgbClr val="FFFFFF"/>
          </a:solidFill>
          <a:ln w="9525">
            <a:solidFill>
              <a:srgbClr val="E5E8EB"/>
            </a:solidFill>
            <a:prstDash val="solid"/>
          </a:ln>
        </p:spPr>
      </p:sp>
      <p:sp>
        <p:nvSpPr>
          <p:cNvPr id="28" name="Shape 26"/>
          <p:cNvSpPr/>
          <p:nvPr/>
        </p:nvSpPr>
        <p:spPr>
          <a:xfrm>
            <a:off x="548640" y="3584448"/>
            <a:ext cx="420624" cy="420624"/>
          </a:xfrm>
          <a:prstGeom prst="ellipse">
            <a:avLst/>
          </a:prstGeom>
          <a:solidFill>
            <a:srgbClr val="191F28"/>
          </a:solidFill>
          <a:ln w="19050">
            <a:solidFill>
              <a:srgbClr val="FFFFFF"/>
            </a:solidFill>
            <a:prstDash val="solid"/>
          </a:ln>
        </p:spPr>
      </p:sp>
      <p:sp>
        <p:nvSpPr>
          <p:cNvPr id="29" name="Text 27"/>
          <p:cNvSpPr txBox="1"/>
          <p:nvPr/>
        </p:nvSpPr>
        <p:spPr>
          <a:xfrm>
            <a:off x="548640" y="35844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0" name="Shape 28"/>
          <p:cNvSpPr/>
          <p:nvPr/>
        </p:nvSpPr>
        <p:spPr>
          <a:xfrm>
            <a:off x="758952" y="4023360"/>
            <a:ext cx="0" cy="310896"/>
          </a:xfrm>
          <a:prstGeom prst="line">
            <a:avLst/>
          </a:prstGeom>
          <a:noFill/>
          <a:ln w="19050">
            <a:solidFill>
              <a:srgbClr val="3182F6"/>
            </a:solidFill>
            <a:prstDash val="solid"/>
            <a:tailEnd type="triangle"/>
          </a:ln>
        </p:spPr>
      </p:sp>
      <p:sp>
        <p:nvSpPr>
          <p:cNvPr id="31" name="Text 29"/>
          <p:cNvSpPr txBox="1"/>
          <p:nvPr/>
        </p:nvSpPr>
        <p:spPr>
          <a:xfrm>
            <a:off x="1325880" y="3511296"/>
            <a:ext cx="5166360" cy="329184"/>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오늘의 추천 고객 9명</a:t>
            </a:r>
            <a:endParaRPr lang="en-US" sz="1700" dirty="0"/>
          </a:p>
        </p:txBody>
      </p:sp>
      <p:sp>
        <p:nvSpPr>
          <p:cNvPr id="32" name="Text 30"/>
          <p:cNvSpPr txBox="1"/>
          <p:nvPr/>
        </p:nvSpPr>
        <p:spPr>
          <a:xfrm>
            <a:off x="1325880" y="3822192"/>
            <a:ext cx="5166360" cy="274320"/>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3명 × 3세트 · 그룹은 보장 기준·영업 기회</a:t>
            </a:r>
            <a:endParaRPr lang="en-US" sz="1400" dirty="0"/>
          </a:p>
        </p:txBody>
      </p:sp>
      <p:sp>
        <p:nvSpPr>
          <p:cNvPr id="33" name="Shape 31"/>
          <p:cNvSpPr/>
          <p:nvPr/>
        </p:nvSpPr>
        <p:spPr>
          <a:xfrm>
            <a:off x="1115568" y="4224528"/>
            <a:ext cx="5605272" cy="676656"/>
          </a:xfrm>
          <a:prstGeom prst="roundRect">
            <a:avLst>
              <a:gd name="adj" fmla="val 18919"/>
            </a:avLst>
          </a:prstGeom>
          <a:solidFill>
            <a:srgbClr val="E8F3FF"/>
          </a:solidFill>
          <a:ln w="12700">
            <a:solidFill>
              <a:srgbClr val="E8F3FF"/>
            </a:solidFill>
            <a:prstDash val="solid"/>
          </a:ln>
        </p:spPr>
      </p:sp>
      <p:sp>
        <p:nvSpPr>
          <p:cNvPr id="34" name="Shape 32"/>
          <p:cNvSpPr/>
          <p:nvPr/>
        </p:nvSpPr>
        <p:spPr>
          <a:xfrm>
            <a:off x="548640" y="4352544"/>
            <a:ext cx="420624" cy="420624"/>
          </a:xfrm>
          <a:prstGeom prst="ellipse">
            <a:avLst/>
          </a:prstGeom>
          <a:solidFill>
            <a:srgbClr val="191F28"/>
          </a:solidFill>
          <a:ln w="19050">
            <a:solidFill>
              <a:srgbClr val="FFFFFF"/>
            </a:solidFill>
            <a:prstDash val="solid"/>
          </a:ln>
        </p:spPr>
      </p:sp>
      <p:sp>
        <p:nvSpPr>
          <p:cNvPr id="35" name="Text 33"/>
          <p:cNvSpPr txBox="1"/>
          <p:nvPr/>
        </p:nvSpPr>
        <p:spPr>
          <a:xfrm>
            <a:off x="548640" y="435254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36" name="Shape 34"/>
          <p:cNvSpPr/>
          <p:nvPr/>
        </p:nvSpPr>
        <p:spPr>
          <a:xfrm>
            <a:off x="758952" y="4791456"/>
            <a:ext cx="0" cy="310896"/>
          </a:xfrm>
          <a:prstGeom prst="line">
            <a:avLst/>
          </a:prstGeom>
          <a:noFill/>
          <a:ln w="19050">
            <a:solidFill>
              <a:srgbClr val="3182F6"/>
            </a:solidFill>
            <a:prstDash val="solid"/>
            <a:tailEnd type="triangle"/>
          </a:ln>
        </p:spPr>
      </p:sp>
      <p:sp>
        <p:nvSpPr>
          <p:cNvPr id="37" name="Text 35"/>
          <p:cNvSpPr txBox="1"/>
          <p:nvPr/>
        </p:nvSpPr>
        <p:spPr>
          <a:xfrm>
            <a:off x="1325880" y="4279392"/>
            <a:ext cx="5166360" cy="329184"/>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점수 대신 이유 한 문장</a:t>
            </a:r>
            <a:endParaRPr lang="en-US" sz="1700" dirty="0"/>
          </a:p>
        </p:txBody>
      </p:sp>
      <p:sp>
        <p:nvSpPr>
          <p:cNvPr id="38" name="Text 36"/>
          <p:cNvSpPr txBox="1"/>
          <p:nvPr/>
        </p:nvSpPr>
        <p:spPr>
          <a:xfrm>
            <a:off x="1325880" y="4590288"/>
            <a:ext cx="5166360" cy="274320"/>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왜 지금 이 고객인지, 한 문장과 태그로</a:t>
            </a:r>
            <a:endParaRPr lang="en-US" sz="1400" dirty="0"/>
          </a:p>
        </p:txBody>
      </p:sp>
      <p:sp>
        <p:nvSpPr>
          <p:cNvPr id="39" name="Shape 37"/>
          <p:cNvSpPr/>
          <p:nvPr/>
        </p:nvSpPr>
        <p:spPr>
          <a:xfrm>
            <a:off x="1115568" y="4992624"/>
            <a:ext cx="5605272" cy="676656"/>
          </a:xfrm>
          <a:prstGeom prst="roundRect">
            <a:avLst>
              <a:gd name="adj" fmla="val 18919"/>
            </a:avLst>
          </a:prstGeom>
          <a:solidFill>
            <a:srgbClr val="FFFFFF"/>
          </a:solidFill>
          <a:ln w="9525">
            <a:solidFill>
              <a:srgbClr val="E5E8EB"/>
            </a:solidFill>
            <a:prstDash val="solid"/>
          </a:ln>
        </p:spPr>
      </p:sp>
      <p:sp>
        <p:nvSpPr>
          <p:cNvPr id="40" name="Shape 38"/>
          <p:cNvSpPr/>
          <p:nvPr/>
        </p:nvSpPr>
        <p:spPr>
          <a:xfrm>
            <a:off x="548640" y="5120640"/>
            <a:ext cx="420624" cy="420624"/>
          </a:xfrm>
          <a:prstGeom prst="ellipse">
            <a:avLst/>
          </a:prstGeom>
          <a:solidFill>
            <a:srgbClr val="191F28"/>
          </a:solidFill>
          <a:ln w="19050">
            <a:solidFill>
              <a:srgbClr val="FFFFFF"/>
            </a:solidFill>
            <a:prstDash val="solid"/>
          </a:ln>
        </p:spPr>
      </p:sp>
      <p:sp>
        <p:nvSpPr>
          <p:cNvPr id="41" name="Text 39"/>
          <p:cNvSpPr txBox="1"/>
          <p:nvPr/>
        </p:nvSpPr>
        <p:spPr>
          <a:xfrm>
            <a:off x="548640" y="51206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2" name="Text 40"/>
          <p:cNvSpPr txBox="1"/>
          <p:nvPr/>
        </p:nvSpPr>
        <p:spPr>
          <a:xfrm>
            <a:off x="1325880" y="5047488"/>
            <a:ext cx="5166360" cy="329184"/>
          </a:xfrm>
          <a:prstGeom prst="rect">
            <a:avLst/>
          </a:prstGeom>
          <a:noFill/>
          <a:ln/>
        </p:spPr>
        <p:txBody>
          <a:bodyPr wrap="square" lIns="0" tIns="0" rIns="0" bIns="0" rtlCol="0" anchor="ctr"/>
          <a:lstStyle/>
          <a:p>
            <a:pPr indent="0" marL="0">
              <a:buNone/>
            </a:pPr>
            <a:r>
              <a:rPr lang="en-US" sz="1700" b="1" dirty="0">
                <a:solidFill>
                  <a:srgbClr val="3182F6"/>
                </a:solidFill>
                <a:latin typeface="맑은 고딕" pitchFamily="34" charset="0"/>
                <a:ea typeface="맑은 고딕" pitchFamily="34" charset="-122"/>
                <a:cs typeface="맑은 고딕" pitchFamily="34" charset="-120"/>
              </a:rPr>
              <a:t>MeAI 고객찾기에서 열기 →</a:t>
            </a:r>
            <a:endParaRPr lang="en-US" sz="1700" dirty="0"/>
          </a:p>
        </p:txBody>
      </p:sp>
      <p:sp>
        <p:nvSpPr>
          <p:cNvPr id="43" name="Text 41"/>
          <p:cNvSpPr txBox="1"/>
          <p:nvPr/>
        </p:nvSpPr>
        <p:spPr>
          <a:xfrm>
            <a:off x="1325880" y="5358384"/>
            <a:ext cx="5166360" cy="274320"/>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동의 고객은 [이 고객으로 맞춤대화 시작]으로</a:t>
            </a:r>
            <a:endParaRPr lang="en-US" sz="1400" dirty="0"/>
          </a:p>
        </p:txBody>
      </p:sp>
      <p:sp>
        <p:nvSpPr>
          <p:cNvPr id="44" name="Shape 42"/>
          <p:cNvSpPr/>
          <p:nvPr/>
        </p:nvSpPr>
        <p:spPr>
          <a:xfrm>
            <a:off x="6995160" y="1920240"/>
            <a:ext cx="4647895" cy="2023437"/>
          </a:xfrm>
          <a:prstGeom prst="roundRect">
            <a:avLst>
              <a:gd name="adj" fmla="val 4594"/>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45" name="Image 0" descr="MeAI 화면 캡처">    </p:cNvPr>
          <p:cNvPicPr>
            <a:picLocks noChangeAspect="1"/>
          </p:cNvPicPr>
          <p:nvPr/>
        </p:nvPicPr>
        <p:blipFill>
          <a:blip r:embed="rId1"/>
          <a:stretch>
            <a:fillRect/>
          </a:stretch>
        </p:blipFill>
        <p:spPr>
          <a:xfrm>
            <a:off x="6995160" y="1920240"/>
            <a:ext cx="4647895" cy="2023437"/>
          </a:xfrm>
          <a:prstGeom prst="rect">
            <a:avLst/>
          </a:prstGeom>
        </p:spPr>
      </p:pic>
      <p:sp>
        <p:nvSpPr>
          <p:cNvPr id="46" name="Shape 43"/>
          <p:cNvSpPr/>
          <p:nvPr/>
        </p:nvSpPr>
        <p:spPr>
          <a:xfrm>
            <a:off x="9396670" y="3664634"/>
            <a:ext cx="365760" cy="365760"/>
          </a:xfrm>
          <a:prstGeom prst="ellipse">
            <a:avLst/>
          </a:prstGeom>
          <a:solidFill>
            <a:srgbClr val="3182F6"/>
          </a:solidFill>
          <a:ln w="19050">
            <a:solidFill>
              <a:srgbClr val="FFFFFF"/>
            </a:solidFill>
            <a:prstDash val="solid"/>
          </a:ln>
        </p:spPr>
      </p:sp>
      <p:sp>
        <p:nvSpPr>
          <p:cNvPr id="47" name="Text 44"/>
          <p:cNvSpPr txBox="1"/>
          <p:nvPr/>
        </p:nvSpPr>
        <p:spPr>
          <a:xfrm>
            <a:off x="9396670" y="366463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48" name="Shape 45"/>
          <p:cNvSpPr/>
          <p:nvPr/>
        </p:nvSpPr>
        <p:spPr>
          <a:xfrm>
            <a:off x="6860362" y="2338381"/>
            <a:ext cx="365760" cy="365760"/>
          </a:xfrm>
          <a:prstGeom prst="ellipse">
            <a:avLst/>
          </a:prstGeom>
          <a:solidFill>
            <a:srgbClr val="3182F6"/>
          </a:solidFill>
          <a:ln w="19050">
            <a:solidFill>
              <a:srgbClr val="FFFFFF"/>
            </a:solidFill>
            <a:prstDash val="solid"/>
          </a:ln>
        </p:spPr>
      </p:sp>
      <p:sp>
        <p:nvSpPr>
          <p:cNvPr id="49" name="Text 46"/>
          <p:cNvSpPr txBox="1"/>
          <p:nvPr/>
        </p:nvSpPr>
        <p:spPr>
          <a:xfrm>
            <a:off x="6860362" y="2338381"/>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50" name="Text 47"/>
          <p:cNvSpPr txBox="1"/>
          <p:nvPr/>
        </p:nvSpPr>
        <p:spPr>
          <a:xfrm>
            <a:off x="6995160" y="3989397"/>
            <a:ext cx="4647895" cy="256032"/>
          </a:xfrm>
          <a:prstGeom prst="rect">
            <a:avLst/>
          </a:prstGeom>
          <a:noFill/>
          <a:ln/>
        </p:spPr>
        <p:txBody>
          <a:bodyPr wrap="square" lIns="0" tIns="0" rIns="0" bIns="0" rtlCol="0" anchor="ctr"/>
          <a:lstStyle/>
          <a:p>
            <a:pPr algn="r" indent="0" marL="0">
              <a:buNone/>
            </a:pPr>
            <a:r>
              <a:rPr lang="en-US" sz="1200" dirty="0">
                <a:solidFill>
                  <a:srgbClr val="8B95A1"/>
                </a:solidFill>
                <a:latin typeface="맑은 고딕" pitchFamily="34" charset="0"/>
                <a:ea typeface="맑은 고딕" pitchFamily="34" charset="-122"/>
                <a:cs typeface="맑은 고딕" pitchFamily="34" charset="-120"/>
              </a:rPr>
              <a:t>확정 화면 · 오늘의 추천 고객 세트 3 · 이름·숫자는 예시</a:t>
            </a:r>
            <a:endParaRPr lang="en-US" sz="1200" dirty="0"/>
          </a:p>
        </p:txBody>
      </p:sp>
      <p:sp>
        <p:nvSpPr>
          <p:cNvPr id="51" name="Shape 48"/>
          <p:cNvSpPr/>
          <p:nvPr/>
        </p:nvSpPr>
        <p:spPr>
          <a:xfrm>
            <a:off x="6995160" y="4526280"/>
            <a:ext cx="4647895" cy="1234440"/>
          </a:xfrm>
          <a:prstGeom prst="roundRect">
            <a:avLst>
              <a:gd name="adj" fmla="val 11852"/>
            </a:avLst>
          </a:prstGeom>
          <a:solidFill>
            <a:srgbClr val="191F28"/>
          </a:solidFill>
          <a:ln w="12700">
            <a:solidFill>
              <a:srgbClr val="191F28"/>
            </a:solidFill>
            <a:prstDash val="solid"/>
          </a:ln>
        </p:spPr>
      </p:sp>
      <p:sp>
        <p:nvSpPr>
          <p:cNvPr id="52" name="Text 49"/>
          <p:cNvSpPr txBox="1"/>
          <p:nvPr/>
        </p:nvSpPr>
        <p:spPr>
          <a:xfrm>
            <a:off x="7269480" y="4636008"/>
            <a:ext cx="4190695" cy="310896"/>
          </a:xfrm>
          <a:prstGeom prst="rect">
            <a:avLst/>
          </a:prstGeom>
          <a:noFill/>
          <a:ln/>
        </p:spPr>
        <p:txBody>
          <a:bodyPr wrap="square" lIns="0" tIns="0" rIns="0" bIns="0" rtlCol="0" anchor="ctr"/>
          <a:lstStyle/>
          <a:p>
            <a:pPr indent="0" marL="0">
              <a:buNone/>
            </a:pPr>
            <a:r>
              <a:rPr lang="en-US" sz="1400" b="1" dirty="0">
                <a:solidFill>
                  <a:srgbClr val="C9E2FF"/>
                </a:solidFill>
                <a:latin typeface="맑은 고딕" pitchFamily="34" charset="0"/>
                <a:ea typeface="맑은 고딕" pitchFamily="34" charset="-122"/>
                <a:cs typeface="맑은 고딕" pitchFamily="34" charset="-120"/>
              </a:rPr>
              <a:t>오늘 여쭤볼 것</a:t>
            </a:r>
            <a:endParaRPr lang="en-US" sz="1400" dirty="0"/>
          </a:p>
        </p:txBody>
      </p:sp>
      <p:sp>
        <p:nvSpPr>
          <p:cNvPr id="53" name="Text 50"/>
          <p:cNvSpPr txBox="1"/>
          <p:nvPr/>
        </p:nvSpPr>
        <p:spPr>
          <a:xfrm>
            <a:off x="7269480" y="4937760"/>
            <a:ext cx="4190695" cy="777240"/>
          </a:xfrm>
          <a:prstGeom prst="rect">
            <a:avLst/>
          </a:prstGeom>
          <a:noFill/>
          <a:ln/>
        </p:spPr>
        <p:txBody>
          <a:bodyPr wrap="square" lIns="0" tIns="0" rIns="0" bIns="0" rtlCol="0" anchor="t"/>
          <a:lstStyle/>
          <a:p>
            <a:pPr indent="0" marL="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450" dirty="0"/>
          </a:p>
          <a:p>
            <a:pPr indent="0" marL="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2 · 어떻게 만들었나요</a:t>
            </a:r>
            <a:endParaRPr lang="en-US" sz="1450" dirty="0"/>
          </a:p>
          <a:p>
            <a:pPr indent="0" marL="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3 · 꼭 전할 한 가지</a:t>
            </a:r>
            <a:endParaRPr lang="en-US" sz="1450" dirty="0"/>
          </a:p>
        </p:txBody>
      </p:sp>
      <p:sp>
        <p:nvSpPr>
          <p:cNvPr id="54" name="Text 51"/>
          <p:cNvSpPr txBox="1"/>
          <p:nvPr/>
        </p:nvSpPr>
        <p:spPr>
          <a:xfrm>
            <a:off x="548640" y="5833872"/>
            <a:ext cx="11094415" cy="256032"/>
          </a:xfrm>
          <a:prstGeom prst="rect">
            <a:avLst/>
          </a:prstGeom>
          <a:noFill/>
          <a:ln/>
        </p:spPr>
        <p:txBody>
          <a:bodyPr wrap="square" lIns="0" tIns="0" rIns="0" bIns="0" rtlCol="0" anchor="ctr"/>
          <a:lstStyle/>
          <a:p>
            <a:pPr indent="0" marL="0">
              <a:buNone/>
            </a:pPr>
            <a:r>
              <a:rPr lang="en-US" sz="1250" dirty="0">
                <a:solidFill>
                  <a:srgbClr val="4E5968"/>
                </a:solidFill>
                <a:latin typeface="맑은 고딕" pitchFamily="34" charset="0"/>
                <a:ea typeface="맑은 고딕" pitchFamily="34" charset="-122"/>
                <a:cs typeface="맑은 고딕" pitchFamily="34" charset="-120"/>
              </a:rPr>
              <a:t>※ 고객 데이터와 추천 결과는 다음 날 반영 · 사전조회 동의일로부터 1년 이내 고객만</a:t>
            </a:r>
            <a:endParaRPr lang="en-US" sz="1250" dirty="0"/>
          </a:p>
        </p:txBody>
      </p:sp>
      <p:sp>
        <p:nvSpPr>
          <p:cNvPr id="55" name="Text 52"/>
          <p:cNvSpPr txBox="1"/>
          <p:nvPr/>
        </p:nvSpPr>
        <p:spPr>
          <a:xfrm>
            <a:off x="548640" y="6089904"/>
            <a:ext cx="11094415" cy="256032"/>
          </a:xfrm>
          <a:prstGeom prst="rect">
            <a:avLst/>
          </a:prstGeom>
          <a:noFill/>
          <a:ln/>
        </p:spPr>
        <p:txBody>
          <a:bodyPr wrap="square" lIns="0" tIns="0" rIns="0" bIns="0" rtlCol="0" anchor="ctr"/>
          <a:lstStyle/>
          <a:p>
            <a:pPr indent="0" marL="0">
              <a:buNone/>
            </a:pPr>
            <a:r>
              <a:rPr lang="en-US" sz="1200" dirty="0">
                <a:solidFill>
                  <a:srgbClr val="8B95A1"/>
                </a:solidFill>
                <a:latin typeface="맑은 고딕" pitchFamily="34" charset="0"/>
                <a:ea typeface="맑은 고딕" pitchFamily="34" charset="-122"/>
                <a:cs typeface="맑은 고딕" pitchFamily="34" charset="-120"/>
              </a:rPr>
              <a:t>출처: MeAI 홈 확정 화면(범례 · 고객찾기 안내 · 게시판 예시 글) · MeAI 활용 가이드북 v4 8·20쪽</a:t>
            </a:r>
            <a:endParaRPr lang="en-US" sz="1200" dirty="0"/>
          </a:p>
        </p:txBody>
      </p:sp>
      <p:sp>
        <p:nvSpPr>
          <p:cNvPr id="56" name="Text 53"/>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영업포탈에서 MeAI 홈으로 가는 문, 6개예요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10월 2일부터 새 문 3개(③④⑤)가 열려요 · ④가 핵심이에요</a:t>
            </a:r>
            <a:endParaRPr lang="en-US" sz="1700" dirty="0"/>
          </a:p>
        </p:txBody>
      </p:sp>
      <p:sp>
        <p:nvSpPr>
          <p:cNvPr id="13" name="Shape 11"/>
          <p:cNvSpPr/>
          <p:nvPr/>
        </p:nvSpPr>
        <p:spPr>
          <a:xfrm>
            <a:off x="548640" y="1920240"/>
            <a:ext cx="6873240" cy="3749040"/>
          </a:xfrm>
          <a:prstGeom prst="roundRect">
            <a:avLst>
              <a:gd name="adj" fmla="val 3415"/>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4" name="Image 0" descr="MeAI 화면 캡처">    </p:cNvPr>
          <p:cNvPicPr>
            <a:picLocks noChangeAspect="1"/>
          </p:cNvPicPr>
          <p:nvPr/>
        </p:nvPicPr>
        <p:blipFill>
          <a:blip r:embed="rId1"/>
          <a:stretch>
            <a:fillRect/>
          </a:stretch>
        </p:blipFill>
        <p:spPr>
          <a:xfrm>
            <a:off x="548640" y="1920240"/>
            <a:ext cx="6873240" cy="3749040"/>
          </a:xfrm>
          <a:prstGeom prst="rect">
            <a:avLst/>
          </a:prstGeom>
        </p:spPr>
      </p:pic>
      <p:sp>
        <p:nvSpPr>
          <p:cNvPr id="15" name="Shape 12"/>
          <p:cNvSpPr/>
          <p:nvPr/>
        </p:nvSpPr>
        <p:spPr>
          <a:xfrm>
            <a:off x="4820505" y="4462106"/>
            <a:ext cx="565331" cy="620589"/>
          </a:xfrm>
          <a:prstGeom prst="roundRect">
            <a:avLst>
              <a:gd name="adj" fmla="val 8087"/>
            </a:avLst>
          </a:prstGeom>
          <a:ln w="38100">
            <a:solidFill>
              <a:srgbClr val="3182F6"/>
            </a:solidFill>
            <a:prstDash val="solid"/>
          </a:ln>
        </p:spPr>
      </p:sp>
      <p:sp>
        <p:nvSpPr>
          <p:cNvPr id="16" name="Shape 13"/>
          <p:cNvSpPr/>
          <p:nvPr/>
        </p:nvSpPr>
        <p:spPr>
          <a:xfrm>
            <a:off x="548640" y="5779008"/>
            <a:ext cx="6949440" cy="384048"/>
          </a:xfrm>
          <a:prstGeom prst="roundRect">
            <a:avLst>
              <a:gd name="adj" fmla="val 28571"/>
            </a:avLst>
          </a:prstGeom>
          <a:solidFill>
            <a:srgbClr val="F2F4F6"/>
          </a:solidFill>
          <a:ln w="12700">
            <a:solidFill>
              <a:srgbClr val="F2F4F6"/>
            </a:solidFill>
            <a:prstDash val="solid"/>
          </a:ln>
        </p:spPr>
      </p:sp>
      <p:sp>
        <p:nvSpPr>
          <p:cNvPr id="17" name="Text 14"/>
          <p:cNvSpPr txBox="1"/>
          <p:nvPr/>
        </p:nvSpPr>
        <p:spPr>
          <a:xfrm>
            <a:off x="777240" y="5779008"/>
            <a:ext cx="6583680" cy="384048"/>
          </a:xfrm>
          <a:prstGeom prst="rect">
            <a:avLst/>
          </a:prstGeom>
          <a:noFill/>
          <a:ln/>
        </p:spPr>
        <p:txBody>
          <a:bodyPr wrap="square" lIns="0" tIns="0" rIns="0" bIns="0" rtlCol="0" anchor="ctr"/>
          <a:lstStyle/>
          <a:p>
            <a:pPr indent="0" marL="0">
              <a:buNone/>
            </a:pPr>
            <a:r>
              <a:rPr lang="en-US" sz="1500" dirty="0">
                <a:solidFill>
                  <a:srgbClr val="4E5968"/>
                </a:solidFill>
                <a:latin typeface="맑은 고딕" pitchFamily="34" charset="0"/>
                <a:ea typeface="맑은 고딕" pitchFamily="34" charset="-122"/>
                <a:cs typeface="맑은 고딕" pitchFamily="34" charset="-120"/>
              </a:rPr>
              <a:t>휴대폰은 지금처럼 앱 홈 → 보장분석 → MeAI</a:t>
            </a:r>
            <a:endParaRPr lang="en-US" sz="1500" dirty="0"/>
          </a:p>
        </p:txBody>
      </p:sp>
      <p:sp>
        <p:nvSpPr>
          <p:cNvPr id="18" name="Text 15"/>
          <p:cNvSpPr txBox="1"/>
          <p:nvPr/>
        </p:nvSpPr>
        <p:spPr>
          <a:xfrm>
            <a:off x="7772400" y="1874520"/>
            <a:ext cx="3870655" cy="384048"/>
          </a:xfrm>
          <a:prstGeom prst="rect">
            <a:avLst/>
          </a:prstGeom>
          <a:noFill/>
          <a:ln/>
        </p:spPr>
        <p:txBody>
          <a:bodyPr wrap="square" lIns="0" tIns="0" rIns="0" bIns="0" rtlCol="0" anchor="ctr"/>
          <a:lstStyle/>
          <a:p>
            <a:pPr indent="0" marL="0">
              <a:buNone/>
            </a:pPr>
            <a:r>
              <a:rPr lang="en-US" sz="1900" b="1" dirty="0">
                <a:solidFill>
                  <a:srgbClr val="3182F6"/>
                </a:solidFill>
                <a:latin typeface="맑은 고딕" pitchFamily="34" charset="0"/>
                <a:ea typeface="맑은 고딕" pitchFamily="34" charset="-122"/>
                <a:cs typeface="맑은 고딕" pitchFamily="34" charset="-120"/>
              </a:rPr>
              <a:t>새로 생긴 문 ③④⑤</a:t>
            </a:r>
            <a:endParaRPr lang="en-US" sz="1900" dirty="0"/>
          </a:p>
        </p:txBody>
      </p:sp>
      <p:sp>
        <p:nvSpPr>
          <p:cNvPr id="19" name="Shape 16"/>
          <p:cNvSpPr/>
          <p:nvPr/>
        </p:nvSpPr>
        <p:spPr>
          <a:xfrm>
            <a:off x="7772400" y="2304288"/>
            <a:ext cx="2342896" cy="347472"/>
          </a:xfrm>
          <a:prstGeom prst="roundRect">
            <a:avLst>
              <a:gd name="adj" fmla="val 50000"/>
            </a:avLst>
          </a:prstGeom>
          <a:solidFill>
            <a:srgbClr val="E8F3FF"/>
          </a:solidFill>
          <a:ln w="12700">
            <a:solidFill>
              <a:srgbClr val="E8F3FF"/>
            </a:solidFill>
            <a:prstDash val="solid"/>
          </a:ln>
        </p:spPr>
      </p:sp>
      <p:sp>
        <p:nvSpPr>
          <p:cNvPr id="20" name="Text 17"/>
          <p:cNvSpPr txBox="1"/>
          <p:nvPr/>
        </p:nvSpPr>
        <p:spPr>
          <a:xfrm>
            <a:off x="7772400" y="2304288"/>
            <a:ext cx="2342896" cy="347472"/>
          </a:xfrm>
          <a:prstGeom prst="rect">
            <a:avLst/>
          </a:prstGeom>
          <a:noFill/>
          <a:ln/>
        </p:spPr>
        <p:txBody>
          <a:bodyPr wrap="square" lIns="0" tIns="0" rIns="0" bIns="0" rtlCol="0" anchor="ctr"/>
          <a:lstStyle/>
          <a:p>
            <a:pPr algn="ctr" indent="0" marL="0">
              <a:buNone/>
            </a:pPr>
            <a:r>
              <a:rPr lang="en-US" sz="1400" b="1" dirty="0">
                <a:solidFill>
                  <a:srgbClr val="3182F6"/>
                </a:solidFill>
                <a:latin typeface="맑은 고딕" pitchFamily="34" charset="0"/>
                <a:ea typeface="맑은 고딕" pitchFamily="34" charset="-122"/>
                <a:cs typeface="맑은 고딕" pitchFamily="34" charset="-120"/>
              </a:rPr>
              <a:t>권한과 상관없이 누구나*</a:t>
            </a:r>
            <a:endParaRPr lang="en-US" sz="1400" dirty="0"/>
          </a:p>
        </p:txBody>
      </p:sp>
      <p:sp>
        <p:nvSpPr>
          <p:cNvPr id="21" name="Text 18"/>
          <p:cNvSpPr txBox="1"/>
          <p:nvPr/>
        </p:nvSpPr>
        <p:spPr>
          <a:xfrm>
            <a:off x="7772400" y="2761488"/>
            <a:ext cx="3870655" cy="347472"/>
          </a:xfrm>
          <a:prstGeom prst="rect">
            <a:avLst/>
          </a:prstGeom>
          <a:noFill/>
          <a:ln/>
        </p:spPr>
        <p:txBody>
          <a:bodyPr wrap="square" lIns="0" tIns="0" rIns="0" bIns="0" rtlCol="0" anchor="ctr"/>
          <a:lstStyle/>
          <a:p>
            <a:pPr indent="0" marL="0">
              <a:buNone/>
            </a:pPr>
            <a:r>
              <a:rPr lang="en-US" sz="1650" b="1" dirty="0">
                <a:solidFill>
                  <a:srgbClr val="191F28"/>
                </a:solidFill>
                <a:latin typeface="맑은 고딕" pitchFamily="34" charset="0"/>
                <a:ea typeface="맑은 고딕" pitchFamily="34" charset="-122"/>
                <a:cs typeface="맑은 고딕" pitchFamily="34" charset="-120"/>
              </a:rPr>
              <a:t>③ 롤링배너</a:t>
            </a:r>
            <a:endParaRPr lang="en-US" sz="1650" dirty="0"/>
          </a:p>
        </p:txBody>
      </p:sp>
      <p:sp>
        <p:nvSpPr>
          <p:cNvPr id="22" name="Text 19"/>
          <p:cNvSpPr txBox="1"/>
          <p:nvPr/>
        </p:nvSpPr>
        <p:spPr>
          <a:xfrm>
            <a:off x="8919591" y="2761488"/>
            <a:ext cx="2723464" cy="347472"/>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[MeAI 홈 바로가기]</a:t>
            </a:r>
            <a:endParaRPr lang="en-US" sz="1400" dirty="0"/>
          </a:p>
        </p:txBody>
      </p:sp>
      <p:sp>
        <p:nvSpPr>
          <p:cNvPr id="23" name="Shape 20"/>
          <p:cNvSpPr/>
          <p:nvPr/>
        </p:nvSpPr>
        <p:spPr>
          <a:xfrm>
            <a:off x="7680960" y="3182112"/>
            <a:ext cx="3962095" cy="1481328"/>
          </a:xfrm>
          <a:prstGeom prst="roundRect">
            <a:avLst>
              <a:gd name="adj" fmla="val 8642"/>
            </a:avLst>
          </a:prstGeom>
          <a:solidFill>
            <a:srgbClr val="E8F3FF"/>
          </a:solidFill>
          <a:ln w="12700">
            <a:solidFill>
              <a:srgbClr val="E8F3FF"/>
            </a:solidFill>
            <a:prstDash val="solid"/>
          </a:ln>
        </p:spPr>
      </p:sp>
      <p:sp>
        <p:nvSpPr>
          <p:cNvPr id="24" name="Text 21"/>
          <p:cNvSpPr txBox="1"/>
          <p:nvPr/>
        </p:nvSpPr>
        <p:spPr>
          <a:xfrm>
            <a:off x="7863840" y="3246120"/>
            <a:ext cx="3687775" cy="347472"/>
          </a:xfrm>
          <a:prstGeom prst="rect">
            <a:avLst/>
          </a:prstGeom>
          <a:noFill/>
          <a:ln/>
        </p:spPr>
        <p:txBody>
          <a:bodyPr wrap="square" lIns="0" tIns="0" rIns="0" bIns="0" rtlCol="0" anchor="ctr"/>
          <a:lstStyle/>
          <a:p>
            <a:pPr indent="0" marL="0">
              <a:buNone/>
            </a:pPr>
            <a:r>
              <a:rPr lang="en-US" sz="1650" b="1" dirty="0">
                <a:solidFill>
                  <a:srgbClr val="3182F6"/>
                </a:solidFill>
                <a:latin typeface="맑은 고딕" pitchFamily="34" charset="0"/>
                <a:ea typeface="맑은 고딕" pitchFamily="34" charset="-122"/>
                <a:cs typeface="맑은 고딕" pitchFamily="34" charset="-120"/>
              </a:rPr>
              <a:t>④ CRM 리스트 · 핵심</a:t>
            </a:r>
            <a:endParaRPr lang="en-US" sz="1650" dirty="0"/>
          </a:p>
        </p:txBody>
      </p:sp>
      <p:sp>
        <p:nvSpPr>
          <p:cNvPr id="25" name="Text 22"/>
          <p:cNvSpPr txBox="1"/>
          <p:nvPr/>
        </p:nvSpPr>
        <p:spPr>
          <a:xfrm>
            <a:off x="7863840" y="3593592"/>
            <a:ext cx="3687775" cy="502920"/>
          </a:xfrm>
          <a:prstGeom prst="rect">
            <a:avLst/>
          </a:prstGeom>
          <a:noFill/>
          <a:ln/>
        </p:spPr>
        <p:txBody>
          <a:bodyPr wrap="square" lIns="0" tIns="0" rIns="0" bIns="0" rtlCol="0" anchor="t"/>
          <a:lstStyle/>
          <a:p>
            <a:pPr indent="0" marL="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고객 목록에</a:t>
            </a:r>
            <a:endParaRPr lang="en-US" sz="1400" dirty="0"/>
          </a:p>
          <a:p>
            <a:pPr indent="0" marL="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[MeAI 일반대화]·[MeAI 맞춤대화]</a:t>
            </a:r>
            <a:endParaRPr lang="en-US" sz="1400" dirty="0"/>
          </a:p>
        </p:txBody>
      </p:sp>
      <p:sp>
        <p:nvSpPr>
          <p:cNvPr id="26" name="Text 23"/>
          <p:cNvSpPr txBox="1"/>
          <p:nvPr/>
        </p:nvSpPr>
        <p:spPr>
          <a:xfrm>
            <a:off x="7863840" y="4114800"/>
            <a:ext cx="3687775" cy="502920"/>
          </a:xfrm>
          <a:prstGeom prst="rect">
            <a:avLst/>
          </a:prstGeom>
          <a:noFill/>
          <a:ln/>
        </p:spPr>
        <p:txBody>
          <a:bodyPr wrap="square" lIns="0" tIns="0" rIns="0" bIns="0" rtlCol="0" anchor="t"/>
          <a:lstStyle/>
          <a:p>
            <a:pPr indent="0" marL="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생일·상령일 목록에서 바로</a:t>
            </a:r>
            <a:endParaRPr lang="en-US" sz="1450" dirty="0"/>
          </a:p>
          <a:p>
            <a:pPr indent="0" marL="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[MeAI 맞춤대화]를 눌러요</a:t>
            </a:r>
            <a:endParaRPr lang="en-US" sz="1450" dirty="0"/>
          </a:p>
        </p:txBody>
      </p:sp>
      <p:sp>
        <p:nvSpPr>
          <p:cNvPr id="27" name="Text 24"/>
          <p:cNvSpPr txBox="1"/>
          <p:nvPr/>
        </p:nvSpPr>
        <p:spPr>
          <a:xfrm>
            <a:off x="7772400" y="4754880"/>
            <a:ext cx="3870655" cy="347472"/>
          </a:xfrm>
          <a:prstGeom prst="rect">
            <a:avLst/>
          </a:prstGeom>
          <a:noFill/>
          <a:ln/>
        </p:spPr>
        <p:txBody>
          <a:bodyPr wrap="square" lIns="0" tIns="0" rIns="0" bIns="0" rtlCol="0" anchor="ctr"/>
          <a:lstStyle/>
          <a:p>
            <a:pPr indent="0" marL="0">
              <a:buNone/>
            </a:pPr>
            <a:r>
              <a:rPr lang="en-US" sz="1650" b="1" dirty="0">
                <a:solidFill>
                  <a:srgbClr val="191F28"/>
                </a:solidFill>
                <a:latin typeface="맑은 고딕" pitchFamily="34" charset="0"/>
                <a:ea typeface="맑은 고딕" pitchFamily="34" charset="-122"/>
                <a:cs typeface="맑은 고딕" pitchFamily="34" charset="-120"/>
              </a:rPr>
              <a:t>⑤ 떠 있는 MeAI 버튼</a:t>
            </a:r>
            <a:endParaRPr lang="en-US" sz="1650" dirty="0"/>
          </a:p>
        </p:txBody>
      </p:sp>
      <p:sp>
        <p:nvSpPr>
          <p:cNvPr id="28" name="Text 25"/>
          <p:cNvSpPr txBox="1"/>
          <p:nvPr/>
        </p:nvSpPr>
        <p:spPr>
          <a:xfrm>
            <a:off x="7772400" y="5193792"/>
            <a:ext cx="3870655" cy="329184"/>
          </a:xfrm>
          <a:prstGeom prst="rect">
            <a:avLst/>
          </a:prstGeom>
          <a:noFill/>
          <a:ln/>
        </p:spPr>
        <p:txBody>
          <a:bodyPr wrap="square" lIns="0" tIns="0" rIns="0" bIns="0" rtlCol="0" anchor="ctr"/>
          <a:lstStyle/>
          <a:p>
            <a:pPr indent="0" marL="0">
              <a:buNone/>
            </a:pPr>
            <a:r>
              <a:rPr lang="en-US" sz="1600" b="1" dirty="0">
                <a:solidFill>
                  <a:srgbClr val="6B7684"/>
                </a:solidFill>
                <a:latin typeface="맑은 고딕" pitchFamily="34" charset="0"/>
                <a:ea typeface="맑은 고딕" pitchFamily="34" charset="-122"/>
                <a:cs typeface="맑은 고딕" pitchFamily="34" charset="-120"/>
              </a:rPr>
              <a:t>원래 있던 문 ①②⑥</a:t>
            </a:r>
            <a:endParaRPr lang="en-US" sz="1600" dirty="0"/>
          </a:p>
        </p:txBody>
      </p:sp>
      <p:sp>
        <p:nvSpPr>
          <p:cNvPr id="29" name="Text 26"/>
          <p:cNvSpPr txBox="1"/>
          <p:nvPr/>
        </p:nvSpPr>
        <p:spPr>
          <a:xfrm>
            <a:off x="7772400" y="5504688"/>
            <a:ext cx="3870655" cy="475488"/>
          </a:xfrm>
          <a:prstGeom prst="rect">
            <a:avLst/>
          </a:prstGeom>
          <a:noFill/>
          <a:ln/>
        </p:spPr>
        <p:txBody>
          <a:bodyPr wrap="square" lIns="0" tIns="0" rIns="0" bIns="0" rtlCol="0" anchor="t"/>
          <a:lstStyle/>
          <a:p>
            <a:pPr indent="0" marL="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①② 왼쪽 위 · ⑥ 오른쪽 메뉴</a:t>
            </a:r>
            <a:endParaRPr lang="en-US" sz="1350" dirty="0"/>
          </a:p>
          <a:p>
            <a:pPr indent="0" marL="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사용권한이 있어야 열려요</a:t>
            </a:r>
            <a:endParaRPr lang="en-US" sz="1350" dirty="0"/>
          </a:p>
        </p:txBody>
      </p:sp>
      <p:sp>
        <p:nvSpPr>
          <p:cNvPr id="30" name="Text 27"/>
          <p:cNvSpPr txBox="1"/>
          <p:nvPr/>
        </p:nvSpPr>
        <p:spPr>
          <a:xfrm>
            <a:off x="548640" y="6144768"/>
            <a:ext cx="11094415"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 적용 시점은 IT 개발 일정에 따라 달라질 수 있어요.  ·  그림·출처: MeAI 활용 가이드북 v4 p.12·13·57 (2026.10) · 그림 속 이름·날짜·숫자는 예시</a:t>
            </a:r>
            <a:endParaRPr lang="en-US" sz="1100" dirty="0"/>
          </a:p>
        </p:txBody>
      </p:sp>
      <p:sp>
        <p:nvSpPr>
          <p:cNvPr id="31" name="Text 2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2" name="Text 2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MeAI 홈 한 화면에 오늘 연락할 고객이 있어요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번호 순서대로 한 번 훑어요</a:t>
            </a:r>
            <a:endParaRPr lang="en-US" sz="1700" dirty="0"/>
          </a:p>
        </p:txBody>
      </p:sp>
      <p:sp>
        <p:nvSpPr>
          <p:cNvPr id="13" name="Shape 11"/>
          <p:cNvSpPr/>
          <p:nvPr/>
        </p:nvSpPr>
        <p:spPr>
          <a:xfrm>
            <a:off x="548640" y="1874520"/>
            <a:ext cx="5658903" cy="4224528"/>
          </a:xfrm>
          <a:prstGeom prst="roundRect">
            <a:avLst>
              <a:gd name="adj" fmla="val 2679"/>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4" name="Image 0" descr="MeAI 화면 캡처">    </p:cNvPr>
          <p:cNvPicPr>
            <a:picLocks noChangeAspect="1"/>
          </p:cNvPicPr>
          <p:nvPr/>
        </p:nvPicPr>
        <p:blipFill>
          <a:blip r:embed="rId1"/>
          <a:stretch>
            <a:fillRect/>
          </a:stretch>
        </p:blipFill>
        <p:spPr>
          <a:xfrm>
            <a:off x="548640" y="1874520"/>
            <a:ext cx="5658903" cy="4224528"/>
          </a:xfrm>
          <a:prstGeom prst="rect">
            <a:avLst/>
          </a:prstGeom>
        </p:spPr>
      </p:pic>
      <p:sp>
        <p:nvSpPr>
          <p:cNvPr id="15" name="Shape 12"/>
          <p:cNvSpPr/>
          <p:nvPr/>
        </p:nvSpPr>
        <p:spPr>
          <a:xfrm>
            <a:off x="583260" y="2144927"/>
            <a:ext cx="402336" cy="402336"/>
          </a:xfrm>
          <a:prstGeom prst="ellipse">
            <a:avLst/>
          </a:prstGeom>
          <a:solidFill>
            <a:srgbClr val="3182F6"/>
          </a:solidFill>
          <a:ln w="19050">
            <a:solidFill>
              <a:srgbClr val="FFFFFF"/>
            </a:solidFill>
            <a:prstDash val="solid"/>
          </a:ln>
        </p:spPr>
      </p:sp>
      <p:sp>
        <p:nvSpPr>
          <p:cNvPr id="16" name="Text 13"/>
          <p:cNvSpPr txBox="1"/>
          <p:nvPr/>
        </p:nvSpPr>
        <p:spPr>
          <a:xfrm>
            <a:off x="583260" y="214492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583260" y="2718677"/>
            <a:ext cx="402336" cy="402336"/>
          </a:xfrm>
          <a:prstGeom prst="ellipse">
            <a:avLst/>
          </a:prstGeom>
          <a:solidFill>
            <a:srgbClr val="3182F6"/>
          </a:solidFill>
          <a:ln w="19050">
            <a:solidFill>
              <a:srgbClr val="FFFFFF"/>
            </a:solidFill>
            <a:prstDash val="solid"/>
          </a:ln>
        </p:spPr>
      </p:sp>
      <p:sp>
        <p:nvSpPr>
          <p:cNvPr id="18" name="Text 15"/>
          <p:cNvSpPr txBox="1"/>
          <p:nvPr/>
        </p:nvSpPr>
        <p:spPr>
          <a:xfrm>
            <a:off x="583260" y="27186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583260" y="3602881"/>
            <a:ext cx="402336" cy="402336"/>
          </a:xfrm>
          <a:prstGeom prst="ellipse">
            <a:avLst/>
          </a:prstGeom>
          <a:solidFill>
            <a:srgbClr val="3182F6"/>
          </a:solidFill>
          <a:ln w="19050">
            <a:solidFill>
              <a:srgbClr val="FFFFFF"/>
            </a:solidFill>
            <a:prstDash val="solid"/>
          </a:ln>
        </p:spPr>
      </p:sp>
      <p:sp>
        <p:nvSpPr>
          <p:cNvPr id="20" name="Text 17"/>
          <p:cNvSpPr txBox="1"/>
          <p:nvPr/>
        </p:nvSpPr>
        <p:spPr>
          <a:xfrm>
            <a:off x="583260" y="360288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583260" y="4035158"/>
            <a:ext cx="402336" cy="402336"/>
          </a:xfrm>
          <a:prstGeom prst="ellipse">
            <a:avLst/>
          </a:prstGeom>
          <a:solidFill>
            <a:srgbClr val="3182F6"/>
          </a:solidFill>
          <a:ln w="19050">
            <a:solidFill>
              <a:srgbClr val="FFFFFF"/>
            </a:solidFill>
            <a:prstDash val="solid"/>
          </a:ln>
        </p:spPr>
      </p:sp>
      <p:sp>
        <p:nvSpPr>
          <p:cNvPr id="22" name="Text 19"/>
          <p:cNvSpPr txBox="1"/>
          <p:nvPr/>
        </p:nvSpPr>
        <p:spPr>
          <a:xfrm>
            <a:off x="583260" y="40351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3805690" y="1877701"/>
            <a:ext cx="402336" cy="402336"/>
          </a:xfrm>
          <a:prstGeom prst="ellipse">
            <a:avLst/>
          </a:prstGeom>
          <a:solidFill>
            <a:srgbClr val="3182F6"/>
          </a:solidFill>
          <a:ln w="19050">
            <a:solidFill>
              <a:srgbClr val="FFFFFF"/>
            </a:solidFill>
            <a:prstDash val="solid"/>
          </a:ln>
        </p:spPr>
      </p:sp>
      <p:sp>
        <p:nvSpPr>
          <p:cNvPr id="24" name="Text 21"/>
          <p:cNvSpPr txBox="1"/>
          <p:nvPr/>
        </p:nvSpPr>
        <p:spPr>
          <a:xfrm>
            <a:off x="3805690" y="187770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4234786" y="1937397"/>
            <a:ext cx="1383287" cy="180771"/>
          </a:xfrm>
          <a:prstGeom prst="roundRect">
            <a:avLst>
              <a:gd name="adj" fmla="val 25292"/>
            </a:avLst>
          </a:prstGeom>
          <a:ln w="22225">
            <a:solidFill>
              <a:srgbClr val="3182F6"/>
            </a:solidFill>
            <a:prstDash val="solid"/>
          </a:ln>
        </p:spPr>
      </p:sp>
      <p:sp>
        <p:nvSpPr>
          <p:cNvPr id="26" name="Shape 23"/>
          <p:cNvSpPr/>
          <p:nvPr/>
        </p:nvSpPr>
        <p:spPr>
          <a:xfrm>
            <a:off x="3240549" y="5973295"/>
            <a:ext cx="275086" cy="94315"/>
          </a:xfrm>
          <a:prstGeom prst="roundRect">
            <a:avLst>
              <a:gd name="adj" fmla="val 48476"/>
            </a:avLst>
          </a:prstGeom>
          <a:ln w="22225">
            <a:solidFill>
              <a:srgbClr val="3182F6"/>
            </a:solidFill>
            <a:prstDash val="solid"/>
          </a:ln>
        </p:spPr>
      </p:sp>
      <p:sp>
        <p:nvSpPr>
          <p:cNvPr id="27" name="Shape 24"/>
          <p:cNvSpPr/>
          <p:nvPr/>
        </p:nvSpPr>
        <p:spPr>
          <a:xfrm>
            <a:off x="4588468" y="2440410"/>
            <a:ext cx="1021746" cy="141473"/>
          </a:xfrm>
          <a:prstGeom prst="roundRect">
            <a:avLst>
              <a:gd name="adj" fmla="val 32317"/>
            </a:avLst>
          </a:prstGeom>
          <a:ln w="22225">
            <a:solidFill>
              <a:srgbClr val="3182F6"/>
            </a:solidFill>
            <a:prstDash val="solid"/>
          </a:ln>
        </p:spPr>
      </p:sp>
      <p:sp>
        <p:nvSpPr>
          <p:cNvPr id="28" name="Shape 25"/>
          <p:cNvSpPr/>
          <p:nvPr/>
        </p:nvSpPr>
        <p:spPr>
          <a:xfrm>
            <a:off x="6355080" y="1892808"/>
            <a:ext cx="420624" cy="420624"/>
          </a:xfrm>
          <a:prstGeom prst="ellipse">
            <a:avLst/>
          </a:prstGeom>
          <a:solidFill>
            <a:srgbClr val="3182F6"/>
          </a:solidFill>
          <a:ln w="19050">
            <a:solidFill>
              <a:srgbClr val="FFFFFF"/>
            </a:solidFill>
            <a:prstDash val="solid"/>
          </a:ln>
        </p:spPr>
      </p:sp>
      <p:sp>
        <p:nvSpPr>
          <p:cNvPr id="29" name="Text 26"/>
          <p:cNvSpPr txBox="1"/>
          <p:nvPr/>
        </p:nvSpPr>
        <p:spPr>
          <a:xfrm>
            <a:off x="6355080" y="18928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0" name="Text 27"/>
          <p:cNvSpPr txBox="1"/>
          <p:nvPr/>
        </p:nvSpPr>
        <p:spPr>
          <a:xfrm>
            <a:off x="6922008" y="1874520"/>
            <a:ext cx="47210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인사 · 최근 업데이트</a:t>
            </a:r>
            <a:endParaRPr lang="en-US" sz="1900" dirty="0"/>
          </a:p>
        </p:txBody>
      </p:sp>
      <p:sp>
        <p:nvSpPr>
          <p:cNvPr id="31" name="Text 28"/>
          <p:cNvSpPr txBox="1"/>
          <p:nvPr/>
        </p:nvSpPr>
        <p:spPr>
          <a:xfrm>
            <a:off x="6922008" y="2295144"/>
            <a:ext cx="4721047" cy="310896"/>
          </a:xfrm>
          <a:prstGeom prst="rect">
            <a:avLst/>
          </a:prstGeom>
          <a:noFill/>
          <a:ln/>
        </p:spPr>
        <p:txBody>
          <a:bodyPr wrap="square" lIns="0" tIns="0" rIns="0" bIns="0" rtlCol="0" anchor="t"/>
          <a:lstStyle/>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시각 = 데이터 기준 · 다음 날 반영</a:t>
            </a:r>
            <a:endParaRPr lang="en-US" sz="1450" dirty="0"/>
          </a:p>
        </p:txBody>
      </p:sp>
      <p:sp>
        <p:nvSpPr>
          <p:cNvPr id="32" name="Shape 29"/>
          <p:cNvSpPr/>
          <p:nvPr/>
        </p:nvSpPr>
        <p:spPr>
          <a:xfrm>
            <a:off x="6355080" y="2624328"/>
            <a:ext cx="420624" cy="420624"/>
          </a:xfrm>
          <a:prstGeom prst="ellipse">
            <a:avLst/>
          </a:prstGeom>
          <a:solidFill>
            <a:srgbClr val="3182F6"/>
          </a:solidFill>
          <a:ln w="19050">
            <a:solidFill>
              <a:srgbClr val="FFFFFF"/>
            </a:solidFill>
            <a:prstDash val="solid"/>
          </a:ln>
        </p:spPr>
      </p:sp>
      <p:sp>
        <p:nvSpPr>
          <p:cNvPr id="33" name="Text 30"/>
          <p:cNvSpPr txBox="1"/>
          <p:nvPr/>
        </p:nvSpPr>
        <p:spPr>
          <a:xfrm>
            <a:off x="6355080" y="26243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4" name="Text 31"/>
          <p:cNvSpPr txBox="1"/>
          <p:nvPr/>
        </p:nvSpPr>
        <p:spPr>
          <a:xfrm>
            <a:off x="6922008" y="2606040"/>
            <a:ext cx="47210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대화 카드 두 장</a:t>
            </a:r>
            <a:endParaRPr lang="en-US" sz="1900" dirty="0"/>
          </a:p>
        </p:txBody>
      </p:sp>
      <p:sp>
        <p:nvSpPr>
          <p:cNvPr id="35" name="Text 32"/>
          <p:cNvSpPr txBox="1"/>
          <p:nvPr/>
        </p:nvSpPr>
        <p:spPr>
          <a:xfrm>
            <a:off x="6922008" y="3026664"/>
            <a:ext cx="4721047" cy="530352"/>
          </a:xfrm>
          <a:prstGeom prst="rect">
            <a:avLst/>
          </a:prstGeom>
          <a:noFill/>
          <a:ln/>
        </p:spPr>
        <p:txBody>
          <a:bodyPr wrap="square" lIns="0" tIns="0" rIns="0" bIns="0" rtlCol="0" anchor="t"/>
          <a:lstStyle/>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일반대화 무엇이든 · 맞춤대화 고객 한 명</a:t>
            </a:r>
            <a:endParaRPr lang="en-US" sz="1450" dirty="0"/>
          </a:p>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[맞춤대화] → 고객 검색 창이 떠요</a:t>
            </a:r>
            <a:endParaRPr lang="en-US" sz="1450" dirty="0"/>
          </a:p>
        </p:txBody>
      </p:sp>
      <p:sp>
        <p:nvSpPr>
          <p:cNvPr id="36" name="Shape 33"/>
          <p:cNvSpPr/>
          <p:nvPr/>
        </p:nvSpPr>
        <p:spPr>
          <a:xfrm>
            <a:off x="6355080" y="3584448"/>
            <a:ext cx="420624" cy="420624"/>
          </a:xfrm>
          <a:prstGeom prst="ellipse">
            <a:avLst/>
          </a:prstGeom>
          <a:solidFill>
            <a:srgbClr val="3182F6"/>
          </a:solidFill>
          <a:ln w="19050">
            <a:solidFill>
              <a:srgbClr val="FFFFFF"/>
            </a:solidFill>
            <a:prstDash val="solid"/>
          </a:ln>
        </p:spPr>
      </p:sp>
      <p:sp>
        <p:nvSpPr>
          <p:cNvPr id="37" name="Text 34"/>
          <p:cNvSpPr txBox="1"/>
          <p:nvPr/>
        </p:nvSpPr>
        <p:spPr>
          <a:xfrm>
            <a:off x="6355080" y="35844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8" name="Text 35"/>
          <p:cNvSpPr txBox="1"/>
          <p:nvPr/>
        </p:nvSpPr>
        <p:spPr>
          <a:xfrm>
            <a:off x="6922008" y="3566160"/>
            <a:ext cx="47210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내 고객 숫자 4개</a:t>
            </a:r>
            <a:endParaRPr lang="en-US" sz="1900" dirty="0"/>
          </a:p>
        </p:txBody>
      </p:sp>
      <p:sp>
        <p:nvSpPr>
          <p:cNvPr id="39" name="Text 36"/>
          <p:cNvSpPr txBox="1"/>
          <p:nvPr/>
        </p:nvSpPr>
        <p:spPr>
          <a:xfrm>
            <a:off x="6922008" y="3986784"/>
            <a:ext cx="4721047" cy="310896"/>
          </a:xfrm>
          <a:prstGeom prst="rect">
            <a:avLst/>
          </a:prstGeom>
          <a:noFill/>
          <a:ln/>
        </p:spPr>
        <p:txBody>
          <a:bodyPr wrap="square" lIns="0" tIns="0" rIns="0" bIns="0" rtlCol="0" anchor="t"/>
          <a:lstStyle/>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'사전조회 동의 필요'가 늘었나 봐요</a:t>
            </a:r>
            <a:endParaRPr lang="en-US" sz="1450" dirty="0"/>
          </a:p>
        </p:txBody>
      </p:sp>
      <p:sp>
        <p:nvSpPr>
          <p:cNvPr id="40" name="Shape 37"/>
          <p:cNvSpPr/>
          <p:nvPr/>
        </p:nvSpPr>
        <p:spPr>
          <a:xfrm>
            <a:off x="6355080" y="4315968"/>
            <a:ext cx="420624" cy="420624"/>
          </a:xfrm>
          <a:prstGeom prst="ellipse">
            <a:avLst/>
          </a:prstGeom>
          <a:solidFill>
            <a:srgbClr val="3182F6"/>
          </a:solidFill>
          <a:ln w="19050">
            <a:solidFill>
              <a:srgbClr val="FFFFFF"/>
            </a:solidFill>
            <a:prstDash val="solid"/>
          </a:ln>
        </p:spPr>
      </p:sp>
      <p:sp>
        <p:nvSpPr>
          <p:cNvPr id="41" name="Text 38"/>
          <p:cNvSpPr txBox="1"/>
          <p:nvPr/>
        </p:nvSpPr>
        <p:spPr>
          <a:xfrm>
            <a:off x="6355080" y="43159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2" name="Text 39"/>
          <p:cNvSpPr txBox="1"/>
          <p:nvPr/>
        </p:nvSpPr>
        <p:spPr>
          <a:xfrm>
            <a:off x="6922008" y="4297680"/>
            <a:ext cx="47210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오늘의 추천 고객</a:t>
            </a:r>
            <a:endParaRPr lang="en-US" sz="1900" dirty="0"/>
          </a:p>
        </p:txBody>
      </p:sp>
      <p:sp>
        <p:nvSpPr>
          <p:cNvPr id="43" name="Text 40"/>
          <p:cNvSpPr txBox="1"/>
          <p:nvPr/>
        </p:nvSpPr>
        <p:spPr>
          <a:xfrm>
            <a:off x="6922008" y="4718304"/>
            <a:ext cx="4721047" cy="530352"/>
          </a:xfrm>
          <a:prstGeom prst="rect">
            <a:avLst/>
          </a:prstGeom>
          <a:noFill/>
          <a:ln/>
        </p:spPr>
        <p:txBody>
          <a:bodyPr wrap="square" lIns="0" tIns="0" rIns="0" bIns="0" rtlCol="0" anchor="t"/>
          <a:lstStyle/>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이유 붙은 카드 3장 · 화살표로 넘겨요</a:t>
            </a:r>
            <a:endParaRPr lang="en-US" sz="1450" dirty="0"/>
          </a:p>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지금 화면은 세트 3이에요</a:t>
            </a:r>
            <a:endParaRPr lang="en-US" sz="1450" dirty="0"/>
          </a:p>
        </p:txBody>
      </p:sp>
      <p:sp>
        <p:nvSpPr>
          <p:cNvPr id="44" name="Shape 41"/>
          <p:cNvSpPr/>
          <p:nvPr/>
        </p:nvSpPr>
        <p:spPr>
          <a:xfrm>
            <a:off x="6355080" y="5276088"/>
            <a:ext cx="420624" cy="420624"/>
          </a:xfrm>
          <a:prstGeom prst="ellipse">
            <a:avLst/>
          </a:prstGeom>
          <a:solidFill>
            <a:srgbClr val="3182F6"/>
          </a:solidFill>
          <a:ln w="19050">
            <a:solidFill>
              <a:srgbClr val="FFFFFF"/>
            </a:solidFill>
            <a:prstDash val="solid"/>
          </a:ln>
        </p:spPr>
      </p:sp>
      <p:sp>
        <p:nvSpPr>
          <p:cNvPr id="45" name="Text 42"/>
          <p:cNvSpPr txBox="1"/>
          <p:nvPr/>
        </p:nvSpPr>
        <p:spPr>
          <a:xfrm>
            <a:off x="6355080" y="52760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6" name="Text 43"/>
          <p:cNvSpPr txBox="1"/>
          <p:nvPr/>
        </p:nvSpPr>
        <p:spPr>
          <a:xfrm>
            <a:off x="6922008" y="5257800"/>
            <a:ext cx="47210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오른쪽 위 버튼</a:t>
            </a:r>
            <a:endParaRPr lang="en-US" sz="1900" dirty="0"/>
          </a:p>
        </p:txBody>
      </p:sp>
      <p:sp>
        <p:nvSpPr>
          <p:cNvPr id="47" name="Text 44"/>
          <p:cNvSpPr txBox="1"/>
          <p:nvPr/>
        </p:nvSpPr>
        <p:spPr>
          <a:xfrm>
            <a:off x="6922008" y="5678424"/>
            <a:ext cx="4721047" cy="530352"/>
          </a:xfrm>
          <a:prstGeom prst="rect">
            <a:avLst/>
          </a:prstGeom>
          <a:noFill/>
          <a:ln/>
        </p:spPr>
        <p:txBody>
          <a:bodyPr wrap="square" lIns="0" tIns="0" rIns="0" bIns="0" rtlCol="0" anchor="t"/>
          <a:lstStyle/>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[고객 동의] 동의 요청 알림톡</a:t>
            </a:r>
            <a:endParaRPr lang="en-US" sz="1450" dirty="0"/>
          </a:p>
          <a:p>
            <a:pPr indent="0" marL="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[게시판] 빨간 점이면 새 글</a:t>
            </a:r>
            <a:endParaRPr lang="en-US" sz="1450" dirty="0"/>
          </a:p>
        </p:txBody>
      </p:sp>
      <p:sp>
        <p:nvSpPr>
          <p:cNvPr id="48" name="Text 45"/>
          <p:cNvSpPr txBox="1"/>
          <p:nvPr/>
        </p:nvSpPr>
        <p:spPr>
          <a:xfrm>
            <a:off x="548640" y="6117336"/>
            <a:ext cx="5669280" cy="274320"/>
          </a:xfrm>
          <a:prstGeom prst="rect">
            <a:avLst/>
          </a:prstGeom>
          <a:noFill/>
          <a:ln/>
        </p:spPr>
        <p:txBody>
          <a:bodyPr wrap="square" lIns="0" tIns="0" rIns="0" bIns="0" rtlCol="0" anchor="ctr"/>
          <a:lstStyle/>
          <a:p>
            <a:pPr algn="l" indent="0" marL="0">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a:t>
            </a:r>
            <a:endParaRPr lang="en-US" sz="120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카드 한 문장이 고객에게 건네는 첫 말이에요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누구 · 왜 · 언제 · 다음이 카드 한 장에 다 있어요</a:t>
            </a:r>
            <a:endParaRPr lang="en-US" sz="1700" dirty="0"/>
          </a:p>
        </p:txBody>
      </p:sp>
      <p:sp>
        <p:nvSpPr>
          <p:cNvPr id="13" name="Shape 11"/>
          <p:cNvSpPr/>
          <p:nvPr/>
        </p:nvSpPr>
        <p:spPr>
          <a:xfrm>
            <a:off x="960120" y="1920240"/>
            <a:ext cx="2745883" cy="3154680"/>
          </a:xfrm>
          <a:prstGeom prst="roundRect">
            <a:avLst>
              <a:gd name="adj" fmla="val 2000"/>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4" name="Image 0" descr="MeAI 화면 캡처">    </p:cNvPr>
          <p:cNvPicPr>
            <a:picLocks noChangeAspect="1"/>
          </p:cNvPicPr>
          <p:nvPr/>
        </p:nvPicPr>
        <p:blipFill>
          <a:blip r:embed="rId1"/>
          <a:stretch>
            <a:fillRect/>
          </a:stretch>
        </p:blipFill>
        <p:spPr>
          <a:xfrm>
            <a:off x="960120" y="1920240"/>
            <a:ext cx="2745883" cy="3154680"/>
          </a:xfrm>
          <a:prstGeom prst="rect">
            <a:avLst/>
          </a:prstGeom>
        </p:spPr>
      </p:pic>
      <p:sp>
        <p:nvSpPr>
          <p:cNvPr id="15" name="Shape 12"/>
          <p:cNvSpPr/>
          <p:nvPr/>
        </p:nvSpPr>
        <p:spPr>
          <a:xfrm>
            <a:off x="521208" y="2084375"/>
            <a:ext cx="365760" cy="365760"/>
          </a:xfrm>
          <a:prstGeom prst="ellipse">
            <a:avLst/>
          </a:prstGeom>
          <a:solidFill>
            <a:srgbClr val="3182F6"/>
          </a:solidFill>
          <a:ln w="19050">
            <a:solidFill>
              <a:srgbClr val="FFFFFF"/>
            </a:solidFill>
            <a:prstDash val="solid"/>
          </a:ln>
        </p:spPr>
      </p:sp>
      <p:sp>
        <p:nvSpPr>
          <p:cNvPr id="16" name="Text 13"/>
          <p:cNvSpPr txBox="1"/>
          <p:nvPr/>
        </p:nvSpPr>
        <p:spPr>
          <a:xfrm>
            <a:off x="521208" y="2084375"/>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17" name="Shape 14"/>
          <p:cNvSpPr/>
          <p:nvPr/>
        </p:nvSpPr>
        <p:spPr>
          <a:xfrm>
            <a:off x="521208" y="2494483"/>
            <a:ext cx="365760" cy="365760"/>
          </a:xfrm>
          <a:prstGeom prst="ellipse">
            <a:avLst/>
          </a:prstGeom>
          <a:solidFill>
            <a:srgbClr val="3182F6"/>
          </a:solidFill>
          <a:ln w="19050">
            <a:solidFill>
              <a:srgbClr val="FFFFFF"/>
            </a:solidFill>
            <a:prstDash val="solid"/>
          </a:ln>
        </p:spPr>
      </p:sp>
      <p:sp>
        <p:nvSpPr>
          <p:cNvPr id="18" name="Text 15"/>
          <p:cNvSpPr txBox="1"/>
          <p:nvPr/>
        </p:nvSpPr>
        <p:spPr>
          <a:xfrm>
            <a:off x="521208" y="2494483"/>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9" name="Shape 16"/>
          <p:cNvSpPr/>
          <p:nvPr/>
        </p:nvSpPr>
        <p:spPr>
          <a:xfrm>
            <a:off x="521208" y="3756355"/>
            <a:ext cx="365760" cy="365760"/>
          </a:xfrm>
          <a:prstGeom prst="ellipse">
            <a:avLst/>
          </a:prstGeom>
          <a:solidFill>
            <a:srgbClr val="3182F6"/>
          </a:solidFill>
          <a:ln w="19050">
            <a:solidFill>
              <a:srgbClr val="FFFFFF"/>
            </a:solidFill>
            <a:prstDash val="solid"/>
          </a:ln>
        </p:spPr>
      </p:sp>
      <p:sp>
        <p:nvSpPr>
          <p:cNvPr id="20" name="Text 17"/>
          <p:cNvSpPr txBox="1"/>
          <p:nvPr/>
        </p:nvSpPr>
        <p:spPr>
          <a:xfrm>
            <a:off x="521208" y="3756355"/>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21" name="Shape 18"/>
          <p:cNvSpPr/>
          <p:nvPr/>
        </p:nvSpPr>
        <p:spPr>
          <a:xfrm>
            <a:off x="521208" y="4024503"/>
            <a:ext cx="365760" cy="365760"/>
          </a:xfrm>
          <a:prstGeom prst="ellipse">
            <a:avLst/>
          </a:prstGeom>
          <a:solidFill>
            <a:srgbClr val="3182F6"/>
          </a:solidFill>
          <a:ln w="19050">
            <a:solidFill>
              <a:srgbClr val="FFFFFF"/>
            </a:solidFill>
            <a:prstDash val="solid"/>
          </a:ln>
        </p:spPr>
      </p:sp>
      <p:sp>
        <p:nvSpPr>
          <p:cNvPr id="22" name="Text 19"/>
          <p:cNvSpPr txBox="1"/>
          <p:nvPr/>
        </p:nvSpPr>
        <p:spPr>
          <a:xfrm>
            <a:off x="521208" y="4024503"/>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23" name="Shape 20"/>
          <p:cNvSpPr/>
          <p:nvPr/>
        </p:nvSpPr>
        <p:spPr>
          <a:xfrm>
            <a:off x="521208" y="4545025"/>
            <a:ext cx="365760" cy="365760"/>
          </a:xfrm>
          <a:prstGeom prst="ellipse">
            <a:avLst/>
          </a:prstGeom>
          <a:solidFill>
            <a:srgbClr val="3182F6"/>
          </a:solidFill>
          <a:ln w="19050">
            <a:solidFill>
              <a:srgbClr val="FFFFFF"/>
            </a:solidFill>
            <a:prstDash val="solid"/>
          </a:ln>
        </p:spPr>
      </p:sp>
      <p:sp>
        <p:nvSpPr>
          <p:cNvPr id="24" name="Text 21"/>
          <p:cNvSpPr txBox="1"/>
          <p:nvPr/>
        </p:nvSpPr>
        <p:spPr>
          <a:xfrm>
            <a:off x="521208" y="4545025"/>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5</a:t>
            </a:r>
            <a:endParaRPr lang="en-US" sz="1400" dirty="0"/>
          </a:p>
        </p:txBody>
      </p:sp>
      <p:sp>
        <p:nvSpPr>
          <p:cNvPr id="25" name="Shape 22"/>
          <p:cNvSpPr/>
          <p:nvPr/>
        </p:nvSpPr>
        <p:spPr>
          <a:xfrm>
            <a:off x="1179791" y="2519629"/>
            <a:ext cx="2334000" cy="362788"/>
          </a:xfrm>
          <a:prstGeom prst="roundRect">
            <a:avLst>
              <a:gd name="adj" fmla="val 10082"/>
            </a:avLst>
          </a:prstGeom>
          <a:ln w="22225">
            <a:solidFill>
              <a:srgbClr val="3182F6"/>
            </a:solidFill>
            <a:prstDash val="solid"/>
          </a:ln>
        </p:spPr>
      </p:sp>
      <p:sp>
        <p:nvSpPr>
          <p:cNvPr id="26" name="Shape 23"/>
          <p:cNvSpPr/>
          <p:nvPr/>
        </p:nvSpPr>
        <p:spPr>
          <a:xfrm>
            <a:off x="1124873" y="4112743"/>
            <a:ext cx="878683" cy="189281"/>
          </a:xfrm>
          <a:prstGeom prst="roundRect">
            <a:avLst>
              <a:gd name="adj" fmla="val 19324"/>
            </a:avLst>
          </a:prstGeom>
          <a:ln w="22225">
            <a:solidFill>
              <a:srgbClr val="3182F6"/>
            </a:solidFill>
            <a:prstDash val="solid"/>
          </a:ln>
        </p:spPr>
      </p:sp>
      <p:sp>
        <p:nvSpPr>
          <p:cNvPr id="27" name="Shape 24"/>
          <p:cNvSpPr/>
          <p:nvPr/>
        </p:nvSpPr>
        <p:spPr>
          <a:xfrm>
            <a:off x="4343400" y="1938528"/>
            <a:ext cx="420624" cy="420624"/>
          </a:xfrm>
          <a:prstGeom prst="ellipse">
            <a:avLst/>
          </a:prstGeom>
          <a:solidFill>
            <a:srgbClr val="3182F6"/>
          </a:solidFill>
          <a:ln w="19050">
            <a:solidFill>
              <a:srgbClr val="FFFFFF"/>
            </a:solidFill>
            <a:prstDash val="solid"/>
          </a:ln>
        </p:spPr>
      </p:sp>
      <p:sp>
        <p:nvSpPr>
          <p:cNvPr id="28" name="Text 25"/>
          <p:cNvSpPr txBox="1"/>
          <p:nvPr/>
        </p:nvSpPr>
        <p:spPr>
          <a:xfrm>
            <a:off x="4343400" y="1938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9" name="Text 26"/>
          <p:cNvSpPr txBox="1"/>
          <p:nvPr/>
        </p:nvSpPr>
        <p:spPr>
          <a:xfrm>
            <a:off x="4910328" y="1920240"/>
            <a:ext cx="318211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누구에게</a:t>
            </a:r>
            <a:endParaRPr lang="en-US" sz="1800" dirty="0"/>
          </a:p>
        </p:txBody>
      </p:sp>
      <p:sp>
        <p:nvSpPr>
          <p:cNvPr id="30" name="Text 27"/>
          <p:cNvSpPr txBox="1"/>
          <p:nvPr/>
        </p:nvSpPr>
        <p:spPr>
          <a:xfrm>
            <a:off x="4910328" y="2340864"/>
            <a:ext cx="3182112" cy="548640"/>
          </a:xfrm>
          <a:prstGeom prst="rect">
            <a:avLst/>
          </a:prstGeom>
          <a:noFill/>
          <a:ln/>
        </p:spPr>
        <p:txBody>
          <a:bodyPr wrap="square" lIns="0" tIns="0" rIns="0" bIns="0" rtlCol="0" anchor="t"/>
          <a:lstStyle/>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이름 · 나이 · 보유/가망/이관</a:t>
            </a:r>
            <a:endParaRPr lang="en-US" sz="1400" dirty="0"/>
          </a:p>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'AI 추천 고객' = 상품 제안 가능</a:t>
            </a:r>
            <a:endParaRPr lang="en-US" sz="1400" dirty="0"/>
          </a:p>
        </p:txBody>
      </p:sp>
      <p:sp>
        <p:nvSpPr>
          <p:cNvPr id="31" name="Shape 28"/>
          <p:cNvSpPr/>
          <p:nvPr/>
        </p:nvSpPr>
        <p:spPr>
          <a:xfrm>
            <a:off x="4343400" y="3035808"/>
            <a:ext cx="420624" cy="420624"/>
          </a:xfrm>
          <a:prstGeom prst="ellipse">
            <a:avLst/>
          </a:prstGeom>
          <a:solidFill>
            <a:srgbClr val="3182F6"/>
          </a:solidFill>
          <a:ln w="19050">
            <a:solidFill>
              <a:srgbClr val="FFFFFF"/>
            </a:solidFill>
            <a:prstDash val="solid"/>
          </a:ln>
        </p:spPr>
      </p:sp>
      <p:sp>
        <p:nvSpPr>
          <p:cNvPr id="32" name="Text 29"/>
          <p:cNvSpPr txBox="1"/>
          <p:nvPr/>
        </p:nvSpPr>
        <p:spPr>
          <a:xfrm>
            <a:off x="4343400" y="30358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3" name="Text 30"/>
          <p:cNvSpPr txBox="1"/>
          <p:nvPr/>
        </p:nvSpPr>
        <p:spPr>
          <a:xfrm>
            <a:off x="4910328" y="3017520"/>
            <a:ext cx="318211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왜 지금</a:t>
            </a:r>
            <a:endParaRPr lang="en-US" sz="1800" dirty="0"/>
          </a:p>
        </p:txBody>
      </p:sp>
      <p:sp>
        <p:nvSpPr>
          <p:cNvPr id="34" name="Text 31"/>
          <p:cNvSpPr txBox="1"/>
          <p:nvPr/>
        </p:nvSpPr>
        <p:spPr>
          <a:xfrm>
            <a:off x="4910328" y="3438144"/>
            <a:ext cx="3182112" cy="548640"/>
          </a:xfrm>
          <a:prstGeom prst="rect">
            <a:avLst/>
          </a:prstGeom>
          <a:noFill/>
          <a:ln/>
        </p:spPr>
        <p:txBody>
          <a:bodyPr wrap="square" lIns="0" tIns="0" rIns="0" bIns="0" rtlCol="0" anchor="t"/>
          <a:lstStyle/>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굵은 한 문장이 연락할 이유예요</a:t>
            </a:r>
            <a:endParaRPr lang="en-US" sz="1400" dirty="0"/>
          </a:p>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아래 설명이 상담 방향이에요</a:t>
            </a:r>
            <a:endParaRPr lang="en-US" sz="1400" dirty="0"/>
          </a:p>
        </p:txBody>
      </p:sp>
      <p:sp>
        <p:nvSpPr>
          <p:cNvPr id="35" name="Shape 32"/>
          <p:cNvSpPr/>
          <p:nvPr/>
        </p:nvSpPr>
        <p:spPr>
          <a:xfrm>
            <a:off x="4343400" y="4133088"/>
            <a:ext cx="420624" cy="420624"/>
          </a:xfrm>
          <a:prstGeom prst="ellipse">
            <a:avLst/>
          </a:prstGeom>
          <a:solidFill>
            <a:srgbClr val="3182F6"/>
          </a:solidFill>
          <a:ln w="19050">
            <a:solidFill>
              <a:srgbClr val="FFFFFF"/>
            </a:solidFill>
            <a:prstDash val="solid"/>
          </a:ln>
        </p:spPr>
      </p:sp>
      <p:sp>
        <p:nvSpPr>
          <p:cNvPr id="36" name="Text 33"/>
          <p:cNvSpPr txBox="1"/>
          <p:nvPr/>
        </p:nvSpPr>
        <p:spPr>
          <a:xfrm>
            <a:off x="4343400" y="41330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7" name="Text 34"/>
          <p:cNvSpPr txBox="1"/>
          <p:nvPr/>
        </p:nvSpPr>
        <p:spPr>
          <a:xfrm>
            <a:off x="4910328" y="4114800"/>
            <a:ext cx="318211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태그 세 가지</a:t>
            </a:r>
            <a:endParaRPr lang="en-US" sz="1800" dirty="0"/>
          </a:p>
        </p:txBody>
      </p:sp>
      <p:sp>
        <p:nvSpPr>
          <p:cNvPr id="38" name="Shape 35"/>
          <p:cNvSpPr/>
          <p:nvPr/>
        </p:nvSpPr>
        <p:spPr>
          <a:xfrm>
            <a:off x="4434840" y="4553712"/>
            <a:ext cx="1215771" cy="292608"/>
          </a:xfrm>
          <a:prstGeom prst="roundRect">
            <a:avLst>
              <a:gd name="adj" fmla="val 50000"/>
            </a:avLst>
          </a:prstGeom>
          <a:solidFill>
            <a:srgbClr val="E8F3FF"/>
          </a:solidFill>
          <a:ln w="12700">
            <a:solidFill>
              <a:srgbClr val="E8F3FF"/>
            </a:solidFill>
            <a:prstDash val="solid"/>
          </a:ln>
        </p:spPr>
      </p:sp>
      <p:sp>
        <p:nvSpPr>
          <p:cNvPr id="39" name="Text 36"/>
          <p:cNvSpPr txBox="1"/>
          <p:nvPr/>
        </p:nvSpPr>
        <p:spPr>
          <a:xfrm>
            <a:off x="4434840" y="4553712"/>
            <a:ext cx="1215771" cy="292608"/>
          </a:xfrm>
          <a:prstGeom prst="rect">
            <a:avLst/>
          </a:prstGeom>
          <a:noFill/>
          <a:ln/>
        </p:spPr>
        <p:txBody>
          <a:bodyPr wrap="square" lIns="0" tIns="0" rIns="0" bIns="0" rtlCol="0" anchor="ctr"/>
          <a:lstStyle/>
          <a:p>
            <a:pPr algn="ctr" indent="0" marL="0">
              <a:buNone/>
            </a:pPr>
            <a:r>
              <a:rPr lang="en-US" sz="1150" b="1" dirty="0">
                <a:solidFill>
                  <a:srgbClr val="3182F6"/>
                </a:solidFill>
                <a:latin typeface="맑은 고딕" pitchFamily="34" charset="0"/>
                <a:ea typeface="맑은 고딕" pitchFamily="34" charset="-122"/>
                <a:cs typeface="맑은 고딕" pitchFamily="34" charset="-120"/>
              </a:rPr>
              <a:t>#이벤트 임박</a:t>
            </a:r>
            <a:endParaRPr lang="en-US" sz="1150" dirty="0"/>
          </a:p>
        </p:txBody>
      </p:sp>
      <p:sp>
        <p:nvSpPr>
          <p:cNvPr id="40" name="Shape 37"/>
          <p:cNvSpPr/>
          <p:nvPr/>
        </p:nvSpPr>
        <p:spPr>
          <a:xfrm>
            <a:off x="5723763" y="4553712"/>
            <a:ext cx="1069721" cy="292608"/>
          </a:xfrm>
          <a:prstGeom prst="roundRect">
            <a:avLst>
              <a:gd name="adj" fmla="val 50000"/>
            </a:avLst>
          </a:prstGeom>
          <a:solidFill>
            <a:srgbClr val="FFF0F0"/>
          </a:solidFill>
          <a:ln w="12700">
            <a:solidFill>
              <a:srgbClr val="FFF0F0"/>
            </a:solidFill>
            <a:prstDash val="solid"/>
          </a:ln>
        </p:spPr>
      </p:sp>
      <p:sp>
        <p:nvSpPr>
          <p:cNvPr id="41" name="Text 38"/>
          <p:cNvSpPr txBox="1"/>
          <p:nvPr/>
        </p:nvSpPr>
        <p:spPr>
          <a:xfrm>
            <a:off x="5723763" y="4553712"/>
            <a:ext cx="1069721" cy="292608"/>
          </a:xfrm>
          <a:prstGeom prst="rect">
            <a:avLst/>
          </a:prstGeom>
          <a:noFill/>
          <a:ln/>
        </p:spPr>
        <p:txBody>
          <a:bodyPr wrap="square" lIns="0" tIns="0" rIns="0" bIns="0" rtlCol="0" anchor="ctr"/>
          <a:lstStyle/>
          <a:p>
            <a:pPr algn="ctr" indent="0" marL="0">
              <a:buNone/>
            </a:pPr>
            <a:r>
              <a:rPr lang="en-US" sz="1150" b="1" dirty="0">
                <a:solidFill>
                  <a:srgbClr val="F04452"/>
                </a:solidFill>
                <a:latin typeface="맑은 고딕" pitchFamily="34" charset="0"/>
                <a:ea typeface="맑은 고딕" pitchFamily="34" charset="-122"/>
                <a:cs typeface="맑은 고딕" pitchFamily="34" charset="-120"/>
              </a:rPr>
              <a:t>#보장 공백</a:t>
            </a:r>
            <a:endParaRPr lang="en-US" sz="1150" dirty="0"/>
          </a:p>
        </p:txBody>
      </p:sp>
      <p:sp>
        <p:nvSpPr>
          <p:cNvPr id="42" name="Shape 39"/>
          <p:cNvSpPr/>
          <p:nvPr/>
        </p:nvSpPr>
        <p:spPr>
          <a:xfrm>
            <a:off x="6866636" y="4553712"/>
            <a:ext cx="1069721" cy="292608"/>
          </a:xfrm>
          <a:prstGeom prst="roundRect">
            <a:avLst>
              <a:gd name="adj" fmla="val 50000"/>
            </a:avLst>
          </a:prstGeom>
          <a:solidFill>
            <a:srgbClr val="F0EDFF"/>
          </a:solidFill>
          <a:ln w="12700">
            <a:solidFill>
              <a:srgbClr val="F0EDFF"/>
            </a:solidFill>
            <a:prstDash val="solid"/>
          </a:ln>
        </p:spPr>
      </p:sp>
      <p:sp>
        <p:nvSpPr>
          <p:cNvPr id="43" name="Text 40"/>
          <p:cNvSpPr txBox="1"/>
          <p:nvPr/>
        </p:nvSpPr>
        <p:spPr>
          <a:xfrm>
            <a:off x="6866636" y="4553712"/>
            <a:ext cx="1069721" cy="292608"/>
          </a:xfrm>
          <a:prstGeom prst="rect">
            <a:avLst/>
          </a:prstGeom>
          <a:noFill/>
          <a:ln/>
        </p:spPr>
        <p:txBody>
          <a:bodyPr wrap="square" lIns="0" tIns="0" rIns="0" bIns="0" rtlCol="0" anchor="ctr"/>
          <a:lstStyle/>
          <a:p>
            <a:pPr algn="ctr" indent="0" marL="0">
              <a:buNone/>
            </a:pPr>
            <a:r>
              <a:rPr lang="en-US" sz="1150" b="1" dirty="0">
                <a:solidFill>
                  <a:srgbClr val="7048E8"/>
                </a:solidFill>
                <a:latin typeface="맑은 고딕" pitchFamily="34" charset="0"/>
                <a:ea typeface="맑은 고딕" pitchFamily="34" charset="-122"/>
                <a:cs typeface="맑은 고딕" pitchFamily="34" charset="-120"/>
              </a:rPr>
              <a:t>#당월 타겟</a:t>
            </a:r>
            <a:endParaRPr lang="en-US" sz="1150" dirty="0"/>
          </a:p>
        </p:txBody>
      </p:sp>
      <p:sp>
        <p:nvSpPr>
          <p:cNvPr id="44" name="Text 41"/>
          <p:cNvSpPr txBox="1"/>
          <p:nvPr/>
        </p:nvSpPr>
        <p:spPr>
          <a:xfrm>
            <a:off x="4434840" y="4901184"/>
            <a:ext cx="4114800" cy="274320"/>
          </a:xfrm>
          <a:prstGeom prst="rect">
            <a:avLst/>
          </a:prstGeom>
          <a:noFill/>
          <a:ln/>
        </p:spPr>
        <p:txBody>
          <a:bodyPr wrap="square" lIns="0" tIns="0" rIns="0" bIns="0" rtlCol="0" anchor="ctr"/>
          <a:lstStyle/>
          <a:p>
            <a:pPr indent="0" marL="0">
              <a:buNone/>
            </a:pPr>
            <a:r>
              <a:rPr lang="en-US" sz="1350" dirty="0">
                <a:solidFill>
                  <a:srgbClr val="6B7684"/>
                </a:solidFill>
                <a:latin typeface="맑은 고딕" pitchFamily="34" charset="0"/>
                <a:ea typeface="맑은 고딕" pitchFamily="34" charset="-122"/>
                <a:cs typeface="맑은 고딕" pitchFamily="34" charset="-120"/>
              </a:rPr>
              <a:t>아침엔 #이벤트 임박 · #당월 타겟부터</a:t>
            </a:r>
            <a:endParaRPr lang="en-US" sz="1350" dirty="0"/>
          </a:p>
        </p:txBody>
      </p:sp>
      <p:sp>
        <p:nvSpPr>
          <p:cNvPr id="45" name="Shape 42"/>
          <p:cNvSpPr/>
          <p:nvPr/>
        </p:nvSpPr>
        <p:spPr>
          <a:xfrm>
            <a:off x="8275320" y="1938528"/>
            <a:ext cx="420624" cy="420624"/>
          </a:xfrm>
          <a:prstGeom prst="ellipse">
            <a:avLst/>
          </a:prstGeom>
          <a:solidFill>
            <a:srgbClr val="F04452"/>
          </a:solidFill>
          <a:ln w="19050">
            <a:solidFill>
              <a:srgbClr val="FFFFFF"/>
            </a:solidFill>
            <a:prstDash val="solid"/>
          </a:ln>
        </p:spPr>
      </p:sp>
      <p:sp>
        <p:nvSpPr>
          <p:cNvPr id="46" name="Text 43"/>
          <p:cNvSpPr txBox="1"/>
          <p:nvPr/>
        </p:nvSpPr>
        <p:spPr>
          <a:xfrm>
            <a:off x="8275320" y="1938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7" name="Text 44"/>
          <p:cNvSpPr txBox="1"/>
          <p:nvPr/>
        </p:nvSpPr>
        <p:spPr>
          <a:xfrm>
            <a:off x="8842248" y="1920240"/>
            <a:ext cx="2800807"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사전조회동의 필요</a:t>
            </a:r>
            <a:endParaRPr lang="en-US" sz="1800" dirty="0"/>
          </a:p>
        </p:txBody>
      </p:sp>
      <p:sp>
        <p:nvSpPr>
          <p:cNvPr id="48" name="Text 45"/>
          <p:cNvSpPr txBox="1"/>
          <p:nvPr/>
        </p:nvSpPr>
        <p:spPr>
          <a:xfrm>
            <a:off x="8842248" y="2340864"/>
            <a:ext cx="2800807" cy="548640"/>
          </a:xfrm>
          <a:prstGeom prst="rect">
            <a:avLst/>
          </a:prstGeom>
          <a:noFill/>
          <a:ln/>
        </p:spPr>
        <p:txBody>
          <a:bodyPr wrap="square" lIns="0" tIns="0" rIns="0" bIns="0" rtlCol="0" anchor="t"/>
          <a:lstStyle/>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동의 알림톡부터 보내요</a:t>
            </a:r>
            <a:endParaRPr lang="en-US" sz="1400" dirty="0"/>
          </a:p>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D-n(남은 날)이 보이면 바로 시작</a:t>
            </a:r>
            <a:endParaRPr lang="en-US" sz="1400" dirty="0"/>
          </a:p>
        </p:txBody>
      </p:sp>
      <p:sp>
        <p:nvSpPr>
          <p:cNvPr id="49" name="Shape 46"/>
          <p:cNvSpPr/>
          <p:nvPr/>
        </p:nvSpPr>
        <p:spPr>
          <a:xfrm>
            <a:off x="8275320" y="3035808"/>
            <a:ext cx="420624" cy="420624"/>
          </a:xfrm>
          <a:prstGeom prst="ellipse">
            <a:avLst/>
          </a:prstGeom>
          <a:solidFill>
            <a:srgbClr val="3182F6"/>
          </a:solidFill>
          <a:ln w="19050">
            <a:solidFill>
              <a:srgbClr val="FFFFFF"/>
            </a:solidFill>
            <a:prstDash val="solid"/>
          </a:ln>
        </p:spPr>
      </p:sp>
      <p:sp>
        <p:nvSpPr>
          <p:cNvPr id="50" name="Text 47"/>
          <p:cNvSpPr txBox="1"/>
          <p:nvPr/>
        </p:nvSpPr>
        <p:spPr>
          <a:xfrm>
            <a:off x="8275320" y="30358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51" name="Text 48"/>
          <p:cNvSpPr txBox="1"/>
          <p:nvPr/>
        </p:nvSpPr>
        <p:spPr>
          <a:xfrm>
            <a:off x="8842248" y="3017520"/>
            <a:ext cx="2800807"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52" name="Text 49"/>
          <p:cNvSpPr txBox="1"/>
          <p:nvPr/>
        </p:nvSpPr>
        <p:spPr>
          <a:xfrm>
            <a:off x="8842248" y="3438144"/>
            <a:ext cx="2800807" cy="548640"/>
          </a:xfrm>
          <a:prstGeom prst="rect">
            <a:avLst/>
          </a:prstGeom>
          <a:noFill/>
          <a:ln/>
        </p:spPr>
        <p:txBody>
          <a:bodyPr wrap="square" lIns="0" tIns="0" rIns="0" bIns="0" rtlCol="0" anchor="t"/>
          <a:lstStyle/>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[MeAI 고객찾기에서 열기]</a:t>
            </a:r>
            <a:endParaRPr lang="en-US" sz="1400" dirty="0"/>
          </a:p>
          <a:p>
            <a:pPr indent="0" marL="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고객찾기의 이 고객 카드로 가요</a:t>
            </a:r>
            <a:endParaRPr lang="en-US" sz="1400" dirty="0"/>
          </a:p>
        </p:txBody>
      </p:sp>
      <p:sp>
        <p:nvSpPr>
          <p:cNvPr id="53" name="Shape 50"/>
          <p:cNvSpPr/>
          <p:nvPr/>
        </p:nvSpPr>
        <p:spPr>
          <a:xfrm>
            <a:off x="8275320" y="4114800"/>
            <a:ext cx="3367735" cy="868680"/>
          </a:xfrm>
          <a:prstGeom prst="roundRect">
            <a:avLst>
              <a:gd name="adj" fmla="val 14737"/>
            </a:avLst>
          </a:prstGeom>
          <a:solidFill>
            <a:srgbClr val="F2F4F6"/>
          </a:solidFill>
          <a:ln w="12700">
            <a:solidFill>
              <a:srgbClr val="F2F4F6"/>
            </a:solidFill>
            <a:prstDash val="solid"/>
          </a:ln>
        </p:spPr>
      </p:sp>
      <p:sp>
        <p:nvSpPr>
          <p:cNvPr id="54" name="Text 51"/>
          <p:cNvSpPr txBox="1"/>
          <p:nvPr/>
        </p:nvSpPr>
        <p:spPr>
          <a:xfrm>
            <a:off x="8503920" y="4114800"/>
            <a:ext cx="3001975" cy="868680"/>
          </a:xfrm>
          <a:prstGeom prst="rect">
            <a:avLst/>
          </a:prstGeom>
          <a:noFill/>
          <a:ln/>
        </p:spPr>
        <p:txBody>
          <a:bodyPr wrap="square" lIns="0" tIns="0" rIns="0" bIns="0" rtlCol="0" anchor="ctr"/>
          <a:lstStyle/>
          <a:p>
            <a:pPr indent="0" marL="0">
              <a:lnSpc>
                <a:spcPct val="115000"/>
              </a:lnSpc>
              <a:buNone/>
            </a:pPr>
            <a:r>
              <a:rPr lang="en-US" sz="1400" dirty="0">
                <a:solidFill>
                  <a:srgbClr val="4E5968"/>
                </a:solidFill>
                <a:latin typeface="맑은 고딕" pitchFamily="34" charset="0"/>
                <a:ea typeface="맑은 고딕" pitchFamily="34" charset="-122"/>
                <a:cs typeface="맑은 고딕" pitchFamily="34" charset="-120"/>
              </a:rPr>
              <a:t>추천은 지시가 아니라 ‘이유가 있는 고객’</a:t>
            </a:r>
            <a:endParaRPr lang="en-US" sz="1400" dirty="0"/>
          </a:p>
          <a:p>
            <a:pPr indent="0" marL="0">
              <a:lnSpc>
                <a:spcPct val="115000"/>
              </a:lnSpc>
              <a:buNone/>
            </a:pPr>
            <a:r>
              <a:rPr lang="en-US" sz="1400" dirty="0">
                <a:solidFill>
                  <a:srgbClr val="4E5968"/>
                </a:solidFill>
                <a:latin typeface="맑은 고딕" pitchFamily="34" charset="0"/>
                <a:ea typeface="맑은 고딕" pitchFamily="34" charset="-122"/>
                <a:cs typeface="맑은 고딕" pitchFamily="34" charset="-120"/>
              </a:rPr>
              <a:t>그룹에서 직접 골라도 돼요</a:t>
            </a:r>
            <a:endParaRPr lang="en-US" sz="1400" dirty="0"/>
          </a:p>
        </p:txBody>
      </p:sp>
      <p:sp>
        <p:nvSpPr>
          <p:cNvPr id="55" name="Shape 52"/>
          <p:cNvSpPr/>
          <p:nvPr/>
        </p:nvSpPr>
        <p:spPr>
          <a:xfrm>
            <a:off x="548640" y="5285232"/>
            <a:ext cx="11094415" cy="566928"/>
          </a:xfrm>
          <a:prstGeom prst="roundRect">
            <a:avLst>
              <a:gd name="adj" fmla="val 22581"/>
            </a:avLst>
          </a:prstGeom>
          <a:solidFill>
            <a:srgbClr val="191F28"/>
          </a:solidFill>
          <a:ln w="12700">
            <a:solidFill>
              <a:srgbClr val="191F28"/>
            </a:solidFill>
            <a:prstDash val="solid"/>
          </a:ln>
        </p:spPr>
      </p:sp>
      <p:sp>
        <p:nvSpPr>
          <p:cNvPr id="56" name="Text 53"/>
          <p:cNvSpPr txBox="1"/>
          <p:nvPr/>
        </p:nvSpPr>
        <p:spPr>
          <a:xfrm>
            <a:off x="868680" y="5285232"/>
            <a:ext cx="10454335" cy="566928"/>
          </a:xfrm>
          <a:prstGeom prst="rect">
            <a:avLst/>
          </a:prstGeom>
          <a:noFill/>
          <a:ln/>
        </p:spPr>
        <p:txBody>
          <a:bodyPr wrap="square" lIns="0" tIns="0" rIns="0" bIns="0" rtlCol="0" anchor="ctr"/>
          <a:lstStyle/>
          <a:p>
            <a:pPr indent="0" marL="0">
              <a:buNone/>
            </a:pPr>
            <a:r>
              <a:rPr lang="en-US" sz="1650" b="1" dirty="0">
                <a:solidFill>
                  <a:srgbClr val="C9E2FF"/>
                </a:solidFill>
                <a:latin typeface="맑은 고딕" pitchFamily="34" charset="0"/>
                <a:ea typeface="맑은 고딕" pitchFamily="34" charset="-122"/>
                <a:cs typeface="맑은 고딕" pitchFamily="34" charset="-120"/>
              </a:rPr>
              <a:t>고객에게 첫 말   </a:t>
            </a:r>
            <a:pPr indent="0" marL="0">
              <a:buNone/>
            </a:pPr>
            <a:r>
              <a:rPr lang="en-US" sz="1650" b="1" dirty="0">
                <a:solidFill>
                  <a:srgbClr val="FFFFFF"/>
                </a:solidFill>
                <a:latin typeface="맑은 고딕" pitchFamily="34" charset="0"/>
                <a:ea typeface="맑은 고딕" pitchFamily="34" charset="-122"/>
                <a:cs typeface="맑은 고딕" pitchFamily="34" charset="-120"/>
              </a:rPr>
              <a:t>“고객님, 2주 뒤 보험 나이가 올라가요. 그 전에 점검하려고 동의 알림톡 보내요.”</a:t>
            </a:r>
            <a:endParaRPr lang="en-US" sz="1650" dirty="0"/>
          </a:p>
        </p:txBody>
      </p:sp>
      <p:sp>
        <p:nvSpPr>
          <p:cNvPr id="57" name="Text 54"/>
          <p:cNvSpPr txBox="1"/>
          <p:nvPr/>
        </p:nvSpPr>
        <p:spPr>
          <a:xfrm>
            <a:off x="548640" y="5916168"/>
            <a:ext cx="7498080" cy="274320"/>
          </a:xfrm>
          <a:prstGeom prst="rect">
            <a:avLst/>
          </a:prstGeom>
          <a:noFill/>
          <a:ln/>
        </p:spPr>
        <p:txBody>
          <a:bodyPr wrap="square" lIns="0" tIns="0" rIns="0" bIns="0" rtlCol="0" anchor="ctr"/>
          <a:lstStyle/>
          <a:p>
            <a:pPr indent="0" marL="0">
              <a:buNone/>
            </a:pPr>
            <a:r>
              <a:rPr lang="en-US" sz="1300" b="1" dirty="0">
                <a:solidFill>
                  <a:srgbClr val="6B7684"/>
                </a:solidFill>
                <a:latin typeface="맑은 고딕" pitchFamily="34" charset="0"/>
                <a:ea typeface="맑은 고딕" pitchFamily="34" charset="-122"/>
                <a:cs typeface="맑은 고딕" pitchFamily="34" charset="-120"/>
              </a:rPr>
              <a:t>기억할 한 문장   </a:t>
            </a:r>
            <a:pPr indent="0" marL="0">
              <a:buNone/>
            </a:pPr>
            <a:r>
              <a:rPr lang="en-US" sz="1350" b="1" dirty="0">
                <a:solidFill>
                  <a:srgbClr val="3182F6"/>
                </a:solidFill>
                <a:latin typeface="맑은 고딕" pitchFamily="34" charset="0"/>
                <a:ea typeface="맑은 고딕" pitchFamily="34" charset="-122"/>
                <a:cs typeface="맑은 고딕" pitchFamily="34" charset="-120"/>
              </a:rPr>
              <a:t>카드 문장은 고객에게 첫 말, 추천 질문은 MeAI에게 첫 질문</a:t>
            </a:r>
            <a:endParaRPr lang="en-US" sz="1300" dirty="0"/>
          </a:p>
        </p:txBody>
      </p:sp>
      <p:sp>
        <p:nvSpPr>
          <p:cNvPr id="58" name="Text 55"/>
          <p:cNvSpPr txBox="1"/>
          <p:nvPr/>
        </p:nvSpPr>
        <p:spPr>
          <a:xfrm>
            <a:off x="8138160" y="5916168"/>
            <a:ext cx="3504895" cy="274320"/>
          </a:xfrm>
          <a:prstGeom prst="rect">
            <a:avLst/>
          </a:prstGeom>
          <a:noFill/>
          <a:ln/>
        </p:spPr>
        <p:txBody>
          <a:bodyPr wrap="square" lIns="0" tIns="0" rIns="0" bIns="0" rtlCol="0" anchor="ctr"/>
          <a:lstStyle/>
          <a:p>
            <a:pPr algn="r" indent="0" marL="0">
              <a:buNone/>
            </a:pPr>
            <a:r>
              <a:rPr lang="en-US" sz="1100" dirty="0">
                <a:solidFill>
                  <a:srgbClr val="8B95A1"/>
                </a:solidFill>
                <a:latin typeface="맑은 고딕" pitchFamily="34" charset="0"/>
                <a:ea typeface="맑은 고딕" pitchFamily="34" charset="-122"/>
                <a:cs typeface="맑은 고딕" pitchFamily="34" charset="-120"/>
              </a:rPr>
              <a:t>※ 화면의 이름·나이·담당·숫자는 예시 · 첫 말: MeAI 활용 가이드북 v4 시나리오 3(p.62)</a:t>
            </a:r>
            <a:endParaRPr lang="en-US" sz="1100" dirty="0"/>
          </a:p>
        </p:txBody>
      </p:sp>
      <p:sp>
        <p:nvSpPr>
          <p:cNvPr id="59" name="Text 5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0" name="Text 5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고객찾기는 왼쪽에서 오른쪽으로 읽어요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고르고 → 펼쳐 보고 → 다음 행동을 골라요</a:t>
            </a:r>
            <a:endParaRPr lang="en-US" sz="1700" dirty="0"/>
          </a:p>
        </p:txBody>
      </p:sp>
      <p:sp>
        <p:nvSpPr>
          <p:cNvPr id="13" name="Shape 11"/>
          <p:cNvSpPr/>
          <p:nvPr/>
        </p:nvSpPr>
        <p:spPr>
          <a:xfrm>
            <a:off x="548640" y="1901952"/>
            <a:ext cx="6126480" cy="3829050"/>
          </a:xfrm>
          <a:prstGeom prst="roundRect">
            <a:avLst>
              <a:gd name="adj" fmla="val 3200"/>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4" name="Image 0" descr="MeAI 화면 캡처">    </p:cNvPr>
          <p:cNvPicPr>
            <a:picLocks noChangeAspect="1"/>
          </p:cNvPicPr>
          <p:nvPr/>
        </p:nvPicPr>
        <p:blipFill>
          <a:blip r:embed="rId1"/>
          <a:stretch>
            <a:fillRect/>
          </a:stretch>
        </p:blipFill>
        <p:spPr>
          <a:xfrm>
            <a:off x="548640" y="1901952"/>
            <a:ext cx="6126480" cy="3829050"/>
          </a:xfrm>
          <a:prstGeom prst="rect">
            <a:avLst/>
          </a:prstGeom>
        </p:spPr>
      </p:pic>
      <p:sp>
        <p:nvSpPr>
          <p:cNvPr id="15" name="Shape 12"/>
          <p:cNvSpPr/>
          <p:nvPr/>
        </p:nvSpPr>
        <p:spPr>
          <a:xfrm>
            <a:off x="609905" y="2169986"/>
            <a:ext cx="1164031" cy="3254693"/>
          </a:xfrm>
          <a:prstGeom prst="roundRect">
            <a:avLst>
              <a:gd name="adj" fmla="val 3928"/>
            </a:avLst>
          </a:prstGeom>
          <a:ln w="25400">
            <a:solidFill>
              <a:srgbClr val="3182F6"/>
            </a:solidFill>
            <a:prstDash val="solid"/>
          </a:ln>
        </p:spPr>
      </p:sp>
      <p:sp>
        <p:nvSpPr>
          <p:cNvPr id="16" name="Shape 13"/>
          <p:cNvSpPr/>
          <p:nvPr/>
        </p:nvSpPr>
        <p:spPr>
          <a:xfrm>
            <a:off x="1945477" y="2744343"/>
            <a:ext cx="2658892" cy="1837944"/>
          </a:xfrm>
          <a:prstGeom prst="roundRect">
            <a:avLst>
              <a:gd name="adj" fmla="val 2488"/>
            </a:avLst>
          </a:prstGeom>
          <a:ln w="25400">
            <a:solidFill>
              <a:srgbClr val="3182F6"/>
            </a:solidFill>
            <a:prstDash val="solid"/>
          </a:ln>
        </p:spPr>
      </p:sp>
      <p:sp>
        <p:nvSpPr>
          <p:cNvPr id="17" name="Shape 14"/>
          <p:cNvSpPr/>
          <p:nvPr/>
        </p:nvSpPr>
        <p:spPr>
          <a:xfrm>
            <a:off x="4837176" y="2246567"/>
            <a:ext cx="1776679" cy="1723073"/>
          </a:xfrm>
          <a:prstGeom prst="roundRect">
            <a:avLst>
              <a:gd name="adj" fmla="val 2653"/>
            </a:avLst>
          </a:prstGeom>
          <a:ln w="25400">
            <a:solidFill>
              <a:srgbClr val="3182F6"/>
            </a:solidFill>
            <a:prstDash val="solid"/>
          </a:ln>
        </p:spPr>
      </p:sp>
      <p:sp>
        <p:nvSpPr>
          <p:cNvPr id="18" name="Shape 15"/>
          <p:cNvSpPr/>
          <p:nvPr/>
        </p:nvSpPr>
        <p:spPr>
          <a:xfrm>
            <a:off x="2018995" y="3625025"/>
            <a:ext cx="2511857" cy="880682"/>
          </a:xfrm>
          <a:prstGeom prst="roundRect">
            <a:avLst>
              <a:gd name="adj" fmla="val 5191"/>
            </a:avLst>
          </a:prstGeom>
          <a:ln w="15875">
            <a:solidFill>
              <a:srgbClr val="3182F6"/>
            </a:solidFill>
            <a:prstDash val="dash"/>
          </a:ln>
        </p:spPr>
      </p:sp>
      <p:sp>
        <p:nvSpPr>
          <p:cNvPr id="19" name="Shape 16"/>
          <p:cNvSpPr/>
          <p:nvPr/>
        </p:nvSpPr>
        <p:spPr>
          <a:xfrm>
            <a:off x="969264" y="1977962"/>
            <a:ext cx="384048" cy="384048"/>
          </a:xfrm>
          <a:prstGeom prst="ellipse">
            <a:avLst/>
          </a:prstGeom>
          <a:solidFill>
            <a:srgbClr val="3182F6"/>
          </a:solidFill>
          <a:ln w="19050">
            <a:solidFill>
              <a:srgbClr val="FFFFFF"/>
            </a:solidFill>
            <a:prstDash val="solid"/>
          </a:ln>
        </p:spPr>
      </p:sp>
      <p:sp>
        <p:nvSpPr>
          <p:cNvPr id="20" name="Text 17"/>
          <p:cNvSpPr txBox="1"/>
          <p:nvPr/>
        </p:nvSpPr>
        <p:spPr>
          <a:xfrm>
            <a:off x="969264" y="197796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1" name="Shape 18"/>
          <p:cNvSpPr/>
          <p:nvPr/>
        </p:nvSpPr>
        <p:spPr>
          <a:xfrm>
            <a:off x="3297326" y="2552319"/>
            <a:ext cx="384048" cy="384048"/>
          </a:xfrm>
          <a:prstGeom prst="ellipse">
            <a:avLst/>
          </a:prstGeom>
          <a:solidFill>
            <a:srgbClr val="3182F6"/>
          </a:solidFill>
          <a:ln w="19050">
            <a:solidFill>
              <a:srgbClr val="FFFFFF"/>
            </a:solidFill>
            <a:prstDash val="solid"/>
          </a:ln>
        </p:spPr>
      </p:sp>
      <p:sp>
        <p:nvSpPr>
          <p:cNvPr id="22" name="Text 19"/>
          <p:cNvSpPr txBox="1"/>
          <p:nvPr/>
        </p:nvSpPr>
        <p:spPr>
          <a:xfrm>
            <a:off x="3297326" y="2552319"/>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3" name="Shape 20"/>
          <p:cNvSpPr/>
          <p:nvPr/>
        </p:nvSpPr>
        <p:spPr>
          <a:xfrm>
            <a:off x="5992978" y="2073688"/>
            <a:ext cx="384048" cy="384048"/>
          </a:xfrm>
          <a:prstGeom prst="ellipse">
            <a:avLst/>
          </a:prstGeom>
          <a:solidFill>
            <a:srgbClr val="3182F6"/>
          </a:solidFill>
          <a:ln w="19050">
            <a:solidFill>
              <a:srgbClr val="FFFFFF"/>
            </a:solidFill>
            <a:prstDash val="solid"/>
          </a:ln>
        </p:spPr>
      </p:sp>
      <p:sp>
        <p:nvSpPr>
          <p:cNvPr id="24" name="Text 21"/>
          <p:cNvSpPr txBox="1"/>
          <p:nvPr/>
        </p:nvSpPr>
        <p:spPr>
          <a:xfrm>
            <a:off x="5992978" y="20736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5" name="Shape 22"/>
          <p:cNvSpPr/>
          <p:nvPr/>
        </p:nvSpPr>
        <p:spPr>
          <a:xfrm>
            <a:off x="4898441" y="3720751"/>
            <a:ext cx="1684782" cy="0"/>
          </a:xfrm>
          <a:prstGeom prst="line">
            <a:avLst/>
          </a:prstGeom>
          <a:noFill/>
          <a:ln w="31750">
            <a:solidFill>
              <a:srgbClr val="F04452"/>
            </a:solidFill>
            <a:prstDash val="solid"/>
          </a:ln>
        </p:spPr>
      </p:sp>
      <p:sp>
        <p:nvSpPr>
          <p:cNvPr id="26" name="Shape 23"/>
          <p:cNvSpPr/>
          <p:nvPr/>
        </p:nvSpPr>
        <p:spPr>
          <a:xfrm>
            <a:off x="548640" y="5840730"/>
            <a:ext cx="3121660" cy="329184"/>
          </a:xfrm>
          <a:prstGeom prst="roundRect">
            <a:avLst>
              <a:gd name="adj" fmla="val 50000"/>
            </a:avLst>
          </a:prstGeom>
          <a:solidFill>
            <a:srgbClr val="F0EDFF"/>
          </a:solidFill>
          <a:ln w="12700">
            <a:solidFill>
              <a:srgbClr val="F0EDFF"/>
            </a:solidFill>
            <a:prstDash val="solid"/>
          </a:ln>
        </p:spPr>
      </p:sp>
      <p:sp>
        <p:nvSpPr>
          <p:cNvPr id="27" name="Text 24"/>
          <p:cNvSpPr txBox="1"/>
          <p:nvPr/>
        </p:nvSpPr>
        <p:spPr>
          <a:xfrm>
            <a:off x="548640" y="5840730"/>
            <a:ext cx="3121660" cy="329184"/>
          </a:xfrm>
          <a:prstGeom prst="rect">
            <a:avLst/>
          </a:prstGeom>
          <a:noFill/>
          <a:ln/>
        </p:spPr>
        <p:txBody>
          <a:bodyPr wrap="square" lIns="0" tIns="0" rIns="0" bIns="0" rtlCol="0" anchor="ctr"/>
          <a:lstStyle/>
          <a:p>
            <a:pPr algn="ctr" indent="0" marL="0">
              <a:buNone/>
            </a:pPr>
            <a:r>
              <a:rPr lang="en-US" sz="1250" b="1" dirty="0">
                <a:solidFill>
                  <a:srgbClr val="7048E8"/>
                </a:solidFill>
                <a:latin typeface="맑은 고딕" pitchFamily="34" charset="0"/>
                <a:ea typeface="맑은 고딕" pitchFamily="34" charset="-122"/>
                <a:cs typeface="맑은 고딕" pitchFamily="34" charset="-120"/>
              </a:rPr>
              <a:t>NEW 부족 태그는 그룹마다 색이 달라요</a:t>
            </a:r>
            <a:endParaRPr lang="en-US" sz="1250" dirty="0"/>
          </a:p>
        </p:txBody>
      </p:sp>
      <p:sp>
        <p:nvSpPr>
          <p:cNvPr id="28" name="Text 25"/>
          <p:cNvSpPr txBox="1"/>
          <p:nvPr/>
        </p:nvSpPr>
        <p:spPr>
          <a:xfrm>
            <a:off x="3853180" y="5840730"/>
            <a:ext cx="3004820" cy="329184"/>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검색창엔 이름도, ‘암진단비’ 같은 조건도</a:t>
            </a:r>
            <a:endParaRPr lang="en-US" sz="1400" dirty="0"/>
          </a:p>
        </p:txBody>
      </p:sp>
      <p:sp>
        <p:nvSpPr>
          <p:cNvPr id="29" name="Shape 26"/>
          <p:cNvSpPr/>
          <p:nvPr/>
        </p:nvSpPr>
        <p:spPr>
          <a:xfrm>
            <a:off x="6949440" y="1920240"/>
            <a:ext cx="420624" cy="420624"/>
          </a:xfrm>
          <a:prstGeom prst="ellipse">
            <a:avLst/>
          </a:prstGeom>
          <a:solidFill>
            <a:srgbClr val="3182F6"/>
          </a:solidFill>
          <a:ln w="19050">
            <a:solidFill>
              <a:srgbClr val="FFFFFF"/>
            </a:solidFill>
            <a:prstDash val="solid"/>
          </a:ln>
        </p:spPr>
      </p:sp>
      <p:sp>
        <p:nvSpPr>
          <p:cNvPr id="30" name="Text 27"/>
          <p:cNvSpPr txBox="1"/>
          <p:nvPr/>
        </p:nvSpPr>
        <p:spPr>
          <a:xfrm>
            <a:off x="6949440" y="19202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1" name="Text 28"/>
          <p:cNvSpPr txBox="1"/>
          <p:nvPr/>
        </p:nvSpPr>
        <p:spPr>
          <a:xfrm>
            <a:off x="7516368" y="1901952"/>
            <a:ext cx="4126687"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고객 그룹</a:t>
            </a:r>
            <a:endParaRPr lang="en-US" sz="1800" dirty="0"/>
          </a:p>
        </p:txBody>
      </p:sp>
      <p:sp>
        <p:nvSpPr>
          <p:cNvPr id="32" name="Text 29"/>
          <p:cNvSpPr txBox="1"/>
          <p:nvPr/>
        </p:nvSpPr>
        <p:spPr>
          <a:xfrm>
            <a:off x="7516368" y="2322576"/>
            <a:ext cx="4126687" cy="457200"/>
          </a:xfrm>
          <a:prstGeom prst="rect">
            <a:avLst/>
          </a:prstGeom>
          <a:noFill/>
          <a:ln/>
        </p:spPr>
        <p:txBody>
          <a:bodyPr wrap="square" lIns="0" tIns="0" rIns="0" bIns="0" rtlCol="0" anchor="t"/>
          <a:lstStyle/>
          <a:p>
            <a:pPr indent="0" marL="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연락할 이유별로 묶여 있어요</a:t>
            </a:r>
            <a:endParaRPr lang="en-US" sz="1350" dirty="0"/>
          </a:p>
          <a:p>
            <a:pPr indent="0" marL="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보장 기준 · 영업 기회 두 탭</a:t>
            </a:r>
            <a:endParaRPr lang="en-US" sz="1350" dirty="0"/>
          </a:p>
        </p:txBody>
      </p:sp>
      <p:sp>
        <p:nvSpPr>
          <p:cNvPr id="33" name="Shape 30"/>
          <p:cNvSpPr/>
          <p:nvPr/>
        </p:nvSpPr>
        <p:spPr>
          <a:xfrm>
            <a:off x="6949440" y="2834640"/>
            <a:ext cx="420624" cy="420624"/>
          </a:xfrm>
          <a:prstGeom prst="ellipse">
            <a:avLst/>
          </a:prstGeom>
          <a:solidFill>
            <a:srgbClr val="3182F6"/>
          </a:solidFill>
          <a:ln w="19050">
            <a:solidFill>
              <a:srgbClr val="FFFFFF"/>
            </a:solidFill>
            <a:prstDash val="solid"/>
          </a:ln>
        </p:spPr>
      </p:sp>
      <p:sp>
        <p:nvSpPr>
          <p:cNvPr id="34" name="Text 31"/>
          <p:cNvSpPr txBox="1"/>
          <p:nvPr/>
        </p:nvSpPr>
        <p:spPr>
          <a:xfrm>
            <a:off x="6949440" y="28346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5" name="Text 32"/>
          <p:cNvSpPr txBox="1"/>
          <p:nvPr/>
        </p:nvSpPr>
        <p:spPr>
          <a:xfrm>
            <a:off x="7516368" y="2816352"/>
            <a:ext cx="4126687"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고객 카드</a:t>
            </a:r>
            <a:endParaRPr lang="en-US" sz="1800" dirty="0"/>
          </a:p>
        </p:txBody>
      </p:sp>
      <p:sp>
        <p:nvSpPr>
          <p:cNvPr id="36" name="Text 33"/>
          <p:cNvSpPr txBox="1"/>
          <p:nvPr/>
        </p:nvSpPr>
        <p:spPr>
          <a:xfrm>
            <a:off x="7516368" y="3236976"/>
            <a:ext cx="4126687" cy="457200"/>
          </a:xfrm>
          <a:prstGeom prst="rect">
            <a:avLst/>
          </a:prstGeom>
          <a:noFill/>
          <a:ln/>
        </p:spPr>
        <p:txBody>
          <a:bodyPr wrap="square" lIns="0" tIns="0" rIns="0" bIns="0" rtlCol="0" anchor="t"/>
          <a:lstStyle/>
          <a:p>
            <a:pPr indent="0" marL="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누르면 펼쳐져요</a:t>
            </a:r>
            <a:endParaRPr lang="en-US" sz="1350" dirty="0"/>
          </a:p>
          <a:p>
            <a:pPr indent="0" marL="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이유 · 태그 · 한눈에 보기 6칸</a:t>
            </a:r>
            <a:endParaRPr lang="en-US" sz="1350" dirty="0"/>
          </a:p>
        </p:txBody>
      </p:sp>
      <p:sp>
        <p:nvSpPr>
          <p:cNvPr id="37" name="Shape 34"/>
          <p:cNvSpPr/>
          <p:nvPr/>
        </p:nvSpPr>
        <p:spPr>
          <a:xfrm>
            <a:off x="6949440" y="3749040"/>
            <a:ext cx="420624" cy="420624"/>
          </a:xfrm>
          <a:prstGeom prst="ellipse">
            <a:avLst/>
          </a:prstGeom>
          <a:solidFill>
            <a:srgbClr val="3182F6"/>
          </a:solidFill>
          <a:ln w="19050">
            <a:solidFill>
              <a:srgbClr val="FFFFFF"/>
            </a:solidFill>
            <a:prstDash val="solid"/>
          </a:ln>
        </p:spPr>
      </p:sp>
      <p:sp>
        <p:nvSpPr>
          <p:cNvPr id="38" name="Text 35"/>
          <p:cNvSpPr txBox="1"/>
          <p:nvPr/>
        </p:nvSpPr>
        <p:spPr>
          <a:xfrm>
            <a:off x="6949440" y="37490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9" name="Text 36"/>
          <p:cNvSpPr txBox="1"/>
          <p:nvPr/>
        </p:nvSpPr>
        <p:spPr>
          <a:xfrm>
            <a:off x="7516368" y="3730752"/>
            <a:ext cx="4126687"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40" name="Text 37"/>
          <p:cNvSpPr txBox="1"/>
          <p:nvPr/>
        </p:nvSpPr>
        <p:spPr>
          <a:xfrm>
            <a:off x="7516368" y="4151376"/>
            <a:ext cx="4126687" cy="457200"/>
          </a:xfrm>
          <a:prstGeom prst="rect">
            <a:avLst/>
          </a:prstGeom>
          <a:noFill/>
          <a:ln/>
        </p:spPr>
        <p:txBody>
          <a:bodyPr wrap="square" lIns="0" tIns="0" rIns="0" bIns="0" rtlCol="0" anchor="t"/>
          <a:lstStyle/>
          <a:p>
            <a:pPr indent="0" marL="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있으면 [이 고객으로 맞춤대화 시작]</a:t>
            </a:r>
            <a:endParaRPr lang="en-US" sz="1350" dirty="0"/>
          </a:p>
          <a:p>
            <a:pPr indent="0" marL="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필요면 [사전조회동의 요청하기]</a:t>
            </a:r>
            <a:endParaRPr lang="en-US" sz="1350" dirty="0"/>
          </a:p>
        </p:txBody>
      </p:sp>
      <p:sp>
        <p:nvSpPr>
          <p:cNvPr id="41" name="Shape 38"/>
          <p:cNvSpPr/>
          <p:nvPr/>
        </p:nvSpPr>
        <p:spPr>
          <a:xfrm>
            <a:off x="6949440" y="4681728"/>
            <a:ext cx="4693615" cy="1463040"/>
          </a:xfrm>
          <a:prstGeom prst="roundRect">
            <a:avLst>
              <a:gd name="adj" fmla="val 8750"/>
            </a:avLst>
          </a:prstGeom>
          <a:solidFill>
            <a:srgbClr val="F9FAFB"/>
          </a:solidFill>
          <a:ln w="12700">
            <a:solidFill>
              <a:srgbClr val="F9FAFB"/>
            </a:solidFill>
            <a:prstDash val="solid"/>
          </a:ln>
        </p:spPr>
      </p:sp>
      <p:sp>
        <p:nvSpPr>
          <p:cNvPr id="42" name="Text 39"/>
          <p:cNvSpPr txBox="1"/>
          <p:nvPr/>
        </p:nvSpPr>
        <p:spPr>
          <a:xfrm>
            <a:off x="7178040" y="4773168"/>
            <a:ext cx="4327855" cy="329184"/>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6칸 읽는 법 · 김민수 예시</a:t>
            </a:r>
            <a:endParaRPr lang="en-US" sz="1500" dirty="0"/>
          </a:p>
        </p:txBody>
      </p:sp>
      <p:sp>
        <p:nvSpPr>
          <p:cNvPr id="43" name="Text 40"/>
          <p:cNvSpPr txBox="1"/>
          <p:nvPr/>
        </p:nvSpPr>
        <p:spPr>
          <a:xfrm>
            <a:off x="7178040" y="5102352"/>
            <a:ext cx="4327855" cy="1005840"/>
          </a:xfrm>
          <a:prstGeom prst="rect">
            <a:avLst/>
          </a:prstGeom>
          <a:noFill/>
          <a:ln/>
        </p:spPr>
        <p:txBody>
          <a:bodyPr wrap="square" lIns="0" tIns="0" rIns="0" bIns="0" rtlCol="0" anchor="t"/>
          <a:lstStyle/>
          <a:p>
            <a:pPr indent="0" marL="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장기 3건 → “지금 세 건 갖고 계세요”</a:t>
            </a:r>
            <a:endParaRPr lang="en-US" sz="1300" dirty="0"/>
          </a:p>
          <a:p>
            <a:pPr indent="0" marL="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부족 금액 1,000만원 → 제안 크기</a:t>
            </a:r>
            <a:endParaRPr lang="en-US" sz="1300" dirty="0"/>
          </a:p>
          <a:p>
            <a:pPr indent="0" marL="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1-5종수술비 ‘없음’ → 제안 포인트</a:t>
            </a:r>
            <a:endParaRPr lang="en-US" sz="1300" dirty="0"/>
          </a:p>
          <a:p>
            <a:pPr indent="0" marL="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‘미확인’ = 자료 없음 · 추정 안 해요</a:t>
            </a:r>
            <a:endParaRPr lang="en-US" sz="1300" dirty="0"/>
          </a:p>
        </p:txBody>
      </p:sp>
      <p:sp>
        <p:nvSpPr>
          <p:cNvPr id="44" name="Text 41"/>
          <p:cNvSpPr txBox="1"/>
          <p:nvPr/>
        </p:nvSpPr>
        <p:spPr>
          <a:xfrm>
            <a:off x="548640" y="6199632"/>
            <a:ext cx="11094415" cy="219456"/>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 화면의 이름·숫자는 예시예요 · 출처: MeAI 활용 가이드북 v4 p.23·28·30·34~37·40 · 확정 화면</a:t>
            </a:r>
            <a:endParaRPr lang="en-US" sz="1100" dirty="0"/>
          </a:p>
        </p:txBody>
      </p:sp>
      <p:sp>
        <p:nvSpPr>
          <p:cNvPr id="45" name="Text 4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6" name="Text 4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그룹 설명 한 줄이 곧 상담 화법이에요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그룹을 누르면 설명이 붙어요 · 앞은 묶인 기준, 뒤는 화법</a:t>
            </a:r>
            <a:endParaRPr lang="en-US" sz="1700" dirty="0"/>
          </a:p>
        </p:txBody>
      </p:sp>
      <p:sp>
        <p:nvSpPr>
          <p:cNvPr id="13" name="Shape 11"/>
          <p:cNvSpPr/>
          <p:nvPr/>
        </p:nvSpPr>
        <p:spPr>
          <a:xfrm>
            <a:off x="548640" y="2048256"/>
            <a:ext cx="411480" cy="0"/>
          </a:xfrm>
          <a:prstGeom prst="line">
            <a:avLst/>
          </a:prstGeom>
          <a:noFill/>
          <a:ln w="38100">
            <a:solidFill>
              <a:srgbClr val="3182F6"/>
            </a:solidFill>
            <a:prstDash val="solid"/>
          </a:ln>
        </p:spPr>
      </p:sp>
      <p:sp>
        <p:nvSpPr>
          <p:cNvPr id="14" name="Text 12"/>
          <p:cNvSpPr txBox="1"/>
          <p:nvPr/>
        </p:nvSpPr>
        <p:spPr>
          <a:xfrm>
            <a:off x="1051560" y="1901952"/>
            <a:ext cx="2011680" cy="292608"/>
          </a:xfrm>
          <a:prstGeom prst="rect">
            <a:avLst/>
          </a:prstGeom>
          <a:noFill/>
          <a:ln/>
        </p:spPr>
        <p:txBody>
          <a:bodyPr wrap="square" lIns="0" tIns="0" rIns="0" bIns="0" rtlCol="0" anchor="ctr"/>
          <a:lstStyle/>
          <a:p>
            <a:pPr indent="0" marL="0">
              <a:buNone/>
            </a:pPr>
            <a:r>
              <a:rPr lang="en-US" sz="1400" b="1" dirty="0">
                <a:solidFill>
                  <a:srgbClr val="4E5968"/>
                </a:solidFill>
                <a:latin typeface="맑은 고딕" pitchFamily="34" charset="0"/>
                <a:ea typeface="맑은 고딕" pitchFamily="34" charset="-122"/>
                <a:cs typeface="맑은 고딕" pitchFamily="34" charset="-120"/>
              </a:rPr>
              <a:t>묶인 기준</a:t>
            </a:r>
            <a:endParaRPr lang="en-US" sz="1400" dirty="0"/>
          </a:p>
        </p:txBody>
      </p:sp>
      <p:sp>
        <p:nvSpPr>
          <p:cNvPr id="15" name="Shape 13"/>
          <p:cNvSpPr/>
          <p:nvPr/>
        </p:nvSpPr>
        <p:spPr>
          <a:xfrm>
            <a:off x="2926080" y="1938528"/>
            <a:ext cx="411480" cy="219456"/>
          </a:xfrm>
          <a:prstGeom prst="roundRect">
            <a:avLst>
              <a:gd name="adj" fmla="val 16667"/>
            </a:avLst>
          </a:prstGeom>
          <a:solidFill>
            <a:srgbClr val="FFE066"/>
          </a:solidFill>
          <a:ln w="12700">
            <a:solidFill>
              <a:srgbClr val="FFE066"/>
            </a:solidFill>
            <a:prstDash val="solid"/>
          </a:ln>
        </p:spPr>
      </p:sp>
      <p:sp>
        <p:nvSpPr>
          <p:cNvPr id="16" name="Text 14"/>
          <p:cNvSpPr txBox="1"/>
          <p:nvPr/>
        </p:nvSpPr>
        <p:spPr>
          <a:xfrm>
            <a:off x="3429000" y="1901952"/>
            <a:ext cx="2743200" cy="292608"/>
          </a:xfrm>
          <a:prstGeom prst="rect">
            <a:avLst/>
          </a:prstGeom>
          <a:noFill/>
          <a:ln/>
        </p:spPr>
        <p:txBody>
          <a:bodyPr wrap="square" lIns="0" tIns="0" rIns="0" bIns="0" rtlCol="0" anchor="ctr"/>
          <a:lstStyle/>
          <a:p>
            <a:pPr indent="0" marL="0">
              <a:buNone/>
            </a:pPr>
            <a:r>
              <a:rPr lang="en-US" sz="1400" b="1" dirty="0">
                <a:solidFill>
                  <a:srgbClr val="4E5968"/>
                </a:solidFill>
                <a:latin typeface="맑은 고딕" pitchFamily="34" charset="0"/>
                <a:ea typeface="맑은 고딕" pitchFamily="34" charset="-122"/>
                <a:cs typeface="맑은 고딕" pitchFamily="34" charset="-120"/>
              </a:rPr>
              <a:t>말할 방향(화법)</a:t>
            </a:r>
            <a:endParaRPr lang="en-US" sz="1400" dirty="0"/>
          </a:p>
        </p:txBody>
      </p:sp>
      <p:pic>
        <p:nvPicPr>
          <p:cNvPr id="17" name="Image 0" descr="MeAI 화면 캡처">    </p:cNvPr>
          <p:cNvPicPr>
            <a:picLocks noChangeAspect="1"/>
          </p:cNvPicPr>
          <p:nvPr/>
        </p:nvPicPr>
        <p:blipFill>
          <a:blip r:embed="rId1"/>
          <a:stretch>
            <a:fillRect/>
          </a:stretch>
        </p:blipFill>
        <p:spPr>
          <a:xfrm>
            <a:off x="548640" y="2240280"/>
            <a:ext cx="6446520" cy="1130106"/>
          </a:xfrm>
          <a:prstGeom prst="rect">
            <a:avLst/>
          </a:prstGeom>
        </p:spPr>
      </p:pic>
      <p:sp>
        <p:nvSpPr>
          <p:cNvPr id="18" name="Shape 15"/>
          <p:cNvSpPr/>
          <p:nvPr/>
        </p:nvSpPr>
        <p:spPr>
          <a:xfrm>
            <a:off x="548640" y="2240280"/>
            <a:ext cx="6446520" cy="1130106"/>
          </a:xfrm>
          <a:prstGeom prst="roundRect">
            <a:avLst>
              <a:gd name="adj" fmla="val 4855"/>
            </a:avLst>
          </a:prstGeom>
          <a:ln w="12700">
            <a:solidFill>
              <a:srgbClr val="D1D6DB"/>
            </a:solidFill>
            <a:prstDash val="solid"/>
          </a:ln>
        </p:spPr>
      </p:sp>
      <p:sp>
        <p:nvSpPr>
          <p:cNvPr id="19" name="Shape 16"/>
          <p:cNvSpPr/>
          <p:nvPr/>
        </p:nvSpPr>
        <p:spPr>
          <a:xfrm>
            <a:off x="705872" y="2996960"/>
            <a:ext cx="2746650" cy="0"/>
          </a:xfrm>
          <a:prstGeom prst="line">
            <a:avLst/>
          </a:prstGeom>
          <a:noFill/>
          <a:ln w="31750">
            <a:solidFill>
              <a:srgbClr val="3182F6"/>
            </a:solidFill>
            <a:prstDash val="solid"/>
          </a:ln>
        </p:spPr>
      </p:sp>
      <p:sp>
        <p:nvSpPr>
          <p:cNvPr id="20" name="Shape 17"/>
          <p:cNvSpPr/>
          <p:nvPr/>
        </p:nvSpPr>
        <p:spPr>
          <a:xfrm>
            <a:off x="3496744" y="2815160"/>
            <a:ext cx="3169211" cy="171973"/>
          </a:xfrm>
          <a:prstGeom prst="rect">
            <a:avLst/>
          </a:prstGeom>
          <a:solidFill>
            <a:srgbClr val="FFE066">
              <a:alpha val="45000"/>
            </a:srgbClr>
          </a:solidFill>
          <a:ln w="12700">
            <a:solidFill>
              <a:srgbClr val="FFE066"/>
            </a:solidFill>
            <a:prstDash val="solid"/>
          </a:ln>
        </p:spPr>
      </p:sp>
      <p:sp>
        <p:nvSpPr>
          <p:cNvPr id="21" name="Shape 18"/>
          <p:cNvSpPr/>
          <p:nvPr/>
        </p:nvSpPr>
        <p:spPr>
          <a:xfrm>
            <a:off x="686218" y="3051009"/>
            <a:ext cx="1233290" cy="171973"/>
          </a:xfrm>
          <a:prstGeom prst="rect">
            <a:avLst/>
          </a:prstGeom>
          <a:solidFill>
            <a:srgbClr val="FFE066">
              <a:alpha val="45000"/>
            </a:srgbClr>
          </a:solidFill>
          <a:ln w="12700">
            <a:solidFill>
              <a:srgbClr val="FFE066"/>
            </a:solidFill>
            <a:prstDash val="solid"/>
          </a:ln>
        </p:spPr>
      </p:sp>
      <p:sp>
        <p:nvSpPr>
          <p:cNvPr id="22" name="Shape 19"/>
          <p:cNvSpPr/>
          <p:nvPr/>
        </p:nvSpPr>
        <p:spPr>
          <a:xfrm>
            <a:off x="548640" y="3443538"/>
            <a:ext cx="6446520" cy="457200"/>
          </a:xfrm>
          <a:prstGeom prst="roundRect">
            <a:avLst>
              <a:gd name="adj" fmla="val 24000"/>
            </a:avLst>
          </a:prstGeom>
          <a:solidFill>
            <a:srgbClr val="E8F3FF"/>
          </a:solidFill>
          <a:ln w="12700">
            <a:solidFill>
              <a:srgbClr val="E8F3FF"/>
            </a:solidFill>
            <a:prstDash val="solid"/>
          </a:ln>
        </p:spPr>
      </p:sp>
      <p:sp>
        <p:nvSpPr>
          <p:cNvPr id="23" name="Shape 20"/>
          <p:cNvSpPr/>
          <p:nvPr/>
        </p:nvSpPr>
        <p:spPr>
          <a:xfrm>
            <a:off x="685800" y="3516690"/>
            <a:ext cx="1019810" cy="310896"/>
          </a:xfrm>
          <a:prstGeom prst="roundRect">
            <a:avLst>
              <a:gd name="adj" fmla="val 50000"/>
            </a:avLst>
          </a:prstGeom>
          <a:solidFill>
            <a:srgbClr val="3182F6"/>
          </a:solidFill>
          <a:ln w="12700">
            <a:solidFill>
              <a:srgbClr val="3182F6"/>
            </a:solidFill>
            <a:prstDash val="solid"/>
          </a:ln>
        </p:spPr>
      </p:sp>
      <p:sp>
        <p:nvSpPr>
          <p:cNvPr id="24" name="Text 21"/>
          <p:cNvSpPr txBox="1"/>
          <p:nvPr/>
        </p:nvSpPr>
        <p:spPr>
          <a:xfrm>
            <a:off x="685800" y="3516690"/>
            <a:ext cx="101981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첫 말로 →</a:t>
            </a:r>
            <a:endParaRPr lang="en-US" sz="1250" dirty="0"/>
          </a:p>
        </p:txBody>
      </p:sp>
      <p:sp>
        <p:nvSpPr>
          <p:cNvPr id="25" name="Text 22"/>
          <p:cNvSpPr txBox="1"/>
          <p:nvPr/>
        </p:nvSpPr>
        <p:spPr>
          <a:xfrm>
            <a:off x="1842770" y="3443538"/>
            <a:ext cx="5015230" cy="457200"/>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“재활·간병 기간이 길어 진단비가 곧 생활비예요.”</a:t>
            </a:r>
            <a:endParaRPr lang="en-US" sz="1700" dirty="0"/>
          </a:p>
        </p:txBody>
      </p:sp>
      <p:pic>
        <p:nvPicPr>
          <p:cNvPr id="26" name="Image 1" descr="MeAI 화면 캡처">    </p:cNvPr>
          <p:cNvPicPr>
            <a:picLocks noChangeAspect="1"/>
          </p:cNvPicPr>
          <p:nvPr/>
        </p:nvPicPr>
        <p:blipFill>
          <a:blip r:embed="rId2"/>
          <a:stretch>
            <a:fillRect/>
          </a:stretch>
        </p:blipFill>
        <p:spPr>
          <a:xfrm>
            <a:off x="548640" y="4083618"/>
            <a:ext cx="6446520" cy="1130106"/>
          </a:xfrm>
          <a:prstGeom prst="rect">
            <a:avLst/>
          </a:prstGeom>
        </p:spPr>
      </p:pic>
      <p:sp>
        <p:nvSpPr>
          <p:cNvPr id="27" name="Shape 23"/>
          <p:cNvSpPr/>
          <p:nvPr/>
        </p:nvSpPr>
        <p:spPr>
          <a:xfrm>
            <a:off x="548640" y="4083618"/>
            <a:ext cx="6446520" cy="1130106"/>
          </a:xfrm>
          <a:prstGeom prst="roundRect">
            <a:avLst>
              <a:gd name="adj" fmla="val 4855"/>
            </a:avLst>
          </a:prstGeom>
          <a:ln w="12700">
            <a:solidFill>
              <a:srgbClr val="D1D6DB"/>
            </a:solidFill>
            <a:prstDash val="solid"/>
          </a:ln>
        </p:spPr>
      </p:sp>
      <p:sp>
        <p:nvSpPr>
          <p:cNvPr id="28" name="Shape 24"/>
          <p:cNvSpPr/>
          <p:nvPr/>
        </p:nvSpPr>
        <p:spPr>
          <a:xfrm>
            <a:off x="700959" y="4840298"/>
            <a:ext cx="1650938" cy="0"/>
          </a:xfrm>
          <a:prstGeom prst="line">
            <a:avLst/>
          </a:prstGeom>
          <a:noFill/>
          <a:ln w="31750">
            <a:solidFill>
              <a:srgbClr val="3182F6"/>
            </a:solidFill>
            <a:prstDash val="solid"/>
          </a:ln>
        </p:spPr>
      </p:sp>
      <p:sp>
        <p:nvSpPr>
          <p:cNvPr id="29" name="Shape 25"/>
          <p:cNvSpPr/>
          <p:nvPr/>
        </p:nvSpPr>
        <p:spPr>
          <a:xfrm>
            <a:off x="2391205" y="4658499"/>
            <a:ext cx="4353366" cy="171973"/>
          </a:xfrm>
          <a:prstGeom prst="rect">
            <a:avLst/>
          </a:prstGeom>
          <a:solidFill>
            <a:srgbClr val="FFE066">
              <a:alpha val="45000"/>
            </a:srgbClr>
          </a:solidFill>
          <a:ln w="12700">
            <a:solidFill>
              <a:srgbClr val="FFE066"/>
            </a:solidFill>
            <a:prstDash val="solid"/>
          </a:ln>
        </p:spPr>
      </p:sp>
      <p:sp>
        <p:nvSpPr>
          <p:cNvPr id="30" name="Shape 26"/>
          <p:cNvSpPr/>
          <p:nvPr/>
        </p:nvSpPr>
        <p:spPr>
          <a:xfrm>
            <a:off x="686218" y="4894347"/>
            <a:ext cx="466783" cy="171973"/>
          </a:xfrm>
          <a:prstGeom prst="rect">
            <a:avLst/>
          </a:prstGeom>
          <a:solidFill>
            <a:srgbClr val="FFE066">
              <a:alpha val="45000"/>
            </a:srgbClr>
          </a:solidFill>
          <a:ln w="12700">
            <a:solidFill>
              <a:srgbClr val="FFE066"/>
            </a:solidFill>
            <a:prstDash val="solid"/>
          </a:ln>
        </p:spPr>
      </p:sp>
      <p:sp>
        <p:nvSpPr>
          <p:cNvPr id="31" name="Shape 27"/>
          <p:cNvSpPr/>
          <p:nvPr/>
        </p:nvSpPr>
        <p:spPr>
          <a:xfrm>
            <a:off x="548640" y="5286877"/>
            <a:ext cx="6446520" cy="457200"/>
          </a:xfrm>
          <a:prstGeom prst="roundRect">
            <a:avLst>
              <a:gd name="adj" fmla="val 24000"/>
            </a:avLst>
          </a:prstGeom>
          <a:solidFill>
            <a:srgbClr val="E8F3FF"/>
          </a:solidFill>
          <a:ln w="12700">
            <a:solidFill>
              <a:srgbClr val="E8F3FF"/>
            </a:solidFill>
            <a:prstDash val="solid"/>
          </a:ln>
        </p:spPr>
      </p:sp>
      <p:sp>
        <p:nvSpPr>
          <p:cNvPr id="32" name="Shape 28"/>
          <p:cNvSpPr/>
          <p:nvPr/>
        </p:nvSpPr>
        <p:spPr>
          <a:xfrm>
            <a:off x="685800" y="5360029"/>
            <a:ext cx="1496060" cy="310896"/>
          </a:xfrm>
          <a:prstGeom prst="roundRect">
            <a:avLst>
              <a:gd name="adj" fmla="val 50000"/>
            </a:avLst>
          </a:prstGeom>
          <a:solidFill>
            <a:srgbClr val="3182F6"/>
          </a:solidFill>
          <a:ln w="12700">
            <a:solidFill>
              <a:srgbClr val="3182F6"/>
            </a:solidFill>
            <a:prstDash val="solid"/>
          </a:ln>
        </p:spPr>
      </p:sp>
      <p:sp>
        <p:nvSpPr>
          <p:cNvPr id="33" name="Text 29"/>
          <p:cNvSpPr txBox="1"/>
          <p:nvPr/>
        </p:nvSpPr>
        <p:spPr>
          <a:xfrm>
            <a:off x="685800" y="5360029"/>
            <a:ext cx="149606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이렇게 열어요 →</a:t>
            </a:r>
            <a:endParaRPr lang="en-US" sz="1250" dirty="0"/>
          </a:p>
        </p:txBody>
      </p:sp>
      <p:sp>
        <p:nvSpPr>
          <p:cNvPr id="34" name="Text 30"/>
          <p:cNvSpPr txBox="1"/>
          <p:nvPr/>
        </p:nvSpPr>
        <p:spPr>
          <a:xfrm>
            <a:off x="2319020" y="5286877"/>
            <a:ext cx="4538980" cy="457200"/>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축하 인사로 열고, 보장 점검으로 이어가요</a:t>
            </a:r>
            <a:endParaRPr lang="en-US" sz="1700" dirty="0"/>
          </a:p>
        </p:txBody>
      </p:sp>
      <p:sp>
        <p:nvSpPr>
          <p:cNvPr id="35" name="Text 31"/>
          <p:cNvSpPr txBox="1"/>
          <p:nvPr/>
        </p:nvSpPr>
        <p:spPr>
          <a:xfrm>
            <a:off x="7269480" y="1874520"/>
            <a:ext cx="4373575" cy="365760"/>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언제 어느 그룹을 열까요</a:t>
            </a:r>
            <a:endParaRPr lang="en-US" sz="1900" dirty="0"/>
          </a:p>
        </p:txBody>
      </p:sp>
      <p:sp>
        <p:nvSpPr>
          <p:cNvPr id="36" name="Shape 32"/>
          <p:cNvSpPr/>
          <p:nvPr/>
        </p:nvSpPr>
        <p:spPr>
          <a:xfrm>
            <a:off x="7269480" y="2267712"/>
            <a:ext cx="4373575" cy="676656"/>
          </a:xfrm>
          <a:prstGeom prst="roundRect">
            <a:avLst>
              <a:gd name="adj" fmla="val 16216"/>
            </a:avLst>
          </a:prstGeom>
          <a:solidFill>
            <a:srgbClr val="FFFFFF"/>
          </a:solidFill>
          <a:ln w="19050">
            <a:solidFill>
              <a:srgbClr val="7048E8"/>
            </a:solidFill>
            <a:prstDash val="solid"/>
          </a:ln>
        </p:spPr>
      </p:sp>
      <p:sp>
        <p:nvSpPr>
          <p:cNvPr id="37" name="Shape 33"/>
          <p:cNvSpPr/>
          <p:nvPr/>
        </p:nvSpPr>
        <p:spPr>
          <a:xfrm>
            <a:off x="7379208" y="2404872"/>
            <a:ext cx="670560" cy="310896"/>
          </a:xfrm>
          <a:prstGeom prst="roundRect">
            <a:avLst>
              <a:gd name="adj" fmla="val 50000"/>
            </a:avLst>
          </a:prstGeom>
          <a:solidFill>
            <a:srgbClr val="F0EDFF"/>
          </a:solidFill>
          <a:ln w="12700">
            <a:solidFill>
              <a:srgbClr val="F0EDFF"/>
            </a:solidFill>
            <a:prstDash val="solid"/>
          </a:ln>
        </p:spPr>
      </p:sp>
      <p:sp>
        <p:nvSpPr>
          <p:cNvPr id="38" name="Text 34"/>
          <p:cNvSpPr txBox="1"/>
          <p:nvPr/>
        </p:nvSpPr>
        <p:spPr>
          <a:xfrm>
            <a:off x="7379208" y="2404872"/>
            <a:ext cx="670560" cy="310896"/>
          </a:xfrm>
          <a:prstGeom prst="rect">
            <a:avLst/>
          </a:prstGeom>
          <a:noFill/>
          <a:ln/>
        </p:spPr>
        <p:txBody>
          <a:bodyPr wrap="square" lIns="0" tIns="0" rIns="0" bIns="0" rtlCol="0" anchor="ctr"/>
          <a:lstStyle/>
          <a:p>
            <a:pPr algn="ctr" indent="0" marL="0">
              <a:buNone/>
            </a:pPr>
            <a:r>
              <a:rPr lang="en-US" sz="1200" b="1" dirty="0">
                <a:solidFill>
                  <a:srgbClr val="7048E8"/>
                </a:solidFill>
                <a:latin typeface="맑은 고딕" pitchFamily="34" charset="0"/>
                <a:ea typeface="맑은 고딕" pitchFamily="34" charset="-122"/>
                <a:cs typeface="맑은 고딕" pitchFamily="34" charset="-120"/>
              </a:rPr>
              <a:t>월초</a:t>
            </a:r>
            <a:endParaRPr lang="en-US" sz="1200" dirty="0"/>
          </a:p>
        </p:txBody>
      </p:sp>
      <p:sp>
        <p:nvSpPr>
          <p:cNvPr id="39" name="Text 35"/>
          <p:cNvSpPr txBox="1"/>
          <p:nvPr/>
        </p:nvSpPr>
        <p:spPr>
          <a:xfrm>
            <a:off x="8549640" y="2304288"/>
            <a:ext cx="3001975" cy="274320"/>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당월 영업 타겟</a:t>
            </a:r>
            <a:endParaRPr lang="en-US" sz="1500" dirty="0"/>
          </a:p>
        </p:txBody>
      </p:sp>
      <p:sp>
        <p:nvSpPr>
          <p:cNvPr id="40" name="Text 36"/>
          <p:cNvSpPr txBox="1"/>
          <p:nvPr/>
        </p:nvSpPr>
        <p:spPr>
          <a:xfrm>
            <a:off x="8549640" y="2569464"/>
            <a:ext cx="3001975" cy="365760"/>
          </a:xfrm>
          <a:prstGeom prst="rect">
            <a:avLst/>
          </a:prstGeom>
          <a:noFill/>
          <a:ln/>
        </p:spPr>
        <p:txBody>
          <a:bodyPr wrap="square" lIns="0" tIns="0" rIns="0" bIns="0" rtlCol="0" anchor="ctr"/>
          <a:lstStyle/>
          <a:p>
            <a:pPr indent="0" marL="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우선순위 1위 · 추천 이유로 첫 말</a:t>
            </a:r>
            <a:endParaRPr lang="en-US" sz="1150" dirty="0"/>
          </a:p>
        </p:txBody>
      </p:sp>
      <p:sp>
        <p:nvSpPr>
          <p:cNvPr id="41" name="Shape 37"/>
          <p:cNvSpPr/>
          <p:nvPr/>
        </p:nvSpPr>
        <p:spPr>
          <a:xfrm>
            <a:off x="7269480" y="2999232"/>
            <a:ext cx="4373575" cy="676656"/>
          </a:xfrm>
          <a:prstGeom prst="roundRect">
            <a:avLst>
              <a:gd name="adj" fmla="val 16216"/>
            </a:avLst>
          </a:prstGeom>
          <a:solidFill>
            <a:srgbClr val="FFFFFF"/>
          </a:solidFill>
          <a:ln w="9525">
            <a:solidFill>
              <a:srgbClr val="E5E8EB"/>
            </a:solidFill>
            <a:prstDash val="solid"/>
          </a:ln>
        </p:spPr>
      </p:sp>
      <p:sp>
        <p:nvSpPr>
          <p:cNvPr id="42" name="Shape 38"/>
          <p:cNvSpPr/>
          <p:nvPr/>
        </p:nvSpPr>
        <p:spPr>
          <a:xfrm>
            <a:off x="7379208" y="3136392"/>
            <a:ext cx="1173480" cy="310896"/>
          </a:xfrm>
          <a:prstGeom prst="roundRect">
            <a:avLst>
              <a:gd name="adj" fmla="val 50000"/>
            </a:avLst>
          </a:prstGeom>
          <a:solidFill>
            <a:srgbClr val="F2F4F6"/>
          </a:solidFill>
          <a:ln w="12700">
            <a:solidFill>
              <a:srgbClr val="F2F4F6"/>
            </a:solidFill>
            <a:prstDash val="solid"/>
          </a:ln>
        </p:spPr>
      </p:sp>
      <p:sp>
        <p:nvSpPr>
          <p:cNvPr id="43" name="Text 39"/>
          <p:cNvSpPr txBox="1"/>
          <p:nvPr/>
        </p:nvSpPr>
        <p:spPr>
          <a:xfrm>
            <a:off x="7379208" y="3136392"/>
            <a:ext cx="1173480" cy="310896"/>
          </a:xfrm>
          <a:prstGeom prst="rect">
            <a:avLst/>
          </a:prstGeom>
          <a:noFill/>
          <a:ln/>
        </p:spPr>
        <p:txBody>
          <a:bodyPr wrap="square" lIns="0" tIns="0" rIns="0" bIns="0" rtlCol="0" anchor="ctr"/>
          <a:lstStyle/>
          <a:p>
            <a:pPr algn="ctr" indent="0" marL="0">
              <a:buNone/>
            </a:pPr>
            <a:r>
              <a:rPr lang="en-US" sz="1200" b="1" dirty="0">
                <a:solidFill>
                  <a:srgbClr val="4E5968"/>
                </a:solidFill>
                <a:latin typeface="맑은 고딕" pitchFamily="34" charset="0"/>
                <a:ea typeface="맑은 고딕" pitchFamily="34" charset="-122"/>
                <a:cs typeface="맑은 고딕" pitchFamily="34" charset="-120"/>
              </a:rPr>
              <a:t>매주 월요일</a:t>
            </a:r>
            <a:endParaRPr lang="en-US" sz="1200" dirty="0"/>
          </a:p>
        </p:txBody>
      </p:sp>
      <p:sp>
        <p:nvSpPr>
          <p:cNvPr id="44" name="Text 40"/>
          <p:cNvSpPr txBox="1"/>
          <p:nvPr/>
        </p:nvSpPr>
        <p:spPr>
          <a:xfrm>
            <a:off x="8671560" y="3035808"/>
            <a:ext cx="3001975" cy="274320"/>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상령일 · 생일 임박</a:t>
            </a:r>
            <a:endParaRPr lang="en-US" sz="1500" dirty="0"/>
          </a:p>
        </p:txBody>
      </p:sp>
      <p:sp>
        <p:nvSpPr>
          <p:cNvPr id="45" name="Text 41"/>
          <p:cNvSpPr txBox="1"/>
          <p:nvPr/>
        </p:nvSpPr>
        <p:spPr>
          <a:xfrm>
            <a:off x="8671560" y="3300984"/>
            <a:ext cx="3001975" cy="365760"/>
          </a:xfrm>
          <a:prstGeom prst="rect">
            <a:avLst/>
          </a:prstGeom>
          <a:noFill/>
          <a:ln/>
        </p:spPr>
        <p:txBody>
          <a:bodyPr wrap="square" lIns="0" tIns="0" rIns="0" bIns="0" rtlCol="0" anchor="ctr"/>
          <a:lstStyle/>
          <a:p>
            <a:pPr indent="0" marL="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오르기 전 점검 · 생일엔 축하 인사</a:t>
            </a:r>
            <a:endParaRPr lang="en-US" sz="1150" dirty="0"/>
          </a:p>
        </p:txBody>
      </p:sp>
      <p:sp>
        <p:nvSpPr>
          <p:cNvPr id="46" name="Shape 42"/>
          <p:cNvSpPr/>
          <p:nvPr/>
        </p:nvSpPr>
        <p:spPr>
          <a:xfrm>
            <a:off x="7269480" y="3730752"/>
            <a:ext cx="4373575" cy="676656"/>
          </a:xfrm>
          <a:prstGeom prst="roundRect">
            <a:avLst>
              <a:gd name="adj" fmla="val 16216"/>
            </a:avLst>
          </a:prstGeom>
          <a:solidFill>
            <a:srgbClr val="FFFFFF"/>
          </a:solidFill>
          <a:ln w="9525">
            <a:solidFill>
              <a:srgbClr val="E5E8EB"/>
            </a:solidFill>
            <a:prstDash val="solid"/>
          </a:ln>
        </p:spPr>
      </p:sp>
      <p:sp>
        <p:nvSpPr>
          <p:cNvPr id="47" name="Shape 43"/>
          <p:cNvSpPr/>
          <p:nvPr/>
        </p:nvSpPr>
        <p:spPr>
          <a:xfrm>
            <a:off x="7379208" y="3867912"/>
            <a:ext cx="670560" cy="310896"/>
          </a:xfrm>
          <a:prstGeom prst="roundRect">
            <a:avLst>
              <a:gd name="adj" fmla="val 50000"/>
            </a:avLst>
          </a:prstGeom>
          <a:solidFill>
            <a:srgbClr val="F2F4F6"/>
          </a:solidFill>
          <a:ln w="12700">
            <a:solidFill>
              <a:srgbClr val="F2F4F6"/>
            </a:solidFill>
            <a:prstDash val="solid"/>
          </a:ln>
        </p:spPr>
      </p:sp>
      <p:sp>
        <p:nvSpPr>
          <p:cNvPr id="48" name="Text 44"/>
          <p:cNvSpPr txBox="1"/>
          <p:nvPr/>
        </p:nvSpPr>
        <p:spPr>
          <a:xfrm>
            <a:off x="7379208" y="3867912"/>
            <a:ext cx="670560" cy="310896"/>
          </a:xfrm>
          <a:prstGeom prst="rect">
            <a:avLst/>
          </a:prstGeom>
          <a:noFill/>
          <a:ln/>
        </p:spPr>
        <p:txBody>
          <a:bodyPr wrap="square" lIns="0" tIns="0" rIns="0" bIns="0" rtlCol="0" anchor="ctr"/>
          <a:lstStyle/>
          <a:p>
            <a:pPr algn="ctr" indent="0" marL="0">
              <a:buNone/>
            </a:pPr>
            <a:r>
              <a:rPr lang="en-US" sz="1200" b="1" dirty="0">
                <a:solidFill>
                  <a:srgbClr val="4E5968"/>
                </a:solidFill>
                <a:latin typeface="맑은 고딕" pitchFamily="34" charset="0"/>
                <a:ea typeface="맑은 고딕" pitchFamily="34" charset="-122"/>
                <a:cs typeface="맑은 고딕" pitchFamily="34" charset="-120"/>
              </a:rPr>
              <a:t>매달</a:t>
            </a:r>
            <a:endParaRPr lang="en-US" sz="1200" dirty="0"/>
          </a:p>
        </p:txBody>
      </p:sp>
      <p:sp>
        <p:nvSpPr>
          <p:cNvPr id="49" name="Text 45"/>
          <p:cNvSpPr txBox="1"/>
          <p:nvPr/>
        </p:nvSpPr>
        <p:spPr>
          <a:xfrm>
            <a:off x="8549640" y="3767328"/>
            <a:ext cx="3001975" cy="274320"/>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사전동의 만료</a:t>
            </a:r>
            <a:endParaRPr lang="en-US" sz="1500" dirty="0"/>
          </a:p>
        </p:txBody>
      </p:sp>
      <p:sp>
        <p:nvSpPr>
          <p:cNvPr id="50" name="Text 46"/>
          <p:cNvSpPr txBox="1"/>
          <p:nvPr/>
        </p:nvSpPr>
        <p:spPr>
          <a:xfrm>
            <a:off x="8549640" y="4032504"/>
            <a:ext cx="3001975" cy="365760"/>
          </a:xfrm>
          <a:prstGeom prst="rect">
            <a:avLst/>
          </a:prstGeom>
          <a:noFill/>
          <a:ln/>
        </p:spPr>
        <p:txBody>
          <a:bodyPr wrap="square" lIns="0" tIns="0" rIns="0" bIns="0" rtlCol="0" anchor="ctr"/>
          <a:lstStyle/>
          <a:p>
            <a:pPr indent="0" marL="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만료 전에 미리 안내해요</a:t>
            </a:r>
            <a:endParaRPr lang="en-US" sz="1150" dirty="0"/>
          </a:p>
        </p:txBody>
      </p:sp>
      <p:sp>
        <p:nvSpPr>
          <p:cNvPr id="51" name="Shape 47"/>
          <p:cNvSpPr/>
          <p:nvPr/>
        </p:nvSpPr>
        <p:spPr>
          <a:xfrm>
            <a:off x="7269480" y="4462272"/>
            <a:ext cx="4373575" cy="676656"/>
          </a:xfrm>
          <a:prstGeom prst="roundRect">
            <a:avLst>
              <a:gd name="adj" fmla="val 16216"/>
            </a:avLst>
          </a:prstGeom>
          <a:solidFill>
            <a:srgbClr val="FFFFFF"/>
          </a:solidFill>
          <a:ln w="9525">
            <a:solidFill>
              <a:srgbClr val="E5E8EB"/>
            </a:solidFill>
            <a:prstDash val="solid"/>
          </a:ln>
        </p:spPr>
      </p:sp>
      <p:sp>
        <p:nvSpPr>
          <p:cNvPr id="52" name="Shape 48"/>
          <p:cNvSpPr/>
          <p:nvPr/>
        </p:nvSpPr>
        <p:spPr>
          <a:xfrm>
            <a:off x="7379208" y="4599432"/>
            <a:ext cx="670560" cy="310896"/>
          </a:xfrm>
          <a:prstGeom prst="roundRect">
            <a:avLst>
              <a:gd name="adj" fmla="val 50000"/>
            </a:avLst>
          </a:prstGeom>
          <a:solidFill>
            <a:srgbClr val="F2F4F6"/>
          </a:solidFill>
          <a:ln w="12700">
            <a:solidFill>
              <a:srgbClr val="F2F4F6"/>
            </a:solidFill>
            <a:prstDash val="solid"/>
          </a:ln>
        </p:spPr>
      </p:sp>
      <p:sp>
        <p:nvSpPr>
          <p:cNvPr id="53" name="Text 49"/>
          <p:cNvSpPr txBox="1"/>
          <p:nvPr/>
        </p:nvSpPr>
        <p:spPr>
          <a:xfrm>
            <a:off x="7379208" y="4599432"/>
            <a:ext cx="670560" cy="310896"/>
          </a:xfrm>
          <a:prstGeom prst="rect">
            <a:avLst/>
          </a:prstGeom>
          <a:noFill/>
          <a:ln/>
        </p:spPr>
        <p:txBody>
          <a:bodyPr wrap="square" lIns="0" tIns="0" rIns="0" bIns="0" rtlCol="0" anchor="ctr"/>
          <a:lstStyle/>
          <a:p>
            <a:pPr algn="ctr" indent="0" marL="0">
              <a:buNone/>
            </a:pPr>
            <a:r>
              <a:rPr lang="en-US" sz="1200" b="1" dirty="0">
                <a:solidFill>
                  <a:srgbClr val="4E5968"/>
                </a:solidFill>
                <a:latin typeface="맑은 고딕" pitchFamily="34" charset="0"/>
                <a:ea typeface="맑은 고딕" pitchFamily="34" charset="-122"/>
                <a:cs typeface="맑은 고딕" pitchFamily="34" charset="-120"/>
              </a:rPr>
              <a:t>수시</a:t>
            </a:r>
            <a:endParaRPr lang="en-US" sz="1200" dirty="0"/>
          </a:p>
        </p:txBody>
      </p:sp>
      <p:sp>
        <p:nvSpPr>
          <p:cNvPr id="54" name="Text 50"/>
          <p:cNvSpPr txBox="1"/>
          <p:nvPr/>
        </p:nvSpPr>
        <p:spPr>
          <a:xfrm>
            <a:off x="8549640" y="4498848"/>
            <a:ext cx="3001975" cy="274320"/>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신규 등록 고객</a:t>
            </a:r>
            <a:endParaRPr lang="en-US" sz="1500" dirty="0"/>
          </a:p>
        </p:txBody>
      </p:sp>
      <p:sp>
        <p:nvSpPr>
          <p:cNvPr id="55" name="Text 51"/>
          <p:cNvSpPr txBox="1"/>
          <p:nvPr/>
        </p:nvSpPr>
        <p:spPr>
          <a:xfrm>
            <a:off x="8549640" y="4764024"/>
            <a:ext cx="3001975" cy="365760"/>
          </a:xfrm>
          <a:prstGeom prst="rect">
            <a:avLst/>
          </a:prstGeom>
          <a:noFill/>
          <a:ln/>
        </p:spPr>
        <p:txBody>
          <a:bodyPr wrap="square" lIns="0" tIns="0" rIns="0" bIns="0" rtlCol="0" anchor="ctr"/>
          <a:lstStyle/>
          <a:p>
            <a:pPr indent="0" marL="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상세는 다음 날 반영돼요</a:t>
            </a:r>
            <a:endParaRPr lang="en-US" sz="1150" dirty="0"/>
          </a:p>
        </p:txBody>
      </p:sp>
      <p:sp>
        <p:nvSpPr>
          <p:cNvPr id="56" name="Shape 52"/>
          <p:cNvSpPr/>
          <p:nvPr/>
        </p:nvSpPr>
        <p:spPr>
          <a:xfrm>
            <a:off x="7269480" y="5230368"/>
            <a:ext cx="4373575" cy="566928"/>
          </a:xfrm>
          <a:prstGeom prst="roundRect">
            <a:avLst>
              <a:gd name="adj" fmla="val 19355"/>
            </a:avLst>
          </a:prstGeom>
          <a:solidFill>
            <a:srgbClr val="F9FAFB"/>
          </a:solidFill>
          <a:ln w="12700">
            <a:solidFill>
              <a:srgbClr val="F9FAFB"/>
            </a:solidFill>
            <a:prstDash val="solid"/>
          </a:ln>
        </p:spPr>
      </p:sp>
      <p:sp>
        <p:nvSpPr>
          <p:cNvPr id="57" name="Text 53"/>
          <p:cNvSpPr txBox="1"/>
          <p:nvPr/>
        </p:nvSpPr>
        <p:spPr>
          <a:xfrm>
            <a:off x="7452360" y="5230368"/>
            <a:ext cx="4099255" cy="566928"/>
          </a:xfrm>
          <a:prstGeom prst="rect">
            <a:avLst/>
          </a:prstGeom>
          <a:noFill/>
          <a:ln/>
        </p:spPr>
        <p:txBody>
          <a:bodyPr wrap="square" lIns="0" tIns="0" rIns="0" bIns="0" rtlCol="0" anchor="ctr"/>
          <a:lstStyle/>
          <a:p>
            <a:pPr indent="0" marL="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보장 부족 그룹은 주력 상품 담보부터</a:t>
            </a:r>
            <a:endParaRPr lang="en-US" sz="1150" dirty="0"/>
          </a:p>
          <a:p>
            <a:pPr indent="0" marL="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한 고객이 여러 그룹에 · 예: 김민수</a:t>
            </a:r>
            <a:endParaRPr lang="en-US" sz="1150" dirty="0"/>
          </a:p>
        </p:txBody>
      </p:sp>
      <p:sp>
        <p:nvSpPr>
          <p:cNvPr id="58" name="Text 54"/>
          <p:cNvSpPr txBox="1"/>
          <p:nvPr/>
        </p:nvSpPr>
        <p:spPr>
          <a:xfrm>
            <a:off x="548640" y="5852160"/>
            <a:ext cx="11094415" cy="237744"/>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 인원은 화면 예시 · 설명 문장은 확정 화면의 안내 · 금액은 보장분석으로 확인</a:t>
            </a:r>
            <a:endParaRPr lang="en-US" sz="1200" dirty="0"/>
          </a:p>
        </p:txBody>
      </p:sp>
      <p:sp>
        <p:nvSpPr>
          <p:cNvPr id="59" name="Text 55"/>
          <p:cNvSpPr txBox="1"/>
          <p:nvPr/>
        </p:nvSpPr>
        <p:spPr>
          <a:xfrm>
            <a:off x="548640" y="6108192"/>
            <a:ext cx="11094415" cy="219456"/>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출처: MeAI 활용 가이드북 v4 p.31–33·41·63·74 · 확정 화면</a:t>
            </a:r>
            <a:endParaRPr lang="en-US" sz="1100" dirty="0"/>
          </a:p>
        </p:txBody>
      </p:sp>
      <p:sp>
        <p:nvSpPr>
          <p:cNvPr id="60" name="Text 5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1" name="Text 5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“D-n”이면 바로, “필요”면 알림톡 한 통이에요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맞춤대화는 보장 내역을 읽어요. 그래서 동의가 먼저예요.</a:t>
            </a:r>
            <a:endParaRPr lang="en-US" sz="1700" dirty="0"/>
          </a:p>
        </p:txBody>
      </p:sp>
      <p:sp>
        <p:nvSpPr>
          <p:cNvPr id="13" name="Shape 11"/>
          <p:cNvSpPr/>
          <p:nvPr/>
        </p:nvSpPr>
        <p:spPr>
          <a:xfrm>
            <a:off x="548640" y="1965960"/>
            <a:ext cx="11094415" cy="914400"/>
          </a:xfrm>
          <a:prstGeom prst="roundRect">
            <a:avLst>
              <a:gd name="adj" fmla="val 14000"/>
            </a:avLst>
          </a:prstGeom>
          <a:solidFill>
            <a:srgbClr val="FFFFFF"/>
          </a:solidFill>
          <a:ln w="9525">
            <a:solidFill>
              <a:srgbClr val="E5E8EB"/>
            </a:solidFill>
            <a:prstDash val="solid"/>
          </a:ln>
        </p:spPr>
      </p:sp>
      <p:sp>
        <p:nvSpPr>
          <p:cNvPr id="14" name="Shape 12"/>
          <p:cNvSpPr/>
          <p:nvPr/>
        </p:nvSpPr>
        <p:spPr>
          <a:xfrm>
            <a:off x="777240" y="2221992"/>
            <a:ext cx="1253490" cy="402336"/>
          </a:xfrm>
          <a:prstGeom prst="roundRect">
            <a:avLst>
              <a:gd name="adj" fmla="val 50000"/>
            </a:avLst>
          </a:prstGeom>
          <a:solidFill>
            <a:srgbClr val="E8F3FF"/>
          </a:solidFill>
          <a:ln w="12700">
            <a:solidFill>
              <a:srgbClr val="E8F3FF"/>
            </a:solidFill>
            <a:prstDash val="solid"/>
          </a:ln>
        </p:spPr>
      </p:sp>
      <p:sp>
        <p:nvSpPr>
          <p:cNvPr id="15" name="Text 13"/>
          <p:cNvSpPr txBox="1"/>
          <p:nvPr/>
        </p:nvSpPr>
        <p:spPr>
          <a:xfrm>
            <a:off x="777240" y="2221992"/>
            <a:ext cx="1253490" cy="402336"/>
          </a:xfrm>
          <a:prstGeom prst="rect">
            <a:avLst/>
          </a:prstGeom>
          <a:noFill/>
          <a:ln/>
        </p:spPr>
        <p:txBody>
          <a:bodyPr wrap="square" lIns="0" tIns="0" rIns="0" bIns="0" rtlCol="0" anchor="ctr"/>
          <a:lstStyle/>
          <a:p>
            <a:pPr algn="ctr" indent="0" marL="0">
              <a:buNone/>
            </a:pPr>
            <a:r>
              <a:rPr lang="en-US" sz="1500" b="1" dirty="0">
                <a:solidFill>
                  <a:srgbClr val="3182F6"/>
                </a:solidFill>
                <a:latin typeface="맑은 고딕" pitchFamily="34" charset="0"/>
                <a:ea typeface="맑은 고딕" pitchFamily="34" charset="-122"/>
                <a:cs typeface="맑은 고딕" pitchFamily="34" charset="-120"/>
              </a:rPr>
              <a:t>유효 · D-n</a:t>
            </a:r>
            <a:endParaRPr lang="en-US" sz="1500" dirty="0"/>
          </a:p>
        </p:txBody>
      </p:sp>
      <p:pic>
        <p:nvPicPr>
          <p:cNvPr id="16" name="Image 0" descr="MeAI 화면 캡처">    </p:cNvPr>
          <p:cNvPicPr>
            <a:picLocks noChangeAspect="1"/>
          </p:cNvPicPr>
          <p:nvPr/>
        </p:nvPicPr>
        <p:blipFill>
          <a:blip r:embed="rId1"/>
          <a:stretch>
            <a:fillRect/>
          </a:stretch>
        </p:blipFill>
        <p:spPr>
          <a:xfrm>
            <a:off x="2514600" y="2104849"/>
            <a:ext cx="5394960" cy="636622"/>
          </a:xfrm>
          <a:prstGeom prst="rect">
            <a:avLst/>
          </a:prstGeom>
        </p:spPr>
      </p:pic>
      <p:sp>
        <p:nvSpPr>
          <p:cNvPr id="17" name="Shape 14"/>
          <p:cNvSpPr/>
          <p:nvPr/>
        </p:nvSpPr>
        <p:spPr>
          <a:xfrm>
            <a:off x="5379024" y="2267712"/>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379024" y="226771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Text 16"/>
          <p:cNvSpPr txBox="1"/>
          <p:nvPr/>
        </p:nvSpPr>
        <p:spPr>
          <a:xfrm>
            <a:off x="8138160" y="2057400"/>
            <a:ext cx="3367735" cy="384048"/>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바로 [맞춤대화]</a:t>
            </a:r>
            <a:endParaRPr lang="en-US" sz="1700" dirty="0"/>
          </a:p>
        </p:txBody>
      </p:sp>
      <p:sp>
        <p:nvSpPr>
          <p:cNvPr id="20" name="Text 17"/>
          <p:cNvSpPr txBox="1"/>
          <p:nvPr/>
        </p:nvSpPr>
        <p:spPr>
          <a:xfrm>
            <a:off x="8138160" y="2423160"/>
            <a:ext cx="3367735" cy="411480"/>
          </a:xfrm>
          <a:prstGeom prst="rect">
            <a:avLst/>
          </a:prstGeom>
          <a:noFill/>
          <a:ln/>
        </p:spPr>
        <p:txBody>
          <a:bodyPr wrap="square" lIns="0" tIns="0" rIns="0" bIns="0" rtlCol="0" anchor="t"/>
          <a:lstStyle/>
          <a:p>
            <a:pPr indent="0" marL="0">
              <a:buNone/>
            </a:pPr>
            <a:r>
              <a:rPr lang="en-US" sz="1350" dirty="0">
                <a:solidFill>
                  <a:srgbClr val="6B7684"/>
                </a:solidFill>
                <a:latin typeface="맑은 고딕" pitchFamily="34" charset="0"/>
                <a:ea typeface="맑은 고딕" pitchFamily="34" charset="-122"/>
                <a:cs typeface="맑은 고딕" pitchFamily="34" charset="-120"/>
              </a:rPr>
              <a:t>동의일부터 1년 동안 보여요</a:t>
            </a:r>
            <a:endParaRPr lang="en-US" sz="1350" dirty="0"/>
          </a:p>
        </p:txBody>
      </p:sp>
      <p:sp>
        <p:nvSpPr>
          <p:cNvPr id="21" name="Shape 18"/>
          <p:cNvSpPr/>
          <p:nvPr/>
        </p:nvSpPr>
        <p:spPr>
          <a:xfrm>
            <a:off x="548640" y="2990088"/>
            <a:ext cx="11094415" cy="914400"/>
          </a:xfrm>
          <a:prstGeom prst="roundRect">
            <a:avLst>
              <a:gd name="adj" fmla="val 14000"/>
            </a:avLst>
          </a:prstGeom>
          <a:solidFill>
            <a:srgbClr val="FFFFFF"/>
          </a:solidFill>
          <a:ln w="9525">
            <a:solidFill>
              <a:srgbClr val="E5E8EB"/>
            </a:solidFill>
            <a:prstDash val="solid"/>
          </a:ln>
        </p:spPr>
      </p:sp>
      <p:sp>
        <p:nvSpPr>
          <p:cNvPr id="22" name="Shape 19"/>
          <p:cNvSpPr/>
          <p:nvPr/>
        </p:nvSpPr>
        <p:spPr>
          <a:xfrm>
            <a:off x="777240" y="3246120"/>
            <a:ext cx="1318260" cy="402336"/>
          </a:xfrm>
          <a:prstGeom prst="roundRect">
            <a:avLst>
              <a:gd name="adj" fmla="val 50000"/>
            </a:avLst>
          </a:prstGeom>
          <a:solidFill>
            <a:srgbClr val="FFF0F0"/>
          </a:solidFill>
          <a:ln w="12700">
            <a:solidFill>
              <a:srgbClr val="FFF0F0"/>
            </a:solidFill>
            <a:prstDash val="solid"/>
          </a:ln>
        </p:spPr>
      </p:sp>
      <p:sp>
        <p:nvSpPr>
          <p:cNvPr id="23" name="Text 20"/>
          <p:cNvSpPr txBox="1"/>
          <p:nvPr/>
        </p:nvSpPr>
        <p:spPr>
          <a:xfrm>
            <a:off x="777240" y="3246120"/>
            <a:ext cx="1318260" cy="402336"/>
          </a:xfrm>
          <a:prstGeom prst="rect">
            <a:avLst/>
          </a:prstGeom>
          <a:noFill/>
          <a:ln/>
        </p:spPr>
        <p:txBody>
          <a:bodyPr wrap="square" lIns="0" tIns="0" rIns="0" bIns="0" rtlCol="0" anchor="ctr"/>
          <a:lstStyle/>
          <a:p>
            <a:pPr algn="ctr" indent="0" marL="0">
              <a:buNone/>
            </a:pPr>
            <a:r>
              <a:rPr lang="en-US" sz="1500" b="1" dirty="0">
                <a:solidFill>
                  <a:srgbClr val="F04452"/>
                </a:solidFill>
                <a:latin typeface="맑은 고딕" pitchFamily="34" charset="0"/>
                <a:ea typeface="맑은 고딕" pitchFamily="34" charset="-122"/>
                <a:cs typeface="맑은 고딕" pitchFamily="34" charset="-120"/>
              </a:rPr>
              <a:t>필요 · 만료</a:t>
            </a:r>
            <a:endParaRPr lang="en-US" sz="1500" dirty="0"/>
          </a:p>
        </p:txBody>
      </p:sp>
      <p:pic>
        <p:nvPicPr>
          <p:cNvPr id="24" name="Image 1" descr="MeAI 화면 캡처">    </p:cNvPr>
          <p:cNvPicPr>
            <a:picLocks noChangeAspect="1"/>
          </p:cNvPicPr>
          <p:nvPr/>
        </p:nvPicPr>
        <p:blipFill>
          <a:blip r:embed="rId2"/>
          <a:stretch>
            <a:fillRect/>
          </a:stretch>
        </p:blipFill>
        <p:spPr>
          <a:xfrm>
            <a:off x="2514600" y="3099816"/>
            <a:ext cx="2214124" cy="694944"/>
          </a:xfrm>
          <a:prstGeom prst="rect">
            <a:avLst/>
          </a:prstGeom>
        </p:spPr>
      </p:pic>
      <p:sp>
        <p:nvSpPr>
          <p:cNvPr id="25" name="Shape 21"/>
          <p:cNvSpPr/>
          <p:nvPr/>
        </p:nvSpPr>
        <p:spPr>
          <a:xfrm>
            <a:off x="2251409" y="3291840"/>
            <a:ext cx="310896" cy="310896"/>
          </a:xfrm>
          <a:prstGeom prst="ellipse">
            <a:avLst/>
          </a:prstGeom>
          <a:solidFill>
            <a:srgbClr val="F04452"/>
          </a:solidFill>
          <a:ln w="19050">
            <a:solidFill>
              <a:srgbClr val="FFFFFF"/>
            </a:solidFill>
            <a:prstDash val="solid"/>
          </a:ln>
        </p:spPr>
      </p:sp>
      <p:sp>
        <p:nvSpPr>
          <p:cNvPr id="26" name="Text 22"/>
          <p:cNvSpPr txBox="1"/>
          <p:nvPr/>
        </p:nvSpPr>
        <p:spPr>
          <a:xfrm>
            <a:off x="2251409" y="329184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7" name="Text 23"/>
          <p:cNvSpPr txBox="1"/>
          <p:nvPr/>
        </p:nvSpPr>
        <p:spPr>
          <a:xfrm>
            <a:off x="4774444" y="2990088"/>
            <a:ext cx="320040" cy="914400"/>
          </a:xfrm>
          <a:prstGeom prst="rect">
            <a:avLst/>
          </a:prstGeom>
          <a:noFill/>
          <a:ln/>
        </p:spPr>
        <p:txBody>
          <a:bodyPr wrap="square" lIns="0" tIns="0" rIns="0" bIns="0" rtlCol="0" anchor="ctr"/>
          <a:lstStyle/>
          <a:p>
            <a:pPr algn="ctr" indent="0" marL="0">
              <a:buNone/>
            </a:pPr>
            <a:r>
              <a:rPr lang="en-US" sz="2000" dirty="0">
                <a:solidFill>
                  <a:srgbClr val="B0B8C1"/>
                </a:solidFill>
                <a:latin typeface="맑은 고딕" pitchFamily="34" charset="0"/>
                <a:ea typeface="맑은 고딕" pitchFamily="34" charset="-122"/>
                <a:cs typeface="맑은 고딕" pitchFamily="34" charset="-120"/>
              </a:rPr>
              <a:t>→</a:t>
            </a:r>
            <a:endParaRPr lang="en-US" sz="2000" dirty="0"/>
          </a:p>
        </p:txBody>
      </p:sp>
      <p:pic>
        <p:nvPicPr>
          <p:cNvPr id="28" name="Image 2" descr="MeAI 화면 캡처">    </p:cNvPr>
          <p:cNvPicPr>
            <a:picLocks noChangeAspect="1"/>
          </p:cNvPicPr>
          <p:nvPr/>
        </p:nvPicPr>
        <p:blipFill>
          <a:blip r:embed="rId3"/>
          <a:stretch>
            <a:fillRect/>
          </a:stretch>
        </p:blipFill>
        <p:spPr>
          <a:xfrm>
            <a:off x="5140204" y="3081528"/>
            <a:ext cx="1434790" cy="731520"/>
          </a:xfrm>
          <a:prstGeom prst="rect">
            <a:avLst/>
          </a:prstGeom>
        </p:spPr>
      </p:pic>
      <p:sp>
        <p:nvSpPr>
          <p:cNvPr id="29" name="Text 24"/>
          <p:cNvSpPr txBox="1"/>
          <p:nvPr/>
        </p:nvSpPr>
        <p:spPr>
          <a:xfrm>
            <a:off x="8138160" y="3081528"/>
            <a:ext cx="3367735" cy="384048"/>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[사전조회동의 요청하기]</a:t>
            </a:r>
            <a:endParaRPr lang="en-US" sz="1700" dirty="0"/>
          </a:p>
        </p:txBody>
      </p:sp>
      <p:sp>
        <p:nvSpPr>
          <p:cNvPr id="30" name="Text 25"/>
          <p:cNvSpPr txBox="1"/>
          <p:nvPr/>
        </p:nvSpPr>
        <p:spPr>
          <a:xfrm>
            <a:off x="8138160" y="3447288"/>
            <a:ext cx="3367735" cy="411480"/>
          </a:xfrm>
          <a:prstGeom prst="rect">
            <a:avLst/>
          </a:prstGeom>
          <a:noFill/>
          <a:ln/>
        </p:spPr>
        <p:txBody>
          <a:bodyPr wrap="square" lIns="0" tIns="0" rIns="0" bIns="0" rtlCol="0" anchor="t"/>
          <a:lstStyle/>
          <a:p>
            <a:pPr indent="0" marL="0">
              <a:buNone/>
            </a:pPr>
            <a:r>
              <a:rPr lang="en-US" sz="1350" dirty="0">
                <a:solidFill>
                  <a:srgbClr val="6B7684"/>
                </a:solidFill>
                <a:latin typeface="맑은 고딕" pitchFamily="34" charset="0"/>
                <a:ea typeface="맑은 고딕" pitchFamily="34" charset="-122"/>
                <a:cs typeface="맑은 고딕" pitchFamily="34" charset="-120"/>
              </a:rPr>
              <a:t>→ 휴대폰 번호 → 알림톡</a:t>
            </a:r>
            <a:endParaRPr lang="en-US" sz="1350" dirty="0"/>
          </a:p>
          <a:p>
            <a:pPr indent="0" marL="0">
              <a:buNone/>
            </a:pPr>
            <a:r>
              <a:rPr lang="en-US" sz="1350" b="1" dirty="0">
                <a:solidFill>
                  <a:srgbClr val="3182F6"/>
                </a:solidFill>
                <a:latin typeface="맑은 고딕" pitchFamily="34" charset="0"/>
                <a:ea typeface="맑은 고딕" pitchFamily="34" charset="-122"/>
                <a:cs typeface="맑은 고딕" pitchFamily="34" charset="-120"/>
              </a:rPr>
              <a:t>예: 김민수 고객</a:t>
            </a:r>
            <a:endParaRPr lang="en-US" sz="1350" dirty="0"/>
          </a:p>
        </p:txBody>
      </p:sp>
      <p:sp>
        <p:nvSpPr>
          <p:cNvPr id="31" name="Shape 26"/>
          <p:cNvSpPr/>
          <p:nvPr/>
        </p:nvSpPr>
        <p:spPr>
          <a:xfrm>
            <a:off x="548640" y="4014216"/>
            <a:ext cx="11094415" cy="914400"/>
          </a:xfrm>
          <a:prstGeom prst="roundRect">
            <a:avLst>
              <a:gd name="adj" fmla="val 14000"/>
            </a:avLst>
          </a:prstGeom>
          <a:solidFill>
            <a:srgbClr val="FFFFFF"/>
          </a:solidFill>
          <a:ln w="9525">
            <a:solidFill>
              <a:srgbClr val="E5E8EB"/>
            </a:solidFill>
            <a:prstDash val="solid"/>
          </a:ln>
        </p:spPr>
      </p:sp>
      <p:sp>
        <p:nvSpPr>
          <p:cNvPr id="32" name="Shape 27"/>
          <p:cNvSpPr/>
          <p:nvPr/>
        </p:nvSpPr>
        <p:spPr>
          <a:xfrm>
            <a:off x="777240" y="4270248"/>
            <a:ext cx="1184910" cy="402336"/>
          </a:xfrm>
          <a:prstGeom prst="roundRect">
            <a:avLst>
              <a:gd name="adj" fmla="val 50000"/>
            </a:avLst>
          </a:prstGeom>
          <a:solidFill>
            <a:srgbClr val="F2F4F6"/>
          </a:solidFill>
          <a:ln w="12700">
            <a:solidFill>
              <a:srgbClr val="F2F4F6"/>
            </a:solidFill>
            <a:prstDash val="solid"/>
          </a:ln>
        </p:spPr>
      </p:sp>
      <p:sp>
        <p:nvSpPr>
          <p:cNvPr id="33" name="Text 28"/>
          <p:cNvSpPr txBox="1"/>
          <p:nvPr/>
        </p:nvSpPr>
        <p:spPr>
          <a:xfrm>
            <a:off x="777240" y="4270248"/>
            <a:ext cx="1184910" cy="402336"/>
          </a:xfrm>
          <a:prstGeom prst="rect">
            <a:avLst/>
          </a:prstGeom>
          <a:noFill/>
          <a:ln/>
        </p:spPr>
        <p:txBody>
          <a:bodyPr wrap="square" lIns="0" tIns="0" rIns="0" bIns="0" rtlCol="0" anchor="ctr"/>
          <a:lstStyle/>
          <a:p>
            <a:pPr algn="ctr" indent="0" marL="0">
              <a:buNone/>
            </a:pPr>
            <a:r>
              <a:rPr lang="en-US" sz="1500" b="1" dirty="0">
                <a:solidFill>
                  <a:srgbClr val="6B7684"/>
                </a:solidFill>
                <a:latin typeface="맑은 고딕" pitchFamily="34" charset="0"/>
                <a:ea typeface="맑은 고딕" pitchFamily="34" charset="-122"/>
                <a:cs typeface="맑은 고딕" pitchFamily="34" charset="-120"/>
              </a:rPr>
              <a:t>오늘 철회</a:t>
            </a:r>
            <a:endParaRPr lang="en-US" sz="1500" dirty="0"/>
          </a:p>
        </p:txBody>
      </p:sp>
      <p:pic>
        <p:nvPicPr>
          <p:cNvPr id="34" name="Image 3" descr="MeAI 화면 캡처">    </p:cNvPr>
          <p:cNvPicPr>
            <a:picLocks noChangeAspect="1"/>
          </p:cNvPicPr>
          <p:nvPr/>
        </p:nvPicPr>
        <p:blipFill>
          <a:blip r:embed="rId4"/>
          <a:stretch>
            <a:fillRect/>
          </a:stretch>
        </p:blipFill>
        <p:spPr>
          <a:xfrm>
            <a:off x="2514600" y="4153105"/>
            <a:ext cx="5394960" cy="636622"/>
          </a:xfrm>
          <a:prstGeom prst="rect">
            <a:avLst/>
          </a:prstGeom>
        </p:spPr>
      </p:pic>
      <p:sp>
        <p:nvSpPr>
          <p:cNvPr id="35" name="Shape 29"/>
          <p:cNvSpPr/>
          <p:nvPr/>
        </p:nvSpPr>
        <p:spPr>
          <a:xfrm>
            <a:off x="5379024" y="4315968"/>
            <a:ext cx="310896" cy="310896"/>
          </a:xfrm>
          <a:prstGeom prst="ellipse">
            <a:avLst/>
          </a:prstGeom>
          <a:solidFill>
            <a:srgbClr val="6B7684"/>
          </a:solidFill>
          <a:ln w="19050">
            <a:solidFill>
              <a:srgbClr val="FFFFFF"/>
            </a:solidFill>
            <a:prstDash val="solid"/>
          </a:ln>
        </p:spPr>
      </p:sp>
      <p:sp>
        <p:nvSpPr>
          <p:cNvPr id="36" name="Text 30"/>
          <p:cNvSpPr txBox="1"/>
          <p:nvPr/>
        </p:nvSpPr>
        <p:spPr>
          <a:xfrm>
            <a:off x="5379024" y="431596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Text 31"/>
          <p:cNvSpPr txBox="1"/>
          <p:nvPr/>
        </p:nvSpPr>
        <p:spPr>
          <a:xfrm>
            <a:off x="8138160" y="4105656"/>
            <a:ext cx="3367735" cy="384048"/>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우회 말고 동의부터</a:t>
            </a:r>
            <a:endParaRPr lang="en-US" sz="1700" dirty="0"/>
          </a:p>
        </p:txBody>
      </p:sp>
      <p:sp>
        <p:nvSpPr>
          <p:cNvPr id="38" name="Text 32"/>
          <p:cNvSpPr txBox="1"/>
          <p:nvPr/>
        </p:nvSpPr>
        <p:spPr>
          <a:xfrm>
            <a:off x="8138160" y="4471416"/>
            <a:ext cx="3367735" cy="411480"/>
          </a:xfrm>
          <a:prstGeom prst="rect">
            <a:avLst/>
          </a:prstGeom>
          <a:noFill/>
          <a:ln/>
        </p:spPr>
        <p:txBody>
          <a:bodyPr wrap="square" lIns="0" tIns="0" rIns="0" bIns="0" rtlCol="0" anchor="t"/>
          <a:lstStyle/>
          <a:p>
            <a:pPr indent="0" marL="0">
              <a:buNone/>
            </a:pPr>
            <a:r>
              <a:rPr lang="en-US" sz="1350" dirty="0">
                <a:solidFill>
                  <a:srgbClr val="6B7684"/>
                </a:solidFill>
                <a:latin typeface="맑은 고딕" pitchFamily="34" charset="0"/>
                <a:ea typeface="맑은 고딕" pitchFamily="34" charset="-122"/>
                <a:cs typeface="맑은 고딕" pitchFamily="34" charset="-120"/>
              </a:rPr>
              <a:t>회색 · 정보를 볼 수 없어요</a:t>
            </a:r>
            <a:endParaRPr lang="en-US" sz="1350" dirty="0"/>
          </a:p>
        </p:txBody>
      </p:sp>
      <p:sp>
        <p:nvSpPr>
          <p:cNvPr id="39" name="Text 33"/>
          <p:cNvSpPr txBox="1"/>
          <p:nvPr/>
        </p:nvSpPr>
        <p:spPr>
          <a:xfrm>
            <a:off x="548640" y="5029200"/>
            <a:ext cx="11094415" cy="274320"/>
          </a:xfrm>
          <a:prstGeom prst="rect">
            <a:avLst/>
          </a:prstGeom>
          <a:noFill/>
          <a:ln/>
        </p:spPr>
        <p:txBody>
          <a:bodyPr wrap="square" lIns="0" tIns="0" rIns="0" bIns="0" rtlCol="0" anchor="ctr"/>
          <a:lstStyle/>
          <a:p>
            <a:pPr indent="0" marL="0">
              <a:buNone/>
            </a:pPr>
            <a:r>
              <a:rPr lang="en-US" sz="1400" dirty="0">
                <a:solidFill>
                  <a:srgbClr val="4E5968"/>
                </a:solidFill>
                <a:latin typeface="맑은 고딕" pitchFamily="34" charset="0"/>
                <a:ea typeface="맑은 고딕" pitchFamily="34" charset="-122"/>
                <a:cs typeface="맑은 고딕" pitchFamily="34" charset="-120"/>
              </a:rPr>
              <a:t>동의하면 15분 안팎에 반영돼요(게시판 공지) · MeAI 홈 [고객 동의]에서도 보내요</a:t>
            </a:r>
            <a:endParaRPr lang="en-US" sz="1400" dirty="0"/>
          </a:p>
        </p:txBody>
      </p:sp>
      <p:sp>
        <p:nvSpPr>
          <p:cNvPr id="40" name="Shape 34"/>
          <p:cNvSpPr/>
          <p:nvPr/>
        </p:nvSpPr>
        <p:spPr>
          <a:xfrm>
            <a:off x="548640" y="5394960"/>
            <a:ext cx="11094415" cy="658368"/>
          </a:xfrm>
          <a:prstGeom prst="roundRect">
            <a:avLst>
              <a:gd name="adj" fmla="val 19444"/>
            </a:avLst>
          </a:prstGeom>
          <a:solidFill>
            <a:srgbClr val="191F28"/>
          </a:solidFill>
          <a:ln w="12700">
            <a:solidFill>
              <a:srgbClr val="191F28"/>
            </a:solidFill>
            <a:prstDash val="solid"/>
          </a:ln>
        </p:spPr>
      </p:sp>
      <p:sp>
        <p:nvSpPr>
          <p:cNvPr id="41" name="Text 35"/>
          <p:cNvSpPr txBox="1"/>
          <p:nvPr/>
        </p:nvSpPr>
        <p:spPr>
          <a:xfrm>
            <a:off x="868680" y="5394960"/>
            <a:ext cx="10454335" cy="658368"/>
          </a:xfrm>
          <a:prstGeom prst="rect">
            <a:avLst/>
          </a:prstGeom>
          <a:noFill/>
          <a:ln/>
        </p:spPr>
        <p:txBody>
          <a:bodyPr wrap="square" lIns="0" tIns="0" rIns="0" bIns="0" rtlCol="0" anchor="ctr"/>
          <a:lstStyle/>
          <a:p>
            <a:pPr indent="0" marL="0">
              <a:buNone/>
            </a:pPr>
            <a:r>
              <a:rPr lang="en-US" sz="1650" b="1" dirty="0">
                <a:solidFill>
                  <a:srgbClr val="C9E2FF"/>
                </a:solidFill>
                <a:latin typeface="맑은 고딕" pitchFamily="34" charset="0"/>
                <a:ea typeface="맑은 고딕" pitchFamily="34" charset="-122"/>
                <a:cs typeface="맑은 고딕" pitchFamily="34" charset="-120"/>
              </a:rPr>
              <a:t>전화 한 마디   </a:t>
            </a:r>
            <a:pPr indent="0" marL="0">
              <a:buNone/>
            </a:pPr>
            <a:r>
              <a:rPr lang="en-US" sz="1650" b="1" dirty="0">
                <a:solidFill>
                  <a:srgbClr val="FFFFFF"/>
                </a:solidFill>
                <a:latin typeface="맑은 고딕" pitchFamily="34" charset="0"/>
                <a:ea typeface="맑은 고딕" pitchFamily="34" charset="-122"/>
                <a:cs typeface="맑은 고딕" pitchFamily="34" charset="-120"/>
              </a:rPr>
              <a:t>“보장을 정확히 보고 말씀드리려면 동의가 필요해요. 알림톡으로 금방 끝나요.”</a:t>
            </a:r>
            <a:endParaRPr lang="en-US" sz="1650" dirty="0"/>
          </a:p>
        </p:txBody>
      </p:sp>
      <p:sp>
        <p:nvSpPr>
          <p:cNvPr id="42" name="Text 36"/>
          <p:cNvSpPr txBox="1"/>
          <p:nvPr/>
        </p:nvSpPr>
        <p:spPr>
          <a:xfrm>
            <a:off x="548640" y="6126480"/>
            <a:ext cx="11094415" cy="237744"/>
          </a:xfrm>
          <a:prstGeom prst="rect">
            <a:avLst/>
          </a:prstGeom>
          <a:noFill/>
          <a:ln/>
        </p:spPr>
        <p:txBody>
          <a:bodyPr wrap="square" lIns="0" tIns="0" rIns="0" bIns="0" rtlCol="0" anchor="ctr"/>
          <a:lstStyle/>
          <a:p>
            <a:pPr algn="r" indent="0" marL="0">
              <a:buNone/>
            </a:pPr>
            <a:r>
              <a:rPr lang="en-US" sz="1100" dirty="0">
                <a:solidFill>
                  <a:srgbClr val="8B95A1"/>
                </a:solidFill>
                <a:latin typeface="맑은 고딕" pitchFamily="34" charset="0"/>
                <a:ea typeface="맑은 고딕" pitchFamily="34" charset="-122"/>
                <a:cs typeface="맑은 고딕" pitchFamily="34" charset="-120"/>
              </a:rPr>
              <a:t>※ 화면의 이름·숫자는 예시 · 출처: MeAI 활용 가이드북 v4 p.27·39·45 · 확정 화면</a:t>
            </a:r>
            <a:endParaRPr lang="en-US" sz="1100" dirty="0"/>
          </a:p>
        </p:txBody>
      </p:sp>
      <p:sp>
        <p:nvSpPr>
          <p:cNvPr id="43" name="Text 37"/>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4" name="Text 3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묻기 · MeAI 활용 방법</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질문은 만드는 게 아니라 고르는 거예요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화면 안에 질문 창구가 네 곳 있어요. 누르기만 하면 돼요.</a:t>
            </a:r>
            <a:endParaRPr lang="en-US" sz="1700" dirty="0"/>
          </a:p>
        </p:txBody>
      </p:sp>
      <p:sp>
        <p:nvSpPr>
          <p:cNvPr id="13" name="Shape 11"/>
          <p:cNvSpPr/>
          <p:nvPr/>
        </p:nvSpPr>
        <p:spPr>
          <a:xfrm>
            <a:off x="548640" y="1874520"/>
            <a:ext cx="2609012" cy="3401568"/>
          </a:xfrm>
          <a:prstGeom prst="roundRect">
            <a:avLst>
              <a:gd name="adj" fmla="val 5608"/>
            </a:avLst>
          </a:prstGeom>
          <a:solidFill>
            <a:srgbClr val="F9FAFB"/>
          </a:solidFill>
          <a:ln w="12700">
            <a:solidFill>
              <a:srgbClr val="F9FAFB"/>
            </a:solidFill>
            <a:prstDash val="solid"/>
          </a:ln>
        </p:spPr>
      </p:sp>
      <p:sp>
        <p:nvSpPr>
          <p:cNvPr id="14" name="Text 12"/>
          <p:cNvSpPr txBox="1"/>
          <p:nvPr/>
        </p:nvSpPr>
        <p:spPr>
          <a:xfrm>
            <a:off x="731520" y="1938528"/>
            <a:ext cx="2334692" cy="347472"/>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① 시작할 때</a:t>
            </a:r>
            <a:endParaRPr lang="en-US" sz="1700" dirty="0"/>
          </a:p>
        </p:txBody>
      </p:sp>
      <p:sp>
        <p:nvSpPr>
          <p:cNvPr id="15" name="Shape 13"/>
          <p:cNvSpPr/>
          <p:nvPr/>
        </p:nvSpPr>
        <p:spPr>
          <a:xfrm>
            <a:off x="731520" y="2304288"/>
            <a:ext cx="1183640" cy="274320"/>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731520" y="2304288"/>
            <a:ext cx="1183640" cy="274320"/>
          </a:xfrm>
          <a:prstGeom prst="rect">
            <a:avLst/>
          </a:prstGeom>
          <a:noFill/>
          <a:ln/>
        </p:spPr>
        <p:txBody>
          <a:bodyPr wrap="square" lIns="0" tIns="0" rIns="0" bIns="0" rtlCol="0" anchor="ctr"/>
          <a:lstStyle/>
          <a:p>
            <a:pPr algn="ctr" indent="0" marL="0">
              <a:buNone/>
            </a:pPr>
            <a:r>
              <a:rPr lang="en-US" sz="1150" b="1" dirty="0">
                <a:solidFill>
                  <a:srgbClr val="3182F6"/>
                </a:solidFill>
                <a:latin typeface="맑은 고딕" pitchFamily="34" charset="0"/>
                <a:ea typeface="맑은 고딕" pitchFamily="34" charset="-122"/>
                <a:cs typeface="맑은 고딕" pitchFamily="34" charset="-120"/>
              </a:rPr>
              <a:t>질문 예시 탭</a:t>
            </a:r>
            <a:endParaRPr lang="en-US" sz="1150" dirty="0"/>
          </a:p>
        </p:txBody>
      </p:sp>
      <p:pic>
        <p:nvPicPr>
          <p:cNvPr id="17" name="Image 0" descr="MeAI 화면 캡처">    </p:cNvPr>
          <p:cNvPicPr>
            <a:picLocks noChangeAspect="1"/>
          </p:cNvPicPr>
          <p:nvPr/>
        </p:nvPicPr>
        <p:blipFill>
          <a:blip r:embed="rId1"/>
          <a:stretch>
            <a:fillRect/>
          </a:stretch>
        </p:blipFill>
        <p:spPr>
          <a:xfrm>
            <a:off x="685800" y="2745785"/>
            <a:ext cx="2334692" cy="1732191"/>
          </a:xfrm>
          <a:prstGeom prst="rect">
            <a:avLst/>
          </a:prstGeom>
        </p:spPr>
      </p:pic>
      <p:sp>
        <p:nvSpPr>
          <p:cNvPr id="18" name="Shape 15"/>
          <p:cNvSpPr/>
          <p:nvPr/>
        </p:nvSpPr>
        <p:spPr>
          <a:xfrm>
            <a:off x="620727" y="3471495"/>
            <a:ext cx="310896" cy="310896"/>
          </a:xfrm>
          <a:prstGeom prst="ellipse">
            <a:avLst/>
          </a:prstGeom>
          <a:solidFill>
            <a:srgbClr val="F04452"/>
          </a:solidFill>
          <a:ln w="19050">
            <a:solidFill>
              <a:srgbClr val="FFFFFF"/>
            </a:solidFill>
            <a:prstDash val="solid"/>
          </a:ln>
        </p:spPr>
      </p:sp>
      <p:sp>
        <p:nvSpPr>
          <p:cNvPr id="19" name="Text 16"/>
          <p:cNvSpPr txBox="1"/>
          <p:nvPr/>
        </p:nvSpPr>
        <p:spPr>
          <a:xfrm>
            <a:off x="620727" y="3471495"/>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0" name="Text 17"/>
          <p:cNvSpPr txBox="1"/>
          <p:nvPr/>
        </p:nvSpPr>
        <p:spPr>
          <a:xfrm>
            <a:off x="731520" y="4617720"/>
            <a:ext cx="2334692" cy="621792"/>
          </a:xfrm>
          <a:prstGeom prst="rect">
            <a:avLst/>
          </a:prstGeom>
          <a:noFill/>
          <a:ln/>
        </p:spPr>
        <p:txBody>
          <a:bodyPr wrap="square" lIns="0" tIns="0" rIns="0" bIns="0" rtlCol="0" anchor="t"/>
          <a:lstStyle/>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담보 차이 · 용어 뜻 · 많이 물은 질문</a:t>
            </a:r>
            <a:endParaRPr lang="en-US" sz="1250" dirty="0"/>
          </a:p>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예시를 누르면 바로 대화가 시작돼요</a:t>
            </a:r>
            <a:endParaRPr lang="en-US" sz="1250" dirty="0"/>
          </a:p>
        </p:txBody>
      </p:sp>
      <p:sp>
        <p:nvSpPr>
          <p:cNvPr id="21" name="Shape 18"/>
          <p:cNvSpPr/>
          <p:nvPr/>
        </p:nvSpPr>
        <p:spPr>
          <a:xfrm>
            <a:off x="3377108" y="1874520"/>
            <a:ext cx="2609012" cy="3401568"/>
          </a:xfrm>
          <a:prstGeom prst="roundRect">
            <a:avLst>
              <a:gd name="adj" fmla="val 5608"/>
            </a:avLst>
          </a:prstGeom>
          <a:solidFill>
            <a:srgbClr val="F9FAFB"/>
          </a:solidFill>
          <a:ln w="12700">
            <a:solidFill>
              <a:srgbClr val="F9FAFB"/>
            </a:solidFill>
            <a:prstDash val="solid"/>
          </a:ln>
        </p:spPr>
      </p:sp>
      <p:sp>
        <p:nvSpPr>
          <p:cNvPr id="22" name="Text 19"/>
          <p:cNvSpPr txBox="1"/>
          <p:nvPr/>
        </p:nvSpPr>
        <p:spPr>
          <a:xfrm>
            <a:off x="3559988" y="1938528"/>
            <a:ext cx="2334692" cy="347472"/>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② 고객이 정해졌을 때</a:t>
            </a:r>
            <a:endParaRPr lang="en-US" sz="1700" dirty="0"/>
          </a:p>
        </p:txBody>
      </p:sp>
      <p:sp>
        <p:nvSpPr>
          <p:cNvPr id="23" name="Shape 20"/>
          <p:cNvSpPr/>
          <p:nvPr/>
        </p:nvSpPr>
        <p:spPr>
          <a:xfrm>
            <a:off x="3559988" y="2304288"/>
            <a:ext cx="2115439" cy="274320"/>
          </a:xfrm>
          <a:prstGeom prst="roundRect">
            <a:avLst>
              <a:gd name="adj" fmla="val 50000"/>
            </a:avLst>
          </a:prstGeom>
          <a:solidFill>
            <a:srgbClr val="E8F3FF"/>
          </a:solidFill>
          <a:ln w="12700">
            <a:solidFill>
              <a:srgbClr val="E8F3FF"/>
            </a:solidFill>
            <a:prstDash val="solid"/>
          </a:ln>
        </p:spPr>
      </p:sp>
      <p:sp>
        <p:nvSpPr>
          <p:cNvPr id="24" name="Text 21"/>
          <p:cNvSpPr txBox="1"/>
          <p:nvPr/>
        </p:nvSpPr>
        <p:spPr>
          <a:xfrm>
            <a:off x="3559988" y="2304288"/>
            <a:ext cx="2115439" cy="274320"/>
          </a:xfrm>
          <a:prstGeom prst="rect">
            <a:avLst/>
          </a:prstGeom>
          <a:noFill/>
          <a:ln/>
        </p:spPr>
        <p:txBody>
          <a:bodyPr wrap="square" lIns="0" tIns="0" rIns="0" bIns="0" rtlCol="0" anchor="ctr"/>
          <a:lstStyle/>
          <a:p>
            <a:pPr algn="ctr" indent="0" marL="0">
              <a:buNone/>
            </a:pPr>
            <a:r>
              <a:rPr lang="en-US" sz="1150" b="1" dirty="0">
                <a:solidFill>
                  <a:srgbClr val="3182F6"/>
                </a:solidFill>
                <a:latin typeface="맑은 고딕" pitchFamily="34" charset="0"/>
                <a:ea typeface="맑은 고딕" pitchFamily="34" charset="-122"/>
                <a:cs typeface="맑은 고딕" pitchFamily="34" charset="-120"/>
              </a:rPr>
              <a:t>MeAI에 이렇게 물어보세요</a:t>
            </a:r>
            <a:endParaRPr lang="en-US" sz="1150" dirty="0"/>
          </a:p>
        </p:txBody>
      </p:sp>
      <p:pic>
        <p:nvPicPr>
          <p:cNvPr id="25" name="Image 1" descr="MeAI 화면 캡처">    </p:cNvPr>
          <p:cNvPicPr>
            <a:picLocks noChangeAspect="1"/>
          </p:cNvPicPr>
          <p:nvPr/>
        </p:nvPicPr>
        <p:blipFill>
          <a:blip r:embed="rId2"/>
          <a:stretch>
            <a:fillRect/>
          </a:stretch>
        </p:blipFill>
        <p:spPr>
          <a:xfrm>
            <a:off x="3514268" y="2815962"/>
            <a:ext cx="2334692" cy="1591835"/>
          </a:xfrm>
          <a:prstGeom prst="rect">
            <a:avLst/>
          </a:prstGeom>
        </p:spPr>
      </p:pic>
      <p:sp>
        <p:nvSpPr>
          <p:cNvPr id="26" name="Shape 22"/>
          <p:cNvSpPr/>
          <p:nvPr/>
        </p:nvSpPr>
        <p:spPr>
          <a:xfrm>
            <a:off x="5552015" y="3049630"/>
            <a:ext cx="310896" cy="310896"/>
          </a:xfrm>
          <a:prstGeom prst="ellipse">
            <a:avLst/>
          </a:prstGeom>
          <a:solidFill>
            <a:srgbClr val="F04452"/>
          </a:solidFill>
          <a:ln w="19050">
            <a:solidFill>
              <a:srgbClr val="FFFFFF"/>
            </a:solidFill>
            <a:prstDash val="solid"/>
          </a:ln>
        </p:spPr>
      </p:sp>
      <p:sp>
        <p:nvSpPr>
          <p:cNvPr id="27" name="Text 23"/>
          <p:cNvSpPr txBox="1"/>
          <p:nvPr/>
        </p:nvSpPr>
        <p:spPr>
          <a:xfrm>
            <a:off x="5552015" y="304963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8" name="Text 24"/>
          <p:cNvSpPr txBox="1"/>
          <p:nvPr/>
        </p:nvSpPr>
        <p:spPr>
          <a:xfrm>
            <a:off x="3559988" y="4617720"/>
            <a:ext cx="2334692" cy="621792"/>
          </a:xfrm>
          <a:prstGeom prst="rect">
            <a:avLst/>
          </a:prstGeom>
          <a:noFill/>
          <a:ln/>
        </p:spPr>
        <p:txBody>
          <a:bodyPr wrap="square" lIns="0" tIns="0" rIns="0" bIns="0" rtlCol="0" anchor="t"/>
          <a:lstStyle/>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누르면 입력창에 질문이 채워져요</a:t>
            </a:r>
            <a:endParaRPr lang="en-US" sz="1250" dirty="0"/>
          </a:p>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전송(↑)만 누르면 돼요</a:t>
            </a:r>
            <a:endParaRPr lang="en-US" sz="1250" dirty="0"/>
          </a:p>
        </p:txBody>
      </p:sp>
      <p:sp>
        <p:nvSpPr>
          <p:cNvPr id="29" name="Shape 25"/>
          <p:cNvSpPr/>
          <p:nvPr/>
        </p:nvSpPr>
        <p:spPr>
          <a:xfrm>
            <a:off x="6205576" y="1874520"/>
            <a:ext cx="2609012" cy="3401568"/>
          </a:xfrm>
          <a:prstGeom prst="roundRect">
            <a:avLst>
              <a:gd name="adj" fmla="val 5608"/>
            </a:avLst>
          </a:prstGeom>
          <a:solidFill>
            <a:srgbClr val="F9FAFB"/>
          </a:solidFill>
          <a:ln w="12700">
            <a:solidFill>
              <a:srgbClr val="F9FAFB"/>
            </a:solidFill>
            <a:prstDash val="solid"/>
          </a:ln>
        </p:spPr>
      </p:sp>
      <p:sp>
        <p:nvSpPr>
          <p:cNvPr id="30" name="Text 26"/>
          <p:cNvSpPr txBox="1"/>
          <p:nvPr/>
        </p:nvSpPr>
        <p:spPr>
          <a:xfrm>
            <a:off x="6388456" y="1938528"/>
            <a:ext cx="2334692" cy="347472"/>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③ 답을 받은 뒤</a:t>
            </a:r>
            <a:endParaRPr lang="en-US" sz="1700" dirty="0"/>
          </a:p>
        </p:txBody>
      </p:sp>
      <p:sp>
        <p:nvSpPr>
          <p:cNvPr id="31" name="Shape 27"/>
          <p:cNvSpPr/>
          <p:nvPr/>
        </p:nvSpPr>
        <p:spPr>
          <a:xfrm>
            <a:off x="6388456" y="2304288"/>
            <a:ext cx="1799971" cy="274320"/>
          </a:xfrm>
          <a:prstGeom prst="roundRect">
            <a:avLst>
              <a:gd name="adj" fmla="val 50000"/>
            </a:avLst>
          </a:prstGeom>
          <a:solidFill>
            <a:srgbClr val="E8F3FF"/>
          </a:solidFill>
          <a:ln w="12700">
            <a:solidFill>
              <a:srgbClr val="E8F3FF"/>
            </a:solidFill>
            <a:prstDash val="solid"/>
          </a:ln>
        </p:spPr>
      </p:sp>
      <p:sp>
        <p:nvSpPr>
          <p:cNvPr id="32" name="Text 28"/>
          <p:cNvSpPr txBox="1"/>
          <p:nvPr/>
        </p:nvSpPr>
        <p:spPr>
          <a:xfrm>
            <a:off x="6388456" y="2304288"/>
            <a:ext cx="1799971" cy="274320"/>
          </a:xfrm>
          <a:prstGeom prst="rect">
            <a:avLst/>
          </a:prstGeom>
          <a:noFill/>
          <a:ln/>
        </p:spPr>
        <p:txBody>
          <a:bodyPr wrap="square" lIns="0" tIns="0" rIns="0" bIns="0" rtlCol="0" anchor="ctr"/>
          <a:lstStyle/>
          <a:p>
            <a:pPr algn="ctr" indent="0" marL="0">
              <a:buNone/>
            </a:pPr>
            <a:r>
              <a:rPr lang="en-US" sz="1150" b="1" dirty="0">
                <a:solidFill>
                  <a:srgbClr val="3182F6"/>
                </a:solidFill>
                <a:latin typeface="맑은 고딕" pitchFamily="34" charset="0"/>
                <a:ea typeface="맑은 고딕" pitchFamily="34" charset="-122"/>
                <a:cs typeface="맑은 고딕" pitchFamily="34" charset="-120"/>
              </a:rPr>
              <a:t>답 아래 질문 버튼 3개</a:t>
            </a:r>
            <a:endParaRPr lang="en-US" sz="1150" dirty="0"/>
          </a:p>
        </p:txBody>
      </p:sp>
      <p:pic>
        <p:nvPicPr>
          <p:cNvPr id="33" name="Image 2" descr="MeAI 화면 캡처">    </p:cNvPr>
          <p:cNvPicPr>
            <a:picLocks noChangeAspect="1"/>
          </p:cNvPicPr>
          <p:nvPr/>
        </p:nvPicPr>
        <p:blipFill>
          <a:blip r:embed="rId3"/>
          <a:stretch>
            <a:fillRect/>
          </a:stretch>
        </p:blipFill>
        <p:spPr>
          <a:xfrm>
            <a:off x="6342736" y="2658548"/>
            <a:ext cx="2334692" cy="1906665"/>
          </a:xfrm>
          <a:prstGeom prst="rect">
            <a:avLst/>
          </a:prstGeom>
        </p:spPr>
      </p:pic>
      <p:sp>
        <p:nvSpPr>
          <p:cNvPr id="34" name="Shape 29"/>
          <p:cNvSpPr/>
          <p:nvPr/>
        </p:nvSpPr>
        <p:spPr>
          <a:xfrm>
            <a:off x="6273758" y="2967876"/>
            <a:ext cx="310896" cy="310896"/>
          </a:xfrm>
          <a:prstGeom prst="ellipse">
            <a:avLst/>
          </a:prstGeom>
          <a:solidFill>
            <a:srgbClr val="F04452"/>
          </a:solidFill>
          <a:ln w="19050">
            <a:solidFill>
              <a:srgbClr val="FFFFFF"/>
            </a:solidFill>
            <a:prstDash val="solid"/>
          </a:ln>
        </p:spPr>
      </p:sp>
      <p:sp>
        <p:nvSpPr>
          <p:cNvPr id="35" name="Text 30"/>
          <p:cNvSpPr txBox="1"/>
          <p:nvPr/>
        </p:nvSpPr>
        <p:spPr>
          <a:xfrm>
            <a:off x="6273758" y="2967876"/>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6" name="Text 31"/>
          <p:cNvSpPr txBox="1"/>
          <p:nvPr/>
        </p:nvSpPr>
        <p:spPr>
          <a:xfrm>
            <a:off x="6388456" y="4617720"/>
            <a:ext cx="2334692" cy="621792"/>
          </a:xfrm>
          <a:prstGeom prst="rect">
            <a:avLst/>
          </a:prstGeom>
          <a:noFill/>
          <a:ln/>
        </p:spPr>
        <p:txBody>
          <a:bodyPr wrap="square" lIns="0" tIns="0" rIns="0" bIns="0" rtlCol="0" anchor="t"/>
          <a:lstStyle/>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누르면 그 질문이 바로 전송돼요</a:t>
            </a:r>
            <a:endParaRPr lang="en-US" sz="1250" dirty="0"/>
          </a:p>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가이드북 이름은 ‘꼬리질문’</a:t>
            </a:r>
            <a:endParaRPr lang="en-US" sz="1250" dirty="0"/>
          </a:p>
        </p:txBody>
      </p:sp>
      <p:sp>
        <p:nvSpPr>
          <p:cNvPr id="37" name="Shape 32"/>
          <p:cNvSpPr/>
          <p:nvPr/>
        </p:nvSpPr>
        <p:spPr>
          <a:xfrm>
            <a:off x="9034043" y="1874520"/>
            <a:ext cx="2609012" cy="3401568"/>
          </a:xfrm>
          <a:prstGeom prst="roundRect">
            <a:avLst>
              <a:gd name="adj" fmla="val 5608"/>
            </a:avLst>
          </a:prstGeom>
          <a:solidFill>
            <a:srgbClr val="F9FAFB"/>
          </a:solidFill>
          <a:ln w="12700">
            <a:solidFill>
              <a:srgbClr val="F9FAFB"/>
            </a:solidFill>
            <a:prstDash val="solid"/>
          </a:ln>
        </p:spPr>
      </p:sp>
      <p:sp>
        <p:nvSpPr>
          <p:cNvPr id="38" name="Text 33"/>
          <p:cNvSpPr txBox="1"/>
          <p:nvPr/>
        </p:nvSpPr>
        <p:spPr>
          <a:xfrm>
            <a:off x="9216923" y="1938528"/>
            <a:ext cx="2334692" cy="347472"/>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④ 더 필요할 때</a:t>
            </a:r>
            <a:endParaRPr lang="en-US" sz="1700" dirty="0"/>
          </a:p>
        </p:txBody>
      </p:sp>
      <p:sp>
        <p:nvSpPr>
          <p:cNvPr id="39" name="Text 34"/>
          <p:cNvSpPr txBox="1"/>
          <p:nvPr/>
        </p:nvSpPr>
        <p:spPr>
          <a:xfrm>
            <a:off x="9216923" y="4617720"/>
            <a:ext cx="2334692" cy="621792"/>
          </a:xfrm>
          <a:prstGeom prst="rect">
            <a:avLst/>
          </a:prstGeom>
          <a:noFill/>
          <a:ln/>
        </p:spPr>
        <p:txBody>
          <a:bodyPr wrap="square" lIns="0" tIns="0" rIns="0" bIns="0" rtlCol="0" anchor="t"/>
          <a:lstStyle/>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[질문 더보기]에서 골라 써요</a:t>
            </a:r>
            <a:endParaRPr lang="en-US" sz="1250" dirty="0"/>
          </a:p>
          <a:p>
            <a:pPr indent="0" marL="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좋았던 질문은 저장 → 나의 질문</a:t>
            </a:r>
            <a:endParaRPr lang="en-US" sz="1250" dirty="0"/>
          </a:p>
        </p:txBody>
      </p:sp>
      <p:pic>
        <p:nvPicPr>
          <p:cNvPr id="40" name="Image 3" descr="MeAI 화면 캡처">    </p:cNvPr>
          <p:cNvPicPr>
            <a:picLocks noChangeAspect="1"/>
          </p:cNvPicPr>
          <p:nvPr/>
        </p:nvPicPr>
        <p:blipFill>
          <a:blip r:embed="rId4"/>
          <a:stretch>
            <a:fillRect/>
          </a:stretch>
        </p:blipFill>
        <p:spPr>
          <a:xfrm>
            <a:off x="9433293" y="2743200"/>
            <a:ext cx="1810512" cy="1005840"/>
          </a:xfrm>
          <a:prstGeom prst="rect">
            <a:avLst/>
          </a:prstGeom>
        </p:spPr>
      </p:pic>
      <p:sp>
        <p:nvSpPr>
          <p:cNvPr id="41" name="Shape 35"/>
          <p:cNvSpPr/>
          <p:nvPr/>
        </p:nvSpPr>
        <p:spPr>
          <a:xfrm>
            <a:off x="11006633" y="2700909"/>
            <a:ext cx="310896" cy="310896"/>
          </a:xfrm>
          <a:prstGeom prst="ellipse">
            <a:avLst/>
          </a:prstGeom>
          <a:solidFill>
            <a:srgbClr val="F04452"/>
          </a:solidFill>
          <a:ln w="19050">
            <a:solidFill>
              <a:srgbClr val="FFFFFF"/>
            </a:solidFill>
            <a:prstDash val="solid"/>
          </a:ln>
        </p:spPr>
      </p:sp>
      <p:sp>
        <p:nvSpPr>
          <p:cNvPr id="42" name="Text 36"/>
          <p:cNvSpPr txBox="1"/>
          <p:nvPr/>
        </p:nvSpPr>
        <p:spPr>
          <a:xfrm>
            <a:off x="11006633" y="2700909"/>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3" name="Text 37"/>
          <p:cNvSpPr txBox="1"/>
          <p:nvPr/>
        </p:nvSpPr>
        <p:spPr>
          <a:xfrm>
            <a:off x="9216923" y="3886200"/>
            <a:ext cx="2243252" cy="548640"/>
          </a:xfrm>
          <a:prstGeom prst="rect">
            <a:avLst/>
          </a:prstGeom>
          <a:noFill/>
          <a:ln/>
        </p:spPr>
        <p:txBody>
          <a:bodyPr wrap="square" lIns="0" tIns="0" rIns="0" bIns="0" rtlCol="0" anchor="t"/>
          <a:lstStyle/>
          <a:p>
            <a:pPr indent="0" marL="0">
              <a:lnSpc>
                <a:spcPct val="112000"/>
              </a:lnSpc>
              <a:buNone/>
            </a:pPr>
            <a:r>
              <a:rPr lang="en-US" sz="1200" dirty="0">
                <a:solidFill>
                  <a:srgbClr val="6B7684"/>
                </a:solidFill>
                <a:latin typeface="맑은 고딕" pitchFamily="34" charset="0"/>
                <a:ea typeface="맑은 고딕" pitchFamily="34" charset="-122"/>
                <a:cs typeface="맑은 고딕" pitchFamily="34" charset="-120"/>
              </a:rPr>
              <a:t>대화 이력·나의 질문은 PC·휴대폰 똑같이</a:t>
            </a:r>
            <a:endParaRPr lang="en-US" sz="1200" dirty="0"/>
          </a:p>
        </p:txBody>
      </p:sp>
      <p:sp>
        <p:nvSpPr>
          <p:cNvPr id="44" name="Shape 38"/>
          <p:cNvSpPr/>
          <p:nvPr/>
        </p:nvSpPr>
        <p:spPr>
          <a:xfrm>
            <a:off x="548640" y="5376672"/>
            <a:ext cx="11094415" cy="731520"/>
          </a:xfrm>
          <a:prstGeom prst="roundRect">
            <a:avLst>
              <a:gd name="adj" fmla="val 20000"/>
            </a:avLst>
          </a:prstGeom>
          <a:solidFill>
            <a:srgbClr val="F0EDFF"/>
          </a:solidFill>
          <a:ln w="12700">
            <a:solidFill>
              <a:srgbClr val="F0EDFF"/>
            </a:solidFill>
            <a:prstDash val="solid"/>
          </a:ln>
        </p:spPr>
      </p:sp>
      <p:sp>
        <p:nvSpPr>
          <p:cNvPr id="45" name="Text 39"/>
          <p:cNvSpPr txBox="1"/>
          <p:nvPr/>
        </p:nvSpPr>
        <p:spPr>
          <a:xfrm>
            <a:off x="822960" y="5376672"/>
            <a:ext cx="2377440" cy="731520"/>
          </a:xfrm>
          <a:prstGeom prst="rect">
            <a:avLst/>
          </a:prstGeom>
          <a:noFill/>
          <a:ln/>
        </p:spPr>
        <p:txBody>
          <a:bodyPr wrap="square" lIns="0" tIns="0" rIns="0" bIns="0" rtlCol="0" anchor="ctr"/>
          <a:lstStyle/>
          <a:p>
            <a:pPr indent="0" marL="0">
              <a:buNone/>
            </a:pPr>
            <a:r>
              <a:rPr lang="en-US" sz="1400" b="1" dirty="0">
                <a:solidFill>
                  <a:srgbClr val="7048E8"/>
                </a:solidFill>
                <a:latin typeface="맑은 고딕" pitchFamily="34" charset="0"/>
                <a:ea typeface="맑은 고딕" pitchFamily="34" charset="-122"/>
                <a:cs typeface="맑은 고딕" pitchFamily="34" charset="-120"/>
              </a:rPr>
              <a:t>질문을 이어 쓸수록 · 평균 가계약</a:t>
            </a:r>
            <a:endParaRPr lang="en-US" sz="1400" dirty="0"/>
          </a:p>
        </p:txBody>
      </p:sp>
      <p:sp>
        <p:nvSpPr>
          <p:cNvPr id="46" name="Shape 40"/>
          <p:cNvSpPr/>
          <p:nvPr/>
        </p:nvSpPr>
        <p:spPr>
          <a:xfrm>
            <a:off x="3154680" y="5819493"/>
            <a:ext cx="310896" cy="197259"/>
          </a:xfrm>
          <a:prstGeom prst="roundRect">
            <a:avLst>
              <a:gd name="adj" fmla="val 18542"/>
            </a:avLst>
          </a:prstGeom>
          <a:solidFill>
            <a:srgbClr val="B9A8F5"/>
          </a:solidFill>
          <a:ln w="12700">
            <a:solidFill>
              <a:srgbClr val="B9A8F5"/>
            </a:solidFill>
            <a:prstDash val="solid"/>
          </a:ln>
        </p:spPr>
      </p:sp>
      <p:sp>
        <p:nvSpPr>
          <p:cNvPr id="47" name="Text 41"/>
          <p:cNvSpPr txBox="1"/>
          <p:nvPr/>
        </p:nvSpPr>
        <p:spPr>
          <a:xfrm>
            <a:off x="3538728" y="5468112"/>
            <a:ext cx="1481328" cy="548640"/>
          </a:xfrm>
          <a:prstGeom prst="rect">
            <a:avLst/>
          </a:prstGeom>
          <a:noFill/>
          <a:ln/>
        </p:spPr>
        <p:txBody>
          <a:bodyPr wrap="square" lIns="0" tIns="0" rIns="0" bIns="0" rtlCol="0" anchor="b"/>
          <a:lstStyle/>
          <a:p>
            <a:pPr indent="0" marL="0">
              <a:buNone/>
            </a:pPr>
            <a:r>
              <a:rPr lang="en-US" sz="1300" dirty="0">
                <a:solidFill>
                  <a:srgbClr val="191F28"/>
                </a:solidFill>
                <a:latin typeface="맑은 고딕" pitchFamily="34" charset="0"/>
                <a:ea typeface="맑은 고딕" pitchFamily="34" charset="-122"/>
                <a:cs typeface="맑은 고딕" pitchFamily="34" charset="-120"/>
              </a:rPr>
              <a:t>1개 · 11.99건</a:t>
            </a:r>
            <a:endParaRPr lang="en-US" sz="1300" dirty="0"/>
          </a:p>
        </p:txBody>
      </p:sp>
      <p:sp>
        <p:nvSpPr>
          <p:cNvPr id="48" name="Shape 42"/>
          <p:cNvSpPr/>
          <p:nvPr/>
        </p:nvSpPr>
        <p:spPr>
          <a:xfrm>
            <a:off x="5029200" y="5736740"/>
            <a:ext cx="310896" cy="280012"/>
          </a:xfrm>
          <a:prstGeom prst="roundRect">
            <a:avLst>
              <a:gd name="adj" fmla="val 13062"/>
            </a:avLst>
          </a:prstGeom>
          <a:solidFill>
            <a:srgbClr val="B9A8F5"/>
          </a:solidFill>
          <a:ln w="12700">
            <a:solidFill>
              <a:srgbClr val="B9A8F5"/>
            </a:solidFill>
            <a:prstDash val="solid"/>
          </a:ln>
        </p:spPr>
      </p:sp>
      <p:sp>
        <p:nvSpPr>
          <p:cNvPr id="49" name="Text 43"/>
          <p:cNvSpPr txBox="1"/>
          <p:nvPr/>
        </p:nvSpPr>
        <p:spPr>
          <a:xfrm>
            <a:off x="5413248" y="5468112"/>
            <a:ext cx="1481328" cy="548640"/>
          </a:xfrm>
          <a:prstGeom prst="rect">
            <a:avLst/>
          </a:prstGeom>
          <a:noFill/>
          <a:ln/>
        </p:spPr>
        <p:txBody>
          <a:bodyPr wrap="square" lIns="0" tIns="0" rIns="0" bIns="0" rtlCol="0" anchor="b"/>
          <a:lstStyle/>
          <a:p>
            <a:pPr indent="0" marL="0">
              <a:buNone/>
            </a:pPr>
            <a:r>
              <a:rPr lang="en-US" sz="1300" dirty="0">
                <a:solidFill>
                  <a:srgbClr val="191F28"/>
                </a:solidFill>
                <a:latin typeface="맑은 고딕" pitchFamily="34" charset="0"/>
                <a:ea typeface="맑은 고딕" pitchFamily="34" charset="-122"/>
                <a:cs typeface="맑은 고딕" pitchFamily="34" charset="-120"/>
              </a:rPr>
              <a:t>2개 · 17.02건</a:t>
            </a:r>
            <a:endParaRPr lang="en-US" sz="1300" dirty="0"/>
          </a:p>
        </p:txBody>
      </p:sp>
      <p:sp>
        <p:nvSpPr>
          <p:cNvPr id="50" name="Shape 44"/>
          <p:cNvSpPr/>
          <p:nvPr/>
        </p:nvSpPr>
        <p:spPr>
          <a:xfrm>
            <a:off x="6903720" y="5559552"/>
            <a:ext cx="310896" cy="457200"/>
          </a:xfrm>
          <a:prstGeom prst="roundRect">
            <a:avLst>
              <a:gd name="adj" fmla="val 11765"/>
            </a:avLst>
          </a:prstGeom>
          <a:solidFill>
            <a:srgbClr val="7048E8"/>
          </a:solidFill>
          <a:ln w="12700">
            <a:solidFill>
              <a:srgbClr val="7048E8"/>
            </a:solidFill>
            <a:prstDash val="solid"/>
          </a:ln>
        </p:spPr>
      </p:sp>
      <p:sp>
        <p:nvSpPr>
          <p:cNvPr id="51" name="Text 45"/>
          <p:cNvSpPr txBox="1"/>
          <p:nvPr/>
        </p:nvSpPr>
        <p:spPr>
          <a:xfrm>
            <a:off x="7287768" y="5468112"/>
            <a:ext cx="1783080" cy="548640"/>
          </a:xfrm>
          <a:prstGeom prst="rect">
            <a:avLst/>
          </a:prstGeom>
          <a:noFill/>
          <a:ln/>
        </p:spPr>
        <p:txBody>
          <a:bodyPr wrap="square" lIns="0" tIns="0" rIns="0" bIns="0" rtlCol="0" anchor="b"/>
          <a:lstStyle/>
          <a:p>
            <a:pPr indent="0" marL="0">
              <a:buNone/>
            </a:pPr>
            <a:r>
              <a:rPr lang="en-US" sz="1300" b="1" dirty="0">
                <a:solidFill>
                  <a:srgbClr val="191F28"/>
                </a:solidFill>
                <a:latin typeface="맑은 고딕" pitchFamily="34" charset="0"/>
                <a:ea typeface="맑은 고딕" pitchFamily="34" charset="-122"/>
                <a:cs typeface="맑은 고딕" pitchFamily="34" charset="-120"/>
              </a:rPr>
              <a:t>3개 이상 · 27.79건</a:t>
            </a:r>
            <a:endParaRPr lang="en-US" sz="1300" dirty="0"/>
          </a:p>
        </p:txBody>
      </p:sp>
      <p:sp>
        <p:nvSpPr>
          <p:cNvPr id="52" name="Text 46"/>
          <p:cNvSpPr txBox="1"/>
          <p:nvPr/>
        </p:nvSpPr>
        <p:spPr>
          <a:xfrm>
            <a:off x="9128455" y="5394960"/>
            <a:ext cx="1234440" cy="694944"/>
          </a:xfrm>
          <a:prstGeom prst="rect">
            <a:avLst/>
          </a:prstGeom>
          <a:noFill/>
          <a:ln/>
        </p:spPr>
        <p:txBody>
          <a:bodyPr wrap="square" lIns="0" tIns="0" rIns="0" bIns="0" rtlCol="0" anchor="ctr"/>
          <a:lstStyle/>
          <a:p>
            <a:pPr indent="0" marL="0">
              <a:buNone/>
            </a:pPr>
            <a:r>
              <a:rPr lang="en-US" sz="3200" b="1" dirty="0">
                <a:solidFill>
                  <a:srgbClr val="7048E8"/>
                </a:solidFill>
                <a:latin typeface="맑은 고딕" pitchFamily="34" charset="0"/>
                <a:ea typeface="맑은 고딕" pitchFamily="34" charset="-122"/>
                <a:cs typeface="맑은 고딕" pitchFamily="34" charset="-120"/>
              </a:rPr>
              <a:t>2.3배</a:t>
            </a:r>
            <a:endParaRPr lang="en-US" sz="3200" dirty="0"/>
          </a:p>
        </p:txBody>
      </p:sp>
      <p:sp>
        <p:nvSpPr>
          <p:cNvPr id="53" name="Text 47"/>
          <p:cNvSpPr txBox="1"/>
          <p:nvPr/>
        </p:nvSpPr>
        <p:spPr>
          <a:xfrm>
            <a:off x="10271455" y="5376672"/>
            <a:ext cx="1234440" cy="731520"/>
          </a:xfrm>
          <a:prstGeom prst="rect">
            <a:avLst/>
          </a:prstGeom>
          <a:noFill/>
          <a:ln/>
        </p:spPr>
        <p:txBody>
          <a:bodyPr wrap="square" lIns="0" tIns="0" rIns="0" bIns="0" rtlCol="0" anchor="ctr"/>
          <a:lstStyle/>
          <a:p>
            <a:pPr indent="0" marL="0">
              <a:buNone/>
            </a:pPr>
            <a:r>
              <a:rPr lang="en-US" sz="1250" dirty="0">
                <a:solidFill>
                  <a:srgbClr val="4E5968"/>
                </a:solidFill>
                <a:latin typeface="맑은 고딕" pitchFamily="34" charset="0"/>
                <a:ea typeface="맑은 고딕" pitchFamily="34" charset="-122"/>
                <a:cs typeface="맑은 고딕" pitchFamily="34" charset="-120"/>
              </a:rPr>
              <a:t>1개 대비 3개 이상</a:t>
            </a:r>
            <a:endParaRPr lang="en-US" sz="1250" dirty="0"/>
          </a:p>
        </p:txBody>
      </p:sp>
      <p:sp>
        <p:nvSpPr>
          <p:cNvPr id="54" name="Text 48"/>
          <p:cNvSpPr txBox="1"/>
          <p:nvPr/>
        </p:nvSpPr>
        <p:spPr>
          <a:xfrm>
            <a:off x="548640" y="6144768"/>
            <a:ext cx="8412480"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출처: 데이터분석팀 「MeAI 사용 실태 분석」·「MeAI 효과 분석」, 2026.08 · TA 개인영업 채널 기준</a:t>
            </a:r>
            <a:endParaRPr lang="en-US" sz="1100" dirty="0"/>
          </a:p>
        </p:txBody>
      </p:sp>
      <p:sp>
        <p:nvSpPr>
          <p:cNvPr id="55" name="Text 49"/>
          <p:cNvSpPr txBox="1"/>
          <p:nvPr/>
        </p:nvSpPr>
        <p:spPr>
          <a:xfrm>
            <a:off x="8716975" y="6144768"/>
            <a:ext cx="2926080" cy="237744"/>
          </a:xfrm>
          <a:prstGeom prst="rect">
            <a:avLst/>
          </a:prstGeom>
          <a:noFill/>
          <a:ln/>
        </p:spPr>
        <p:txBody>
          <a:bodyPr wrap="square" lIns="0" tIns="0" rIns="0" bIns="0" rtlCol="0" anchor="ctr"/>
          <a:lstStyle/>
          <a:p>
            <a:pPr algn="r" indent="0" marL="0">
              <a:buNone/>
            </a:pPr>
            <a:r>
              <a:rPr lang="en-US" sz="1100" dirty="0">
                <a:solidFill>
                  <a:srgbClr val="8B95A1"/>
                </a:solidFill>
                <a:latin typeface="맑은 고딕" pitchFamily="34" charset="0"/>
                <a:ea typeface="맑은 고딕" pitchFamily="34" charset="-122"/>
                <a:cs typeface="맑은 고딕" pitchFamily="34" charset="-120"/>
              </a:rPr>
              <a:t>※ 화면의 이름·질문 문장은 예시</a:t>
            </a:r>
            <a:endParaRPr lang="en-US" sz="1100" dirty="0"/>
          </a:p>
        </p:txBody>
      </p:sp>
      <p:sp>
        <p:nvSpPr>
          <p:cNvPr id="56" name="Text 50"/>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1"/>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맞춤대화는 “보장분석 해줘” 한 마디로 시작해요</a:t>
            </a:r>
            <a:endParaRPr lang="en-US" sz="3400" dirty="0"/>
          </a:p>
        </p:txBody>
      </p:sp>
      <p:sp>
        <p:nvSpPr>
          <p:cNvPr id="12" name="Shape 10"/>
          <p:cNvSpPr/>
          <p:nvPr/>
        </p:nvSpPr>
        <p:spPr>
          <a:xfrm>
            <a:off x="548640" y="1691640"/>
            <a:ext cx="4751524" cy="2697480"/>
          </a:xfrm>
          <a:prstGeom prst="roundRect">
            <a:avLst>
              <a:gd name="adj" fmla="val 3523"/>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3" name="Image 0" descr="MeAI 화면 캡처">    </p:cNvPr>
          <p:cNvPicPr>
            <a:picLocks noChangeAspect="1"/>
          </p:cNvPicPr>
          <p:nvPr/>
        </p:nvPicPr>
        <p:blipFill>
          <a:blip r:embed="rId1"/>
          <a:stretch>
            <a:fillRect/>
          </a:stretch>
        </p:blipFill>
        <p:spPr>
          <a:xfrm>
            <a:off x="548640" y="1691640"/>
            <a:ext cx="4751524" cy="2697480"/>
          </a:xfrm>
          <a:prstGeom prst="rect">
            <a:avLst/>
          </a:prstGeom>
        </p:spPr>
      </p:pic>
      <p:sp>
        <p:nvSpPr>
          <p:cNvPr id="14" name="Shape 11"/>
          <p:cNvSpPr/>
          <p:nvPr/>
        </p:nvSpPr>
        <p:spPr>
          <a:xfrm>
            <a:off x="1349201" y="2804020"/>
            <a:ext cx="329184" cy="329184"/>
          </a:xfrm>
          <a:prstGeom prst="ellipse">
            <a:avLst/>
          </a:prstGeom>
          <a:solidFill>
            <a:srgbClr val="3182F6"/>
          </a:solidFill>
          <a:ln w="19050">
            <a:solidFill>
              <a:srgbClr val="FFFFFF"/>
            </a:solidFill>
            <a:prstDash val="solid"/>
          </a:ln>
        </p:spPr>
      </p:sp>
      <p:sp>
        <p:nvSpPr>
          <p:cNvPr id="15" name="Text 12"/>
          <p:cNvSpPr txBox="1"/>
          <p:nvPr/>
        </p:nvSpPr>
        <p:spPr>
          <a:xfrm>
            <a:off x="1349201" y="28040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6" name="Shape 13"/>
          <p:cNvSpPr/>
          <p:nvPr/>
        </p:nvSpPr>
        <p:spPr>
          <a:xfrm>
            <a:off x="1349201" y="3313819"/>
            <a:ext cx="329184" cy="329184"/>
          </a:xfrm>
          <a:prstGeom prst="ellipse">
            <a:avLst/>
          </a:prstGeom>
          <a:solidFill>
            <a:srgbClr val="3182F6"/>
          </a:solidFill>
          <a:ln w="19050">
            <a:solidFill>
              <a:srgbClr val="FFFFFF"/>
            </a:solidFill>
            <a:prstDash val="solid"/>
          </a:ln>
        </p:spPr>
      </p:sp>
      <p:sp>
        <p:nvSpPr>
          <p:cNvPr id="17" name="Text 14"/>
          <p:cNvSpPr txBox="1"/>
          <p:nvPr/>
        </p:nvSpPr>
        <p:spPr>
          <a:xfrm>
            <a:off x="1349201" y="3313819"/>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18" name="Shape 15"/>
          <p:cNvSpPr/>
          <p:nvPr/>
        </p:nvSpPr>
        <p:spPr>
          <a:xfrm>
            <a:off x="4096176" y="3779073"/>
            <a:ext cx="329184" cy="329184"/>
          </a:xfrm>
          <a:prstGeom prst="ellipse">
            <a:avLst/>
          </a:prstGeom>
          <a:solidFill>
            <a:srgbClr val="3182F6"/>
          </a:solidFill>
          <a:ln w="19050">
            <a:solidFill>
              <a:srgbClr val="FFFFFF"/>
            </a:solidFill>
            <a:prstDash val="solid"/>
          </a:ln>
        </p:spPr>
      </p:sp>
      <p:sp>
        <p:nvSpPr>
          <p:cNvPr id="19" name="Text 16"/>
          <p:cNvSpPr txBox="1"/>
          <p:nvPr/>
        </p:nvSpPr>
        <p:spPr>
          <a:xfrm>
            <a:off x="4096176" y="3779073"/>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0" name="Shape 17"/>
          <p:cNvSpPr/>
          <p:nvPr/>
        </p:nvSpPr>
        <p:spPr>
          <a:xfrm>
            <a:off x="2301436" y="3147465"/>
            <a:ext cx="256032" cy="256032"/>
          </a:xfrm>
          <a:prstGeom prst="ellipse">
            <a:avLst/>
          </a:prstGeom>
          <a:solidFill>
            <a:srgbClr val="3182F6"/>
          </a:solidFill>
          <a:ln w="19050">
            <a:solidFill>
              <a:srgbClr val="FFFFFF"/>
            </a:solidFill>
            <a:prstDash val="solid"/>
          </a:ln>
        </p:spPr>
      </p:sp>
      <p:sp>
        <p:nvSpPr>
          <p:cNvPr id="21" name="Text 18"/>
          <p:cNvSpPr txBox="1"/>
          <p:nvPr/>
        </p:nvSpPr>
        <p:spPr>
          <a:xfrm>
            <a:off x="2301436" y="3147465"/>
            <a:ext cx="256032"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2" name="Shape 19"/>
          <p:cNvSpPr/>
          <p:nvPr/>
        </p:nvSpPr>
        <p:spPr>
          <a:xfrm>
            <a:off x="4396880" y="3832301"/>
            <a:ext cx="581567" cy="222728"/>
          </a:xfrm>
          <a:prstGeom prst="roundRect">
            <a:avLst>
              <a:gd name="adj" fmla="val 16422"/>
            </a:avLst>
          </a:prstGeom>
          <a:ln w="25400">
            <a:solidFill>
              <a:srgbClr val="F04452"/>
            </a:solidFill>
            <a:prstDash val="solid"/>
          </a:ln>
        </p:spPr>
      </p:sp>
      <p:sp>
        <p:nvSpPr>
          <p:cNvPr id="23" name="Shape 20"/>
          <p:cNvSpPr/>
          <p:nvPr/>
        </p:nvSpPr>
        <p:spPr>
          <a:xfrm>
            <a:off x="5806440" y="1691640"/>
            <a:ext cx="2000250" cy="329184"/>
          </a:xfrm>
          <a:prstGeom prst="roundRect">
            <a:avLst>
              <a:gd name="adj" fmla="val 50000"/>
            </a:avLst>
          </a:prstGeom>
          <a:solidFill>
            <a:srgbClr val="191F28"/>
          </a:solidFill>
          <a:ln w="12700">
            <a:solidFill>
              <a:srgbClr val="191F28"/>
            </a:solidFill>
            <a:prstDash val="solid"/>
          </a:ln>
        </p:spPr>
      </p:sp>
      <p:sp>
        <p:nvSpPr>
          <p:cNvPr id="24" name="Text 21"/>
          <p:cNvSpPr txBox="1"/>
          <p:nvPr/>
        </p:nvSpPr>
        <p:spPr>
          <a:xfrm>
            <a:off x="5806440" y="1691640"/>
            <a:ext cx="200025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고객 정보는 아는 것만</a:t>
            </a:r>
            <a:endParaRPr lang="en-US" sz="1300" dirty="0"/>
          </a:p>
        </p:txBody>
      </p:sp>
      <p:sp>
        <p:nvSpPr>
          <p:cNvPr id="25" name="Shape 22"/>
          <p:cNvSpPr/>
          <p:nvPr/>
        </p:nvSpPr>
        <p:spPr>
          <a:xfrm>
            <a:off x="5806440" y="2148840"/>
            <a:ext cx="329184" cy="329184"/>
          </a:xfrm>
          <a:prstGeom prst="ellipse">
            <a:avLst/>
          </a:prstGeom>
          <a:solidFill>
            <a:srgbClr val="3182F6"/>
          </a:solidFill>
          <a:ln w="19050">
            <a:solidFill>
              <a:srgbClr val="FFFFFF"/>
            </a:solidFill>
            <a:prstDash val="solid"/>
          </a:ln>
        </p:spPr>
      </p:sp>
      <p:sp>
        <p:nvSpPr>
          <p:cNvPr id="26" name="Text 23"/>
          <p:cNvSpPr txBox="1"/>
          <p:nvPr/>
        </p:nvSpPr>
        <p:spPr>
          <a:xfrm>
            <a:off x="5806440" y="2148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27" name="Text 24"/>
          <p:cNvSpPr txBox="1"/>
          <p:nvPr/>
        </p:nvSpPr>
        <p:spPr>
          <a:xfrm>
            <a:off x="6245352" y="2121408"/>
            <a:ext cx="2148840"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병력·가족력이 핵심</a:t>
            </a:r>
            <a:endParaRPr lang="en-US" sz="1550" dirty="0"/>
          </a:p>
        </p:txBody>
      </p:sp>
      <p:sp>
        <p:nvSpPr>
          <p:cNvPr id="28" name="Text 25"/>
          <p:cNvSpPr txBox="1"/>
          <p:nvPr/>
        </p:nvSpPr>
        <p:spPr>
          <a:xfrm>
            <a:off x="8412480" y="2084832"/>
            <a:ext cx="3230575" cy="457200"/>
          </a:xfrm>
          <a:prstGeom prst="rect">
            <a:avLst/>
          </a:prstGeom>
          <a:noFill/>
          <a:ln/>
        </p:spPr>
        <p:txBody>
          <a:bodyPr wrap="square" lIns="0" tIns="0" rIns="0" bIns="0" rtlCol="0" anchor="ctr"/>
          <a:lstStyle/>
          <a:p>
            <a:pPr indent="0" marL="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답의 방향을 가장 크게 바꿔요</a:t>
            </a:r>
            <a:endParaRPr lang="en-US" sz="1200" dirty="0"/>
          </a:p>
        </p:txBody>
      </p:sp>
      <p:sp>
        <p:nvSpPr>
          <p:cNvPr id="29" name="Shape 26"/>
          <p:cNvSpPr/>
          <p:nvPr/>
        </p:nvSpPr>
        <p:spPr>
          <a:xfrm>
            <a:off x="5806440" y="2715768"/>
            <a:ext cx="329184" cy="329184"/>
          </a:xfrm>
          <a:prstGeom prst="ellipse">
            <a:avLst/>
          </a:prstGeom>
          <a:solidFill>
            <a:srgbClr val="3182F6"/>
          </a:solidFill>
          <a:ln w="19050">
            <a:solidFill>
              <a:srgbClr val="FFFFFF"/>
            </a:solidFill>
            <a:prstDash val="solid"/>
          </a:ln>
        </p:spPr>
      </p:sp>
      <p:sp>
        <p:nvSpPr>
          <p:cNvPr id="30" name="Text 27"/>
          <p:cNvSpPr txBox="1"/>
          <p:nvPr/>
        </p:nvSpPr>
        <p:spPr>
          <a:xfrm>
            <a:off x="5806440" y="2715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1" name="Text 28"/>
          <p:cNvSpPr txBox="1"/>
          <p:nvPr/>
        </p:nvSpPr>
        <p:spPr>
          <a:xfrm>
            <a:off x="6245352" y="2688336"/>
            <a:ext cx="2148840"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희망 보험료</a:t>
            </a:r>
            <a:endParaRPr lang="en-US" sz="1550" dirty="0"/>
          </a:p>
        </p:txBody>
      </p:sp>
      <p:sp>
        <p:nvSpPr>
          <p:cNvPr id="32" name="Text 29"/>
          <p:cNvSpPr txBox="1"/>
          <p:nvPr/>
        </p:nvSpPr>
        <p:spPr>
          <a:xfrm>
            <a:off x="8412480" y="2651760"/>
            <a:ext cx="3230575" cy="457200"/>
          </a:xfrm>
          <a:prstGeom prst="rect">
            <a:avLst/>
          </a:prstGeom>
          <a:noFill/>
          <a:ln/>
        </p:spPr>
        <p:txBody>
          <a:bodyPr wrap="square" lIns="0" tIns="0" rIns="0" bIns="0" rtlCol="0" anchor="ctr"/>
          <a:lstStyle/>
          <a:p>
            <a:pPr indent="0" marL="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넣으면 예산 안에서 제안해요</a:t>
            </a:r>
            <a:endParaRPr lang="en-US" sz="1200" dirty="0"/>
          </a:p>
        </p:txBody>
      </p:sp>
      <p:sp>
        <p:nvSpPr>
          <p:cNvPr id="33" name="Shape 30"/>
          <p:cNvSpPr/>
          <p:nvPr/>
        </p:nvSpPr>
        <p:spPr>
          <a:xfrm>
            <a:off x="5806440" y="3282696"/>
            <a:ext cx="329184" cy="329184"/>
          </a:xfrm>
          <a:prstGeom prst="ellipse">
            <a:avLst/>
          </a:prstGeom>
          <a:solidFill>
            <a:srgbClr val="3182F6"/>
          </a:solidFill>
          <a:ln w="19050">
            <a:solidFill>
              <a:srgbClr val="FFFFFF"/>
            </a:solidFill>
            <a:prstDash val="solid"/>
          </a:ln>
        </p:spPr>
      </p:sp>
      <p:sp>
        <p:nvSpPr>
          <p:cNvPr id="34" name="Text 31"/>
          <p:cNvSpPr txBox="1"/>
          <p:nvPr/>
        </p:nvSpPr>
        <p:spPr>
          <a:xfrm>
            <a:off x="5806440" y="32826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5" name="Text 32"/>
          <p:cNvSpPr txBox="1"/>
          <p:nvPr/>
        </p:nvSpPr>
        <p:spPr>
          <a:xfrm>
            <a:off x="6245352" y="3255264"/>
            <a:ext cx="2148840"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메모엔 상황만</a:t>
            </a:r>
            <a:endParaRPr lang="en-US" sz="1550" dirty="0"/>
          </a:p>
        </p:txBody>
      </p:sp>
      <p:sp>
        <p:nvSpPr>
          <p:cNvPr id="36" name="Text 33"/>
          <p:cNvSpPr txBox="1"/>
          <p:nvPr/>
        </p:nvSpPr>
        <p:spPr>
          <a:xfrm>
            <a:off x="8412480" y="3218688"/>
            <a:ext cx="3230575" cy="457200"/>
          </a:xfrm>
          <a:prstGeom prst="rect">
            <a:avLst/>
          </a:prstGeom>
          <a:noFill/>
          <a:ln/>
        </p:spPr>
        <p:txBody>
          <a:bodyPr wrap="square" lIns="0" tIns="0" rIns="0" bIns="0" rtlCol="0" anchor="ctr"/>
          <a:lstStyle/>
          <a:p>
            <a:pPr indent="0" marL="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“자녀 결혼 앞둠”처럼 적어요</a:t>
            </a:r>
            <a:endParaRPr lang="en-US" sz="1200" dirty="0"/>
          </a:p>
          <a:p>
            <a:pPr indent="0" marL="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이름·연락처는 넣지 않아요</a:t>
            </a:r>
            <a:endParaRPr lang="en-US" sz="1200" dirty="0"/>
          </a:p>
        </p:txBody>
      </p:sp>
      <p:sp>
        <p:nvSpPr>
          <p:cNvPr id="37" name="Shape 34"/>
          <p:cNvSpPr/>
          <p:nvPr/>
        </p:nvSpPr>
        <p:spPr>
          <a:xfrm>
            <a:off x="5806440" y="3849624"/>
            <a:ext cx="329184" cy="329184"/>
          </a:xfrm>
          <a:prstGeom prst="ellipse">
            <a:avLst/>
          </a:prstGeom>
          <a:solidFill>
            <a:srgbClr val="3182F6"/>
          </a:solidFill>
          <a:ln w="19050">
            <a:solidFill>
              <a:srgbClr val="FFFFFF"/>
            </a:solidFill>
            <a:prstDash val="solid"/>
          </a:ln>
        </p:spPr>
      </p:sp>
      <p:sp>
        <p:nvSpPr>
          <p:cNvPr id="38" name="Text 35"/>
          <p:cNvSpPr txBox="1"/>
          <p:nvPr/>
        </p:nvSpPr>
        <p:spPr>
          <a:xfrm>
            <a:off x="5806440" y="38496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39" name="Text 36"/>
          <p:cNvSpPr txBox="1"/>
          <p:nvPr/>
        </p:nvSpPr>
        <p:spPr>
          <a:xfrm>
            <a:off x="6245352" y="3822192"/>
            <a:ext cx="2148840"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[입력 완료]로 반영</a:t>
            </a:r>
            <a:endParaRPr lang="en-US" sz="1550" dirty="0"/>
          </a:p>
        </p:txBody>
      </p:sp>
      <p:sp>
        <p:nvSpPr>
          <p:cNvPr id="40" name="Text 37"/>
          <p:cNvSpPr txBox="1"/>
          <p:nvPr/>
        </p:nvSpPr>
        <p:spPr>
          <a:xfrm>
            <a:off x="8412480" y="3785616"/>
            <a:ext cx="3230575" cy="457200"/>
          </a:xfrm>
          <a:prstGeom prst="rect">
            <a:avLst/>
          </a:prstGeom>
          <a:noFill/>
          <a:ln/>
        </p:spPr>
        <p:txBody>
          <a:bodyPr wrap="square" lIns="0" tIns="0" rIns="0" bIns="0" rtlCol="0" anchor="ctr"/>
          <a:lstStyle/>
          <a:p>
            <a:pPr indent="0" marL="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비울 땐 [입력하지 않고 넘어가기]</a:t>
            </a:r>
            <a:endParaRPr lang="en-US" sz="1200" dirty="0"/>
          </a:p>
          <a:p>
            <a:pPr indent="0" marL="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고칠 땐 [사용중인 정보 수정]</a:t>
            </a:r>
            <a:endParaRPr lang="en-US" sz="1200" dirty="0"/>
          </a:p>
        </p:txBody>
      </p:sp>
      <p:sp>
        <p:nvSpPr>
          <p:cNvPr id="41" name="Shape 38"/>
          <p:cNvSpPr/>
          <p:nvPr/>
        </p:nvSpPr>
        <p:spPr>
          <a:xfrm>
            <a:off x="5806440" y="4389120"/>
            <a:ext cx="5836615" cy="566928"/>
          </a:xfrm>
          <a:prstGeom prst="roundRect">
            <a:avLst>
              <a:gd name="adj" fmla="val 19355"/>
            </a:avLst>
          </a:prstGeom>
          <a:solidFill>
            <a:srgbClr val="F9FAFB"/>
          </a:solidFill>
          <a:ln w="12700">
            <a:solidFill>
              <a:srgbClr val="F9FAFB"/>
            </a:solidFill>
            <a:prstDash val="solid"/>
          </a:ln>
        </p:spPr>
      </p:sp>
      <p:sp>
        <p:nvSpPr>
          <p:cNvPr id="42" name="Text 39"/>
          <p:cNvSpPr txBox="1"/>
          <p:nvPr/>
        </p:nvSpPr>
        <p:spPr>
          <a:xfrm>
            <a:off x="5989320" y="4389120"/>
            <a:ext cx="5562295" cy="566928"/>
          </a:xfrm>
          <a:prstGeom prst="rect">
            <a:avLst/>
          </a:prstGeom>
          <a:noFill/>
          <a:ln/>
        </p:spPr>
        <p:txBody>
          <a:bodyPr wrap="square" lIns="0" tIns="0" rIns="0" bIns="0" rtlCol="0" anchor="ctr"/>
          <a:lstStyle/>
          <a:p>
            <a:pPr indent="0" marL="0">
              <a:lnSpc>
                <a:spcPct val="110000"/>
              </a:lnSpc>
              <a:buNone/>
            </a:pPr>
            <a:r>
              <a:rPr lang="en-US" sz="1200" dirty="0">
                <a:solidFill>
                  <a:srgbClr val="4E5968"/>
                </a:solidFill>
                <a:latin typeface="맑은 고딕" pitchFamily="34" charset="0"/>
                <a:ea typeface="맑은 고딕" pitchFamily="34" charset="-122"/>
                <a:cs typeface="맑은 고딕" pitchFamily="34" charset="-120"/>
              </a:rPr>
              <a:t>관계없는 계약은 체크를 풀면 분석에서 빠져요</a:t>
            </a:r>
            <a:endParaRPr lang="en-US" sz="1200" dirty="0"/>
          </a:p>
          <a:p>
            <a:pPr indent="0" marL="0">
              <a:lnSpc>
                <a:spcPct val="110000"/>
              </a:lnSpc>
              <a:buNone/>
            </a:pPr>
            <a:r>
              <a:rPr lang="en-US" sz="1200" dirty="0">
                <a:solidFill>
                  <a:srgbClr val="4E5968"/>
                </a:solidFill>
                <a:latin typeface="맑은 고딕" pitchFamily="34" charset="0"/>
                <a:ea typeface="맑은 고딕" pitchFamily="34" charset="-122"/>
                <a:cs typeface="맑은 고딕" pitchFamily="34" charset="-120"/>
              </a:rPr>
              <a:t>약관DB 구성이 안 된 상품은 답이 부정확할 수 있어요</a:t>
            </a:r>
            <a:endParaRPr lang="en-US" sz="1200" dirty="0"/>
          </a:p>
        </p:txBody>
      </p:sp>
      <p:sp>
        <p:nvSpPr>
          <p:cNvPr id="43" name="Shape 40"/>
          <p:cNvSpPr/>
          <p:nvPr/>
        </p:nvSpPr>
        <p:spPr>
          <a:xfrm>
            <a:off x="548640" y="4754880"/>
            <a:ext cx="4937760" cy="968801"/>
          </a:xfrm>
          <a:prstGeom prst="roundRect">
            <a:avLst>
              <a:gd name="adj" fmla="val 10194"/>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44" name="Image 1" descr="MeAI 화면 캡처">    </p:cNvPr>
          <p:cNvPicPr>
            <a:picLocks noChangeAspect="1"/>
          </p:cNvPicPr>
          <p:nvPr/>
        </p:nvPicPr>
        <p:blipFill>
          <a:blip r:embed="rId2"/>
          <a:stretch>
            <a:fillRect/>
          </a:stretch>
        </p:blipFill>
        <p:spPr>
          <a:xfrm>
            <a:off x="548640" y="4754880"/>
            <a:ext cx="4937760" cy="968801"/>
          </a:xfrm>
          <a:prstGeom prst="rect">
            <a:avLst/>
          </a:prstGeom>
        </p:spPr>
      </p:pic>
      <p:sp>
        <p:nvSpPr>
          <p:cNvPr id="45" name="Shape 41"/>
          <p:cNvSpPr/>
          <p:nvPr/>
        </p:nvSpPr>
        <p:spPr>
          <a:xfrm>
            <a:off x="673647" y="5014269"/>
            <a:ext cx="743789" cy="209386"/>
          </a:xfrm>
          <a:prstGeom prst="roundRect">
            <a:avLst>
              <a:gd name="adj" fmla="val 17468"/>
            </a:avLst>
          </a:prstGeom>
          <a:ln w="25400">
            <a:solidFill>
              <a:srgbClr val="F04452"/>
            </a:solidFill>
            <a:prstDash val="solid"/>
          </a:ln>
        </p:spPr>
      </p:sp>
      <p:sp>
        <p:nvSpPr>
          <p:cNvPr id="46" name="Shape 42"/>
          <p:cNvSpPr/>
          <p:nvPr/>
        </p:nvSpPr>
        <p:spPr>
          <a:xfrm>
            <a:off x="1424496" y="4961951"/>
            <a:ext cx="310896" cy="310896"/>
          </a:xfrm>
          <a:prstGeom prst="ellipse">
            <a:avLst/>
          </a:prstGeom>
          <a:solidFill>
            <a:srgbClr val="3182F6"/>
          </a:solidFill>
          <a:ln w="19050">
            <a:solidFill>
              <a:srgbClr val="FFFFFF"/>
            </a:solidFill>
            <a:prstDash val="solid"/>
          </a:ln>
        </p:spPr>
      </p:sp>
      <p:sp>
        <p:nvSpPr>
          <p:cNvPr id="47" name="Text 43"/>
          <p:cNvSpPr txBox="1"/>
          <p:nvPr/>
        </p:nvSpPr>
        <p:spPr>
          <a:xfrm>
            <a:off x="1424496" y="4961951"/>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48" name="Shape 44"/>
          <p:cNvSpPr/>
          <p:nvPr/>
        </p:nvSpPr>
        <p:spPr>
          <a:xfrm>
            <a:off x="4830926" y="5177587"/>
            <a:ext cx="310896" cy="310896"/>
          </a:xfrm>
          <a:prstGeom prst="ellipse">
            <a:avLst/>
          </a:prstGeom>
          <a:solidFill>
            <a:srgbClr val="3182F6"/>
          </a:solidFill>
          <a:ln w="19050">
            <a:solidFill>
              <a:srgbClr val="FFFFFF"/>
            </a:solidFill>
            <a:prstDash val="solid"/>
          </a:ln>
        </p:spPr>
      </p:sp>
      <p:sp>
        <p:nvSpPr>
          <p:cNvPr id="49" name="Text 45"/>
          <p:cNvSpPr txBox="1"/>
          <p:nvPr/>
        </p:nvSpPr>
        <p:spPr>
          <a:xfrm>
            <a:off x="4830926" y="5177587"/>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50" name="Shape 46"/>
          <p:cNvSpPr/>
          <p:nvPr/>
        </p:nvSpPr>
        <p:spPr>
          <a:xfrm>
            <a:off x="5806440" y="5074920"/>
            <a:ext cx="1835150" cy="329184"/>
          </a:xfrm>
          <a:prstGeom prst="roundRect">
            <a:avLst>
              <a:gd name="adj" fmla="val 50000"/>
            </a:avLst>
          </a:prstGeom>
          <a:solidFill>
            <a:srgbClr val="191F28"/>
          </a:solidFill>
          <a:ln w="12700">
            <a:solidFill>
              <a:srgbClr val="191F28"/>
            </a:solidFill>
            <a:prstDash val="solid"/>
          </a:ln>
        </p:spPr>
      </p:sp>
      <p:sp>
        <p:nvSpPr>
          <p:cNvPr id="51" name="Text 47"/>
          <p:cNvSpPr txBox="1"/>
          <p:nvPr/>
        </p:nvSpPr>
        <p:spPr>
          <a:xfrm>
            <a:off x="5806440" y="5074920"/>
            <a:ext cx="183515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첫 질문은 버튼 하나</a:t>
            </a:r>
            <a:endParaRPr lang="en-US" sz="1300" dirty="0"/>
          </a:p>
        </p:txBody>
      </p:sp>
      <p:sp>
        <p:nvSpPr>
          <p:cNvPr id="52" name="Shape 48"/>
          <p:cNvSpPr/>
          <p:nvPr/>
        </p:nvSpPr>
        <p:spPr>
          <a:xfrm>
            <a:off x="5806440" y="5486400"/>
            <a:ext cx="292608" cy="292608"/>
          </a:xfrm>
          <a:prstGeom prst="ellipse">
            <a:avLst/>
          </a:prstGeom>
          <a:solidFill>
            <a:srgbClr val="3182F6"/>
          </a:solidFill>
          <a:ln w="19050">
            <a:solidFill>
              <a:srgbClr val="FFFFFF"/>
            </a:solidFill>
            <a:prstDash val="solid"/>
          </a:ln>
        </p:spPr>
      </p:sp>
      <p:sp>
        <p:nvSpPr>
          <p:cNvPr id="53" name="Text 49"/>
          <p:cNvSpPr txBox="1"/>
          <p:nvPr/>
        </p:nvSpPr>
        <p:spPr>
          <a:xfrm>
            <a:off x="5806440" y="5486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54" name="Text 50"/>
          <p:cNvSpPr txBox="1"/>
          <p:nvPr/>
        </p:nvSpPr>
        <p:spPr>
          <a:xfrm>
            <a:off x="6190488" y="5468112"/>
            <a:ext cx="2194560" cy="329184"/>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[보장분석 해줘] 한 번</a:t>
            </a:r>
            <a:endParaRPr lang="en-US" sz="1450" dirty="0"/>
          </a:p>
        </p:txBody>
      </p:sp>
      <p:sp>
        <p:nvSpPr>
          <p:cNvPr id="55" name="Text 51"/>
          <p:cNvSpPr txBox="1"/>
          <p:nvPr/>
        </p:nvSpPr>
        <p:spPr>
          <a:xfrm>
            <a:off x="8412480" y="5468112"/>
            <a:ext cx="3230575" cy="329184"/>
          </a:xfrm>
          <a:prstGeom prst="rect">
            <a:avLst/>
          </a:prstGeom>
          <a:noFill/>
          <a:ln/>
        </p:spPr>
        <p:txBody>
          <a:bodyPr wrap="square" lIns="0" tIns="0" rIns="0" bIns="0" rtlCol="0" anchor="ctr"/>
          <a:lstStyle/>
          <a:p>
            <a:pPr indent="0" marL="0">
              <a:buNone/>
            </a:pPr>
            <a:r>
              <a:rPr lang="en-US" sz="1250" dirty="0">
                <a:solidFill>
                  <a:srgbClr val="6B7684"/>
                </a:solidFill>
                <a:latin typeface="맑은 고딕" pitchFamily="34" charset="0"/>
                <a:ea typeface="맑은 고딕" pitchFamily="34" charset="-122"/>
                <a:cs typeface="맑은 고딕" pitchFamily="34" charset="-120"/>
              </a:rPr>
              <a:t>입력창 위 버튼으로 전체 그림부터 봐요</a:t>
            </a:r>
            <a:endParaRPr lang="en-US" sz="1250" dirty="0"/>
          </a:p>
        </p:txBody>
      </p:sp>
      <p:sp>
        <p:nvSpPr>
          <p:cNvPr id="56" name="Shape 52"/>
          <p:cNvSpPr/>
          <p:nvPr/>
        </p:nvSpPr>
        <p:spPr>
          <a:xfrm>
            <a:off x="5806440" y="5852160"/>
            <a:ext cx="292608" cy="292608"/>
          </a:xfrm>
          <a:prstGeom prst="ellipse">
            <a:avLst/>
          </a:prstGeom>
          <a:solidFill>
            <a:srgbClr val="3182F6"/>
          </a:solidFill>
          <a:ln w="19050">
            <a:solidFill>
              <a:srgbClr val="FFFFFF"/>
            </a:solidFill>
            <a:prstDash val="solid"/>
          </a:ln>
        </p:spPr>
      </p:sp>
      <p:sp>
        <p:nvSpPr>
          <p:cNvPr id="57" name="Text 53"/>
          <p:cNvSpPr txBox="1"/>
          <p:nvPr/>
        </p:nvSpPr>
        <p:spPr>
          <a:xfrm>
            <a:off x="5806440" y="5852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6</a:t>
            </a:r>
            <a:endParaRPr lang="en-US" sz="1200" dirty="0"/>
          </a:p>
        </p:txBody>
      </p:sp>
      <p:sp>
        <p:nvSpPr>
          <p:cNvPr id="58" name="Text 54"/>
          <p:cNvSpPr txBox="1"/>
          <p:nvPr/>
        </p:nvSpPr>
        <p:spPr>
          <a:xfrm>
            <a:off x="6190488" y="5833872"/>
            <a:ext cx="2194560" cy="329184"/>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추천 질문으로 왔다면</a:t>
            </a:r>
            <a:endParaRPr lang="en-US" sz="1450" dirty="0"/>
          </a:p>
        </p:txBody>
      </p:sp>
      <p:sp>
        <p:nvSpPr>
          <p:cNvPr id="59" name="Text 55"/>
          <p:cNvSpPr txBox="1"/>
          <p:nvPr/>
        </p:nvSpPr>
        <p:spPr>
          <a:xfrm>
            <a:off x="8412480" y="5833872"/>
            <a:ext cx="3230575" cy="329184"/>
          </a:xfrm>
          <a:prstGeom prst="rect">
            <a:avLst/>
          </a:prstGeom>
          <a:noFill/>
          <a:ln/>
        </p:spPr>
        <p:txBody>
          <a:bodyPr wrap="square" lIns="0" tIns="0" rIns="0" bIns="0" rtlCol="0" anchor="ctr"/>
          <a:lstStyle/>
          <a:p>
            <a:pPr indent="0" marL="0">
              <a:buNone/>
            </a:pPr>
            <a:r>
              <a:rPr lang="en-US" sz="1250" dirty="0">
                <a:solidFill>
                  <a:srgbClr val="6B7684"/>
                </a:solidFill>
                <a:latin typeface="맑은 고딕" pitchFamily="34" charset="0"/>
                <a:ea typeface="맑은 고딕" pitchFamily="34" charset="-122"/>
                <a:cs typeface="맑은 고딕" pitchFamily="34" charset="-120"/>
              </a:rPr>
              <a:t>질문이 채워져 있어요. 전송(↑)만 누르세요</a:t>
            </a:r>
            <a:endParaRPr lang="en-US" sz="1250" dirty="0"/>
          </a:p>
        </p:txBody>
      </p:sp>
      <p:sp>
        <p:nvSpPr>
          <p:cNvPr id="60" name="Text 56"/>
          <p:cNvSpPr txBox="1"/>
          <p:nvPr/>
        </p:nvSpPr>
        <p:spPr>
          <a:xfrm>
            <a:off x="548640" y="5870448"/>
            <a:ext cx="5120640" cy="457200"/>
          </a:xfrm>
          <a:prstGeom prst="rect">
            <a:avLst/>
          </a:prstGeom>
          <a:noFill/>
          <a:ln/>
        </p:spPr>
        <p:txBody>
          <a:bodyPr wrap="square" lIns="0" tIns="0" rIns="0" bIns="0" rtlCol="0" anchor="ctr"/>
          <a:lstStyle/>
          <a:p>
            <a:pPr indent="0" marL="0">
              <a:lnSpc>
                <a:spcPct val="105000"/>
              </a:lnSpc>
              <a:buNone/>
            </a:pPr>
            <a:r>
              <a:rPr lang="en-US" sz="1200" b="1" dirty="0">
                <a:solidFill>
                  <a:srgbClr val="7048E8"/>
                </a:solidFill>
                <a:latin typeface="맑은 고딕" pitchFamily="34" charset="0"/>
                <a:ea typeface="맑은 고딕" pitchFamily="34" charset="-122"/>
                <a:cs typeface="맑은 고딕" pitchFamily="34" charset="-120"/>
              </a:rPr>
              <a:t>이 순서로  [이 고객으로 맞춤대화 시작] → [보장분석 해줘] → 담보를 좁혀 다시 묻기</a:t>
            </a:r>
            <a:endParaRPr lang="en-US" sz="1200" dirty="0"/>
          </a:p>
        </p:txBody>
      </p:sp>
      <p:sp>
        <p:nvSpPr>
          <p:cNvPr id="61" name="Text 57"/>
          <p:cNvSpPr txBox="1"/>
          <p:nvPr/>
        </p:nvSpPr>
        <p:spPr>
          <a:xfrm>
            <a:off x="548640" y="6254496"/>
            <a:ext cx="11094415" cy="201168"/>
          </a:xfrm>
          <a:prstGeom prst="rect">
            <a:avLst/>
          </a:prstGeom>
          <a:noFill/>
          <a:ln/>
        </p:spPr>
        <p:txBody>
          <a:bodyPr wrap="square" lIns="0" tIns="0" rIns="0" bIns="0" rtlCol="0" anchor="ctr"/>
          <a:lstStyle/>
          <a:p>
            <a:pPr indent="0" marL="0">
              <a:buNone/>
            </a:pPr>
            <a:r>
              <a:rPr lang="en-US" sz="1000" dirty="0">
                <a:solidFill>
                  <a:srgbClr val="8B95A1"/>
                </a:solidFill>
                <a:latin typeface="맑은 고딕" pitchFamily="34" charset="0"/>
                <a:ea typeface="맑은 고딕" pitchFamily="34" charset="-122"/>
                <a:cs typeface="맑은 고딕" pitchFamily="34" charset="-120"/>
              </a:rPr>
              <a:t>화면: 확정 화면 · 이름과 칸 안의 글은 예시 · 출처: MeAI 활용 가이드북 영업가족 편 v3(2026.09) 37·38쪽 · 가이드북 v4(2026.10) 38·49쪽 · 확정 화면</a:t>
            </a:r>
            <a:endParaRPr lang="en-US" sz="1000" dirty="0"/>
          </a:p>
        </p:txBody>
      </p:sp>
      <p:sp>
        <p:nvSpPr>
          <p:cNvPr id="62" name="Text 5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3" name="Text 5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답은 안심 → 제안 → 다음 행동 순서로 읽어요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답변은 이 순서로 와요 · 그 순서대로 상담하면 돼요</a:t>
            </a:r>
            <a:endParaRPr lang="en-US" sz="1700" dirty="0"/>
          </a:p>
        </p:txBody>
      </p:sp>
      <p:sp>
        <p:nvSpPr>
          <p:cNvPr id="13" name="Text 11"/>
          <p:cNvSpPr txBox="1"/>
          <p:nvPr/>
        </p:nvSpPr>
        <p:spPr>
          <a:xfrm>
            <a:off x="548640" y="1874520"/>
            <a:ext cx="7315200" cy="274320"/>
          </a:xfrm>
          <a:prstGeom prst="rect">
            <a:avLst/>
          </a:prstGeom>
          <a:noFill/>
          <a:ln/>
        </p:spPr>
        <p:txBody>
          <a:bodyPr wrap="square" lIns="0" tIns="0" rIns="0" bIns="0" rtlCol="0" anchor="ctr"/>
          <a:lstStyle/>
          <a:p>
            <a:pPr indent="0" marL="0">
              <a:buNone/>
            </a:pPr>
            <a:r>
              <a:rPr lang="en-US" sz="1300" dirty="0">
                <a:solidFill>
                  <a:srgbClr val="6B7684"/>
                </a:solidFill>
                <a:latin typeface="맑은 고딕" pitchFamily="34" charset="0"/>
                <a:ea typeface="맑은 고딕" pitchFamily="34" charset="-122"/>
                <a:cs typeface="맑은 고딕" pitchFamily="34" charset="-120"/>
              </a:rPr>
              <a:t>한 답변의 위쪽(왼쪽)과 아래쪽(오른쪽)이에요</a:t>
            </a:r>
            <a:endParaRPr lang="en-US" sz="1300" dirty="0"/>
          </a:p>
        </p:txBody>
      </p:sp>
      <p:sp>
        <p:nvSpPr>
          <p:cNvPr id="14" name="Shape 12"/>
          <p:cNvSpPr/>
          <p:nvPr/>
        </p:nvSpPr>
        <p:spPr>
          <a:xfrm>
            <a:off x="548640" y="2194560"/>
            <a:ext cx="4630405" cy="2697480"/>
          </a:xfrm>
          <a:prstGeom prst="roundRect">
            <a:avLst>
              <a:gd name="adj" fmla="val 3433"/>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5" name="Image 0" descr="MeAI 화면 캡처">    </p:cNvPr>
          <p:cNvPicPr>
            <a:picLocks noChangeAspect="1"/>
          </p:cNvPicPr>
          <p:nvPr/>
        </p:nvPicPr>
        <p:blipFill>
          <a:blip r:embed="rId1"/>
          <a:stretch>
            <a:fillRect/>
          </a:stretch>
        </p:blipFill>
        <p:spPr>
          <a:xfrm>
            <a:off x="548640" y="2194560"/>
            <a:ext cx="4630405" cy="2697480"/>
          </a:xfrm>
          <a:prstGeom prst="rect">
            <a:avLst/>
          </a:prstGeom>
        </p:spPr>
      </p:pic>
      <p:sp>
        <p:nvSpPr>
          <p:cNvPr id="16" name="Shape 13"/>
          <p:cNvSpPr/>
          <p:nvPr/>
        </p:nvSpPr>
        <p:spPr>
          <a:xfrm>
            <a:off x="6217920" y="2194560"/>
            <a:ext cx="4303957" cy="2697480"/>
          </a:xfrm>
          <a:prstGeom prst="roundRect">
            <a:avLst>
              <a:gd name="adj" fmla="val 3191"/>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7" name="Image 1" descr="MeAI 화면 캡처">    </p:cNvPr>
          <p:cNvPicPr>
            <a:picLocks noChangeAspect="1"/>
          </p:cNvPicPr>
          <p:nvPr/>
        </p:nvPicPr>
        <p:blipFill>
          <a:blip r:embed="rId2"/>
          <a:stretch>
            <a:fillRect/>
          </a:stretch>
        </p:blipFill>
        <p:spPr>
          <a:xfrm>
            <a:off x="6217920" y="2194560"/>
            <a:ext cx="4303957" cy="2697480"/>
          </a:xfrm>
          <a:prstGeom prst="rect">
            <a:avLst/>
          </a:prstGeom>
        </p:spPr>
      </p:pic>
      <p:sp>
        <p:nvSpPr>
          <p:cNvPr id="18" name="Shape 14"/>
          <p:cNvSpPr/>
          <p:nvPr/>
        </p:nvSpPr>
        <p:spPr>
          <a:xfrm>
            <a:off x="710166" y="3459845"/>
            <a:ext cx="4361195" cy="942234"/>
          </a:xfrm>
          <a:prstGeom prst="roundRect">
            <a:avLst>
              <a:gd name="adj" fmla="val 3882"/>
            </a:avLst>
          </a:prstGeom>
          <a:ln w="25400">
            <a:solidFill>
              <a:srgbClr val="00A86B"/>
            </a:solidFill>
            <a:prstDash val="solid"/>
          </a:ln>
        </p:spPr>
      </p:sp>
      <p:sp>
        <p:nvSpPr>
          <p:cNvPr id="19" name="Shape 15"/>
          <p:cNvSpPr/>
          <p:nvPr/>
        </p:nvSpPr>
        <p:spPr>
          <a:xfrm>
            <a:off x="9095566" y="2624956"/>
            <a:ext cx="1271169" cy="395363"/>
          </a:xfrm>
          <a:prstGeom prst="roundRect">
            <a:avLst>
              <a:gd name="adj" fmla="val 9251"/>
            </a:avLst>
          </a:prstGeom>
          <a:ln w="25400">
            <a:solidFill>
              <a:srgbClr val="F04452"/>
            </a:solidFill>
            <a:prstDash val="solid"/>
          </a:ln>
        </p:spPr>
      </p:sp>
      <p:sp>
        <p:nvSpPr>
          <p:cNvPr id="20" name="Shape 16"/>
          <p:cNvSpPr/>
          <p:nvPr/>
        </p:nvSpPr>
        <p:spPr>
          <a:xfrm>
            <a:off x="6368058" y="3720963"/>
            <a:ext cx="1251150" cy="162650"/>
          </a:xfrm>
          <a:prstGeom prst="roundRect">
            <a:avLst>
              <a:gd name="adj" fmla="val 22488"/>
            </a:avLst>
          </a:prstGeom>
          <a:ln w="25400">
            <a:solidFill>
              <a:srgbClr val="3182F6"/>
            </a:solidFill>
            <a:prstDash val="solid"/>
          </a:ln>
        </p:spPr>
      </p:sp>
      <p:sp>
        <p:nvSpPr>
          <p:cNvPr id="21" name="Shape 17"/>
          <p:cNvSpPr/>
          <p:nvPr/>
        </p:nvSpPr>
        <p:spPr>
          <a:xfrm>
            <a:off x="545574" y="2783755"/>
            <a:ext cx="329184" cy="329184"/>
          </a:xfrm>
          <a:prstGeom prst="ellipse">
            <a:avLst/>
          </a:prstGeom>
          <a:solidFill>
            <a:srgbClr val="191F28"/>
          </a:solidFill>
          <a:ln w="19050">
            <a:solidFill>
              <a:srgbClr val="FFFFFF"/>
            </a:solidFill>
            <a:prstDash val="solid"/>
          </a:ln>
        </p:spPr>
      </p:sp>
      <p:sp>
        <p:nvSpPr>
          <p:cNvPr id="22" name="Text 18"/>
          <p:cNvSpPr txBox="1"/>
          <p:nvPr/>
        </p:nvSpPr>
        <p:spPr>
          <a:xfrm>
            <a:off x="545574" y="2783755"/>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3" name="Shape 19"/>
          <p:cNvSpPr/>
          <p:nvPr/>
        </p:nvSpPr>
        <p:spPr>
          <a:xfrm>
            <a:off x="545574" y="3376016"/>
            <a:ext cx="329184" cy="329184"/>
          </a:xfrm>
          <a:prstGeom prst="ellipse">
            <a:avLst/>
          </a:prstGeom>
          <a:solidFill>
            <a:srgbClr val="00A86B"/>
          </a:solidFill>
          <a:ln w="19050">
            <a:solidFill>
              <a:srgbClr val="FFFFFF"/>
            </a:solidFill>
            <a:prstDash val="solid"/>
          </a:ln>
        </p:spPr>
      </p:sp>
      <p:sp>
        <p:nvSpPr>
          <p:cNvPr id="24" name="Text 20"/>
          <p:cNvSpPr txBox="1"/>
          <p:nvPr/>
        </p:nvSpPr>
        <p:spPr>
          <a:xfrm>
            <a:off x="545574" y="337601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5" name="Shape 21"/>
          <p:cNvSpPr/>
          <p:nvPr/>
        </p:nvSpPr>
        <p:spPr>
          <a:xfrm>
            <a:off x="8830882" y="2655543"/>
            <a:ext cx="329184" cy="329184"/>
          </a:xfrm>
          <a:prstGeom prst="ellipse">
            <a:avLst/>
          </a:prstGeom>
          <a:solidFill>
            <a:srgbClr val="F04452"/>
          </a:solidFill>
          <a:ln w="19050">
            <a:solidFill>
              <a:srgbClr val="FFFFFF"/>
            </a:solidFill>
            <a:prstDash val="solid"/>
          </a:ln>
        </p:spPr>
      </p:sp>
      <p:sp>
        <p:nvSpPr>
          <p:cNvPr id="26" name="Text 22"/>
          <p:cNvSpPr txBox="1"/>
          <p:nvPr/>
        </p:nvSpPr>
        <p:spPr>
          <a:xfrm>
            <a:off x="8830882" y="2655543"/>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7" name="Shape 23"/>
          <p:cNvSpPr/>
          <p:nvPr/>
        </p:nvSpPr>
        <p:spPr>
          <a:xfrm>
            <a:off x="6203466" y="3631440"/>
            <a:ext cx="329184" cy="329184"/>
          </a:xfrm>
          <a:prstGeom prst="ellipse">
            <a:avLst/>
          </a:prstGeom>
          <a:solidFill>
            <a:srgbClr val="3182F6"/>
          </a:solidFill>
          <a:ln w="19050">
            <a:solidFill>
              <a:srgbClr val="FFFFFF"/>
            </a:solidFill>
            <a:prstDash val="solid"/>
          </a:ln>
        </p:spPr>
      </p:sp>
      <p:sp>
        <p:nvSpPr>
          <p:cNvPr id="28" name="Text 24"/>
          <p:cNvSpPr txBox="1"/>
          <p:nvPr/>
        </p:nvSpPr>
        <p:spPr>
          <a:xfrm>
            <a:off x="6203466" y="363144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9" name="Shape 25"/>
          <p:cNvSpPr/>
          <p:nvPr/>
        </p:nvSpPr>
        <p:spPr>
          <a:xfrm>
            <a:off x="548640" y="5029200"/>
            <a:ext cx="2650160" cy="621792"/>
          </a:xfrm>
          <a:prstGeom prst="roundRect">
            <a:avLst>
              <a:gd name="adj" fmla="val 17647"/>
            </a:avLst>
          </a:prstGeom>
          <a:solidFill>
            <a:srgbClr val="FFFFFF"/>
          </a:solidFill>
          <a:ln w="15875">
            <a:solidFill>
              <a:srgbClr val="191F28"/>
            </a:solidFill>
            <a:prstDash val="solid"/>
          </a:ln>
        </p:spPr>
      </p:sp>
      <p:sp>
        <p:nvSpPr>
          <p:cNvPr id="30" name="Shape 26"/>
          <p:cNvSpPr/>
          <p:nvPr/>
        </p:nvSpPr>
        <p:spPr>
          <a:xfrm>
            <a:off x="658368" y="5148072"/>
            <a:ext cx="365760" cy="365760"/>
          </a:xfrm>
          <a:prstGeom prst="ellipse">
            <a:avLst/>
          </a:prstGeom>
          <a:solidFill>
            <a:srgbClr val="191F28"/>
          </a:solidFill>
          <a:ln w="19050">
            <a:solidFill>
              <a:srgbClr val="FFFFFF"/>
            </a:solidFill>
            <a:prstDash val="solid"/>
          </a:ln>
        </p:spPr>
      </p:sp>
      <p:sp>
        <p:nvSpPr>
          <p:cNvPr id="31" name="Text 27"/>
          <p:cNvSpPr txBox="1"/>
          <p:nvPr/>
        </p:nvSpPr>
        <p:spPr>
          <a:xfrm>
            <a:off x="658368" y="51480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32" name="Text 28"/>
          <p:cNvSpPr txBox="1"/>
          <p:nvPr/>
        </p:nvSpPr>
        <p:spPr>
          <a:xfrm>
            <a:off x="1115568" y="5074920"/>
            <a:ext cx="2010080" cy="292608"/>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한 줄 결론</a:t>
            </a:r>
            <a:endParaRPr lang="en-US" sz="1450" dirty="0"/>
          </a:p>
        </p:txBody>
      </p:sp>
      <p:sp>
        <p:nvSpPr>
          <p:cNvPr id="33" name="Text 29"/>
          <p:cNvSpPr txBox="1"/>
          <p:nvPr/>
        </p:nvSpPr>
        <p:spPr>
          <a:xfrm>
            <a:off x="1115568" y="5358384"/>
            <a:ext cx="2010080" cy="256032"/>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오늘 상담 주제예요</a:t>
            </a:r>
            <a:endParaRPr lang="en-US" sz="1200" dirty="0"/>
          </a:p>
        </p:txBody>
      </p:sp>
      <p:sp>
        <p:nvSpPr>
          <p:cNvPr id="34" name="Text 30"/>
          <p:cNvSpPr txBox="1"/>
          <p:nvPr/>
        </p:nvSpPr>
        <p:spPr>
          <a:xfrm>
            <a:off x="3180512" y="5029200"/>
            <a:ext cx="201168" cy="621792"/>
          </a:xfrm>
          <a:prstGeom prst="rect">
            <a:avLst/>
          </a:prstGeom>
          <a:noFill/>
          <a:ln/>
        </p:spPr>
        <p:txBody>
          <a:bodyPr wrap="square" lIns="0" tIns="0" rIns="0" bIns="0" rtlCol="0" anchor="ctr"/>
          <a:lstStyle/>
          <a:p>
            <a:pPr algn="ctr" indent="0" marL="0">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35" name="Shape 31"/>
          <p:cNvSpPr/>
          <p:nvPr/>
        </p:nvSpPr>
        <p:spPr>
          <a:xfrm>
            <a:off x="3363392" y="5029200"/>
            <a:ext cx="2650160" cy="621792"/>
          </a:xfrm>
          <a:prstGeom prst="roundRect">
            <a:avLst>
              <a:gd name="adj" fmla="val 17647"/>
            </a:avLst>
          </a:prstGeom>
          <a:solidFill>
            <a:srgbClr val="FFFFFF"/>
          </a:solidFill>
          <a:ln w="15875">
            <a:solidFill>
              <a:srgbClr val="00A86B"/>
            </a:solidFill>
            <a:prstDash val="solid"/>
          </a:ln>
        </p:spPr>
      </p:sp>
      <p:sp>
        <p:nvSpPr>
          <p:cNvPr id="36" name="Shape 32"/>
          <p:cNvSpPr/>
          <p:nvPr/>
        </p:nvSpPr>
        <p:spPr>
          <a:xfrm>
            <a:off x="3473120" y="5148072"/>
            <a:ext cx="365760" cy="365760"/>
          </a:xfrm>
          <a:prstGeom prst="ellipse">
            <a:avLst/>
          </a:prstGeom>
          <a:solidFill>
            <a:srgbClr val="00A86B"/>
          </a:solidFill>
          <a:ln w="19050">
            <a:solidFill>
              <a:srgbClr val="FFFFFF"/>
            </a:solidFill>
            <a:prstDash val="solid"/>
          </a:ln>
        </p:spPr>
      </p:sp>
      <p:sp>
        <p:nvSpPr>
          <p:cNvPr id="37" name="Text 33"/>
          <p:cNvSpPr txBox="1"/>
          <p:nvPr/>
        </p:nvSpPr>
        <p:spPr>
          <a:xfrm>
            <a:off x="3473120" y="51480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38" name="Text 34"/>
          <p:cNvSpPr txBox="1"/>
          <p:nvPr/>
        </p:nvSpPr>
        <p:spPr>
          <a:xfrm>
            <a:off x="3930320" y="5074920"/>
            <a:ext cx="2010080" cy="292608"/>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잘 갖춰진 것</a:t>
            </a:r>
            <a:endParaRPr lang="en-US" sz="1450" dirty="0"/>
          </a:p>
        </p:txBody>
      </p:sp>
      <p:sp>
        <p:nvSpPr>
          <p:cNvPr id="39" name="Text 35"/>
          <p:cNvSpPr txBox="1"/>
          <p:nvPr/>
        </p:nvSpPr>
        <p:spPr>
          <a:xfrm>
            <a:off x="3930320" y="5358384"/>
            <a:ext cx="2010080" cy="256032"/>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고객에게 안심부터 드려요</a:t>
            </a:r>
            <a:endParaRPr lang="en-US" sz="1200" dirty="0"/>
          </a:p>
        </p:txBody>
      </p:sp>
      <p:sp>
        <p:nvSpPr>
          <p:cNvPr id="40" name="Text 36"/>
          <p:cNvSpPr txBox="1"/>
          <p:nvPr/>
        </p:nvSpPr>
        <p:spPr>
          <a:xfrm>
            <a:off x="5995264" y="5029200"/>
            <a:ext cx="201168" cy="621792"/>
          </a:xfrm>
          <a:prstGeom prst="rect">
            <a:avLst/>
          </a:prstGeom>
          <a:noFill/>
          <a:ln/>
        </p:spPr>
        <p:txBody>
          <a:bodyPr wrap="square" lIns="0" tIns="0" rIns="0" bIns="0" rtlCol="0" anchor="ctr"/>
          <a:lstStyle/>
          <a:p>
            <a:pPr algn="ctr" indent="0" marL="0">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1" name="Shape 37"/>
          <p:cNvSpPr/>
          <p:nvPr/>
        </p:nvSpPr>
        <p:spPr>
          <a:xfrm>
            <a:off x="6178144" y="5029200"/>
            <a:ext cx="2650160" cy="621792"/>
          </a:xfrm>
          <a:prstGeom prst="roundRect">
            <a:avLst>
              <a:gd name="adj" fmla="val 17647"/>
            </a:avLst>
          </a:prstGeom>
          <a:solidFill>
            <a:srgbClr val="FFFFFF"/>
          </a:solidFill>
          <a:ln w="15875">
            <a:solidFill>
              <a:srgbClr val="F04452"/>
            </a:solidFill>
            <a:prstDash val="solid"/>
          </a:ln>
        </p:spPr>
      </p:sp>
      <p:sp>
        <p:nvSpPr>
          <p:cNvPr id="42" name="Shape 38"/>
          <p:cNvSpPr/>
          <p:nvPr/>
        </p:nvSpPr>
        <p:spPr>
          <a:xfrm>
            <a:off x="6287872" y="5148072"/>
            <a:ext cx="365760" cy="365760"/>
          </a:xfrm>
          <a:prstGeom prst="ellipse">
            <a:avLst/>
          </a:prstGeom>
          <a:solidFill>
            <a:srgbClr val="F04452"/>
          </a:solidFill>
          <a:ln w="19050">
            <a:solidFill>
              <a:srgbClr val="FFFFFF"/>
            </a:solidFill>
            <a:prstDash val="solid"/>
          </a:ln>
        </p:spPr>
      </p:sp>
      <p:sp>
        <p:nvSpPr>
          <p:cNvPr id="43" name="Text 39"/>
          <p:cNvSpPr txBox="1"/>
          <p:nvPr/>
        </p:nvSpPr>
        <p:spPr>
          <a:xfrm>
            <a:off x="6287872" y="51480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44" name="Text 40"/>
          <p:cNvSpPr txBox="1"/>
          <p:nvPr/>
        </p:nvSpPr>
        <p:spPr>
          <a:xfrm>
            <a:off x="6745072" y="5074920"/>
            <a:ext cx="2010080" cy="292608"/>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비어 있는 것</a:t>
            </a:r>
            <a:endParaRPr lang="en-US" sz="1450" dirty="0"/>
          </a:p>
        </p:txBody>
      </p:sp>
      <p:sp>
        <p:nvSpPr>
          <p:cNvPr id="45" name="Text 41"/>
          <p:cNvSpPr txBox="1"/>
          <p:nvPr/>
        </p:nvSpPr>
        <p:spPr>
          <a:xfrm>
            <a:off x="6745072" y="5358384"/>
            <a:ext cx="2010080" cy="256032"/>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'미가입' 줄이 제안 포인트예요</a:t>
            </a:r>
            <a:endParaRPr lang="en-US" sz="1200" dirty="0"/>
          </a:p>
        </p:txBody>
      </p:sp>
      <p:sp>
        <p:nvSpPr>
          <p:cNvPr id="46" name="Text 42"/>
          <p:cNvSpPr txBox="1"/>
          <p:nvPr/>
        </p:nvSpPr>
        <p:spPr>
          <a:xfrm>
            <a:off x="8810015" y="5029200"/>
            <a:ext cx="201168" cy="621792"/>
          </a:xfrm>
          <a:prstGeom prst="rect">
            <a:avLst/>
          </a:prstGeom>
          <a:noFill/>
          <a:ln/>
        </p:spPr>
        <p:txBody>
          <a:bodyPr wrap="square" lIns="0" tIns="0" rIns="0" bIns="0" rtlCol="0" anchor="ctr"/>
          <a:lstStyle/>
          <a:p>
            <a:pPr algn="ctr" indent="0" marL="0">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7" name="Shape 43"/>
          <p:cNvSpPr/>
          <p:nvPr/>
        </p:nvSpPr>
        <p:spPr>
          <a:xfrm>
            <a:off x="8992895" y="5029200"/>
            <a:ext cx="2650160" cy="621792"/>
          </a:xfrm>
          <a:prstGeom prst="roundRect">
            <a:avLst>
              <a:gd name="adj" fmla="val 17647"/>
            </a:avLst>
          </a:prstGeom>
          <a:solidFill>
            <a:srgbClr val="FFFFFF"/>
          </a:solidFill>
          <a:ln w="15875">
            <a:solidFill>
              <a:srgbClr val="3182F6"/>
            </a:solidFill>
            <a:prstDash val="solid"/>
          </a:ln>
        </p:spPr>
      </p:sp>
      <p:sp>
        <p:nvSpPr>
          <p:cNvPr id="48" name="Shape 44"/>
          <p:cNvSpPr/>
          <p:nvPr/>
        </p:nvSpPr>
        <p:spPr>
          <a:xfrm>
            <a:off x="9102623" y="5148072"/>
            <a:ext cx="365760" cy="365760"/>
          </a:xfrm>
          <a:prstGeom prst="ellipse">
            <a:avLst/>
          </a:prstGeom>
          <a:solidFill>
            <a:srgbClr val="3182F6"/>
          </a:solidFill>
          <a:ln w="19050">
            <a:solidFill>
              <a:srgbClr val="FFFFFF"/>
            </a:solidFill>
            <a:prstDash val="solid"/>
          </a:ln>
        </p:spPr>
      </p:sp>
      <p:sp>
        <p:nvSpPr>
          <p:cNvPr id="49" name="Text 45"/>
          <p:cNvSpPr txBox="1"/>
          <p:nvPr/>
        </p:nvSpPr>
        <p:spPr>
          <a:xfrm>
            <a:off x="9102623" y="51480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50" name="Text 46"/>
          <p:cNvSpPr txBox="1"/>
          <p:nvPr/>
        </p:nvSpPr>
        <p:spPr>
          <a:xfrm>
            <a:off x="9559823" y="5074920"/>
            <a:ext cx="2010080" cy="292608"/>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이제 하면 되는 일</a:t>
            </a:r>
            <a:endParaRPr lang="en-US" sz="1450" dirty="0"/>
          </a:p>
        </p:txBody>
      </p:sp>
      <p:sp>
        <p:nvSpPr>
          <p:cNvPr id="51" name="Text 47"/>
          <p:cNvSpPr txBox="1"/>
          <p:nvPr/>
        </p:nvSpPr>
        <p:spPr>
          <a:xfrm>
            <a:off x="9559823" y="5358384"/>
            <a:ext cx="2010080" cy="256032"/>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다음 행동이에요</a:t>
            </a:r>
            <a:endParaRPr lang="en-US" sz="1200" dirty="0"/>
          </a:p>
        </p:txBody>
      </p:sp>
      <p:sp>
        <p:nvSpPr>
          <p:cNvPr id="52" name="Shape 48"/>
          <p:cNvSpPr/>
          <p:nvPr/>
        </p:nvSpPr>
        <p:spPr>
          <a:xfrm>
            <a:off x="548640" y="5760720"/>
            <a:ext cx="7589520" cy="457200"/>
          </a:xfrm>
          <a:prstGeom prst="roundRect">
            <a:avLst>
              <a:gd name="adj" fmla="val 24000"/>
            </a:avLst>
          </a:prstGeom>
          <a:solidFill>
            <a:srgbClr val="E8F3FF"/>
          </a:solidFill>
          <a:ln w="12700">
            <a:solidFill>
              <a:srgbClr val="E8F3FF"/>
            </a:solidFill>
            <a:prstDash val="solid"/>
          </a:ln>
        </p:spPr>
      </p:sp>
      <p:sp>
        <p:nvSpPr>
          <p:cNvPr id="53" name="Text 49"/>
          <p:cNvSpPr txBox="1"/>
          <p:nvPr/>
        </p:nvSpPr>
        <p:spPr>
          <a:xfrm>
            <a:off x="731520" y="5760720"/>
            <a:ext cx="7315200" cy="457200"/>
          </a:xfrm>
          <a:prstGeom prst="rect">
            <a:avLst/>
          </a:prstGeom>
          <a:noFill/>
          <a:ln/>
        </p:spPr>
        <p:txBody>
          <a:bodyPr wrap="square" lIns="0" tIns="0" rIns="0" bIns="0" rtlCol="0" anchor="ctr"/>
          <a:lstStyle/>
          <a:p>
            <a:pPr indent="0" marL="0">
              <a:buNone/>
            </a:pPr>
            <a:r>
              <a:rPr lang="en-US" sz="1350" b="1" dirty="0">
                <a:solidFill>
                  <a:srgbClr val="3182F6"/>
                </a:solidFill>
                <a:latin typeface="맑은 고딕" pitchFamily="34" charset="0"/>
                <a:ea typeface="맑은 고딕" pitchFamily="34" charset="-122"/>
                <a:cs typeface="맑은 고딕" pitchFamily="34" charset="-120"/>
              </a:rPr>
              <a:t>한 번 더 물어요 “가입증권 별로 핵심만 표로 요약해줘”  </a:t>
            </a:r>
            <a:pPr indent="0" marL="0">
              <a:buNone/>
            </a:pPr>
            <a:r>
              <a:rPr lang="en-US" sz="1200" dirty="0">
                <a:solidFill>
                  <a:srgbClr val="4E5968"/>
                </a:solidFill>
                <a:latin typeface="맑은 고딕" pitchFamily="34" charset="0"/>
                <a:ea typeface="맑은 고딕" pitchFamily="34" charset="-122"/>
                <a:cs typeface="맑은 고딕" pitchFamily="34" charset="-120"/>
              </a:rPr>
              <a:t>증권 단위 표라 고객에게 보여 주기 좋아요</a:t>
            </a:r>
            <a:endParaRPr lang="en-US" sz="1350" dirty="0"/>
          </a:p>
        </p:txBody>
      </p:sp>
      <p:sp>
        <p:nvSpPr>
          <p:cNvPr id="54" name="Text 50"/>
          <p:cNvSpPr txBox="1"/>
          <p:nvPr/>
        </p:nvSpPr>
        <p:spPr>
          <a:xfrm>
            <a:off x="8275320" y="5760720"/>
            <a:ext cx="3367735" cy="457200"/>
          </a:xfrm>
          <a:prstGeom prst="rect">
            <a:avLst/>
          </a:prstGeom>
          <a:noFill/>
          <a:ln/>
        </p:spPr>
        <p:txBody>
          <a:bodyPr wrap="square" lIns="0" tIns="0" rIns="0" bIns="0" rtlCol="0" anchor="ctr"/>
          <a:lstStyle/>
          <a:p>
            <a:pPr algn="r" indent="0" marL="0">
              <a:buNone/>
            </a:pPr>
            <a:r>
              <a:rPr lang="en-US" sz="1050" dirty="0">
                <a:solidFill>
                  <a:srgbClr val="8B95A1"/>
                </a:solidFill>
                <a:latin typeface="맑은 고딕" pitchFamily="34" charset="0"/>
                <a:ea typeface="맑은 고딕" pitchFamily="34" charset="-122"/>
                <a:cs typeface="맑은 고딕" pitchFamily="34" charset="-120"/>
              </a:rPr>
              <a:t>※ 화면 속 금액은 예시예요</a:t>
            </a:r>
            <a:endParaRPr lang="en-US" sz="1050" dirty="0"/>
          </a:p>
          <a:p>
            <a:pPr algn="r" indent="0" marL="0">
              <a:buNone/>
            </a:pPr>
            <a:r>
              <a:rPr lang="en-US" sz="1050" dirty="0">
                <a:solidFill>
                  <a:srgbClr val="8B95A1"/>
                </a:solidFill>
                <a:latin typeface="맑은 고딕" pitchFamily="34" charset="0"/>
                <a:ea typeface="맑은 고딕" pitchFamily="34" charset="-122"/>
                <a:cs typeface="맑은 고딕" pitchFamily="34" charset="-120"/>
              </a:rPr>
              <a:t>출처: MeAI 활용 가이드북 v4(2026.10) 50쪽 · 영업가족 편 v3(2026.09) 49쪽</a:t>
            </a:r>
            <a:endParaRPr lang="en-US" sz="1050" dirty="0"/>
          </a:p>
        </p:txBody>
      </p:sp>
      <p:sp>
        <p:nvSpPr>
          <p:cNvPr id="55" name="Text 5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직접 물을 땐 “누구에게 + 무엇을”이면 돼요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말하듯 써도 MeAI가 알아들어요</a:t>
            </a:r>
            <a:endParaRPr lang="en-US" sz="1700" dirty="0"/>
          </a:p>
        </p:txBody>
      </p:sp>
      <p:sp>
        <p:nvSpPr>
          <p:cNvPr id="13" name="Shape 11"/>
          <p:cNvSpPr/>
          <p:nvPr/>
        </p:nvSpPr>
        <p:spPr>
          <a:xfrm>
            <a:off x="548640" y="1901952"/>
            <a:ext cx="2788920" cy="1207008"/>
          </a:xfrm>
          <a:prstGeom prst="roundRect">
            <a:avLst>
              <a:gd name="adj" fmla="val 10606"/>
            </a:avLst>
          </a:prstGeom>
          <a:solidFill>
            <a:srgbClr val="E8F3FF"/>
          </a:solidFill>
          <a:ln w="12700">
            <a:solidFill>
              <a:srgbClr val="E8F3FF"/>
            </a:solidFill>
            <a:prstDash val="solid"/>
          </a:ln>
        </p:spPr>
      </p:sp>
      <p:sp>
        <p:nvSpPr>
          <p:cNvPr id="14" name="Text 12"/>
          <p:cNvSpPr txBox="1"/>
          <p:nvPr/>
        </p:nvSpPr>
        <p:spPr>
          <a:xfrm>
            <a:off x="731520" y="1993392"/>
            <a:ext cx="2514600" cy="310896"/>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누구에게</a:t>
            </a:r>
            <a:endParaRPr lang="en-US" sz="1400" dirty="0"/>
          </a:p>
        </p:txBody>
      </p:sp>
      <p:sp>
        <p:nvSpPr>
          <p:cNvPr id="15" name="Text 13"/>
          <p:cNvSpPr txBox="1"/>
          <p:nvPr/>
        </p:nvSpPr>
        <p:spPr>
          <a:xfrm>
            <a:off x="731520" y="2322576"/>
            <a:ext cx="2514600" cy="731520"/>
          </a:xfrm>
          <a:prstGeom prst="rect">
            <a:avLst/>
          </a:prstGeom>
          <a:noFill/>
          <a:ln/>
        </p:spPr>
        <p:txBody>
          <a:bodyPr wrap="square" lIns="0" tIns="0" rIns="0" bIns="0" rtlCol="0" anchor="t"/>
          <a:lstStyle/>
          <a:p>
            <a:pPr indent="0" marL="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“40대 자녀 둘 가장, 암진단비만 있는 고객에게”</a:t>
            </a:r>
            <a:endParaRPr lang="en-US" sz="1350" dirty="0"/>
          </a:p>
        </p:txBody>
      </p:sp>
      <p:sp>
        <p:nvSpPr>
          <p:cNvPr id="16" name="Text 14"/>
          <p:cNvSpPr txBox="1"/>
          <p:nvPr/>
        </p:nvSpPr>
        <p:spPr>
          <a:xfrm>
            <a:off x="3337560" y="1901952"/>
            <a:ext cx="173736" cy="1207008"/>
          </a:xfrm>
          <a:prstGeom prst="rect">
            <a:avLst/>
          </a:prstGeom>
          <a:noFill/>
          <a:ln/>
        </p:spPr>
        <p:txBody>
          <a:bodyPr wrap="square" lIns="0" tIns="0" rIns="0" bIns="0" rtlCol="0" anchor="ctr"/>
          <a:lstStyle/>
          <a:p>
            <a:pPr algn="ctr" indent="0" marL="0">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17" name="Shape 15"/>
          <p:cNvSpPr/>
          <p:nvPr/>
        </p:nvSpPr>
        <p:spPr>
          <a:xfrm>
            <a:off x="3511296" y="1901952"/>
            <a:ext cx="2514600" cy="1207008"/>
          </a:xfrm>
          <a:prstGeom prst="roundRect">
            <a:avLst>
              <a:gd name="adj" fmla="val 10606"/>
            </a:avLst>
          </a:prstGeom>
          <a:solidFill>
            <a:srgbClr val="FFFFFF"/>
          </a:solidFill>
          <a:ln w="15875">
            <a:solidFill>
              <a:srgbClr val="191F28"/>
            </a:solidFill>
            <a:prstDash val="solid"/>
          </a:ln>
        </p:spPr>
      </p:sp>
      <p:sp>
        <p:nvSpPr>
          <p:cNvPr id="18" name="Text 16"/>
          <p:cNvSpPr txBox="1"/>
          <p:nvPr/>
        </p:nvSpPr>
        <p:spPr>
          <a:xfrm>
            <a:off x="3694176" y="1993392"/>
            <a:ext cx="2240280" cy="310896"/>
          </a:xfrm>
          <a:prstGeom prst="rect">
            <a:avLst/>
          </a:prstGeom>
          <a:noFill/>
          <a:ln/>
        </p:spPr>
        <p:txBody>
          <a:bodyPr wrap="square" lIns="0" tIns="0" rIns="0" bIns="0" rtlCol="0" anchor="ctr"/>
          <a:lstStyle/>
          <a:p>
            <a:pPr indent="0" marL="0">
              <a:buNone/>
            </a:pPr>
            <a:r>
              <a:rPr lang="en-US" sz="1400" b="1" dirty="0">
                <a:solidFill>
                  <a:srgbClr val="191F28"/>
                </a:solidFill>
                <a:latin typeface="맑은 고딕" pitchFamily="34" charset="0"/>
                <a:ea typeface="맑은 고딕" pitchFamily="34" charset="-122"/>
                <a:cs typeface="맑은 고딕" pitchFamily="34" charset="-120"/>
              </a:rPr>
              <a:t>무엇을</a:t>
            </a:r>
            <a:endParaRPr lang="en-US" sz="1400" dirty="0"/>
          </a:p>
        </p:txBody>
      </p:sp>
      <p:sp>
        <p:nvSpPr>
          <p:cNvPr id="19" name="Text 17"/>
          <p:cNvSpPr txBox="1"/>
          <p:nvPr/>
        </p:nvSpPr>
        <p:spPr>
          <a:xfrm>
            <a:off x="3694176" y="2322576"/>
            <a:ext cx="2240280" cy="731520"/>
          </a:xfrm>
          <a:prstGeom prst="rect">
            <a:avLst/>
          </a:prstGeom>
          <a:noFill/>
          <a:ln/>
        </p:spPr>
        <p:txBody>
          <a:bodyPr wrap="square" lIns="0" tIns="0" rIns="0" bIns="0" rtlCol="0" anchor="t"/>
          <a:lstStyle/>
          <a:p>
            <a:pPr indent="0" marL="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“암 통합치료비가 왜 필요한지 설명해줘”</a:t>
            </a:r>
            <a:endParaRPr lang="en-US" sz="1350" dirty="0"/>
          </a:p>
        </p:txBody>
      </p:sp>
      <p:sp>
        <p:nvSpPr>
          <p:cNvPr id="20" name="Text 18"/>
          <p:cNvSpPr txBox="1"/>
          <p:nvPr/>
        </p:nvSpPr>
        <p:spPr>
          <a:xfrm>
            <a:off x="6025896" y="1901952"/>
            <a:ext cx="173736" cy="1207008"/>
          </a:xfrm>
          <a:prstGeom prst="rect">
            <a:avLst/>
          </a:prstGeom>
          <a:noFill/>
          <a:ln/>
        </p:spPr>
        <p:txBody>
          <a:bodyPr wrap="square" lIns="0" tIns="0" rIns="0" bIns="0" rtlCol="0" anchor="ctr"/>
          <a:lstStyle/>
          <a:p>
            <a:pPr algn="ctr" indent="0" marL="0">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1" name="Shape 19"/>
          <p:cNvSpPr/>
          <p:nvPr/>
        </p:nvSpPr>
        <p:spPr>
          <a:xfrm>
            <a:off x="6199632" y="1901952"/>
            <a:ext cx="2514600" cy="1207008"/>
          </a:xfrm>
          <a:prstGeom prst="roundRect">
            <a:avLst>
              <a:gd name="adj" fmla="val 10606"/>
            </a:avLst>
          </a:prstGeom>
          <a:solidFill>
            <a:srgbClr val="FFFFFF"/>
          </a:solidFill>
          <a:ln w="12700">
            <a:solidFill>
              <a:srgbClr val="D1D6DB"/>
            </a:solidFill>
            <a:prstDash val="solid"/>
          </a:ln>
        </p:spPr>
      </p:sp>
      <p:sp>
        <p:nvSpPr>
          <p:cNvPr id="22" name="Text 20"/>
          <p:cNvSpPr txBox="1"/>
          <p:nvPr/>
        </p:nvSpPr>
        <p:spPr>
          <a:xfrm>
            <a:off x="6382512" y="1993392"/>
            <a:ext cx="2240280" cy="310896"/>
          </a:xfrm>
          <a:prstGeom prst="rect">
            <a:avLst/>
          </a:prstGeom>
          <a:noFill/>
          <a:ln/>
        </p:spPr>
        <p:txBody>
          <a:bodyPr wrap="square" lIns="0" tIns="0" rIns="0" bIns="0" rtlCol="0" anchor="ctr"/>
          <a:lstStyle/>
          <a:p>
            <a:pPr indent="0" marL="0">
              <a:buNone/>
            </a:pPr>
            <a:r>
              <a:rPr lang="en-US" sz="1400" b="1" dirty="0">
                <a:solidFill>
                  <a:srgbClr val="6B7684"/>
                </a:solidFill>
                <a:latin typeface="맑은 고딕" pitchFamily="34" charset="0"/>
                <a:ea typeface="맑은 고딕" pitchFamily="34" charset="-122"/>
                <a:cs typeface="맑은 고딕" pitchFamily="34" charset="-120"/>
              </a:rPr>
              <a:t>형식 · 있으면 좋아요</a:t>
            </a:r>
            <a:endParaRPr lang="en-US" sz="1400" dirty="0"/>
          </a:p>
        </p:txBody>
      </p:sp>
      <p:sp>
        <p:nvSpPr>
          <p:cNvPr id="23" name="Text 21"/>
          <p:cNvSpPr txBox="1"/>
          <p:nvPr/>
        </p:nvSpPr>
        <p:spPr>
          <a:xfrm>
            <a:off x="6382512" y="2322576"/>
            <a:ext cx="2240280" cy="731520"/>
          </a:xfrm>
          <a:prstGeom prst="rect">
            <a:avLst/>
          </a:prstGeom>
          <a:noFill/>
          <a:ln/>
        </p:spPr>
        <p:txBody>
          <a:bodyPr wrap="square" lIns="0" tIns="0" rIns="0" bIns="0" rtlCol="0" anchor="t"/>
          <a:lstStyle/>
          <a:p>
            <a:pPr indent="0" marL="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“표로” · “구어체로”</a:t>
            </a:r>
            <a:endParaRPr lang="en-US" sz="1350" dirty="0"/>
          </a:p>
          <a:p>
            <a:pPr indent="0" marL="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“카톡 6줄로”</a:t>
            </a:r>
            <a:endParaRPr lang="en-US" sz="1350" dirty="0"/>
          </a:p>
        </p:txBody>
      </p:sp>
      <p:sp>
        <p:nvSpPr>
          <p:cNvPr id="24" name="Text 22"/>
          <p:cNvSpPr txBox="1"/>
          <p:nvPr/>
        </p:nvSpPr>
        <p:spPr>
          <a:xfrm>
            <a:off x="8714232" y="1901952"/>
            <a:ext cx="173736" cy="1207008"/>
          </a:xfrm>
          <a:prstGeom prst="rect">
            <a:avLst/>
          </a:prstGeom>
          <a:noFill/>
          <a:ln/>
        </p:spPr>
        <p:txBody>
          <a:bodyPr wrap="square" lIns="0" tIns="0" rIns="0" bIns="0" rtlCol="0" anchor="ctr"/>
          <a:lstStyle/>
          <a:p>
            <a:pPr algn="ctr" indent="0" marL="0">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5" name="Shape 23"/>
          <p:cNvSpPr/>
          <p:nvPr/>
        </p:nvSpPr>
        <p:spPr>
          <a:xfrm>
            <a:off x="8887968" y="1901952"/>
            <a:ext cx="2743200" cy="1207008"/>
          </a:xfrm>
          <a:prstGeom prst="roundRect">
            <a:avLst>
              <a:gd name="adj" fmla="val 10606"/>
            </a:avLst>
          </a:prstGeom>
          <a:solidFill>
            <a:srgbClr val="FFF8E1"/>
          </a:solidFill>
          <a:ln w="12700">
            <a:solidFill>
              <a:srgbClr val="FFF8E1"/>
            </a:solidFill>
            <a:prstDash val="solid"/>
          </a:ln>
        </p:spPr>
      </p:sp>
      <p:sp>
        <p:nvSpPr>
          <p:cNvPr id="26" name="Text 24"/>
          <p:cNvSpPr txBox="1"/>
          <p:nvPr/>
        </p:nvSpPr>
        <p:spPr>
          <a:xfrm>
            <a:off x="9070848" y="1993392"/>
            <a:ext cx="2468880" cy="310896"/>
          </a:xfrm>
          <a:prstGeom prst="rect">
            <a:avLst/>
          </a:prstGeom>
          <a:noFill/>
          <a:ln/>
        </p:spPr>
        <p:txBody>
          <a:bodyPr wrap="square" lIns="0" tIns="0" rIns="0" bIns="0" rtlCol="0" anchor="ctr"/>
          <a:lstStyle/>
          <a:p>
            <a:pPr indent="0" marL="0">
              <a:buNone/>
            </a:pPr>
            <a:r>
              <a:rPr lang="en-US" sz="1400" b="1" dirty="0">
                <a:solidFill>
                  <a:srgbClr val="B7791F"/>
                </a:solidFill>
                <a:latin typeface="맑은 고딕" pitchFamily="34" charset="0"/>
                <a:ea typeface="맑은 고딕" pitchFamily="34" charset="-122"/>
                <a:cs typeface="맑은 고딕" pitchFamily="34" charset="-120"/>
              </a:rPr>
              <a:t>안전장치 한 마디</a:t>
            </a:r>
            <a:endParaRPr lang="en-US" sz="1400" dirty="0"/>
          </a:p>
        </p:txBody>
      </p:sp>
      <p:sp>
        <p:nvSpPr>
          <p:cNvPr id="27" name="Text 25"/>
          <p:cNvSpPr txBox="1"/>
          <p:nvPr/>
        </p:nvSpPr>
        <p:spPr>
          <a:xfrm>
            <a:off x="9070848" y="2322576"/>
            <a:ext cx="2468880" cy="731520"/>
          </a:xfrm>
          <a:prstGeom prst="rect">
            <a:avLst/>
          </a:prstGeom>
          <a:noFill/>
          <a:ln/>
        </p:spPr>
        <p:txBody>
          <a:bodyPr wrap="square" lIns="0" tIns="0" rIns="0" bIns="0" rtlCol="0" anchor="t"/>
          <a:lstStyle/>
          <a:p>
            <a:pPr indent="0" marL="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“자료에 없으면 추정하지 말고</a:t>
            </a:r>
            <a:endParaRPr lang="en-US" sz="1350" dirty="0"/>
          </a:p>
          <a:p>
            <a:pPr indent="0" marL="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‘확인필요’로 표시해”</a:t>
            </a:r>
            <a:endParaRPr lang="en-US" sz="1350" dirty="0"/>
          </a:p>
        </p:txBody>
      </p:sp>
      <p:sp>
        <p:nvSpPr>
          <p:cNvPr id="28" name="Text 26"/>
          <p:cNvSpPr txBox="1"/>
          <p:nvPr/>
        </p:nvSpPr>
        <p:spPr>
          <a:xfrm>
            <a:off x="548640" y="3246120"/>
            <a:ext cx="7315200" cy="329184"/>
          </a:xfrm>
          <a:prstGeom prst="rect">
            <a:avLst/>
          </a:prstGeom>
          <a:noFill/>
          <a:ln/>
        </p:spPr>
        <p:txBody>
          <a:bodyPr wrap="square" lIns="0" tIns="0" rIns="0" bIns="0" rtlCol="0" anchor="ctr"/>
          <a:lstStyle/>
          <a:p>
            <a:pPr indent="0" marL="0">
              <a:buNone/>
            </a:pPr>
            <a:r>
              <a:rPr lang="en-US" sz="1600" b="1" dirty="0">
                <a:solidFill>
                  <a:srgbClr val="191F28"/>
                </a:solidFill>
                <a:latin typeface="맑은 고딕" pitchFamily="34" charset="0"/>
                <a:ea typeface="맑은 고딕" pitchFamily="34" charset="-122"/>
                <a:cs typeface="맑은 고딕" pitchFamily="34" charset="-120"/>
              </a:rPr>
              <a:t>한 줄만 바꿔도 답이 달라져요</a:t>
            </a:r>
            <a:endParaRPr lang="en-US" sz="1600" dirty="0"/>
          </a:p>
        </p:txBody>
      </p:sp>
      <p:sp>
        <p:nvSpPr>
          <p:cNvPr id="29" name="Shape 27"/>
          <p:cNvSpPr/>
          <p:nvPr/>
        </p:nvSpPr>
        <p:spPr>
          <a:xfrm>
            <a:off x="548640" y="3630168"/>
            <a:ext cx="3566160" cy="1143000"/>
          </a:xfrm>
          <a:prstGeom prst="roundRect">
            <a:avLst>
              <a:gd name="adj" fmla="val 11200"/>
            </a:avLst>
          </a:prstGeom>
          <a:solidFill>
            <a:srgbClr val="F2F4F6"/>
          </a:solidFill>
          <a:ln w="12700">
            <a:solidFill>
              <a:srgbClr val="F2F4F6"/>
            </a:solidFill>
            <a:prstDash val="solid"/>
          </a:ln>
        </p:spPr>
      </p:sp>
      <p:sp>
        <p:nvSpPr>
          <p:cNvPr id="30" name="Shape 28"/>
          <p:cNvSpPr/>
          <p:nvPr/>
        </p:nvSpPr>
        <p:spPr>
          <a:xfrm>
            <a:off x="731520" y="3758184"/>
            <a:ext cx="518160" cy="274320"/>
          </a:xfrm>
          <a:prstGeom prst="roundRect">
            <a:avLst>
              <a:gd name="adj" fmla="val 50000"/>
            </a:avLst>
          </a:prstGeom>
          <a:solidFill>
            <a:srgbClr val="6B7684"/>
          </a:solidFill>
          <a:ln w="12700">
            <a:solidFill>
              <a:srgbClr val="6B7684"/>
            </a:solidFill>
            <a:prstDash val="solid"/>
          </a:ln>
        </p:spPr>
      </p:sp>
      <p:sp>
        <p:nvSpPr>
          <p:cNvPr id="31" name="Text 29"/>
          <p:cNvSpPr txBox="1"/>
          <p:nvPr/>
        </p:nvSpPr>
        <p:spPr>
          <a:xfrm>
            <a:off x="731520" y="3758184"/>
            <a:ext cx="5181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전</a:t>
            </a:r>
            <a:endParaRPr lang="en-US" sz="1200" dirty="0"/>
          </a:p>
        </p:txBody>
      </p:sp>
      <p:sp>
        <p:nvSpPr>
          <p:cNvPr id="32" name="Text 30"/>
          <p:cNvSpPr txBox="1"/>
          <p:nvPr/>
        </p:nvSpPr>
        <p:spPr>
          <a:xfrm>
            <a:off x="731520" y="4069080"/>
            <a:ext cx="3200400" cy="347472"/>
          </a:xfrm>
          <a:prstGeom prst="rect">
            <a:avLst/>
          </a:prstGeom>
          <a:noFill/>
          <a:ln/>
        </p:spPr>
        <p:txBody>
          <a:bodyPr wrap="square" lIns="0" tIns="0" rIns="0" bIns="0" rtlCol="0" anchor="ctr"/>
          <a:lstStyle/>
          <a:p>
            <a:pPr indent="0" marL="0">
              <a:buNone/>
            </a:pPr>
            <a:r>
              <a:rPr lang="en-US" sz="1600" b="1" dirty="0">
                <a:solidFill>
                  <a:srgbClr val="4E5968"/>
                </a:solidFill>
                <a:latin typeface="맑은 고딕" pitchFamily="34" charset="0"/>
                <a:ea typeface="맑은 고딕" pitchFamily="34" charset="-122"/>
                <a:cs typeface="맑은 고딕" pitchFamily="34" charset="-120"/>
              </a:rPr>
              <a:t>“실손 설명해줘”</a:t>
            </a:r>
            <a:endParaRPr lang="en-US" sz="1600" dirty="0"/>
          </a:p>
        </p:txBody>
      </p:sp>
      <p:sp>
        <p:nvSpPr>
          <p:cNvPr id="33" name="Text 31"/>
          <p:cNvSpPr txBox="1"/>
          <p:nvPr/>
        </p:nvSpPr>
        <p:spPr>
          <a:xfrm>
            <a:off x="731520" y="4416552"/>
            <a:ext cx="3200400" cy="292608"/>
          </a:xfrm>
          <a:prstGeom prst="rect">
            <a:avLst/>
          </a:prstGeom>
          <a:noFill/>
          <a:ln/>
        </p:spPr>
        <p:txBody>
          <a:bodyPr wrap="square" lIns="0" tIns="0" rIns="0" bIns="0" rtlCol="0" anchor="ctr"/>
          <a:lstStyle/>
          <a:p>
            <a:pPr indent="0" marL="0">
              <a:buNone/>
            </a:pPr>
            <a:r>
              <a:rPr lang="en-US" sz="1300" dirty="0">
                <a:solidFill>
                  <a:srgbClr val="6B7684"/>
                </a:solidFill>
                <a:latin typeface="맑은 고딕" pitchFamily="34" charset="0"/>
                <a:ea typeface="맑은 고딕" pitchFamily="34" charset="-122"/>
                <a:cs typeface="맑은 고딕" pitchFamily="34" charset="-120"/>
              </a:rPr>
              <a:t>→ 실손의 일반 개념을 길게 설명</a:t>
            </a:r>
            <a:endParaRPr lang="en-US" sz="1300" dirty="0"/>
          </a:p>
        </p:txBody>
      </p:sp>
      <p:sp>
        <p:nvSpPr>
          <p:cNvPr id="34" name="Text 32"/>
          <p:cNvSpPr txBox="1"/>
          <p:nvPr/>
        </p:nvSpPr>
        <p:spPr>
          <a:xfrm>
            <a:off x="4114800" y="3630168"/>
            <a:ext cx="365760" cy="1143000"/>
          </a:xfrm>
          <a:prstGeom prst="rect">
            <a:avLst/>
          </a:prstGeom>
          <a:noFill/>
          <a:ln/>
        </p:spPr>
        <p:txBody>
          <a:bodyPr wrap="square" lIns="0" tIns="0" rIns="0" bIns="0" rtlCol="0" anchor="ctr"/>
          <a:lstStyle/>
          <a:p>
            <a:pPr algn="ctr" indent="0" marL="0">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35" name="Shape 33"/>
          <p:cNvSpPr/>
          <p:nvPr/>
        </p:nvSpPr>
        <p:spPr>
          <a:xfrm>
            <a:off x="4480560" y="3630168"/>
            <a:ext cx="7162495" cy="1143000"/>
          </a:xfrm>
          <a:prstGeom prst="roundRect">
            <a:avLst>
              <a:gd name="adj" fmla="val 11200"/>
            </a:avLst>
          </a:prstGeom>
          <a:solidFill>
            <a:srgbClr val="FFFFFF"/>
          </a:solidFill>
          <a:ln w="19050">
            <a:solidFill>
              <a:srgbClr val="3182F6"/>
            </a:solidFill>
            <a:prstDash val="solid"/>
          </a:ln>
        </p:spPr>
      </p:sp>
      <p:sp>
        <p:nvSpPr>
          <p:cNvPr id="36" name="Shape 34"/>
          <p:cNvSpPr/>
          <p:nvPr/>
        </p:nvSpPr>
        <p:spPr>
          <a:xfrm>
            <a:off x="4663440" y="3758184"/>
            <a:ext cx="518160" cy="274320"/>
          </a:xfrm>
          <a:prstGeom prst="roundRect">
            <a:avLst>
              <a:gd name="adj" fmla="val 50000"/>
            </a:avLst>
          </a:prstGeom>
          <a:solidFill>
            <a:srgbClr val="3182F6"/>
          </a:solidFill>
          <a:ln w="12700">
            <a:solidFill>
              <a:srgbClr val="3182F6"/>
            </a:solidFill>
            <a:prstDash val="solid"/>
          </a:ln>
        </p:spPr>
      </p:sp>
      <p:sp>
        <p:nvSpPr>
          <p:cNvPr id="37" name="Text 35"/>
          <p:cNvSpPr txBox="1"/>
          <p:nvPr/>
        </p:nvSpPr>
        <p:spPr>
          <a:xfrm>
            <a:off x="4663440" y="3758184"/>
            <a:ext cx="5181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후</a:t>
            </a:r>
            <a:endParaRPr lang="en-US" sz="1200" dirty="0"/>
          </a:p>
        </p:txBody>
      </p:sp>
      <p:sp>
        <p:nvSpPr>
          <p:cNvPr id="38" name="Text 36"/>
          <p:cNvSpPr txBox="1"/>
          <p:nvPr/>
        </p:nvSpPr>
        <p:spPr>
          <a:xfrm>
            <a:off x="4663440" y="4050792"/>
            <a:ext cx="6842455" cy="365760"/>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“3세대 실손 가입한 50대 고객에게, 4세대와 비교해서 … 표 1개로 정리하고 …”</a:t>
            </a:r>
            <a:endParaRPr lang="en-US" sz="1450" dirty="0"/>
          </a:p>
        </p:txBody>
      </p:sp>
      <p:sp>
        <p:nvSpPr>
          <p:cNvPr id="39" name="Text 37"/>
          <p:cNvSpPr txBox="1"/>
          <p:nvPr/>
        </p:nvSpPr>
        <p:spPr>
          <a:xfrm>
            <a:off x="4663440" y="4416552"/>
            <a:ext cx="6842455" cy="292608"/>
          </a:xfrm>
          <a:prstGeom prst="rect">
            <a:avLst/>
          </a:prstGeom>
          <a:noFill/>
          <a:ln/>
        </p:spPr>
        <p:txBody>
          <a:bodyPr wrap="square" lIns="0" tIns="0" rIns="0" bIns="0" rtlCol="0" anchor="ctr"/>
          <a:lstStyle/>
          <a:p>
            <a:pPr indent="0" marL="0">
              <a:buNone/>
            </a:pPr>
            <a:r>
              <a:rPr lang="en-US" sz="1350" b="1" dirty="0">
                <a:solidFill>
                  <a:srgbClr val="3182F6"/>
                </a:solidFill>
                <a:latin typeface="맑은 고딕" pitchFamily="34" charset="0"/>
                <a:ea typeface="맑은 고딕" pitchFamily="34" charset="-122"/>
                <a:cs typeface="맑은 고딕" pitchFamily="34" charset="-120"/>
              </a:rPr>
              <a:t>→ 고객 세대 기준 비교표 + 바로 말할 수 있는 3가지</a:t>
            </a:r>
            <a:endParaRPr lang="en-US" sz="1350" dirty="0"/>
          </a:p>
        </p:txBody>
      </p:sp>
      <p:sp>
        <p:nvSpPr>
          <p:cNvPr id="40" name="Shape 38"/>
          <p:cNvSpPr/>
          <p:nvPr/>
        </p:nvSpPr>
        <p:spPr>
          <a:xfrm>
            <a:off x="548640" y="4937760"/>
            <a:ext cx="11094415" cy="1078992"/>
          </a:xfrm>
          <a:prstGeom prst="roundRect">
            <a:avLst>
              <a:gd name="adj" fmla="val 11864"/>
            </a:avLst>
          </a:prstGeom>
          <a:solidFill>
            <a:srgbClr val="F9FAFB"/>
          </a:solidFill>
          <a:ln w="12700">
            <a:solidFill>
              <a:srgbClr val="F9FAFB"/>
            </a:solidFill>
            <a:prstDash val="solid"/>
          </a:ln>
        </p:spPr>
      </p:sp>
      <p:pic>
        <p:nvPicPr>
          <p:cNvPr id="41" name="Image 0" descr="MeAI 화면 캡처">    </p:cNvPr>
          <p:cNvPicPr>
            <a:picLocks noChangeAspect="1"/>
          </p:cNvPicPr>
          <p:nvPr/>
        </p:nvPicPr>
        <p:blipFill>
          <a:blip r:embed="rId1"/>
          <a:stretch>
            <a:fillRect/>
          </a:stretch>
        </p:blipFill>
        <p:spPr>
          <a:xfrm>
            <a:off x="777240" y="5029200"/>
            <a:ext cx="2213002" cy="731520"/>
          </a:xfrm>
          <a:prstGeom prst="rect">
            <a:avLst/>
          </a:prstGeom>
        </p:spPr>
      </p:pic>
      <p:sp>
        <p:nvSpPr>
          <p:cNvPr id="42" name="Shape 39"/>
          <p:cNvSpPr/>
          <p:nvPr/>
        </p:nvSpPr>
        <p:spPr>
          <a:xfrm>
            <a:off x="2451309" y="4941064"/>
            <a:ext cx="237744" cy="237744"/>
          </a:xfrm>
          <a:prstGeom prst="ellipse">
            <a:avLst/>
          </a:prstGeom>
          <a:solidFill>
            <a:srgbClr val="F04452"/>
          </a:solidFill>
          <a:ln w="19050">
            <a:solidFill>
              <a:srgbClr val="FFFFFF"/>
            </a:solidFill>
            <a:prstDash val="solid"/>
          </a:ln>
        </p:spPr>
      </p:sp>
      <p:sp>
        <p:nvSpPr>
          <p:cNvPr id="43" name="Text 40"/>
          <p:cNvSpPr txBox="1"/>
          <p:nvPr/>
        </p:nvSpPr>
        <p:spPr>
          <a:xfrm>
            <a:off x="2451309" y="4941064"/>
            <a:ext cx="237744" cy="23774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44" name="Shape 41"/>
          <p:cNvSpPr/>
          <p:nvPr/>
        </p:nvSpPr>
        <p:spPr>
          <a:xfrm>
            <a:off x="2672609" y="5371370"/>
            <a:ext cx="237744" cy="237744"/>
          </a:xfrm>
          <a:prstGeom prst="ellipse">
            <a:avLst/>
          </a:prstGeom>
          <a:solidFill>
            <a:srgbClr val="F04452"/>
          </a:solidFill>
          <a:ln w="19050">
            <a:solidFill>
              <a:srgbClr val="FFFFFF"/>
            </a:solidFill>
            <a:prstDash val="solid"/>
          </a:ln>
        </p:spPr>
      </p:sp>
      <p:sp>
        <p:nvSpPr>
          <p:cNvPr id="45" name="Text 42"/>
          <p:cNvSpPr txBox="1"/>
          <p:nvPr/>
        </p:nvSpPr>
        <p:spPr>
          <a:xfrm>
            <a:off x="2672609" y="5371370"/>
            <a:ext cx="237744" cy="237744"/>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6" name="Text 43"/>
          <p:cNvSpPr txBox="1"/>
          <p:nvPr/>
        </p:nvSpPr>
        <p:spPr>
          <a:xfrm>
            <a:off x="731520" y="5742432"/>
            <a:ext cx="2651760" cy="237744"/>
          </a:xfrm>
          <a:prstGeom prst="rect">
            <a:avLst/>
          </a:prstGeom>
          <a:noFill/>
          <a:ln/>
        </p:spPr>
        <p:txBody>
          <a:bodyPr wrap="square" lIns="0" tIns="0" rIns="0" bIns="0" rtlCol="0" anchor="ctr"/>
          <a:lstStyle/>
          <a:p>
            <a:pPr algn="ctr" indent="0" marL="0">
              <a:buNone/>
            </a:pPr>
            <a:r>
              <a:rPr lang="en-US" sz="1100" dirty="0">
                <a:solidFill>
                  <a:srgbClr val="8B95A1"/>
                </a:solidFill>
                <a:latin typeface="맑은 고딕" pitchFamily="34" charset="0"/>
                <a:ea typeface="맑은 고딕" pitchFamily="34" charset="-122"/>
                <a:cs typeface="맑은 고딕" pitchFamily="34" charset="-120"/>
              </a:rPr>
              <a:t>휴대폰 MeAI 입력창</a:t>
            </a:r>
            <a:endParaRPr lang="en-US" sz="1100" dirty="0"/>
          </a:p>
        </p:txBody>
      </p:sp>
      <p:sp>
        <p:nvSpPr>
          <p:cNvPr id="47" name="Text 44"/>
          <p:cNvSpPr txBox="1"/>
          <p:nvPr/>
        </p:nvSpPr>
        <p:spPr>
          <a:xfrm>
            <a:off x="3657600" y="4937760"/>
            <a:ext cx="7802575" cy="1078992"/>
          </a:xfrm>
          <a:prstGeom prst="rect">
            <a:avLst/>
          </a:prstGeom>
          <a:noFill/>
          <a:ln/>
        </p:spPr>
        <p:txBody>
          <a:bodyPr wrap="square" lIns="0" tIns="0" rIns="0" bIns="0" rtlCol="0" anchor="ctr"/>
          <a:lstStyle/>
          <a:p>
            <a:pPr indent="0" marL="0">
              <a:lnSpc>
                <a:spcPct val="135000"/>
              </a:lnSpc>
              <a:buNone/>
            </a:pPr>
            <a:r>
              <a:rPr lang="en-US" sz="1550" b="1" dirty="0">
                <a:solidFill>
                  <a:srgbClr val="191F28"/>
                </a:solidFill>
                <a:latin typeface="맑은 고딕" pitchFamily="34" charset="0"/>
                <a:ea typeface="맑은 고딕" pitchFamily="34" charset="-122"/>
                <a:cs typeface="맑은 고딕" pitchFamily="34" charset="-120"/>
              </a:rPr>
              <a:t>안 맞으면 “더 쉽게” · “표로 다시” 한 마디</a:t>
            </a:r>
            <a:endParaRPr lang="en-US" sz="1550" dirty="0"/>
          </a:p>
          <a:p>
            <a:pPr indent="0" marL="0">
              <a:lnSpc>
                <a:spcPct val="135000"/>
              </a:lnSpc>
              <a:buNone/>
            </a:pPr>
            <a:r>
              <a:rPr lang="en-US" sz="1550" b="1" dirty="0">
                <a:solidFill>
                  <a:srgbClr val="191F28"/>
                </a:solidFill>
                <a:latin typeface="맑은 고딕" pitchFamily="34" charset="0"/>
                <a:ea typeface="맑은 고딕" pitchFamily="34" charset="-122"/>
                <a:cs typeface="맑은 고딕" pitchFamily="34" charset="-120"/>
              </a:rPr>
              <a:t>휴대폰은 ① 마이크를 눌러 말해요 · 오타만 확인하고 ② ↑</a:t>
            </a:r>
            <a:endParaRPr lang="en-US" sz="1550" dirty="0"/>
          </a:p>
        </p:txBody>
      </p:sp>
      <p:sp>
        <p:nvSpPr>
          <p:cNvPr id="48" name="Text 45"/>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예시 문장 출처: MeAI 활용 가이드북 영업가족 편(2026.09)</a:t>
            </a:r>
            <a:endParaRPr lang="en-US" sz="110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고객에게 할 말도 MeAI가 초안을 써요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한 줄만 부탁하면 초안이 나와요</a:t>
            </a:r>
            <a:endParaRPr lang="en-US" sz="1700" dirty="0"/>
          </a:p>
        </p:txBody>
      </p:sp>
      <p:sp>
        <p:nvSpPr>
          <p:cNvPr id="13" name="Shape 11"/>
          <p:cNvSpPr/>
          <p:nvPr/>
        </p:nvSpPr>
        <p:spPr>
          <a:xfrm>
            <a:off x="548640" y="1874520"/>
            <a:ext cx="11094415" cy="1691640"/>
          </a:xfrm>
          <a:prstGeom prst="roundRect">
            <a:avLst>
              <a:gd name="adj" fmla="val 8649"/>
            </a:avLst>
          </a:prstGeom>
          <a:solidFill>
            <a:srgbClr val="F9FAFB"/>
          </a:solidFill>
          <a:ln w="12700">
            <a:solidFill>
              <a:srgbClr val="F9FAFB"/>
            </a:solidFill>
            <a:prstDash val="solid"/>
          </a:ln>
        </p:spPr>
      </p:sp>
      <p:sp>
        <p:nvSpPr>
          <p:cNvPr id="14" name="Text 12"/>
          <p:cNvSpPr txBox="1"/>
          <p:nvPr/>
        </p:nvSpPr>
        <p:spPr>
          <a:xfrm>
            <a:off x="777240" y="1965960"/>
            <a:ext cx="2834640" cy="365760"/>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파란 추천 질문 한 번</a:t>
            </a:r>
            <a:endParaRPr lang="en-US" sz="1700" dirty="0"/>
          </a:p>
        </p:txBody>
      </p:sp>
      <p:sp>
        <p:nvSpPr>
          <p:cNvPr id="15" name="Text 13"/>
          <p:cNvSpPr txBox="1"/>
          <p:nvPr/>
        </p:nvSpPr>
        <p:spPr>
          <a:xfrm>
            <a:off x="777240" y="2350008"/>
            <a:ext cx="2834640" cy="566928"/>
          </a:xfrm>
          <a:prstGeom prst="rect">
            <a:avLst/>
          </a:prstGeom>
          <a:noFill/>
          <a:ln/>
        </p:spPr>
        <p:txBody>
          <a:bodyPr wrap="square" lIns="0" tIns="0" rIns="0" bIns="0" rtlCol="0" anchor="t"/>
          <a:lstStyle/>
          <a:p>
            <a:pPr indent="0" marL="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그룹·나이대·유형 조건으로 요청</a:t>
            </a:r>
            <a:endParaRPr lang="en-US" sz="1300" dirty="0"/>
          </a:p>
          <a:p>
            <a:pPr indent="0" marL="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고객 성명·연락처는 넣지 않아요</a:t>
            </a:r>
            <a:endParaRPr lang="en-US" sz="1300" dirty="0"/>
          </a:p>
        </p:txBody>
      </p:sp>
      <p:pic>
        <p:nvPicPr>
          <p:cNvPr id="16" name="Image 0" descr="MeAI 화면 캡처">    </p:cNvPr>
          <p:cNvPicPr>
            <a:picLocks noChangeAspect="1"/>
          </p:cNvPicPr>
          <p:nvPr/>
        </p:nvPicPr>
        <p:blipFill>
          <a:blip r:embed="rId1"/>
          <a:stretch>
            <a:fillRect/>
          </a:stretch>
        </p:blipFill>
        <p:spPr>
          <a:xfrm>
            <a:off x="3749040" y="1993392"/>
            <a:ext cx="5943600" cy="1143000"/>
          </a:xfrm>
          <a:prstGeom prst="rect">
            <a:avLst/>
          </a:prstGeom>
        </p:spPr>
      </p:pic>
      <p:sp>
        <p:nvSpPr>
          <p:cNvPr id="17" name="Shape 14"/>
          <p:cNvSpPr/>
          <p:nvPr/>
        </p:nvSpPr>
        <p:spPr>
          <a:xfrm>
            <a:off x="3977640" y="2374392"/>
            <a:ext cx="1600200" cy="0"/>
          </a:xfrm>
          <a:prstGeom prst="line">
            <a:avLst/>
          </a:prstGeom>
          <a:noFill/>
          <a:ln w="31750">
            <a:solidFill>
              <a:srgbClr val="3182F6"/>
            </a:solidFill>
            <a:prstDash val="solid"/>
          </a:ln>
        </p:spPr>
      </p:sp>
      <p:sp>
        <p:nvSpPr>
          <p:cNvPr id="18" name="Shape 15"/>
          <p:cNvSpPr/>
          <p:nvPr/>
        </p:nvSpPr>
        <p:spPr>
          <a:xfrm>
            <a:off x="8625840" y="2374392"/>
            <a:ext cx="819150" cy="0"/>
          </a:xfrm>
          <a:prstGeom prst="line">
            <a:avLst/>
          </a:prstGeom>
          <a:noFill/>
          <a:ln w="31750">
            <a:solidFill>
              <a:srgbClr val="7048E8"/>
            </a:solidFill>
            <a:prstDash val="solid"/>
          </a:ln>
        </p:spPr>
      </p:sp>
      <p:sp>
        <p:nvSpPr>
          <p:cNvPr id="19" name="Shape 16"/>
          <p:cNvSpPr/>
          <p:nvPr/>
        </p:nvSpPr>
        <p:spPr>
          <a:xfrm>
            <a:off x="3985260" y="2538222"/>
            <a:ext cx="1508760" cy="0"/>
          </a:xfrm>
          <a:prstGeom prst="line">
            <a:avLst/>
          </a:prstGeom>
          <a:noFill/>
          <a:ln w="31750">
            <a:solidFill>
              <a:srgbClr val="7048E8"/>
            </a:solidFill>
            <a:prstDash val="solid"/>
          </a:ln>
        </p:spPr>
      </p:sp>
      <p:sp>
        <p:nvSpPr>
          <p:cNvPr id="20" name="Shape 17"/>
          <p:cNvSpPr/>
          <p:nvPr/>
        </p:nvSpPr>
        <p:spPr>
          <a:xfrm>
            <a:off x="5505450" y="2538222"/>
            <a:ext cx="1508760" cy="0"/>
          </a:xfrm>
          <a:prstGeom prst="line">
            <a:avLst/>
          </a:prstGeom>
          <a:noFill/>
          <a:ln w="31750">
            <a:solidFill>
              <a:srgbClr val="F04452"/>
            </a:solidFill>
            <a:prstDash val="solid"/>
          </a:ln>
        </p:spPr>
      </p:sp>
      <p:sp>
        <p:nvSpPr>
          <p:cNvPr id="21" name="Shape 18"/>
          <p:cNvSpPr/>
          <p:nvPr/>
        </p:nvSpPr>
        <p:spPr>
          <a:xfrm>
            <a:off x="777240" y="3200400"/>
            <a:ext cx="274320" cy="274320"/>
          </a:xfrm>
          <a:prstGeom prst="ellipse">
            <a:avLst/>
          </a:prstGeom>
          <a:solidFill>
            <a:srgbClr val="3182F6"/>
          </a:solidFill>
          <a:ln w="19050">
            <a:solidFill>
              <a:srgbClr val="FFFFFF"/>
            </a:solidFill>
            <a:prstDash val="solid"/>
          </a:ln>
        </p:spPr>
      </p:sp>
      <p:sp>
        <p:nvSpPr>
          <p:cNvPr id="22" name="Text 19"/>
          <p:cNvSpPr txBox="1"/>
          <p:nvPr/>
        </p:nvSpPr>
        <p:spPr>
          <a:xfrm>
            <a:off x="777240" y="32004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23" name="Text 20"/>
          <p:cNvSpPr txBox="1"/>
          <p:nvPr/>
        </p:nvSpPr>
        <p:spPr>
          <a:xfrm>
            <a:off x="1124712" y="3172968"/>
            <a:ext cx="2926080" cy="329184"/>
          </a:xfrm>
          <a:prstGeom prst="rect">
            <a:avLst/>
          </a:prstGeom>
          <a:noFill/>
          <a:ln/>
        </p:spPr>
        <p:txBody>
          <a:bodyPr wrap="square" lIns="0" tIns="0" rIns="0" bIns="0" rtlCol="0" anchor="ctr"/>
          <a:lstStyle/>
          <a:p>
            <a:pPr indent="0" marL="0">
              <a:buNone/>
            </a:pPr>
            <a:r>
              <a:rPr lang="en-US" sz="1300" b="1" dirty="0">
                <a:solidFill>
                  <a:srgbClr val="4E5968"/>
                </a:solidFill>
                <a:latin typeface="맑은 고딕" pitchFamily="34" charset="0"/>
                <a:ea typeface="맑은 고딕" pitchFamily="34" charset="-122"/>
                <a:cs typeface="맑은 고딕" pitchFamily="34" charset="-120"/>
              </a:rPr>
              <a:t>조건</a:t>
            </a:r>
            <a:endParaRPr lang="en-US" sz="1300" dirty="0"/>
          </a:p>
        </p:txBody>
      </p:sp>
      <p:sp>
        <p:nvSpPr>
          <p:cNvPr id="24" name="Shape 21"/>
          <p:cNvSpPr/>
          <p:nvPr/>
        </p:nvSpPr>
        <p:spPr>
          <a:xfrm>
            <a:off x="1866392" y="3200400"/>
            <a:ext cx="274320" cy="274320"/>
          </a:xfrm>
          <a:prstGeom prst="ellipse">
            <a:avLst/>
          </a:prstGeom>
          <a:solidFill>
            <a:srgbClr val="7048E8"/>
          </a:solidFill>
          <a:ln w="19050">
            <a:solidFill>
              <a:srgbClr val="FFFFFF"/>
            </a:solidFill>
            <a:prstDash val="solid"/>
          </a:ln>
        </p:spPr>
      </p:sp>
      <p:sp>
        <p:nvSpPr>
          <p:cNvPr id="25" name="Text 22"/>
          <p:cNvSpPr txBox="1"/>
          <p:nvPr/>
        </p:nvSpPr>
        <p:spPr>
          <a:xfrm>
            <a:off x="1866392" y="32004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26" name="Text 23"/>
          <p:cNvSpPr txBox="1"/>
          <p:nvPr/>
        </p:nvSpPr>
        <p:spPr>
          <a:xfrm>
            <a:off x="2213864" y="3172968"/>
            <a:ext cx="2926080" cy="329184"/>
          </a:xfrm>
          <a:prstGeom prst="rect">
            <a:avLst/>
          </a:prstGeom>
          <a:noFill/>
          <a:ln/>
        </p:spPr>
        <p:txBody>
          <a:bodyPr wrap="square" lIns="0" tIns="0" rIns="0" bIns="0" rtlCol="0" anchor="ctr"/>
          <a:lstStyle/>
          <a:p>
            <a:pPr indent="0" marL="0">
              <a:buNone/>
            </a:pPr>
            <a:r>
              <a:rPr lang="en-US" sz="1300" b="1" dirty="0">
                <a:solidFill>
                  <a:srgbClr val="4E5968"/>
                </a:solidFill>
                <a:latin typeface="맑은 고딕" pitchFamily="34" charset="0"/>
                <a:ea typeface="맑은 고딕" pitchFamily="34" charset="-122"/>
                <a:cs typeface="맑은 고딕" pitchFamily="34" charset="-120"/>
              </a:rPr>
              <a:t>3~4줄 · 부담스럽지 않은 톤</a:t>
            </a:r>
            <a:endParaRPr lang="en-US" sz="1300" dirty="0"/>
          </a:p>
        </p:txBody>
      </p:sp>
      <p:sp>
        <p:nvSpPr>
          <p:cNvPr id="27" name="Shape 24"/>
          <p:cNvSpPr/>
          <p:nvPr/>
        </p:nvSpPr>
        <p:spPr>
          <a:xfrm>
            <a:off x="4665980" y="3200400"/>
            <a:ext cx="274320" cy="274320"/>
          </a:xfrm>
          <a:prstGeom prst="ellipse">
            <a:avLst/>
          </a:prstGeom>
          <a:solidFill>
            <a:srgbClr val="F04452"/>
          </a:solidFill>
          <a:ln w="19050">
            <a:solidFill>
              <a:srgbClr val="FFFFFF"/>
            </a:solidFill>
            <a:prstDash val="solid"/>
          </a:ln>
        </p:spPr>
      </p:sp>
      <p:sp>
        <p:nvSpPr>
          <p:cNvPr id="28" name="Text 25"/>
          <p:cNvSpPr txBox="1"/>
          <p:nvPr/>
        </p:nvSpPr>
        <p:spPr>
          <a:xfrm>
            <a:off x="4665980" y="32004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9" name="Text 26"/>
          <p:cNvSpPr txBox="1"/>
          <p:nvPr/>
        </p:nvSpPr>
        <p:spPr>
          <a:xfrm>
            <a:off x="5013452" y="3172968"/>
            <a:ext cx="2926080" cy="329184"/>
          </a:xfrm>
          <a:prstGeom prst="rect">
            <a:avLst/>
          </a:prstGeom>
          <a:noFill/>
          <a:ln/>
        </p:spPr>
        <p:txBody>
          <a:bodyPr wrap="square" lIns="0" tIns="0" rIns="0" bIns="0" rtlCol="0" anchor="ctr"/>
          <a:lstStyle/>
          <a:p>
            <a:pPr indent="0" marL="0">
              <a:buNone/>
            </a:pPr>
            <a:r>
              <a:rPr lang="en-US" sz="1300" b="1" dirty="0">
                <a:solidFill>
                  <a:srgbClr val="4E5968"/>
                </a:solidFill>
                <a:latin typeface="맑은 고딕" pitchFamily="34" charset="0"/>
                <a:ea typeface="맑은 고딕" pitchFamily="34" charset="-122"/>
                <a:cs typeface="맑은 고딕" pitchFamily="34" charset="-120"/>
              </a:rPr>
              <a:t>성명·연락처는 빼요</a:t>
            </a:r>
            <a:endParaRPr lang="en-US" sz="1300" dirty="0"/>
          </a:p>
        </p:txBody>
      </p:sp>
      <p:sp>
        <p:nvSpPr>
          <p:cNvPr id="30" name="Text 27"/>
          <p:cNvSpPr txBox="1"/>
          <p:nvPr/>
        </p:nvSpPr>
        <p:spPr>
          <a:xfrm>
            <a:off x="548640" y="3675888"/>
            <a:ext cx="5669280" cy="347472"/>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직접 부탁해도 돼요</a:t>
            </a:r>
            <a:endParaRPr lang="en-US" sz="1700" dirty="0"/>
          </a:p>
        </p:txBody>
      </p:sp>
      <p:sp>
        <p:nvSpPr>
          <p:cNvPr id="31" name="Shape 28"/>
          <p:cNvSpPr/>
          <p:nvPr/>
        </p:nvSpPr>
        <p:spPr>
          <a:xfrm>
            <a:off x="548640" y="4069080"/>
            <a:ext cx="5669280" cy="731520"/>
          </a:xfrm>
          <a:prstGeom prst="roundRect">
            <a:avLst>
              <a:gd name="adj" fmla="val 17500"/>
            </a:avLst>
          </a:prstGeom>
          <a:solidFill>
            <a:srgbClr val="FFFFFF"/>
          </a:solidFill>
          <a:ln w="15875">
            <a:solidFill>
              <a:srgbClr val="3182F6"/>
            </a:solidFill>
            <a:prstDash val="solid"/>
          </a:ln>
        </p:spPr>
      </p:sp>
      <p:sp>
        <p:nvSpPr>
          <p:cNvPr id="32" name="Text 29"/>
          <p:cNvSpPr txBox="1"/>
          <p:nvPr/>
        </p:nvSpPr>
        <p:spPr>
          <a:xfrm>
            <a:off x="731520" y="4123944"/>
            <a:ext cx="1828800" cy="237744"/>
          </a:xfrm>
          <a:prstGeom prst="rect">
            <a:avLst/>
          </a:prstGeom>
          <a:noFill/>
          <a:ln/>
        </p:spPr>
        <p:txBody>
          <a:bodyPr wrap="square" lIns="0" tIns="0" rIns="0" bIns="0" rtlCol="0" anchor="ctr"/>
          <a:lstStyle/>
          <a:p>
            <a:pPr indent="0" marL="0">
              <a:buNone/>
            </a:pPr>
            <a:r>
              <a:rPr lang="en-US" sz="1200" b="1" dirty="0">
                <a:solidFill>
                  <a:srgbClr val="6B7684"/>
                </a:solidFill>
                <a:latin typeface="맑은 고딕" pitchFamily="34" charset="0"/>
                <a:ea typeface="맑은 고딕" pitchFamily="34" charset="-122"/>
                <a:cs typeface="맑은 고딕" pitchFamily="34" charset="-120"/>
              </a:rPr>
              <a:t>카톡 안내문</a:t>
            </a:r>
            <a:endParaRPr lang="en-US" sz="1200" dirty="0"/>
          </a:p>
        </p:txBody>
      </p:sp>
      <p:sp>
        <p:nvSpPr>
          <p:cNvPr id="33" name="Text 30"/>
          <p:cNvSpPr txBox="1"/>
          <p:nvPr/>
        </p:nvSpPr>
        <p:spPr>
          <a:xfrm>
            <a:off x="731520" y="4343400"/>
            <a:ext cx="5349240" cy="438912"/>
          </a:xfrm>
          <a:prstGeom prst="rect">
            <a:avLst/>
          </a:prstGeom>
          <a:noFill/>
          <a:ln/>
        </p:spPr>
        <p:txBody>
          <a:bodyPr wrap="square" lIns="0" tIns="0" rIns="0" bIns="0" rtlCol="0" anchor="ctr"/>
          <a:lstStyle/>
          <a:p>
            <a:pPr indent="0" marL="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“보장분석 결과를 고객에게 보낼 카톡 안내문 6줄로 써줘. 존댓말, 단정 표현은 빼고”</a:t>
            </a:r>
            <a:endParaRPr lang="en-US" sz="1350" dirty="0"/>
          </a:p>
        </p:txBody>
      </p:sp>
      <p:sp>
        <p:nvSpPr>
          <p:cNvPr id="34" name="Shape 31"/>
          <p:cNvSpPr/>
          <p:nvPr/>
        </p:nvSpPr>
        <p:spPr>
          <a:xfrm>
            <a:off x="548640" y="4873752"/>
            <a:ext cx="5669280" cy="731520"/>
          </a:xfrm>
          <a:prstGeom prst="roundRect">
            <a:avLst>
              <a:gd name="adj" fmla="val 17500"/>
            </a:avLst>
          </a:prstGeom>
          <a:solidFill>
            <a:srgbClr val="FFFFFF"/>
          </a:solidFill>
          <a:ln w="15875">
            <a:solidFill>
              <a:srgbClr val="3182F6"/>
            </a:solidFill>
            <a:prstDash val="solid"/>
          </a:ln>
        </p:spPr>
      </p:sp>
      <p:sp>
        <p:nvSpPr>
          <p:cNvPr id="35" name="Text 32"/>
          <p:cNvSpPr txBox="1"/>
          <p:nvPr/>
        </p:nvSpPr>
        <p:spPr>
          <a:xfrm>
            <a:off x="731520" y="4928616"/>
            <a:ext cx="1828800" cy="237744"/>
          </a:xfrm>
          <a:prstGeom prst="rect">
            <a:avLst/>
          </a:prstGeom>
          <a:noFill/>
          <a:ln/>
        </p:spPr>
        <p:txBody>
          <a:bodyPr wrap="square" lIns="0" tIns="0" rIns="0" bIns="0" rtlCol="0" anchor="ctr"/>
          <a:lstStyle/>
          <a:p>
            <a:pPr indent="0" marL="0">
              <a:buNone/>
            </a:pPr>
            <a:r>
              <a:rPr lang="en-US" sz="1200" b="1" dirty="0">
                <a:solidFill>
                  <a:srgbClr val="6B7684"/>
                </a:solidFill>
                <a:latin typeface="맑은 고딕" pitchFamily="34" charset="0"/>
                <a:ea typeface="맑은 고딕" pitchFamily="34" charset="-122"/>
                <a:cs typeface="맑은 고딕" pitchFamily="34" charset="-120"/>
              </a:rPr>
              <a:t>첫 미팅 전</a:t>
            </a:r>
            <a:endParaRPr lang="en-US" sz="1200" dirty="0"/>
          </a:p>
        </p:txBody>
      </p:sp>
      <p:sp>
        <p:nvSpPr>
          <p:cNvPr id="36" name="Text 33"/>
          <p:cNvSpPr txBox="1"/>
          <p:nvPr/>
        </p:nvSpPr>
        <p:spPr>
          <a:xfrm>
            <a:off x="731520" y="5148072"/>
            <a:ext cx="5349240" cy="438912"/>
          </a:xfrm>
          <a:prstGeom prst="rect">
            <a:avLst/>
          </a:prstGeom>
          <a:noFill/>
          <a:ln/>
        </p:spPr>
        <p:txBody>
          <a:bodyPr wrap="square" lIns="0" tIns="0" rIns="0" bIns="0" rtlCol="0" anchor="ctr"/>
          <a:lstStyle/>
          <a:p>
            <a:pPr indent="0" marL="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“이 고객에게 첫 만남에서 꺼낼 질문 3개 만들어줘”</a:t>
            </a:r>
            <a:endParaRPr lang="en-US" sz="1350" dirty="0"/>
          </a:p>
        </p:txBody>
      </p:sp>
      <p:sp>
        <p:nvSpPr>
          <p:cNvPr id="37" name="Text 34"/>
          <p:cNvSpPr txBox="1"/>
          <p:nvPr/>
        </p:nvSpPr>
        <p:spPr>
          <a:xfrm>
            <a:off x="6446520" y="3675888"/>
            <a:ext cx="2743200" cy="347472"/>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고객 앞에서는 두 버튼</a:t>
            </a:r>
            <a:endParaRPr lang="en-US" sz="1700" dirty="0"/>
          </a:p>
        </p:txBody>
      </p:sp>
      <p:sp>
        <p:nvSpPr>
          <p:cNvPr id="38" name="Shape 35"/>
          <p:cNvSpPr/>
          <p:nvPr/>
        </p:nvSpPr>
        <p:spPr>
          <a:xfrm>
            <a:off x="9616135" y="3712464"/>
            <a:ext cx="2026920" cy="274320"/>
          </a:xfrm>
          <a:prstGeom prst="roundRect">
            <a:avLst>
              <a:gd name="adj" fmla="val 50000"/>
            </a:avLst>
          </a:prstGeom>
          <a:solidFill>
            <a:srgbClr val="FFF0F0"/>
          </a:solidFill>
          <a:ln w="12700">
            <a:solidFill>
              <a:srgbClr val="FFF0F0"/>
            </a:solidFill>
            <a:prstDash val="solid"/>
          </a:ln>
        </p:spPr>
      </p:sp>
      <p:sp>
        <p:nvSpPr>
          <p:cNvPr id="39" name="Text 36"/>
          <p:cNvSpPr txBox="1"/>
          <p:nvPr/>
        </p:nvSpPr>
        <p:spPr>
          <a:xfrm>
            <a:off x="9616135" y="3712464"/>
            <a:ext cx="2026920" cy="274320"/>
          </a:xfrm>
          <a:prstGeom prst="rect">
            <a:avLst/>
          </a:prstGeom>
          <a:noFill/>
          <a:ln/>
        </p:spPr>
        <p:txBody>
          <a:bodyPr wrap="square" lIns="0" tIns="0" rIns="0" bIns="0" rtlCol="0" anchor="ctr"/>
          <a:lstStyle/>
          <a:p>
            <a:pPr algn="ctr" indent="0" marL="0">
              <a:buNone/>
            </a:pPr>
            <a:r>
              <a:rPr lang="en-US" sz="1200" b="1" dirty="0">
                <a:solidFill>
                  <a:srgbClr val="F04452"/>
                </a:solidFill>
                <a:latin typeface="맑은 고딕" pitchFamily="34" charset="0"/>
                <a:ea typeface="맑은 고딕" pitchFamily="34" charset="-122"/>
                <a:cs typeface="맑은 고딕" pitchFamily="34" charset="-120"/>
              </a:rPr>
              <a:t>개발 중 · 바뀔 수 있어요</a:t>
            </a:r>
            <a:endParaRPr lang="en-US" sz="1200" dirty="0"/>
          </a:p>
        </p:txBody>
      </p:sp>
      <p:pic>
        <p:nvPicPr>
          <p:cNvPr id="40" name="Image 1" descr="MeAI 화면 캡처">    </p:cNvPr>
          <p:cNvPicPr>
            <a:picLocks noChangeAspect="1"/>
          </p:cNvPicPr>
          <p:nvPr/>
        </p:nvPicPr>
        <p:blipFill>
          <a:blip r:embed="rId2"/>
          <a:stretch>
            <a:fillRect/>
          </a:stretch>
        </p:blipFill>
        <p:spPr>
          <a:xfrm>
            <a:off x="6446520" y="4216613"/>
            <a:ext cx="2506828" cy="619334"/>
          </a:xfrm>
          <a:prstGeom prst="rect">
            <a:avLst/>
          </a:prstGeom>
        </p:spPr>
      </p:pic>
      <p:pic>
        <p:nvPicPr>
          <p:cNvPr id="41" name="Image 2" descr="MeAI 화면 캡처">    </p:cNvPr>
          <p:cNvPicPr>
            <a:picLocks noChangeAspect="1"/>
          </p:cNvPicPr>
          <p:nvPr/>
        </p:nvPicPr>
        <p:blipFill>
          <a:blip r:embed="rId3"/>
          <a:stretch>
            <a:fillRect/>
          </a:stretch>
        </p:blipFill>
        <p:spPr>
          <a:xfrm>
            <a:off x="9447985" y="4069080"/>
            <a:ext cx="1883312" cy="777240"/>
          </a:xfrm>
          <a:prstGeom prst="rect">
            <a:avLst/>
          </a:prstGeom>
        </p:spPr>
      </p:pic>
      <p:sp>
        <p:nvSpPr>
          <p:cNvPr id="42" name="Text 37"/>
          <p:cNvSpPr txBox="1"/>
          <p:nvPr/>
        </p:nvSpPr>
        <p:spPr>
          <a:xfrm>
            <a:off x="9136228" y="4828032"/>
            <a:ext cx="2506828" cy="201168"/>
          </a:xfrm>
          <a:prstGeom prst="rect">
            <a:avLst/>
          </a:prstGeom>
          <a:noFill/>
          <a:ln/>
        </p:spPr>
        <p:txBody>
          <a:bodyPr wrap="square" lIns="0" tIns="0" rIns="0" bIns="0" rtlCol="0" anchor="ctr"/>
          <a:lstStyle/>
          <a:p>
            <a:pPr algn="ctr" indent="0" marL="0">
              <a:buNone/>
            </a:pPr>
            <a:r>
              <a:rPr lang="en-US" sz="1050" dirty="0">
                <a:solidFill>
                  <a:srgbClr val="8B95A1"/>
                </a:solidFill>
                <a:latin typeface="맑은 고딕" pitchFamily="34" charset="0"/>
                <a:ea typeface="맑은 고딕" pitchFamily="34" charset="-122"/>
                <a:cs typeface="맑은 고딕" pitchFamily="34" charset="-120"/>
              </a:rPr>
              <a:t>화면 속 숫자는 예시예요</a:t>
            </a:r>
            <a:endParaRPr lang="en-US" sz="1050" dirty="0"/>
          </a:p>
        </p:txBody>
      </p:sp>
      <p:sp>
        <p:nvSpPr>
          <p:cNvPr id="43" name="Text 38"/>
          <p:cNvSpPr txBox="1"/>
          <p:nvPr/>
        </p:nvSpPr>
        <p:spPr>
          <a:xfrm>
            <a:off x="6446520" y="5029200"/>
            <a:ext cx="2506828" cy="292608"/>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[간편 분석]</a:t>
            </a:r>
            <a:endParaRPr lang="en-US" sz="1500" dirty="0"/>
          </a:p>
        </p:txBody>
      </p:sp>
      <p:sp>
        <p:nvSpPr>
          <p:cNvPr id="44" name="Text 39"/>
          <p:cNvSpPr txBox="1"/>
          <p:nvPr/>
        </p:nvSpPr>
        <p:spPr>
          <a:xfrm>
            <a:off x="6446520" y="5321808"/>
            <a:ext cx="2506828" cy="420624"/>
          </a:xfrm>
          <a:prstGeom prst="rect">
            <a:avLst/>
          </a:prstGeom>
          <a:noFill/>
          <a:ln/>
        </p:spPr>
        <p:txBody>
          <a:bodyPr wrap="square" lIns="0" tIns="0" rIns="0" bIns="0" rtlCol="0" anchor="t"/>
          <a:lstStyle/>
          <a:p>
            <a:pPr indent="0" marL="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어려운 보험 용어를 일상 언어로</a:t>
            </a:r>
            <a:endParaRPr lang="en-US" sz="1150" dirty="0"/>
          </a:p>
          <a:p>
            <a:pPr indent="0" marL="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약관을 따질 땐 상세 분석</a:t>
            </a:r>
            <a:endParaRPr lang="en-US" sz="1150" dirty="0"/>
          </a:p>
        </p:txBody>
      </p:sp>
      <p:sp>
        <p:nvSpPr>
          <p:cNvPr id="45" name="Text 40"/>
          <p:cNvSpPr txBox="1"/>
          <p:nvPr/>
        </p:nvSpPr>
        <p:spPr>
          <a:xfrm>
            <a:off x="9136228" y="5029200"/>
            <a:ext cx="2506828" cy="292608"/>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[용어]</a:t>
            </a:r>
            <a:endParaRPr lang="en-US" sz="1500" dirty="0"/>
          </a:p>
        </p:txBody>
      </p:sp>
      <p:sp>
        <p:nvSpPr>
          <p:cNvPr id="46" name="Text 41"/>
          <p:cNvSpPr txBox="1"/>
          <p:nvPr/>
        </p:nvSpPr>
        <p:spPr>
          <a:xfrm>
            <a:off x="9136228" y="5321808"/>
            <a:ext cx="2506828" cy="420624"/>
          </a:xfrm>
          <a:prstGeom prst="rect">
            <a:avLst/>
          </a:prstGeom>
          <a:noFill/>
          <a:ln/>
        </p:spPr>
        <p:txBody>
          <a:bodyPr wrap="square" lIns="0" tIns="0" rIns="0" bIns="0" rtlCol="0" anchor="t"/>
          <a:lstStyle/>
          <a:p>
            <a:pPr indent="0" marL="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켜고 표시된 말을 누르면 뜻풀이</a:t>
            </a:r>
            <a:endParaRPr lang="en-US" sz="1150" dirty="0"/>
          </a:p>
          <a:p>
            <a:pPr indent="0" marL="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고객 눈높이 문장, 그대로 읽어요</a:t>
            </a:r>
            <a:endParaRPr lang="en-US" sz="1150" dirty="0"/>
          </a:p>
        </p:txBody>
      </p:sp>
      <p:sp>
        <p:nvSpPr>
          <p:cNvPr id="47" name="Shape 42"/>
          <p:cNvSpPr/>
          <p:nvPr/>
        </p:nvSpPr>
        <p:spPr>
          <a:xfrm>
            <a:off x="548640" y="5760720"/>
            <a:ext cx="11094415" cy="384048"/>
          </a:xfrm>
          <a:prstGeom prst="roundRect">
            <a:avLst>
              <a:gd name="adj" fmla="val 33333"/>
            </a:avLst>
          </a:prstGeom>
          <a:solidFill>
            <a:srgbClr val="FFF8E1"/>
          </a:solidFill>
          <a:ln w="12700">
            <a:solidFill>
              <a:srgbClr val="FFF8E1"/>
            </a:solidFill>
            <a:prstDash val="solid"/>
          </a:ln>
        </p:spPr>
      </p:sp>
      <p:sp>
        <p:nvSpPr>
          <p:cNvPr id="48" name="Text 43"/>
          <p:cNvSpPr txBox="1"/>
          <p:nvPr/>
        </p:nvSpPr>
        <p:spPr>
          <a:xfrm>
            <a:off x="868680" y="5760720"/>
            <a:ext cx="10454335" cy="384048"/>
          </a:xfrm>
          <a:prstGeom prst="rect">
            <a:avLst/>
          </a:prstGeom>
          <a:noFill/>
          <a:ln/>
        </p:spPr>
        <p:txBody>
          <a:bodyPr wrap="square" lIns="0" tIns="0" rIns="0" bIns="0" rtlCol="0" anchor="ctr"/>
          <a:lstStyle/>
          <a:p>
            <a:pPr indent="0" marL="0">
              <a:buNone/>
            </a:pPr>
            <a:r>
              <a:rPr lang="en-US" sz="1400" dirty="0">
                <a:solidFill>
                  <a:srgbClr val="191F28"/>
                </a:solidFill>
                <a:latin typeface="맑은 고딕" pitchFamily="34" charset="0"/>
                <a:ea typeface="맑은 고딕" pitchFamily="34" charset="-122"/>
                <a:cs typeface="맑은 고딕" pitchFamily="34" charset="-120"/>
              </a:rPr>
              <a:t>답은 초안이에요 · 숫자·약관 근거 확인 → 내 말투로</a:t>
            </a:r>
            <a:endParaRPr lang="en-US" sz="1400" dirty="0"/>
          </a:p>
        </p:txBody>
      </p:sp>
      <p:sp>
        <p:nvSpPr>
          <p:cNvPr id="49" name="Text 44"/>
          <p:cNvSpPr txBox="1"/>
          <p:nvPr/>
        </p:nvSpPr>
        <p:spPr>
          <a:xfrm>
            <a:off x="548640" y="6181344"/>
            <a:ext cx="11094415" cy="219456"/>
          </a:xfrm>
          <a:prstGeom prst="rect">
            <a:avLst/>
          </a:prstGeom>
          <a:noFill/>
          <a:ln/>
        </p:spPr>
        <p:txBody>
          <a:bodyPr wrap="square" lIns="0" tIns="0" rIns="0" bIns="0" rtlCol="0" anchor="ctr"/>
          <a:lstStyle/>
          <a:p>
            <a:pPr indent="0" marL="0">
              <a:buNone/>
            </a:pPr>
            <a:r>
              <a:rPr lang="en-US" sz="1050" dirty="0">
                <a:solidFill>
                  <a:srgbClr val="8B95A1"/>
                </a:solidFill>
                <a:latin typeface="맑은 고딕" pitchFamily="34" charset="0"/>
                <a:ea typeface="맑은 고딕" pitchFamily="34" charset="-122"/>
                <a:cs typeface="맑은 고딕" pitchFamily="34" charset="-120"/>
              </a:rPr>
              <a:t>출처: MeAI 확정 화면 · MeAI 활용 가이드북 영업가족 편(2026.09) · 가이드북 v4(2026.10) p.2·37·51·53</a:t>
            </a:r>
            <a:endParaRPr lang="en-US" sz="1050" dirty="0"/>
          </a:p>
        </p:txBody>
      </p:sp>
      <p:sp>
        <p:nvSpPr>
          <p:cNvPr id="50" name="Text 45"/>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1" name="Text 4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이렇게는 묻지 마세요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답도 나빠지고, 규정에도 어긋나요</a:t>
            </a:r>
            <a:endParaRPr lang="en-US" sz="1700" dirty="0"/>
          </a:p>
        </p:txBody>
      </p:sp>
      <p:sp>
        <p:nvSpPr>
          <p:cNvPr id="13" name="Shape 11"/>
          <p:cNvSpPr/>
          <p:nvPr/>
        </p:nvSpPr>
        <p:spPr>
          <a:xfrm>
            <a:off x="548640" y="1874520"/>
            <a:ext cx="5483200" cy="1353312"/>
          </a:xfrm>
          <a:prstGeom prst="roundRect">
            <a:avLst>
              <a:gd name="adj" fmla="val 94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4" name="Text 12"/>
          <p:cNvSpPr txBox="1"/>
          <p:nvPr/>
        </p:nvSpPr>
        <p:spPr>
          <a:xfrm>
            <a:off x="777240" y="1965960"/>
            <a:ext cx="5117440" cy="347472"/>
          </a:xfrm>
          <a:prstGeom prst="rect">
            <a:avLst/>
          </a:prstGeom>
          <a:noFill/>
          <a:ln/>
        </p:spPr>
        <p:txBody>
          <a:bodyPr wrap="square" lIns="0" tIns="0" rIns="0" bIns="0" rtlCol="0" anchor="ctr"/>
          <a:lstStyle/>
          <a:p>
            <a:pPr indent="0" marL="0">
              <a:buNone/>
            </a:pPr>
            <a:r>
              <a:rPr lang="en-US" sz="1650" b="1" dirty="0">
                <a:solidFill>
                  <a:srgbClr val="191F28"/>
                </a:solidFill>
                <a:latin typeface="맑은 고딕" pitchFamily="34" charset="0"/>
                <a:ea typeface="맑은 고딕" pitchFamily="34" charset="-122"/>
                <a:cs typeface="맑은 고딕" pitchFamily="34" charset="-120"/>
              </a:rPr>
              <a:t>① 개인정보를 넣는 질문</a:t>
            </a:r>
            <a:endParaRPr lang="en-US" sz="1650" dirty="0"/>
          </a:p>
        </p:txBody>
      </p:sp>
      <p:sp>
        <p:nvSpPr>
          <p:cNvPr id="15" name="Text 13"/>
          <p:cNvSpPr txBox="1"/>
          <p:nvPr/>
        </p:nvSpPr>
        <p:spPr>
          <a:xfrm>
            <a:off x="777240" y="2331720"/>
            <a:ext cx="5117440" cy="310896"/>
          </a:xfrm>
          <a:prstGeom prst="rect">
            <a:avLst/>
          </a:prstGeom>
          <a:noFill/>
          <a:ln/>
        </p:spPr>
        <p:txBody>
          <a:bodyPr wrap="square" lIns="0" tIns="0" rIns="0" bIns="0" rtlCol="0" anchor="ctr"/>
          <a:lstStyle/>
          <a:p>
            <a:pPr indent="0" marL="0">
              <a:buNone/>
            </a:pPr>
            <a:r>
              <a:rPr lang="en-US" sz="1500" b="1" dirty="0">
                <a:solidFill>
                  <a:srgbClr val="F04452"/>
                </a:solidFill>
                <a:latin typeface="맑은 고딕" pitchFamily="34" charset="0"/>
                <a:ea typeface="맑은 고딕" pitchFamily="34" charset="-122"/>
                <a:cs typeface="맑은 고딕" pitchFamily="34" charset="-120"/>
              </a:rPr>
              <a:t>✕  </a:t>
            </a:r>
            <a:pPr indent="0" marL="0">
              <a:buNone/>
            </a:pPr>
            <a:r>
              <a:rPr lang="en-US" sz="1350" dirty="0">
                <a:solidFill>
                  <a:srgbClr val="6B7684"/>
                </a:solidFill>
                <a:latin typeface="맑은 고딕" pitchFamily="34" charset="0"/>
                <a:ea typeface="맑은 고딕" pitchFamily="34" charset="-122"/>
                <a:cs typeface="맑은 고딕" pitchFamily="34" charset="-120"/>
              </a:rPr>
              <a:t>“김OO(연락처) 고객 보장분석”</a:t>
            </a:r>
            <a:endParaRPr lang="en-US" sz="1500" dirty="0"/>
          </a:p>
        </p:txBody>
      </p:sp>
      <p:sp>
        <p:nvSpPr>
          <p:cNvPr id="16" name="Text 14"/>
          <p:cNvSpPr txBox="1"/>
          <p:nvPr/>
        </p:nvSpPr>
        <p:spPr>
          <a:xfrm>
            <a:off x="777240" y="2660904"/>
            <a:ext cx="5117440" cy="457200"/>
          </a:xfrm>
          <a:prstGeom prst="rect">
            <a:avLst/>
          </a:prstGeom>
          <a:noFill/>
          <a:ln/>
        </p:spPr>
        <p:txBody>
          <a:bodyPr wrap="square" lIns="0" tIns="0" rIns="0" bIns="0" rtlCol="0" anchor="t"/>
          <a:lstStyle/>
          <a:p>
            <a:pPr indent="0" marL="0">
              <a:buNone/>
            </a:pPr>
            <a:r>
              <a:rPr lang="en-US" sz="1500" b="1" dirty="0">
                <a:solidFill>
                  <a:srgbClr val="00A86B"/>
                </a:solidFill>
                <a:latin typeface="맑은 고딕" pitchFamily="34" charset="0"/>
                <a:ea typeface="맑은 고딕" pitchFamily="34" charset="-122"/>
                <a:cs typeface="맑은 고딕" pitchFamily="34" charset="-120"/>
              </a:rPr>
              <a:t>○  </a:t>
            </a:r>
            <a:pPr indent="0" marL="0">
              <a:buNone/>
            </a:pPr>
            <a:r>
              <a:rPr lang="en-US" sz="1400" b="1" dirty="0">
                <a:solidFill>
                  <a:srgbClr val="191F28"/>
                </a:solidFill>
                <a:latin typeface="맑은 고딕" pitchFamily="34" charset="0"/>
                <a:ea typeface="맑은 고딕" pitchFamily="34" charset="-122"/>
                <a:cs typeface="맑은 고딕" pitchFamily="34" charset="-120"/>
              </a:rPr>
              <a:t>맞춤대화에선 “이 고객”이라고만</a:t>
            </a:r>
            <a:endParaRPr lang="en-US" sz="1500" dirty="0"/>
          </a:p>
        </p:txBody>
      </p:sp>
      <p:sp>
        <p:nvSpPr>
          <p:cNvPr id="17" name="Shape 15"/>
          <p:cNvSpPr/>
          <p:nvPr/>
        </p:nvSpPr>
        <p:spPr>
          <a:xfrm>
            <a:off x="6159856" y="1874520"/>
            <a:ext cx="5483200" cy="1353312"/>
          </a:xfrm>
          <a:prstGeom prst="roundRect">
            <a:avLst>
              <a:gd name="adj" fmla="val 94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8" name="Text 16"/>
          <p:cNvSpPr txBox="1"/>
          <p:nvPr/>
        </p:nvSpPr>
        <p:spPr>
          <a:xfrm>
            <a:off x="6388456" y="1965960"/>
            <a:ext cx="5117440" cy="347472"/>
          </a:xfrm>
          <a:prstGeom prst="rect">
            <a:avLst/>
          </a:prstGeom>
          <a:noFill/>
          <a:ln/>
        </p:spPr>
        <p:txBody>
          <a:bodyPr wrap="square" lIns="0" tIns="0" rIns="0" bIns="0" rtlCol="0" anchor="ctr"/>
          <a:lstStyle/>
          <a:p>
            <a:pPr indent="0" marL="0">
              <a:buNone/>
            </a:pPr>
            <a:r>
              <a:rPr lang="en-US" sz="1650" b="1" dirty="0">
                <a:solidFill>
                  <a:srgbClr val="191F28"/>
                </a:solidFill>
                <a:latin typeface="맑은 고딕" pitchFamily="34" charset="0"/>
                <a:ea typeface="맑은 고딕" pitchFamily="34" charset="-122"/>
                <a:cs typeface="맑은 고딕" pitchFamily="34" charset="-120"/>
              </a:rPr>
              <a:t>② 여러 질문을 한 번에</a:t>
            </a:r>
            <a:endParaRPr lang="en-US" sz="1650" dirty="0"/>
          </a:p>
        </p:txBody>
      </p:sp>
      <p:sp>
        <p:nvSpPr>
          <p:cNvPr id="19" name="Text 17"/>
          <p:cNvSpPr txBox="1"/>
          <p:nvPr/>
        </p:nvSpPr>
        <p:spPr>
          <a:xfrm>
            <a:off x="6388456" y="2331720"/>
            <a:ext cx="5117440" cy="310896"/>
          </a:xfrm>
          <a:prstGeom prst="rect">
            <a:avLst/>
          </a:prstGeom>
          <a:noFill/>
          <a:ln/>
        </p:spPr>
        <p:txBody>
          <a:bodyPr wrap="square" lIns="0" tIns="0" rIns="0" bIns="0" rtlCol="0" anchor="ctr"/>
          <a:lstStyle/>
          <a:p>
            <a:pPr indent="0" marL="0">
              <a:buNone/>
            </a:pPr>
            <a:r>
              <a:rPr lang="en-US" sz="1500" b="1" dirty="0">
                <a:solidFill>
                  <a:srgbClr val="F04452"/>
                </a:solidFill>
                <a:latin typeface="맑은 고딕" pitchFamily="34" charset="0"/>
                <a:ea typeface="맑은 고딕" pitchFamily="34" charset="-122"/>
                <a:cs typeface="맑은 고딕" pitchFamily="34" charset="-120"/>
              </a:rPr>
              <a:t>✕  </a:t>
            </a:r>
            <a:pPr indent="0" marL="0">
              <a:buNone/>
            </a:pPr>
            <a:r>
              <a:rPr lang="en-US" sz="1350" dirty="0">
                <a:solidFill>
                  <a:srgbClr val="6B7684"/>
                </a:solidFill>
                <a:latin typeface="맑은 고딕" pitchFamily="34" charset="0"/>
                <a:ea typeface="맑은 고딕" pitchFamily="34" charset="-122"/>
                <a:cs typeface="맑은 고딕" pitchFamily="34" charset="-120"/>
              </a:rPr>
              <a:t>“보장분석하고 화법도 만들고 카톡도 써줘”</a:t>
            </a:r>
            <a:endParaRPr lang="en-US" sz="1500" dirty="0"/>
          </a:p>
        </p:txBody>
      </p:sp>
      <p:sp>
        <p:nvSpPr>
          <p:cNvPr id="20" name="Text 18"/>
          <p:cNvSpPr txBox="1"/>
          <p:nvPr/>
        </p:nvSpPr>
        <p:spPr>
          <a:xfrm>
            <a:off x="6388456" y="2660904"/>
            <a:ext cx="5117440" cy="457200"/>
          </a:xfrm>
          <a:prstGeom prst="rect">
            <a:avLst/>
          </a:prstGeom>
          <a:noFill/>
          <a:ln/>
        </p:spPr>
        <p:txBody>
          <a:bodyPr wrap="square" lIns="0" tIns="0" rIns="0" bIns="0" rtlCol="0" anchor="t"/>
          <a:lstStyle/>
          <a:p>
            <a:pPr indent="0" marL="0">
              <a:buNone/>
            </a:pPr>
            <a:r>
              <a:rPr lang="en-US" sz="1500" b="1" dirty="0">
                <a:solidFill>
                  <a:srgbClr val="00A86B"/>
                </a:solidFill>
                <a:latin typeface="맑은 고딕" pitchFamily="34" charset="0"/>
                <a:ea typeface="맑은 고딕" pitchFamily="34" charset="-122"/>
                <a:cs typeface="맑은 고딕" pitchFamily="34" charset="-120"/>
              </a:rPr>
              <a:t>○  </a:t>
            </a:r>
            <a:pPr indent="0" marL="0">
              <a:buNone/>
            </a:pPr>
            <a:r>
              <a:rPr lang="en-US" sz="1400" b="1" dirty="0">
                <a:solidFill>
                  <a:srgbClr val="191F28"/>
                </a:solidFill>
                <a:latin typeface="맑은 고딕" pitchFamily="34" charset="0"/>
                <a:ea typeface="맑은 고딕" pitchFamily="34" charset="-122"/>
                <a:cs typeface="맑은 고딕" pitchFamily="34" charset="-120"/>
              </a:rPr>
              <a:t>하나씩 이어서 물어요 · 고객·주제가 바뀌면 [새로 대화하기]</a:t>
            </a:r>
            <a:endParaRPr lang="en-US" sz="1500" dirty="0"/>
          </a:p>
        </p:txBody>
      </p:sp>
      <p:sp>
        <p:nvSpPr>
          <p:cNvPr id="21" name="Shape 19"/>
          <p:cNvSpPr/>
          <p:nvPr/>
        </p:nvSpPr>
        <p:spPr>
          <a:xfrm>
            <a:off x="548640" y="3355848"/>
            <a:ext cx="5483200" cy="1353312"/>
          </a:xfrm>
          <a:prstGeom prst="roundRect">
            <a:avLst>
              <a:gd name="adj" fmla="val 94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2" name="Text 20"/>
          <p:cNvSpPr txBox="1"/>
          <p:nvPr/>
        </p:nvSpPr>
        <p:spPr>
          <a:xfrm>
            <a:off x="777240" y="3447288"/>
            <a:ext cx="5117440" cy="347472"/>
          </a:xfrm>
          <a:prstGeom prst="rect">
            <a:avLst/>
          </a:prstGeom>
          <a:noFill/>
          <a:ln/>
        </p:spPr>
        <p:txBody>
          <a:bodyPr wrap="square" lIns="0" tIns="0" rIns="0" bIns="0" rtlCol="0" anchor="ctr"/>
          <a:lstStyle/>
          <a:p>
            <a:pPr indent="0" marL="0">
              <a:buNone/>
            </a:pPr>
            <a:r>
              <a:rPr lang="en-US" sz="1650" b="1" dirty="0">
                <a:solidFill>
                  <a:srgbClr val="191F28"/>
                </a:solidFill>
                <a:latin typeface="맑은 고딕" pitchFamily="34" charset="0"/>
                <a:ea typeface="맑은 고딕" pitchFamily="34" charset="-122"/>
                <a:cs typeface="맑은 고딕" pitchFamily="34" charset="-120"/>
              </a:rPr>
              <a:t>③ 답을 그대로 고객에게</a:t>
            </a:r>
            <a:endParaRPr lang="en-US" sz="1650" dirty="0"/>
          </a:p>
        </p:txBody>
      </p:sp>
      <p:sp>
        <p:nvSpPr>
          <p:cNvPr id="23" name="Text 21"/>
          <p:cNvSpPr txBox="1"/>
          <p:nvPr/>
        </p:nvSpPr>
        <p:spPr>
          <a:xfrm>
            <a:off x="777240" y="3813048"/>
            <a:ext cx="5117440" cy="310896"/>
          </a:xfrm>
          <a:prstGeom prst="rect">
            <a:avLst/>
          </a:prstGeom>
          <a:noFill/>
          <a:ln/>
        </p:spPr>
        <p:txBody>
          <a:bodyPr wrap="square" lIns="0" tIns="0" rIns="0" bIns="0" rtlCol="0" anchor="ctr"/>
          <a:lstStyle/>
          <a:p>
            <a:pPr indent="0" marL="0">
              <a:buNone/>
            </a:pPr>
            <a:r>
              <a:rPr lang="en-US" sz="1500" b="1" dirty="0">
                <a:solidFill>
                  <a:srgbClr val="F04452"/>
                </a:solidFill>
                <a:latin typeface="맑은 고딕" pitchFamily="34" charset="0"/>
                <a:ea typeface="맑은 고딕" pitchFamily="34" charset="-122"/>
                <a:cs typeface="맑은 고딕" pitchFamily="34" charset="-120"/>
              </a:rPr>
              <a:t>✕  </a:t>
            </a:r>
            <a:pPr indent="0" marL="0">
              <a:buNone/>
            </a:pPr>
            <a:r>
              <a:rPr lang="en-US" sz="1350" dirty="0">
                <a:solidFill>
                  <a:srgbClr val="6B7684"/>
                </a:solidFill>
                <a:latin typeface="맑은 고딕" pitchFamily="34" charset="0"/>
                <a:ea typeface="맑은 고딕" pitchFamily="34" charset="-122"/>
                <a:cs typeface="맑은 고딕" pitchFamily="34" charset="-120"/>
              </a:rPr>
              <a:t>답변 복사 → 바로 카톡 전송</a:t>
            </a:r>
            <a:endParaRPr lang="en-US" sz="1500" dirty="0"/>
          </a:p>
        </p:txBody>
      </p:sp>
      <p:sp>
        <p:nvSpPr>
          <p:cNvPr id="24" name="Text 22"/>
          <p:cNvSpPr txBox="1"/>
          <p:nvPr/>
        </p:nvSpPr>
        <p:spPr>
          <a:xfrm>
            <a:off x="777240" y="4142232"/>
            <a:ext cx="5117440" cy="457200"/>
          </a:xfrm>
          <a:prstGeom prst="rect">
            <a:avLst/>
          </a:prstGeom>
          <a:noFill/>
          <a:ln/>
        </p:spPr>
        <p:txBody>
          <a:bodyPr wrap="square" lIns="0" tIns="0" rIns="0" bIns="0" rtlCol="0" anchor="t"/>
          <a:lstStyle/>
          <a:p>
            <a:pPr indent="0" marL="0">
              <a:buNone/>
            </a:pPr>
            <a:r>
              <a:rPr lang="en-US" sz="1500" b="1" dirty="0">
                <a:solidFill>
                  <a:srgbClr val="00A86B"/>
                </a:solidFill>
                <a:latin typeface="맑은 고딕" pitchFamily="34" charset="0"/>
                <a:ea typeface="맑은 고딕" pitchFamily="34" charset="-122"/>
                <a:cs typeface="맑은 고딕" pitchFamily="34" charset="-120"/>
              </a:rPr>
              <a:t>○  </a:t>
            </a:r>
            <a:pPr indent="0" marL="0">
              <a:buNone/>
            </a:pPr>
            <a:r>
              <a:rPr lang="en-US" sz="1400" b="1" dirty="0">
                <a:solidFill>
                  <a:srgbClr val="191F28"/>
                </a:solidFill>
                <a:latin typeface="맑은 고딕" pitchFamily="34" charset="0"/>
                <a:ea typeface="맑은 고딕" pitchFamily="34" charset="-122"/>
                <a:cs typeface="맑은 고딕" pitchFamily="34" charset="-120"/>
              </a:rPr>
              <a:t>숫자·약관 근거 확인하고 내 말로</a:t>
            </a:r>
            <a:endParaRPr lang="en-US" sz="1500" dirty="0"/>
          </a:p>
        </p:txBody>
      </p:sp>
      <p:sp>
        <p:nvSpPr>
          <p:cNvPr id="25" name="Shape 23"/>
          <p:cNvSpPr/>
          <p:nvPr/>
        </p:nvSpPr>
        <p:spPr>
          <a:xfrm>
            <a:off x="6159856" y="3355848"/>
            <a:ext cx="5483200" cy="1353312"/>
          </a:xfrm>
          <a:prstGeom prst="roundRect">
            <a:avLst>
              <a:gd name="adj" fmla="val 94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6" name="Text 24"/>
          <p:cNvSpPr txBox="1"/>
          <p:nvPr/>
        </p:nvSpPr>
        <p:spPr>
          <a:xfrm>
            <a:off x="6388456" y="3447288"/>
            <a:ext cx="5117440" cy="347472"/>
          </a:xfrm>
          <a:prstGeom prst="rect">
            <a:avLst/>
          </a:prstGeom>
          <a:noFill/>
          <a:ln/>
        </p:spPr>
        <p:txBody>
          <a:bodyPr wrap="square" lIns="0" tIns="0" rIns="0" bIns="0" rtlCol="0" anchor="ctr"/>
          <a:lstStyle/>
          <a:p>
            <a:pPr indent="0" marL="0">
              <a:buNone/>
            </a:pPr>
            <a:r>
              <a:rPr lang="en-US" sz="1650" b="1" dirty="0">
                <a:solidFill>
                  <a:srgbClr val="191F28"/>
                </a:solidFill>
                <a:latin typeface="맑은 고딕" pitchFamily="34" charset="0"/>
                <a:ea typeface="맑은 고딕" pitchFamily="34" charset="-122"/>
                <a:cs typeface="맑은 고딕" pitchFamily="34" charset="-120"/>
              </a:rPr>
              <a:t>④ 단정을 강요하는 질문</a:t>
            </a:r>
            <a:endParaRPr lang="en-US" sz="1650" dirty="0"/>
          </a:p>
        </p:txBody>
      </p:sp>
      <p:sp>
        <p:nvSpPr>
          <p:cNvPr id="27" name="Text 25"/>
          <p:cNvSpPr txBox="1"/>
          <p:nvPr/>
        </p:nvSpPr>
        <p:spPr>
          <a:xfrm>
            <a:off x="6388456" y="3813048"/>
            <a:ext cx="5117440" cy="310896"/>
          </a:xfrm>
          <a:prstGeom prst="rect">
            <a:avLst/>
          </a:prstGeom>
          <a:noFill/>
          <a:ln/>
        </p:spPr>
        <p:txBody>
          <a:bodyPr wrap="square" lIns="0" tIns="0" rIns="0" bIns="0" rtlCol="0" anchor="ctr"/>
          <a:lstStyle/>
          <a:p>
            <a:pPr indent="0" marL="0">
              <a:buNone/>
            </a:pPr>
            <a:r>
              <a:rPr lang="en-US" sz="1500" b="1" dirty="0">
                <a:solidFill>
                  <a:srgbClr val="F04452"/>
                </a:solidFill>
                <a:latin typeface="맑은 고딕" pitchFamily="34" charset="0"/>
                <a:ea typeface="맑은 고딕" pitchFamily="34" charset="-122"/>
                <a:cs typeface="맑은 고딕" pitchFamily="34" charset="-120"/>
              </a:rPr>
              <a:t>✕  </a:t>
            </a:r>
            <a:pPr indent="0" marL="0">
              <a:buNone/>
            </a:pPr>
            <a:r>
              <a:rPr lang="en-US" sz="1350" dirty="0">
                <a:solidFill>
                  <a:srgbClr val="6B7684"/>
                </a:solidFill>
                <a:latin typeface="맑은 고딕" pitchFamily="34" charset="0"/>
                <a:ea typeface="맑은 고딕" pitchFamily="34" charset="-122"/>
                <a:cs typeface="맑은 고딕" pitchFamily="34" charset="-120"/>
              </a:rPr>
              <a:t>“무조건 가입 가능하다고 말해줘”</a:t>
            </a:r>
            <a:endParaRPr lang="en-US" sz="1500" dirty="0"/>
          </a:p>
        </p:txBody>
      </p:sp>
      <p:sp>
        <p:nvSpPr>
          <p:cNvPr id="28" name="Text 26"/>
          <p:cNvSpPr txBox="1"/>
          <p:nvPr/>
        </p:nvSpPr>
        <p:spPr>
          <a:xfrm>
            <a:off x="6388456" y="4142232"/>
            <a:ext cx="5117440" cy="457200"/>
          </a:xfrm>
          <a:prstGeom prst="rect">
            <a:avLst/>
          </a:prstGeom>
          <a:noFill/>
          <a:ln/>
        </p:spPr>
        <p:txBody>
          <a:bodyPr wrap="square" lIns="0" tIns="0" rIns="0" bIns="0" rtlCol="0" anchor="t"/>
          <a:lstStyle/>
          <a:p>
            <a:pPr indent="0" marL="0">
              <a:buNone/>
            </a:pPr>
            <a:r>
              <a:rPr lang="en-US" sz="1500" b="1" dirty="0">
                <a:solidFill>
                  <a:srgbClr val="00A86B"/>
                </a:solidFill>
                <a:latin typeface="맑은 고딕" pitchFamily="34" charset="0"/>
                <a:ea typeface="맑은 고딕" pitchFamily="34" charset="-122"/>
                <a:cs typeface="맑은 고딕" pitchFamily="34" charset="-120"/>
              </a:rPr>
              <a:t>○  </a:t>
            </a:r>
            <a:pPr indent="0" marL="0">
              <a:buNone/>
            </a:pPr>
            <a:r>
              <a:rPr lang="en-US" sz="1400" b="1" dirty="0">
                <a:solidFill>
                  <a:srgbClr val="191F28"/>
                </a:solidFill>
                <a:latin typeface="맑은 고딕" pitchFamily="34" charset="0"/>
                <a:ea typeface="맑은 고딕" pitchFamily="34" charset="-122"/>
                <a:cs typeface="맑은 고딕" pitchFamily="34" charset="-120"/>
              </a:rPr>
              <a:t>“가능성과 확인할 조건을 알려줘”</a:t>
            </a:r>
            <a:endParaRPr lang="en-US" sz="1500" dirty="0"/>
          </a:p>
        </p:txBody>
      </p:sp>
      <p:sp>
        <p:nvSpPr>
          <p:cNvPr id="29" name="Text 27"/>
          <p:cNvSpPr txBox="1"/>
          <p:nvPr/>
        </p:nvSpPr>
        <p:spPr>
          <a:xfrm>
            <a:off x="548640" y="4754880"/>
            <a:ext cx="5486400" cy="237744"/>
          </a:xfrm>
          <a:prstGeom prst="rect">
            <a:avLst/>
          </a:prstGeom>
          <a:noFill/>
          <a:ln/>
        </p:spPr>
        <p:txBody>
          <a:bodyPr wrap="square" lIns="0" tIns="0" rIns="0" bIns="0" rtlCol="0" anchor="ctr"/>
          <a:lstStyle/>
          <a:p>
            <a:pPr indent="0" marL="0">
              <a:buNone/>
            </a:pPr>
            <a:r>
              <a:rPr lang="en-US" sz="1150" dirty="0">
                <a:solidFill>
                  <a:srgbClr val="8B95A1"/>
                </a:solidFill>
                <a:latin typeface="맑은 고딕" pitchFamily="34" charset="0"/>
                <a:ea typeface="맑은 고딕" pitchFamily="34" charset="-122"/>
                <a:cs typeface="맑은 고딕" pitchFamily="34" charset="-120"/>
              </a:rPr>
              <a:t>③ 입력창 아래 안내문(화면 그대로)</a:t>
            </a:r>
            <a:endParaRPr lang="en-US" sz="1150" dirty="0"/>
          </a:p>
        </p:txBody>
      </p:sp>
      <p:pic>
        <p:nvPicPr>
          <p:cNvPr id="30" name="Image 0" descr="MeAI 화면 캡처">    </p:cNvPr>
          <p:cNvPicPr>
            <a:picLocks noChangeAspect="1"/>
          </p:cNvPicPr>
          <p:nvPr/>
        </p:nvPicPr>
        <p:blipFill>
          <a:blip r:embed="rId1"/>
          <a:stretch>
            <a:fillRect/>
          </a:stretch>
        </p:blipFill>
        <p:spPr>
          <a:xfrm>
            <a:off x="548640" y="5010912"/>
            <a:ext cx="7823939" cy="475488"/>
          </a:xfrm>
          <a:prstGeom prst="rect">
            <a:avLst/>
          </a:prstGeom>
        </p:spPr>
      </p:pic>
      <p:sp>
        <p:nvSpPr>
          <p:cNvPr id="31" name="Shape 28"/>
          <p:cNvSpPr/>
          <p:nvPr/>
        </p:nvSpPr>
        <p:spPr>
          <a:xfrm>
            <a:off x="548640" y="5577840"/>
            <a:ext cx="11094415" cy="457200"/>
          </a:xfrm>
          <a:prstGeom prst="roundRect">
            <a:avLst>
              <a:gd name="adj" fmla="val 24000"/>
            </a:avLst>
          </a:prstGeom>
          <a:solidFill>
            <a:srgbClr val="F2F4F6"/>
          </a:solidFill>
          <a:ln w="12700">
            <a:solidFill>
              <a:srgbClr val="F2F4F6"/>
            </a:solidFill>
            <a:prstDash val="solid"/>
          </a:ln>
        </p:spPr>
      </p:sp>
      <p:sp>
        <p:nvSpPr>
          <p:cNvPr id="32" name="Shape 29"/>
          <p:cNvSpPr/>
          <p:nvPr/>
        </p:nvSpPr>
        <p:spPr>
          <a:xfrm>
            <a:off x="685800" y="5650992"/>
            <a:ext cx="1413510" cy="310896"/>
          </a:xfrm>
          <a:prstGeom prst="roundRect">
            <a:avLst>
              <a:gd name="adj" fmla="val 50000"/>
            </a:avLst>
          </a:prstGeom>
          <a:solidFill>
            <a:srgbClr val="191F28"/>
          </a:solidFill>
          <a:ln w="12700">
            <a:solidFill>
              <a:srgbClr val="191F28"/>
            </a:solidFill>
            <a:prstDash val="solid"/>
          </a:ln>
        </p:spPr>
      </p:sp>
      <p:sp>
        <p:nvSpPr>
          <p:cNvPr id="33" name="Text 30"/>
          <p:cNvSpPr txBox="1"/>
          <p:nvPr/>
        </p:nvSpPr>
        <p:spPr>
          <a:xfrm>
            <a:off x="685800" y="5650992"/>
            <a:ext cx="141351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함께 지킬 약속</a:t>
            </a:r>
            <a:endParaRPr lang="en-US" sz="1250" dirty="0"/>
          </a:p>
        </p:txBody>
      </p:sp>
      <p:sp>
        <p:nvSpPr>
          <p:cNvPr id="34" name="Text 31"/>
          <p:cNvSpPr txBox="1"/>
          <p:nvPr/>
        </p:nvSpPr>
        <p:spPr>
          <a:xfrm>
            <a:off x="2282190" y="5577840"/>
            <a:ext cx="9223705" cy="457200"/>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동의 없으면 보지 않기 · 자료 외부 반출 금지 · 미검증 책임은 사용자에게</a:t>
            </a:r>
            <a:endParaRPr lang="en-US" sz="1450" dirty="0"/>
          </a:p>
        </p:txBody>
      </p:sp>
      <p:sp>
        <p:nvSpPr>
          <p:cNvPr id="35" name="Text 32"/>
          <p:cNvSpPr txBox="1"/>
          <p:nvPr/>
        </p:nvSpPr>
        <p:spPr>
          <a:xfrm>
            <a:off x="548640" y="6108192"/>
            <a:ext cx="11094415" cy="219456"/>
          </a:xfrm>
          <a:prstGeom prst="rect">
            <a:avLst/>
          </a:prstGeom>
          <a:noFill/>
          <a:ln/>
        </p:spPr>
        <p:txBody>
          <a:bodyPr wrap="square" lIns="0" tIns="0" rIns="0" bIns="0" rtlCol="0" anchor="ctr"/>
          <a:lstStyle/>
          <a:p>
            <a:pPr indent="0" marL="0">
              <a:buNone/>
            </a:pPr>
            <a:r>
              <a:rPr lang="en-US" sz="1050" dirty="0">
                <a:solidFill>
                  <a:srgbClr val="8B95A1"/>
                </a:solidFill>
                <a:latin typeface="맑은 고딕" pitchFamily="34" charset="0"/>
                <a:ea typeface="맑은 고딕" pitchFamily="34" charset="-122"/>
                <a:cs typeface="맑은 고딕" pitchFamily="34" charset="-120"/>
              </a:rPr>
              <a:t>출처: MeAI 활용 가이드북 영업가족 편(2026.09) · 가이드북 v4(2026.10) p.73 · MeAI 화면 안내문</a:t>
            </a:r>
            <a:endParaRPr lang="en-US" sz="1050" dirty="0"/>
          </a:p>
        </p:txBody>
      </p:sp>
      <p:sp>
        <p:nvSpPr>
          <p:cNvPr id="36" name="Text 33"/>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7" name="Text 3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김민수 고객, 동의부터 받고 터치해요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상령일 2주 전 · AI 추천 고객 · MeAI 홈에서 리포트까지 따라 해요</a:t>
            </a:r>
            <a:endParaRPr lang="en-US" sz="1700" dirty="0"/>
          </a:p>
        </p:txBody>
      </p:sp>
      <p:sp>
        <p:nvSpPr>
          <p:cNvPr id="13" name="Shape 11"/>
          <p:cNvSpPr/>
          <p:nvPr/>
        </p:nvSpPr>
        <p:spPr>
          <a:xfrm>
            <a:off x="548640" y="1938528"/>
            <a:ext cx="2581580" cy="2487168"/>
          </a:xfrm>
          <a:prstGeom prst="roundRect">
            <a:avLst>
              <a:gd name="adj" fmla="val 5882"/>
            </a:avLst>
          </a:prstGeom>
          <a:solidFill>
            <a:srgbClr val="F2F4F6"/>
          </a:solidFill>
          <a:ln w="12700">
            <a:solidFill>
              <a:srgbClr val="F2F4F6"/>
            </a:solidFill>
            <a:prstDash val="solid"/>
          </a:ln>
        </p:spPr>
      </p:sp>
      <p:sp>
        <p:nvSpPr>
          <p:cNvPr id="14" name="Text 12"/>
          <p:cNvSpPr txBox="1"/>
          <p:nvPr/>
        </p:nvSpPr>
        <p:spPr>
          <a:xfrm>
            <a:off x="685800" y="1993392"/>
            <a:ext cx="2307260" cy="274320"/>
          </a:xfrm>
          <a:prstGeom prst="rect">
            <a:avLst/>
          </a:prstGeom>
          <a:noFill/>
          <a:ln/>
        </p:spPr>
        <p:txBody>
          <a:bodyPr wrap="square" lIns="0" tIns="0" rIns="0" bIns="0" rtlCol="0" anchor="ctr"/>
          <a:lstStyle/>
          <a:p>
            <a:pPr indent="0" marL="0">
              <a:buNone/>
            </a:pPr>
            <a:r>
              <a:rPr lang="en-US" sz="1250" b="1" dirty="0">
                <a:solidFill>
                  <a:srgbClr val="3182F6"/>
                </a:solidFill>
                <a:latin typeface="맑은 고딕" pitchFamily="34" charset="0"/>
                <a:ea typeface="맑은 고딕" pitchFamily="34" charset="-122"/>
                <a:cs typeface="맑은 고딕" pitchFamily="34" charset="-120"/>
              </a:rPr>
              <a:t>MeAI 홈</a:t>
            </a:r>
            <a:endParaRPr lang="en-US" sz="1250" dirty="0"/>
          </a:p>
        </p:txBody>
      </p:sp>
      <p:sp>
        <p:nvSpPr>
          <p:cNvPr id="15" name="Text 13"/>
          <p:cNvSpPr txBox="1"/>
          <p:nvPr/>
        </p:nvSpPr>
        <p:spPr>
          <a:xfrm>
            <a:off x="3130220" y="2907792"/>
            <a:ext cx="256032" cy="54864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6" name="Shape 14"/>
          <p:cNvSpPr/>
          <p:nvPr/>
        </p:nvSpPr>
        <p:spPr>
          <a:xfrm>
            <a:off x="3386252" y="1938528"/>
            <a:ext cx="2581580" cy="2487168"/>
          </a:xfrm>
          <a:prstGeom prst="roundRect">
            <a:avLst>
              <a:gd name="adj" fmla="val 5882"/>
            </a:avLst>
          </a:prstGeom>
          <a:solidFill>
            <a:srgbClr val="F2F4F6"/>
          </a:solidFill>
          <a:ln w="12700">
            <a:solidFill>
              <a:srgbClr val="F2F4F6"/>
            </a:solidFill>
            <a:prstDash val="solid"/>
          </a:ln>
        </p:spPr>
      </p:sp>
      <p:sp>
        <p:nvSpPr>
          <p:cNvPr id="17" name="Text 15"/>
          <p:cNvSpPr txBox="1"/>
          <p:nvPr/>
        </p:nvSpPr>
        <p:spPr>
          <a:xfrm>
            <a:off x="3523412" y="1993392"/>
            <a:ext cx="2307260" cy="274320"/>
          </a:xfrm>
          <a:prstGeom prst="rect">
            <a:avLst/>
          </a:prstGeom>
          <a:noFill/>
          <a:ln/>
        </p:spPr>
        <p:txBody>
          <a:bodyPr wrap="square" lIns="0" tIns="0" rIns="0" bIns="0" rtlCol="0" anchor="ctr"/>
          <a:lstStyle/>
          <a:p>
            <a:pPr indent="0" marL="0">
              <a:buNone/>
            </a:pPr>
            <a:r>
              <a:rPr lang="en-US" sz="1250" b="1" dirty="0">
                <a:solidFill>
                  <a:srgbClr val="3182F6"/>
                </a:solidFill>
                <a:latin typeface="맑은 고딕" pitchFamily="34" charset="0"/>
                <a:ea typeface="맑은 고딕" pitchFamily="34" charset="-122"/>
                <a:cs typeface="맑은 고딕" pitchFamily="34" charset="-120"/>
              </a:rPr>
              <a:t>고객찾기</a:t>
            </a:r>
            <a:endParaRPr lang="en-US" sz="1250" dirty="0"/>
          </a:p>
        </p:txBody>
      </p:sp>
      <p:sp>
        <p:nvSpPr>
          <p:cNvPr id="18" name="Text 16"/>
          <p:cNvSpPr txBox="1"/>
          <p:nvPr/>
        </p:nvSpPr>
        <p:spPr>
          <a:xfrm>
            <a:off x="5967832" y="2907792"/>
            <a:ext cx="256032" cy="54864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9" name="Shape 17"/>
          <p:cNvSpPr/>
          <p:nvPr/>
        </p:nvSpPr>
        <p:spPr>
          <a:xfrm>
            <a:off x="6223864" y="1938528"/>
            <a:ext cx="2581580" cy="2487168"/>
          </a:xfrm>
          <a:prstGeom prst="roundRect">
            <a:avLst>
              <a:gd name="adj" fmla="val 5882"/>
            </a:avLst>
          </a:prstGeom>
          <a:solidFill>
            <a:srgbClr val="F2F4F6"/>
          </a:solidFill>
          <a:ln w="12700">
            <a:solidFill>
              <a:srgbClr val="F2F4F6"/>
            </a:solidFill>
            <a:prstDash val="solid"/>
          </a:ln>
        </p:spPr>
      </p:sp>
      <p:sp>
        <p:nvSpPr>
          <p:cNvPr id="20" name="Text 18"/>
          <p:cNvSpPr txBox="1"/>
          <p:nvPr/>
        </p:nvSpPr>
        <p:spPr>
          <a:xfrm>
            <a:off x="6361024" y="1993392"/>
            <a:ext cx="2307260" cy="274320"/>
          </a:xfrm>
          <a:prstGeom prst="rect">
            <a:avLst/>
          </a:prstGeom>
          <a:noFill/>
          <a:ln/>
        </p:spPr>
        <p:txBody>
          <a:bodyPr wrap="square" lIns="0" tIns="0" rIns="0" bIns="0" rtlCol="0" anchor="ctr"/>
          <a:lstStyle/>
          <a:p>
            <a:pPr indent="0" marL="0">
              <a:buNone/>
            </a:pPr>
            <a:r>
              <a:rPr lang="en-US" sz="1250" b="1" dirty="0">
                <a:solidFill>
                  <a:srgbClr val="3182F6"/>
                </a:solidFill>
                <a:latin typeface="맑은 고딕" pitchFamily="34" charset="0"/>
                <a:ea typeface="맑은 고딕" pitchFamily="34" charset="-122"/>
                <a:cs typeface="맑은 고딕" pitchFamily="34" charset="-120"/>
              </a:rPr>
              <a:t>맞춤대화</a:t>
            </a:r>
            <a:endParaRPr lang="en-US" sz="1250" dirty="0"/>
          </a:p>
        </p:txBody>
      </p:sp>
      <p:sp>
        <p:nvSpPr>
          <p:cNvPr id="21" name="Text 19"/>
          <p:cNvSpPr txBox="1"/>
          <p:nvPr/>
        </p:nvSpPr>
        <p:spPr>
          <a:xfrm>
            <a:off x="8805443" y="2907792"/>
            <a:ext cx="256032" cy="54864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22" name="Shape 20"/>
          <p:cNvSpPr/>
          <p:nvPr/>
        </p:nvSpPr>
        <p:spPr>
          <a:xfrm>
            <a:off x="9061475" y="1938528"/>
            <a:ext cx="2581580" cy="2487168"/>
          </a:xfrm>
          <a:prstGeom prst="roundRect">
            <a:avLst>
              <a:gd name="adj" fmla="val 5882"/>
            </a:avLst>
          </a:prstGeom>
          <a:solidFill>
            <a:srgbClr val="F2F4F6"/>
          </a:solidFill>
          <a:ln w="12700">
            <a:solidFill>
              <a:srgbClr val="F2F4F6"/>
            </a:solidFill>
            <a:prstDash val="solid"/>
          </a:ln>
        </p:spPr>
      </p:sp>
      <p:sp>
        <p:nvSpPr>
          <p:cNvPr id="23" name="Text 21"/>
          <p:cNvSpPr txBox="1"/>
          <p:nvPr/>
        </p:nvSpPr>
        <p:spPr>
          <a:xfrm>
            <a:off x="9198635" y="1993392"/>
            <a:ext cx="2307260" cy="274320"/>
          </a:xfrm>
          <a:prstGeom prst="rect">
            <a:avLst/>
          </a:prstGeom>
          <a:noFill/>
          <a:ln/>
        </p:spPr>
        <p:txBody>
          <a:bodyPr wrap="square" lIns="0" tIns="0" rIns="0" bIns="0" rtlCol="0" anchor="ctr"/>
          <a:lstStyle/>
          <a:p>
            <a:pPr indent="0" marL="0">
              <a:buNone/>
            </a:pPr>
            <a:r>
              <a:rPr lang="en-US" sz="1250" b="1" dirty="0">
                <a:solidFill>
                  <a:srgbClr val="3182F6"/>
                </a:solidFill>
                <a:latin typeface="맑은 고딕" pitchFamily="34" charset="0"/>
                <a:ea typeface="맑은 고딕" pitchFamily="34" charset="-122"/>
                <a:cs typeface="맑은 고딕" pitchFamily="34" charset="-120"/>
              </a:rPr>
              <a:t>요약 리포트</a:t>
            </a:r>
            <a:endParaRPr lang="en-US" sz="1250" dirty="0"/>
          </a:p>
        </p:txBody>
      </p:sp>
      <p:pic>
        <p:nvPicPr>
          <p:cNvPr id="24" name="Image 0" descr="MeAI 화면 캡처">    </p:cNvPr>
          <p:cNvPicPr>
            <a:picLocks noChangeAspect="1"/>
          </p:cNvPicPr>
          <p:nvPr/>
        </p:nvPicPr>
        <p:blipFill>
          <a:blip r:embed="rId1"/>
          <a:stretch>
            <a:fillRect/>
          </a:stretch>
        </p:blipFill>
        <p:spPr>
          <a:xfrm>
            <a:off x="948013" y="2286000"/>
            <a:ext cx="1782834" cy="2048256"/>
          </a:xfrm>
          <a:prstGeom prst="rect">
            <a:avLst/>
          </a:prstGeom>
        </p:spPr>
      </p:pic>
      <p:sp>
        <p:nvSpPr>
          <p:cNvPr id="25" name="Shape 22"/>
          <p:cNvSpPr/>
          <p:nvPr/>
        </p:nvSpPr>
        <p:spPr>
          <a:xfrm>
            <a:off x="1060692" y="3718277"/>
            <a:ext cx="553380" cy="120191"/>
          </a:xfrm>
          <a:prstGeom prst="roundRect">
            <a:avLst>
              <a:gd name="adj" fmla="val 22824"/>
            </a:avLst>
          </a:prstGeom>
          <a:ln w="22225">
            <a:solidFill>
              <a:srgbClr val="F04452"/>
            </a:solidFill>
            <a:prstDash val="solid"/>
          </a:ln>
        </p:spPr>
      </p:sp>
      <p:pic>
        <p:nvPicPr>
          <p:cNvPr id="26" name="Image 1" descr="MeAI 화면 캡처">    </p:cNvPr>
          <p:cNvPicPr>
            <a:picLocks noChangeAspect="1"/>
          </p:cNvPicPr>
          <p:nvPr/>
        </p:nvPicPr>
        <p:blipFill>
          <a:blip r:embed="rId2"/>
          <a:stretch>
            <a:fillRect/>
          </a:stretch>
        </p:blipFill>
        <p:spPr>
          <a:xfrm>
            <a:off x="3495980" y="2350008"/>
            <a:ext cx="2362124" cy="711483"/>
          </a:xfrm>
          <a:prstGeom prst="rect">
            <a:avLst/>
          </a:prstGeom>
        </p:spPr>
      </p:pic>
      <p:sp>
        <p:nvSpPr>
          <p:cNvPr id="27" name="Text 23"/>
          <p:cNvSpPr txBox="1"/>
          <p:nvPr/>
        </p:nvSpPr>
        <p:spPr>
          <a:xfrm>
            <a:off x="3386252" y="3061491"/>
            <a:ext cx="2581580" cy="256032"/>
          </a:xfrm>
          <a:prstGeom prst="rect">
            <a:avLst/>
          </a:prstGeom>
          <a:noFill/>
          <a:ln/>
        </p:spPr>
        <p:txBody>
          <a:bodyPr wrap="square" lIns="0" tIns="0" rIns="0" bIns="0" rtlCol="0" anchor="ctr"/>
          <a:lstStyle/>
          <a:p>
            <a:pPr algn="ctr" indent="0" marL="0">
              <a:buNone/>
            </a:pPr>
            <a:r>
              <a:rPr lang="en-US" sz="1400" dirty="0">
                <a:solidFill>
                  <a:srgbClr val="B0B8C1"/>
                </a:solidFill>
                <a:latin typeface="맑은 고딕" pitchFamily="34" charset="0"/>
                <a:ea typeface="맑은 고딕" pitchFamily="34" charset="-122"/>
                <a:cs typeface="맑은 고딕" pitchFamily="34" charset="-120"/>
              </a:rPr>
              <a:t>↓</a:t>
            </a:r>
            <a:endParaRPr lang="en-US" sz="1400" dirty="0"/>
          </a:p>
        </p:txBody>
      </p:sp>
      <p:pic>
        <p:nvPicPr>
          <p:cNvPr id="28" name="Image 2" descr="MeAI 화면 캡처">    </p:cNvPr>
          <p:cNvPicPr>
            <a:picLocks noChangeAspect="1"/>
          </p:cNvPicPr>
          <p:nvPr/>
        </p:nvPicPr>
        <p:blipFill>
          <a:blip r:embed="rId3"/>
          <a:stretch>
            <a:fillRect/>
          </a:stretch>
        </p:blipFill>
        <p:spPr>
          <a:xfrm>
            <a:off x="3569132" y="3335811"/>
            <a:ext cx="2215820" cy="1129724"/>
          </a:xfrm>
          <a:prstGeom prst="rect">
            <a:avLst/>
          </a:prstGeom>
        </p:spPr>
      </p:pic>
      <p:sp>
        <p:nvSpPr>
          <p:cNvPr id="29" name="Shape 24"/>
          <p:cNvSpPr/>
          <p:nvPr/>
        </p:nvSpPr>
        <p:spPr>
          <a:xfrm>
            <a:off x="6406744" y="2350008"/>
            <a:ext cx="2063496" cy="292608"/>
          </a:xfrm>
          <a:prstGeom prst="roundRect">
            <a:avLst>
              <a:gd name="adj" fmla="val 50000"/>
            </a:avLst>
          </a:prstGeom>
          <a:solidFill>
            <a:srgbClr val="FFFFFF"/>
          </a:solidFill>
          <a:ln w="12700">
            <a:solidFill>
              <a:srgbClr val="FFFFFF"/>
            </a:solidFill>
            <a:prstDash val="solid"/>
          </a:ln>
        </p:spPr>
      </p:sp>
      <p:sp>
        <p:nvSpPr>
          <p:cNvPr id="30" name="Text 25"/>
          <p:cNvSpPr txBox="1"/>
          <p:nvPr/>
        </p:nvSpPr>
        <p:spPr>
          <a:xfrm>
            <a:off x="6406744" y="2350008"/>
            <a:ext cx="2063496" cy="292608"/>
          </a:xfrm>
          <a:prstGeom prst="rect">
            <a:avLst/>
          </a:prstGeom>
          <a:noFill/>
          <a:ln/>
        </p:spPr>
        <p:txBody>
          <a:bodyPr wrap="square" lIns="0" tIns="0" rIns="0" bIns="0" rtlCol="0" anchor="ctr"/>
          <a:lstStyle/>
          <a:p>
            <a:pPr algn="ctr" indent="0" marL="0">
              <a:buNone/>
            </a:pPr>
            <a:r>
              <a:rPr lang="en-US" sz="1200" b="1" dirty="0">
                <a:solidFill>
                  <a:srgbClr val="4E5968"/>
                </a:solidFill>
                <a:latin typeface="맑은 고딕" pitchFamily="34" charset="0"/>
                <a:ea typeface="맑은 고딕" pitchFamily="34" charset="-122"/>
                <a:cs typeface="맑은 고딕" pitchFamily="34" charset="-120"/>
              </a:rPr>
              <a:t>동의 반영 뒤 · 15분 안팎</a:t>
            </a:r>
            <a:endParaRPr lang="en-US" sz="1200" dirty="0"/>
          </a:p>
        </p:txBody>
      </p:sp>
      <p:sp>
        <p:nvSpPr>
          <p:cNvPr id="31" name="Text 26"/>
          <p:cNvSpPr txBox="1"/>
          <p:nvPr/>
        </p:nvSpPr>
        <p:spPr>
          <a:xfrm>
            <a:off x="6406744" y="2761488"/>
            <a:ext cx="2215820" cy="274320"/>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MeAI에게 첫 질문</a:t>
            </a:r>
            <a:endParaRPr lang="en-US" sz="1300" dirty="0"/>
          </a:p>
        </p:txBody>
      </p:sp>
      <p:sp>
        <p:nvSpPr>
          <p:cNvPr id="32" name="Shape 27"/>
          <p:cNvSpPr/>
          <p:nvPr/>
        </p:nvSpPr>
        <p:spPr>
          <a:xfrm>
            <a:off x="6361024" y="3054096"/>
            <a:ext cx="2307260" cy="1207008"/>
          </a:xfrm>
          <a:prstGeom prst="roundRect">
            <a:avLst>
              <a:gd name="adj" fmla="val 10606"/>
            </a:avLst>
          </a:prstGeom>
          <a:solidFill>
            <a:srgbClr val="FFFFFF"/>
          </a:solidFill>
          <a:ln w="15875">
            <a:solidFill>
              <a:srgbClr val="3182F6"/>
            </a:solidFill>
            <a:prstDash val="solid"/>
          </a:ln>
        </p:spPr>
      </p:sp>
      <p:sp>
        <p:nvSpPr>
          <p:cNvPr id="33" name="Text 28"/>
          <p:cNvSpPr txBox="1"/>
          <p:nvPr/>
        </p:nvSpPr>
        <p:spPr>
          <a:xfrm>
            <a:off x="6498184" y="3054096"/>
            <a:ext cx="2078660" cy="1207008"/>
          </a:xfrm>
          <a:prstGeom prst="rect">
            <a:avLst/>
          </a:prstGeom>
          <a:noFill/>
          <a:ln/>
        </p:spPr>
        <p:txBody>
          <a:bodyPr wrap="square" lIns="0" tIns="0" rIns="0" bIns="0" rtlCol="0" anchor="ctr"/>
          <a:lstStyle/>
          <a:p>
            <a:pPr indent="0" marL="0">
              <a:lnSpc>
                <a:spcPct val="118000"/>
              </a:lnSpc>
              <a:buNone/>
            </a:pPr>
            <a:r>
              <a:rPr lang="en-US" sz="1450" b="1" dirty="0">
                <a:solidFill>
                  <a:srgbClr val="191F28"/>
                </a:solidFill>
                <a:latin typeface="맑은 고딕" pitchFamily="34" charset="0"/>
                <a:ea typeface="맑은 고딕" pitchFamily="34" charset="-122"/>
                <a:cs typeface="맑은 고딕" pitchFamily="34" charset="-120"/>
              </a:rPr>
              <a:t>“상령일 전에 암진단비를 늘려야 하는 이유를 쉽게 설명해줘”</a:t>
            </a:r>
            <a:endParaRPr lang="en-US" sz="1450" dirty="0"/>
          </a:p>
        </p:txBody>
      </p:sp>
      <p:pic>
        <p:nvPicPr>
          <p:cNvPr id="34" name="Image 3" descr="MeAI 화면 캡처">    </p:cNvPr>
          <p:cNvPicPr>
            <a:picLocks noChangeAspect="1"/>
          </p:cNvPicPr>
          <p:nvPr/>
        </p:nvPicPr>
        <p:blipFill>
          <a:blip r:embed="rId4"/>
          <a:stretch>
            <a:fillRect/>
          </a:stretch>
        </p:blipFill>
        <p:spPr>
          <a:xfrm>
            <a:off x="9316762" y="2304288"/>
            <a:ext cx="998188" cy="2029968"/>
          </a:xfrm>
          <a:prstGeom prst="rect">
            <a:avLst/>
          </a:prstGeom>
        </p:spPr>
      </p:pic>
      <p:sp>
        <p:nvSpPr>
          <p:cNvPr id="35" name="Text 29"/>
          <p:cNvSpPr txBox="1"/>
          <p:nvPr/>
        </p:nvSpPr>
        <p:spPr>
          <a:xfrm>
            <a:off x="10433075" y="3858768"/>
            <a:ext cx="1118540" cy="457200"/>
          </a:xfrm>
          <a:prstGeom prst="rect">
            <a:avLst/>
          </a:prstGeom>
          <a:noFill/>
          <a:ln/>
        </p:spPr>
        <p:txBody>
          <a:bodyPr wrap="square" lIns="0" tIns="0" rIns="0" bIns="0" rtlCol="0" anchor="b"/>
          <a:lstStyle/>
          <a:p>
            <a:pPr indent="0" marL="0">
              <a:buNone/>
            </a:pPr>
            <a:r>
              <a:rPr lang="en-US" sz="1100" dirty="0">
                <a:solidFill>
                  <a:srgbClr val="8B95A1"/>
                </a:solidFill>
                <a:latin typeface="맑은 고딕" pitchFamily="34" charset="0"/>
                <a:ea typeface="맑은 고딕" pitchFamily="34" charset="-122"/>
                <a:cs typeface="맑은 고딕" pitchFamily="34" charset="-120"/>
              </a:rPr>
              <a:t>2026.06 실제 화면</a:t>
            </a:r>
            <a:endParaRPr lang="en-US" sz="1100" dirty="0"/>
          </a:p>
        </p:txBody>
      </p:sp>
      <p:sp>
        <p:nvSpPr>
          <p:cNvPr id="36" name="Shape 30"/>
          <p:cNvSpPr/>
          <p:nvPr/>
        </p:nvSpPr>
        <p:spPr>
          <a:xfrm>
            <a:off x="548640" y="4572000"/>
            <a:ext cx="347472" cy="347472"/>
          </a:xfrm>
          <a:prstGeom prst="ellipse">
            <a:avLst/>
          </a:prstGeom>
          <a:solidFill>
            <a:srgbClr val="3182F6"/>
          </a:solidFill>
          <a:ln w="19050">
            <a:solidFill>
              <a:srgbClr val="FFFFFF"/>
            </a:solidFill>
            <a:prstDash val="solid"/>
          </a:ln>
        </p:spPr>
      </p:sp>
      <p:sp>
        <p:nvSpPr>
          <p:cNvPr id="37" name="Text 31"/>
          <p:cNvSpPr txBox="1"/>
          <p:nvPr/>
        </p:nvSpPr>
        <p:spPr>
          <a:xfrm>
            <a:off x="548640" y="4572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8" name="Text 32"/>
          <p:cNvSpPr txBox="1"/>
          <p:nvPr/>
        </p:nvSpPr>
        <p:spPr>
          <a:xfrm>
            <a:off x="969264" y="4544568"/>
            <a:ext cx="2160956"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MeAI 홈 카드 읽기</a:t>
            </a:r>
            <a:endParaRPr lang="en-US" sz="1550" dirty="0"/>
          </a:p>
        </p:txBody>
      </p:sp>
      <p:sp>
        <p:nvSpPr>
          <p:cNvPr id="39" name="Text 33"/>
          <p:cNvSpPr txBox="1"/>
          <p:nvPr/>
        </p:nvSpPr>
        <p:spPr>
          <a:xfrm>
            <a:off x="969264" y="4919472"/>
            <a:ext cx="2160956" cy="457200"/>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상령일 2주 · 암진단비 1천만원</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동의 필요 표시 → 알림톡부터</a:t>
            </a:r>
            <a:endParaRPr lang="en-US" sz="1200" dirty="0"/>
          </a:p>
        </p:txBody>
      </p:sp>
      <p:sp>
        <p:nvSpPr>
          <p:cNvPr id="40" name="Shape 34"/>
          <p:cNvSpPr/>
          <p:nvPr/>
        </p:nvSpPr>
        <p:spPr>
          <a:xfrm>
            <a:off x="3386252" y="4572000"/>
            <a:ext cx="347472" cy="347472"/>
          </a:xfrm>
          <a:prstGeom prst="ellipse">
            <a:avLst/>
          </a:prstGeom>
          <a:solidFill>
            <a:srgbClr val="3182F6"/>
          </a:solidFill>
          <a:ln w="19050">
            <a:solidFill>
              <a:srgbClr val="FFFFFF"/>
            </a:solidFill>
            <a:prstDash val="solid"/>
          </a:ln>
        </p:spPr>
      </p:sp>
      <p:sp>
        <p:nvSpPr>
          <p:cNvPr id="41" name="Text 35"/>
          <p:cNvSpPr txBox="1"/>
          <p:nvPr/>
        </p:nvSpPr>
        <p:spPr>
          <a:xfrm>
            <a:off x="3386252" y="4572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42" name="Text 36"/>
          <p:cNvSpPr txBox="1"/>
          <p:nvPr/>
        </p:nvSpPr>
        <p:spPr>
          <a:xfrm>
            <a:off x="3806876" y="4544568"/>
            <a:ext cx="2160956"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첫 말 → 알림톡 보내기</a:t>
            </a:r>
            <a:endParaRPr lang="en-US" sz="1550" dirty="0"/>
          </a:p>
        </p:txBody>
      </p:sp>
      <p:sp>
        <p:nvSpPr>
          <p:cNvPr id="43" name="Text 37"/>
          <p:cNvSpPr txBox="1"/>
          <p:nvPr/>
        </p:nvSpPr>
        <p:spPr>
          <a:xfrm>
            <a:off x="3806876" y="4919472"/>
            <a:ext cx="2160956" cy="457200"/>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[사전조회동의 요청하기]</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휴대폰 번호 넣고 [보내기]</a:t>
            </a:r>
            <a:endParaRPr lang="en-US" sz="1200" dirty="0"/>
          </a:p>
        </p:txBody>
      </p:sp>
      <p:sp>
        <p:nvSpPr>
          <p:cNvPr id="44" name="Shape 38"/>
          <p:cNvSpPr/>
          <p:nvPr/>
        </p:nvSpPr>
        <p:spPr>
          <a:xfrm>
            <a:off x="6223864" y="4572000"/>
            <a:ext cx="347472" cy="347472"/>
          </a:xfrm>
          <a:prstGeom prst="ellipse">
            <a:avLst/>
          </a:prstGeom>
          <a:solidFill>
            <a:srgbClr val="3182F6"/>
          </a:solidFill>
          <a:ln w="19050">
            <a:solidFill>
              <a:srgbClr val="FFFFFF"/>
            </a:solidFill>
            <a:prstDash val="solid"/>
          </a:ln>
        </p:spPr>
      </p:sp>
      <p:sp>
        <p:nvSpPr>
          <p:cNvPr id="45" name="Text 39"/>
          <p:cNvSpPr txBox="1"/>
          <p:nvPr/>
        </p:nvSpPr>
        <p:spPr>
          <a:xfrm>
            <a:off x="6223864" y="4572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6" name="Text 40"/>
          <p:cNvSpPr txBox="1"/>
          <p:nvPr/>
        </p:nvSpPr>
        <p:spPr>
          <a:xfrm>
            <a:off x="6644488" y="4544568"/>
            <a:ext cx="2160956"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동의 뒤 진단비 점검</a:t>
            </a:r>
            <a:endParaRPr lang="en-US" sz="1550" dirty="0"/>
          </a:p>
        </p:txBody>
      </p:sp>
      <p:sp>
        <p:nvSpPr>
          <p:cNvPr id="47" name="Text 41"/>
          <p:cNvSpPr txBox="1"/>
          <p:nvPr/>
        </p:nvSpPr>
        <p:spPr>
          <a:xfrm>
            <a:off x="6644488" y="4919472"/>
            <a:ext cx="2160956" cy="457200"/>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 고객으로 맞춤대화 시작]</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 [보장분석 해줘] → 첫 질문</a:t>
            </a:r>
            <a:endParaRPr lang="en-US" sz="1200" dirty="0"/>
          </a:p>
        </p:txBody>
      </p:sp>
      <p:sp>
        <p:nvSpPr>
          <p:cNvPr id="48" name="Shape 42"/>
          <p:cNvSpPr/>
          <p:nvPr/>
        </p:nvSpPr>
        <p:spPr>
          <a:xfrm>
            <a:off x="9061475" y="4572000"/>
            <a:ext cx="347472" cy="347472"/>
          </a:xfrm>
          <a:prstGeom prst="ellipse">
            <a:avLst/>
          </a:prstGeom>
          <a:solidFill>
            <a:srgbClr val="3182F6"/>
          </a:solidFill>
          <a:ln w="19050">
            <a:solidFill>
              <a:srgbClr val="FFFFFF"/>
            </a:solidFill>
            <a:prstDash val="solid"/>
          </a:ln>
        </p:spPr>
      </p:sp>
      <p:sp>
        <p:nvSpPr>
          <p:cNvPr id="49" name="Text 43"/>
          <p:cNvSpPr txBox="1"/>
          <p:nvPr/>
        </p:nvSpPr>
        <p:spPr>
          <a:xfrm>
            <a:off x="9061475" y="4572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50" name="Text 44"/>
          <p:cNvSpPr txBox="1"/>
          <p:nvPr/>
        </p:nvSpPr>
        <p:spPr>
          <a:xfrm>
            <a:off x="9482099" y="4544568"/>
            <a:ext cx="2160956" cy="384048"/>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상령일 전 제안</a:t>
            </a:r>
            <a:endParaRPr lang="en-US" sz="1550" dirty="0"/>
          </a:p>
        </p:txBody>
      </p:sp>
      <p:sp>
        <p:nvSpPr>
          <p:cNvPr id="51" name="Text 45"/>
          <p:cNvSpPr txBox="1"/>
          <p:nvPr/>
        </p:nvSpPr>
        <p:spPr>
          <a:xfrm>
            <a:off x="9482099" y="4919472"/>
            <a:ext cx="2160956" cy="457200"/>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인상 전 가입의 이점을</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요약 리포트로 보내요</a:t>
            </a:r>
            <a:endParaRPr lang="en-US" sz="1200" dirty="0"/>
          </a:p>
        </p:txBody>
      </p:sp>
      <p:sp>
        <p:nvSpPr>
          <p:cNvPr id="52" name="Shape 46"/>
          <p:cNvSpPr/>
          <p:nvPr/>
        </p:nvSpPr>
        <p:spPr>
          <a:xfrm>
            <a:off x="548640" y="5468112"/>
            <a:ext cx="11094415" cy="566928"/>
          </a:xfrm>
          <a:prstGeom prst="roundRect">
            <a:avLst>
              <a:gd name="adj" fmla="val 22581"/>
            </a:avLst>
          </a:prstGeom>
          <a:solidFill>
            <a:srgbClr val="191F28"/>
          </a:solidFill>
          <a:ln w="12700">
            <a:solidFill>
              <a:srgbClr val="191F28"/>
            </a:solidFill>
            <a:prstDash val="solid"/>
          </a:ln>
        </p:spPr>
      </p:sp>
      <p:sp>
        <p:nvSpPr>
          <p:cNvPr id="53" name="Text 47"/>
          <p:cNvSpPr txBox="1"/>
          <p:nvPr/>
        </p:nvSpPr>
        <p:spPr>
          <a:xfrm>
            <a:off x="868680" y="5468112"/>
            <a:ext cx="10454335" cy="566928"/>
          </a:xfrm>
          <a:prstGeom prst="rect">
            <a:avLst/>
          </a:prstGeom>
          <a:noFill/>
          <a:ln/>
        </p:spPr>
        <p:txBody>
          <a:bodyPr wrap="square" lIns="0" tIns="0" rIns="0" bIns="0" rtlCol="0" anchor="ctr"/>
          <a:lstStyle/>
          <a:p>
            <a:pPr indent="0" marL="0">
              <a:buNone/>
            </a:pPr>
            <a:r>
              <a:rPr lang="en-US" sz="1600" b="1" dirty="0">
                <a:solidFill>
                  <a:srgbClr val="C9E2FF"/>
                </a:solidFill>
                <a:latin typeface="맑은 고딕" pitchFamily="34" charset="0"/>
                <a:ea typeface="맑은 고딕" pitchFamily="34" charset="-122"/>
                <a:cs typeface="맑은 고딕" pitchFamily="34" charset="-120"/>
              </a:rPr>
              <a:t>고객에게 첫 말   </a:t>
            </a:r>
            <a:pPr indent="0" marL="0">
              <a:buNone/>
            </a:pPr>
            <a:r>
              <a:rPr lang="en-US" sz="1600" b="1" dirty="0">
                <a:solidFill>
                  <a:srgbClr val="FFFFFF"/>
                </a:solidFill>
                <a:latin typeface="맑은 고딕" pitchFamily="34" charset="0"/>
                <a:ea typeface="맑은 고딕" pitchFamily="34" charset="-122"/>
                <a:cs typeface="맑은 고딕" pitchFamily="34" charset="-120"/>
              </a:rPr>
              <a:t>“고객님, 2주 뒤 보험 나이가 올라가요. 그 전에 점검하려고 동의 알림톡 보내요.”</a:t>
            </a:r>
            <a:endParaRPr lang="en-US" sz="1600" dirty="0"/>
          </a:p>
        </p:txBody>
      </p:sp>
      <p:sp>
        <p:nvSpPr>
          <p:cNvPr id="54" name="Text 48"/>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 화면의 이름·나이·담당·숫자는 예시 · 15분 안팎·첫 말·첫 질문: MeAI 활용 가이드북 v4 p.45·62</a:t>
            </a:r>
            <a:endParaRPr lang="en-US" sz="1100" dirty="0"/>
          </a:p>
        </p:txBody>
      </p:sp>
      <p:sp>
        <p:nvSpPr>
          <p:cNvPr id="55" name="Text 4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고객에게 첫 말, MeAI에게 첫 질문</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카드가 달라도 짝은 같아요. 오늘 한 분께 터치해 보세요.</a:t>
            </a:r>
            <a:endParaRPr lang="en-US" sz="1700" dirty="0"/>
          </a:p>
        </p:txBody>
      </p:sp>
      <p:sp>
        <p:nvSpPr>
          <p:cNvPr id="13" name="Shape 11"/>
          <p:cNvSpPr/>
          <p:nvPr/>
        </p:nvSpPr>
        <p:spPr>
          <a:xfrm>
            <a:off x="548640" y="1920240"/>
            <a:ext cx="2697480" cy="347472"/>
          </a:xfrm>
          <a:prstGeom prst="roundRect">
            <a:avLst>
              <a:gd name="adj" fmla="val 26316"/>
            </a:avLst>
          </a:prstGeom>
          <a:solidFill>
            <a:srgbClr val="F2F4F6"/>
          </a:solidFill>
          <a:ln w="12700">
            <a:solidFill>
              <a:srgbClr val="F2F4F6"/>
            </a:solidFill>
            <a:prstDash val="solid"/>
          </a:ln>
        </p:spPr>
      </p:sp>
      <p:sp>
        <p:nvSpPr>
          <p:cNvPr id="14" name="Text 12"/>
          <p:cNvSpPr txBox="1"/>
          <p:nvPr/>
        </p:nvSpPr>
        <p:spPr>
          <a:xfrm>
            <a:off x="685800" y="1920240"/>
            <a:ext cx="2514600" cy="347472"/>
          </a:xfrm>
          <a:prstGeom prst="rect">
            <a:avLst/>
          </a:prstGeom>
          <a:noFill/>
          <a:ln/>
        </p:spPr>
        <p:txBody>
          <a:bodyPr wrap="square" lIns="0" tIns="0" rIns="0" bIns="0" rtlCol="0" anchor="ctr"/>
          <a:lstStyle/>
          <a:p>
            <a:pPr indent="0" marL="0">
              <a:buNone/>
            </a:pPr>
            <a:r>
              <a:rPr lang="en-US" sz="1400" b="1" dirty="0">
                <a:solidFill>
                  <a:srgbClr val="4E5968"/>
                </a:solidFill>
                <a:latin typeface="맑은 고딕" pitchFamily="34" charset="0"/>
                <a:ea typeface="맑은 고딕" pitchFamily="34" charset="-122"/>
                <a:cs typeface="맑은 고딕" pitchFamily="34" charset="-120"/>
              </a:rPr>
              <a:t>상황</a:t>
            </a:r>
            <a:endParaRPr lang="en-US" sz="1400" dirty="0"/>
          </a:p>
        </p:txBody>
      </p:sp>
      <p:sp>
        <p:nvSpPr>
          <p:cNvPr id="15" name="Shape 13"/>
          <p:cNvSpPr/>
          <p:nvPr/>
        </p:nvSpPr>
        <p:spPr>
          <a:xfrm>
            <a:off x="3337560" y="1920240"/>
            <a:ext cx="4754880" cy="347472"/>
          </a:xfrm>
          <a:prstGeom prst="roundRect">
            <a:avLst>
              <a:gd name="adj" fmla="val 26316"/>
            </a:avLst>
          </a:prstGeom>
          <a:solidFill>
            <a:srgbClr val="F2F4F6"/>
          </a:solidFill>
          <a:ln w="12700">
            <a:solidFill>
              <a:srgbClr val="F2F4F6"/>
            </a:solidFill>
            <a:prstDash val="solid"/>
          </a:ln>
        </p:spPr>
      </p:sp>
      <p:sp>
        <p:nvSpPr>
          <p:cNvPr id="16" name="Text 14"/>
          <p:cNvSpPr txBox="1"/>
          <p:nvPr/>
        </p:nvSpPr>
        <p:spPr>
          <a:xfrm>
            <a:off x="3474720" y="1920240"/>
            <a:ext cx="4572000" cy="347472"/>
          </a:xfrm>
          <a:prstGeom prst="rect">
            <a:avLst/>
          </a:prstGeom>
          <a:noFill/>
          <a:ln/>
        </p:spPr>
        <p:txBody>
          <a:bodyPr wrap="square" lIns="0" tIns="0" rIns="0" bIns="0" rtlCol="0" anchor="ctr"/>
          <a:lstStyle/>
          <a:p>
            <a:pPr indent="0" marL="0">
              <a:buNone/>
            </a:pPr>
            <a:r>
              <a:rPr lang="en-US" sz="1400" b="1" dirty="0">
                <a:solidFill>
                  <a:srgbClr val="4E5968"/>
                </a:solidFill>
                <a:latin typeface="맑은 고딕" pitchFamily="34" charset="0"/>
                <a:ea typeface="맑은 고딕" pitchFamily="34" charset="-122"/>
                <a:cs typeface="맑은 고딕" pitchFamily="34" charset="-120"/>
              </a:rPr>
              <a:t>고객에게 첫 말</a:t>
            </a:r>
            <a:endParaRPr lang="en-US" sz="1400" dirty="0"/>
          </a:p>
        </p:txBody>
      </p:sp>
      <p:sp>
        <p:nvSpPr>
          <p:cNvPr id="17" name="Shape 15"/>
          <p:cNvSpPr/>
          <p:nvPr/>
        </p:nvSpPr>
        <p:spPr>
          <a:xfrm>
            <a:off x="8183880" y="1920240"/>
            <a:ext cx="3456432" cy="347472"/>
          </a:xfrm>
          <a:prstGeom prst="roundRect">
            <a:avLst>
              <a:gd name="adj" fmla="val 26316"/>
            </a:avLst>
          </a:prstGeom>
          <a:solidFill>
            <a:srgbClr val="F2F4F6"/>
          </a:solidFill>
          <a:ln w="12700">
            <a:solidFill>
              <a:srgbClr val="F2F4F6"/>
            </a:solidFill>
            <a:prstDash val="solid"/>
          </a:ln>
        </p:spPr>
      </p:sp>
      <p:sp>
        <p:nvSpPr>
          <p:cNvPr id="18" name="Text 16"/>
          <p:cNvSpPr txBox="1"/>
          <p:nvPr/>
        </p:nvSpPr>
        <p:spPr>
          <a:xfrm>
            <a:off x="8321040" y="1920240"/>
            <a:ext cx="3273552" cy="347472"/>
          </a:xfrm>
          <a:prstGeom prst="rect">
            <a:avLst/>
          </a:prstGeom>
          <a:noFill/>
          <a:ln/>
        </p:spPr>
        <p:txBody>
          <a:bodyPr wrap="square" lIns="0" tIns="0" rIns="0" bIns="0" rtlCol="0" anchor="ctr"/>
          <a:lstStyle/>
          <a:p>
            <a:pPr indent="0" marL="0">
              <a:buNone/>
            </a:pPr>
            <a:r>
              <a:rPr lang="en-US" sz="1400" b="1" dirty="0">
                <a:solidFill>
                  <a:srgbClr val="4E5968"/>
                </a:solidFill>
                <a:latin typeface="맑은 고딕" pitchFamily="34" charset="0"/>
                <a:ea typeface="맑은 고딕" pitchFamily="34" charset="-122"/>
                <a:cs typeface="맑은 고딕" pitchFamily="34" charset="-120"/>
              </a:rPr>
              <a:t>MeAI에게 첫 질문</a:t>
            </a:r>
            <a:endParaRPr lang="en-US" sz="1400" dirty="0"/>
          </a:p>
        </p:txBody>
      </p:sp>
      <p:sp>
        <p:nvSpPr>
          <p:cNvPr id="19" name="Shape 17"/>
          <p:cNvSpPr/>
          <p:nvPr/>
        </p:nvSpPr>
        <p:spPr>
          <a:xfrm>
            <a:off x="548640" y="2340864"/>
            <a:ext cx="2697480" cy="1005840"/>
          </a:xfrm>
          <a:prstGeom prst="roundRect">
            <a:avLst>
              <a:gd name="adj" fmla="val 10909"/>
            </a:avLst>
          </a:prstGeom>
          <a:solidFill>
            <a:srgbClr val="F9FAFB"/>
          </a:solidFill>
          <a:ln w="12700">
            <a:solidFill>
              <a:srgbClr val="F9FAFB"/>
            </a:solidFill>
            <a:prstDash val="solid"/>
          </a:ln>
        </p:spPr>
      </p:sp>
      <p:sp>
        <p:nvSpPr>
          <p:cNvPr id="20" name="Shape 18"/>
          <p:cNvSpPr/>
          <p:nvPr/>
        </p:nvSpPr>
        <p:spPr>
          <a:xfrm>
            <a:off x="3337560" y="2340864"/>
            <a:ext cx="4754880" cy="1005840"/>
          </a:xfrm>
          <a:prstGeom prst="roundRect">
            <a:avLst>
              <a:gd name="adj" fmla="val 10909"/>
            </a:avLst>
          </a:prstGeom>
          <a:solidFill>
            <a:srgbClr val="F9FAFB"/>
          </a:solidFill>
          <a:ln w="12700">
            <a:solidFill>
              <a:srgbClr val="F9FAFB"/>
            </a:solidFill>
            <a:prstDash val="solid"/>
          </a:ln>
        </p:spPr>
      </p:sp>
      <p:sp>
        <p:nvSpPr>
          <p:cNvPr id="21" name="Shape 19"/>
          <p:cNvSpPr/>
          <p:nvPr/>
        </p:nvSpPr>
        <p:spPr>
          <a:xfrm>
            <a:off x="8183880" y="2340864"/>
            <a:ext cx="3456432" cy="1005840"/>
          </a:xfrm>
          <a:prstGeom prst="roundRect">
            <a:avLst>
              <a:gd name="adj" fmla="val 10909"/>
            </a:avLst>
          </a:prstGeom>
          <a:solidFill>
            <a:srgbClr val="F9FAFB"/>
          </a:solidFill>
          <a:ln w="12700">
            <a:solidFill>
              <a:srgbClr val="F9FAFB"/>
            </a:solidFill>
            <a:prstDash val="solid"/>
          </a:ln>
        </p:spPr>
      </p:sp>
      <p:pic>
        <p:nvPicPr>
          <p:cNvPr id="22" name="Image 0" descr="MeAI 화면 캡처">    </p:cNvPr>
          <p:cNvPicPr>
            <a:picLocks noChangeAspect="1"/>
          </p:cNvPicPr>
          <p:nvPr/>
        </p:nvPicPr>
        <p:blipFill>
          <a:blip r:embed="rId1"/>
          <a:stretch>
            <a:fillRect/>
          </a:stretch>
        </p:blipFill>
        <p:spPr>
          <a:xfrm>
            <a:off x="692384" y="2404872"/>
            <a:ext cx="764072" cy="877824"/>
          </a:xfrm>
          <a:prstGeom prst="rect">
            <a:avLst/>
          </a:prstGeom>
        </p:spPr>
      </p:pic>
      <p:sp>
        <p:nvSpPr>
          <p:cNvPr id="23" name="Shape 20"/>
          <p:cNvSpPr/>
          <p:nvPr/>
        </p:nvSpPr>
        <p:spPr>
          <a:xfrm>
            <a:off x="740675" y="3018705"/>
            <a:ext cx="237163" cy="51510"/>
          </a:xfrm>
          <a:prstGeom prst="rect">
            <a:avLst/>
          </a:prstGeom>
          <a:ln w="15875">
            <a:solidFill>
              <a:srgbClr val="F04452"/>
            </a:solidFill>
            <a:prstDash val="solid"/>
          </a:ln>
        </p:spPr>
      </p:sp>
      <p:sp>
        <p:nvSpPr>
          <p:cNvPr id="24" name="Shape 21"/>
          <p:cNvSpPr/>
          <p:nvPr/>
        </p:nvSpPr>
        <p:spPr>
          <a:xfrm>
            <a:off x="438912" y="2249424"/>
            <a:ext cx="310896" cy="310896"/>
          </a:xfrm>
          <a:prstGeom prst="ellipse">
            <a:avLst/>
          </a:prstGeom>
          <a:solidFill>
            <a:srgbClr val="3182F6"/>
          </a:solidFill>
          <a:ln w="19050">
            <a:solidFill>
              <a:srgbClr val="FFFFFF"/>
            </a:solidFill>
            <a:prstDash val="solid"/>
          </a:ln>
        </p:spPr>
      </p:sp>
      <p:sp>
        <p:nvSpPr>
          <p:cNvPr id="25" name="Text 22"/>
          <p:cNvSpPr txBox="1"/>
          <p:nvPr/>
        </p:nvSpPr>
        <p:spPr>
          <a:xfrm>
            <a:off x="438912" y="2249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26" name="Text 23"/>
          <p:cNvSpPr txBox="1"/>
          <p:nvPr/>
        </p:nvSpPr>
        <p:spPr>
          <a:xfrm>
            <a:off x="1572768" y="2432304"/>
            <a:ext cx="1600200" cy="329184"/>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상령일 2주 전</a:t>
            </a:r>
            <a:endParaRPr lang="en-US" sz="1500" dirty="0"/>
          </a:p>
        </p:txBody>
      </p:sp>
      <p:sp>
        <p:nvSpPr>
          <p:cNvPr id="27" name="Text 24"/>
          <p:cNvSpPr txBox="1"/>
          <p:nvPr/>
        </p:nvSpPr>
        <p:spPr>
          <a:xfrm>
            <a:off x="1572768" y="2761488"/>
            <a:ext cx="1600200" cy="274320"/>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동의 필요 · 앞 장 김민수</a:t>
            </a:r>
            <a:endParaRPr lang="en-US" sz="1200" dirty="0"/>
          </a:p>
        </p:txBody>
      </p:sp>
      <p:sp>
        <p:nvSpPr>
          <p:cNvPr id="28" name="Shape 25"/>
          <p:cNvSpPr/>
          <p:nvPr/>
        </p:nvSpPr>
        <p:spPr>
          <a:xfrm>
            <a:off x="1572768" y="3035808"/>
            <a:ext cx="1096010" cy="256032"/>
          </a:xfrm>
          <a:prstGeom prst="roundRect">
            <a:avLst>
              <a:gd name="adj" fmla="val 50000"/>
            </a:avLst>
          </a:prstGeom>
          <a:solidFill>
            <a:srgbClr val="FFF0F0"/>
          </a:solidFill>
          <a:ln w="12700">
            <a:solidFill>
              <a:srgbClr val="FFF0F0"/>
            </a:solidFill>
            <a:prstDash val="solid"/>
          </a:ln>
        </p:spPr>
      </p:sp>
      <p:sp>
        <p:nvSpPr>
          <p:cNvPr id="29" name="Text 26"/>
          <p:cNvSpPr txBox="1"/>
          <p:nvPr/>
        </p:nvSpPr>
        <p:spPr>
          <a:xfrm>
            <a:off x="1572768" y="3035808"/>
            <a:ext cx="1096010" cy="256032"/>
          </a:xfrm>
          <a:prstGeom prst="rect">
            <a:avLst/>
          </a:prstGeom>
          <a:noFill/>
          <a:ln/>
        </p:spPr>
        <p:txBody>
          <a:bodyPr wrap="square" lIns="0" tIns="0" rIns="0" bIns="0" rtlCol="0" anchor="ctr"/>
          <a:lstStyle/>
          <a:p>
            <a:pPr algn="ctr" indent="0" marL="0">
              <a:buNone/>
            </a:pPr>
            <a:r>
              <a:rPr lang="en-US" sz="1150" b="1" dirty="0">
                <a:solidFill>
                  <a:srgbClr val="F04452"/>
                </a:solidFill>
                <a:latin typeface="맑은 고딕" pitchFamily="34" charset="0"/>
                <a:ea typeface="맑은 고딕" pitchFamily="34" charset="-122"/>
                <a:cs typeface="맑은 고딕" pitchFamily="34" charset="-120"/>
              </a:rPr>
              <a:t>알림톡부터</a:t>
            </a:r>
            <a:endParaRPr lang="en-US" sz="1150" dirty="0"/>
          </a:p>
        </p:txBody>
      </p:sp>
      <p:sp>
        <p:nvSpPr>
          <p:cNvPr id="30" name="Text 27"/>
          <p:cNvSpPr txBox="1"/>
          <p:nvPr/>
        </p:nvSpPr>
        <p:spPr>
          <a:xfrm>
            <a:off x="3474720" y="2340864"/>
            <a:ext cx="4480560" cy="1005840"/>
          </a:xfrm>
          <a:prstGeom prst="rect">
            <a:avLst/>
          </a:prstGeom>
          <a:noFill/>
          <a:ln/>
        </p:spPr>
        <p:txBody>
          <a:bodyPr wrap="square" lIns="0" tIns="0" rIns="0" bIns="0" rtlCol="0" anchor="ctr"/>
          <a:lstStyle/>
          <a:p>
            <a:pPr indent="0" marL="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2주 뒤 보험 나이가 올라가요.</a:t>
            </a:r>
            <a:endParaRPr lang="en-US" sz="1450" dirty="0"/>
          </a:p>
          <a:p>
            <a:pPr indent="0" marL="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그 전에 점검하려고 동의 알림톡 보내요.”</a:t>
            </a:r>
            <a:endParaRPr lang="en-US" sz="1450" dirty="0"/>
          </a:p>
        </p:txBody>
      </p:sp>
      <p:sp>
        <p:nvSpPr>
          <p:cNvPr id="31" name="Text 28"/>
          <p:cNvSpPr txBox="1"/>
          <p:nvPr/>
        </p:nvSpPr>
        <p:spPr>
          <a:xfrm>
            <a:off x="8321040" y="2395728"/>
            <a:ext cx="3182112" cy="237744"/>
          </a:xfrm>
          <a:prstGeom prst="rect">
            <a:avLst/>
          </a:prstGeom>
          <a:noFill/>
          <a:ln/>
        </p:spPr>
        <p:txBody>
          <a:bodyPr wrap="square" lIns="0" tIns="0" rIns="0" bIns="0" rtlCol="0" anchor="ctr"/>
          <a:lstStyle/>
          <a:p>
            <a:pPr indent="0" marL="0">
              <a:buNone/>
            </a:pPr>
            <a:r>
              <a:rPr lang="en-US" sz="1150" b="1" dirty="0">
                <a:solidFill>
                  <a:srgbClr val="3182F6"/>
                </a:solidFill>
                <a:latin typeface="맑은 고딕" pitchFamily="34" charset="0"/>
                <a:ea typeface="맑은 고딕" pitchFamily="34" charset="-122"/>
                <a:cs typeface="맑은 고딕" pitchFamily="34" charset="-120"/>
              </a:rPr>
              <a:t>동의 반영 뒤</a:t>
            </a:r>
            <a:endParaRPr lang="en-US" sz="1150" dirty="0"/>
          </a:p>
        </p:txBody>
      </p:sp>
      <p:sp>
        <p:nvSpPr>
          <p:cNvPr id="32" name="Shape 29"/>
          <p:cNvSpPr/>
          <p:nvPr/>
        </p:nvSpPr>
        <p:spPr>
          <a:xfrm>
            <a:off x="8293608" y="2651760"/>
            <a:ext cx="3236976" cy="621792"/>
          </a:xfrm>
          <a:prstGeom prst="roundRect">
            <a:avLst>
              <a:gd name="adj" fmla="val 14706"/>
            </a:avLst>
          </a:prstGeom>
          <a:solidFill>
            <a:srgbClr val="FFFFFF"/>
          </a:solidFill>
          <a:ln w="12700">
            <a:solidFill>
              <a:srgbClr val="3182F6"/>
            </a:solidFill>
            <a:prstDash val="solid"/>
          </a:ln>
        </p:spPr>
      </p:sp>
      <p:sp>
        <p:nvSpPr>
          <p:cNvPr id="33" name="Text 30"/>
          <p:cNvSpPr txBox="1"/>
          <p:nvPr/>
        </p:nvSpPr>
        <p:spPr>
          <a:xfrm>
            <a:off x="8412480" y="2651760"/>
            <a:ext cx="3044952" cy="621792"/>
          </a:xfrm>
          <a:prstGeom prst="rect">
            <a:avLst/>
          </a:prstGeom>
          <a:noFill/>
          <a:ln/>
        </p:spPr>
        <p:txBody>
          <a:bodyPr wrap="square" lIns="0" tIns="0" rIns="0" bIns="0" rtlCol="0" anchor="ctr"/>
          <a:lstStyle/>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상령일 전에 암진단비를 늘려야 하는</a:t>
            </a:r>
            <a:endParaRPr lang="en-US" sz="1300" dirty="0"/>
          </a:p>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이유를 쉽게 설명해줘</a:t>
            </a:r>
            <a:endParaRPr lang="en-US" sz="1300" dirty="0"/>
          </a:p>
        </p:txBody>
      </p:sp>
      <p:sp>
        <p:nvSpPr>
          <p:cNvPr id="34" name="Shape 31"/>
          <p:cNvSpPr/>
          <p:nvPr/>
        </p:nvSpPr>
        <p:spPr>
          <a:xfrm>
            <a:off x="548640" y="3419856"/>
            <a:ext cx="2697480" cy="1005840"/>
          </a:xfrm>
          <a:prstGeom prst="roundRect">
            <a:avLst>
              <a:gd name="adj" fmla="val 10909"/>
            </a:avLst>
          </a:prstGeom>
          <a:solidFill>
            <a:srgbClr val="FFFFFF"/>
          </a:solidFill>
          <a:ln w="9525">
            <a:solidFill>
              <a:srgbClr val="E5E8EB"/>
            </a:solidFill>
            <a:prstDash val="solid"/>
          </a:ln>
        </p:spPr>
      </p:sp>
      <p:sp>
        <p:nvSpPr>
          <p:cNvPr id="35" name="Shape 32"/>
          <p:cNvSpPr/>
          <p:nvPr/>
        </p:nvSpPr>
        <p:spPr>
          <a:xfrm>
            <a:off x="3337560" y="3419856"/>
            <a:ext cx="4754880" cy="1005840"/>
          </a:xfrm>
          <a:prstGeom prst="roundRect">
            <a:avLst>
              <a:gd name="adj" fmla="val 10909"/>
            </a:avLst>
          </a:prstGeom>
          <a:solidFill>
            <a:srgbClr val="FFFFFF"/>
          </a:solidFill>
          <a:ln w="9525">
            <a:solidFill>
              <a:srgbClr val="E5E8EB"/>
            </a:solidFill>
            <a:prstDash val="solid"/>
          </a:ln>
        </p:spPr>
      </p:sp>
      <p:sp>
        <p:nvSpPr>
          <p:cNvPr id="36" name="Shape 33"/>
          <p:cNvSpPr/>
          <p:nvPr/>
        </p:nvSpPr>
        <p:spPr>
          <a:xfrm>
            <a:off x="8183880" y="3419856"/>
            <a:ext cx="3456432" cy="1005840"/>
          </a:xfrm>
          <a:prstGeom prst="roundRect">
            <a:avLst>
              <a:gd name="adj" fmla="val 10909"/>
            </a:avLst>
          </a:prstGeom>
          <a:solidFill>
            <a:srgbClr val="FFFFFF"/>
          </a:solidFill>
          <a:ln w="9525">
            <a:solidFill>
              <a:srgbClr val="E5E8EB"/>
            </a:solidFill>
            <a:prstDash val="solid"/>
          </a:ln>
        </p:spPr>
      </p:sp>
      <p:pic>
        <p:nvPicPr>
          <p:cNvPr id="37" name="Image 1" descr="MeAI 화면 캡처">    </p:cNvPr>
          <p:cNvPicPr>
            <a:picLocks noChangeAspect="1"/>
          </p:cNvPicPr>
          <p:nvPr/>
        </p:nvPicPr>
        <p:blipFill>
          <a:blip r:embed="rId2"/>
          <a:stretch>
            <a:fillRect/>
          </a:stretch>
        </p:blipFill>
        <p:spPr>
          <a:xfrm>
            <a:off x="667512" y="3483864"/>
            <a:ext cx="813816" cy="877824"/>
          </a:xfrm>
          <a:prstGeom prst="rect">
            <a:avLst/>
          </a:prstGeom>
        </p:spPr>
      </p:pic>
      <p:sp>
        <p:nvSpPr>
          <p:cNvPr id="38" name="Shape 34"/>
          <p:cNvSpPr/>
          <p:nvPr/>
        </p:nvSpPr>
        <p:spPr>
          <a:xfrm>
            <a:off x="718947" y="4080510"/>
            <a:ext cx="273177" cy="52578"/>
          </a:xfrm>
          <a:prstGeom prst="rect">
            <a:avLst/>
          </a:prstGeom>
          <a:ln w="15875">
            <a:solidFill>
              <a:srgbClr val="F04452"/>
            </a:solidFill>
            <a:prstDash val="solid"/>
          </a:ln>
        </p:spPr>
      </p:sp>
      <p:sp>
        <p:nvSpPr>
          <p:cNvPr id="39" name="Shape 35"/>
          <p:cNvSpPr/>
          <p:nvPr/>
        </p:nvSpPr>
        <p:spPr>
          <a:xfrm>
            <a:off x="438912" y="3328416"/>
            <a:ext cx="310896" cy="310896"/>
          </a:xfrm>
          <a:prstGeom prst="ellipse">
            <a:avLst/>
          </a:prstGeom>
          <a:solidFill>
            <a:srgbClr val="3182F6"/>
          </a:solidFill>
          <a:ln w="19050">
            <a:solidFill>
              <a:srgbClr val="FFFFFF"/>
            </a:solidFill>
            <a:prstDash val="solid"/>
          </a:ln>
        </p:spPr>
      </p:sp>
      <p:sp>
        <p:nvSpPr>
          <p:cNvPr id="40" name="Text 36"/>
          <p:cNvSpPr txBox="1"/>
          <p:nvPr/>
        </p:nvSpPr>
        <p:spPr>
          <a:xfrm>
            <a:off x="438912" y="33284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41" name="Text 37"/>
          <p:cNvSpPr txBox="1"/>
          <p:nvPr/>
        </p:nvSpPr>
        <p:spPr>
          <a:xfrm>
            <a:off x="1572768" y="3511296"/>
            <a:ext cx="1600200" cy="329184"/>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동의 만료 임박</a:t>
            </a:r>
            <a:endParaRPr lang="en-US" sz="1500" dirty="0"/>
          </a:p>
        </p:txBody>
      </p:sp>
      <p:sp>
        <p:nvSpPr>
          <p:cNvPr id="42" name="Text 38"/>
          <p:cNvSpPr txBox="1"/>
          <p:nvPr/>
        </p:nvSpPr>
        <p:spPr>
          <a:xfrm>
            <a:off x="1572768" y="3840480"/>
            <a:ext cx="1600200" cy="274320"/>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이달 말 만료</a:t>
            </a:r>
            <a:endParaRPr lang="en-US" sz="1200" dirty="0"/>
          </a:p>
        </p:txBody>
      </p:sp>
      <p:sp>
        <p:nvSpPr>
          <p:cNvPr id="43" name="Text 39"/>
          <p:cNvSpPr txBox="1"/>
          <p:nvPr/>
        </p:nvSpPr>
        <p:spPr>
          <a:xfrm>
            <a:off x="3474720" y="3419856"/>
            <a:ext cx="4480560" cy="1005840"/>
          </a:xfrm>
          <a:prstGeom prst="rect">
            <a:avLst/>
          </a:prstGeom>
          <a:noFill/>
          <a:ln/>
        </p:spPr>
        <p:txBody>
          <a:bodyPr wrap="square" lIns="0" tIns="0" rIns="0" bIns="0" rtlCol="0" anchor="ctr"/>
          <a:lstStyle/>
          <a:p>
            <a:pPr indent="0" marL="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이달 말 동의가 만료돼 연장 부탁드려요.</a:t>
            </a:r>
            <a:endParaRPr lang="en-US" sz="1450" dirty="0"/>
          </a:p>
          <a:p>
            <a:pPr indent="0" marL="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새로 나온 보장도 봐 드릴게요.”</a:t>
            </a:r>
            <a:endParaRPr lang="en-US" sz="1450" dirty="0"/>
          </a:p>
        </p:txBody>
      </p:sp>
      <p:sp>
        <p:nvSpPr>
          <p:cNvPr id="44" name="Shape 40"/>
          <p:cNvSpPr/>
          <p:nvPr/>
        </p:nvSpPr>
        <p:spPr>
          <a:xfrm>
            <a:off x="8293608" y="3511296"/>
            <a:ext cx="3236976" cy="822960"/>
          </a:xfrm>
          <a:prstGeom prst="roundRect">
            <a:avLst>
              <a:gd name="adj" fmla="val 11111"/>
            </a:avLst>
          </a:prstGeom>
          <a:solidFill>
            <a:srgbClr val="FFFFFF"/>
          </a:solidFill>
          <a:ln w="12700">
            <a:solidFill>
              <a:srgbClr val="3182F6"/>
            </a:solidFill>
            <a:prstDash val="solid"/>
          </a:ln>
        </p:spPr>
      </p:sp>
      <p:sp>
        <p:nvSpPr>
          <p:cNvPr id="45" name="Text 41"/>
          <p:cNvSpPr txBox="1"/>
          <p:nvPr/>
        </p:nvSpPr>
        <p:spPr>
          <a:xfrm>
            <a:off x="8412480" y="3511296"/>
            <a:ext cx="3044952" cy="822960"/>
          </a:xfrm>
          <a:prstGeom prst="rect">
            <a:avLst/>
          </a:prstGeom>
          <a:noFill/>
          <a:ln/>
        </p:spPr>
        <p:txBody>
          <a:bodyPr wrap="square" lIns="0" tIns="0" rIns="0" bIns="0" rtlCol="0" anchor="ctr"/>
          <a:lstStyle/>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최근 신담보 기준으로</a:t>
            </a:r>
            <a:endParaRPr lang="en-US" sz="1300" dirty="0"/>
          </a:p>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 고객 보장의 빈 곳을 알려줘</a:t>
            </a:r>
            <a:endParaRPr lang="en-US" sz="1300" dirty="0"/>
          </a:p>
        </p:txBody>
      </p:sp>
      <p:sp>
        <p:nvSpPr>
          <p:cNvPr id="46" name="Shape 42"/>
          <p:cNvSpPr/>
          <p:nvPr/>
        </p:nvSpPr>
        <p:spPr>
          <a:xfrm>
            <a:off x="548640" y="4498848"/>
            <a:ext cx="2697480" cy="1005840"/>
          </a:xfrm>
          <a:prstGeom prst="roundRect">
            <a:avLst>
              <a:gd name="adj" fmla="val 10909"/>
            </a:avLst>
          </a:prstGeom>
          <a:solidFill>
            <a:srgbClr val="FFFFFF"/>
          </a:solidFill>
          <a:ln w="9525">
            <a:solidFill>
              <a:srgbClr val="E5E8EB"/>
            </a:solidFill>
            <a:prstDash val="solid"/>
          </a:ln>
        </p:spPr>
      </p:sp>
      <p:sp>
        <p:nvSpPr>
          <p:cNvPr id="47" name="Shape 43"/>
          <p:cNvSpPr/>
          <p:nvPr/>
        </p:nvSpPr>
        <p:spPr>
          <a:xfrm>
            <a:off x="3337560" y="4498848"/>
            <a:ext cx="4754880" cy="1005840"/>
          </a:xfrm>
          <a:prstGeom prst="roundRect">
            <a:avLst>
              <a:gd name="adj" fmla="val 10909"/>
            </a:avLst>
          </a:prstGeom>
          <a:solidFill>
            <a:srgbClr val="FFFFFF"/>
          </a:solidFill>
          <a:ln w="9525">
            <a:solidFill>
              <a:srgbClr val="E5E8EB"/>
            </a:solidFill>
            <a:prstDash val="solid"/>
          </a:ln>
        </p:spPr>
      </p:sp>
      <p:sp>
        <p:nvSpPr>
          <p:cNvPr id="48" name="Shape 44"/>
          <p:cNvSpPr/>
          <p:nvPr/>
        </p:nvSpPr>
        <p:spPr>
          <a:xfrm>
            <a:off x="8183880" y="4498848"/>
            <a:ext cx="3456432" cy="1005840"/>
          </a:xfrm>
          <a:prstGeom prst="roundRect">
            <a:avLst>
              <a:gd name="adj" fmla="val 10909"/>
            </a:avLst>
          </a:prstGeom>
          <a:solidFill>
            <a:srgbClr val="FFFFFF"/>
          </a:solidFill>
          <a:ln w="9525">
            <a:solidFill>
              <a:srgbClr val="E5E8EB"/>
            </a:solidFill>
            <a:prstDash val="solid"/>
          </a:ln>
        </p:spPr>
      </p:sp>
      <p:pic>
        <p:nvPicPr>
          <p:cNvPr id="49" name="Image 2" descr="MeAI 화면 캡처">    </p:cNvPr>
          <p:cNvPicPr>
            <a:picLocks noChangeAspect="1"/>
          </p:cNvPicPr>
          <p:nvPr/>
        </p:nvPicPr>
        <p:blipFill>
          <a:blip r:embed="rId3"/>
          <a:stretch>
            <a:fillRect/>
          </a:stretch>
        </p:blipFill>
        <p:spPr>
          <a:xfrm>
            <a:off x="640080" y="4601978"/>
            <a:ext cx="868680" cy="799580"/>
          </a:xfrm>
          <a:prstGeom prst="rect">
            <a:avLst/>
          </a:prstGeom>
        </p:spPr>
      </p:pic>
      <p:sp>
        <p:nvSpPr>
          <p:cNvPr id="50" name="Shape 45"/>
          <p:cNvSpPr/>
          <p:nvPr/>
        </p:nvSpPr>
        <p:spPr>
          <a:xfrm>
            <a:off x="666404" y="4996832"/>
            <a:ext cx="812742" cy="164523"/>
          </a:xfrm>
          <a:prstGeom prst="rect">
            <a:avLst/>
          </a:prstGeom>
          <a:ln w="15875">
            <a:solidFill>
              <a:srgbClr val="F04452"/>
            </a:solidFill>
            <a:prstDash val="solid"/>
          </a:ln>
        </p:spPr>
      </p:sp>
      <p:sp>
        <p:nvSpPr>
          <p:cNvPr id="51" name="Shape 46"/>
          <p:cNvSpPr/>
          <p:nvPr/>
        </p:nvSpPr>
        <p:spPr>
          <a:xfrm>
            <a:off x="438912" y="4407408"/>
            <a:ext cx="310896" cy="310896"/>
          </a:xfrm>
          <a:prstGeom prst="ellipse">
            <a:avLst/>
          </a:prstGeom>
          <a:solidFill>
            <a:srgbClr val="3182F6"/>
          </a:solidFill>
          <a:ln w="19050">
            <a:solidFill>
              <a:srgbClr val="FFFFFF"/>
            </a:solidFill>
            <a:prstDash val="solid"/>
          </a:ln>
        </p:spPr>
      </p:sp>
      <p:sp>
        <p:nvSpPr>
          <p:cNvPr id="52" name="Text 47"/>
          <p:cNvSpPr txBox="1"/>
          <p:nvPr/>
        </p:nvSpPr>
        <p:spPr>
          <a:xfrm>
            <a:off x="438912" y="4407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53" name="Text 48"/>
          <p:cNvSpPr txBox="1"/>
          <p:nvPr/>
        </p:nvSpPr>
        <p:spPr>
          <a:xfrm>
            <a:off x="1572768" y="4590288"/>
            <a:ext cx="1600200" cy="329184"/>
          </a:xfrm>
          <a:prstGeom prst="rect">
            <a:avLst/>
          </a:prstGeom>
          <a:noFill/>
          <a:ln/>
        </p:spPr>
        <p:txBody>
          <a:bodyPr wrap="square" lIns="0" tIns="0" rIns="0" bIns="0" rtlCol="0" anchor="ctr"/>
          <a:lstStyle/>
          <a:p>
            <a:pPr indent="0" marL="0">
              <a:buNone/>
            </a:pPr>
            <a:r>
              <a:rPr lang="en-US" sz="1500" b="1" dirty="0">
                <a:solidFill>
                  <a:srgbClr val="191F28"/>
                </a:solidFill>
                <a:latin typeface="맑은 고딕" pitchFamily="34" charset="0"/>
                <a:ea typeface="맑은 고딕" pitchFamily="34" charset="-122"/>
                <a:cs typeface="맑은 고딕" pitchFamily="34" charset="-120"/>
              </a:rPr>
              <a:t>생일 임박 그룹</a:t>
            </a:r>
            <a:endParaRPr lang="en-US" sz="1500" dirty="0"/>
          </a:p>
        </p:txBody>
      </p:sp>
      <p:sp>
        <p:nvSpPr>
          <p:cNvPr id="54" name="Text 49"/>
          <p:cNvSpPr txBox="1"/>
          <p:nvPr/>
        </p:nvSpPr>
        <p:spPr>
          <a:xfrm>
            <a:off x="1572768" y="4919472"/>
            <a:ext cx="1600200" cy="274320"/>
          </a:xfrm>
          <a:prstGeom prst="rect">
            <a:avLst/>
          </a:prstGeom>
          <a:noFill/>
          <a:ln/>
        </p:spPr>
        <p:txBody>
          <a:bodyPr wrap="square" lIns="0" tIns="0" rIns="0" bIns="0" rtlCol="0" anchor="ctr"/>
          <a:lstStyle/>
          <a:p>
            <a:pPr indent="0" marL="0">
              <a:buNone/>
            </a:pPr>
            <a:r>
              <a:rPr lang="en-US" sz="1200" dirty="0">
                <a:solidFill>
                  <a:srgbClr val="6B7684"/>
                </a:solidFill>
                <a:latin typeface="맑은 고딕" pitchFamily="34" charset="0"/>
                <a:ea typeface="맑은 고딕" pitchFamily="34" charset="-122"/>
                <a:cs typeface="맑은 고딕" pitchFamily="34" charset="-120"/>
              </a:rPr>
              <a:t>고객찾기 · 영업 기회 탭</a:t>
            </a:r>
            <a:endParaRPr lang="en-US" sz="1200" dirty="0"/>
          </a:p>
        </p:txBody>
      </p:sp>
      <p:sp>
        <p:nvSpPr>
          <p:cNvPr id="55" name="Shape 50"/>
          <p:cNvSpPr/>
          <p:nvPr/>
        </p:nvSpPr>
        <p:spPr>
          <a:xfrm>
            <a:off x="3474720" y="4572000"/>
            <a:ext cx="2121281" cy="256032"/>
          </a:xfrm>
          <a:prstGeom prst="roundRect">
            <a:avLst>
              <a:gd name="adj" fmla="val 50000"/>
            </a:avLst>
          </a:prstGeom>
          <a:solidFill>
            <a:srgbClr val="F2F4F6"/>
          </a:solidFill>
          <a:ln w="12700">
            <a:solidFill>
              <a:srgbClr val="F2F4F6"/>
            </a:solidFill>
            <a:prstDash val="solid"/>
          </a:ln>
        </p:spPr>
      </p:sp>
      <p:sp>
        <p:nvSpPr>
          <p:cNvPr id="56" name="Text 51"/>
          <p:cNvSpPr txBox="1"/>
          <p:nvPr/>
        </p:nvSpPr>
        <p:spPr>
          <a:xfrm>
            <a:off x="3474720" y="4572000"/>
            <a:ext cx="2121281" cy="256032"/>
          </a:xfrm>
          <a:prstGeom prst="rect">
            <a:avLst/>
          </a:prstGeom>
          <a:noFill/>
          <a:ln/>
        </p:spPr>
        <p:txBody>
          <a:bodyPr wrap="square" lIns="0" tIns="0" rIns="0" bIns="0" rtlCol="0" anchor="ctr"/>
          <a:lstStyle/>
          <a:p>
            <a:pPr algn="ctr" indent="0" marL="0">
              <a:buNone/>
            </a:pPr>
            <a:r>
              <a:rPr lang="en-US" sz="1150" b="1" dirty="0">
                <a:solidFill>
                  <a:srgbClr val="4E5968"/>
                </a:solidFill>
                <a:latin typeface="맑은 고딕" pitchFamily="34" charset="0"/>
                <a:ea typeface="맑은 고딕" pitchFamily="34" charset="-122"/>
                <a:cs typeface="맑은 고딕" pitchFamily="34" charset="-120"/>
              </a:rPr>
              <a:t>화면 안내 → 내 말로 풀어요</a:t>
            </a:r>
            <a:endParaRPr lang="en-US" sz="1150" dirty="0"/>
          </a:p>
        </p:txBody>
      </p:sp>
      <p:sp>
        <p:nvSpPr>
          <p:cNvPr id="57" name="Text 52"/>
          <p:cNvSpPr txBox="1"/>
          <p:nvPr/>
        </p:nvSpPr>
        <p:spPr>
          <a:xfrm>
            <a:off x="3474720" y="4864608"/>
            <a:ext cx="4480560" cy="603504"/>
          </a:xfrm>
          <a:prstGeom prst="rect">
            <a:avLst/>
          </a:prstGeom>
          <a:noFill/>
          <a:ln/>
        </p:spPr>
        <p:txBody>
          <a:bodyPr wrap="square" lIns="0" tIns="0" rIns="0" bIns="0" rtlCol="0" anchor="t"/>
          <a:lstStyle/>
          <a:p>
            <a:pPr indent="0" marL="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화면 안내: 축하 인사로 대화를 열고 자연스럽게</a:t>
            </a:r>
            <a:endParaRPr lang="en-US" sz="1350" dirty="0"/>
          </a:p>
          <a:p>
            <a:pPr indent="0" marL="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보장 점검으로 이어가기 좋은 시점입니다.</a:t>
            </a:r>
            <a:endParaRPr lang="en-US" sz="1350" dirty="0"/>
          </a:p>
        </p:txBody>
      </p:sp>
      <p:sp>
        <p:nvSpPr>
          <p:cNvPr id="58" name="Text 53"/>
          <p:cNvSpPr txBox="1"/>
          <p:nvPr/>
        </p:nvSpPr>
        <p:spPr>
          <a:xfrm>
            <a:off x="8321040" y="4553712"/>
            <a:ext cx="3182112" cy="237744"/>
          </a:xfrm>
          <a:prstGeom prst="rect">
            <a:avLst/>
          </a:prstGeom>
          <a:noFill/>
          <a:ln/>
        </p:spPr>
        <p:txBody>
          <a:bodyPr wrap="square" lIns="0" tIns="0" rIns="0" bIns="0" rtlCol="0" anchor="ctr"/>
          <a:lstStyle/>
          <a:p>
            <a:pPr indent="0" marL="0">
              <a:buNone/>
            </a:pPr>
            <a:r>
              <a:rPr lang="en-US" sz="1150" b="1" dirty="0">
                <a:solidFill>
                  <a:srgbClr val="3182F6"/>
                </a:solidFill>
                <a:latin typeface="맑은 고딕" pitchFamily="34" charset="0"/>
                <a:ea typeface="맑은 고딕" pitchFamily="34" charset="-122"/>
                <a:cs typeface="맑은 고딕" pitchFamily="34" charset="-120"/>
              </a:rPr>
              <a:t>파란 일반대화 추천 질문(틀)</a:t>
            </a:r>
            <a:endParaRPr lang="en-US" sz="1150" dirty="0"/>
          </a:p>
        </p:txBody>
      </p:sp>
      <p:sp>
        <p:nvSpPr>
          <p:cNvPr id="59" name="Shape 54"/>
          <p:cNvSpPr/>
          <p:nvPr/>
        </p:nvSpPr>
        <p:spPr>
          <a:xfrm>
            <a:off x="8293608" y="4809744"/>
            <a:ext cx="3236976" cy="621792"/>
          </a:xfrm>
          <a:prstGeom prst="roundRect">
            <a:avLst>
              <a:gd name="adj" fmla="val 14706"/>
            </a:avLst>
          </a:prstGeom>
          <a:solidFill>
            <a:srgbClr val="FFFFFF"/>
          </a:solidFill>
          <a:ln w="12700">
            <a:solidFill>
              <a:srgbClr val="3182F6"/>
            </a:solidFill>
            <a:prstDash val="solid"/>
          </a:ln>
        </p:spPr>
      </p:sp>
      <p:sp>
        <p:nvSpPr>
          <p:cNvPr id="60" name="Text 55"/>
          <p:cNvSpPr txBox="1"/>
          <p:nvPr/>
        </p:nvSpPr>
        <p:spPr>
          <a:xfrm>
            <a:off x="8412480" y="4809744"/>
            <a:ext cx="3044952" cy="621792"/>
          </a:xfrm>
          <a:prstGeom prst="rect">
            <a:avLst/>
          </a:prstGeom>
          <a:noFill/>
          <a:ln/>
        </p:spPr>
        <p:txBody>
          <a:bodyPr wrap="square" lIns="0" tIns="0" rIns="0" bIns="0" rtlCol="0" anchor="ctr"/>
          <a:lstStyle/>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#생일 임박, #나이대, #고객유형 —</a:t>
            </a:r>
            <a:endParaRPr lang="en-US" sz="1300" dirty="0"/>
          </a:p>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 안내 문자 문안을 작성해줘 …</a:t>
            </a:r>
            <a:endParaRPr lang="en-US" sz="1300" dirty="0"/>
          </a:p>
        </p:txBody>
      </p:sp>
      <p:sp>
        <p:nvSpPr>
          <p:cNvPr id="61" name="Shape 56"/>
          <p:cNvSpPr/>
          <p:nvPr/>
        </p:nvSpPr>
        <p:spPr>
          <a:xfrm>
            <a:off x="548640" y="5614416"/>
            <a:ext cx="11094415" cy="457200"/>
          </a:xfrm>
          <a:prstGeom prst="roundRect">
            <a:avLst>
              <a:gd name="adj" fmla="val 28000"/>
            </a:avLst>
          </a:prstGeom>
          <a:solidFill>
            <a:srgbClr val="191F28"/>
          </a:solidFill>
          <a:ln w="12700">
            <a:solidFill>
              <a:srgbClr val="191F28"/>
            </a:solidFill>
            <a:prstDash val="solid"/>
          </a:ln>
        </p:spPr>
      </p:sp>
      <p:sp>
        <p:nvSpPr>
          <p:cNvPr id="62" name="Text 57"/>
          <p:cNvSpPr txBox="1"/>
          <p:nvPr/>
        </p:nvSpPr>
        <p:spPr>
          <a:xfrm>
            <a:off x="868680" y="5614416"/>
            <a:ext cx="10454335" cy="45720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1600" dirty="0"/>
          </a:p>
        </p:txBody>
      </p:sp>
      <p:sp>
        <p:nvSpPr>
          <p:cNvPr id="63" name="Text 58"/>
          <p:cNvSpPr txBox="1"/>
          <p:nvPr/>
        </p:nvSpPr>
        <p:spPr>
          <a:xfrm>
            <a:off x="548640" y="6126480"/>
            <a:ext cx="11094415"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 D-90은 사전조회동의(가입설계동의와 별개) · 이름·숫자는 예시 · 출처: MeAI 활용 가이드북 v4 p.33·61·62 · 확정 화면</a:t>
            </a:r>
            <a:endParaRPr lang="en-US" sz="1100" dirty="0"/>
          </a:p>
        </p:txBody>
      </p:sp>
      <p:sp>
        <p:nvSpPr>
          <p:cNvPr id="64" name="Text 5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맞춤대화 뒤엔 좋았던 답만 골라 카톡으로 보내요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휴대폰 하나로 발송까지 끝나요. 김민수 고객이면 ‘인상 전 가입의 이점’을 담아요.</a:t>
            </a:r>
            <a:endParaRPr lang="en-US" sz="1700" dirty="0"/>
          </a:p>
        </p:txBody>
      </p:sp>
      <p:pic>
        <p:nvPicPr>
          <p:cNvPr id="13" name="Image 0" descr="MeAI 화면 캡처">    </p:cNvPr>
          <p:cNvPicPr>
            <a:picLocks noChangeAspect="1"/>
          </p:cNvPicPr>
          <p:nvPr/>
        </p:nvPicPr>
        <p:blipFill>
          <a:blip r:embed="rId1"/>
          <a:stretch>
            <a:fillRect/>
          </a:stretch>
        </p:blipFill>
        <p:spPr>
          <a:xfrm>
            <a:off x="1113157" y="1901952"/>
            <a:ext cx="1438829" cy="2926080"/>
          </a:xfrm>
          <a:prstGeom prst="rect">
            <a:avLst/>
          </a:prstGeom>
        </p:spPr>
      </p:pic>
      <p:sp>
        <p:nvSpPr>
          <p:cNvPr id="14" name="Shape 11"/>
          <p:cNvSpPr/>
          <p:nvPr/>
        </p:nvSpPr>
        <p:spPr>
          <a:xfrm>
            <a:off x="1890570" y="2174391"/>
            <a:ext cx="347472" cy="347472"/>
          </a:xfrm>
          <a:prstGeom prst="ellipse">
            <a:avLst/>
          </a:prstGeom>
          <a:solidFill>
            <a:srgbClr val="3182F6"/>
          </a:solidFill>
          <a:ln w="19050">
            <a:solidFill>
              <a:srgbClr val="FFFFFF"/>
            </a:solidFill>
            <a:prstDash val="solid"/>
          </a:ln>
        </p:spPr>
      </p:sp>
      <p:sp>
        <p:nvSpPr>
          <p:cNvPr id="15" name="Text 12"/>
          <p:cNvSpPr txBox="1"/>
          <p:nvPr/>
        </p:nvSpPr>
        <p:spPr>
          <a:xfrm>
            <a:off x="1890570" y="2174391"/>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6" name="Text 13"/>
          <p:cNvSpPr txBox="1"/>
          <p:nvPr/>
        </p:nvSpPr>
        <p:spPr>
          <a:xfrm>
            <a:off x="548640" y="4892040"/>
            <a:ext cx="2567864" cy="329184"/>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[요약 생성] 누르기</a:t>
            </a:r>
            <a:endParaRPr lang="en-US" sz="1550" dirty="0"/>
          </a:p>
        </p:txBody>
      </p:sp>
      <p:sp>
        <p:nvSpPr>
          <p:cNvPr id="17" name="Text 14"/>
          <p:cNvSpPr txBox="1"/>
          <p:nvPr/>
        </p:nvSpPr>
        <p:spPr>
          <a:xfrm>
            <a:off x="548640" y="5212080"/>
            <a:ext cx="2567864" cy="420624"/>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휴대폰은 대화 화면 위</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PC는 오른쪽 위 [요약 리포트]</a:t>
            </a:r>
            <a:endParaRPr lang="en-US" sz="1200" dirty="0"/>
          </a:p>
        </p:txBody>
      </p:sp>
      <p:sp>
        <p:nvSpPr>
          <p:cNvPr id="18" name="Text 15"/>
          <p:cNvSpPr txBox="1"/>
          <p:nvPr/>
        </p:nvSpPr>
        <p:spPr>
          <a:xfrm>
            <a:off x="3134792" y="3108960"/>
            <a:ext cx="237744" cy="54864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pic>
        <p:nvPicPr>
          <p:cNvPr id="19" name="Image 1" descr="MeAI 화면 캡처">    </p:cNvPr>
          <p:cNvPicPr>
            <a:picLocks noChangeAspect="1"/>
          </p:cNvPicPr>
          <p:nvPr/>
        </p:nvPicPr>
        <p:blipFill>
          <a:blip r:embed="rId2"/>
          <a:stretch>
            <a:fillRect/>
          </a:stretch>
        </p:blipFill>
        <p:spPr>
          <a:xfrm>
            <a:off x="3955341" y="1901952"/>
            <a:ext cx="1438829" cy="2926080"/>
          </a:xfrm>
          <a:prstGeom prst="rect">
            <a:avLst/>
          </a:prstGeom>
        </p:spPr>
      </p:pic>
      <p:sp>
        <p:nvSpPr>
          <p:cNvPr id="20" name="Shape 16"/>
          <p:cNvSpPr/>
          <p:nvPr/>
        </p:nvSpPr>
        <p:spPr>
          <a:xfrm>
            <a:off x="4006422" y="2713952"/>
            <a:ext cx="347472" cy="347472"/>
          </a:xfrm>
          <a:prstGeom prst="ellipse">
            <a:avLst/>
          </a:prstGeom>
          <a:solidFill>
            <a:srgbClr val="3182F6"/>
          </a:solidFill>
          <a:ln w="19050">
            <a:solidFill>
              <a:srgbClr val="FFFFFF"/>
            </a:solidFill>
            <a:prstDash val="solid"/>
          </a:ln>
        </p:spPr>
      </p:sp>
      <p:sp>
        <p:nvSpPr>
          <p:cNvPr id="21" name="Text 17"/>
          <p:cNvSpPr txBox="1"/>
          <p:nvPr/>
        </p:nvSpPr>
        <p:spPr>
          <a:xfrm>
            <a:off x="4006422" y="2713952"/>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2" name="Shape 18"/>
          <p:cNvSpPr/>
          <p:nvPr/>
        </p:nvSpPr>
        <p:spPr>
          <a:xfrm>
            <a:off x="4024516" y="4437196"/>
            <a:ext cx="1300480" cy="186771"/>
          </a:xfrm>
          <a:prstGeom prst="roundRect">
            <a:avLst>
              <a:gd name="adj" fmla="val 14688"/>
            </a:avLst>
          </a:prstGeom>
          <a:ln w="19050">
            <a:solidFill>
              <a:srgbClr val="F04452"/>
            </a:solidFill>
            <a:prstDash val="solid"/>
          </a:ln>
        </p:spPr>
      </p:sp>
      <p:sp>
        <p:nvSpPr>
          <p:cNvPr id="23" name="Text 19"/>
          <p:cNvSpPr txBox="1"/>
          <p:nvPr/>
        </p:nvSpPr>
        <p:spPr>
          <a:xfrm>
            <a:off x="3390824" y="4892040"/>
            <a:ext cx="2567864" cy="329184"/>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넣을 답만 체크</a:t>
            </a:r>
            <a:endParaRPr lang="en-US" sz="1550" dirty="0"/>
          </a:p>
        </p:txBody>
      </p:sp>
      <p:sp>
        <p:nvSpPr>
          <p:cNvPr id="24" name="Text 20"/>
          <p:cNvSpPr txBox="1"/>
          <p:nvPr/>
        </p:nvSpPr>
        <p:spPr>
          <a:xfrm>
            <a:off x="3390824" y="5212080"/>
            <a:ext cx="2567864" cy="420624"/>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내부 판단용 답은 빼고</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[편집하기]로 다듬어요</a:t>
            </a:r>
            <a:endParaRPr lang="en-US" sz="1200" dirty="0"/>
          </a:p>
        </p:txBody>
      </p:sp>
      <p:sp>
        <p:nvSpPr>
          <p:cNvPr id="25" name="Text 21"/>
          <p:cNvSpPr txBox="1"/>
          <p:nvPr/>
        </p:nvSpPr>
        <p:spPr>
          <a:xfrm>
            <a:off x="5976976" y="3108960"/>
            <a:ext cx="237744" cy="54864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pic>
        <p:nvPicPr>
          <p:cNvPr id="26" name="Image 2" descr="MeAI 화면 캡처">    </p:cNvPr>
          <p:cNvPicPr>
            <a:picLocks noChangeAspect="1"/>
          </p:cNvPicPr>
          <p:nvPr/>
        </p:nvPicPr>
        <p:blipFill>
          <a:blip r:embed="rId3"/>
          <a:stretch>
            <a:fillRect/>
          </a:stretch>
        </p:blipFill>
        <p:spPr>
          <a:xfrm>
            <a:off x="6797525" y="1901952"/>
            <a:ext cx="1438829" cy="2926080"/>
          </a:xfrm>
          <a:prstGeom prst="rect">
            <a:avLst/>
          </a:prstGeom>
        </p:spPr>
      </p:pic>
      <p:sp>
        <p:nvSpPr>
          <p:cNvPr id="27" name="Shape 22"/>
          <p:cNvSpPr/>
          <p:nvPr/>
        </p:nvSpPr>
        <p:spPr>
          <a:xfrm>
            <a:off x="7332827" y="4349928"/>
            <a:ext cx="347472" cy="347472"/>
          </a:xfrm>
          <a:prstGeom prst="ellipse">
            <a:avLst/>
          </a:prstGeom>
          <a:solidFill>
            <a:srgbClr val="3182F6"/>
          </a:solidFill>
          <a:ln w="19050">
            <a:solidFill>
              <a:srgbClr val="FFFFFF"/>
            </a:solidFill>
            <a:prstDash val="solid"/>
          </a:ln>
        </p:spPr>
      </p:sp>
      <p:sp>
        <p:nvSpPr>
          <p:cNvPr id="28" name="Text 23"/>
          <p:cNvSpPr txBox="1"/>
          <p:nvPr/>
        </p:nvSpPr>
        <p:spPr>
          <a:xfrm>
            <a:off x="7332827" y="434992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9" name="Text 24"/>
          <p:cNvSpPr txBox="1"/>
          <p:nvPr/>
        </p:nvSpPr>
        <p:spPr>
          <a:xfrm>
            <a:off x="6233008" y="4892040"/>
            <a:ext cx="2567864" cy="329184"/>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[리포트 생성하기]</a:t>
            </a:r>
            <a:endParaRPr lang="en-US" sz="1550" dirty="0"/>
          </a:p>
        </p:txBody>
      </p:sp>
      <p:sp>
        <p:nvSpPr>
          <p:cNvPr id="30" name="Text 25"/>
          <p:cNvSpPr txBox="1"/>
          <p:nvPr/>
        </p:nvSpPr>
        <p:spPr>
          <a:xfrm>
            <a:off x="6233008" y="5212080"/>
            <a:ext cx="2567864" cy="420624"/>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카카오톡으로 링크가 전송돼요</a:t>
            </a:r>
            <a:endParaRPr lang="en-US" sz="1200" dirty="0"/>
          </a:p>
        </p:txBody>
      </p:sp>
      <p:sp>
        <p:nvSpPr>
          <p:cNvPr id="31" name="Text 26"/>
          <p:cNvSpPr txBox="1"/>
          <p:nvPr/>
        </p:nvSpPr>
        <p:spPr>
          <a:xfrm>
            <a:off x="8819159" y="3108960"/>
            <a:ext cx="237744" cy="548640"/>
          </a:xfrm>
          <a:prstGeom prst="rect">
            <a:avLst/>
          </a:prstGeom>
          <a:noFill/>
          <a:ln/>
        </p:spPr>
        <p:txBody>
          <a:bodyPr wrap="square" lIns="0" tIns="0" rIns="0" bIns="0" rtlCol="0" anchor="ctr"/>
          <a:lstStyle/>
          <a:p>
            <a:pPr algn="ctr" indent="0" marL="0">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32" name="Shape 27"/>
          <p:cNvSpPr/>
          <p:nvPr/>
        </p:nvSpPr>
        <p:spPr>
          <a:xfrm>
            <a:off x="9075191" y="2286000"/>
            <a:ext cx="2567864" cy="2187925"/>
          </a:xfrm>
          <a:prstGeom prst="roundRect">
            <a:avLst>
              <a:gd name="adj" fmla="val 2347"/>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33" name="Image 3" descr="MeAI 화면 캡처">    </p:cNvPr>
          <p:cNvPicPr>
            <a:picLocks noChangeAspect="1"/>
          </p:cNvPicPr>
          <p:nvPr/>
        </p:nvPicPr>
        <p:blipFill>
          <a:blip r:embed="rId4"/>
          <a:stretch>
            <a:fillRect/>
          </a:stretch>
        </p:blipFill>
        <p:spPr>
          <a:xfrm>
            <a:off x="9075191" y="2286000"/>
            <a:ext cx="2567864" cy="2187925"/>
          </a:xfrm>
          <a:prstGeom prst="rect">
            <a:avLst/>
          </a:prstGeom>
        </p:spPr>
      </p:pic>
      <p:sp>
        <p:nvSpPr>
          <p:cNvPr id="34" name="Shape 28"/>
          <p:cNvSpPr/>
          <p:nvPr/>
        </p:nvSpPr>
        <p:spPr>
          <a:xfrm>
            <a:off x="9163482" y="3684426"/>
            <a:ext cx="347472" cy="347472"/>
          </a:xfrm>
          <a:prstGeom prst="ellipse">
            <a:avLst/>
          </a:prstGeom>
          <a:solidFill>
            <a:srgbClr val="3182F6"/>
          </a:solidFill>
          <a:ln w="19050">
            <a:solidFill>
              <a:srgbClr val="FFFFFF"/>
            </a:solidFill>
            <a:prstDash val="solid"/>
          </a:ln>
        </p:spPr>
      </p:sp>
      <p:sp>
        <p:nvSpPr>
          <p:cNvPr id="35" name="Text 29"/>
          <p:cNvSpPr txBox="1"/>
          <p:nvPr/>
        </p:nvSpPr>
        <p:spPr>
          <a:xfrm>
            <a:off x="9163482" y="3684426"/>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36" name="Text 30"/>
          <p:cNvSpPr txBox="1"/>
          <p:nvPr/>
        </p:nvSpPr>
        <p:spPr>
          <a:xfrm>
            <a:off x="9075191" y="4892040"/>
            <a:ext cx="2567864" cy="329184"/>
          </a:xfrm>
          <a:prstGeom prst="rect">
            <a:avLst/>
          </a:prstGeom>
          <a:noFill/>
          <a:ln/>
        </p:spPr>
        <p:txBody>
          <a:bodyPr wrap="square" lIns="0" tIns="0" rIns="0" bIns="0" rtlCol="0" anchor="ctr"/>
          <a:lstStyle/>
          <a:p>
            <a:pPr indent="0" marL="0">
              <a:buNone/>
            </a:pPr>
            <a:r>
              <a:rPr lang="en-US" sz="1550" b="1" dirty="0">
                <a:solidFill>
                  <a:srgbClr val="191F28"/>
                </a:solidFill>
                <a:latin typeface="맑은 고딕" pitchFamily="34" charset="0"/>
                <a:ea typeface="맑은 고딕" pitchFamily="34" charset="-122"/>
                <a:cs typeface="맑은 고딕" pitchFamily="34" charset="-120"/>
              </a:rPr>
              <a:t>알림톡 도착 · 7일 열람</a:t>
            </a:r>
            <a:endParaRPr lang="en-US" sz="1550" dirty="0"/>
          </a:p>
        </p:txBody>
      </p:sp>
      <p:sp>
        <p:nvSpPr>
          <p:cNvPr id="37" name="Text 31"/>
          <p:cNvSpPr txBox="1"/>
          <p:nvPr/>
        </p:nvSpPr>
        <p:spPr>
          <a:xfrm>
            <a:off x="9075191" y="5212080"/>
            <a:ext cx="2567864" cy="420624"/>
          </a:xfrm>
          <a:prstGeom prst="rect">
            <a:avLst/>
          </a:prstGeom>
          <a:noFill/>
          <a:ln/>
        </p:spPr>
        <p:txBody>
          <a:bodyPr wrap="square" lIns="0" tIns="0" rIns="0" bIns="0" rtlCol="0" anchor="t"/>
          <a:lstStyle/>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받은 날부터 7일까지 열어요</a:t>
            </a:r>
            <a:endParaRPr lang="en-US" sz="1200" dirty="0"/>
          </a:p>
          <a:p>
            <a:pPr indent="0" marL="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기간도 함께 알려 주세요</a:t>
            </a:r>
            <a:endParaRPr lang="en-US" sz="1200" dirty="0"/>
          </a:p>
        </p:txBody>
      </p:sp>
      <p:sp>
        <p:nvSpPr>
          <p:cNvPr id="38" name="Shape 32"/>
          <p:cNvSpPr/>
          <p:nvPr/>
        </p:nvSpPr>
        <p:spPr>
          <a:xfrm>
            <a:off x="9134170" y="1901952"/>
            <a:ext cx="2508885" cy="310896"/>
          </a:xfrm>
          <a:prstGeom prst="roundRect">
            <a:avLst>
              <a:gd name="adj" fmla="val 50000"/>
            </a:avLst>
          </a:prstGeom>
          <a:solidFill>
            <a:srgbClr val="FFFFFF"/>
          </a:solidFill>
          <a:ln w="15875">
            <a:solidFill>
              <a:srgbClr val="3182F6"/>
            </a:solidFill>
            <a:prstDash val="solid"/>
          </a:ln>
        </p:spPr>
      </p:sp>
      <p:sp>
        <p:nvSpPr>
          <p:cNvPr id="39" name="Text 33"/>
          <p:cNvSpPr txBox="1"/>
          <p:nvPr/>
        </p:nvSpPr>
        <p:spPr>
          <a:xfrm>
            <a:off x="9134170" y="1901952"/>
            <a:ext cx="2508885" cy="310896"/>
          </a:xfrm>
          <a:prstGeom prst="rect">
            <a:avLst/>
          </a:prstGeom>
          <a:noFill/>
          <a:ln/>
        </p:spPr>
        <p:txBody>
          <a:bodyPr wrap="square" lIns="0" tIns="0" rIns="0" bIns="0" rtlCol="0" anchor="ctr"/>
          <a:lstStyle/>
          <a:p>
            <a:pPr algn="ctr" indent="0" marL="0">
              <a:buNone/>
            </a:pPr>
            <a:r>
              <a:rPr lang="en-US" sz="1250" b="1" dirty="0">
                <a:solidFill>
                  <a:srgbClr val="3182F6"/>
                </a:solidFill>
                <a:latin typeface="맑은 고딕" pitchFamily="34" charset="0"/>
                <a:ea typeface="맑은 고딕" pitchFamily="34" charset="-122"/>
                <a:cs typeface="맑은 고딕" pitchFamily="34" charset="-120"/>
              </a:rPr>
              <a:t>처음 한 번은 내 카톡으로 먼저</a:t>
            </a:r>
            <a:endParaRPr lang="en-US" sz="1250" dirty="0"/>
          </a:p>
        </p:txBody>
      </p:sp>
      <p:sp>
        <p:nvSpPr>
          <p:cNvPr id="40" name="Text 34"/>
          <p:cNvSpPr txBox="1"/>
          <p:nvPr/>
        </p:nvSpPr>
        <p:spPr>
          <a:xfrm>
            <a:off x="7985455" y="4553712"/>
            <a:ext cx="3657600" cy="237744"/>
          </a:xfrm>
          <a:prstGeom prst="rect">
            <a:avLst/>
          </a:prstGeom>
          <a:noFill/>
          <a:ln/>
        </p:spPr>
        <p:txBody>
          <a:bodyPr wrap="square" lIns="0" tIns="0" rIns="0" bIns="0" rtlCol="0" anchor="ctr"/>
          <a:lstStyle/>
          <a:p>
            <a:pPr algn="r" indent="0" marL="0">
              <a:buNone/>
            </a:pPr>
            <a:r>
              <a:rPr lang="en-US" sz="1100" dirty="0">
                <a:solidFill>
                  <a:srgbClr val="8B95A1"/>
                </a:solidFill>
                <a:latin typeface="맑은 고딕" pitchFamily="34" charset="0"/>
                <a:ea typeface="맑은 고딕" pitchFamily="34" charset="-122"/>
                <a:cs typeface="맑은 고딕" pitchFamily="34" charset="-120"/>
              </a:rPr>
              <a:t>2026.06 실제 화면 · 이름은 가렸어요</a:t>
            </a:r>
            <a:endParaRPr lang="en-US" sz="1100" dirty="0"/>
          </a:p>
        </p:txBody>
      </p:sp>
      <p:sp>
        <p:nvSpPr>
          <p:cNvPr id="41" name="Shape 35"/>
          <p:cNvSpPr/>
          <p:nvPr/>
        </p:nvSpPr>
        <p:spPr>
          <a:xfrm>
            <a:off x="548640" y="5742432"/>
            <a:ext cx="11094415" cy="438912"/>
          </a:xfrm>
          <a:prstGeom prst="roundRect">
            <a:avLst>
              <a:gd name="adj" fmla="val 29167"/>
            </a:avLst>
          </a:prstGeom>
          <a:solidFill>
            <a:srgbClr val="FFF8E1"/>
          </a:solidFill>
          <a:ln w="12700">
            <a:solidFill>
              <a:srgbClr val="FFF8E1"/>
            </a:solidFill>
            <a:prstDash val="solid"/>
          </a:ln>
        </p:spPr>
      </p:sp>
      <p:sp>
        <p:nvSpPr>
          <p:cNvPr id="42" name="Text 36"/>
          <p:cNvSpPr txBox="1"/>
          <p:nvPr/>
        </p:nvSpPr>
        <p:spPr>
          <a:xfrm>
            <a:off x="868680" y="5742432"/>
            <a:ext cx="10454335" cy="438912"/>
          </a:xfrm>
          <a:prstGeom prst="rect">
            <a:avLst/>
          </a:prstGeom>
          <a:noFill/>
          <a:ln/>
        </p:spPr>
        <p:txBody>
          <a:bodyPr wrap="square" lIns="0" tIns="0" rIns="0" bIns="0" rtlCol="0" anchor="ctr"/>
          <a:lstStyle/>
          <a:p>
            <a:pPr indent="0" marL="0">
              <a:buNone/>
            </a:pPr>
            <a:r>
              <a:rPr lang="en-US" sz="1450" dirty="0">
                <a:solidFill>
                  <a:srgbClr val="191F28"/>
                </a:solidFill>
                <a:latin typeface="맑은 고딕" pitchFamily="34" charset="0"/>
                <a:ea typeface="맑은 고딕" pitchFamily="34" charset="-122"/>
                <a:cs typeface="맑은 고딕" pitchFamily="34" charset="-120"/>
              </a:rPr>
              <a:t>보내기 전 숫자·약관 근거·개인정보 확인 · ‘AI로 생성된 보조자료’ 표시가 붙어요</a:t>
            </a:r>
            <a:endParaRPr lang="en-US" sz="1450" dirty="0"/>
          </a:p>
        </p:txBody>
      </p:sp>
      <p:sp>
        <p:nvSpPr>
          <p:cNvPr id="43" name="Text 37"/>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4" name="Text 3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첫 5일, 하루 하나씩만 해 보세요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첫 사용까지 짧을수록 정착률이 높았어요(데이터분석팀 MeAI 사용 분석 2026.08).</a:t>
            </a:r>
            <a:endParaRPr lang="en-US" sz="1700" dirty="0"/>
          </a:p>
        </p:txBody>
      </p:sp>
      <p:sp>
        <p:nvSpPr>
          <p:cNvPr id="13" name="Shape 11"/>
          <p:cNvSpPr/>
          <p:nvPr/>
        </p:nvSpPr>
        <p:spPr>
          <a:xfrm>
            <a:off x="548640" y="2011680"/>
            <a:ext cx="2072579" cy="3246120"/>
          </a:xfrm>
          <a:prstGeom prst="roundRect">
            <a:avLst>
              <a:gd name="adj" fmla="val 7059"/>
            </a:avLst>
          </a:prstGeom>
          <a:solidFill>
            <a:srgbClr val="3182F6"/>
          </a:solidFill>
          <a:ln w="12700">
            <a:solidFill>
              <a:srgbClr val="3182F6"/>
            </a:solidFill>
            <a:prstDash val="solid"/>
          </a:ln>
        </p:spPr>
      </p:sp>
      <p:sp>
        <p:nvSpPr>
          <p:cNvPr id="14" name="Text 12"/>
          <p:cNvSpPr txBox="1"/>
          <p:nvPr/>
        </p:nvSpPr>
        <p:spPr>
          <a:xfrm>
            <a:off x="777240" y="2212848"/>
            <a:ext cx="1706819" cy="329184"/>
          </a:xfrm>
          <a:prstGeom prst="rect">
            <a:avLst/>
          </a:prstGeom>
          <a:noFill/>
          <a:ln/>
        </p:spPr>
        <p:txBody>
          <a:bodyPr wrap="square" lIns="0" tIns="0" rIns="0" bIns="0" rtlCol="0" anchor="ctr"/>
          <a:lstStyle/>
          <a:p>
            <a:pPr indent="0" marL="0">
              <a:buNone/>
            </a:pPr>
            <a:r>
              <a:rPr lang="en-US" sz="1400" b="1" dirty="0">
                <a:solidFill>
                  <a:srgbClr val="C9E2FF"/>
                </a:solidFill>
                <a:latin typeface="맑은 고딕" pitchFamily="34" charset="0"/>
                <a:ea typeface="맑은 고딕" pitchFamily="34" charset="-122"/>
                <a:cs typeface="맑은 고딕" pitchFamily="34" charset="-120"/>
              </a:rPr>
              <a:t>DAY 1</a:t>
            </a:r>
            <a:endParaRPr lang="en-US" sz="1400" dirty="0"/>
          </a:p>
        </p:txBody>
      </p:sp>
      <p:sp>
        <p:nvSpPr>
          <p:cNvPr id="15" name="Text 13"/>
          <p:cNvSpPr txBox="1"/>
          <p:nvPr/>
        </p:nvSpPr>
        <p:spPr>
          <a:xfrm>
            <a:off x="777240" y="2578608"/>
            <a:ext cx="1752539" cy="731520"/>
          </a:xfrm>
          <a:prstGeom prst="rect">
            <a:avLst/>
          </a:prstGeom>
          <a:noFill/>
          <a:ln/>
        </p:spPr>
        <p:txBody>
          <a:bodyPr wrap="square" lIns="0" tIns="0" rIns="0" bIns="0" rtlCol="0" anchor="t"/>
          <a:lstStyle/>
          <a:p>
            <a:pPr indent="0" marL="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MeAI 홈 열기</a:t>
            </a:r>
            <a:endParaRPr lang="en-US" sz="2000" dirty="0"/>
          </a:p>
        </p:txBody>
      </p:sp>
      <p:sp>
        <p:nvSpPr>
          <p:cNvPr id="16" name="Text 14"/>
          <p:cNvSpPr txBox="1"/>
          <p:nvPr/>
        </p:nvSpPr>
        <p:spPr>
          <a:xfrm>
            <a:off x="777240" y="3383280"/>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숫자 4개와</a:t>
            </a:r>
            <a:endParaRPr lang="en-US" sz="1450" dirty="0"/>
          </a:p>
          <a:p>
            <a:pPr indent="0" marL="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추천 카드 3장 읽기</a:t>
            </a:r>
            <a:endParaRPr lang="en-US" sz="1450" dirty="0"/>
          </a:p>
        </p:txBody>
      </p:sp>
      <p:sp>
        <p:nvSpPr>
          <p:cNvPr id="17" name="Text 15"/>
          <p:cNvSpPr txBox="1"/>
          <p:nvPr/>
        </p:nvSpPr>
        <p:spPr>
          <a:xfrm>
            <a:off x="777240" y="4279392"/>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질문 예시</a:t>
            </a:r>
            <a:endParaRPr lang="en-US" sz="1450" dirty="0"/>
          </a:p>
          <a:p>
            <a:pPr indent="0" marL="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하나 눌러 보기</a:t>
            </a:r>
            <a:endParaRPr lang="en-US" sz="1450" dirty="0"/>
          </a:p>
        </p:txBody>
      </p:sp>
      <p:sp>
        <p:nvSpPr>
          <p:cNvPr id="18" name="Shape 16"/>
          <p:cNvSpPr/>
          <p:nvPr/>
        </p:nvSpPr>
        <p:spPr>
          <a:xfrm>
            <a:off x="2804099" y="2011680"/>
            <a:ext cx="2072579" cy="324612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9" name="Text 17"/>
          <p:cNvSpPr txBox="1"/>
          <p:nvPr/>
        </p:nvSpPr>
        <p:spPr>
          <a:xfrm>
            <a:off x="3032699" y="2212848"/>
            <a:ext cx="1706819"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2</a:t>
            </a:r>
            <a:endParaRPr lang="en-US" sz="1400" dirty="0"/>
          </a:p>
        </p:txBody>
      </p:sp>
      <p:sp>
        <p:nvSpPr>
          <p:cNvPr id="20" name="Text 18"/>
          <p:cNvSpPr txBox="1"/>
          <p:nvPr/>
        </p:nvSpPr>
        <p:spPr>
          <a:xfrm>
            <a:off x="3032699" y="2578608"/>
            <a:ext cx="1752539" cy="731520"/>
          </a:xfrm>
          <a:prstGeom prst="rect">
            <a:avLst/>
          </a:prstGeom>
          <a:noFill/>
          <a:ln/>
        </p:spPr>
        <p:txBody>
          <a:bodyPr wrap="square" lIns="0" tIns="0" rIns="0" bIns="0" rtlCol="0" anchor="t"/>
          <a:lstStyle/>
          <a:p>
            <a:pPr indent="0" marL="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카드 → 고객찾기</a:t>
            </a:r>
            <a:endParaRPr lang="en-US" sz="2000" dirty="0"/>
          </a:p>
        </p:txBody>
      </p:sp>
      <p:sp>
        <p:nvSpPr>
          <p:cNvPr id="21" name="Text 19"/>
          <p:cNvSpPr txBox="1"/>
          <p:nvPr/>
        </p:nvSpPr>
        <p:spPr>
          <a:xfrm>
            <a:off x="3032699" y="3383280"/>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한눈에 보기</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6칸 확인</a:t>
            </a:r>
            <a:endParaRPr lang="en-US" sz="1450" dirty="0"/>
          </a:p>
        </p:txBody>
      </p:sp>
      <p:sp>
        <p:nvSpPr>
          <p:cNvPr id="22" name="Text 20"/>
          <p:cNvSpPr txBox="1"/>
          <p:nvPr/>
        </p:nvSpPr>
        <p:spPr>
          <a:xfrm>
            <a:off x="3032699" y="4279392"/>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추천 질문</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눌러 보기</a:t>
            </a:r>
            <a:endParaRPr lang="en-US" sz="1450" dirty="0"/>
          </a:p>
        </p:txBody>
      </p:sp>
      <p:sp>
        <p:nvSpPr>
          <p:cNvPr id="23" name="Shape 21"/>
          <p:cNvSpPr/>
          <p:nvPr/>
        </p:nvSpPr>
        <p:spPr>
          <a:xfrm>
            <a:off x="5059558" y="2011680"/>
            <a:ext cx="2072579" cy="324612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4" name="Text 22"/>
          <p:cNvSpPr txBox="1"/>
          <p:nvPr/>
        </p:nvSpPr>
        <p:spPr>
          <a:xfrm>
            <a:off x="5288158" y="2212848"/>
            <a:ext cx="1706819"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3</a:t>
            </a:r>
            <a:endParaRPr lang="en-US" sz="1400" dirty="0"/>
          </a:p>
        </p:txBody>
      </p:sp>
      <p:sp>
        <p:nvSpPr>
          <p:cNvPr id="25" name="Text 23"/>
          <p:cNvSpPr txBox="1"/>
          <p:nvPr/>
        </p:nvSpPr>
        <p:spPr>
          <a:xfrm>
            <a:off x="5288158" y="2578608"/>
            <a:ext cx="1752539" cy="731520"/>
          </a:xfrm>
          <a:prstGeom prst="rect">
            <a:avLst/>
          </a:prstGeom>
          <a:noFill/>
          <a:ln/>
        </p:spPr>
        <p:txBody>
          <a:bodyPr wrap="square" lIns="0" tIns="0" rIns="0" bIns="0" rtlCol="0" anchor="t"/>
          <a:lstStyle/>
          <a:p>
            <a:pPr indent="0" marL="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맞춤대화 시작</a:t>
            </a:r>
            <a:endParaRPr lang="en-US" sz="2000" dirty="0"/>
          </a:p>
        </p:txBody>
      </p:sp>
      <p:sp>
        <p:nvSpPr>
          <p:cNvPr id="26" name="Text 24"/>
          <p:cNvSpPr txBox="1"/>
          <p:nvPr/>
        </p:nvSpPr>
        <p:spPr>
          <a:xfrm>
            <a:off x="5288158" y="3383280"/>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[보장분석 해줘]</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다음 질문 2번</a:t>
            </a:r>
            <a:endParaRPr lang="en-US" sz="1450" dirty="0"/>
          </a:p>
        </p:txBody>
      </p:sp>
      <p:sp>
        <p:nvSpPr>
          <p:cNvPr id="27" name="Text 25"/>
          <p:cNvSpPr txBox="1"/>
          <p:nvPr/>
        </p:nvSpPr>
        <p:spPr>
          <a:xfrm>
            <a:off x="5288158" y="4279392"/>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부족 보장</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3개 메모</a:t>
            </a:r>
            <a:endParaRPr lang="en-US" sz="1450" dirty="0"/>
          </a:p>
        </p:txBody>
      </p:sp>
      <p:sp>
        <p:nvSpPr>
          <p:cNvPr id="28" name="Shape 26"/>
          <p:cNvSpPr/>
          <p:nvPr/>
        </p:nvSpPr>
        <p:spPr>
          <a:xfrm>
            <a:off x="7315017" y="2011680"/>
            <a:ext cx="2072579" cy="324612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9" name="Text 27"/>
          <p:cNvSpPr txBox="1"/>
          <p:nvPr/>
        </p:nvSpPr>
        <p:spPr>
          <a:xfrm>
            <a:off x="7543617" y="2212848"/>
            <a:ext cx="1706819"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4</a:t>
            </a:r>
            <a:endParaRPr lang="en-US" sz="1400" dirty="0"/>
          </a:p>
        </p:txBody>
      </p:sp>
      <p:sp>
        <p:nvSpPr>
          <p:cNvPr id="30" name="Text 28"/>
          <p:cNvSpPr txBox="1"/>
          <p:nvPr/>
        </p:nvSpPr>
        <p:spPr>
          <a:xfrm>
            <a:off x="7543617" y="2578608"/>
            <a:ext cx="1752539" cy="731520"/>
          </a:xfrm>
          <a:prstGeom prst="rect">
            <a:avLst/>
          </a:prstGeom>
          <a:noFill/>
          <a:ln/>
        </p:spPr>
        <p:txBody>
          <a:bodyPr wrap="square" lIns="0" tIns="0" rIns="0" bIns="0" rtlCol="0" anchor="t"/>
          <a:lstStyle/>
          <a:p>
            <a:pPr indent="0" marL="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그룹으로 찾기</a:t>
            </a:r>
            <a:endParaRPr lang="en-US" sz="2000" dirty="0"/>
          </a:p>
        </p:txBody>
      </p:sp>
      <p:sp>
        <p:nvSpPr>
          <p:cNvPr id="31" name="Text 29"/>
          <p:cNvSpPr txBox="1"/>
          <p:nvPr/>
        </p:nvSpPr>
        <p:spPr>
          <a:xfrm>
            <a:off x="7543617" y="3383280"/>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[사전동의 만료]</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그룹 확인</a:t>
            </a:r>
            <a:endParaRPr lang="en-US" sz="1450" dirty="0"/>
          </a:p>
        </p:txBody>
      </p:sp>
      <p:sp>
        <p:nvSpPr>
          <p:cNvPr id="32" name="Text 30"/>
          <p:cNvSpPr txBox="1"/>
          <p:nvPr/>
        </p:nvSpPr>
        <p:spPr>
          <a:xfrm>
            <a:off x="7543617" y="4279392"/>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D-n 짧은 1명께</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재동의 부탁하기</a:t>
            </a:r>
            <a:endParaRPr lang="en-US" sz="1450" dirty="0"/>
          </a:p>
        </p:txBody>
      </p:sp>
      <p:sp>
        <p:nvSpPr>
          <p:cNvPr id="33" name="Shape 31"/>
          <p:cNvSpPr/>
          <p:nvPr/>
        </p:nvSpPr>
        <p:spPr>
          <a:xfrm>
            <a:off x="9570476" y="2011680"/>
            <a:ext cx="2072579" cy="324612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4" name="Text 32"/>
          <p:cNvSpPr txBox="1"/>
          <p:nvPr/>
        </p:nvSpPr>
        <p:spPr>
          <a:xfrm>
            <a:off x="9799076" y="2212848"/>
            <a:ext cx="1706819" cy="329184"/>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5</a:t>
            </a:r>
            <a:endParaRPr lang="en-US" sz="1400" dirty="0"/>
          </a:p>
        </p:txBody>
      </p:sp>
      <p:sp>
        <p:nvSpPr>
          <p:cNvPr id="35" name="Text 33"/>
          <p:cNvSpPr txBox="1"/>
          <p:nvPr/>
        </p:nvSpPr>
        <p:spPr>
          <a:xfrm>
            <a:off x="9799076" y="2578608"/>
            <a:ext cx="1752539" cy="731520"/>
          </a:xfrm>
          <a:prstGeom prst="rect">
            <a:avLst/>
          </a:prstGeom>
          <a:noFill/>
          <a:ln/>
        </p:spPr>
        <p:txBody>
          <a:bodyPr wrap="square" lIns="0" tIns="0" rIns="0" bIns="0" rtlCol="0" anchor="t"/>
          <a:lstStyle/>
          <a:p>
            <a:pPr indent="0" marL="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리포트 보내기</a:t>
            </a:r>
            <a:endParaRPr lang="en-US" sz="2000" dirty="0"/>
          </a:p>
        </p:txBody>
      </p:sp>
      <p:sp>
        <p:nvSpPr>
          <p:cNvPr id="36" name="Text 34"/>
          <p:cNvSpPr txBox="1"/>
          <p:nvPr/>
        </p:nvSpPr>
        <p:spPr>
          <a:xfrm>
            <a:off x="9799076" y="3383280"/>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요약 리포트</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내 카톡으로 받기</a:t>
            </a:r>
            <a:endParaRPr lang="en-US" sz="1450" dirty="0"/>
          </a:p>
        </p:txBody>
      </p:sp>
      <p:sp>
        <p:nvSpPr>
          <p:cNvPr id="37" name="Text 35"/>
          <p:cNvSpPr txBox="1"/>
          <p:nvPr/>
        </p:nvSpPr>
        <p:spPr>
          <a:xfrm>
            <a:off x="9799076" y="4279392"/>
            <a:ext cx="1752539" cy="822960"/>
          </a:xfrm>
          <a:prstGeom prst="rect">
            <a:avLst/>
          </a:prstGeom>
          <a:noFill/>
          <a:ln/>
        </p:spPr>
        <p:txBody>
          <a:bodyPr wrap="square" lIns="0" tIns="0" rIns="0" bIns="0" rtlCol="0" anchor="t"/>
          <a:lstStyle/>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좋았던 질문</a:t>
            </a:r>
            <a:endParaRPr lang="en-US" sz="1450" dirty="0"/>
          </a:p>
          <a:p>
            <a:pPr indent="0" marL="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나의 질문에 저장</a:t>
            </a:r>
            <a:endParaRPr lang="en-US" sz="1450" dirty="0"/>
          </a:p>
        </p:txBody>
      </p:sp>
      <p:sp>
        <p:nvSpPr>
          <p:cNvPr id="38" name="Shape 36"/>
          <p:cNvSpPr/>
          <p:nvPr/>
        </p:nvSpPr>
        <p:spPr>
          <a:xfrm>
            <a:off x="548640" y="5486400"/>
            <a:ext cx="11094415" cy="713232"/>
          </a:xfrm>
          <a:prstGeom prst="roundRect">
            <a:avLst>
              <a:gd name="adj" fmla="val 17949"/>
            </a:avLst>
          </a:prstGeom>
          <a:solidFill>
            <a:srgbClr val="191F28"/>
          </a:solidFill>
          <a:ln w="12700">
            <a:solidFill>
              <a:srgbClr val="191F28"/>
            </a:solidFill>
            <a:prstDash val="solid"/>
          </a:ln>
        </p:spPr>
      </p:sp>
      <p:sp>
        <p:nvSpPr>
          <p:cNvPr id="39" name="Text 37"/>
          <p:cNvSpPr txBox="1"/>
          <p:nvPr/>
        </p:nvSpPr>
        <p:spPr>
          <a:xfrm>
            <a:off x="868680" y="5486400"/>
            <a:ext cx="10454335" cy="713232"/>
          </a:xfrm>
          <a:prstGeom prst="rect">
            <a:avLst/>
          </a:prstGeom>
          <a:noFill/>
          <a:ln/>
        </p:spPr>
        <p:txBody>
          <a:bodyPr wrap="square" lIns="0" tIns="0" rIns="0" bIns="0" rtlCol="0" anchor="ctr"/>
          <a:lstStyle/>
          <a:p>
            <a:pPr indent="0" marL="0">
              <a:buNone/>
            </a:pPr>
            <a:r>
              <a:rPr lang="en-US" sz="2000" b="1" dirty="0">
                <a:solidFill>
                  <a:srgbClr val="C9E2FF"/>
                </a:solidFill>
                <a:latin typeface="맑은 고딕" pitchFamily="34" charset="0"/>
                <a:ea typeface="맑은 고딕" pitchFamily="34" charset="-122"/>
                <a:cs typeface="맑은 고딕" pitchFamily="34" charset="-120"/>
              </a:rPr>
              <a:t>5일 뒤   </a:t>
            </a:r>
            <a:pPr indent="0" marL="0">
              <a:buNone/>
            </a:pPr>
            <a:r>
              <a:rPr lang="en-US" sz="2000" b="1" dirty="0">
                <a:solidFill>
                  <a:srgbClr val="FFFFFF"/>
                </a:solidFill>
                <a:latin typeface="맑은 고딕" pitchFamily="34" charset="0"/>
                <a:ea typeface="맑은 고딕" pitchFamily="34" charset="-122"/>
                <a:cs typeface="맑은 고딕" pitchFamily="34" charset="-120"/>
              </a:rPr>
              <a:t>“MeAI 홈에서 하루를 시작하는 사람”이 돼요.</a:t>
            </a:r>
            <a:endParaRPr lang="en-US" sz="2000" dirty="0"/>
          </a:p>
        </p:txBody>
      </p:sp>
      <p:sp>
        <p:nvSpPr>
          <p:cNvPr id="40" name="Text 3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1" name="Text 3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182F6"/>
        </a:solidFill>
      </p:bgPr>
    </p:bg>
    <p:spTree>
      <p:nvGrpSpPr>
        <p:cNvPr id="1" name=""/>
        <p:cNvGrpSpPr/>
        <p:nvPr/>
      </p:nvGrpSpPr>
      <p:grpSpPr>
        <a:xfrm>
          <a:off x="0" y="0"/>
          <a:ext cx="0" cy="0"/>
          <a:chOff x="0" y="0"/>
          <a:chExt cx="0" cy="0"/>
        </a:xfrm>
      </p:grpSpPr>
      <p:sp>
        <p:nvSpPr>
          <p:cNvPr id="2" name="Text 0"/>
          <p:cNvSpPr txBox="1"/>
          <p:nvPr/>
        </p:nvSpPr>
        <p:spPr>
          <a:xfrm>
            <a:off x="6522415" y="731520"/>
            <a:ext cx="5120640" cy="2194560"/>
          </a:xfrm>
          <a:prstGeom prst="rect">
            <a:avLst/>
          </a:prstGeom>
          <a:noFill/>
          <a:ln/>
        </p:spPr>
        <p:txBody>
          <a:bodyPr wrap="square" lIns="0" tIns="0" rIns="0" bIns="0" rtlCol="0" anchor="t"/>
          <a:lstStyle/>
          <a:p>
            <a:pPr algn="r" indent="0" marL="0">
              <a:buNone/>
            </a:pPr>
            <a:r>
              <a:rPr lang="en-US" sz="12000" b="1" dirty="0">
                <a:solidFill>
                  <a:srgbClr val="FFFFFF">
                    <a:alpha val="18000"/>
                  </a:srgbClr>
                </a:solidFill>
                <a:latin typeface="맑은 고딕" pitchFamily="34" charset="0"/>
                <a:ea typeface="맑은 고딕" pitchFamily="34" charset="-122"/>
                <a:cs typeface="맑은 고딕" pitchFamily="34" charset="-120"/>
              </a:rPr>
              <a:t>MeAI</a:t>
            </a:r>
            <a:endParaRPr lang="en-US" sz="12000" dirty="0"/>
          </a:p>
        </p:txBody>
      </p:sp>
      <p:sp>
        <p:nvSpPr>
          <p:cNvPr id="3" name="Text 1"/>
          <p:cNvSpPr txBox="1"/>
          <p:nvPr/>
        </p:nvSpPr>
        <p:spPr>
          <a:xfrm>
            <a:off x="731520" y="502920"/>
            <a:ext cx="3657600" cy="329184"/>
          </a:xfrm>
          <a:prstGeom prst="rect">
            <a:avLst/>
          </a:prstGeom>
          <a:noFill/>
          <a:ln/>
        </p:spPr>
        <p:txBody>
          <a:bodyPr wrap="square" lIns="0" tIns="0" rIns="0" bIns="0" rtlCol="0" anchor="ctr"/>
          <a:lstStyle/>
          <a:p>
            <a:pPr indent="0" marL="0">
              <a:buNone/>
            </a:pPr>
            <a:r>
              <a:rPr lang="en-US" sz="1400" b="1" dirty="0">
                <a:solidFill>
                  <a:srgbClr val="C9E2FF"/>
                </a:solidFill>
                <a:latin typeface="맑은 고딕" pitchFamily="34" charset="0"/>
                <a:ea typeface="맑은 고딕" pitchFamily="34" charset="-122"/>
                <a:cs typeface="맑은 고딕" pitchFamily="34" charset="-120"/>
              </a:rPr>
              <a:t>마무리</a:t>
            </a:r>
            <a:endParaRPr lang="en-US" sz="1400" dirty="0"/>
          </a:p>
        </p:txBody>
      </p:sp>
      <p:sp>
        <p:nvSpPr>
          <p:cNvPr id="4" name="Shape 2"/>
          <p:cNvSpPr/>
          <p:nvPr/>
        </p:nvSpPr>
        <p:spPr>
          <a:xfrm>
            <a:off x="731520" y="896112"/>
            <a:ext cx="884936" cy="365760"/>
          </a:xfrm>
          <a:prstGeom prst="roundRect">
            <a:avLst>
              <a:gd name="adj" fmla="val 50000"/>
            </a:avLst>
          </a:prstGeom>
          <a:solidFill>
            <a:srgbClr val="1B64DA"/>
          </a:solidFill>
          <a:ln w="12700">
            <a:solidFill>
              <a:srgbClr val="1B64DA"/>
            </a:solidFill>
            <a:prstDash val="solid"/>
          </a:ln>
        </p:spPr>
      </p:sp>
      <p:sp>
        <p:nvSpPr>
          <p:cNvPr id="5" name="Text 3"/>
          <p:cNvSpPr txBox="1"/>
          <p:nvPr/>
        </p:nvSpPr>
        <p:spPr>
          <a:xfrm>
            <a:off x="731520" y="896112"/>
            <a:ext cx="88493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1 찾기</a:t>
            </a:r>
            <a:endParaRPr lang="en-US" sz="1400" dirty="0"/>
          </a:p>
        </p:txBody>
      </p:sp>
      <p:sp>
        <p:nvSpPr>
          <p:cNvPr id="6" name="Shape 4"/>
          <p:cNvSpPr/>
          <p:nvPr/>
        </p:nvSpPr>
        <p:spPr>
          <a:xfrm>
            <a:off x="1744472" y="896112"/>
            <a:ext cx="1062736" cy="365760"/>
          </a:xfrm>
          <a:prstGeom prst="roundRect">
            <a:avLst>
              <a:gd name="adj" fmla="val 50000"/>
            </a:avLst>
          </a:prstGeom>
          <a:solidFill>
            <a:srgbClr val="1B64DA"/>
          </a:solidFill>
          <a:ln w="12700">
            <a:solidFill>
              <a:srgbClr val="1B64DA"/>
            </a:solidFill>
            <a:prstDash val="solid"/>
          </a:ln>
        </p:spPr>
      </p:sp>
      <p:sp>
        <p:nvSpPr>
          <p:cNvPr id="7" name="Text 5"/>
          <p:cNvSpPr txBox="1"/>
          <p:nvPr/>
        </p:nvSpPr>
        <p:spPr>
          <a:xfrm>
            <a:off x="1744472" y="896112"/>
            <a:ext cx="106273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2 고르기</a:t>
            </a:r>
            <a:endParaRPr lang="en-US" sz="1400" dirty="0"/>
          </a:p>
        </p:txBody>
      </p:sp>
      <p:sp>
        <p:nvSpPr>
          <p:cNvPr id="8" name="Shape 6"/>
          <p:cNvSpPr/>
          <p:nvPr/>
        </p:nvSpPr>
        <p:spPr>
          <a:xfrm>
            <a:off x="2935224" y="896112"/>
            <a:ext cx="884936" cy="365760"/>
          </a:xfrm>
          <a:prstGeom prst="roundRect">
            <a:avLst>
              <a:gd name="adj" fmla="val 50000"/>
            </a:avLst>
          </a:prstGeom>
          <a:solidFill>
            <a:srgbClr val="1B64DA"/>
          </a:solidFill>
          <a:ln w="12700">
            <a:solidFill>
              <a:srgbClr val="1B64DA"/>
            </a:solidFill>
            <a:prstDash val="solid"/>
          </a:ln>
        </p:spPr>
      </p:sp>
      <p:sp>
        <p:nvSpPr>
          <p:cNvPr id="9" name="Text 7"/>
          <p:cNvSpPr txBox="1"/>
          <p:nvPr/>
        </p:nvSpPr>
        <p:spPr>
          <a:xfrm>
            <a:off x="2935224" y="896112"/>
            <a:ext cx="88493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3 묻기</a:t>
            </a:r>
            <a:endParaRPr lang="en-US" sz="1400" dirty="0"/>
          </a:p>
        </p:txBody>
      </p:sp>
      <p:sp>
        <p:nvSpPr>
          <p:cNvPr id="10" name="Shape 8"/>
          <p:cNvSpPr/>
          <p:nvPr/>
        </p:nvSpPr>
        <p:spPr>
          <a:xfrm>
            <a:off x="3948176" y="896112"/>
            <a:ext cx="1240536" cy="365760"/>
          </a:xfrm>
          <a:prstGeom prst="roundRect">
            <a:avLst>
              <a:gd name="adj" fmla="val 50000"/>
            </a:avLst>
          </a:prstGeom>
          <a:solidFill>
            <a:srgbClr val="1B64DA"/>
          </a:solidFill>
          <a:ln w="12700">
            <a:solidFill>
              <a:srgbClr val="1B64DA"/>
            </a:solidFill>
            <a:prstDash val="solid"/>
          </a:ln>
        </p:spPr>
      </p:sp>
      <p:sp>
        <p:nvSpPr>
          <p:cNvPr id="11" name="Text 9"/>
          <p:cNvSpPr txBox="1"/>
          <p:nvPr/>
        </p:nvSpPr>
        <p:spPr>
          <a:xfrm>
            <a:off x="3948176" y="896112"/>
            <a:ext cx="124053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4 터치하기</a:t>
            </a:r>
            <a:endParaRPr lang="en-US" sz="1400" dirty="0"/>
          </a:p>
        </p:txBody>
      </p:sp>
      <p:sp>
        <p:nvSpPr>
          <p:cNvPr id="12" name="Text 10"/>
          <p:cNvSpPr txBox="1"/>
          <p:nvPr/>
        </p:nvSpPr>
        <p:spPr>
          <a:xfrm>
            <a:off x="731520" y="1463040"/>
            <a:ext cx="8229600" cy="2194560"/>
          </a:xfrm>
          <a:prstGeom prst="rect">
            <a:avLst/>
          </a:prstGeom>
          <a:noFill/>
          <a:ln/>
        </p:spPr>
        <p:txBody>
          <a:bodyPr wrap="square" lIns="0" tIns="0" rIns="0" bIns="0" rtlCol="0" anchor="t"/>
          <a:lstStyle/>
          <a:p>
            <a:pPr indent="0" marL="0">
              <a:lnSpc>
                <a:spcPct val="112000"/>
              </a:lnSpc>
              <a:buNone/>
            </a:pPr>
            <a:r>
              <a:rPr lang="en-US" sz="5200" b="1" dirty="0">
                <a:solidFill>
                  <a:srgbClr val="FFFFFF"/>
                </a:solidFill>
                <a:latin typeface="맑은 고딕" pitchFamily="34" charset="0"/>
                <a:ea typeface="맑은 고딕" pitchFamily="34" charset="-122"/>
                <a:cs typeface="맑은 고딕" pitchFamily="34" charset="-120"/>
              </a:rPr>
              <a:t>오늘 연락할 내 고객은,</a:t>
            </a:r>
            <a:endParaRPr lang="en-US" sz="5200" dirty="0"/>
          </a:p>
          <a:p>
            <a:pPr indent="0" marL="0">
              <a:lnSpc>
                <a:spcPct val="112000"/>
              </a:lnSpc>
              <a:buNone/>
            </a:pPr>
            <a:r>
              <a:rPr lang="en-US" sz="5200" b="1" dirty="0">
                <a:solidFill>
                  <a:srgbClr val="FFFFFF"/>
                </a:solidFill>
                <a:latin typeface="맑은 고딕" pitchFamily="34" charset="0"/>
                <a:ea typeface="맑은 고딕" pitchFamily="34" charset="-122"/>
                <a:cs typeface="맑은 고딕" pitchFamily="34" charset="-120"/>
              </a:rPr>
              <a:t>MeAI 홈에 있어요</a:t>
            </a:r>
            <a:endParaRPr lang="en-US" sz="5200" dirty="0"/>
          </a:p>
        </p:txBody>
      </p:sp>
      <p:sp>
        <p:nvSpPr>
          <p:cNvPr id="13" name="Text 11"/>
          <p:cNvSpPr txBox="1"/>
          <p:nvPr/>
        </p:nvSpPr>
        <p:spPr>
          <a:xfrm>
            <a:off x="731520" y="3749040"/>
            <a:ext cx="8229600" cy="502920"/>
          </a:xfrm>
          <a:prstGeom prst="rect">
            <a:avLst/>
          </a:prstGeom>
          <a:noFill/>
          <a:ln/>
        </p:spPr>
        <p:txBody>
          <a:bodyPr wrap="square" lIns="0" tIns="0" rIns="0" bIns="0" rtlCol="0" anchor="ctr"/>
          <a:lstStyle/>
          <a:p>
            <a:pPr indent="0" marL="0">
              <a:buNone/>
            </a:pPr>
            <a:r>
              <a:rPr lang="en-US" sz="2400" dirty="0">
                <a:solidFill>
                  <a:srgbClr val="FFFFFF"/>
                </a:solidFill>
                <a:latin typeface="맑은 고딕" pitchFamily="34" charset="0"/>
                <a:ea typeface="맑은 고딕" pitchFamily="34" charset="-122"/>
                <a:cs typeface="맑은 고딕" pitchFamily="34" charset="-120"/>
              </a:rPr>
              <a:t>찾는 일은 MeAI가, 만나는 일은 여러분이.</a:t>
            </a:r>
            <a:endParaRPr lang="en-US" sz="2400" dirty="0"/>
          </a:p>
        </p:txBody>
      </p:sp>
      <p:sp>
        <p:nvSpPr>
          <p:cNvPr id="14" name="Shape 12"/>
          <p:cNvSpPr/>
          <p:nvPr/>
        </p:nvSpPr>
        <p:spPr>
          <a:xfrm>
            <a:off x="731520" y="4480560"/>
            <a:ext cx="3638550" cy="457200"/>
          </a:xfrm>
          <a:prstGeom prst="roundRect">
            <a:avLst>
              <a:gd name="adj" fmla="val 50000"/>
            </a:avLst>
          </a:prstGeom>
          <a:solidFill>
            <a:srgbClr val="1B64DA"/>
          </a:solidFill>
          <a:ln w="12700">
            <a:solidFill>
              <a:srgbClr val="1B64DA"/>
            </a:solidFill>
            <a:prstDash val="solid"/>
          </a:ln>
        </p:spPr>
      </p:sp>
      <p:sp>
        <p:nvSpPr>
          <p:cNvPr id="15" name="Text 13"/>
          <p:cNvSpPr txBox="1"/>
          <p:nvPr/>
        </p:nvSpPr>
        <p:spPr>
          <a:xfrm>
            <a:off x="731520" y="4480560"/>
            <a:ext cx="363855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매일 아침 MeAI 홈 · 오늘 한 분께 터치</a:t>
            </a:r>
            <a:endParaRPr lang="en-US" sz="1500" dirty="0"/>
          </a:p>
        </p:txBody>
      </p:sp>
      <p:sp>
        <p:nvSpPr>
          <p:cNvPr id="16" name="Shape 14"/>
          <p:cNvSpPr/>
          <p:nvPr/>
        </p:nvSpPr>
        <p:spPr>
          <a:xfrm>
            <a:off x="4552950" y="4480560"/>
            <a:ext cx="2125980" cy="457200"/>
          </a:xfrm>
          <a:prstGeom prst="roundRect">
            <a:avLst>
              <a:gd name="adj" fmla="val 50000"/>
            </a:avLst>
          </a:prstGeom>
          <a:solidFill>
            <a:srgbClr val="1B64DA"/>
          </a:solidFill>
          <a:ln w="12700">
            <a:solidFill>
              <a:srgbClr val="1B64DA"/>
            </a:solidFill>
            <a:prstDash val="solid"/>
          </a:ln>
        </p:spPr>
      </p:sp>
      <p:sp>
        <p:nvSpPr>
          <p:cNvPr id="17" name="Text 15"/>
          <p:cNvSpPr txBox="1"/>
          <p:nvPr/>
        </p:nvSpPr>
        <p:spPr>
          <a:xfrm>
            <a:off x="4552950" y="4480560"/>
            <a:ext cx="21259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문의 · 세일즈혁신TF</a:t>
            </a:r>
            <a:endParaRPr lang="en-US" sz="1500" dirty="0"/>
          </a:p>
        </p:txBody>
      </p:sp>
      <p:sp>
        <p:nvSpPr>
          <p:cNvPr id="18" name="Text 16"/>
          <p:cNvSpPr txBox="1"/>
          <p:nvPr/>
        </p:nvSpPr>
        <p:spPr>
          <a:xfrm>
            <a:off x="731520" y="5074920"/>
            <a:ext cx="10728655" cy="329184"/>
          </a:xfrm>
          <a:prstGeom prst="rect">
            <a:avLst/>
          </a:prstGeom>
          <a:noFill/>
          <a:ln/>
        </p:spPr>
        <p:txBody>
          <a:bodyPr wrap="square" lIns="0" tIns="0" rIns="0" bIns="0" rtlCol="0" anchor="ctr"/>
          <a:lstStyle/>
          <a:p>
            <a:pPr indent="0" marL="0">
              <a:buNone/>
            </a:pPr>
            <a:r>
              <a:rPr lang="en-US" sz="1500" dirty="0">
                <a:solidFill>
                  <a:srgbClr val="FFFFFF">
                    <a:alpha val="85000"/>
                  </a:srgbClr>
                </a:solidFill>
                <a:latin typeface="맑은 고딕" pitchFamily="34" charset="0"/>
                <a:ea typeface="맑은 고딕" pitchFamily="34" charset="-122"/>
                <a:cs typeface="맑은 고딕" pitchFamily="34" charset="-120"/>
              </a:rPr>
              <a:t>MeAI 홈 CRM(추천 고객·고객찾기)을 만든 분들 · AI추진파트 문현우님 · 이경복님</a:t>
            </a:r>
            <a:endParaRPr lang="en-US" sz="1500" dirty="0"/>
          </a:p>
        </p:txBody>
      </p:sp>
      <p:sp>
        <p:nvSpPr>
          <p:cNvPr id="19" name="Text 17"/>
          <p:cNvSpPr txBox="1"/>
          <p:nvPr/>
        </p:nvSpPr>
        <p:spPr>
          <a:xfrm>
            <a:off x="731520" y="5559552"/>
            <a:ext cx="10728655" cy="502920"/>
          </a:xfrm>
          <a:prstGeom prst="rect">
            <a:avLst/>
          </a:prstGeom>
          <a:noFill/>
          <a:ln/>
        </p:spPr>
        <p:txBody>
          <a:bodyPr wrap="square" lIns="0" tIns="0" rIns="0" bIns="0" rtlCol="0" anchor="ctr"/>
          <a:lstStyle/>
          <a:p>
            <a:pPr indent="0" marL="0">
              <a:lnSpc>
                <a:spcPct val="120000"/>
              </a:lnSpc>
              <a:buNone/>
            </a:pPr>
            <a:r>
              <a:rPr lang="en-US" sz="1150" dirty="0">
                <a:solidFill>
                  <a:srgbClr val="FFFFFF">
                    <a:alpha val="90000"/>
                  </a:srgbClr>
                </a:solidFill>
                <a:latin typeface="맑은 고딕" pitchFamily="34" charset="0"/>
                <a:ea typeface="맑은 고딕" pitchFamily="34" charset="-122"/>
                <a:cs typeface="맑은 고딕" pitchFamily="34" charset="-120"/>
              </a:rPr>
              <a:t>본 자료의 전부·일부(수정 포함)의 외부 제공·배포·게시(온/오프라인)는 금지됩니다. 미검증으로 인한 금융소비자보호법 등 관련 법령상 책임은 사용자에게 있습니다. 화면 속 고객 이름·숫자는 예시 데이터입니다.</a:t>
            </a:r>
            <a:endParaRPr lang="en-US" sz="1150" dirty="0"/>
          </a:p>
        </p:txBody>
      </p:sp>
      <p:sp>
        <p:nvSpPr>
          <p:cNvPr id="20" name="Text 1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21" name="Text 1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FFFFFF"/>
                </a:solidFill>
                <a:latin typeface="맑은 고딕" pitchFamily="34" charset="0"/>
                <a:ea typeface="맑은 고딕" pitchFamily="34" charset="-122"/>
                <a:cs typeface="맑은 고딕"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진행용 · 송출 제외</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진행 큐시트</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숨김 장 · 송출·PDF 제외 · 개발자 코너(5장)는 시간 유동 · 대본 전문은 각 장의 발표자 노트</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868680"/>
                <a:gridCol w="384048"/>
                <a:gridCol w="658368"/>
                <a:gridCol w="3017520"/>
                <a:gridCol w="6165799"/>
              </a:tblGrid>
              <a:tr h="182880">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예상 시작</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장</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예상</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화면</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진행 메모</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00:00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표지 · MeAI 홈(추천 세트 3)</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오프닝 음악이 끝나면 바로 시작.</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00:35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60초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오늘의 순서 · 먼저 줄 + 네 걸음</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위 '먼저' 줄을 왼쪽에서 오른쪽으로 짚고(왜 MeAI 홈인가 → 만든 분께 듣기…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01:35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왜 MeAI 홈인가 · 7%·2%·2.8배·4배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숫자 7%와 2% 뒤 한 박자 쉼.</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03:25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4</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60초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만든 분 소개 · 두 분 초대</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두 분 입장·착석(진행자 오른쪽 두 자리), 핀마이크 2개 사전 음량 확인.</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04:25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240초+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MeAI 홈이 움직이는 방식 · 개발자 설명</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개발자 두 분은 4장 자리 그대로(진행자 오른쪽 두 자리), 핀마이크 2개 켠 채…</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0ED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08:25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6</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60초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MeAI 홈 가는 문 6</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5장(개발자 코너)에서 이 장으로 먼저 넘긴 뒤 첫 문장 시작: 두 분이 자리에 …</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09:25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7</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95초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MeAI 홈 한 화면(세트 3)</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번호 1→5 차례로 짚기.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11:00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8</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추천 카드 한 장(김민수)</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번호 ①→⑤ 순서로 카드를 짚음.</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12:50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9</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85초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고객찾기 세 단 · 김민수 펼친 카드</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첫 문장에서 앞 장의 김민수 카드를 떠올리게 한 뒤 핀 ①→②→③ 순서로 짚기.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14:15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100초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그룹 설명 · 언제 열까</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왼쪽 캡처는 위에서 아래로 파란 밑줄(묶인 기준)과 노란 표시(말할 방향)를 짚고…</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15:55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90초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동의 상태 · 알림톡</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세 줄을 위에서 아래로 짚기.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17:25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12</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130초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질문 고르기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첫 문장 '세 번째 걸음, 묻기입니다'에서 챕터 칩 '3 묻기'가 켜진 이 화면으…</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19:35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13</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130초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보장분석 해줘</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탭 2개 미리 열어 둠: ① 고객찾기 김도윤(동의 유효) [이 고객으로 맞춤대화 …</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21:45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14</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90초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답 읽는 순서</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핀 1→4 차례로 짚기.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23:15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직접 묻는 공식(누구에게 + 무엇을)</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14장 마지막 물음('직접 물을 때는 어떻게?')을 받아 바로 시작.</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25:05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16</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고객에게 할 말 초안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캡처 핀 1→3, 3번 성명·연락처 밑줄에서 멈춤.</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26:55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17</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105초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이렇게는 묻지 마세요</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①→④ 차례로 짚기.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28:40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18</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140초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김민수 고객 시연(상령일 2주 전 · 동의부터)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방송 화면으로 넘기기 전에 MeAI 홈 추천 카드 아래 세 번째 점(추천 세트 3…</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31:00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19</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60초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첫 말·첫 질문 짝</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첫 줄은 앞 장 정리라 가리키기만.</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32:00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75초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요약 리포트 보내기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①→④ 핀 순서로 짚기.</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33:15</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21</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85초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첫 5일 미션</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DAY 1→5 칸을 차례로 짚으며 빠르게.</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82880">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34:40</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22</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55초</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마무리</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네 걸음은 위 칩 1→4를 차례로 짚듯 천천히(칩은 강조 없이 넷 다 같은 모양).</a:t>
                      </a:r>
                      <a:endParaRPr lang="en-US" sz="950" dirty="0">
                        <a:latin typeface="맑은 고딕" charset="0"/>
                        <a:ea typeface="맑은 고딕" charset="0"/>
                        <a:cs typeface="맑은 고딕" charset="0"/>
                      </a:endParaRPr>
                    </a:p>
                  </a:txBody>
                  <a:tcPr marL="50800" marR="508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홈 영업가족 방송</dc:title>
  <dc:subject>MeAI 홈 활용 방송 대본은 발표자 노트에 있어요</dc:subject>
  <dc:creator>세일즈혁신TF</dc:creator>
  <cp:lastModifiedBy>세일즈혁신TF</cp:lastModifiedBy>
  <cp:revision>1</cp:revision>
  <dcterms:created xsi:type="dcterms:W3CDTF">2026-09-30T04:37:15Z</dcterms:created>
  <dcterms:modified xsi:type="dcterms:W3CDTF">2026-09-30T04:37:15Z</dcterms:modified>
</cp:coreProperties>
</file>