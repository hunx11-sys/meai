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누르는 법은 세 번째 걸음에서 이 홈으로 다시 와서 보여 드립니다.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17:25–19:00 · 95초] MeAI 홈에서 대화 열기(클릭 세 길)
진행: 송출 전 목업 MeAI 홈 탭을 세트 3으로 넘겨 둔다(새로고침 금지). 목업은 [MeAI 홈]·뒤로 가기·새로고침 어느 쪽으로 돌아와도 추천 세트 1로 돌아가고, 그 첫 카드는 이번 방송에서 빼기로 한 예시라 송출하지 않는다. 11장 끝을 받아 '세 번째 걸음, 묻기입니다'에서 챕터 칩 '3 묻기'가 켜진 이 화면으로 전환. 왼쪽 캡처의 ① 흰 카드, ② 검은 카드를 짚고 오른쪽 세 칸을 ①→③으로. 시연(세트 3으로 맞춘 탭 하나): '1번'에서는 흰 [일반대화] 카드를 짚기만. '2번'에서 검은 [맞춤대화] 카드를 눌러 고객 검색 창을 보여 주고, 이름은 치지 않고 닫음(목록의 이름·담당은 목업 예시라 읽지 않음, 닫아도 세트 3은 그대로). '3번'에서 세트 3 추천 카드의 [MeAI 고객찾기에서 열기]를 짚기만. 마지막 문장 '두 대화 화면을 차례로 보겠습니다'에서 [일반대화] 카드를 눌러 13장으로 이어 감. 일반대화 첫 화면에서 질문 예시 줄은 누르지 않음(목업에서 답이 나오지 않음). 이후 이 탭에서 [MeAI 홈]·뒤로 가기·새로고침은 누르지 않음. 탭 준비가 안 됐으면 시연 없이 슬라이드 세 칸만 짚는다. 마지막 문장에서 아래 띠를 가리킴.
세 번째 걸음, 묻기입니다. 앞에서 본 MeAI 홈으로 다시 왔습니다. MeAI, 어렵게 생각하지 마세요. 여기서 누르기만 하면 됩니다. 홈 화면에도 이렇게 적혀 있습니다. '어떤 대화를 시작할지만 고르면, 나머지는 MeAI가 준비합니다.'
길은 세 가지입니다. 1번, 흰 [일반대화] 카드. 누르면 대화 화면이 열리고, 질문 예시를 하나 누르면 바로 시작됩니다.
2번, 검은 [맞춤대화] 카드. 누르면 고객 검색 창이 뜹니다. 이름을 한 글자만 넣고 옆의 [맞춤대화]를 누르면 그 고객 대화가 열립니다.
3번, 추천 카드에서 [MeAI 고객찾기에서 열기]를 누르고, 오른쪽 추천 질문을 누르세요. 질문이 채워진 채로 열려서 전송만 누르면 됩니다.
길을 잃으면 왼쪽 위 [MeAI 홈]을 누르세요. 처음 화면으로 돌아옵니다.
누르고, 고르고, 보내기. 클릭만으로 편하게 쓰시면 됩니다. 그럼 두 대화 화면을 차례로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19:00–20:40 · 100초] 일반대화 화면
진행: ① → ⑥ 핀 순서로 슬라이드에서 짚기. 오른쪽 아래 '이럴 때 써요' 네 칸은 손으로 훑기만. 시연: 12장에서 연 일반대화 첫 화면을 띄워 두되 이 장에서는 아무것도 누르지 않고 커서로 같은 자리를 가리키기만. ① [MeAI 홈]은 누르면 추천 세트 1로 돌아가 방송에서 빼기로 한 예시 카드가 뜨므로 절대 누르지 않음(14장 시연은 미리 준비한 탭에서). 가운데 질문 예시 줄, ③ 대화 이력 항목, ⑥ [새로 대화하기], [지식 검색]·[자주하는 질문] 탭, [상품 선택]·[약관 검색]·[사용 가이드]도 목업에서는 눌러도 반응이 없으니 누르지 않음. 개인정보 안내 줄(빨간 테두리)은 마지막 문장에서 가리킴.
먼저 일반대화입니다. 고객을 정하지 않고 무엇이든 물어보는 창입니다. 상품과 특약 개념, 자사와 타사 보장 비교, 고객 설득 화법, 약관 지식을 물을 때 씁니다.
화면은 왼쪽 메뉴, 가운데 질문 예시, 아래 입력창, 세 덩어리입니다.
1번, 왼쪽 위 [MeAI 홈]. 누르면 홈으로 돌아갑니다. 2번, 약관 검색과 사용 가이드. 약관 원문을 찾거나 화면 사용법이 궁금할 때 누르시면 됩니다. 3번, 대화 이력입니다. 지난 대화가 월별로 쌓이고, 누르면 이어서 물을 수 있습니다.
4번, 가운데 질문 예시 탭 세 개. 보장 비교, 지식 검색, 자주하는 질문. 예시를 누르면 바로 대화가 시작됩니다.
5번, 입력창. 말하듯 쓰고 전송을 누르면 됩니다. [상품 선택]으로 물어볼 상품을 고를 수도 있습니다.
6번, 주제가 바뀌면 [새로 대화하기]를 누르시면 됩니다.
화면 안내대로 이름, 연락처 같은 개인정보는 넣지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20:40–22:30 · 110초] 맞춤대화 화면
진행: ①→⑤ 핀 순서로 짚기. 시연: 방송 전 미리 열어 둔 탭(16장 탭 ②와 같은 탭: 고객찾기 김도윤(동의 유효)의 빨간 맞춤대화 추천 질문을 누른 화면, 입력창에 질문이 채워진 상태)으로 전환해 띄움. 고객찾기 화면·목록·검색창은 송출하지 않음. 13장 일반대화 화면에서 [MeAI 홈]이나 뒤로 가기로 돌아가지 않음(추천 세트 1이 다시 뜸). 이 장에서 MeAI 홈으로 돌아가지 않음. ② 짚을 때 [요약 리포트]가 흐린 것은 아직 답이 없어서라고 말로 짚기(누르지 않음). [보장분석 해줘]와 전송(↑)은 누르지 않음(목업 답은 고정 예시, 16장에서 같은 탭을 다시 씀). 라이브 화면 가운데 안내문의 고객 이름은 목업 고정 문구(다른 예시 이름)라 짚지 않음(캡처는 왼쪽 이름과 맞춰 둠). 남은 날 숫자(79일)는 목업 고정값이라 읽지 않음(같은 고객이 고객 검색 창에선 D-30). 화면 속 날짜·금액은 읽지 않음. 마지막 두 문장은 천천히.
다음은 맞춤대화입니다. 고객 한 명을 정하고, 그 고객의 보장 내역을 바탕으로 답을 받는 창입니다. 그래서 사전조회 동의가 있어야 열립니다.
[맞춤대화] 버튼으로 들어가면 먼저 고객 정보 칸이 뜹니다. 아는 것만 넣거나 넘어가면 됩니다. 화면은 추천 질문을 눌러 들어온 모습입니다.
1번, 왼쪽 위 담당 고객. 이름과 보장분석 동의 남은 날이 늘 보입니다. 앞에서 본 사전조회 동의입니다.
2번, 위 버튼 세 개. 보장 분석, 사용중인 정보 수정, 요약 리포트. 정보를 고칠 땐 가운데, 좋았던 답을 고객에게 보낼 땐 오른쪽입니다. 오른쪽은 답을 받은 뒤에 켜집니다.
3번, 선택된 정상 계약 리스트. 이번 대화에서 MeAI가 읽는 계약입니다. 상품 옆 점 색깔은 약관DB 준비 상태입니다.
4번, 질문 예시 [보장분석 해줘]. 누르면 바로 시작됩니다.
5번, 입력창. 추천 질문을 누르고 오면 이렇게 질문이 채워져 있습니다. 전송만 누르면 됩니다.
일반대화는 무엇이든, 맞춤대화는 이 고객 한 명. 둘 다 누르기만 하면 시작됩니다.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22:30–24:40 · 130초] 질문 고르기
진행: 14장 끝('둘 다 누르기만 하면 시작됩니다')을 받아 '이제 질문하는 법입니다'로 시작. 하나→넷 순서로 칸을 짚음. 시연: '하나'에서 12장에서 연 일반대화 탭으로 돌아가 보장 비교 예시 첫 줄을 커서로 짚기만 함(목업에서는 눌러도 반응 없음, [MeAI 홈]은 누르지 않음). 준비가 어려우면 슬라이드 ① 칸 캡처를 짚음.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이제 질문하는 법입니다. 프롬프트라는 말에 겁먹지 마세요. 질문은 만드는 게 아니라 고르는 겁니다. 화면 안에 질문 창구가 네 곳 있습니다.
하나, 시작할 때는 앞에서 본 일반대화 질문 예시 탭 세 개. 보장 비교는 담보 간 차이, 지식 검색은 처음 듣는 용어, 자주하는 질문은 영업가족이 많이 물은 질문입니다.
둘, 고객이 정해졌을 때는 고객찾기 오른쪽 'MeAI에 이렇게 물어보세요'. 누르면 질문이 채워진 채로 열립니다.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24:40–26:50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5는 ② 화면에서 짚고, 핀 6은 14장에서 말했으니 짚기만.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앞에서 말한 고객 정보 칸입니다.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26:50–28:20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19장에서 다루니 여기서는 짚지 않음. 마지막 질문으로 18장(직접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28:20–30:10 · 110초] 직접 묻는 공식(누구에게 + 무엇을)
진행: 17장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30:10–32:00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32:00–33:45 · 105초] 이렇게는 묻지 마세요
진행: ①→④ 차례로 짚기. ③에서 아래 안내문 띠 둘째 줄 가리키기(화면 안내문 원문을 가리키며 전하는 방식). ✕ 예문은 ④만 소리 내 읽기. '김민수 고객이' 앞에서 8장 카드의 '사전조회동의 필요'를 떠올리도록 한 박자 쉼. 마지막 문장 뒤 챕터 칩 '4 터치하기'가 켜진 21장으로 넘김.
묻기 마지막, 이렇게는 묻지 마세요. 답도 나빠지고, 규정에도 어긋납니다.
하나, 개인정보를 넣는 질문. 이름, 연락처, 주소, 주민번호는 질문에도 메모에도 넣지 않습니다.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33:45–36:05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20장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22장으로.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36:05–37:05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37:05–38:20 · 75초] 요약 리포트 보내기
진행: ①→④ 핀 순서로 짚기. [요약 생성]·[요약 리포트] 둘 다 말함. 첫 두 문장에서 21장 ④ 칸(인상 전 가입의 이점)을 떠올리게 한 박자 쉼. 마지막 카톡 화면에서 멈춘 뒤 24장(첫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38:20–39:45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39:45–40:40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진행용 큐시트 · 방송 송출 제외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F28"/>
        </a:solidFill>
      </p:bgPr>
    </p:bg>
    <p:spTree>
      <p:nvGrpSpPr>
        <p:cNvPr id="1" name=""/>
        <p:cNvGrpSpPr/>
        <p:nvPr/>
      </p:nvGrpSpPr>
      <p:grpSpPr>
        <a:xfrm>
          <a:off x="0" y="0"/>
          <a:ext cx="0" cy="0"/>
          <a:chOff x="0" y="0"/>
          <a:chExt cx="0" cy="0"/>
        </a:xfrm>
      </p:grpSpPr>
      <p:sp>
        <p:nvSpPr>
          <p:cNvPr id="2" name="Shape 0"/>
          <p:cNvSpPr/>
          <p:nvPr/>
        </p:nvSpPr>
        <p:spPr>
          <a:xfrm>
            <a:off x="731520" y="868680"/>
            <a:ext cx="2769616" cy="365760"/>
          </a:xfrm>
          <a:prstGeom prst="roundRect">
            <a:avLst>
              <a:gd name="adj" fmla="val 50000"/>
            </a:avLst>
          </a:prstGeom>
          <a:solidFill>
            <a:srgbClr val="2B3340"/>
          </a:solidFill>
          <a:ln w="12700">
            <a:solidFill>
              <a:srgbClr val="2B3340"/>
            </a:solidFill>
            <a:prstDash val="solid"/>
          </a:ln>
        </p:spPr>
      </p:sp>
      <p:sp>
        <p:nvSpPr>
          <p:cNvPr id="3" name="Text 1"/>
          <p:cNvSpPr txBox="1"/>
          <p:nvPr/>
        </p:nvSpPr>
        <p:spPr>
          <a:xfrm>
            <a:off x="731520" y="868680"/>
            <a:ext cx="276961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10월 MeAI 홈 · 영업가족 방송</a:t>
            </a:r>
            <a:endParaRPr lang="en-US" sz="1400" dirty="0"/>
          </a:p>
        </p:txBody>
      </p:sp>
      <p:sp>
        <p:nvSpPr>
          <p:cNvPr id="4" name="Text 2"/>
          <p:cNvSpPr txBox="1"/>
          <p:nvPr/>
        </p:nvSpPr>
        <p:spPr>
          <a:xfrm>
            <a:off x="731520" y="1508760"/>
            <a:ext cx="6035040" cy="2011680"/>
          </a:xfrm>
          <a:prstGeom prst="rect">
            <a:avLst/>
          </a:prstGeom>
          <a:noFill/>
          <a:ln/>
        </p:spPr>
        <p:txBody>
          <a:bodyPr wrap="square" lIns="0" tIns="0" rIns="0" bIns="0" rtlCol="0" anchor="t"/>
          <a:lstStyle/>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오늘 연락할 내 고객,</a:t>
            </a:r>
            <a:endParaRPr lang="en-US" sz="4600" dirty="0"/>
          </a:p>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MeAI 홈에서 찾아요</a:t>
            </a:r>
            <a:endParaRPr lang="en-US" sz="4600" dirty="0"/>
          </a:p>
        </p:txBody>
      </p:sp>
      <p:sp>
        <p:nvSpPr>
          <p:cNvPr id="5" name="Text 3"/>
          <p:cNvSpPr txBox="1"/>
          <p:nvPr/>
        </p:nvSpPr>
        <p:spPr>
          <a:xfrm>
            <a:off x="731520" y="3657600"/>
            <a:ext cx="5852160" cy="457200"/>
          </a:xfrm>
          <a:prstGeom prst="rect">
            <a:avLst/>
          </a:prstGeom>
          <a:noFill/>
          <a:ln/>
        </p:spPr>
        <p:txBody>
          <a:bodyPr wrap="square" lIns="0" tIns="0" rIns="0" bIns="0" rtlCol="0" anchor="ctr"/>
          <a:lstStyle/>
          <a:p>
            <a:pPr indent="0" marL="0">
              <a:buNone/>
            </a:pPr>
            <a:r>
              <a:rPr lang="en-US" sz="2200" b="1" dirty="0">
                <a:solidFill>
                  <a:srgbClr val="C9E2FF"/>
                </a:solidFill>
                <a:latin typeface="맑은 고딕" pitchFamily="34" charset="0"/>
                <a:ea typeface="맑은 고딕" pitchFamily="34" charset="-122"/>
                <a:cs typeface="맑은 고딕" pitchFamily="34" charset="-120"/>
              </a:rPr>
              <a:t>찾고 · 고르고 · 묻고 · 터치해요</a:t>
            </a:r>
            <a:endParaRPr lang="en-US" sz="2200" dirty="0"/>
          </a:p>
        </p:txBody>
      </p:sp>
      <p:sp>
        <p:nvSpPr>
          <p:cNvPr id="6" name="Text 4"/>
          <p:cNvSpPr txBox="1"/>
          <p:nvPr/>
        </p:nvSpPr>
        <p:spPr>
          <a:xfrm>
            <a:off x="731520" y="4206240"/>
            <a:ext cx="5852160" cy="411480"/>
          </a:xfrm>
          <a:prstGeom prst="rect">
            <a:avLst/>
          </a:prstGeom>
          <a:noFill/>
          <a:ln/>
        </p:spPr>
        <p:txBody>
          <a:bodyPr wrap="square" lIns="0" tIns="0" rIns="0" bIns="0" rtlCol="0" anchor="ctr"/>
          <a:lstStyle/>
          <a:p>
            <a:pPr indent="0" marL="0">
              <a:buNone/>
            </a:pPr>
            <a:r>
              <a:rPr lang="en-US" sz="1800" dirty="0">
                <a:solidFill>
                  <a:srgbClr val="FFFFFF">
                    <a:alpha val="75000"/>
                  </a:srgbClr>
                </a:solidFill>
                <a:latin typeface="맑은 고딕" pitchFamily="34" charset="0"/>
                <a:ea typeface="맑은 고딕" pitchFamily="34" charset="-122"/>
                <a:cs typeface="맑은 고딕" pitchFamily="34" charset="-120"/>
              </a:rPr>
              <a:t>찾는 영업에서, 찾아가는 영업으로</a:t>
            </a:r>
            <a:endParaRPr lang="en-US" sz="1800" dirty="0"/>
          </a:p>
        </p:txBody>
      </p:sp>
      <p:sp>
        <p:nvSpPr>
          <p:cNvPr id="7" name="Text 5"/>
          <p:cNvSpPr txBox="1"/>
          <p:nvPr/>
        </p:nvSpPr>
        <p:spPr>
          <a:xfrm>
            <a:off x="731520" y="5440680"/>
            <a:ext cx="5486400" cy="320040"/>
          </a:xfrm>
          <a:prstGeom prst="rect">
            <a:avLst/>
          </a:prstGeom>
          <a:noFill/>
          <a:ln/>
        </p:spPr>
        <p:txBody>
          <a:bodyPr wrap="square" lIns="0" tIns="0" rIns="0" bIns="0" rtlCol="0" anchor="t"/>
          <a:lstStyle/>
          <a:p>
            <a:pPr indent="0" marL="0">
              <a:buNone/>
            </a:pPr>
            <a:r>
              <a:rPr lang="en-US" sz="1400" dirty="0">
                <a:solidFill>
                  <a:srgbClr val="FFFFFF">
                    <a:alpha val="70000"/>
                  </a:srgbClr>
                </a:solidFill>
                <a:latin typeface="맑은 고딕" pitchFamily="34" charset="0"/>
                <a:ea typeface="맑은 고딕" pitchFamily="34" charset="-122"/>
                <a:cs typeface="맑은 고딕" pitchFamily="34" charset="-120"/>
              </a:rPr>
              <a:t>메리츠화재 세일즈혁신TF · 2026.10</a:t>
            </a:r>
            <a:endParaRPr lang="en-US" sz="1400" dirty="0"/>
          </a:p>
        </p:txBody>
      </p:sp>
      <p:sp>
        <p:nvSpPr>
          <p:cNvPr id="8" name="Shape 6"/>
          <p:cNvSpPr/>
          <p:nvPr/>
        </p:nvSpPr>
        <p:spPr>
          <a:xfrm>
            <a:off x="6629400" y="995521"/>
            <a:ext cx="5029200" cy="4592638"/>
          </a:xfrm>
          <a:prstGeom prst="roundRect">
            <a:avLst>
              <a:gd name="adj" fmla="val 219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9" name="Image 0" descr="MeAI 화면 캡처">    </p:cNvPr>
          <p:cNvPicPr>
            <a:picLocks noChangeAspect="1"/>
          </p:cNvPicPr>
          <p:nvPr/>
        </p:nvPicPr>
        <p:blipFill>
          <a:blip r:embed="rId1"/>
          <a:stretch>
            <a:fillRect/>
          </a:stretch>
        </p:blipFill>
        <p:spPr>
          <a:xfrm>
            <a:off x="6629400" y="995521"/>
            <a:ext cx="5029200" cy="4592638"/>
          </a:xfrm>
          <a:prstGeom prst="rect">
            <a:avLst/>
          </a:prstGeom>
        </p:spPr>
      </p:pic>
      <p:sp>
        <p:nvSpPr>
          <p:cNvPr id="10" name="Text 7"/>
          <p:cNvSpPr txBox="1"/>
          <p:nvPr/>
        </p:nvSpPr>
        <p:spPr>
          <a:xfrm>
            <a:off x="6629400" y="5897880"/>
            <a:ext cx="5029200" cy="274320"/>
          </a:xfrm>
          <a:prstGeom prst="rect">
            <a:avLst/>
          </a:prstGeom>
          <a:noFill/>
          <a:ln/>
        </p:spPr>
        <p:txBody>
          <a:bodyPr wrap="square" lIns="0" tIns="0" rIns="0" bIns="0" rtlCol="0" anchor="ctr"/>
          <a:lstStyle/>
          <a:p>
            <a:pPr algn="r" indent="0" marL="0">
              <a:buNone/>
            </a:pPr>
            <a:r>
              <a:rPr lang="en-US" sz="1200" dirty="0">
                <a:solidFill>
                  <a:srgbClr val="FFFFFF">
                    <a:alpha val="65000"/>
                  </a:srgbClr>
                </a:solidFill>
                <a:latin typeface="맑은 고딕" pitchFamily="34" charset="0"/>
                <a:ea typeface="맑은 고딕" pitchFamily="34" charset="-122"/>
                <a:cs typeface="맑은 고딕" pitchFamily="34" charset="-120"/>
              </a:rPr>
              <a:t>화면 속 이름·숫자는 모두 예시예요</a:t>
            </a:r>
            <a:endParaRPr lang="en-US" sz="1200" dirty="0"/>
          </a:p>
        </p:txBody>
      </p:sp>
      <p:sp>
        <p:nvSpPr>
          <p:cNvPr id="11" name="Text 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2" name="Text 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여는 말 · 오늘의 순서</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오늘은 이 순서로 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내 고객을 MeAI 홈에서 찾아, MeAI에게 묻고, 터치해 보세요</a:t>
            </a:r>
            <a:endParaRPr lang="en-US" sz="1700" dirty="0"/>
          </a:p>
        </p:txBody>
      </p:sp>
      <p:sp>
        <p:nvSpPr>
          <p:cNvPr id="13" name="Shape 11"/>
          <p:cNvSpPr/>
          <p:nvPr/>
        </p:nvSpPr>
        <p:spPr>
          <a:xfrm>
            <a:off x="548640" y="1965960"/>
            <a:ext cx="11094415" cy="822960"/>
          </a:xfrm>
          <a:prstGeom prst="roundRect">
            <a:avLst>
              <a:gd name="adj" fmla="val 15556"/>
            </a:avLst>
          </a:prstGeom>
          <a:solidFill>
            <a:srgbClr val="F9FAFB"/>
          </a:solidFill>
          <a:ln w="12700">
            <a:solidFill>
              <a:srgbClr val="F9FAFB"/>
            </a:solidFill>
            <a:prstDash val="solid"/>
          </a:ln>
        </p:spPr>
      </p:sp>
      <p:sp>
        <p:nvSpPr>
          <p:cNvPr id="14" name="Shape 12"/>
          <p:cNvSpPr/>
          <p:nvPr/>
        </p:nvSpPr>
        <p:spPr>
          <a:xfrm>
            <a:off x="822960" y="2185416"/>
            <a:ext cx="721360" cy="384048"/>
          </a:xfrm>
          <a:prstGeom prst="roundRect">
            <a:avLst>
              <a:gd name="adj" fmla="val 50000"/>
            </a:avLst>
          </a:prstGeom>
          <a:solidFill>
            <a:srgbClr val="191F28"/>
          </a:solidFill>
          <a:ln w="12700">
            <a:solidFill>
              <a:srgbClr val="191F28"/>
            </a:solidFill>
            <a:prstDash val="solid"/>
          </a:ln>
        </p:spPr>
      </p:sp>
      <p:sp>
        <p:nvSpPr>
          <p:cNvPr id="15" name="Text 13"/>
          <p:cNvSpPr txBox="1"/>
          <p:nvPr/>
        </p:nvSpPr>
        <p:spPr>
          <a:xfrm>
            <a:off x="822960" y="2185416"/>
            <a:ext cx="721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먼저</a:t>
            </a:r>
            <a:endParaRPr lang="en-US" sz="1400" dirty="0"/>
          </a:p>
        </p:txBody>
      </p:sp>
      <p:sp>
        <p:nvSpPr>
          <p:cNvPr id="16" name="Text 14"/>
          <p:cNvSpPr txBox="1"/>
          <p:nvPr/>
        </p:nvSpPr>
        <p:spPr>
          <a:xfrm>
            <a:off x="1818640" y="1965960"/>
            <a:ext cx="2103120" cy="8229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왜 MeAI 홈인가</a:t>
            </a:r>
            <a:endParaRPr lang="en-US" sz="1900" dirty="0"/>
          </a:p>
        </p:txBody>
      </p:sp>
      <p:sp>
        <p:nvSpPr>
          <p:cNvPr id="17" name="Text 15"/>
          <p:cNvSpPr txBox="1"/>
          <p:nvPr/>
        </p:nvSpPr>
        <p:spPr>
          <a:xfrm>
            <a:off x="3731514" y="1965960"/>
            <a:ext cx="320040" cy="82296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8" name="Text 16"/>
          <p:cNvSpPr txBox="1"/>
          <p:nvPr/>
        </p:nvSpPr>
        <p:spPr>
          <a:xfrm>
            <a:off x="4188714" y="1965960"/>
            <a:ext cx="2103120" cy="822960"/>
          </a:xfrm>
          <a:prstGeom prst="rect">
            <a:avLst/>
          </a:prstGeom>
          <a:noFill/>
          <a:ln/>
        </p:spPr>
        <p:txBody>
          <a:bodyPr wrap="square" lIns="0" tIns="0" rIns="0" bIns="0" rtlCol="0" anchor="ctr"/>
          <a:lstStyle/>
          <a:p>
            <a:pPr indent="0" marL="0">
              <a:buNone/>
            </a:pPr>
            <a:r>
              <a:rPr lang="en-US" sz="1900" b="1" dirty="0">
                <a:solidFill>
                  <a:srgbClr val="7048E8"/>
                </a:solidFill>
                <a:latin typeface="맑은 고딕" pitchFamily="34" charset="0"/>
                <a:ea typeface="맑은 고딕" pitchFamily="34" charset="-122"/>
                <a:cs typeface="맑은 고딕" pitchFamily="34" charset="-120"/>
              </a:rPr>
              <a:t>만든 분께 듣기</a:t>
            </a:r>
            <a:endParaRPr lang="en-US" sz="1900" dirty="0"/>
          </a:p>
        </p:txBody>
      </p:sp>
      <p:sp>
        <p:nvSpPr>
          <p:cNvPr id="19" name="Text 17"/>
          <p:cNvSpPr txBox="1"/>
          <p:nvPr/>
        </p:nvSpPr>
        <p:spPr>
          <a:xfrm>
            <a:off x="6055614" y="1965960"/>
            <a:ext cx="5404561" cy="822960"/>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AI추진파트 문현우님 · 이경복님</a:t>
            </a:r>
            <a:endParaRPr lang="en-US" sz="1600" dirty="0"/>
          </a:p>
          <a:p>
            <a:pPr indent="0" marL="0">
              <a:buNone/>
            </a:pPr>
            <a:r>
              <a:rPr lang="en-US" sz="1400" dirty="0">
                <a:solidFill>
                  <a:srgbClr val="6B7684"/>
                </a:solidFill>
                <a:latin typeface="맑은 고딕" pitchFamily="34" charset="0"/>
                <a:ea typeface="맑은 고딕" pitchFamily="34" charset="-122"/>
                <a:cs typeface="맑은 고딕" pitchFamily="34" charset="-120"/>
              </a:rPr>
              <a:t>MeAI 홈이 어떻게 움직이는지 들어요</a:t>
            </a:r>
            <a:endParaRPr lang="en-US" sz="1600" dirty="0"/>
          </a:p>
        </p:txBody>
      </p:sp>
      <p:sp>
        <p:nvSpPr>
          <p:cNvPr id="20" name="Text 18"/>
          <p:cNvSpPr txBox="1"/>
          <p:nvPr/>
        </p:nvSpPr>
        <p:spPr>
          <a:xfrm>
            <a:off x="548640" y="2926080"/>
            <a:ext cx="3657600" cy="329184"/>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그다음, 네 걸음</a:t>
            </a:r>
            <a:endParaRPr lang="en-US" sz="1400" dirty="0"/>
          </a:p>
        </p:txBody>
      </p:sp>
      <p:sp>
        <p:nvSpPr>
          <p:cNvPr id="21" name="Shape 19"/>
          <p:cNvSpPr/>
          <p:nvPr/>
        </p:nvSpPr>
        <p:spPr>
          <a:xfrm>
            <a:off x="548640"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822960"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1 찾기</a:t>
            </a:r>
            <a:endParaRPr lang="en-US" sz="2400" dirty="0"/>
          </a:p>
        </p:txBody>
      </p:sp>
      <p:sp>
        <p:nvSpPr>
          <p:cNvPr id="23" name="Text 21"/>
          <p:cNvSpPr txBox="1"/>
          <p:nvPr/>
        </p:nvSpPr>
        <p:spPr>
          <a:xfrm>
            <a:off x="822960"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홈</a:t>
            </a:r>
            <a:endParaRPr lang="en-US" sz="1400" dirty="0"/>
          </a:p>
        </p:txBody>
      </p:sp>
      <p:sp>
        <p:nvSpPr>
          <p:cNvPr id="24" name="Text 22"/>
          <p:cNvSpPr txBox="1"/>
          <p:nvPr/>
        </p:nvSpPr>
        <p:spPr>
          <a:xfrm>
            <a:off x="822960"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오늘 연락할 내 고객을</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추천 카드로 찾아요</a:t>
            </a:r>
            <a:endParaRPr lang="en-US" sz="1450" dirty="0"/>
          </a:p>
        </p:txBody>
      </p:sp>
      <p:sp>
        <p:nvSpPr>
          <p:cNvPr id="25" name="Shape 23"/>
          <p:cNvSpPr/>
          <p:nvPr/>
        </p:nvSpPr>
        <p:spPr>
          <a:xfrm>
            <a:off x="3372536"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3646856"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2 고르기</a:t>
            </a:r>
            <a:endParaRPr lang="en-US" sz="2400" dirty="0"/>
          </a:p>
        </p:txBody>
      </p:sp>
      <p:sp>
        <p:nvSpPr>
          <p:cNvPr id="27" name="Text 25"/>
          <p:cNvSpPr txBox="1"/>
          <p:nvPr/>
        </p:nvSpPr>
        <p:spPr>
          <a:xfrm>
            <a:off x="3646856"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고객찾기</a:t>
            </a:r>
            <a:endParaRPr lang="en-US" sz="1400" dirty="0"/>
          </a:p>
        </p:txBody>
      </p:sp>
      <p:sp>
        <p:nvSpPr>
          <p:cNvPr id="28" name="Text 26"/>
          <p:cNvSpPr txBox="1"/>
          <p:nvPr/>
        </p:nvSpPr>
        <p:spPr>
          <a:xfrm>
            <a:off x="3646856"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상황을 한눈에 보고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연락할 한 분을 골라요</a:t>
            </a:r>
            <a:endParaRPr lang="en-US" sz="1450" dirty="0"/>
          </a:p>
        </p:txBody>
      </p:sp>
      <p:sp>
        <p:nvSpPr>
          <p:cNvPr id="29" name="Shape 27"/>
          <p:cNvSpPr/>
          <p:nvPr/>
        </p:nvSpPr>
        <p:spPr>
          <a:xfrm>
            <a:off x="6196432" y="3310128"/>
            <a:ext cx="2622728" cy="1920240"/>
          </a:xfrm>
          <a:prstGeom prst="roundRect">
            <a:avLst>
              <a:gd name="adj" fmla="val 7619"/>
            </a:avLst>
          </a:prstGeom>
          <a:solidFill>
            <a:srgbClr val="3182F6"/>
          </a:solidFill>
          <a:ln w="12700">
            <a:solidFill>
              <a:srgbClr val="3182F6"/>
            </a:solidFill>
            <a:prstDash val="solid"/>
          </a:ln>
        </p:spPr>
      </p:sp>
      <p:sp>
        <p:nvSpPr>
          <p:cNvPr id="30" name="Text 28"/>
          <p:cNvSpPr txBox="1"/>
          <p:nvPr/>
        </p:nvSpPr>
        <p:spPr>
          <a:xfrm>
            <a:off x="6470752" y="3493008"/>
            <a:ext cx="2165528" cy="502920"/>
          </a:xfrm>
          <a:prstGeom prst="rect">
            <a:avLst/>
          </a:prstGeom>
          <a:noFill/>
          <a:ln/>
        </p:spPr>
        <p:txBody>
          <a:bodyPr wrap="square" lIns="0" tIns="0" rIns="0" bIns="0" rtlCol="0" anchor="ctr"/>
          <a:lstStyle/>
          <a:p>
            <a:pPr indent="0" marL="0">
              <a:buNone/>
            </a:pPr>
            <a:r>
              <a:rPr lang="en-US" sz="2400" b="1" dirty="0">
                <a:solidFill>
                  <a:srgbClr val="FFFFFF"/>
                </a:solidFill>
                <a:latin typeface="맑은 고딕" pitchFamily="34" charset="0"/>
                <a:ea typeface="맑은 고딕" pitchFamily="34" charset="-122"/>
                <a:cs typeface="맑은 고딕" pitchFamily="34" charset="-120"/>
              </a:rPr>
              <a:t>3 묻기</a:t>
            </a:r>
            <a:endParaRPr lang="en-US" sz="2400" dirty="0"/>
          </a:p>
        </p:txBody>
      </p:sp>
      <p:sp>
        <p:nvSpPr>
          <p:cNvPr id="31" name="Text 29"/>
          <p:cNvSpPr txBox="1"/>
          <p:nvPr/>
        </p:nvSpPr>
        <p:spPr>
          <a:xfrm>
            <a:off x="6470752" y="3995928"/>
            <a:ext cx="2165528"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일반대화 · 맞춤대화</a:t>
            </a:r>
            <a:endParaRPr lang="en-US" sz="1400" dirty="0"/>
          </a:p>
        </p:txBody>
      </p:sp>
      <p:sp>
        <p:nvSpPr>
          <p:cNvPr id="32" name="Text 30"/>
          <p:cNvSpPr txBox="1"/>
          <p:nvPr/>
        </p:nvSpPr>
        <p:spPr>
          <a:xfrm>
            <a:off x="6470752"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MeAI 활용 방법을</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직접 눌러 보며 익혀요</a:t>
            </a:r>
            <a:endParaRPr lang="en-US" sz="1450" dirty="0"/>
          </a:p>
        </p:txBody>
      </p:sp>
      <p:sp>
        <p:nvSpPr>
          <p:cNvPr id="33" name="Shape 31"/>
          <p:cNvSpPr/>
          <p:nvPr/>
        </p:nvSpPr>
        <p:spPr>
          <a:xfrm>
            <a:off x="7104659" y="3127248"/>
            <a:ext cx="1531620" cy="365760"/>
          </a:xfrm>
          <a:prstGeom prst="roundRect">
            <a:avLst>
              <a:gd name="adj" fmla="val 50000"/>
            </a:avLst>
          </a:prstGeom>
          <a:solidFill>
            <a:srgbClr val="FFFFFF"/>
          </a:solidFill>
          <a:ln w="15875">
            <a:solidFill>
              <a:srgbClr val="3182F6"/>
            </a:solidFill>
            <a:prstDash val="solid"/>
          </a:ln>
        </p:spPr>
      </p:sp>
      <p:sp>
        <p:nvSpPr>
          <p:cNvPr id="34" name="Text 32"/>
          <p:cNvSpPr txBox="1"/>
          <p:nvPr/>
        </p:nvSpPr>
        <p:spPr>
          <a:xfrm>
            <a:off x="7104659" y="3127248"/>
            <a:ext cx="1531620" cy="365760"/>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시연으로 봐요</a:t>
            </a:r>
            <a:endParaRPr lang="en-US" sz="1400" dirty="0"/>
          </a:p>
        </p:txBody>
      </p:sp>
      <p:sp>
        <p:nvSpPr>
          <p:cNvPr id="35" name="Shape 33"/>
          <p:cNvSpPr/>
          <p:nvPr/>
        </p:nvSpPr>
        <p:spPr>
          <a:xfrm>
            <a:off x="9020327"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6" name="Text 34"/>
          <p:cNvSpPr txBox="1"/>
          <p:nvPr/>
        </p:nvSpPr>
        <p:spPr>
          <a:xfrm>
            <a:off x="9294647"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4 터치하기</a:t>
            </a:r>
            <a:endParaRPr lang="en-US" sz="2400" dirty="0"/>
          </a:p>
        </p:txBody>
      </p:sp>
      <p:sp>
        <p:nvSpPr>
          <p:cNvPr id="37" name="Text 35"/>
          <p:cNvSpPr txBox="1"/>
          <p:nvPr/>
        </p:nvSpPr>
        <p:spPr>
          <a:xfrm>
            <a:off x="9294647"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고객에게 연락</a:t>
            </a:r>
            <a:endParaRPr lang="en-US" sz="1400" dirty="0"/>
          </a:p>
        </p:txBody>
      </p:sp>
      <p:sp>
        <p:nvSpPr>
          <p:cNvPr id="38" name="Text 36"/>
          <p:cNvSpPr txBox="1"/>
          <p:nvPr/>
        </p:nvSpPr>
        <p:spPr>
          <a:xfrm>
            <a:off x="9294647"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카드의 첫 말로 연락하고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리포트까지 보내요</a:t>
            </a:r>
            <a:endParaRPr lang="en-US" sz="1450" dirty="0"/>
          </a:p>
        </p:txBody>
      </p:sp>
      <p:sp>
        <p:nvSpPr>
          <p:cNvPr id="39" name="Shape 37"/>
          <p:cNvSpPr/>
          <p:nvPr/>
        </p:nvSpPr>
        <p:spPr>
          <a:xfrm>
            <a:off x="548640" y="5440680"/>
            <a:ext cx="11094415" cy="777240"/>
          </a:xfrm>
          <a:prstGeom prst="roundRect">
            <a:avLst>
              <a:gd name="adj" fmla="val 16471"/>
            </a:avLst>
          </a:prstGeom>
          <a:solidFill>
            <a:srgbClr val="191F28"/>
          </a:solidFill>
          <a:ln w="12700">
            <a:solidFill>
              <a:srgbClr val="191F28"/>
            </a:solidFill>
            <a:prstDash val="solid"/>
          </a:ln>
        </p:spPr>
      </p:sp>
      <p:sp>
        <p:nvSpPr>
          <p:cNvPr id="40" name="Text 38"/>
          <p:cNvSpPr txBox="1"/>
          <p:nvPr/>
        </p:nvSpPr>
        <p:spPr>
          <a:xfrm>
            <a:off x="868680" y="5440680"/>
            <a:ext cx="10454335" cy="777240"/>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기억할 한 문장   </a:t>
            </a:r>
            <a:pPr indent="0" marL="0">
              <a:buNone/>
            </a:pPr>
            <a:r>
              <a:rPr lang="en-US" sz="20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2000" dirty="0"/>
          </a:p>
        </p:txBody>
      </p:sp>
      <p:sp>
        <p:nvSpPr>
          <p:cNvPr id="41" name="Text 3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2" name="Text 4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왜 MeAI 홈인가</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보유 고객 열에 아홉 넘게 연락 전이에요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누구에게 · 왜 지금 · 무슨 말로, 스스로 정해야 했어요</a:t>
            </a:r>
            <a:endParaRPr lang="en-US" sz="1700" dirty="0"/>
          </a:p>
        </p:txBody>
      </p:sp>
      <p:sp>
        <p:nvSpPr>
          <p:cNvPr id="13" name="Shape 11"/>
          <p:cNvSpPr/>
          <p:nvPr/>
        </p:nvSpPr>
        <p:spPr>
          <a:xfrm>
            <a:off x="548640" y="2011680"/>
            <a:ext cx="3564026" cy="2240280"/>
          </a:xfrm>
          <a:prstGeom prst="roundRect">
            <a:avLst>
              <a:gd name="adj" fmla="val 6531"/>
            </a:avLst>
          </a:prstGeom>
          <a:solidFill>
            <a:srgbClr val="FFFFFF"/>
          </a:solidFill>
          <a:ln w="9525">
            <a:solidFill>
              <a:srgbClr val="E5E8EB"/>
            </a:solidFill>
            <a:prstDash val="solid"/>
          </a:ln>
        </p:spPr>
      </p:sp>
      <p:sp>
        <p:nvSpPr>
          <p:cNvPr id="14" name="Text 12"/>
          <p:cNvSpPr txBox="1"/>
          <p:nvPr/>
        </p:nvSpPr>
        <p:spPr>
          <a:xfrm>
            <a:off x="868680"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7%</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5" name="Text 13"/>
          <p:cNvSpPr txBox="1"/>
          <p:nvPr/>
        </p:nvSpPr>
        <p:spPr>
          <a:xfrm>
            <a:off x="868680"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보유 고객 중 영업 시도</a:t>
            </a:r>
            <a:endParaRPr lang="en-US" sz="1900" dirty="0"/>
          </a:p>
        </p:txBody>
      </p:sp>
      <p:sp>
        <p:nvSpPr>
          <p:cNvPr id="16" name="Shape 14"/>
          <p:cNvSpPr/>
          <p:nvPr/>
        </p:nvSpPr>
        <p:spPr>
          <a:xfrm>
            <a:off x="4313834" y="2011680"/>
            <a:ext cx="3564026" cy="2240280"/>
          </a:xfrm>
          <a:prstGeom prst="roundRect">
            <a:avLst>
              <a:gd name="adj" fmla="val 6531"/>
            </a:avLst>
          </a:prstGeom>
          <a:solidFill>
            <a:srgbClr val="FFFFFF"/>
          </a:solidFill>
          <a:ln w="9525">
            <a:solidFill>
              <a:srgbClr val="E5E8EB"/>
            </a:solidFill>
            <a:prstDash val="solid"/>
          </a:ln>
        </p:spPr>
      </p:sp>
      <p:sp>
        <p:nvSpPr>
          <p:cNvPr id="17" name="Text 15"/>
          <p:cNvSpPr txBox="1"/>
          <p:nvPr/>
        </p:nvSpPr>
        <p:spPr>
          <a:xfrm>
            <a:off x="4633874"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2%</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8" name="Text 16"/>
          <p:cNvSpPr txBox="1"/>
          <p:nvPr/>
        </p:nvSpPr>
        <p:spPr>
          <a:xfrm>
            <a:off x="4633874"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이관 고객 중 영업 시도</a:t>
            </a:r>
            <a:endParaRPr lang="en-US" sz="1900" dirty="0"/>
          </a:p>
        </p:txBody>
      </p:sp>
      <p:sp>
        <p:nvSpPr>
          <p:cNvPr id="19" name="Shape 17"/>
          <p:cNvSpPr/>
          <p:nvPr/>
        </p:nvSpPr>
        <p:spPr>
          <a:xfrm>
            <a:off x="8079029" y="2011680"/>
            <a:ext cx="3564026" cy="2240280"/>
          </a:xfrm>
          <a:prstGeom prst="roundRect">
            <a:avLst>
              <a:gd name="adj" fmla="val 6531"/>
            </a:avLst>
          </a:prstGeom>
          <a:solidFill>
            <a:srgbClr val="191F28"/>
          </a:solidFill>
          <a:ln w="12700">
            <a:solidFill>
              <a:srgbClr val="191F28"/>
            </a:solidFill>
            <a:prstDash val="solid"/>
          </a:ln>
        </p:spPr>
      </p:sp>
      <p:sp>
        <p:nvSpPr>
          <p:cNvPr id="20" name="Text 18"/>
          <p:cNvSpPr txBox="1"/>
          <p:nvPr/>
        </p:nvSpPr>
        <p:spPr>
          <a:xfrm>
            <a:off x="8444789" y="2286000"/>
            <a:ext cx="2923946" cy="1051560"/>
          </a:xfrm>
          <a:prstGeom prst="rect">
            <a:avLst/>
          </a:prstGeom>
          <a:noFill/>
          <a:ln/>
        </p:spPr>
        <p:txBody>
          <a:bodyPr wrap="square" lIns="0" tIns="0" rIns="0" bIns="0" rtlCol="0" anchor="ctr"/>
          <a:lstStyle/>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문제는 의지가 아니라</a:t>
            </a:r>
            <a:endParaRPr lang="en-US" sz="2400" dirty="0"/>
          </a:p>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순서예요.</a:t>
            </a:r>
            <a:endParaRPr lang="en-US" sz="2400" dirty="0"/>
          </a:p>
        </p:txBody>
      </p:sp>
      <p:sp>
        <p:nvSpPr>
          <p:cNvPr id="21" name="Text 19"/>
          <p:cNvSpPr txBox="1"/>
          <p:nvPr/>
        </p:nvSpPr>
        <p:spPr>
          <a:xfrm>
            <a:off x="8444789" y="3383280"/>
            <a:ext cx="2923946" cy="731520"/>
          </a:xfrm>
          <a:prstGeom prst="rect">
            <a:avLst/>
          </a:prstGeom>
          <a:noFill/>
          <a:ln/>
        </p:spPr>
        <p:txBody>
          <a:bodyPr wrap="square" lIns="0" tIns="0" rIns="0" bIns="0" rtlCol="0" anchor="t"/>
          <a:lstStyle/>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찾는 일이 앞에 있으면</a:t>
            </a:r>
            <a:endParaRPr lang="en-US" sz="1500" dirty="0"/>
          </a:p>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만나는 일은 뒤로 밀려요.</a:t>
            </a:r>
            <a:endParaRPr lang="en-US" sz="1500" dirty="0"/>
          </a:p>
        </p:txBody>
      </p:sp>
      <p:sp>
        <p:nvSpPr>
          <p:cNvPr id="22" name="Text 20"/>
          <p:cNvSpPr txBox="1"/>
          <p:nvPr/>
        </p:nvSpPr>
        <p:spPr>
          <a:xfrm>
            <a:off x="548640" y="4297680"/>
            <a:ext cx="1109441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출처: 세일즈혁신TF 「MeAI CRM 대문 고도화 제안」 2026.09</a:t>
            </a:r>
            <a:endParaRPr lang="en-US" sz="1200" dirty="0"/>
          </a:p>
        </p:txBody>
      </p:sp>
      <p:sp>
        <p:nvSpPr>
          <p:cNvPr id="23" name="Shape 21"/>
          <p:cNvSpPr/>
          <p:nvPr/>
        </p:nvSpPr>
        <p:spPr>
          <a:xfrm>
            <a:off x="548640" y="4663440"/>
            <a:ext cx="11094415" cy="1097280"/>
          </a:xfrm>
          <a:prstGeom prst="roundRect">
            <a:avLst>
              <a:gd name="adj" fmla="val 13333"/>
            </a:avLst>
          </a:prstGeom>
          <a:solidFill>
            <a:srgbClr val="E8F3FF"/>
          </a:solidFill>
          <a:ln w="12700">
            <a:solidFill>
              <a:srgbClr val="E8F3FF"/>
            </a:solidFill>
            <a:prstDash val="solid"/>
          </a:ln>
        </p:spPr>
      </p:sp>
      <p:sp>
        <p:nvSpPr>
          <p:cNvPr id="24" name="Text 22"/>
          <p:cNvSpPr txBox="1"/>
          <p:nvPr/>
        </p:nvSpPr>
        <p:spPr>
          <a:xfrm>
            <a:off x="868680" y="4663440"/>
            <a:ext cx="2011680" cy="1097280"/>
          </a:xfrm>
          <a:prstGeom prst="rect">
            <a:avLst/>
          </a:prstGeom>
          <a:noFill/>
          <a:ln/>
        </p:spPr>
        <p:txBody>
          <a:bodyPr wrap="square" lIns="0" tIns="0" rIns="0" bIns="0" rtlCol="0" anchor="ctr"/>
          <a:lstStyle/>
          <a:p>
            <a:pPr indent="0" marL="0">
              <a:buNone/>
            </a:pPr>
            <a:r>
              <a:rPr lang="en-US" sz="1800" b="1" dirty="0">
                <a:solidFill>
                  <a:srgbClr val="3182F6"/>
                </a:solidFill>
                <a:latin typeface="맑은 고딕" pitchFamily="34" charset="0"/>
                <a:ea typeface="맑은 고딕" pitchFamily="34" charset="-122"/>
                <a:cs typeface="맑은 고딕" pitchFamily="34" charset="-120"/>
              </a:rPr>
              <a:t>MeAI를 쓴 경우</a:t>
            </a:r>
            <a:endParaRPr lang="en-US" sz="1800" dirty="0"/>
          </a:p>
        </p:txBody>
      </p:sp>
      <p:sp>
        <p:nvSpPr>
          <p:cNvPr id="25" name="Text 23"/>
          <p:cNvSpPr txBox="1"/>
          <p:nvPr/>
        </p:nvSpPr>
        <p:spPr>
          <a:xfrm>
            <a:off x="2926080"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체결전환율 2.8배</a:t>
            </a:r>
            <a:endParaRPr lang="en-US" sz="2300" dirty="0"/>
          </a:p>
        </p:txBody>
      </p:sp>
      <p:sp>
        <p:nvSpPr>
          <p:cNvPr id="26" name="Text 24"/>
          <p:cNvSpPr txBox="1"/>
          <p:nvPr/>
        </p:nvSpPr>
        <p:spPr>
          <a:xfrm>
            <a:off x="2926080"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12.7% → 활용 35.4%</a:t>
            </a:r>
            <a:endParaRPr lang="en-US" sz="1550" dirty="0"/>
          </a:p>
        </p:txBody>
      </p:sp>
      <p:sp>
        <p:nvSpPr>
          <p:cNvPr id="27" name="Text 25"/>
          <p:cNvSpPr txBox="1"/>
          <p:nvPr/>
        </p:nvSpPr>
        <p:spPr>
          <a:xfrm>
            <a:off x="7193128"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같은 FP 고객끼리도 4배</a:t>
            </a:r>
            <a:endParaRPr lang="en-US" sz="2300" dirty="0"/>
          </a:p>
        </p:txBody>
      </p:sp>
      <p:sp>
        <p:nvSpPr>
          <p:cNvPr id="28" name="Text 26"/>
          <p:cNvSpPr txBox="1"/>
          <p:nvPr/>
        </p:nvSpPr>
        <p:spPr>
          <a:xfrm>
            <a:off x="7193128"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9.0% → 활용 36.0%</a:t>
            </a:r>
            <a:endParaRPr lang="en-US" sz="1550" dirty="0"/>
          </a:p>
        </p:txBody>
      </p:sp>
      <p:sp>
        <p:nvSpPr>
          <p:cNvPr id="29" name="Text 27"/>
          <p:cNvSpPr txBox="1"/>
          <p:nvPr/>
        </p:nvSpPr>
        <p:spPr>
          <a:xfrm>
            <a:off x="548640" y="5897880"/>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200" dirty="0"/>
          </a:p>
        </p:txBody>
      </p:sp>
      <p:sp>
        <p:nvSpPr>
          <p:cNvPr id="30"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1"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만든 분께 직접 들어요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어떤 원리로, 어떤 방식으로 만들었는지 들어 봐요</a:t>
            </a:r>
            <a:endParaRPr lang="en-US" sz="1700" dirty="0"/>
          </a:p>
        </p:txBody>
      </p:sp>
      <p:sp>
        <p:nvSpPr>
          <p:cNvPr id="13" name="Shape 11"/>
          <p:cNvSpPr/>
          <p:nvPr/>
        </p:nvSpPr>
        <p:spPr>
          <a:xfrm>
            <a:off x="548640"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Shape 12"/>
          <p:cNvSpPr/>
          <p:nvPr/>
        </p:nvSpPr>
        <p:spPr>
          <a:xfrm>
            <a:off x="1531620" y="2286000"/>
            <a:ext cx="914400" cy="914400"/>
          </a:xfrm>
          <a:prstGeom prst="ellipse">
            <a:avLst/>
          </a:prstGeom>
          <a:solidFill>
            <a:srgbClr val="7048E8"/>
          </a:solidFill>
          <a:ln w="12700">
            <a:solidFill>
              <a:srgbClr val="FFFFFF"/>
            </a:solidFill>
            <a:prstDash val="solid"/>
          </a:ln>
        </p:spPr>
      </p:sp>
      <p:sp>
        <p:nvSpPr>
          <p:cNvPr id="15" name="Text 13"/>
          <p:cNvSpPr txBox="1"/>
          <p:nvPr/>
        </p:nvSpPr>
        <p:spPr>
          <a:xfrm>
            <a:off x="1531620"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문</a:t>
            </a:r>
            <a:endParaRPr lang="en-US" sz="3000" dirty="0"/>
          </a:p>
        </p:txBody>
      </p:sp>
      <p:sp>
        <p:nvSpPr>
          <p:cNvPr id="16" name="Text 14"/>
          <p:cNvSpPr txBox="1"/>
          <p:nvPr/>
        </p:nvSpPr>
        <p:spPr>
          <a:xfrm>
            <a:off x="548640"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문현우</a:t>
            </a:r>
            <a:endParaRPr lang="en-US" sz="3000" dirty="0"/>
          </a:p>
        </p:txBody>
      </p:sp>
      <p:sp>
        <p:nvSpPr>
          <p:cNvPr id="17" name="Text 15"/>
          <p:cNvSpPr txBox="1"/>
          <p:nvPr/>
        </p:nvSpPr>
        <p:spPr>
          <a:xfrm>
            <a:off x="548640" y="3822192"/>
            <a:ext cx="2880360" cy="365760"/>
          </a:xfrm>
          <a:prstGeom prst="rect">
            <a:avLst/>
          </a:prstGeom>
          <a:noFill/>
          <a:ln/>
        </p:spPr>
        <p:txBody>
          <a:bodyPr wrap="square" lIns="0" tIns="0" rIns="0" bIns="0" rtlCol="0" anchor="ctr"/>
          <a:lstStyle/>
          <a:p>
            <a:pPr algn="ctr" indent="0" marL="0">
              <a:buNone/>
            </a:pPr>
            <a:r>
              <a:rPr lang="en-US" sz="1700" b="1" dirty="0">
                <a:solidFill>
                  <a:srgbClr val="7048E8"/>
                </a:solidFill>
                <a:latin typeface="맑은 고딕" pitchFamily="34" charset="0"/>
                <a:ea typeface="맑은 고딕" pitchFamily="34" charset="-122"/>
                <a:cs typeface="맑은 고딕" pitchFamily="34" charset="-120"/>
              </a:rPr>
              <a:t>AI추진파트</a:t>
            </a:r>
            <a:endParaRPr lang="en-US" sz="1700" dirty="0"/>
          </a:p>
        </p:txBody>
      </p:sp>
      <p:sp>
        <p:nvSpPr>
          <p:cNvPr id="18" name="Shape 16"/>
          <p:cNvSpPr/>
          <p:nvPr/>
        </p:nvSpPr>
        <p:spPr>
          <a:xfrm>
            <a:off x="3630168"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Shape 17"/>
          <p:cNvSpPr/>
          <p:nvPr/>
        </p:nvSpPr>
        <p:spPr>
          <a:xfrm>
            <a:off x="4613148" y="2286000"/>
            <a:ext cx="914400" cy="914400"/>
          </a:xfrm>
          <a:prstGeom prst="ellipse">
            <a:avLst/>
          </a:prstGeom>
          <a:solidFill>
            <a:srgbClr val="3182F6"/>
          </a:solidFill>
          <a:ln w="12700">
            <a:solidFill>
              <a:srgbClr val="FFFFFF"/>
            </a:solidFill>
            <a:prstDash val="solid"/>
          </a:ln>
        </p:spPr>
      </p:sp>
      <p:sp>
        <p:nvSpPr>
          <p:cNvPr id="20" name="Text 18"/>
          <p:cNvSpPr txBox="1"/>
          <p:nvPr/>
        </p:nvSpPr>
        <p:spPr>
          <a:xfrm>
            <a:off x="4613148"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이</a:t>
            </a:r>
            <a:endParaRPr lang="en-US" sz="3000" dirty="0"/>
          </a:p>
        </p:txBody>
      </p:sp>
      <p:sp>
        <p:nvSpPr>
          <p:cNvPr id="21" name="Text 19"/>
          <p:cNvSpPr txBox="1"/>
          <p:nvPr/>
        </p:nvSpPr>
        <p:spPr>
          <a:xfrm>
            <a:off x="3630168"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이경복</a:t>
            </a:r>
            <a:endParaRPr lang="en-US" sz="3000" dirty="0"/>
          </a:p>
        </p:txBody>
      </p:sp>
      <p:sp>
        <p:nvSpPr>
          <p:cNvPr id="22" name="Text 20"/>
          <p:cNvSpPr txBox="1"/>
          <p:nvPr/>
        </p:nvSpPr>
        <p:spPr>
          <a:xfrm>
            <a:off x="3630168" y="3822192"/>
            <a:ext cx="2880360" cy="365760"/>
          </a:xfrm>
          <a:prstGeom prst="rect">
            <a:avLst/>
          </a:prstGeom>
          <a:noFill/>
          <a:ln/>
        </p:spPr>
        <p:txBody>
          <a:bodyPr wrap="square" lIns="0" tIns="0" rIns="0" bIns="0" rtlCol="0" anchor="ctr"/>
          <a:lstStyle/>
          <a:p>
            <a:pPr algn="ctr" indent="0" marL="0">
              <a:buNone/>
            </a:pPr>
            <a:r>
              <a:rPr lang="en-US" sz="1700" b="1" dirty="0">
                <a:solidFill>
                  <a:srgbClr val="3182F6"/>
                </a:solidFill>
                <a:latin typeface="맑은 고딕" pitchFamily="34" charset="0"/>
                <a:ea typeface="맑은 고딕" pitchFamily="34" charset="-122"/>
                <a:cs typeface="맑은 고딕" pitchFamily="34" charset="-120"/>
              </a:rPr>
              <a:t>AI추진파트</a:t>
            </a:r>
            <a:endParaRPr lang="en-US" sz="1700" dirty="0"/>
          </a:p>
        </p:txBody>
      </p:sp>
      <p:sp>
        <p:nvSpPr>
          <p:cNvPr id="23" name="Shape 21"/>
          <p:cNvSpPr/>
          <p:nvPr/>
        </p:nvSpPr>
        <p:spPr>
          <a:xfrm>
            <a:off x="548640" y="4526280"/>
            <a:ext cx="5961888" cy="566928"/>
          </a:xfrm>
          <a:prstGeom prst="roundRect">
            <a:avLst>
              <a:gd name="adj" fmla="val 22581"/>
            </a:avLst>
          </a:prstGeom>
          <a:solidFill>
            <a:srgbClr val="E8F3FF"/>
          </a:solidFill>
          <a:ln w="12700">
            <a:solidFill>
              <a:srgbClr val="E8F3FF"/>
            </a:solidFill>
            <a:prstDash val="solid"/>
          </a:ln>
        </p:spPr>
      </p:sp>
      <p:sp>
        <p:nvSpPr>
          <p:cNvPr id="24" name="Text 22"/>
          <p:cNvSpPr txBox="1"/>
          <p:nvPr/>
        </p:nvSpPr>
        <p:spPr>
          <a:xfrm>
            <a:off x="777240" y="4526280"/>
            <a:ext cx="5596128" cy="56692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CRM(오늘의 추천 고객 · 고객찾기)을 만든 분</a:t>
            </a:r>
            <a:endParaRPr lang="en-US" sz="1550" dirty="0"/>
          </a:p>
        </p:txBody>
      </p:sp>
      <p:sp>
        <p:nvSpPr>
          <p:cNvPr id="25" name="Shape 23"/>
          <p:cNvSpPr/>
          <p:nvPr/>
        </p:nvSpPr>
        <p:spPr>
          <a:xfrm>
            <a:off x="6922008" y="2011680"/>
            <a:ext cx="4721047" cy="3081528"/>
          </a:xfrm>
          <a:prstGeom prst="roundRect">
            <a:avLst>
              <a:gd name="adj" fmla="val 5935"/>
            </a:avLst>
          </a:prstGeom>
          <a:solidFill>
            <a:srgbClr val="191F28"/>
          </a:solidFill>
          <a:ln w="12700">
            <a:solidFill>
              <a:srgbClr val="191F28"/>
            </a:solidFill>
            <a:prstDash val="solid"/>
          </a:ln>
        </p:spPr>
      </p:sp>
      <p:sp>
        <p:nvSpPr>
          <p:cNvPr id="26" name="Text 24"/>
          <p:cNvSpPr txBox="1"/>
          <p:nvPr/>
        </p:nvSpPr>
        <p:spPr>
          <a:xfrm>
            <a:off x="7242048" y="2212848"/>
            <a:ext cx="4172407" cy="38404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오늘 여쭤볼 것</a:t>
            </a:r>
            <a:endParaRPr lang="en-US" sz="1600" dirty="0"/>
          </a:p>
        </p:txBody>
      </p:sp>
      <p:sp>
        <p:nvSpPr>
          <p:cNvPr id="27" name="Text 25"/>
          <p:cNvSpPr txBox="1"/>
          <p:nvPr/>
        </p:nvSpPr>
        <p:spPr>
          <a:xfrm>
            <a:off x="7242048" y="2697480"/>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800" dirty="0"/>
          </a:p>
        </p:txBody>
      </p:sp>
      <p:sp>
        <p:nvSpPr>
          <p:cNvPr id="28" name="Text 26"/>
          <p:cNvSpPr txBox="1"/>
          <p:nvPr/>
        </p:nvSpPr>
        <p:spPr>
          <a:xfrm>
            <a:off x="7242048" y="3044952"/>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오늘의 추천 고객은 어떤 원리로 정해지나요?</a:t>
            </a:r>
            <a:endParaRPr lang="en-US" sz="1400" dirty="0"/>
          </a:p>
        </p:txBody>
      </p:sp>
      <p:sp>
        <p:nvSpPr>
          <p:cNvPr id="29" name="Text 27"/>
          <p:cNvSpPr txBox="1"/>
          <p:nvPr/>
        </p:nvSpPr>
        <p:spPr>
          <a:xfrm>
            <a:off x="7242048" y="3483864"/>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2 · 어떻게 만들었나요</a:t>
            </a:r>
            <a:endParaRPr lang="en-US" sz="1800" dirty="0"/>
          </a:p>
        </p:txBody>
      </p:sp>
      <p:sp>
        <p:nvSpPr>
          <p:cNvPr id="30" name="Text 28"/>
          <p:cNvSpPr txBox="1"/>
          <p:nvPr/>
        </p:nvSpPr>
        <p:spPr>
          <a:xfrm>
            <a:off x="7242048" y="3831336"/>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어떤 방식으로 개발하고 구현했나요?</a:t>
            </a:r>
            <a:endParaRPr lang="en-US" sz="1400" dirty="0"/>
          </a:p>
        </p:txBody>
      </p:sp>
      <p:sp>
        <p:nvSpPr>
          <p:cNvPr id="31" name="Text 29"/>
          <p:cNvSpPr txBox="1"/>
          <p:nvPr/>
        </p:nvSpPr>
        <p:spPr>
          <a:xfrm>
            <a:off x="7242048" y="4270248"/>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3 · 꼭 전할 한 가지</a:t>
            </a:r>
            <a:endParaRPr lang="en-US" sz="1800" dirty="0"/>
          </a:p>
        </p:txBody>
      </p:sp>
      <p:sp>
        <p:nvSpPr>
          <p:cNvPr id="32" name="Text 30"/>
          <p:cNvSpPr txBox="1"/>
          <p:nvPr/>
        </p:nvSpPr>
        <p:spPr>
          <a:xfrm>
            <a:off x="7242048" y="4617720"/>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영업가족에게 한마디 부탁드려요</a:t>
            </a:r>
            <a:endParaRPr lang="en-US" sz="1400" dirty="0"/>
          </a:p>
        </p:txBody>
      </p:sp>
      <p:sp>
        <p:nvSpPr>
          <p:cNvPr id="33" name="Shape 31"/>
          <p:cNvSpPr/>
          <p:nvPr/>
        </p:nvSpPr>
        <p:spPr>
          <a:xfrm>
            <a:off x="548640" y="5440680"/>
            <a:ext cx="11094415" cy="731520"/>
          </a:xfrm>
          <a:prstGeom prst="roundRect">
            <a:avLst>
              <a:gd name="adj" fmla="val 17500"/>
            </a:avLst>
          </a:prstGeom>
          <a:solidFill>
            <a:srgbClr val="E8F3FF"/>
          </a:solidFill>
          <a:ln w="12700">
            <a:solidFill>
              <a:srgbClr val="E8F3FF"/>
            </a:solidFill>
            <a:prstDash val="solid"/>
          </a:ln>
        </p:spPr>
      </p:sp>
      <p:sp>
        <p:nvSpPr>
          <p:cNvPr id="34" name="Text 32"/>
          <p:cNvSpPr txBox="1"/>
          <p:nvPr/>
        </p:nvSpPr>
        <p:spPr>
          <a:xfrm>
            <a:off x="868680" y="5440680"/>
            <a:ext cx="10454335" cy="731520"/>
          </a:xfrm>
          <a:prstGeom prst="rect">
            <a:avLst/>
          </a:prstGeom>
          <a:noFill/>
          <a:ln/>
        </p:spPr>
        <p:txBody>
          <a:bodyPr wrap="square" lIns="0" tIns="0" rIns="0" bIns="0" rtlCol="0" anchor="ctr"/>
          <a:lstStyle/>
          <a:p>
            <a:pPr indent="0" marL="0">
              <a:buNone/>
            </a:pPr>
            <a:r>
              <a:rPr lang="en-US" sz="1900" dirty="0">
                <a:solidFill>
                  <a:srgbClr val="191F28"/>
                </a:solidFill>
                <a:latin typeface="맑은 고딕" pitchFamily="34" charset="0"/>
                <a:ea typeface="맑은 고딕" pitchFamily="34" charset="-122"/>
                <a:cs typeface="맑은 고딕" pitchFamily="34" charset="-120"/>
              </a:rPr>
              <a:t>들으면서 오늘 연락할 내 고객 한 분을 떠올려 보세요</a:t>
            </a:r>
            <a:endParaRPr lang="en-US" sz="1900" dirty="0"/>
          </a:p>
        </p:txBody>
      </p:sp>
      <p:sp>
        <p:nvSpPr>
          <p:cNvPr id="35"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6"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홈은 이렇게 움직여요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매일 밤 계산하고, 다음 날 이유와 함께 보여줘요</a:t>
            </a:r>
            <a:endParaRPr lang="en-US" sz="1700" dirty="0"/>
          </a:p>
        </p:txBody>
      </p:sp>
      <p:sp>
        <p:nvSpPr>
          <p:cNvPr id="13" name="Shape 11"/>
          <p:cNvSpPr/>
          <p:nvPr/>
        </p:nvSpPr>
        <p:spPr>
          <a:xfrm>
            <a:off x="1115568" y="1920240"/>
            <a:ext cx="5605272" cy="676656"/>
          </a:xfrm>
          <a:prstGeom prst="roundRect">
            <a:avLst>
              <a:gd name="adj" fmla="val 18919"/>
            </a:avLst>
          </a:prstGeom>
          <a:solidFill>
            <a:srgbClr val="FFFFFF"/>
          </a:solidFill>
          <a:ln w="9525">
            <a:solidFill>
              <a:srgbClr val="E5E8EB"/>
            </a:solidFill>
            <a:prstDash val="solid"/>
          </a:ln>
        </p:spPr>
      </p:sp>
      <p:sp>
        <p:nvSpPr>
          <p:cNvPr id="14" name="Shape 12"/>
          <p:cNvSpPr/>
          <p:nvPr/>
        </p:nvSpPr>
        <p:spPr>
          <a:xfrm>
            <a:off x="548640" y="2048256"/>
            <a:ext cx="420624" cy="420624"/>
          </a:xfrm>
          <a:prstGeom prst="ellipse">
            <a:avLst/>
          </a:prstGeom>
          <a:solidFill>
            <a:srgbClr val="191F28"/>
          </a:solidFill>
          <a:ln w="19050">
            <a:solidFill>
              <a:srgbClr val="FFFFFF"/>
            </a:solidFill>
            <a:prstDash val="solid"/>
          </a:ln>
        </p:spPr>
      </p:sp>
      <p:sp>
        <p:nvSpPr>
          <p:cNvPr id="15" name="Text 13"/>
          <p:cNvSpPr txBox="1"/>
          <p:nvPr/>
        </p:nvSpPr>
        <p:spPr>
          <a:xfrm>
            <a:off x="548640" y="204825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16" name="Shape 14"/>
          <p:cNvSpPr/>
          <p:nvPr/>
        </p:nvSpPr>
        <p:spPr>
          <a:xfrm>
            <a:off x="758952" y="2487168"/>
            <a:ext cx="0" cy="310896"/>
          </a:xfrm>
          <a:prstGeom prst="line">
            <a:avLst/>
          </a:prstGeom>
          <a:noFill/>
          <a:ln w="19050">
            <a:solidFill>
              <a:srgbClr val="3182F6"/>
            </a:solidFill>
            <a:prstDash val="solid"/>
            <a:tailEnd type="triangle"/>
          </a:ln>
        </p:spPr>
      </p:sp>
      <p:sp>
        <p:nvSpPr>
          <p:cNvPr id="17" name="Text 15"/>
          <p:cNvSpPr txBox="1"/>
          <p:nvPr/>
        </p:nvSpPr>
        <p:spPr>
          <a:xfrm>
            <a:off x="1325880" y="1975104"/>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데이터</a:t>
            </a:r>
            <a:endParaRPr lang="en-US" sz="1700" dirty="0"/>
          </a:p>
        </p:txBody>
      </p:sp>
      <p:sp>
        <p:nvSpPr>
          <p:cNvPr id="18" name="Text 16"/>
          <p:cNvSpPr txBox="1"/>
          <p:nvPr/>
        </p:nvSpPr>
        <p:spPr>
          <a:xfrm>
            <a:off x="1325880" y="2286000"/>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계약 · 보상 · 동의 · 상령일 · 생일 · 접촉 이력</a:t>
            </a:r>
            <a:endParaRPr lang="en-US" sz="1400" dirty="0"/>
          </a:p>
        </p:txBody>
      </p:sp>
      <p:sp>
        <p:nvSpPr>
          <p:cNvPr id="19" name="Shape 17"/>
          <p:cNvSpPr/>
          <p:nvPr/>
        </p:nvSpPr>
        <p:spPr>
          <a:xfrm>
            <a:off x="1115568" y="2688336"/>
            <a:ext cx="5605272" cy="676656"/>
          </a:xfrm>
          <a:prstGeom prst="roundRect">
            <a:avLst>
              <a:gd name="adj" fmla="val 18919"/>
            </a:avLst>
          </a:prstGeom>
          <a:solidFill>
            <a:srgbClr val="FFFFFF"/>
          </a:solidFill>
          <a:ln w="9525">
            <a:solidFill>
              <a:srgbClr val="E5E8EB"/>
            </a:solidFill>
            <a:prstDash val="solid"/>
          </a:ln>
        </p:spPr>
      </p:sp>
      <p:sp>
        <p:nvSpPr>
          <p:cNvPr id="20" name="Shape 18"/>
          <p:cNvSpPr/>
          <p:nvPr/>
        </p:nvSpPr>
        <p:spPr>
          <a:xfrm>
            <a:off x="548640" y="2816352"/>
            <a:ext cx="420624" cy="420624"/>
          </a:xfrm>
          <a:prstGeom prst="ellipse">
            <a:avLst/>
          </a:prstGeom>
          <a:solidFill>
            <a:srgbClr val="191F28"/>
          </a:solidFill>
          <a:ln w="19050">
            <a:solidFill>
              <a:srgbClr val="FFFFFF"/>
            </a:solidFill>
            <a:prstDash val="solid"/>
          </a:ln>
        </p:spPr>
      </p:sp>
      <p:sp>
        <p:nvSpPr>
          <p:cNvPr id="21" name="Text 19"/>
          <p:cNvSpPr txBox="1"/>
          <p:nvPr/>
        </p:nvSpPr>
        <p:spPr>
          <a:xfrm>
            <a:off x="548640" y="281635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22" name="Shape 20"/>
          <p:cNvSpPr/>
          <p:nvPr/>
        </p:nvSpPr>
        <p:spPr>
          <a:xfrm>
            <a:off x="758952" y="3255264"/>
            <a:ext cx="0" cy="310896"/>
          </a:xfrm>
          <a:prstGeom prst="line">
            <a:avLst/>
          </a:prstGeom>
          <a:noFill/>
          <a:ln w="19050">
            <a:solidFill>
              <a:srgbClr val="3182F6"/>
            </a:solidFill>
            <a:prstDash val="solid"/>
            <a:tailEnd type="triangle"/>
          </a:ln>
        </p:spPr>
      </p:sp>
      <p:sp>
        <p:nvSpPr>
          <p:cNvPr id="23" name="Text 21"/>
          <p:cNvSpPr txBox="1"/>
          <p:nvPr/>
        </p:nvSpPr>
        <p:spPr>
          <a:xfrm>
            <a:off x="1325880" y="2743200"/>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매일 밤 계산</a:t>
            </a:r>
            <a:endParaRPr lang="en-US" sz="1700" dirty="0"/>
          </a:p>
        </p:txBody>
      </p:sp>
      <p:sp>
        <p:nvSpPr>
          <p:cNvPr id="24" name="Shape 22"/>
          <p:cNvSpPr/>
          <p:nvPr/>
        </p:nvSpPr>
        <p:spPr>
          <a:xfrm>
            <a:off x="2717800" y="2761488"/>
            <a:ext cx="1371600" cy="274320"/>
          </a:xfrm>
          <a:prstGeom prst="roundRect">
            <a:avLst>
              <a:gd name="adj" fmla="val 50000"/>
            </a:avLst>
          </a:prstGeom>
          <a:solidFill>
            <a:srgbClr val="F0EDFF"/>
          </a:solidFill>
          <a:ln w="12700">
            <a:solidFill>
              <a:srgbClr val="F0EDFF"/>
            </a:solidFill>
            <a:prstDash val="solid"/>
          </a:ln>
        </p:spPr>
      </p:sp>
      <p:sp>
        <p:nvSpPr>
          <p:cNvPr id="25" name="Text 23"/>
          <p:cNvSpPr txBox="1"/>
          <p:nvPr/>
        </p:nvSpPr>
        <p:spPr>
          <a:xfrm>
            <a:off x="2717800" y="2761488"/>
            <a:ext cx="1371600" cy="274320"/>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매일 자동 계산</a:t>
            </a:r>
            <a:endParaRPr lang="en-US" sz="1200" dirty="0"/>
          </a:p>
        </p:txBody>
      </p:sp>
      <p:sp>
        <p:nvSpPr>
          <p:cNvPr id="26" name="Text 24"/>
          <p:cNvSpPr txBox="1"/>
          <p:nvPr/>
        </p:nvSpPr>
        <p:spPr>
          <a:xfrm>
            <a:off x="1325880" y="3054096"/>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추천 고객과 고객찾기 그룹을 다시 계산해요</a:t>
            </a:r>
            <a:endParaRPr lang="en-US" sz="1400" dirty="0"/>
          </a:p>
        </p:txBody>
      </p:sp>
      <p:sp>
        <p:nvSpPr>
          <p:cNvPr id="27" name="Shape 25"/>
          <p:cNvSpPr/>
          <p:nvPr/>
        </p:nvSpPr>
        <p:spPr>
          <a:xfrm>
            <a:off x="1115568" y="3456432"/>
            <a:ext cx="5605272" cy="676656"/>
          </a:xfrm>
          <a:prstGeom prst="roundRect">
            <a:avLst>
              <a:gd name="adj" fmla="val 18919"/>
            </a:avLst>
          </a:prstGeom>
          <a:solidFill>
            <a:srgbClr val="FFFFFF"/>
          </a:solidFill>
          <a:ln w="9525">
            <a:solidFill>
              <a:srgbClr val="E5E8EB"/>
            </a:solidFill>
            <a:prstDash val="solid"/>
          </a:ln>
        </p:spPr>
      </p:sp>
      <p:sp>
        <p:nvSpPr>
          <p:cNvPr id="28" name="Shape 26"/>
          <p:cNvSpPr/>
          <p:nvPr/>
        </p:nvSpPr>
        <p:spPr>
          <a:xfrm>
            <a:off x="548640" y="3584448"/>
            <a:ext cx="420624" cy="420624"/>
          </a:xfrm>
          <a:prstGeom prst="ellipse">
            <a:avLst/>
          </a:prstGeom>
          <a:solidFill>
            <a:srgbClr val="191F28"/>
          </a:solidFill>
          <a:ln w="19050">
            <a:solidFill>
              <a:srgbClr val="FFFFFF"/>
            </a:solidFill>
            <a:prstDash val="solid"/>
          </a:ln>
        </p:spPr>
      </p:sp>
      <p:sp>
        <p:nvSpPr>
          <p:cNvPr id="29" name="Text 27"/>
          <p:cNvSpPr txBox="1"/>
          <p:nvPr/>
        </p:nvSpPr>
        <p:spPr>
          <a:xfrm>
            <a:off x="54864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0" name="Shape 28"/>
          <p:cNvSpPr/>
          <p:nvPr/>
        </p:nvSpPr>
        <p:spPr>
          <a:xfrm>
            <a:off x="758952" y="4023360"/>
            <a:ext cx="0" cy="310896"/>
          </a:xfrm>
          <a:prstGeom prst="line">
            <a:avLst/>
          </a:prstGeom>
          <a:noFill/>
          <a:ln w="19050">
            <a:solidFill>
              <a:srgbClr val="3182F6"/>
            </a:solidFill>
            <a:prstDash val="solid"/>
            <a:tailEnd type="triangle"/>
          </a:ln>
        </p:spPr>
      </p:sp>
      <p:sp>
        <p:nvSpPr>
          <p:cNvPr id="31" name="Text 29"/>
          <p:cNvSpPr txBox="1"/>
          <p:nvPr/>
        </p:nvSpPr>
        <p:spPr>
          <a:xfrm>
            <a:off x="1325880" y="3511296"/>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오늘의 추천 고객 9명</a:t>
            </a:r>
            <a:endParaRPr lang="en-US" sz="1700" dirty="0"/>
          </a:p>
        </p:txBody>
      </p:sp>
      <p:sp>
        <p:nvSpPr>
          <p:cNvPr id="32" name="Text 30"/>
          <p:cNvSpPr txBox="1"/>
          <p:nvPr/>
        </p:nvSpPr>
        <p:spPr>
          <a:xfrm>
            <a:off x="1325880" y="3822192"/>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3명 × 3세트 · 그룹은 보장 기준·영업 기회</a:t>
            </a:r>
            <a:endParaRPr lang="en-US" sz="1400" dirty="0"/>
          </a:p>
        </p:txBody>
      </p:sp>
      <p:sp>
        <p:nvSpPr>
          <p:cNvPr id="33" name="Shape 31"/>
          <p:cNvSpPr/>
          <p:nvPr/>
        </p:nvSpPr>
        <p:spPr>
          <a:xfrm>
            <a:off x="1115568" y="4224528"/>
            <a:ext cx="5605272" cy="676656"/>
          </a:xfrm>
          <a:prstGeom prst="roundRect">
            <a:avLst>
              <a:gd name="adj" fmla="val 18919"/>
            </a:avLst>
          </a:prstGeom>
          <a:solidFill>
            <a:srgbClr val="E8F3FF"/>
          </a:solidFill>
          <a:ln w="12700">
            <a:solidFill>
              <a:srgbClr val="E8F3FF"/>
            </a:solidFill>
            <a:prstDash val="solid"/>
          </a:ln>
        </p:spPr>
      </p:sp>
      <p:sp>
        <p:nvSpPr>
          <p:cNvPr id="34" name="Shape 32"/>
          <p:cNvSpPr/>
          <p:nvPr/>
        </p:nvSpPr>
        <p:spPr>
          <a:xfrm>
            <a:off x="548640" y="4352544"/>
            <a:ext cx="420624" cy="420624"/>
          </a:xfrm>
          <a:prstGeom prst="ellipse">
            <a:avLst/>
          </a:prstGeom>
          <a:solidFill>
            <a:srgbClr val="191F28"/>
          </a:solidFill>
          <a:ln w="19050">
            <a:solidFill>
              <a:srgbClr val="FFFFFF"/>
            </a:solidFill>
            <a:prstDash val="solid"/>
          </a:ln>
        </p:spPr>
      </p:sp>
      <p:sp>
        <p:nvSpPr>
          <p:cNvPr id="35" name="Text 33"/>
          <p:cNvSpPr txBox="1"/>
          <p:nvPr/>
        </p:nvSpPr>
        <p:spPr>
          <a:xfrm>
            <a:off x="548640" y="435254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36" name="Shape 34"/>
          <p:cNvSpPr/>
          <p:nvPr/>
        </p:nvSpPr>
        <p:spPr>
          <a:xfrm>
            <a:off x="758952" y="4791456"/>
            <a:ext cx="0" cy="310896"/>
          </a:xfrm>
          <a:prstGeom prst="line">
            <a:avLst/>
          </a:prstGeom>
          <a:noFill/>
          <a:ln w="19050">
            <a:solidFill>
              <a:srgbClr val="3182F6"/>
            </a:solidFill>
            <a:prstDash val="solid"/>
            <a:tailEnd type="triangle"/>
          </a:ln>
        </p:spPr>
      </p:sp>
      <p:sp>
        <p:nvSpPr>
          <p:cNvPr id="37" name="Text 35"/>
          <p:cNvSpPr txBox="1"/>
          <p:nvPr/>
        </p:nvSpPr>
        <p:spPr>
          <a:xfrm>
            <a:off x="1325880" y="4279392"/>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점수 대신 이유 한 문장</a:t>
            </a:r>
            <a:endParaRPr lang="en-US" sz="1700" dirty="0"/>
          </a:p>
        </p:txBody>
      </p:sp>
      <p:sp>
        <p:nvSpPr>
          <p:cNvPr id="38" name="Text 36"/>
          <p:cNvSpPr txBox="1"/>
          <p:nvPr/>
        </p:nvSpPr>
        <p:spPr>
          <a:xfrm>
            <a:off x="1325880" y="4590288"/>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왜 지금 이 고객인지, 한 문장과 태그로</a:t>
            </a:r>
            <a:endParaRPr lang="en-US" sz="1400" dirty="0"/>
          </a:p>
        </p:txBody>
      </p:sp>
      <p:sp>
        <p:nvSpPr>
          <p:cNvPr id="39" name="Shape 37"/>
          <p:cNvSpPr/>
          <p:nvPr/>
        </p:nvSpPr>
        <p:spPr>
          <a:xfrm>
            <a:off x="1115568" y="4992624"/>
            <a:ext cx="5605272" cy="676656"/>
          </a:xfrm>
          <a:prstGeom prst="roundRect">
            <a:avLst>
              <a:gd name="adj" fmla="val 18919"/>
            </a:avLst>
          </a:prstGeom>
          <a:solidFill>
            <a:srgbClr val="FFFFFF"/>
          </a:solidFill>
          <a:ln w="9525">
            <a:solidFill>
              <a:srgbClr val="E5E8EB"/>
            </a:solidFill>
            <a:prstDash val="solid"/>
          </a:ln>
        </p:spPr>
      </p:sp>
      <p:sp>
        <p:nvSpPr>
          <p:cNvPr id="40" name="Shape 38"/>
          <p:cNvSpPr/>
          <p:nvPr/>
        </p:nvSpPr>
        <p:spPr>
          <a:xfrm>
            <a:off x="548640" y="5120640"/>
            <a:ext cx="420624" cy="420624"/>
          </a:xfrm>
          <a:prstGeom prst="ellipse">
            <a:avLst/>
          </a:prstGeom>
          <a:solidFill>
            <a:srgbClr val="191F28"/>
          </a:solidFill>
          <a:ln w="19050">
            <a:solidFill>
              <a:srgbClr val="FFFFFF"/>
            </a:solidFill>
            <a:prstDash val="solid"/>
          </a:ln>
        </p:spPr>
      </p:sp>
      <p:sp>
        <p:nvSpPr>
          <p:cNvPr id="41" name="Text 39"/>
          <p:cNvSpPr txBox="1"/>
          <p:nvPr/>
        </p:nvSpPr>
        <p:spPr>
          <a:xfrm>
            <a:off x="548640" y="5120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2" name="Text 40"/>
          <p:cNvSpPr txBox="1"/>
          <p:nvPr/>
        </p:nvSpPr>
        <p:spPr>
          <a:xfrm>
            <a:off x="1325880" y="5047488"/>
            <a:ext cx="5166360" cy="329184"/>
          </a:xfrm>
          <a:prstGeom prst="rect">
            <a:avLst/>
          </a:prstGeom>
          <a:noFill/>
          <a:ln/>
        </p:spPr>
        <p:txBody>
          <a:bodyPr wrap="square" lIns="0" tIns="0" rIns="0" bIns="0" rtlCol="0" anchor="ctr"/>
          <a:lstStyle/>
          <a:p>
            <a:pPr indent="0" marL="0">
              <a:buNone/>
            </a:pPr>
            <a:r>
              <a:rPr lang="en-US" sz="1700" b="1" dirty="0">
                <a:solidFill>
                  <a:srgbClr val="3182F6"/>
                </a:solidFill>
                <a:latin typeface="맑은 고딕" pitchFamily="34" charset="0"/>
                <a:ea typeface="맑은 고딕" pitchFamily="34" charset="-122"/>
                <a:cs typeface="맑은 고딕" pitchFamily="34" charset="-120"/>
              </a:rPr>
              <a:t>MeAI 고객찾기에서 열기 →</a:t>
            </a:r>
            <a:endParaRPr lang="en-US" sz="1700" dirty="0"/>
          </a:p>
        </p:txBody>
      </p:sp>
      <p:sp>
        <p:nvSpPr>
          <p:cNvPr id="43" name="Text 41"/>
          <p:cNvSpPr txBox="1"/>
          <p:nvPr/>
        </p:nvSpPr>
        <p:spPr>
          <a:xfrm>
            <a:off x="1325880" y="5358384"/>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동의 고객은 [이 고객으로 맞춤대화 시작]으로</a:t>
            </a:r>
            <a:endParaRPr lang="en-US" sz="1400" dirty="0"/>
          </a:p>
        </p:txBody>
      </p:sp>
      <p:sp>
        <p:nvSpPr>
          <p:cNvPr id="44" name="Shape 42"/>
          <p:cNvSpPr/>
          <p:nvPr/>
        </p:nvSpPr>
        <p:spPr>
          <a:xfrm>
            <a:off x="6995160" y="1920240"/>
            <a:ext cx="4647895" cy="2023437"/>
          </a:xfrm>
          <a:prstGeom prst="roundRect">
            <a:avLst>
              <a:gd name="adj" fmla="val 45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5" name="Image 0" descr="MeAI 화면 캡처">    </p:cNvPr>
          <p:cNvPicPr>
            <a:picLocks noChangeAspect="1"/>
          </p:cNvPicPr>
          <p:nvPr/>
        </p:nvPicPr>
        <p:blipFill>
          <a:blip r:embed="rId1"/>
          <a:stretch>
            <a:fillRect/>
          </a:stretch>
        </p:blipFill>
        <p:spPr>
          <a:xfrm>
            <a:off x="6995160" y="1920240"/>
            <a:ext cx="4647895" cy="2023437"/>
          </a:xfrm>
          <a:prstGeom prst="rect">
            <a:avLst/>
          </a:prstGeom>
        </p:spPr>
      </p:pic>
      <p:sp>
        <p:nvSpPr>
          <p:cNvPr id="46" name="Shape 43"/>
          <p:cNvSpPr/>
          <p:nvPr/>
        </p:nvSpPr>
        <p:spPr>
          <a:xfrm>
            <a:off x="9396670" y="3664634"/>
            <a:ext cx="365760" cy="365760"/>
          </a:xfrm>
          <a:prstGeom prst="ellipse">
            <a:avLst/>
          </a:prstGeom>
          <a:solidFill>
            <a:srgbClr val="3182F6"/>
          </a:solidFill>
          <a:ln w="19050">
            <a:solidFill>
              <a:srgbClr val="FFFFFF"/>
            </a:solidFill>
            <a:prstDash val="solid"/>
          </a:ln>
        </p:spPr>
      </p:sp>
      <p:sp>
        <p:nvSpPr>
          <p:cNvPr id="47" name="Text 44"/>
          <p:cNvSpPr txBox="1"/>
          <p:nvPr/>
        </p:nvSpPr>
        <p:spPr>
          <a:xfrm>
            <a:off x="9396670" y="366463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48" name="Shape 45"/>
          <p:cNvSpPr/>
          <p:nvPr/>
        </p:nvSpPr>
        <p:spPr>
          <a:xfrm>
            <a:off x="6860362" y="2338381"/>
            <a:ext cx="365760" cy="365760"/>
          </a:xfrm>
          <a:prstGeom prst="ellipse">
            <a:avLst/>
          </a:prstGeom>
          <a:solidFill>
            <a:srgbClr val="3182F6"/>
          </a:solidFill>
          <a:ln w="19050">
            <a:solidFill>
              <a:srgbClr val="FFFFFF"/>
            </a:solidFill>
            <a:prstDash val="solid"/>
          </a:ln>
        </p:spPr>
      </p:sp>
      <p:sp>
        <p:nvSpPr>
          <p:cNvPr id="49" name="Text 46"/>
          <p:cNvSpPr txBox="1"/>
          <p:nvPr/>
        </p:nvSpPr>
        <p:spPr>
          <a:xfrm>
            <a:off x="6860362" y="2338381"/>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50" name="Text 47"/>
          <p:cNvSpPr txBox="1"/>
          <p:nvPr/>
        </p:nvSpPr>
        <p:spPr>
          <a:xfrm>
            <a:off x="6995160" y="3989397"/>
            <a:ext cx="464789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확정 화면 · 오늘의 추천 고객 세트 3 · 이름·숫자는 예시</a:t>
            </a:r>
            <a:endParaRPr lang="en-US" sz="1200" dirty="0"/>
          </a:p>
        </p:txBody>
      </p:sp>
      <p:sp>
        <p:nvSpPr>
          <p:cNvPr id="51" name="Shape 48"/>
          <p:cNvSpPr/>
          <p:nvPr/>
        </p:nvSpPr>
        <p:spPr>
          <a:xfrm>
            <a:off x="6995160" y="4526280"/>
            <a:ext cx="4647895" cy="1234440"/>
          </a:xfrm>
          <a:prstGeom prst="roundRect">
            <a:avLst>
              <a:gd name="adj" fmla="val 11852"/>
            </a:avLst>
          </a:prstGeom>
          <a:solidFill>
            <a:srgbClr val="191F28"/>
          </a:solidFill>
          <a:ln w="12700">
            <a:solidFill>
              <a:srgbClr val="191F28"/>
            </a:solidFill>
            <a:prstDash val="solid"/>
          </a:ln>
        </p:spPr>
      </p:sp>
      <p:sp>
        <p:nvSpPr>
          <p:cNvPr id="52" name="Text 49"/>
          <p:cNvSpPr txBox="1"/>
          <p:nvPr/>
        </p:nvSpPr>
        <p:spPr>
          <a:xfrm>
            <a:off x="7269480" y="4636008"/>
            <a:ext cx="4190695" cy="310896"/>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오늘 여쭤볼 것</a:t>
            </a:r>
            <a:endParaRPr lang="en-US" sz="1400" dirty="0"/>
          </a:p>
        </p:txBody>
      </p:sp>
      <p:sp>
        <p:nvSpPr>
          <p:cNvPr id="53" name="Text 50"/>
          <p:cNvSpPr txBox="1"/>
          <p:nvPr/>
        </p:nvSpPr>
        <p:spPr>
          <a:xfrm>
            <a:off x="7269480" y="4937760"/>
            <a:ext cx="4190695" cy="777240"/>
          </a:xfrm>
          <a:prstGeom prst="rect">
            <a:avLst/>
          </a:prstGeom>
          <a:noFill/>
          <a:ln/>
        </p:spPr>
        <p:txBody>
          <a:bodyPr wrap="square" lIns="0" tIns="0" rIns="0" bIns="0" rtlCol="0" anchor="t"/>
          <a:lstStyle/>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2 · 어떻게 만들었나요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3 · 꼭 전할 한 가지</a:t>
            </a:r>
            <a:endParaRPr lang="en-US" sz="1450" dirty="0"/>
          </a:p>
        </p:txBody>
      </p:sp>
      <p:sp>
        <p:nvSpPr>
          <p:cNvPr id="54" name="Text 51"/>
          <p:cNvSpPr txBox="1"/>
          <p:nvPr/>
        </p:nvSpPr>
        <p:spPr>
          <a:xfrm>
            <a:off x="548640" y="5833872"/>
            <a:ext cx="11094415" cy="256032"/>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 고객 데이터와 추천 결과는 다음 날 반영 · 사전조회 동의일로부터 1년 이내 고객만</a:t>
            </a:r>
            <a:endParaRPr lang="en-US" sz="1250" dirty="0"/>
          </a:p>
        </p:txBody>
      </p:sp>
      <p:sp>
        <p:nvSpPr>
          <p:cNvPr id="55" name="Text 52"/>
          <p:cNvSpPr txBox="1"/>
          <p:nvPr/>
        </p:nvSpPr>
        <p:spPr>
          <a:xfrm>
            <a:off x="548640" y="6089904"/>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MeAI 홈 확정 화면(범례 · 고객찾기 안내 · 게시판 예시 글) · MeAI 활용 가이드북 v4 8·20쪽</a:t>
            </a:r>
            <a:endParaRPr lang="en-US" sz="1200" dirty="0"/>
          </a:p>
        </p:txBody>
      </p:sp>
      <p:sp>
        <p:nvSpPr>
          <p:cNvPr id="56" name="Text 5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영업포탈에서 MeAI 홈으로 가는 문, 6개예요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10월 2일부터 새 문 3개(③④⑤)가 열려요 · ④가 핵심이에요</a:t>
            </a:r>
            <a:endParaRPr lang="en-US" sz="1700" dirty="0"/>
          </a:p>
        </p:txBody>
      </p:sp>
      <p:sp>
        <p:nvSpPr>
          <p:cNvPr id="13" name="Shape 11"/>
          <p:cNvSpPr/>
          <p:nvPr/>
        </p:nvSpPr>
        <p:spPr>
          <a:xfrm>
            <a:off x="548640" y="1920240"/>
            <a:ext cx="6873240" cy="3749040"/>
          </a:xfrm>
          <a:prstGeom prst="roundRect">
            <a:avLst>
              <a:gd name="adj" fmla="val 3415"/>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20240"/>
            <a:ext cx="6873240" cy="3749040"/>
          </a:xfrm>
          <a:prstGeom prst="rect">
            <a:avLst/>
          </a:prstGeom>
        </p:spPr>
      </p:pic>
      <p:sp>
        <p:nvSpPr>
          <p:cNvPr id="15" name="Shape 12"/>
          <p:cNvSpPr/>
          <p:nvPr/>
        </p:nvSpPr>
        <p:spPr>
          <a:xfrm>
            <a:off x="4820505" y="4462106"/>
            <a:ext cx="565331" cy="620589"/>
          </a:xfrm>
          <a:prstGeom prst="roundRect">
            <a:avLst>
              <a:gd name="adj" fmla="val 8087"/>
            </a:avLst>
          </a:prstGeom>
          <a:ln w="38100">
            <a:solidFill>
              <a:srgbClr val="3182F6"/>
            </a:solidFill>
            <a:prstDash val="solid"/>
          </a:ln>
        </p:spPr>
      </p:sp>
      <p:sp>
        <p:nvSpPr>
          <p:cNvPr id="16" name="Shape 13"/>
          <p:cNvSpPr/>
          <p:nvPr/>
        </p:nvSpPr>
        <p:spPr>
          <a:xfrm>
            <a:off x="548640" y="5779008"/>
            <a:ext cx="6949440" cy="384048"/>
          </a:xfrm>
          <a:prstGeom prst="roundRect">
            <a:avLst>
              <a:gd name="adj" fmla="val 28571"/>
            </a:avLst>
          </a:prstGeom>
          <a:solidFill>
            <a:srgbClr val="F2F4F6"/>
          </a:solidFill>
          <a:ln w="12700">
            <a:solidFill>
              <a:srgbClr val="F2F4F6"/>
            </a:solidFill>
            <a:prstDash val="solid"/>
          </a:ln>
        </p:spPr>
      </p:sp>
      <p:sp>
        <p:nvSpPr>
          <p:cNvPr id="17" name="Text 14"/>
          <p:cNvSpPr txBox="1"/>
          <p:nvPr/>
        </p:nvSpPr>
        <p:spPr>
          <a:xfrm>
            <a:off x="777240" y="5779008"/>
            <a:ext cx="6583680" cy="384048"/>
          </a:xfrm>
          <a:prstGeom prst="rect">
            <a:avLst/>
          </a:prstGeom>
          <a:noFill/>
          <a:ln/>
        </p:spPr>
        <p:txBody>
          <a:bodyPr wrap="square" lIns="0" tIns="0" rIns="0" bIns="0" rtlCol="0" anchor="ctr"/>
          <a:lstStyle/>
          <a:p>
            <a:pPr indent="0" marL="0">
              <a:buNone/>
            </a:pPr>
            <a:r>
              <a:rPr lang="en-US" sz="1500" dirty="0">
                <a:solidFill>
                  <a:srgbClr val="4E5968"/>
                </a:solidFill>
                <a:latin typeface="맑은 고딕" pitchFamily="34" charset="0"/>
                <a:ea typeface="맑은 고딕" pitchFamily="34" charset="-122"/>
                <a:cs typeface="맑은 고딕" pitchFamily="34" charset="-120"/>
              </a:rPr>
              <a:t>휴대폰은 지금처럼 앱 홈 → 보장분석 → MeAI</a:t>
            </a:r>
            <a:endParaRPr lang="en-US" sz="1500" dirty="0"/>
          </a:p>
        </p:txBody>
      </p:sp>
      <p:sp>
        <p:nvSpPr>
          <p:cNvPr id="18" name="Text 15"/>
          <p:cNvSpPr txBox="1"/>
          <p:nvPr/>
        </p:nvSpPr>
        <p:spPr>
          <a:xfrm>
            <a:off x="7772400" y="1874520"/>
            <a:ext cx="3870655" cy="384048"/>
          </a:xfrm>
          <a:prstGeom prst="rect">
            <a:avLst/>
          </a:prstGeom>
          <a:noFill/>
          <a:ln/>
        </p:spPr>
        <p:txBody>
          <a:bodyPr wrap="square" lIns="0" tIns="0" rIns="0" bIns="0" rtlCol="0" anchor="ctr"/>
          <a:lstStyle/>
          <a:p>
            <a:pPr indent="0" marL="0">
              <a:buNone/>
            </a:pPr>
            <a:r>
              <a:rPr lang="en-US" sz="1900" b="1" dirty="0">
                <a:solidFill>
                  <a:srgbClr val="3182F6"/>
                </a:solidFill>
                <a:latin typeface="맑은 고딕" pitchFamily="34" charset="0"/>
                <a:ea typeface="맑은 고딕" pitchFamily="34" charset="-122"/>
                <a:cs typeface="맑은 고딕" pitchFamily="34" charset="-120"/>
              </a:rPr>
              <a:t>새로 생긴 문 ③④⑤</a:t>
            </a:r>
            <a:endParaRPr lang="en-US" sz="1900" dirty="0"/>
          </a:p>
        </p:txBody>
      </p:sp>
      <p:sp>
        <p:nvSpPr>
          <p:cNvPr id="19" name="Shape 16"/>
          <p:cNvSpPr/>
          <p:nvPr/>
        </p:nvSpPr>
        <p:spPr>
          <a:xfrm>
            <a:off x="7772400" y="2304288"/>
            <a:ext cx="2342896" cy="347472"/>
          </a:xfrm>
          <a:prstGeom prst="roundRect">
            <a:avLst>
              <a:gd name="adj" fmla="val 50000"/>
            </a:avLst>
          </a:prstGeom>
          <a:solidFill>
            <a:srgbClr val="E8F3FF"/>
          </a:solidFill>
          <a:ln w="12700">
            <a:solidFill>
              <a:srgbClr val="E8F3FF"/>
            </a:solidFill>
            <a:prstDash val="solid"/>
          </a:ln>
        </p:spPr>
      </p:sp>
      <p:sp>
        <p:nvSpPr>
          <p:cNvPr id="20" name="Text 17"/>
          <p:cNvSpPr txBox="1"/>
          <p:nvPr/>
        </p:nvSpPr>
        <p:spPr>
          <a:xfrm>
            <a:off x="7772400" y="2304288"/>
            <a:ext cx="2342896" cy="347472"/>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권한과 상관없이 누구나*</a:t>
            </a:r>
            <a:endParaRPr lang="en-US" sz="1400" dirty="0"/>
          </a:p>
        </p:txBody>
      </p:sp>
      <p:sp>
        <p:nvSpPr>
          <p:cNvPr id="21" name="Text 18"/>
          <p:cNvSpPr txBox="1"/>
          <p:nvPr/>
        </p:nvSpPr>
        <p:spPr>
          <a:xfrm>
            <a:off x="7772400" y="2761488"/>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롤링배너</a:t>
            </a:r>
            <a:endParaRPr lang="en-US" sz="1650" dirty="0"/>
          </a:p>
        </p:txBody>
      </p:sp>
      <p:sp>
        <p:nvSpPr>
          <p:cNvPr id="22" name="Text 19"/>
          <p:cNvSpPr txBox="1"/>
          <p:nvPr/>
        </p:nvSpPr>
        <p:spPr>
          <a:xfrm>
            <a:off x="8919591" y="2761488"/>
            <a:ext cx="2723464" cy="347472"/>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[MeAI 홈 바로가기]</a:t>
            </a:r>
            <a:endParaRPr lang="en-US" sz="1400" dirty="0"/>
          </a:p>
        </p:txBody>
      </p:sp>
      <p:sp>
        <p:nvSpPr>
          <p:cNvPr id="23" name="Shape 20"/>
          <p:cNvSpPr/>
          <p:nvPr/>
        </p:nvSpPr>
        <p:spPr>
          <a:xfrm>
            <a:off x="7680960" y="3182112"/>
            <a:ext cx="3962095" cy="1481328"/>
          </a:xfrm>
          <a:prstGeom prst="roundRect">
            <a:avLst>
              <a:gd name="adj" fmla="val 8642"/>
            </a:avLst>
          </a:prstGeom>
          <a:solidFill>
            <a:srgbClr val="E8F3FF"/>
          </a:solidFill>
          <a:ln w="12700">
            <a:solidFill>
              <a:srgbClr val="E8F3FF"/>
            </a:solidFill>
            <a:prstDash val="solid"/>
          </a:ln>
        </p:spPr>
      </p:sp>
      <p:sp>
        <p:nvSpPr>
          <p:cNvPr id="24" name="Text 21"/>
          <p:cNvSpPr txBox="1"/>
          <p:nvPr/>
        </p:nvSpPr>
        <p:spPr>
          <a:xfrm>
            <a:off x="7863840" y="3246120"/>
            <a:ext cx="3687775" cy="347472"/>
          </a:xfrm>
          <a:prstGeom prst="rect">
            <a:avLst/>
          </a:prstGeom>
          <a:noFill/>
          <a:ln/>
        </p:spPr>
        <p:txBody>
          <a:bodyPr wrap="square" lIns="0" tIns="0" rIns="0" bIns="0" rtlCol="0" anchor="ctr"/>
          <a:lstStyle/>
          <a:p>
            <a:pPr indent="0" marL="0">
              <a:buNone/>
            </a:pPr>
            <a:r>
              <a:rPr lang="en-US" sz="1650" b="1" dirty="0">
                <a:solidFill>
                  <a:srgbClr val="3182F6"/>
                </a:solidFill>
                <a:latin typeface="맑은 고딕" pitchFamily="34" charset="0"/>
                <a:ea typeface="맑은 고딕" pitchFamily="34" charset="-122"/>
                <a:cs typeface="맑은 고딕" pitchFamily="34" charset="-120"/>
              </a:rPr>
              <a:t>④ CRM 리스트 · 핵심</a:t>
            </a:r>
            <a:endParaRPr lang="en-US" sz="1650" dirty="0"/>
          </a:p>
        </p:txBody>
      </p:sp>
      <p:sp>
        <p:nvSpPr>
          <p:cNvPr id="25" name="Text 22"/>
          <p:cNvSpPr txBox="1"/>
          <p:nvPr/>
        </p:nvSpPr>
        <p:spPr>
          <a:xfrm>
            <a:off x="7863840" y="3593592"/>
            <a:ext cx="3687775" cy="502920"/>
          </a:xfrm>
          <a:prstGeom prst="rect">
            <a:avLst/>
          </a:prstGeom>
          <a:noFill/>
          <a:ln/>
        </p:spPr>
        <p:txBody>
          <a:bodyPr wrap="square" lIns="0" tIns="0" rIns="0" bIns="0" rtlCol="0" anchor="t"/>
          <a:lstStyle/>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고객 목록에</a:t>
            </a:r>
            <a:endParaRPr lang="en-US" sz="1400" dirty="0"/>
          </a:p>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[MeAI 일반대화]·[MeAI 맞춤대화]</a:t>
            </a:r>
            <a:endParaRPr lang="en-US" sz="1400" dirty="0"/>
          </a:p>
        </p:txBody>
      </p:sp>
      <p:sp>
        <p:nvSpPr>
          <p:cNvPr id="26" name="Text 23"/>
          <p:cNvSpPr txBox="1"/>
          <p:nvPr/>
        </p:nvSpPr>
        <p:spPr>
          <a:xfrm>
            <a:off x="7863840" y="4114800"/>
            <a:ext cx="3687775" cy="502920"/>
          </a:xfrm>
          <a:prstGeom prst="rect">
            <a:avLst/>
          </a:prstGeom>
          <a:noFill/>
          <a:ln/>
        </p:spPr>
        <p:txBody>
          <a:bodyPr wrap="square" lIns="0" tIns="0" rIns="0" bIns="0" rtlCol="0" anchor="t"/>
          <a:lstStyle/>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생일·상령일 목록에서 바로</a:t>
            </a:r>
            <a:endParaRPr lang="en-US" sz="1450" dirty="0"/>
          </a:p>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[MeAI 맞춤대화]를 눌러요</a:t>
            </a:r>
            <a:endParaRPr lang="en-US" sz="1450" dirty="0"/>
          </a:p>
        </p:txBody>
      </p:sp>
      <p:sp>
        <p:nvSpPr>
          <p:cNvPr id="27" name="Text 24"/>
          <p:cNvSpPr txBox="1"/>
          <p:nvPr/>
        </p:nvSpPr>
        <p:spPr>
          <a:xfrm>
            <a:off x="7772400" y="4754880"/>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⑤ 떠 있는 MeAI 버튼</a:t>
            </a:r>
            <a:endParaRPr lang="en-US" sz="1650" dirty="0"/>
          </a:p>
        </p:txBody>
      </p:sp>
      <p:sp>
        <p:nvSpPr>
          <p:cNvPr id="28" name="Text 25"/>
          <p:cNvSpPr txBox="1"/>
          <p:nvPr/>
        </p:nvSpPr>
        <p:spPr>
          <a:xfrm>
            <a:off x="7772400" y="5193792"/>
            <a:ext cx="3870655" cy="329184"/>
          </a:xfrm>
          <a:prstGeom prst="rect">
            <a:avLst/>
          </a:prstGeom>
          <a:noFill/>
          <a:ln/>
        </p:spPr>
        <p:txBody>
          <a:bodyPr wrap="square" lIns="0" tIns="0" rIns="0" bIns="0" rtlCol="0" anchor="ctr"/>
          <a:lstStyle/>
          <a:p>
            <a:pPr indent="0" marL="0">
              <a:buNone/>
            </a:pPr>
            <a:r>
              <a:rPr lang="en-US" sz="1600" b="1" dirty="0">
                <a:solidFill>
                  <a:srgbClr val="6B7684"/>
                </a:solidFill>
                <a:latin typeface="맑은 고딕" pitchFamily="34" charset="0"/>
                <a:ea typeface="맑은 고딕" pitchFamily="34" charset="-122"/>
                <a:cs typeface="맑은 고딕" pitchFamily="34" charset="-120"/>
              </a:rPr>
              <a:t>원래 있던 문 ①②⑥</a:t>
            </a:r>
            <a:endParaRPr lang="en-US" sz="1600" dirty="0"/>
          </a:p>
        </p:txBody>
      </p:sp>
      <p:sp>
        <p:nvSpPr>
          <p:cNvPr id="29" name="Text 26"/>
          <p:cNvSpPr txBox="1"/>
          <p:nvPr/>
        </p:nvSpPr>
        <p:spPr>
          <a:xfrm>
            <a:off x="7772400" y="5504688"/>
            <a:ext cx="3870655" cy="475488"/>
          </a:xfrm>
          <a:prstGeom prst="rect">
            <a:avLst/>
          </a:prstGeom>
          <a:noFill/>
          <a:ln/>
        </p:spPr>
        <p:txBody>
          <a:bodyPr wrap="square" lIns="0" tIns="0" rIns="0" bIns="0" rtlCol="0" anchor="t"/>
          <a:lstStyle/>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①② 왼쪽 위 · ⑥ 오른쪽 메뉴</a:t>
            </a:r>
            <a:endParaRPr lang="en-US" sz="1350" dirty="0"/>
          </a:p>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사용권한이 있어야 열려요</a:t>
            </a:r>
            <a:endParaRPr lang="en-US" sz="1350" dirty="0"/>
          </a:p>
        </p:txBody>
      </p:sp>
      <p:sp>
        <p:nvSpPr>
          <p:cNvPr id="30" name="Text 27"/>
          <p:cNvSpPr txBox="1"/>
          <p:nvPr/>
        </p:nvSpPr>
        <p:spPr>
          <a:xfrm>
            <a:off x="548640" y="6144768"/>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적용 시점은 IT 개발 일정에 따라 달라질 수 있어요.  ·  그림·출처: MeAI 활용 가이드북 v4 p.12·13·57 (2026.10) · 그림 속 이름·날짜·숫자는 예시</a:t>
            </a:r>
            <a:endParaRPr lang="en-US" sz="1100" dirty="0"/>
          </a:p>
        </p:txBody>
      </p:sp>
      <p:sp>
        <p:nvSpPr>
          <p:cNvPr id="31"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2"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한 화면에 오늘 연락할 고객이 있어요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번호 순서대로 한 번 훑어요</a:t>
            </a:r>
            <a:endParaRPr lang="en-US" sz="1700" dirty="0"/>
          </a:p>
        </p:txBody>
      </p:sp>
      <p:sp>
        <p:nvSpPr>
          <p:cNvPr id="13" name="Shape 11"/>
          <p:cNvSpPr/>
          <p:nvPr/>
        </p:nvSpPr>
        <p:spPr>
          <a:xfrm>
            <a:off x="548640" y="1874520"/>
            <a:ext cx="5658903" cy="4224528"/>
          </a:xfrm>
          <a:prstGeom prst="roundRect">
            <a:avLst>
              <a:gd name="adj" fmla="val 2679"/>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874520"/>
            <a:ext cx="5658903" cy="4224528"/>
          </a:xfrm>
          <a:prstGeom prst="rect">
            <a:avLst/>
          </a:prstGeom>
        </p:spPr>
      </p:pic>
      <p:sp>
        <p:nvSpPr>
          <p:cNvPr id="15" name="Shape 12"/>
          <p:cNvSpPr/>
          <p:nvPr/>
        </p:nvSpPr>
        <p:spPr>
          <a:xfrm>
            <a:off x="583260" y="2144927"/>
            <a:ext cx="402336" cy="402336"/>
          </a:xfrm>
          <a:prstGeom prst="ellipse">
            <a:avLst/>
          </a:prstGeom>
          <a:solidFill>
            <a:srgbClr val="3182F6"/>
          </a:solidFill>
          <a:ln w="19050">
            <a:solidFill>
              <a:srgbClr val="FFFFFF"/>
            </a:solidFill>
            <a:prstDash val="solid"/>
          </a:ln>
        </p:spPr>
      </p:sp>
      <p:sp>
        <p:nvSpPr>
          <p:cNvPr id="16" name="Text 13"/>
          <p:cNvSpPr txBox="1"/>
          <p:nvPr/>
        </p:nvSpPr>
        <p:spPr>
          <a:xfrm>
            <a:off x="583260" y="214492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583260" y="2718677"/>
            <a:ext cx="402336" cy="402336"/>
          </a:xfrm>
          <a:prstGeom prst="ellipse">
            <a:avLst/>
          </a:prstGeom>
          <a:solidFill>
            <a:srgbClr val="3182F6"/>
          </a:solidFill>
          <a:ln w="19050">
            <a:solidFill>
              <a:srgbClr val="FFFFFF"/>
            </a:solidFill>
            <a:prstDash val="solid"/>
          </a:ln>
        </p:spPr>
      </p:sp>
      <p:sp>
        <p:nvSpPr>
          <p:cNvPr id="18" name="Text 15"/>
          <p:cNvSpPr txBox="1"/>
          <p:nvPr/>
        </p:nvSpPr>
        <p:spPr>
          <a:xfrm>
            <a:off x="583260" y="271867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583260" y="3602881"/>
            <a:ext cx="402336" cy="402336"/>
          </a:xfrm>
          <a:prstGeom prst="ellipse">
            <a:avLst/>
          </a:prstGeom>
          <a:solidFill>
            <a:srgbClr val="3182F6"/>
          </a:solidFill>
          <a:ln w="19050">
            <a:solidFill>
              <a:srgbClr val="FFFFFF"/>
            </a:solidFill>
            <a:prstDash val="solid"/>
          </a:ln>
        </p:spPr>
      </p:sp>
      <p:sp>
        <p:nvSpPr>
          <p:cNvPr id="20" name="Text 17"/>
          <p:cNvSpPr txBox="1"/>
          <p:nvPr/>
        </p:nvSpPr>
        <p:spPr>
          <a:xfrm>
            <a:off x="583260" y="360288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583260" y="4035158"/>
            <a:ext cx="402336" cy="402336"/>
          </a:xfrm>
          <a:prstGeom prst="ellipse">
            <a:avLst/>
          </a:prstGeom>
          <a:solidFill>
            <a:srgbClr val="3182F6"/>
          </a:solidFill>
          <a:ln w="19050">
            <a:solidFill>
              <a:srgbClr val="FFFFFF"/>
            </a:solidFill>
            <a:prstDash val="solid"/>
          </a:ln>
        </p:spPr>
      </p:sp>
      <p:sp>
        <p:nvSpPr>
          <p:cNvPr id="22" name="Text 19"/>
          <p:cNvSpPr txBox="1"/>
          <p:nvPr/>
        </p:nvSpPr>
        <p:spPr>
          <a:xfrm>
            <a:off x="583260" y="403515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3805690" y="1877701"/>
            <a:ext cx="402336" cy="402336"/>
          </a:xfrm>
          <a:prstGeom prst="ellipse">
            <a:avLst/>
          </a:prstGeom>
          <a:solidFill>
            <a:srgbClr val="3182F6"/>
          </a:solidFill>
          <a:ln w="19050">
            <a:solidFill>
              <a:srgbClr val="FFFFFF"/>
            </a:solidFill>
            <a:prstDash val="solid"/>
          </a:ln>
        </p:spPr>
      </p:sp>
      <p:sp>
        <p:nvSpPr>
          <p:cNvPr id="24" name="Text 21"/>
          <p:cNvSpPr txBox="1"/>
          <p:nvPr/>
        </p:nvSpPr>
        <p:spPr>
          <a:xfrm>
            <a:off x="3805690" y="187770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4234786" y="1937397"/>
            <a:ext cx="1383287" cy="180771"/>
          </a:xfrm>
          <a:prstGeom prst="roundRect">
            <a:avLst>
              <a:gd name="adj" fmla="val 25292"/>
            </a:avLst>
          </a:prstGeom>
          <a:ln w="22225">
            <a:solidFill>
              <a:srgbClr val="3182F6"/>
            </a:solidFill>
            <a:prstDash val="solid"/>
          </a:ln>
        </p:spPr>
      </p:sp>
      <p:sp>
        <p:nvSpPr>
          <p:cNvPr id="26" name="Shape 23"/>
          <p:cNvSpPr/>
          <p:nvPr/>
        </p:nvSpPr>
        <p:spPr>
          <a:xfrm>
            <a:off x="3240549" y="5973295"/>
            <a:ext cx="275086" cy="94315"/>
          </a:xfrm>
          <a:prstGeom prst="roundRect">
            <a:avLst>
              <a:gd name="adj" fmla="val 48476"/>
            </a:avLst>
          </a:prstGeom>
          <a:ln w="22225">
            <a:solidFill>
              <a:srgbClr val="3182F6"/>
            </a:solidFill>
            <a:prstDash val="solid"/>
          </a:ln>
        </p:spPr>
      </p:sp>
      <p:sp>
        <p:nvSpPr>
          <p:cNvPr id="27" name="Shape 24"/>
          <p:cNvSpPr/>
          <p:nvPr/>
        </p:nvSpPr>
        <p:spPr>
          <a:xfrm>
            <a:off x="4588468" y="2440410"/>
            <a:ext cx="1021746" cy="141473"/>
          </a:xfrm>
          <a:prstGeom prst="roundRect">
            <a:avLst>
              <a:gd name="adj" fmla="val 32317"/>
            </a:avLst>
          </a:prstGeom>
          <a:ln w="22225">
            <a:solidFill>
              <a:srgbClr val="3182F6"/>
            </a:solidFill>
            <a:prstDash val="solid"/>
          </a:ln>
        </p:spPr>
      </p:sp>
      <p:sp>
        <p:nvSpPr>
          <p:cNvPr id="28" name="Shape 25"/>
          <p:cNvSpPr/>
          <p:nvPr/>
        </p:nvSpPr>
        <p:spPr>
          <a:xfrm>
            <a:off x="6355080" y="1892808"/>
            <a:ext cx="420624" cy="420624"/>
          </a:xfrm>
          <a:prstGeom prst="ellipse">
            <a:avLst/>
          </a:prstGeom>
          <a:solidFill>
            <a:srgbClr val="3182F6"/>
          </a:solidFill>
          <a:ln w="19050">
            <a:solidFill>
              <a:srgbClr val="FFFFFF"/>
            </a:solidFill>
            <a:prstDash val="solid"/>
          </a:ln>
        </p:spPr>
      </p:sp>
      <p:sp>
        <p:nvSpPr>
          <p:cNvPr id="29" name="Text 26"/>
          <p:cNvSpPr txBox="1"/>
          <p:nvPr/>
        </p:nvSpPr>
        <p:spPr>
          <a:xfrm>
            <a:off x="6355080" y="1892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0" name="Text 27"/>
          <p:cNvSpPr txBox="1"/>
          <p:nvPr/>
        </p:nvSpPr>
        <p:spPr>
          <a:xfrm>
            <a:off x="6922008" y="187452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인사 · 최근 업데이트</a:t>
            </a:r>
            <a:endParaRPr lang="en-US" sz="1900" dirty="0"/>
          </a:p>
        </p:txBody>
      </p:sp>
      <p:sp>
        <p:nvSpPr>
          <p:cNvPr id="31" name="Text 28"/>
          <p:cNvSpPr txBox="1"/>
          <p:nvPr/>
        </p:nvSpPr>
        <p:spPr>
          <a:xfrm>
            <a:off x="6922008" y="229514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시각 = 데이터 기준 · 다음 날 반영</a:t>
            </a:r>
            <a:endParaRPr lang="en-US" sz="1450" dirty="0"/>
          </a:p>
        </p:txBody>
      </p:sp>
      <p:sp>
        <p:nvSpPr>
          <p:cNvPr id="32" name="Shape 29"/>
          <p:cNvSpPr/>
          <p:nvPr/>
        </p:nvSpPr>
        <p:spPr>
          <a:xfrm>
            <a:off x="6355080" y="2624328"/>
            <a:ext cx="420624" cy="420624"/>
          </a:xfrm>
          <a:prstGeom prst="ellipse">
            <a:avLst/>
          </a:prstGeom>
          <a:solidFill>
            <a:srgbClr val="3182F6"/>
          </a:solidFill>
          <a:ln w="19050">
            <a:solidFill>
              <a:srgbClr val="FFFFFF"/>
            </a:solidFill>
            <a:prstDash val="solid"/>
          </a:ln>
        </p:spPr>
      </p:sp>
      <p:sp>
        <p:nvSpPr>
          <p:cNvPr id="33" name="Text 30"/>
          <p:cNvSpPr txBox="1"/>
          <p:nvPr/>
        </p:nvSpPr>
        <p:spPr>
          <a:xfrm>
            <a:off x="6355080" y="2624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4" name="Text 31"/>
          <p:cNvSpPr txBox="1"/>
          <p:nvPr/>
        </p:nvSpPr>
        <p:spPr>
          <a:xfrm>
            <a:off x="6922008" y="260604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대화 카드 두 장</a:t>
            </a:r>
            <a:endParaRPr lang="en-US" sz="1900" dirty="0"/>
          </a:p>
        </p:txBody>
      </p:sp>
      <p:sp>
        <p:nvSpPr>
          <p:cNvPr id="35" name="Text 32"/>
          <p:cNvSpPr txBox="1"/>
          <p:nvPr/>
        </p:nvSpPr>
        <p:spPr>
          <a:xfrm>
            <a:off x="6922008" y="302666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일반대화 무엇이든 · 맞춤대화 고객 한 명</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누르는 법은 ‘3 묻기’에서 보여 드려요</a:t>
            </a:r>
            <a:endParaRPr lang="en-US" sz="1450" dirty="0"/>
          </a:p>
        </p:txBody>
      </p:sp>
      <p:sp>
        <p:nvSpPr>
          <p:cNvPr id="36" name="Shape 33"/>
          <p:cNvSpPr/>
          <p:nvPr/>
        </p:nvSpPr>
        <p:spPr>
          <a:xfrm>
            <a:off x="6355080" y="3584448"/>
            <a:ext cx="420624" cy="420624"/>
          </a:xfrm>
          <a:prstGeom prst="ellipse">
            <a:avLst/>
          </a:prstGeom>
          <a:solidFill>
            <a:srgbClr val="3182F6"/>
          </a:solidFill>
          <a:ln w="19050">
            <a:solidFill>
              <a:srgbClr val="FFFFFF"/>
            </a:solidFill>
            <a:prstDash val="solid"/>
          </a:ln>
        </p:spPr>
      </p:sp>
      <p:sp>
        <p:nvSpPr>
          <p:cNvPr id="37" name="Text 34"/>
          <p:cNvSpPr txBox="1"/>
          <p:nvPr/>
        </p:nvSpPr>
        <p:spPr>
          <a:xfrm>
            <a:off x="635508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8" name="Text 35"/>
          <p:cNvSpPr txBox="1"/>
          <p:nvPr/>
        </p:nvSpPr>
        <p:spPr>
          <a:xfrm>
            <a:off x="6922008" y="356616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내 고객 숫자 4개</a:t>
            </a:r>
            <a:endParaRPr lang="en-US" sz="1900" dirty="0"/>
          </a:p>
        </p:txBody>
      </p:sp>
      <p:sp>
        <p:nvSpPr>
          <p:cNvPr id="39" name="Text 36"/>
          <p:cNvSpPr txBox="1"/>
          <p:nvPr/>
        </p:nvSpPr>
        <p:spPr>
          <a:xfrm>
            <a:off x="6922008" y="398678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'사전조회 동의 필요'가 늘었나 봐요</a:t>
            </a:r>
            <a:endParaRPr lang="en-US" sz="1450" dirty="0"/>
          </a:p>
        </p:txBody>
      </p:sp>
      <p:sp>
        <p:nvSpPr>
          <p:cNvPr id="40" name="Shape 37"/>
          <p:cNvSpPr/>
          <p:nvPr/>
        </p:nvSpPr>
        <p:spPr>
          <a:xfrm>
            <a:off x="6355080" y="4315968"/>
            <a:ext cx="420624" cy="420624"/>
          </a:xfrm>
          <a:prstGeom prst="ellipse">
            <a:avLst/>
          </a:prstGeom>
          <a:solidFill>
            <a:srgbClr val="3182F6"/>
          </a:solidFill>
          <a:ln w="19050">
            <a:solidFill>
              <a:srgbClr val="FFFFFF"/>
            </a:solidFill>
            <a:prstDash val="solid"/>
          </a:ln>
        </p:spPr>
      </p:sp>
      <p:sp>
        <p:nvSpPr>
          <p:cNvPr id="41" name="Text 38"/>
          <p:cNvSpPr txBox="1"/>
          <p:nvPr/>
        </p:nvSpPr>
        <p:spPr>
          <a:xfrm>
            <a:off x="6355080" y="431596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2" name="Text 39"/>
          <p:cNvSpPr txBox="1"/>
          <p:nvPr/>
        </p:nvSpPr>
        <p:spPr>
          <a:xfrm>
            <a:off x="6922008" y="429768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오늘의 추천 고객</a:t>
            </a:r>
            <a:endParaRPr lang="en-US" sz="1900" dirty="0"/>
          </a:p>
        </p:txBody>
      </p:sp>
      <p:sp>
        <p:nvSpPr>
          <p:cNvPr id="43" name="Text 40"/>
          <p:cNvSpPr txBox="1"/>
          <p:nvPr/>
        </p:nvSpPr>
        <p:spPr>
          <a:xfrm>
            <a:off x="6922008" y="471830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이유 붙은 카드 3장 · 화살표로 넘겨요</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지금 화면은 세트 3이에요</a:t>
            </a:r>
            <a:endParaRPr lang="en-US" sz="1450" dirty="0"/>
          </a:p>
        </p:txBody>
      </p:sp>
      <p:sp>
        <p:nvSpPr>
          <p:cNvPr id="44" name="Shape 41"/>
          <p:cNvSpPr/>
          <p:nvPr/>
        </p:nvSpPr>
        <p:spPr>
          <a:xfrm>
            <a:off x="6355080" y="5276088"/>
            <a:ext cx="420624" cy="420624"/>
          </a:xfrm>
          <a:prstGeom prst="ellipse">
            <a:avLst/>
          </a:prstGeom>
          <a:solidFill>
            <a:srgbClr val="3182F6"/>
          </a:solidFill>
          <a:ln w="19050">
            <a:solidFill>
              <a:srgbClr val="FFFFFF"/>
            </a:solidFill>
            <a:prstDash val="solid"/>
          </a:ln>
        </p:spPr>
      </p:sp>
      <p:sp>
        <p:nvSpPr>
          <p:cNvPr id="45" name="Text 42"/>
          <p:cNvSpPr txBox="1"/>
          <p:nvPr/>
        </p:nvSpPr>
        <p:spPr>
          <a:xfrm>
            <a:off x="6355080" y="5276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6" name="Text 43"/>
          <p:cNvSpPr txBox="1"/>
          <p:nvPr/>
        </p:nvSpPr>
        <p:spPr>
          <a:xfrm>
            <a:off x="6922008" y="525780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오른쪽 위 버튼</a:t>
            </a:r>
            <a:endParaRPr lang="en-US" sz="1900" dirty="0"/>
          </a:p>
        </p:txBody>
      </p:sp>
      <p:sp>
        <p:nvSpPr>
          <p:cNvPr id="47" name="Text 44"/>
          <p:cNvSpPr txBox="1"/>
          <p:nvPr/>
        </p:nvSpPr>
        <p:spPr>
          <a:xfrm>
            <a:off x="6922008" y="567842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[고객 동의] 동의 요청 알림톡</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[게시판] 빨간 점이면 새 글</a:t>
            </a:r>
            <a:endParaRPr lang="en-US" sz="1450" dirty="0"/>
          </a:p>
        </p:txBody>
      </p:sp>
      <p:sp>
        <p:nvSpPr>
          <p:cNvPr id="48" name="Text 45"/>
          <p:cNvSpPr txBox="1"/>
          <p:nvPr/>
        </p:nvSpPr>
        <p:spPr>
          <a:xfrm>
            <a:off x="548640" y="6117336"/>
            <a:ext cx="5669280" cy="274320"/>
          </a:xfrm>
          <a:prstGeom prst="rect">
            <a:avLst/>
          </a:prstGeom>
          <a:noFill/>
          <a:ln/>
        </p:spPr>
        <p:txBody>
          <a:bodyPr wrap="square" lIns="0" tIns="0" rIns="0" bIns="0" rtlCol="0" anchor="ctr"/>
          <a:lstStyle/>
          <a:p>
            <a:pPr algn="l" indent="0" marL="0">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a:t>
            </a:r>
            <a:endParaRPr lang="en-US" sz="12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카드 한 문장이 고객에게 건네는 첫 말이에요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 · 왜 · 언제 · 다음이 카드 한 장에 다 있어요</a:t>
            </a:r>
            <a:endParaRPr lang="en-US" sz="1700" dirty="0"/>
          </a:p>
        </p:txBody>
      </p:sp>
      <p:sp>
        <p:nvSpPr>
          <p:cNvPr id="13" name="Shape 11"/>
          <p:cNvSpPr/>
          <p:nvPr/>
        </p:nvSpPr>
        <p:spPr>
          <a:xfrm>
            <a:off x="960120" y="1920240"/>
            <a:ext cx="2745883" cy="3154680"/>
          </a:xfrm>
          <a:prstGeom prst="roundRect">
            <a:avLst>
              <a:gd name="adj" fmla="val 20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960120" y="1920240"/>
            <a:ext cx="2745883" cy="3154680"/>
          </a:xfrm>
          <a:prstGeom prst="rect">
            <a:avLst/>
          </a:prstGeom>
        </p:spPr>
      </p:pic>
      <p:sp>
        <p:nvSpPr>
          <p:cNvPr id="15" name="Shape 12"/>
          <p:cNvSpPr/>
          <p:nvPr/>
        </p:nvSpPr>
        <p:spPr>
          <a:xfrm>
            <a:off x="521208" y="2084375"/>
            <a:ext cx="365760" cy="365760"/>
          </a:xfrm>
          <a:prstGeom prst="ellipse">
            <a:avLst/>
          </a:prstGeom>
          <a:solidFill>
            <a:srgbClr val="3182F6"/>
          </a:solidFill>
          <a:ln w="19050">
            <a:solidFill>
              <a:srgbClr val="FFFFFF"/>
            </a:solidFill>
            <a:prstDash val="solid"/>
          </a:ln>
        </p:spPr>
      </p:sp>
      <p:sp>
        <p:nvSpPr>
          <p:cNvPr id="16" name="Text 13"/>
          <p:cNvSpPr txBox="1"/>
          <p:nvPr/>
        </p:nvSpPr>
        <p:spPr>
          <a:xfrm>
            <a:off x="521208" y="208437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7" name="Shape 14"/>
          <p:cNvSpPr/>
          <p:nvPr/>
        </p:nvSpPr>
        <p:spPr>
          <a:xfrm>
            <a:off x="521208" y="2494483"/>
            <a:ext cx="365760" cy="365760"/>
          </a:xfrm>
          <a:prstGeom prst="ellipse">
            <a:avLst/>
          </a:prstGeom>
          <a:solidFill>
            <a:srgbClr val="3182F6"/>
          </a:solidFill>
          <a:ln w="19050">
            <a:solidFill>
              <a:srgbClr val="FFFFFF"/>
            </a:solidFill>
            <a:prstDash val="solid"/>
          </a:ln>
        </p:spPr>
      </p:sp>
      <p:sp>
        <p:nvSpPr>
          <p:cNvPr id="18" name="Text 15"/>
          <p:cNvSpPr txBox="1"/>
          <p:nvPr/>
        </p:nvSpPr>
        <p:spPr>
          <a:xfrm>
            <a:off x="521208" y="249448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9" name="Shape 16"/>
          <p:cNvSpPr/>
          <p:nvPr/>
        </p:nvSpPr>
        <p:spPr>
          <a:xfrm>
            <a:off x="521208" y="3756355"/>
            <a:ext cx="365760" cy="365760"/>
          </a:xfrm>
          <a:prstGeom prst="ellipse">
            <a:avLst/>
          </a:prstGeom>
          <a:solidFill>
            <a:srgbClr val="3182F6"/>
          </a:solidFill>
          <a:ln w="19050">
            <a:solidFill>
              <a:srgbClr val="FFFFFF"/>
            </a:solidFill>
            <a:prstDash val="solid"/>
          </a:ln>
        </p:spPr>
      </p:sp>
      <p:sp>
        <p:nvSpPr>
          <p:cNvPr id="20" name="Text 17"/>
          <p:cNvSpPr txBox="1"/>
          <p:nvPr/>
        </p:nvSpPr>
        <p:spPr>
          <a:xfrm>
            <a:off x="521208" y="375635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Shape 18"/>
          <p:cNvSpPr/>
          <p:nvPr/>
        </p:nvSpPr>
        <p:spPr>
          <a:xfrm>
            <a:off x="521208" y="4024503"/>
            <a:ext cx="365760" cy="365760"/>
          </a:xfrm>
          <a:prstGeom prst="ellipse">
            <a:avLst/>
          </a:prstGeom>
          <a:solidFill>
            <a:srgbClr val="3182F6"/>
          </a:solidFill>
          <a:ln w="19050">
            <a:solidFill>
              <a:srgbClr val="FFFFFF"/>
            </a:solidFill>
            <a:prstDash val="solid"/>
          </a:ln>
        </p:spPr>
      </p:sp>
      <p:sp>
        <p:nvSpPr>
          <p:cNvPr id="22" name="Text 19"/>
          <p:cNvSpPr txBox="1"/>
          <p:nvPr/>
        </p:nvSpPr>
        <p:spPr>
          <a:xfrm>
            <a:off x="521208" y="402450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3" name="Shape 20"/>
          <p:cNvSpPr/>
          <p:nvPr/>
        </p:nvSpPr>
        <p:spPr>
          <a:xfrm>
            <a:off x="521208" y="4545025"/>
            <a:ext cx="365760" cy="365760"/>
          </a:xfrm>
          <a:prstGeom prst="ellipse">
            <a:avLst/>
          </a:prstGeom>
          <a:solidFill>
            <a:srgbClr val="3182F6"/>
          </a:solidFill>
          <a:ln w="19050">
            <a:solidFill>
              <a:srgbClr val="FFFFFF"/>
            </a:solidFill>
            <a:prstDash val="solid"/>
          </a:ln>
        </p:spPr>
      </p:sp>
      <p:sp>
        <p:nvSpPr>
          <p:cNvPr id="24" name="Text 21"/>
          <p:cNvSpPr txBox="1"/>
          <p:nvPr/>
        </p:nvSpPr>
        <p:spPr>
          <a:xfrm>
            <a:off x="521208" y="454502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25" name="Shape 22"/>
          <p:cNvSpPr/>
          <p:nvPr/>
        </p:nvSpPr>
        <p:spPr>
          <a:xfrm>
            <a:off x="1179791" y="2519629"/>
            <a:ext cx="2334000" cy="362788"/>
          </a:xfrm>
          <a:prstGeom prst="roundRect">
            <a:avLst>
              <a:gd name="adj" fmla="val 10082"/>
            </a:avLst>
          </a:prstGeom>
          <a:ln w="22225">
            <a:solidFill>
              <a:srgbClr val="3182F6"/>
            </a:solidFill>
            <a:prstDash val="solid"/>
          </a:ln>
        </p:spPr>
      </p:sp>
      <p:sp>
        <p:nvSpPr>
          <p:cNvPr id="26" name="Shape 23"/>
          <p:cNvSpPr/>
          <p:nvPr/>
        </p:nvSpPr>
        <p:spPr>
          <a:xfrm>
            <a:off x="1124873" y="4112743"/>
            <a:ext cx="878683" cy="189281"/>
          </a:xfrm>
          <a:prstGeom prst="roundRect">
            <a:avLst>
              <a:gd name="adj" fmla="val 19324"/>
            </a:avLst>
          </a:prstGeom>
          <a:ln w="22225">
            <a:solidFill>
              <a:srgbClr val="3182F6"/>
            </a:solidFill>
            <a:prstDash val="solid"/>
          </a:ln>
        </p:spPr>
      </p:sp>
      <p:sp>
        <p:nvSpPr>
          <p:cNvPr id="27" name="Shape 24"/>
          <p:cNvSpPr/>
          <p:nvPr/>
        </p:nvSpPr>
        <p:spPr>
          <a:xfrm>
            <a:off x="4343400" y="1938528"/>
            <a:ext cx="420624" cy="420624"/>
          </a:xfrm>
          <a:prstGeom prst="ellipse">
            <a:avLst/>
          </a:prstGeom>
          <a:solidFill>
            <a:srgbClr val="3182F6"/>
          </a:solidFill>
          <a:ln w="19050">
            <a:solidFill>
              <a:srgbClr val="FFFFFF"/>
            </a:solidFill>
            <a:prstDash val="solid"/>
          </a:ln>
        </p:spPr>
      </p:sp>
      <p:sp>
        <p:nvSpPr>
          <p:cNvPr id="28" name="Text 25"/>
          <p:cNvSpPr txBox="1"/>
          <p:nvPr/>
        </p:nvSpPr>
        <p:spPr>
          <a:xfrm>
            <a:off x="434340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29" name="Text 26"/>
          <p:cNvSpPr txBox="1"/>
          <p:nvPr/>
        </p:nvSpPr>
        <p:spPr>
          <a:xfrm>
            <a:off x="4910328" y="192024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누구에게</a:t>
            </a:r>
            <a:endParaRPr lang="en-US" sz="1800" dirty="0"/>
          </a:p>
        </p:txBody>
      </p:sp>
      <p:sp>
        <p:nvSpPr>
          <p:cNvPr id="30" name="Text 27"/>
          <p:cNvSpPr txBox="1"/>
          <p:nvPr/>
        </p:nvSpPr>
        <p:spPr>
          <a:xfrm>
            <a:off x="4910328" y="234086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이름 · 나이 · 보유/가망/이관</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'AI 추천 고객' = 상품 제안 가능</a:t>
            </a:r>
            <a:endParaRPr lang="en-US" sz="1400" dirty="0"/>
          </a:p>
        </p:txBody>
      </p:sp>
      <p:sp>
        <p:nvSpPr>
          <p:cNvPr id="31" name="Shape 28"/>
          <p:cNvSpPr/>
          <p:nvPr/>
        </p:nvSpPr>
        <p:spPr>
          <a:xfrm>
            <a:off x="4343400" y="3035808"/>
            <a:ext cx="420624" cy="420624"/>
          </a:xfrm>
          <a:prstGeom prst="ellipse">
            <a:avLst/>
          </a:prstGeom>
          <a:solidFill>
            <a:srgbClr val="3182F6"/>
          </a:solidFill>
          <a:ln w="19050">
            <a:solidFill>
              <a:srgbClr val="FFFFFF"/>
            </a:solidFill>
            <a:prstDash val="solid"/>
          </a:ln>
        </p:spPr>
      </p:sp>
      <p:sp>
        <p:nvSpPr>
          <p:cNvPr id="32" name="Text 29"/>
          <p:cNvSpPr txBox="1"/>
          <p:nvPr/>
        </p:nvSpPr>
        <p:spPr>
          <a:xfrm>
            <a:off x="434340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3" name="Text 30"/>
          <p:cNvSpPr txBox="1"/>
          <p:nvPr/>
        </p:nvSpPr>
        <p:spPr>
          <a:xfrm>
            <a:off x="4910328" y="301752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왜 지금</a:t>
            </a:r>
            <a:endParaRPr lang="en-US" sz="1800" dirty="0"/>
          </a:p>
        </p:txBody>
      </p:sp>
      <p:sp>
        <p:nvSpPr>
          <p:cNvPr id="34" name="Text 31"/>
          <p:cNvSpPr txBox="1"/>
          <p:nvPr/>
        </p:nvSpPr>
        <p:spPr>
          <a:xfrm>
            <a:off x="4910328" y="343814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굵은 한 문장이 연락할 이유예요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아래 설명이 상담 방향이에요</a:t>
            </a:r>
            <a:endParaRPr lang="en-US" sz="1400" dirty="0"/>
          </a:p>
        </p:txBody>
      </p:sp>
      <p:sp>
        <p:nvSpPr>
          <p:cNvPr id="35" name="Shape 32"/>
          <p:cNvSpPr/>
          <p:nvPr/>
        </p:nvSpPr>
        <p:spPr>
          <a:xfrm>
            <a:off x="4343400" y="4133088"/>
            <a:ext cx="420624" cy="420624"/>
          </a:xfrm>
          <a:prstGeom prst="ellipse">
            <a:avLst/>
          </a:prstGeom>
          <a:solidFill>
            <a:srgbClr val="3182F6"/>
          </a:solidFill>
          <a:ln w="19050">
            <a:solidFill>
              <a:srgbClr val="FFFFFF"/>
            </a:solidFill>
            <a:prstDash val="solid"/>
          </a:ln>
        </p:spPr>
      </p:sp>
      <p:sp>
        <p:nvSpPr>
          <p:cNvPr id="36" name="Text 33"/>
          <p:cNvSpPr txBox="1"/>
          <p:nvPr/>
        </p:nvSpPr>
        <p:spPr>
          <a:xfrm>
            <a:off x="4343400" y="4133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7" name="Text 34"/>
          <p:cNvSpPr txBox="1"/>
          <p:nvPr/>
        </p:nvSpPr>
        <p:spPr>
          <a:xfrm>
            <a:off x="4910328" y="411480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태그 세 가지</a:t>
            </a:r>
            <a:endParaRPr lang="en-US" sz="1800" dirty="0"/>
          </a:p>
        </p:txBody>
      </p:sp>
      <p:sp>
        <p:nvSpPr>
          <p:cNvPr id="38" name="Shape 35"/>
          <p:cNvSpPr/>
          <p:nvPr/>
        </p:nvSpPr>
        <p:spPr>
          <a:xfrm>
            <a:off x="4434840" y="4553712"/>
            <a:ext cx="1215771" cy="292608"/>
          </a:xfrm>
          <a:prstGeom prst="roundRect">
            <a:avLst>
              <a:gd name="adj" fmla="val 50000"/>
            </a:avLst>
          </a:prstGeom>
          <a:solidFill>
            <a:srgbClr val="E8F3FF"/>
          </a:solidFill>
          <a:ln w="12700">
            <a:solidFill>
              <a:srgbClr val="E8F3FF"/>
            </a:solidFill>
            <a:prstDash val="solid"/>
          </a:ln>
        </p:spPr>
      </p:sp>
      <p:sp>
        <p:nvSpPr>
          <p:cNvPr id="39" name="Text 36"/>
          <p:cNvSpPr txBox="1"/>
          <p:nvPr/>
        </p:nvSpPr>
        <p:spPr>
          <a:xfrm>
            <a:off x="4434840" y="4553712"/>
            <a:ext cx="1215771" cy="292608"/>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#이벤트 임박</a:t>
            </a:r>
            <a:endParaRPr lang="en-US" sz="1150" dirty="0"/>
          </a:p>
        </p:txBody>
      </p:sp>
      <p:sp>
        <p:nvSpPr>
          <p:cNvPr id="40" name="Shape 37"/>
          <p:cNvSpPr/>
          <p:nvPr/>
        </p:nvSpPr>
        <p:spPr>
          <a:xfrm>
            <a:off x="5723763" y="4553712"/>
            <a:ext cx="1069721" cy="292608"/>
          </a:xfrm>
          <a:prstGeom prst="roundRect">
            <a:avLst>
              <a:gd name="adj" fmla="val 50000"/>
            </a:avLst>
          </a:prstGeom>
          <a:solidFill>
            <a:srgbClr val="FFF0F0"/>
          </a:solidFill>
          <a:ln w="12700">
            <a:solidFill>
              <a:srgbClr val="FFF0F0"/>
            </a:solidFill>
            <a:prstDash val="solid"/>
          </a:ln>
        </p:spPr>
      </p:sp>
      <p:sp>
        <p:nvSpPr>
          <p:cNvPr id="41" name="Text 38"/>
          <p:cNvSpPr txBox="1"/>
          <p:nvPr/>
        </p:nvSpPr>
        <p:spPr>
          <a:xfrm>
            <a:off x="5723763" y="4553712"/>
            <a:ext cx="1069721" cy="292608"/>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#보장 공백</a:t>
            </a:r>
            <a:endParaRPr lang="en-US" sz="1150" dirty="0"/>
          </a:p>
        </p:txBody>
      </p:sp>
      <p:sp>
        <p:nvSpPr>
          <p:cNvPr id="42" name="Shape 39"/>
          <p:cNvSpPr/>
          <p:nvPr/>
        </p:nvSpPr>
        <p:spPr>
          <a:xfrm>
            <a:off x="6866636" y="4553712"/>
            <a:ext cx="1069721" cy="292608"/>
          </a:xfrm>
          <a:prstGeom prst="roundRect">
            <a:avLst>
              <a:gd name="adj" fmla="val 50000"/>
            </a:avLst>
          </a:prstGeom>
          <a:solidFill>
            <a:srgbClr val="F0EDFF"/>
          </a:solidFill>
          <a:ln w="12700">
            <a:solidFill>
              <a:srgbClr val="F0EDFF"/>
            </a:solidFill>
            <a:prstDash val="solid"/>
          </a:ln>
        </p:spPr>
      </p:sp>
      <p:sp>
        <p:nvSpPr>
          <p:cNvPr id="43" name="Text 40"/>
          <p:cNvSpPr txBox="1"/>
          <p:nvPr/>
        </p:nvSpPr>
        <p:spPr>
          <a:xfrm>
            <a:off x="6866636" y="4553712"/>
            <a:ext cx="1069721" cy="292608"/>
          </a:xfrm>
          <a:prstGeom prst="rect">
            <a:avLst/>
          </a:prstGeom>
          <a:noFill/>
          <a:ln/>
        </p:spPr>
        <p:txBody>
          <a:bodyPr wrap="square" lIns="0" tIns="0" rIns="0" bIns="0" rtlCol="0" anchor="ctr"/>
          <a:lstStyle/>
          <a:p>
            <a:pPr algn="ctr" indent="0" marL="0">
              <a:buNone/>
            </a:pPr>
            <a:r>
              <a:rPr lang="en-US" sz="1150" b="1" dirty="0">
                <a:solidFill>
                  <a:srgbClr val="7048E8"/>
                </a:solidFill>
                <a:latin typeface="맑은 고딕" pitchFamily="34" charset="0"/>
                <a:ea typeface="맑은 고딕" pitchFamily="34" charset="-122"/>
                <a:cs typeface="맑은 고딕" pitchFamily="34" charset="-120"/>
              </a:rPr>
              <a:t>#당월 타겟</a:t>
            </a:r>
            <a:endParaRPr lang="en-US" sz="1150" dirty="0"/>
          </a:p>
        </p:txBody>
      </p:sp>
      <p:sp>
        <p:nvSpPr>
          <p:cNvPr id="44" name="Text 41"/>
          <p:cNvSpPr txBox="1"/>
          <p:nvPr/>
        </p:nvSpPr>
        <p:spPr>
          <a:xfrm>
            <a:off x="4434840" y="4901184"/>
            <a:ext cx="4114800" cy="274320"/>
          </a:xfrm>
          <a:prstGeom prst="rect">
            <a:avLst/>
          </a:prstGeom>
          <a:noFill/>
          <a:ln/>
        </p:spPr>
        <p:txBody>
          <a:bodyPr wrap="square" lIns="0" tIns="0" rIns="0" bIns="0" rtlCol="0" anchor="ctr"/>
          <a:lstStyle/>
          <a:p>
            <a:pPr indent="0" marL="0">
              <a:buNone/>
            </a:pPr>
            <a:r>
              <a:rPr lang="en-US" sz="1350" dirty="0">
                <a:solidFill>
                  <a:srgbClr val="6B7684"/>
                </a:solidFill>
                <a:latin typeface="맑은 고딕" pitchFamily="34" charset="0"/>
                <a:ea typeface="맑은 고딕" pitchFamily="34" charset="-122"/>
                <a:cs typeface="맑은 고딕" pitchFamily="34" charset="-120"/>
              </a:rPr>
              <a:t>아침엔 #이벤트 임박 · #당월 타겟부터</a:t>
            </a:r>
            <a:endParaRPr lang="en-US" sz="1350" dirty="0"/>
          </a:p>
        </p:txBody>
      </p:sp>
      <p:sp>
        <p:nvSpPr>
          <p:cNvPr id="45" name="Shape 42"/>
          <p:cNvSpPr/>
          <p:nvPr/>
        </p:nvSpPr>
        <p:spPr>
          <a:xfrm>
            <a:off x="8275320" y="1938528"/>
            <a:ext cx="420624" cy="420624"/>
          </a:xfrm>
          <a:prstGeom prst="ellipse">
            <a:avLst/>
          </a:prstGeom>
          <a:solidFill>
            <a:srgbClr val="F04452"/>
          </a:solidFill>
          <a:ln w="19050">
            <a:solidFill>
              <a:srgbClr val="FFFFFF"/>
            </a:solidFill>
            <a:prstDash val="solid"/>
          </a:ln>
        </p:spPr>
      </p:sp>
      <p:sp>
        <p:nvSpPr>
          <p:cNvPr id="46" name="Text 43"/>
          <p:cNvSpPr txBox="1"/>
          <p:nvPr/>
        </p:nvSpPr>
        <p:spPr>
          <a:xfrm>
            <a:off x="827532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7" name="Text 44"/>
          <p:cNvSpPr txBox="1"/>
          <p:nvPr/>
        </p:nvSpPr>
        <p:spPr>
          <a:xfrm>
            <a:off x="8842248" y="192024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사전조회동의 필요</a:t>
            </a:r>
            <a:endParaRPr lang="en-US" sz="1800" dirty="0"/>
          </a:p>
        </p:txBody>
      </p:sp>
      <p:sp>
        <p:nvSpPr>
          <p:cNvPr id="48" name="Text 45"/>
          <p:cNvSpPr txBox="1"/>
          <p:nvPr/>
        </p:nvSpPr>
        <p:spPr>
          <a:xfrm>
            <a:off x="8842248" y="234086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동의 알림톡부터 보내요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D-n(남은 날)이 보이면 바로 시작</a:t>
            </a:r>
            <a:endParaRPr lang="en-US" sz="1400" dirty="0"/>
          </a:p>
        </p:txBody>
      </p:sp>
      <p:sp>
        <p:nvSpPr>
          <p:cNvPr id="49" name="Shape 46"/>
          <p:cNvSpPr/>
          <p:nvPr/>
        </p:nvSpPr>
        <p:spPr>
          <a:xfrm>
            <a:off x="8275320" y="3035808"/>
            <a:ext cx="420624" cy="420624"/>
          </a:xfrm>
          <a:prstGeom prst="ellipse">
            <a:avLst/>
          </a:prstGeom>
          <a:solidFill>
            <a:srgbClr val="3182F6"/>
          </a:solidFill>
          <a:ln w="19050">
            <a:solidFill>
              <a:srgbClr val="FFFFFF"/>
            </a:solidFill>
            <a:prstDash val="solid"/>
          </a:ln>
        </p:spPr>
      </p:sp>
      <p:sp>
        <p:nvSpPr>
          <p:cNvPr id="50" name="Text 47"/>
          <p:cNvSpPr txBox="1"/>
          <p:nvPr/>
        </p:nvSpPr>
        <p:spPr>
          <a:xfrm>
            <a:off x="827532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51" name="Text 48"/>
          <p:cNvSpPr txBox="1"/>
          <p:nvPr/>
        </p:nvSpPr>
        <p:spPr>
          <a:xfrm>
            <a:off x="8842248" y="301752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52" name="Text 49"/>
          <p:cNvSpPr txBox="1"/>
          <p:nvPr/>
        </p:nvSpPr>
        <p:spPr>
          <a:xfrm>
            <a:off x="8842248" y="343814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[MeAI 고객찾기에서 열기]</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고객찾기의 이 고객 카드로 가요</a:t>
            </a:r>
            <a:endParaRPr lang="en-US" sz="1400" dirty="0"/>
          </a:p>
        </p:txBody>
      </p:sp>
      <p:sp>
        <p:nvSpPr>
          <p:cNvPr id="53" name="Shape 50"/>
          <p:cNvSpPr/>
          <p:nvPr/>
        </p:nvSpPr>
        <p:spPr>
          <a:xfrm>
            <a:off x="8275320" y="4114800"/>
            <a:ext cx="3367735" cy="868680"/>
          </a:xfrm>
          <a:prstGeom prst="roundRect">
            <a:avLst>
              <a:gd name="adj" fmla="val 14737"/>
            </a:avLst>
          </a:prstGeom>
          <a:solidFill>
            <a:srgbClr val="F2F4F6"/>
          </a:solidFill>
          <a:ln w="12700">
            <a:solidFill>
              <a:srgbClr val="F2F4F6"/>
            </a:solidFill>
            <a:prstDash val="solid"/>
          </a:ln>
        </p:spPr>
      </p:sp>
      <p:sp>
        <p:nvSpPr>
          <p:cNvPr id="54" name="Text 51"/>
          <p:cNvSpPr txBox="1"/>
          <p:nvPr/>
        </p:nvSpPr>
        <p:spPr>
          <a:xfrm>
            <a:off x="8503920" y="4114800"/>
            <a:ext cx="3001975" cy="868680"/>
          </a:xfrm>
          <a:prstGeom prst="rect">
            <a:avLst/>
          </a:prstGeom>
          <a:noFill/>
          <a:ln/>
        </p:spPr>
        <p:txBody>
          <a:bodyPr wrap="square" lIns="0" tIns="0" rIns="0" bIns="0" rtlCol="0" anchor="ctr"/>
          <a:lstStyle/>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추천은 지시가 아니라 ‘이유가 있는 고객’</a:t>
            </a:r>
            <a:endParaRPr lang="en-US" sz="1400" dirty="0"/>
          </a:p>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그룹에서 직접 골라도 돼요</a:t>
            </a:r>
            <a:endParaRPr lang="en-US" sz="1400" dirty="0"/>
          </a:p>
        </p:txBody>
      </p:sp>
      <p:sp>
        <p:nvSpPr>
          <p:cNvPr id="55" name="Shape 52"/>
          <p:cNvSpPr/>
          <p:nvPr/>
        </p:nvSpPr>
        <p:spPr>
          <a:xfrm>
            <a:off x="548640" y="5285232"/>
            <a:ext cx="11094415" cy="566928"/>
          </a:xfrm>
          <a:prstGeom prst="roundRect">
            <a:avLst>
              <a:gd name="adj" fmla="val 22581"/>
            </a:avLst>
          </a:prstGeom>
          <a:solidFill>
            <a:srgbClr val="191F28"/>
          </a:solidFill>
          <a:ln w="12700">
            <a:solidFill>
              <a:srgbClr val="191F28"/>
            </a:solidFill>
            <a:prstDash val="solid"/>
          </a:ln>
        </p:spPr>
      </p:sp>
      <p:sp>
        <p:nvSpPr>
          <p:cNvPr id="56" name="Text 53"/>
          <p:cNvSpPr txBox="1"/>
          <p:nvPr/>
        </p:nvSpPr>
        <p:spPr>
          <a:xfrm>
            <a:off x="868680" y="5285232"/>
            <a:ext cx="10454335" cy="56692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5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50" dirty="0"/>
          </a:p>
        </p:txBody>
      </p:sp>
      <p:sp>
        <p:nvSpPr>
          <p:cNvPr id="57" name="Text 54"/>
          <p:cNvSpPr txBox="1"/>
          <p:nvPr/>
        </p:nvSpPr>
        <p:spPr>
          <a:xfrm>
            <a:off x="548640" y="5916168"/>
            <a:ext cx="7498080" cy="274320"/>
          </a:xfrm>
          <a:prstGeom prst="rect">
            <a:avLst/>
          </a:prstGeom>
          <a:noFill/>
          <a:ln/>
        </p:spPr>
        <p:txBody>
          <a:bodyPr wrap="square" lIns="0" tIns="0" rIns="0" bIns="0" rtlCol="0" anchor="ctr"/>
          <a:lstStyle/>
          <a:p>
            <a:pPr indent="0" marL="0">
              <a:buNone/>
            </a:pPr>
            <a:r>
              <a:rPr lang="en-US" sz="1300" b="1" dirty="0">
                <a:solidFill>
                  <a:srgbClr val="6B7684"/>
                </a:solidFill>
                <a:latin typeface="맑은 고딕" pitchFamily="34" charset="0"/>
                <a:ea typeface="맑은 고딕" pitchFamily="34" charset="-122"/>
                <a:cs typeface="맑은 고딕" pitchFamily="34" charset="-120"/>
              </a:rPr>
              <a:t>기억할 한 문장   </a:t>
            </a:r>
            <a:pPr indent="0" marL="0">
              <a:buNone/>
            </a:pPr>
            <a:r>
              <a:rPr lang="en-US" sz="1350" b="1" dirty="0">
                <a:solidFill>
                  <a:srgbClr val="3182F6"/>
                </a:solidFill>
                <a:latin typeface="맑은 고딕" pitchFamily="34" charset="0"/>
                <a:ea typeface="맑은 고딕" pitchFamily="34" charset="-122"/>
                <a:cs typeface="맑은 고딕" pitchFamily="34" charset="-120"/>
              </a:rPr>
              <a:t>카드 문장은 고객에게 첫 말, 추천 질문은 MeAI에게 첫 질문</a:t>
            </a:r>
            <a:endParaRPr lang="en-US" sz="1300" dirty="0"/>
          </a:p>
        </p:txBody>
      </p:sp>
      <p:sp>
        <p:nvSpPr>
          <p:cNvPr id="58" name="Text 55"/>
          <p:cNvSpPr txBox="1"/>
          <p:nvPr/>
        </p:nvSpPr>
        <p:spPr>
          <a:xfrm>
            <a:off x="8138160" y="5916168"/>
            <a:ext cx="3504895" cy="274320"/>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첫 말: MeAI 활용 가이드북 v4 시나리오 3(p.62)</a:t>
            </a:r>
            <a:endParaRPr lang="en-US" sz="1100" dirty="0"/>
          </a:p>
        </p:txBody>
      </p:sp>
      <p:sp>
        <p:nvSpPr>
          <p:cNvPr id="59"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0"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고객찾기는 왼쪽에서 오른쪽으로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고르고 → 펼쳐 보고 → 다음 행동을 골라요</a:t>
            </a:r>
            <a:endParaRPr lang="en-US" sz="1700" dirty="0"/>
          </a:p>
        </p:txBody>
      </p:sp>
      <p:sp>
        <p:nvSpPr>
          <p:cNvPr id="13" name="Shape 11"/>
          <p:cNvSpPr/>
          <p:nvPr/>
        </p:nvSpPr>
        <p:spPr>
          <a:xfrm>
            <a:off x="548640" y="1901952"/>
            <a:ext cx="6126480" cy="382905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01952"/>
            <a:ext cx="6126480" cy="3829050"/>
          </a:xfrm>
          <a:prstGeom prst="rect">
            <a:avLst/>
          </a:prstGeom>
        </p:spPr>
      </p:pic>
      <p:sp>
        <p:nvSpPr>
          <p:cNvPr id="15" name="Shape 12"/>
          <p:cNvSpPr/>
          <p:nvPr/>
        </p:nvSpPr>
        <p:spPr>
          <a:xfrm>
            <a:off x="609905" y="2169986"/>
            <a:ext cx="1164031" cy="3254693"/>
          </a:xfrm>
          <a:prstGeom prst="roundRect">
            <a:avLst>
              <a:gd name="adj" fmla="val 3928"/>
            </a:avLst>
          </a:prstGeom>
          <a:ln w="25400">
            <a:solidFill>
              <a:srgbClr val="3182F6"/>
            </a:solidFill>
            <a:prstDash val="solid"/>
          </a:ln>
        </p:spPr>
      </p:sp>
      <p:sp>
        <p:nvSpPr>
          <p:cNvPr id="16" name="Shape 13"/>
          <p:cNvSpPr/>
          <p:nvPr/>
        </p:nvSpPr>
        <p:spPr>
          <a:xfrm>
            <a:off x="1945477" y="2744343"/>
            <a:ext cx="2658892" cy="1837944"/>
          </a:xfrm>
          <a:prstGeom prst="roundRect">
            <a:avLst>
              <a:gd name="adj" fmla="val 2488"/>
            </a:avLst>
          </a:prstGeom>
          <a:ln w="25400">
            <a:solidFill>
              <a:srgbClr val="3182F6"/>
            </a:solidFill>
            <a:prstDash val="solid"/>
          </a:ln>
        </p:spPr>
      </p:sp>
      <p:sp>
        <p:nvSpPr>
          <p:cNvPr id="17" name="Shape 14"/>
          <p:cNvSpPr/>
          <p:nvPr/>
        </p:nvSpPr>
        <p:spPr>
          <a:xfrm>
            <a:off x="4837176" y="2246567"/>
            <a:ext cx="1776679" cy="1723073"/>
          </a:xfrm>
          <a:prstGeom prst="roundRect">
            <a:avLst>
              <a:gd name="adj" fmla="val 2653"/>
            </a:avLst>
          </a:prstGeom>
          <a:ln w="25400">
            <a:solidFill>
              <a:srgbClr val="3182F6"/>
            </a:solidFill>
            <a:prstDash val="solid"/>
          </a:ln>
        </p:spPr>
      </p:sp>
      <p:sp>
        <p:nvSpPr>
          <p:cNvPr id="18" name="Shape 15"/>
          <p:cNvSpPr/>
          <p:nvPr/>
        </p:nvSpPr>
        <p:spPr>
          <a:xfrm>
            <a:off x="2018995" y="3625025"/>
            <a:ext cx="2511857" cy="880682"/>
          </a:xfrm>
          <a:prstGeom prst="roundRect">
            <a:avLst>
              <a:gd name="adj" fmla="val 5191"/>
            </a:avLst>
          </a:prstGeom>
          <a:ln w="15875">
            <a:solidFill>
              <a:srgbClr val="3182F6"/>
            </a:solidFill>
            <a:prstDash val="dash"/>
          </a:ln>
        </p:spPr>
      </p:sp>
      <p:sp>
        <p:nvSpPr>
          <p:cNvPr id="19" name="Shape 16"/>
          <p:cNvSpPr/>
          <p:nvPr/>
        </p:nvSpPr>
        <p:spPr>
          <a:xfrm>
            <a:off x="969264" y="1977962"/>
            <a:ext cx="384048" cy="384048"/>
          </a:xfrm>
          <a:prstGeom prst="ellipse">
            <a:avLst/>
          </a:prstGeom>
          <a:solidFill>
            <a:srgbClr val="3182F6"/>
          </a:solidFill>
          <a:ln w="19050">
            <a:solidFill>
              <a:srgbClr val="FFFFFF"/>
            </a:solidFill>
            <a:prstDash val="solid"/>
          </a:ln>
        </p:spPr>
      </p:sp>
      <p:sp>
        <p:nvSpPr>
          <p:cNvPr id="20" name="Text 17"/>
          <p:cNvSpPr txBox="1"/>
          <p:nvPr/>
        </p:nvSpPr>
        <p:spPr>
          <a:xfrm>
            <a:off x="969264" y="197796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1" name="Shape 18"/>
          <p:cNvSpPr/>
          <p:nvPr/>
        </p:nvSpPr>
        <p:spPr>
          <a:xfrm>
            <a:off x="3297326" y="2552319"/>
            <a:ext cx="384048" cy="384048"/>
          </a:xfrm>
          <a:prstGeom prst="ellipse">
            <a:avLst/>
          </a:prstGeom>
          <a:solidFill>
            <a:srgbClr val="3182F6"/>
          </a:solidFill>
          <a:ln w="19050">
            <a:solidFill>
              <a:srgbClr val="FFFFFF"/>
            </a:solidFill>
            <a:prstDash val="solid"/>
          </a:ln>
        </p:spPr>
      </p:sp>
      <p:sp>
        <p:nvSpPr>
          <p:cNvPr id="22" name="Text 19"/>
          <p:cNvSpPr txBox="1"/>
          <p:nvPr/>
        </p:nvSpPr>
        <p:spPr>
          <a:xfrm>
            <a:off x="3297326" y="2552319"/>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3" name="Shape 20"/>
          <p:cNvSpPr/>
          <p:nvPr/>
        </p:nvSpPr>
        <p:spPr>
          <a:xfrm>
            <a:off x="5992978" y="2073688"/>
            <a:ext cx="384048" cy="384048"/>
          </a:xfrm>
          <a:prstGeom prst="ellipse">
            <a:avLst/>
          </a:prstGeom>
          <a:solidFill>
            <a:srgbClr val="3182F6"/>
          </a:solidFill>
          <a:ln w="19050">
            <a:solidFill>
              <a:srgbClr val="FFFFFF"/>
            </a:solidFill>
            <a:prstDash val="solid"/>
          </a:ln>
        </p:spPr>
      </p:sp>
      <p:sp>
        <p:nvSpPr>
          <p:cNvPr id="24" name="Text 21"/>
          <p:cNvSpPr txBox="1"/>
          <p:nvPr/>
        </p:nvSpPr>
        <p:spPr>
          <a:xfrm>
            <a:off x="5992978" y="20736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5" name="Shape 22"/>
          <p:cNvSpPr/>
          <p:nvPr/>
        </p:nvSpPr>
        <p:spPr>
          <a:xfrm>
            <a:off x="4898441" y="3720751"/>
            <a:ext cx="1684782" cy="0"/>
          </a:xfrm>
          <a:prstGeom prst="line">
            <a:avLst/>
          </a:prstGeom>
          <a:noFill/>
          <a:ln w="31750">
            <a:solidFill>
              <a:srgbClr val="F04452"/>
            </a:solidFill>
            <a:prstDash val="solid"/>
          </a:ln>
        </p:spPr>
      </p:sp>
      <p:sp>
        <p:nvSpPr>
          <p:cNvPr id="26" name="Shape 23"/>
          <p:cNvSpPr/>
          <p:nvPr/>
        </p:nvSpPr>
        <p:spPr>
          <a:xfrm>
            <a:off x="548640" y="5840730"/>
            <a:ext cx="3121660" cy="329184"/>
          </a:xfrm>
          <a:prstGeom prst="roundRect">
            <a:avLst>
              <a:gd name="adj" fmla="val 50000"/>
            </a:avLst>
          </a:prstGeom>
          <a:solidFill>
            <a:srgbClr val="F0EDFF"/>
          </a:solidFill>
          <a:ln w="12700">
            <a:solidFill>
              <a:srgbClr val="F0EDFF"/>
            </a:solidFill>
            <a:prstDash val="solid"/>
          </a:ln>
        </p:spPr>
      </p:sp>
      <p:sp>
        <p:nvSpPr>
          <p:cNvPr id="27" name="Text 24"/>
          <p:cNvSpPr txBox="1"/>
          <p:nvPr/>
        </p:nvSpPr>
        <p:spPr>
          <a:xfrm>
            <a:off x="548640" y="5840730"/>
            <a:ext cx="3121660" cy="329184"/>
          </a:xfrm>
          <a:prstGeom prst="rect">
            <a:avLst/>
          </a:prstGeom>
          <a:noFill/>
          <a:ln/>
        </p:spPr>
        <p:txBody>
          <a:bodyPr wrap="square" lIns="0" tIns="0" rIns="0" bIns="0" rtlCol="0" anchor="ctr"/>
          <a:lstStyle/>
          <a:p>
            <a:pPr algn="ctr" indent="0" marL="0">
              <a:buNone/>
            </a:pPr>
            <a:r>
              <a:rPr lang="en-US" sz="1250" b="1" dirty="0">
                <a:solidFill>
                  <a:srgbClr val="7048E8"/>
                </a:solidFill>
                <a:latin typeface="맑은 고딕" pitchFamily="34" charset="0"/>
                <a:ea typeface="맑은 고딕" pitchFamily="34" charset="-122"/>
                <a:cs typeface="맑은 고딕" pitchFamily="34" charset="-120"/>
              </a:rPr>
              <a:t>NEW 부족 태그는 그룹마다 색이 달라요</a:t>
            </a:r>
            <a:endParaRPr lang="en-US" sz="1250" dirty="0"/>
          </a:p>
        </p:txBody>
      </p:sp>
      <p:sp>
        <p:nvSpPr>
          <p:cNvPr id="28" name="Text 25"/>
          <p:cNvSpPr txBox="1"/>
          <p:nvPr/>
        </p:nvSpPr>
        <p:spPr>
          <a:xfrm>
            <a:off x="3853180" y="5840730"/>
            <a:ext cx="3004820" cy="329184"/>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검색창엔 이름도, ‘암진단비’ 같은 조건도</a:t>
            </a:r>
            <a:endParaRPr lang="en-US" sz="1400" dirty="0"/>
          </a:p>
        </p:txBody>
      </p:sp>
      <p:sp>
        <p:nvSpPr>
          <p:cNvPr id="29" name="Shape 26"/>
          <p:cNvSpPr/>
          <p:nvPr/>
        </p:nvSpPr>
        <p:spPr>
          <a:xfrm>
            <a:off x="6949440" y="1920240"/>
            <a:ext cx="420624" cy="420624"/>
          </a:xfrm>
          <a:prstGeom prst="ellipse">
            <a:avLst/>
          </a:prstGeom>
          <a:solidFill>
            <a:srgbClr val="3182F6"/>
          </a:solidFill>
          <a:ln w="19050">
            <a:solidFill>
              <a:srgbClr val="FFFFFF"/>
            </a:solidFill>
            <a:prstDash val="solid"/>
          </a:ln>
        </p:spPr>
      </p:sp>
      <p:sp>
        <p:nvSpPr>
          <p:cNvPr id="30" name="Text 27"/>
          <p:cNvSpPr txBox="1"/>
          <p:nvPr/>
        </p:nvSpPr>
        <p:spPr>
          <a:xfrm>
            <a:off x="6949440" y="19202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1" name="Text 28"/>
          <p:cNvSpPr txBox="1"/>
          <p:nvPr/>
        </p:nvSpPr>
        <p:spPr>
          <a:xfrm>
            <a:off x="7516368" y="19019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그룹</a:t>
            </a:r>
            <a:endParaRPr lang="en-US" sz="1800" dirty="0"/>
          </a:p>
        </p:txBody>
      </p:sp>
      <p:sp>
        <p:nvSpPr>
          <p:cNvPr id="32" name="Text 29"/>
          <p:cNvSpPr txBox="1"/>
          <p:nvPr/>
        </p:nvSpPr>
        <p:spPr>
          <a:xfrm>
            <a:off x="7516368" y="23225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연락할 이유별로 묶여 있어요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보장 기준 · 영업 기회 두 탭</a:t>
            </a:r>
            <a:endParaRPr lang="en-US" sz="1350" dirty="0"/>
          </a:p>
        </p:txBody>
      </p:sp>
      <p:sp>
        <p:nvSpPr>
          <p:cNvPr id="33" name="Shape 30"/>
          <p:cNvSpPr/>
          <p:nvPr/>
        </p:nvSpPr>
        <p:spPr>
          <a:xfrm>
            <a:off x="6949440" y="2834640"/>
            <a:ext cx="420624" cy="420624"/>
          </a:xfrm>
          <a:prstGeom prst="ellipse">
            <a:avLst/>
          </a:prstGeom>
          <a:solidFill>
            <a:srgbClr val="3182F6"/>
          </a:solidFill>
          <a:ln w="19050">
            <a:solidFill>
              <a:srgbClr val="FFFFFF"/>
            </a:solidFill>
            <a:prstDash val="solid"/>
          </a:ln>
        </p:spPr>
      </p:sp>
      <p:sp>
        <p:nvSpPr>
          <p:cNvPr id="34" name="Text 31"/>
          <p:cNvSpPr txBox="1"/>
          <p:nvPr/>
        </p:nvSpPr>
        <p:spPr>
          <a:xfrm>
            <a:off x="6949440" y="2834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5" name="Text 32"/>
          <p:cNvSpPr txBox="1"/>
          <p:nvPr/>
        </p:nvSpPr>
        <p:spPr>
          <a:xfrm>
            <a:off x="7516368" y="28163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카드</a:t>
            </a:r>
            <a:endParaRPr lang="en-US" sz="1800" dirty="0"/>
          </a:p>
        </p:txBody>
      </p:sp>
      <p:sp>
        <p:nvSpPr>
          <p:cNvPr id="36" name="Text 33"/>
          <p:cNvSpPr txBox="1"/>
          <p:nvPr/>
        </p:nvSpPr>
        <p:spPr>
          <a:xfrm>
            <a:off x="7516368" y="32369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누르면 펼쳐져요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이유 · 태그 · 한눈에 보기 6칸</a:t>
            </a:r>
            <a:endParaRPr lang="en-US" sz="1350" dirty="0"/>
          </a:p>
        </p:txBody>
      </p:sp>
      <p:sp>
        <p:nvSpPr>
          <p:cNvPr id="37" name="Shape 34"/>
          <p:cNvSpPr/>
          <p:nvPr/>
        </p:nvSpPr>
        <p:spPr>
          <a:xfrm>
            <a:off x="6949440" y="3749040"/>
            <a:ext cx="420624" cy="420624"/>
          </a:xfrm>
          <a:prstGeom prst="ellipse">
            <a:avLst/>
          </a:prstGeom>
          <a:solidFill>
            <a:srgbClr val="3182F6"/>
          </a:solidFill>
          <a:ln w="19050">
            <a:solidFill>
              <a:srgbClr val="FFFFFF"/>
            </a:solidFill>
            <a:prstDash val="solid"/>
          </a:ln>
        </p:spPr>
      </p:sp>
      <p:sp>
        <p:nvSpPr>
          <p:cNvPr id="38" name="Text 35"/>
          <p:cNvSpPr txBox="1"/>
          <p:nvPr/>
        </p:nvSpPr>
        <p:spPr>
          <a:xfrm>
            <a:off x="6949440" y="37490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9" name="Text 36"/>
          <p:cNvSpPr txBox="1"/>
          <p:nvPr/>
        </p:nvSpPr>
        <p:spPr>
          <a:xfrm>
            <a:off x="7516368" y="37307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40" name="Text 37"/>
          <p:cNvSpPr txBox="1"/>
          <p:nvPr/>
        </p:nvSpPr>
        <p:spPr>
          <a:xfrm>
            <a:off x="7516368" y="41513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있으면 [이 고객으로 맞춤대화 시작]</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필요면 [사전조회동의 요청하기]</a:t>
            </a:r>
            <a:endParaRPr lang="en-US" sz="1350" dirty="0"/>
          </a:p>
        </p:txBody>
      </p:sp>
      <p:sp>
        <p:nvSpPr>
          <p:cNvPr id="41" name="Shape 38"/>
          <p:cNvSpPr/>
          <p:nvPr/>
        </p:nvSpPr>
        <p:spPr>
          <a:xfrm>
            <a:off x="6949440" y="4681728"/>
            <a:ext cx="4693615" cy="1463040"/>
          </a:xfrm>
          <a:prstGeom prst="roundRect">
            <a:avLst>
              <a:gd name="adj" fmla="val 8750"/>
            </a:avLst>
          </a:prstGeom>
          <a:solidFill>
            <a:srgbClr val="F9FAFB"/>
          </a:solidFill>
          <a:ln w="12700">
            <a:solidFill>
              <a:srgbClr val="F9FAFB"/>
            </a:solidFill>
            <a:prstDash val="solid"/>
          </a:ln>
        </p:spPr>
      </p:sp>
      <p:sp>
        <p:nvSpPr>
          <p:cNvPr id="42" name="Text 39"/>
          <p:cNvSpPr txBox="1"/>
          <p:nvPr/>
        </p:nvSpPr>
        <p:spPr>
          <a:xfrm>
            <a:off x="7178040" y="4773168"/>
            <a:ext cx="4327855"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6칸 읽는 법 · 김민수 예시</a:t>
            </a:r>
            <a:endParaRPr lang="en-US" sz="1500" dirty="0"/>
          </a:p>
        </p:txBody>
      </p:sp>
      <p:sp>
        <p:nvSpPr>
          <p:cNvPr id="43" name="Text 40"/>
          <p:cNvSpPr txBox="1"/>
          <p:nvPr/>
        </p:nvSpPr>
        <p:spPr>
          <a:xfrm>
            <a:off x="7178040" y="5102352"/>
            <a:ext cx="4327855" cy="1005840"/>
          </a:xfrm>
          <a:prstGeom prst="rect">
            <a:avLst/>
          </a:prstGeom>
          <a:noFill/>
          <a:ln/>
        </p:spPr>
        <p:txBody>
          <a:bodyPr wrap="square" lIns="0" tIns="0" rIns="0" bIns="0" rtlCol="0" anchor="t"/>
          <a:lstStyle/>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장기 3건 → “지금 세 건 갖고 계세요”</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부족 금액 1,000만원 → 제안 크기</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1-5종수술비 ‘없음’ → 제안 포인트</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‘미확인’ = 자료 없음 · 추정 안 해요</a:t>
            </a:r>
            <a:endParaRPr lang="en-US" sz="1300" dirty="0"/>
          </a:p>
        </p:txBody>
      </p:sp>
      <p:sp>
        <p:nvSpPr>
          <p:cNvPr id="44" name="Text 41"/>
          <p:cNvSpPr txBox="1"/>
          <p:nvPr/>
        </p:nvSpPr>
        <p:spPr>
          <a:xfrm>
            <a:off x="548640" y="619963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예시예요 · 출처: MeAI 활용 가이드북 v4 p.23·28·30·34~37·40 · 확정 화면</a:t>
            </a:r>
            <a:endParaRPr lang="en-US" sz="1100" dirty="0"/>
          </a:p>
        </p:txBody>
      </p:sp>
      <p:sp>
        <p:nvSpPr>
          <p:cNvPr id="45"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6" name="Text 4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그룹 설명 한 줄이 곧 상담 화법이에요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그룹을 누르면 설명이 붙어요 · 앞은 묶인 기준, 뒤는 화법</a:t>
            </a:r>
            <a:endParaRPr lang="en-US" sz="1700" dirty="0"/>
          </a:p>
        </p:txBody>
      </p:sp>
      <p:sp>
        <p:nvSpPr>
          <p:cNvPr id="13" name="Shape 11"/>
          <p:cNvSpPr/>
          <p:nvPr/>
        </p:nvSpPr>
        <p:spPr>
          <a:xfrm>
            <a:off x="548640" y="2048256"/>
            <a:ext cx="411480" cy="0"/>
          </a:xfrm>
          <a:prstGeom prst="line">
            <a:avLst/>
          </a:prstGeom>
          <a:noFill/>
          <a:ln w="38100">
            <a:solidFill>
              <a:srgbClr val="3182F6"/>
            </a:solidFill>
            <a:prstDash val="solid"/>
          </a:ln>
        </p:spPr>
      </p:sp>
      <p:sp>
        <p:nvSpPr>
          <p:cNvPr id="14" name="Text 12"/>
          <p:cNvSpPr txBox="1"/>
          <p:nvPr/>
        </p:nvSpPr>
        <p:spPr>
          <a:xfrm>
            <a:off x="1051560" y="1901952"/>
            <a:ext cx="201168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묶인 기준</a:t>
            </a:r>
            <a:endParaRPr lang="en-US" sz="1400" dirty="0"/>
          </a:p>
        </p:txBody>
      </p:sp>
      <p:sp>
        <p:nvSpPr>
          <p:cNvPr id="15" name="Shape 13"/>
          <p:cNvSpPr/>
          <p:nvPr/>
        </p:nvSpPr>
        <p:spPr>
          <a:xfrm>
            <a:off x="2926080" y="1938528"/>
            <a:ext cx="411480" cy="219456"/>
          </a:xfrm>
          <a:prstGeom prst="roundRect">
            <a:avLst>
              <a:gd name="adj" fmla="val 16667"/>
            </a:avLst>
          </a:prstGeom>
          <a:solidFill>
            <a:srgbClr val="FFE066"/>
          </a:solidFill>
          <a:ln w="12700">
            <a:solidFill>
              <a:srgbClr val="FFE066"/>
            </a:solidFill>
            <a:prstDash val="solid"/>
          </a:ln>
        </p:spPr>
      </p:sp>
      <p:sp>
        <p:nvSpPr>
          <p:cNvPr id="16" name="Text 14"/>
          <p:cNvSpPr txBox="1"/>
          <p:nvPr/>
        </p:nvSpPr>
        <p:spPr>
          <a:xfrm>
            <a:off x="3429000" y="1901952"/>
            <a:ext cx="274320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말할 방향(화법)</a:t>
            </a:r>
            <a:endParaRPr lang="en-US" sz="1400" dirty="0"/>
          </a:p>
        </p:txBody>
      </p:sp>
      <p:pic>
        <p:nvPicPr>
          <p:cNvPr id="17" name="Image 0" descr="MeAI 화면 캡처">    </p:cNvPr>
          <p:cNvPicPr>
            <a:picLocks noChangeAspect="1"/>
          </p:cNvPicPr>
          <p:nvPr/>
        </p:nvPicPr>
        <p:blipFill>
          <a:blip r:embed="rId1"/>
          <a:stretch>
            <a:fillRect/>
          </a:stretch>
        </p:blipFill>
        <p:spPr>
          <a:xfrm>
            <a:off x="548640" y="2240280"/>
            <a:ext cx="6446520" cy="1130106"/>
          </a:xfrm>
          <a:prstGeom prst="rect">
            <a:avLst/>
          </a:prstGeom>
        </p:spPr>
      </p:pic>
      <p:sp>
        <p:nvSpPr>
          <p:cNvPr id="18" name="Shape 15"/>
          <p:cNvSpPr/>
          <p:nvPr/>
        </p:nvSpPr>
        <p:spPr>
          <a:xfrm>
            <a:off x="548640" y="2240280"/>
            <a:ext cx="6446520" cy="1130106"/>
          </a:xfrm>
          <a:prstGeom prst="roundRect">
            <a:avLst>
              <a:gd name="adj" fmla="val 4855"/>
            </a:avLst>
          </a:prstGeom>
          <a:ln w="12700">
            <a:solidFill>
              <a:srgbClr val="D1D6DB"/>
            </a:solidFill>
            <a:prstDash val="solid"/>
          </a:ln>
        </p:spPr>
      </p:sp>
      <p:sp>
        <p:nvSpPr>
          <p:cNvPr id="19" name="Shape 16"/>
          <p:cNvSpPr/>
          <p:nvPr/>
        </p:nvSpPr>
        <p:spPr>
          <a:xfrm>
            <a:off x="705872" y="2996960"/>
            <a:ext cx="2746650" cy="0"/>
          </a:xfrm>
          <a:prstGeom prst="line">
            <a:avLst/>
          </a:prstGeom>
          <a:noFill/>
          <a:ln w="31750">
            <a:solidFill>
              <a:srgbClr val="3182F6"/>
            </a:solidFill>
            <a:prstDash val="solid"/>
          </a:ln>
        </p:spPr>
      </p:sp>
      <p:sp>
        <p:nvSpPr>
          <p:cNvPr id="20" name="Shape 17"/>
          <p:cNvSpPr/>
          <p:nvPr/>
        </p:nvSpPr>
        <p:spPr>
          <a:xfrm>
            <a:off x="3496744" y="2815160"/>
            <a:ext cx="3169211" cy="171973"/>
          </a:xfrm>
          <a:prstGeom prst="rect">
            <a:avLst/>
          </a:prstGeom>
          <a:solidFill>
            <a:srgbClr val="FFE066">
              <a:alpha val="45000"/>
            </a:srgbClr>
          </a:solidFill>
          <a:ln w="12700">
            <a:solidFill>
              <a:srgbClr val="FFE066"/>
            </a:solidFill>
            <a:prstDash val="solid"/>
          </a:ln>
        </p:spPr>
      </p:sp>
      <p:sp>
        <p:nvSpPr>
          <p:cNvPr id="21" name="Shape 18"/>
          <p:cNvSpPr/>
          <p:nvPr/>
        </p:nvSpPr>
        <p:spPr>
          <a:xfrm>
            <a:off x="686218" y="3051009"/>
            <a:ext cx="1233290" cy="171973"/>
          </a:xfrm>
          <a:prstGeom prst="rect">
            <a:avLst/>
          </a:prstGeom>
          <a:solidFill>
            <a:srgbClr val="FFE066">
              <a:alpha val="45000"/>
            </a:srgbClr>
          </a:solidFill>
          <a:ln w="12700">
            <a:solidFill>
              <a:srgbClr val="FFE066"/>
            </a:solidFill>
            <a:prstDash val="solid"/>
          </a:ln>
        </p:spPr>
      </p:sp>
      <p:sp>
        <p:nvSpPr>
          <p:cNvPr id="22" name="Shape 19"/>
          <p:cNvSpPr/>
          <p:nvPr/>
        </p:nvSpPr>
        <p:spPr>
          <a:xfrm>
            <a:off x="548640" y="3443538"/>
            <a:ext cx="6446520" cy="457200"/>
          </a:xfrm>
          <a:prstGeom prst="roundRect">
            <a:avLst>
              <a:gd name="adj" fmla="val 24000"/>
            </a:avLst>
          </a:prstGeom>
          <a:solidFill>
            <a:srgbClr val="E8F3FF"/>
          </a:solidFill>
          <a:ln w="12700">
            <a:solidFill>
              <a:srgbClr val="E8F3FF"/>
            </a:solidFill>
            <a:prstDash val="solid"/>
          </a:ln>
        </p:spPr>
      </p:sp>
      <p:sp>
        <p:nvSpPr>
          <p:cNvPr id="23" name="Shape 20"/>
          <p:cNvSpPr/>
          <p:nvPr/>
        </p:nvSpPr>
        <p:spPr>
          <a:xfrm>
            <a:off x="685800" y="3516690"/>
            <a:ext cx="1019810" cy="310896"/>
          </a:xfrm>
          <a:prstGeom prst="roundRect">
            <a:avLst>
              <a:gd name="adj" fmla="val 50000"/>
            </a:avLst>
          </a:prstGeom>
          <a:solidFill>
            <a:srgbClr val="3182F6"/>
          </a:solidFill>
          <a:ln w="12700">
            <a:solidFill>
              <a:srgbClr val="3182F6"/>
            </a:solidFill>
            <a:prstDash val="solid"/>
          </a:ln>
        </p:spPr>
      </p:sp>
      <p:sp>
        <p:nvSpPr>
          <p:cNvPr id="24" name="Text 21"/>
          <p:cNvSpPr txBox="1"/>
          <p:nvPr/>
        </p:nvSpPr>
        <p:spPr>
          <a:xfrm>
            <a:off x="685800" y="3516690"/>
            <a:ext cx="10198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첫 말로 →</a:t>
            </a:r>
            <a:endParaRPr lang="en-US" sz="1250" dirty="0"/>
          </a:p>
        </p:txBody>
      </p:sp>
      <p:sp>
        <p:nvSpPr>
          <p:cNvPr id="25" name="Text 22"/>
          <p:cNvSpPr txBox="1"/>
          <p:nvPr/>
        </p:nvSpPr>
        <p:spPr>
          <a:xfrm>
            <a:off x="1842770" y="3443538"/>
            <a:ext cx="501523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“재활·간병 기간이 길어 진단비가 곧 생활비예요.”</a:t>
            </a:r>
            <a:endParaRPr lang="en-US" sz="1700" dirty="0"/>
          </a:p>
        </p:txBody>
      </p:sp>
      <p:pic>
        <p:nvPicPr>
          <p:cNvPr id="26" name="Image 1" descr="MeAI 화면 캡처">    </p:cNvPr>
          <p:cNvPicPr>
            <a:picLocks noChangeAspect="1"/>
          </p:cNvPicPr>
          <p:nvPr/>
        </p:nvPicPr>
        <p:blipFill>
          <a:blip r:embed="rId2"/>
          <a:stretch>
            <a:fillRect/>
          </a:stretch>
        </p:blipFill>
        <p:spPr>
          <a:xfrm>
            <a:off x="548640" y="4083618"/>
            <a:ext cx="6446520" cy="1130106"/>
          </a:xfrm>
          <a:prstGeom prst="rect">
            <a:avLst/>
          </a:prstGeom>
        </p:spPr>
      </p:pic>
      <p:sp>
        <p:nvSpPr>
          <p:cNvPr id="27" name="Shape 23"/>
          <p:cNvSpPr/>
          <p:nvPr/>
        </p:nvSpPr>
        <p:spPr>
          <a:xfrm>
            <a:off x="548640" y="4083618"/>
            <a:ext cx="6446520" cy="1130106"/>
          </a:xfrm>
          <a:prstGeom prst="roundRect">
            <a:avLst>
              <a:gd name="adj" fmla="val 4855"/>
            </a:avLst>
          </a:prstGeom>
          <a:ln w="12700">
            <a:solidFill>
              <a:srgbClr val="D1D6DB"/>
            </a:solidFill>
            <a:prstDash val="solid"/>
          </a:ln>
        </p:spPr>
      </p:sp>
      <p:sp>
        <p:nvSpPr>
          <p:cNvPr id="28" name="Shape 24"/>
          <p:cNvSpPr/>
          <p:nvPr/>
        </p:nvSpPr>
        <p:spPr>
          <a:xfrm>
            <a:off x="700959" y="4840298"/>
            <a:ext cx="1650938" cy="0"/>
          </a:xfrm>
          <a:prstGeom prst="line">
            <a:avLst/>
          </a:prstGeom>
          <a:noFill/>
          <a:ln w="31750">
            <a:solidFill>
              <a:srgbClr val="3182F6"/>
            </a:solidFill>
            <a:prstDash val="solid"/>
          </a:ln>
        </p:spPr>
      </p:sp>
      <p:sp>
        <p:nvSpPr>
          <p:cNvPr id="29" name="Shape 25"/>
          <p:cNvSpPr/>
          <p:nvPr/>
        </p:nvSpPr>
        <p:spPr>
          <a:xfrm>
            <a:off x="2391205" y="4658499"/>
            <a:ext cx="4353366" cy="171973"/>
          </a:xfrm>
          <a:prstGeom prst="rect">
            <a:avLst/>
          </a:prstGeom>
          <a:solidFill>
            <a:srgbClr val="FFE066">
              <a:alpha val="45000"/>
            </a:srgbClr>
          </a:solidFill>
          <a:ln w="12700">
            <a:solidFill>
              <a:srgbClr val="FFE066"/>
            </a:solidFill>
            <a:prstDash val="solid"/>
          </a:ln>
        </p:spPr>
      </p:sp>
      <p:sp>
        <p:nvSpPr>
          <p:cNvPr id="30" name="Shape 26"/>
          <p:cNvSpPr/>
          <p:nvPr/>
        </p:nvSpPr>
        <p:spPr>
          <a:xfrm>
            <a:off x="686218" y="4894347"/>
            <a:ext cx="466783" cy="171973"/>
          </a:xfrm>
          <a:prstGeom prst="rect">
            <a:avLst/>
          </a:prstGeom>
          <a:solidFill>
            <a:srgbClr val="FFE066">
              <a:alpha val="45000"/>
            </a:srgbClr>
          </a:solidFill>
          <a:ln w="12700">
            <a:solidFill>
              <a:srgbClr val="FFE066"/>
            </a:solidFill>
            <a:prstDash val="solid"/>
          </a:ln>
        </p:spPr>
      </p:sp>
      <p:sp>
        <p:nvSpPr>
          <p:cNvPr id="31" name="Shape 27"/>
          <p:cNvSpPr/>
          <p:nvPr/>
        </p:nvSpPr>
        <p:spPr>
          <a:xfrm>
            <a:off x="548640" y="5286877"/>
            <a:ext cx="6446520" cy="457200"/>
          </a:xfrm>
          <a:prstGeom prst="roundRect">
            <a:avLst>
              <a:gd name="adj" fmla="val 24000"/>
            </a:avLst>
          </a:prstGeom>
          <a:solidFill>
            <a:srgbClr val="E8F3FF"/>
          </a:solidFill>
          <a:ln w="12700">
            <a:solidFill>
              <a:srgbClr val="E8F3FF"/>
            </a:solidFill>
            <a:prstDash val="solid"/>
          </a:ln>
        </p:spPr>
      </p:sp>
      <p:sp>
        <p:nvSpPr>
          <p:cNvPr id="32" name="Shape 28"/>
          <p:cNvSpPr/>
          <p:nvPr/>
        </p:nvSpPr>
        <p:spPr>
          <a:xfrm>
            <a:off x="685800" y="5360029"/>
            <a:ext cx="1496060" cy="310896"/>
          </a:xfrm>
          <a:prstGeom prst="roundRect">
            <a:avLst>
              <a:gd name="adj" fmla="val 50000"/>
            </a:avLst>
          </a:prstGeom>
          <a:solidFill>
            <a:srgbClr val="3182F6"/>
          </a:solidFill>
          <a:ln w="12700">
            <a:solidFill>
              <a:srgbClr val="3182F6"/>
            </a:solidFill>
            <a:prstDash val="solid"/>
          </a:ln>
        </p:spPr>
      </p:sp>
      <p:sp>
        <p:nvSpPr>
          <p:cNvPr id="33" name="Text 29"/>
          <p:cNvSpPr txBox="1"/>
          <p:nvPr/>
        </p:nvSpPr>
        <p:spPr>
          <a:xfrm>
            <a:off x="685800" y="5360029"/>
            <a:ext cx="149606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이렇게 열어요 →</a:t>
            </a:r>
            <a:endParaRPr lang="en-US" sz="1250" dirty="0"/>
          </a:p>
        </p:txBody>
      </p:sp>
      <p:sp>
        <p:nvSpPr>
          <p:cNvPr id="34" name="Text 30"/>
          <p:cNvSpPr txBox="1"/>
          <p:nvPr/>
        </p:nvSpPr>
        <p:spPr>
          <a:xfrm>
            <a:off x="2319020" y="5286877"/>
            <a:ext cx="453898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축하 인사로 열고, 보장 점검으로 이어가요</a:t>
            </a:r>
            <a:endParaRPr lang="en-US" sz="1700" dirty="0"/>
          </a:p>
        </p:txBody>
      </p:sp>
      <p:sp>
        <p:nvSpPr>
          <p:cNvPr id="35" name="Text 31"/>
          <p:cNvSpPr txBox="1"/>
          <p:nvPr/>
        </p:nvSpPr>
        <p:spPr>
          <a:xfrm>
            <a:off x="7269480" y="1874520"/>
            <a:ext cx="4373575" cy="3657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언제 어느 그룹을 열까요</a:t>
            </a:r>
            <a:endParaRPr lang="en-US" sz="1900" dirty="0"/>
          </a:p>
        </p:txBody>
      </p:sp>
      <p:sp>
        <p:nvSpPr>
          <p:cNvPr id="36" name="Shape 32"/>
          <p:cNvSpPr/>
          <p:nvPr/>
        </p:nvSpPr>
        <p:spPr>
          <a:xfrm>
            <a:off x="7269480" y="2267712"/>
            <a:ext cx="4373575" cy="676656"/>
          </a:xfrm>
          <a:prstGeom prst="roundRect">
            <a:avLst>
              <a:gd name="adj" fmla="val 16216"/>
            </a:avLst>
          </a:prstGeom>
          <a:solidFill>
            <a:srgbClr val="FFFFFF"/>
          </a:solidFill>
          <a:ln w="19050">
            <a:solidFill>
              <a:srgbClr val="7048E8"/>
            </a:solidFill>
            <a:prstDash val="solid"/>
          </a:ln>
        </p:spPr>
      </p:sp>
      <p:sp>
        <p:nvSpPr>
          <p:cNvPr id="37" name="Shape 33"/>
          <p:cNvSpPr/>
          <p:nvPr/>
        </p:nvSpPr>
        <p:spPr>
          <a:xfrm>
            <a:off x="7379208" y="2404872"/>
            <a:ext cx="670560" cy="310896"/>
          </a:xfrm>
          <a:prstGeom prst="roundRect">
            <a:avLst>
              <a:gd name="adj" fmla="val 50000"/>
            </a:avLst>
          </a:prstGeom>
          <a:solidFill>
            <a:srgbClr val="F0EDFF"/>
          </a:solidFill>
          <a:ln w="12700">
            <a:solidFill>
              <a:srgbClr val="F0EDFF"/>
            </a:solidFill>
            <a:prstDash val="solid"/>
          </a:ln>
        </p:spPr>
      </p:sp>
      <p:sp>
        <p:nvSpPr>
          <p:cNvPr id="38" name="Text 34"/>
          <p:cNvSpPr txBox="1"/>
          <p:nvPr/>
        </p:nvSpPr>
        <p:spPr>
          <a:xfrm>
            <a:off x="7379208" y="2404872"/>
            <a:ext cx="670560" cy="310896"/>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월초</a:t>
            </a:r>
            <a:endParaRPr lang="en-US" sz="1200" dirty="0"/>
          </a:p>
        </p:txBody>
      </p:sp>
      <p:sp>
        <p:nvSpPr>
          <p:cNvPr id="39" name="Text 35"/>
          <p:cNvSpPr txBox="1"/>
          <p:nvPr/>
        </p:nvSpPr>
        <p:spPr>
          <a:xfrm>
            <a:off x="8549640" y="230428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당월 영업 타겟</a:t>
            </a:r>
            <a:endParaRPr lang="en-US" sz="1500" dirty="0"/>
          </a:p>
        </p:txBody>
      </p:sp>
      <p:sp>
        <p:nvSpPr>
          <p:cNvPr id="40" name="Text 36"/>
          <p:cNvSpPr txBox="1"/>
          <p:nvPr/>
        </p:nvSpPr>
        <p:spPr>
          <a:xfrm>
            <a:off x="8549640" y="256946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우선순위 1위 · 추천 이유로 첫 말</a:t>
            </a:r>
            <a:endParaRPr lang="en-US" sz="1150" dirty="0"/>
          </a:p>
        </p:txBody>
      </p:sp>
      <p:sp>
        <p:nvSpPr>
          <p:cNvPr id="41" name="Shape 37"/>
          <p:cNvSpPr/>
          <p:nvPr/>
        </p:nvSpPr>
        <p:spPr>
          <a:xfrm>
            <a:off x="7269480" y="2999232"/>
            <a:ext cx="4373575" cy="676656"/>
          </a:xfrm>
          <a:prstGeom prst="roundRect">
            <a:avLst>
              <a:gd name="adj" fmla="val 16216"/>
            </a:avLst>
          </a:prstGeom>
          <a:solidFill>
            <a:srgbClr val="FFFFFF"/>
          </a:solidFill>
          <a:ln w="9525">
            <a:solidFill>
              <a:srgbClr val="E5E8EB"/>
            </a:solidFill>
            <a:prstDash val="solid"/>
          </a:ln>
        </p:spPr>
      </p:sp>
      <p:sp>
        <p:nvSpPr>
          <p:cNvPr id="42" name="Shape 38"/>
          <p:cNvSpPr/>
          <p:nvPr/>
        </p:nvSpPr>
        <p:spPr>
          <a:xfrm>
            <a:off x="7379208" y="3136392"/>
            <a:ext cx="1173480" cy="310896"/>
          </a:xfrm>
          <a:prstGeom prst="roundRect">
            <a:avLst>
              <a:gd name="adj" fmla="val 50000"/>
            </a:avLst>
          </a:prstGeom>
          <a:solidFill>
            <a:srgbClr val="F2F4F6"/>
          </a:solidFill>
          <a:ln w="12700">
            <a:solidFill>
              <a:srgbClr val="F2F4F6"/>
            </a:solidFill>
            <a:prstDash val="solid"/>
          </a:ln>
        </p:spPr>
      </p:sp>
      <p:sp>
        <p:nvSpPr>
          <p:cNvPr id="43" name="Text 39"/>
          <p:cNvSpPr txBox="1"/>
          <p:nvPr/>
        </p:nvSpPr>
        <p:spPr>
          <a:xfrm>
            <a:off x="7379208" y="3136392"/>
            <a:ext cx="117348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매주 월요일</a:t>
            </a:r>
            <a:endParaRPr lang="en-US" sz="1200" dirty="0"/>
          </a:p>
        </p:txBody>
      </p:sp>
      <p:sp>
        <p:nvSpPr>
          <p:cNvPr id="44" name="Text 40"/>
          <p:cNvSpPr txBox="1"/>
          <p:nvPr/>
        </p:nvSpPr>
        <p:spPr>
          <a:xfrm>
            <a:off x="8671560" y="303580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 생일 임박</a:t>
            </a:r>
            <a:endParaRPr lang="en-US" sz="1500" dirty="0"/>
          </a:p>
        </p:txBody>
      </p:sp>
      <p:sp>
        <p:nvSpPr>
          <p:cNvPr id="45" name="Text 41"/>
          <p:cNvSpPr txBox="1"/>
          <p:nvPr/>
        </p:nvSpPr>
        <p:spPr>
          <a:xfrm>
            <a:off x="8671560" y="330098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오르기 전 점검 · 생일엔 축하 인사</a:t>
            </a:r>
            <a:endParaRPr lang="en-US" sz="1150" dirty="0"/>
          </a:p>
        </p:txBody>
      </p:sp>
      <p:sp>
        <p:nvSpPr>
          <p:cNvPr id="46" name="Shape 42"/>
          <p:cNvSpPr/>
          <p:nvPr/>
        </p:nvSpPr>
        <p:spPr>
          <a:xfrm>
            <a:off x="7269480" y="3730752"/>
            <a:ext cx="4373575" cy="676656"/>
          </a:xfrm>
          <a:prstGeom prst="roundRect">
            <a:avLst>
              <a:gd name="adj" fmla="val 16216"/>
            </a:avLst>
          </a:prstGeom>
          <a:solidFill>
            <a:srgbClr val="FFFFFF"/>
          </a:solidFill>
          <a:ln w="9525">
            <a:solidFill>
              <a:srgbClr val="E5E8EB"/>
            </a:solidFill>
            <a:prstDash val="solid"/>
          </a:ln>
        </p:spPr>
      </p:sp>
      <p:sp>
        <p:nvSpPr>
          <p:cNvPr id="47" name="Shape 43"/>
          <p:cNvSpPr/>
          <p:nvPr/>
        </p:nvSpPr>
        <p:spPr>
          <a:xfrm>
            <a:off x="7379208" y="3867912"/>
            <a:ext cx="670560" cy="310896"/>
          </a:xfrm>
          <a:prstGeom prst="roundRect">
            <a:avLst>
              <a:gd name="adj" fmla="val 50000"/>
            </a:avLst>
          </a:prstGeom>
          <a:solidFill>
            <a:srgbClr val="F2F4F6"/>
          </a:solidFill>
          <a:ln w="12700">
            <a:solidFill>
              <a:srgbClr val="F2F4F6"/>
            </a:solidFill>
            <a:prstDash val="solid"/>
          </a:ln>
        </p:spPr>
      </p:sp>
      <p:sp>
        <p:nvSpPr>
          <p:cNvPr id="48" name="Text 44"/>
          <p:cNvSpPr txBox="1"/>
          <p:nvPr/>
        </p:nvSpPr>
        <p:spPr>
          <a:xfrm>
            <a:off x="7379208" y="386791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매달</a:t>
            </a:r>
            <a:endParaRPr lang="en-US" sz="1200" dirty="0"/>
          </a:p>
        </p:txBody>
      </p:sp>
      <p:sp>
        <p:nvSpPr>
          <p:cNvPr id="49" name="Text 45"/>
          <p:cNvSpPr txBox="1"/>
          <p:nvPr/>
        </p:nvSpPr>
        <p:spPr>
          <a:xfrm>
            <a:off x="8549640" y="376732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사전동의 만료</a:t>
            </a:r>
            <a:endParaRPr lang="en-US" sz="1500" dirty="0"/>
          </a:p>
        </p:txBody>
      </p:sp>
      <p:sp>
        <p:nvSpPr>
          <p:cNvPr id="50" name="Text 46"/>
          <p:cNvSpPr txBox="1"/>
          <p:nvPr/>
        </p:nvSpPr>
        <p:spPr>
          <a:xfrm>
            <a:off x="8549640" y="403250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만료 전에 미리 안내해요</a:t>
            </a:r>
            <a:endParaRPr lang="en-US" sz="1150" dirty="0"/>
          </a:p>
        </p:txBody>
      </p:sp>
      <p:sp>
        <p:nvSpPr>
          <p:cNvPr id="51" name="Shape 47"/>
          <p:cNvSpPr/>
          <p:nvPr/>
        </p:nvSpPr>
        <p:spPr>
          <a:xfrm>
            <a:off x="7269480" y="4462272"/>
            <a:ext cx="4373575" cy="676656"/>
          </a:xfrm>
          <a:prstGeom prst="roundRect">
            <a:avLst>
              <a:gd name="adj" fmla="val 16216"/>
            </a:avLst>
          </a:prstGeom>
          <a:solidFill>
            <a:srgbClr val="FFFFFF"/>
          </a:solidFill>
          <a:ln w="9525">
            <a:solidFill>
              <a:srgbClr val="E5E8EB"/>
            </a:solidFill>
            <a:prstDash val="solid"/>
          </a:ln>
        </p:spPr>
      </p:sp>
      <p:sp>
        <p:nvSpPr>
          <p:cNvPr id="52" name="Shape 48"/>
          <p:cNvSpPr/>
          <p:nvPr/>
        </p:nvSpPr>
        <p:spPr>
          <a:xfrm>
            <a:off x="7379208" y="4599432"/>
            <a:ext cx="670560" cy="310896"/>
          </a:xfrm>
          <a:prstGeom prst="roundRect">
            <a:avLst>
              <a:gd name="adj" fmla="val 50000"/>
            </a:avLst>
          </a:prstGeom>
          <a:solidFill>
            <a:srgbClr val="F2F4F6"/>
          </a:solidFill>
          <a:ln w="12700">
            <a:solidFill>
              <a:srgbClr val="F2F4F6"/>
            </a:solidFill>
            <a:prstDash val="solid"/>
          </a:ln>
        </p:spPr>
      </p:sp>
      <p:sp>
        <p:nvSpPr>
          <p:cNvPr id="53" name="Text 49"/>
          <p:cNvSpPr txBox="1"/>
          <p:nvPr/>
        </p:nvSpPr>
        <p:spPr>
          <a:xfrm>
            <a:off x="7379208" y="459943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수시</a:t>
            </a:r>
            <a:endParaRPr lang="en-US" sz="1200" dirty="0"/>
          </a:p>
        </p:txBody>
      </p:sp>
      <p:sp>
        <p:nvSpPr>
          <p:cNvPr id="54" name="Text 50"/>
          <p:cNvSpPr txBox="1"/>
          <p:nvPr/>
        </p:nvSpPr>
        <p:spPr>
          <a:xfrm>
            <a:off x="8549640" y="449884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신규 등록 고객</a:t>
            </a:r>
            <a:endParaRPr lang="en-US" sz="1500" dirty="0"/>
          </a:p>
        </p:txBody>
      </p:sp>
      <p:sp>
        <p:nvSpPr>
          <p:cNvPr id="55" name="Text 51"/>
          <p:cNvSpPr txBox="1"/>
          <p:nvPr/>
        </p:nvSpPr>
        <p:spPr>
          <a:xfrm>
            <a:off x="8549640" y="476402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상세는 다음 날 반영돼요</a:t>
            </a:r>
            <a:endParaRPr lang="en-US" sz="1150" dirty="0"/>
          </a:p>
        </p:txBody>
      </p:sp>
      <p:sp>
        <p:nvSpPr>
          <p:cNvPr id="56" name="Shape 52"/>
          <p:cNvSpPr/>
          <p:nvPr/>
        </p:nvSpPr>
        <p:spPr>
          <a:xfrm>
            <a:off x="7269480" y="5230368"/>
            <a:ext cx="4373575" cy="566928"/>
          </a:xfrm>
          <a:prstGeom prst="roundRect">
            <a:avLst>
              <a:gd name="adj" fmla="val 19355"/>
            </a:avLst>
          </a:prstGeom>
          <a:solidFill>
            <a:srgbClr val="F9FAFB"/>
          </a:solidFill>
          <a:ln w="12700">
            <a:solidFill>
              <a:srgbClr val="F9FAFB"/>
            </a:solidFill>
            <a:prstDash val="solid"/>
          </a:ln>
        </p:spPr>
      </p:sp>
      <p:sp>
        <p:nvSpPr>
          <p:cNvPr id="57" name="Text 53"/>
          <p:cNvSpPr txBox="1"/>
          <p:nvPr/>
        </p:nvSpPr>
        <p:spPr>
          <a:xfrm>
            <a:off x="7452360" y="5230368"/>
            <a:ext cx="4099255" cy="566928"/>
          </a:xfrm>
          <a:prstGeom prst="rect">
            <a:avLst/>
          </a:prstGeom>
          <a:noFill/>
          <a:ln/>
        </p:spPr>
        <p:txBody>
          <a:bodyPr wrap="square" lIns="0" tIns="0" rIns="0" bIns="0" rtlCol="0" anchor="ctr"/>
          <a:lstStyle/>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보장 부족 그룹은 주력 상품 담보부터</a:t>
            </a:r>
            <a:endParaRPr lang="en-US" sz="1150" dirty="0"/>
          </a:p>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한 고객이 여러 그룹에 · 예: 김민수</a:t>
            </a:r>
            <a:endParaRPr lang="en-US" sz="1150" dirty="0"/>
          </a:p>
        </p:txBody>
      </p:sp>
      <p:sp>
        <p:nvSpPr>
          <p:cNvPr id="58" name="Text 54"/>
          <p:cNvSpPr txBox="1"/>
          <p:nvPr/>
        </p:nvSpPr>
        <p:spPr>
          <a:xfrm>
            <a:off x="548640" y="5852160"/>
            <a:ext cx="11094415" cy="237744"/>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 인원은 화면 예시 · 설명 문장은 확정 화면의 안내 · 금액은 보장분석으로 확인</a:t>
            </a:r>
            <a:endParaRPr lang="en-US" sz="1200" dirty="0"/>
          </a:p>
        </p:txBody>
      </p:sp>
      <p:sp>
        <p:nvSpPr>
          <p:cNvPr id="59" name="Text 55"/>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MeAI 활용 가이드북 v4 p.31–33·41·63·74 · 확정 화면</a:t>
            </a:r>
            <a:endParaRPr lang="en-US" sz="1100" dirty="0"/>
          </a:p>
        </p:txBody>
      </p:sp>
      <p:sp>
        <p:nvSpPr>
          <p:cNvPr id="60"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1"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“D-n”이면 바로, “필요”면 알림톡 한 통이에요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맞춤대화는 보장 내역을 읽어요. 그래서 동의가 먼저예요.</a:t>
            </a:r>
            <a:endParaRPr lang="en-US" sz="1700" dirty="0"/>
          </a:p>
        </p:txBody>
      </p:sp>
      <p:sp>
        <p:nvSpPr>
          <p:cNvPr id="13" name="Shape 11"/>
          <p:cNvSpPr/>
          <p:nvPr/>
        </p:nvSpPr>
        <p:spPr>
          <a:xfrm>
            <a:off x="548640" y="1965960"/>
            <a:ext cx="11094415" cy="914400"/>
          </a:xfrm>
          <a:prstGeom prst="roundRect">
            <a:avLst>
              <a:gd name="adj" fmla="val 14000"/>
            </a:avLst>
          </a:prstGeom>
          <a:solidFill>
            <a:srgbClr val="FFFFFF"/>
          </a:solidFill>
          <a:ln w="9525">
            <a:solidFill>
              <a:srgbClr val="E5E8EB"/>
            </a:solidFill>
            <a:prstDash val="solid"/>
          </a:ln>
        </p:spPr>
      </p:sp>
      <p:sp>
        <p:nvSpPr>
          <p:cNvPr id="14" name="Shape 12"/>
          <p:cNvSpPr/>
          <p:nvPr/>
        </p:nvSpPr>
        <p:spPr>
          <a:xfrm>
            <a:off x="777240" y="2221992"/>
            <a:ext cx="1253490" cy="402336"/>
          </a:xfrm>
          <a:prstGeom prst="roundRect">
            <a:avLst>
              <a:gd name="adj" fmla="val 50000"/>
            </a:avLst>
          </a:prstGeom>
          <a:solidFill>
            <a:srgbClr val="E8F3FF"/>
          </a:solidFill>
          <a:ln w="12700">
            <a:solidFill>
              <a:srgbClr val="E8F3FF"/>
            </a:solidFill>
            <a:prstDash val="solid"/>
          </a:ln>
        </p:spPr>
      </p:sp>
      <p:sp>
        <p:nvSpPr>
          <p:cNvPr id="15" name="Text 13"/>
          <p:cNvSpPr txBox="1"/>
          <p:nvPr/>
        </p:nvSpPr>
        <p:spPr>
          <a:xfrm>
            <a:off x="777240" y="2221992"/>
            <a:ext cx="1253490" cy="402336"/>
          </a:xfrm>
          <a:prstGeom prst="rect">
            <a:avLst/>
          </a:prstGeom>
          <a:noFill/>
          <a:ln/>
        </p:spPr>
        <p:txBody>
          <a:bodyPr wrap="square" lIns="0" tIns="0" rIns="0" bIns="0" rtlCol="0" anchor="ctr"/>
          <a:lstStyle/>
          <a:p>
            <a:pPr algn="ctr" indent="0" marL="0">
              <a:buNone/>
            </a:pPr>
            <a:r>
              <a:rPr lang="en-US" sz="1500" b="1" dirty="0">
                <a:solidFill>
                  <a:srgbClr val="3182F6"/>
                </a:solidFill>
                <a:latin typeface="맑은 고딕" pitchFamily="34" charset="0"/>
                <a:ea typeface="맑은 고딕" pitchFamily="34" charset="-122"/>
                <a:cs typeface="맑은 고딕" pitchFamily="34" charset="-120"/>
              </a:rPr>
              <a:t>유효 · D-n</a:t>
            </a:r>
            <a:endParaRPr lang="en-US" sz="1500" dirty="0"/>
          </a:p>
        </p:txBody>
      </p:sp>
      <p:pic>
        <p:nvPicPr>
          <p:cNvPr id="16" name="Image 0" descr="MeAI 화면 캡처">    </p:cNvPr>
          <p:cNvPicPr>
            <a:picLocks noChangeAspect="1"/>
          </p:cNvPicPr>
          <p:nvPr/>
        </p:nvPicPr>
        <p:blipFill>
          <a:blip r:embed="rId1"/>
          <a:stretch>
            <a:fillRect/>
          </a:stretch>
        </p:blipFill>
        <p:spPr>
          <a:xfrm>
            <a:off x="2514600" y="2104849"/>
            <a:ext cx="5394960" cy="636622"/>
          </a:xfrm>
          <a:prstGeom prst="rect">
            <a:avLst/>
          </a:prstGeom>
        </p:spPr>
      </p:pic>
      <p:sp>
        <p:nvSpPr>
          <p:cNvPr id="17" name="Shape 14"/>
          <p:cNvSpPr/>
          <p:nvPr/>
        </p:nvSpPr>
        <p:spPr>
          <a:xfrm>
            <a:off x="5379024" y="2267712"/>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379024" y="226771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Text 16"/>
          <p:cNvSpPr txBox="1"/>
          <p:nvPr/>
        </p:nvSpPr>
        <p:spPr>
          <a:xfrm>
            <a:off x="8138160" y="2057400"/>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바로 [맞춤대화]</a:t>
            </a:r>
            <a:endParaRPr lang="en-US" sz="1700" dirty="0"/>
          </a:p>
        </p:txBody>
      </p:sp>
      <p:sp>
        <p:nvSpPr>
          <p:cNvPr id="20" name="Text 17"/>
          <p:cNvSpPr txBox="1"/>
          <p:nvPr/>
        </p:nvSpPr>
        <p:spPr>
          <a:xfrm>
            <a:off x="8138160" y="2423160"/>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동의일부터 1년 동안 보여요</a:t>
            </a:r>
            <a:endParaRPr lang="en-US" sz="1350" dirty="0"/>
          </a:p>
        </p:txBody>
      </p:sp>
      <p:sp>
        <p:nvSpPr>
          <p:cNvPr id="21" name="Shape 18"/>
          <p:cNvSpPr/>
          <p:nvPr/>
        </p:nvSpPr>
        <p:spPr>
          <a:xfrm>
            <a:off x="548640" y="2990088"/>
            <a:ext cx="11094415" cy="914400"/>
          </a:xfrm>
          <a:prstGeom prst="roundRect">
            <a:avLst>
              <a:gd name="adj" fmla="val 14000"/>
            </a:avLst>
          </a:prstGeom>
          <a:solidFill>
            <a:srgbClr val="FFFFFF"/>
          </a:solidFill>
          <a:ln w="9525">
            <a:solidFill>
              <a:srgbClr val="E5E8EB"/>
            </a:solidFill>
            <a:prstDash val="solid"/>
          </a:ln>
        </p:spPr>
      </p:sp>
      <p:sp>
        <p:nvSpPr>
          <p:cNvPr id="22" name="Shape 19"/>
          <p:cNvSpPr/>
          <p:nvPr/>
        </p:nvSpPr>
        <p:spPr>
          <a:xfrm>
            <a:off x="777240" y="3246120"/>
            <a:ext cx="1318260" cy="402336"/>
          </a:xfrm>
          <a:prstGeom prst="roundRect">
            <a:avLst>
              <a:gd name="adj" fmla="val 50000"/>
            </a:avLst>
          </a:prstGeom>
          <a:solidFill>
            <a:srgbClr val="FFF0F0"/>
          </a:solidFill>
          <a:ln w="12700">
            <a:solidFill>
              <a:srgbClr val="FFF0F0"/>
            </a:solidFill>
            <a:prstDash val="solid"/>
          </a:ln>
        </p:spPr>
      </p:sp>
      <p:sp>
        <p:nvSpPr>
          <p:cNvPr id="23" name="Text 20"/>
          <p:cNvSpPr txBox="1"/>
          <p:nvPr/>
        </p:nvSpPr>
        <p:spPr>
          <a:xfrm>
            <a:off x="777240" y="3246120"/>
            <a:ext cx="1318260" cy="402336"/>
          </a:xfrm>
          <a:prstGeom prst="rect">
            <a:avLst/>
          </a:prstGeom>
          <a:noFill/>
          <a:ln/>
        </p:spPr>
        <p:txBody>
          <a:bodyPr wrap="square" lIns="0" tIns="0" rIns="0" bIns="0" rtlCol="0" anchor="ctr"/>
          <a:lstStyle/>
          <a:p>
            <a:pPr algn="ctr" indent="0" marL="0">
              <a:buNone/>
            </a:pPr>
            <a:r>
              <a:rPr lang="en-US" sz="1500" b="1" dirty="0">
                <a:solidFill>
                  <a:srgbClr val="F04452"/>
                </a:solidFill>
                <a:latin typeface="맑은 고딕" pitchFamily="34" charset="0"/>
                <a:ea typeface="맑은 고딕" pitchFamily="34" charset="-122"/>
                <a:cs typeface="맑은 고딕" pitchFamily="34" charset="-120"/>
              </a:rPr>
              <a:t>필요 · 만료</a:t>
            </a:r>
            <a:endParaRPr lang="en-US" sz="1500" dirty="0"/>
          </a:p>
        </p:txBody>
      </p:sp>
      <p:pic>
        <p:nvPicPr>
          <p:cNvPr id="24" name="Image 1" descr="MeAI 화면 캡처">    </p:cNvPr>
          <p:cNvPicPr>
            <a:picLocks noChangeAspect="1"/>
          </p:cNvPicPr>
          <p:nvPr/>
        </p:nvPicPr>
        <p:blipFill>
          <a:blip r:embed="rId2"/>
          <a:stretch>
            <a:fillRect/>
          </a:stretch>
        </p:blipFill>
        <p:spPr>
          <a:xfrm>
            <a:off x="2514600" y="3099816"/>
            <a:ext cx="2214124" cy="694944"/>
          </a:xfrm>
          <a:prstGeom prst="rect">
            <a:avLst/>
          </a:prstGeom>
        </p:spPr>
      </p:pic>
      <p:sp>
        <p:nvSpPr>
          <p:cNvPr id="25" name="Shape 21"/>
          <p:cNvSpPr/>
          <p:nvPr/>
        </p:nvSpPr>
        <p:spPr>
          <a:xfrm>
            <a:off x="2251409" y="3291840"/>
            <a:ext cx="310896" cy="310896"/>
          </a:xfrm>
          <a:prstGeom prst="ellipse">
            <a:avLst/>
          </a:prstGeom>
          <a:solidFill>
            <a:srgbClr val="F04452"/>
          </a:solidFill>
          <a:ln w="19050">
            <a:solidFill>
              <a:srgbClr val="FFFFFF"/>
            </a:solidFill>
            <a:prstDash val="solid"/>
          </a:ln>
        </p:spPr>
      </p:sp>
      <p:sp>
        <p:nvSpPr>
          <p:cNvPr id="26" name="Text 22"/>
          <p:cNvSpPr txBox="1"/>
          <p:nvPr/>
        </p:nvSpPr>
        <p:spPr>
          <a:xfrm>
            <a:off x="2251409" y="329184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7" name="Text 23"/>
          <p:cNvSpPr txBox="1"/>
          <p:nvPr/>
        </p:nvSpPr>
        <p:spPr>
          <a:xfrm>
            <a:off x="4774444" y="2990088"/>
            <a:ext cx="320040" cy="914400"/>
          </a:xfrm>
          <a:prstGeom prst="rect">
            <a:avLst/>
          </a:prstGeom>
          <a:noFill/>
          <a:ln/>
        </p:spPr>
        <p:txBody>
          <a:bodyPr wrap="square" lIns="0" tIns="0" rIns="0" bIns="0" rtlCol="0" anchor="ctr"/>
          <a:lstStyle/>
          <a:p>
            <a:pPr algn="ctr" indent="0" marL="0">
              <a:buNone/>
            </a:pPr>
            <a:r>
              <a:rPr lang="en-US" sz="2000" dirty="0">
                <a:solidFill>
                  <a:srgbClr val="B0B8C1"/>
                </a:solidFill>
                <a:latin typeface="맑은 고딕" pitchFamily="34" charset="0"/>
                <a:ea typeface="맑은 고딕" pitchFamily="34" charset="-122"/>
                <a:cs typeface="맑은 고딕" pitchFamily="34" charset="-120"/>
              </a:rPr>
              <a:t>→</a:t>
            </a:r>
            <a:endParaRPr lang="en-US" sz="2000" dirty="0"/>
          </a:p>
        </p:txBody>
      </p:sp>
      <p:pic>
        <p:nvPicPr>
          <p:cNvPr id="28" name="Image 2" descr="MeAI 화면 캡처">    </p:cNvPr>
          <p:cNvPicPr>
            <a:picLocks noChangeAspect="1"/>
          </p:cNvPicPr>
          <p:nvPr/>
        </p:nvPicPr>
        <p:blipFill>
          <a:blip r:embed="rId3"/>
          <a:stretch>
            <a:fillRect/>
          </a:stretch>
        </p:blipFill>
        <p:spPr>
          <a:xfrm>
            <a:off x="5140204" y="3081528"/>
            <a:ext cx="1434790" cy="731520"/>
          </a:xfrm>
          <a:prstGeom prst="rect">
            <a:avLst/>
          </a:prstGeom>
        </p:spPr>
      </p:pic>
      <p:sp>
        <p:nvSpPr>
          <p:cNvPr id="29" name="Text 24"/>
          <p:cNvSpPr txBox="1"/>
          <p:nvPr/>
        </p:nvSpPr>
        <p:spPr>
          <a:xfrm>
            <a:off x="8138160" y="3081528"/>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[사전조회동의 요청하기]</a:t>
            </a:r>
            <a:endParaRPr lang="en-US" sz="1700" dirty="0"/>
          </a:p>
        </p:txBody>
      </p:sp>
      <p:sp>
        <p:nvSpPr>
          <p:cNvPr id="30" name="Text 25"/>
          <p:cNvSpPr txBox="1"/>
          <p:nvPr/>
        </p:nvSpPr>
        <p:spPr>
          <a:xfrm>
            <a:off x="8138160" y="3447288"/>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 휴대폰 번호 → 알림톡</a:t>
            </a:r>
            <a:endParaRPr lang="en-US" sz="1350" dirty="0"/>
          </a:p>
          <a:p>
            <a:pPr indent="0" marL="0">
              <a:buNone/>
            </a:pPr>
            <a:r>
              <a:rPr lang="en-US" sz="1350" b="1" dirty="0">
                <a:solidFill>
                  <a:srgbClr val="3182F6"/>
                </a:solidFill>
                <a:latin typeface="맑은 고딕" pitchFamily="34" charset="0"/>
                <a:ea typeface="맑은 고딕" pitchFamily="34" charset="-122"/>
                <a:cs typeface="맑은 고딕" pitchFamily="34" charset="-120"/>
              </a:rPr>
              <a:t>예: 김민수 고객</a:t>
            </a:r>
            <a:endParaRPr lang="en-US" sz="1350" dirty="0"/>
          </a:p>
        </p:txBody>
      </p:sp>
      <p:sp>
        <p:nvSpPr>
          <p:cNvPr id="31" name="Shape 26"/>
          <p:cNvSpPr/>
          <p:nvPr/>
        </p:nvSpPr>
        <p:spPr>
          <a:xfrm>
            <a:off x="548640" y="4014216"/>
            <a:ext cx="11094415" cy="914400"/>
          </a:xfrm>
          <a:prstGeom prst="roundRect">
            <a:avLst>
              <a:gd name="adj" fmla="val 14000"/>
            </a:avLst>
          </a:prstGeom>
          <a:solidFill>
            <a:srgbClr val="FFFFFF"/>
          </a:solidFill>
          <a:ln w="9525">
            <a:solidFill>
              <a:srgbClr val="E5E8EB"/>
            </a:solidFill>
            <a:prstDash val="solid"/>
          </a:ln>
        </p:spPr>
      </p:sp>
      <p:sp>
        <p:nvSpPr>
          <p:cNvPr id="32" name="Shape 27"/>
          <p:cNvSpPr/>
          <p:nvPr/>
        </p:nvSpPr>
        <p:spPr>
          <a:xfrm>
            <a:off x="777240" y="4270248"/>
            <a:ext cx="1184910" cy="402336"/>
          </a:xfrm>
          <a:prstGeom prst="roundRect">
            <a:avLst>
              <a:gd name="adj" fmla="val 50000"/>
            </a:avLst>
          </a:prstGeom>
          <a:solidFill>
            <a:srgbClr val="F2F4F6"/>
          </a:solidFill>
          <a:ln w="12700">
            <a:solidFill>
              <a:srgbClr val="F2F4F6"/>
            </a:solidFill>
            <a:prstDash val="solid"/>
          </a:ln>
        </p:spPr>
      </p:sp>
      <p:sp>
        <p:nvSpPr>
          <p:cNvPr id="33" name="Text 28"/>
          <p:cNvSpPr txBox="1"/>
          <p:nvPr/>
        </p:nvSpPr>
        <p:spPr>
          <a:xfrm>
            <a:off x="777240" y="4270248"/>
            <a:ext cx="1184910" cy="402336"/>
          </a:xfrm>
          <a:prstGeom prst="rect">
            <a:avLst/>
          </a:prstGeom>
          <a:noFill/>
          <a:ln/>
        </p:spPr>
        <p:txBody>
          <a:bodyPr wrap="square" lIns="0" tIns="0" rIns="0" bIns="0" rtlCol="0" anchor="ctr"/>
          <a:lstStyle/>
          <a:p>
            <a:pPr algn="ctr" indent="0" marL="0">
              <a:buNone/>
            </a:pPr>
            <a:r>
              <a:rPr lang="en-US" sz="1500" b="1" dirty="0">
                <a:solidFill>
                  <a:srgbClr val="6B7684"/>
                </a:solidFill>
                <a:latin typeface="맑은 고딕" pitchFamily="34" charset="0"/>
                <a:ea typeface="맑은 고딕" pitchFamily="34" charset="-122"/>
                <a:cs typeface="맑은 고딕" pitchFamily="34" charset="-120"/>
              </a:rPr>
              <a:t>오늘 철회</a:t>
            </a:r>
            <a:endParaRPr lang="en-US" sz="1500" dirty="0"/>
          </a:p>
        </p:txBody>
      </p:sp>
      <p:pic>
        <p:nvPicPr>
          <p:cNvPr id="34" name="Image 3" descr="MeAI 화면 캡처">    </p:cNvPr>
          <p:cNvPicPr>
            <a:picLocks noChangeAspect="1"/>
          </p:cNvPicPr>
          <p:nvPr/>
        </p:nvPicPr>
        <p:blipFill>
          <a:blip r:embed="rId4"/>
          <a:stretch>
            <a:fillRect/>
          </a:stretch>
        </p:blipFill>
        <p:spPr>
          <a:xfrm>
            <a:off x="2514600" y="4153105"/>
            <a:ext cx="5394960" cy="636622"/>
          </a:xfrm>
          <a:prstGeom prst="rect">
            <a:avLst/>
          </a:prstGeom>
        </p:spPr>
      </p:pic>
      <p:sp>
        <p:nvSpPr>
          <p:cNvPr id="35" name="Shape 29"/>
          <p:cNvSpPr/>
          <p:nvPr/>
        </p:nvSpPr>
        <p:spPr>
          <a:xfrm>
            <a:off x="5379024" y="4315968"/>
            <a:ext cx="310896" cy="310896"/>
          </a:xfrm>
          <a:prstGeom prst="ellipse">
            <a:avLst/>
          </a:prstGeom>
          <a:solidFill>
            <a:srgbClr val="6B7684"/>
          </a:solidFill>
          <a:ln w="19050">
            <a:solidFill>
              <a:srgbClr val="FFFFFF"/>
            </a:solidFill>
            <a:prstDash val="solid"/>
          </a:ln>
        </p:spPr>
      </p:sp>
      <p:sp>
        <p:nvSpPr>
          <p:cNvPr id="36" name="Text 30"/>
          <p:cNvSpPr txBox="1"/>
          <p:nvPr/>
        </p:nvSpPr>
        <p:spPr>
          <a:xfrm>
            <a:off x="5379024" y="4315968"/>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7" name="Text 31"/>
          <p:cNvSpPr txBox="1"/>
          <p:nvPr/>
        </p:nvSpPr>
        <p:spPr>
          <a:xfrm>
            <a:off x="8138160" y="4105656"/>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우회 말고 동의부터</a:t>
            </a:r>
            <a:endParaRPr lang="en-US" sz="1700" dirty="0"/>
          </a:p>
        </p:txBody>
      </p:sp>
      <p:sp>
        <p:nvSpPr>
          <p:cNvPr id="38" name="Text 32"/>
          <p:cNvSpPr txBox="1"/>
          <p:nvPr/>
        </p:nvSpPr>
        <p:spPr>
          <a:xfrm>
            <a:off x="8138160" y="4471416"/>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회색 · 정보를 볼 수 없어요</a:t>
            </a:r>
            <a:endParaRPr lang="en-US" sz="1350" dirty="0"/>
          </a:p>
        </p:txBody>
      </p:sp>
      <p:sp>
        <p:nvSpPr>
          <p:cNvPr id="39" name="Text 33"/>
          <p:cNvSpPr txBox="1"/>
          <p:nvPr/>
        </p:nvSpPr>
        <p:spPr>
          <a:xfrm>
            <a:off x="548640" y="5029200"/>
            <a:ext cx="11094415" cy="274320"/>
          </a:xfrm>
          <a:prstGeom prst="rect">
            <a:avLst/>
          </a:prstGeom>
          <a:noFill/>
          <a:ln/>
        </p:spPr>
        <p:txBody>
          <a:bodyPr wrap="square" lIns="0" tIns="0" rIns="0" bIns="0" rtlCol="0" anchor="ctr"/>
          <a:lstStyle/>
          <a:p>
            <a:pPr indent="0" marL="0">
              <a:buNone/>
            </a:pPr>
            <a:r>
              <a:rPr lang="en-US" sz="1400" dirty="0">
                <a:solidFill>
                  <a:srgbClr val="4E5968"/>
                </a:solidFill>
                <a:latin typeface="맑은 고딕" pitchFamily="34" charset="0"/>
                <a:ea typeface="맑은 고딕" pitchFamily="34" charset="-122"/>
                <a:cs typeface="맑은 고딕" pitchFamily="34" charset="-120"/>
              </a:rPr>
              <a:t>동의하면 15분 안팎에 반영돼요(게시판 공지) · MeAI 홈 [고객 동의]에서도 보내요</a:t>
            </a:r>
            <a:endParaRPr lang="en-US" sz="1400" dirty="0"/>
          </a:p>
        </p:txBody>
      </p:sp>
      <p:sp>
        <p:nvSpPr>
          <p:cNvPr id="40" name="Shape 34"/>
          <p:cNvSpPr/>
          <p:nvPr/>
        </p:nvSpPr>
        <p:spPr>
          <a:xfrm>
            <a:off x="548640" y="5394960"/>
            <a:ext cx="11094415" cy="658368"/>
          </a:xfrm>
          <a:prstGeom prst="roundRect">
            <a:avLst>
              <a:gd name="adj" fmla="val 19444"/>
            </a:avLst>
          </a:prstGeom>
          <a:solidFill>
            <a:srgbClr val="191F28"/>
          </a:solidFill>
          <a:ln w="12700">
            <a:solidFill>
              <a:srgbClr val="191F28"/>
            </a:solidFill>
            <a:prstDash val="solid"/>
          </a:ln>
        </p:spPr>
      </p:sp>
      <p:sp>
        <p:nvSpPr>
          <p:cNvPr id="41" name="Text 35"/>
          <p:cNvSpPr txBox="1"/>
          <p:nvPr/>
        </p:nvSpPr>
        <p:spPr>
          <a:xfrm>
            <a:off x="868680" y="5394960"/>
            <a:ext cx="10454335" cy="65836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전화 한 마디   </a:t>
            </a:r>
            <a:pPr indent="0" marL="0">
              <a:buNone/>
            </a:pPr>
            <a:r>
              <a:rPr lang="en-US" sz="1650" b="1" dirty="0">
                <a:solidFill>
                  <a:srgbClr val="FFFFFF"/>
                </a:solidFill>
                <a:latin typeface="맑은 고딕" pitchFamily="34" charset="0"/>
                <a:ea typeface="맑은 고딕" pitchFamily="34" charset="-122"/>
                <a:cs typeface="맑은 고딕" pitchFamily="34" charset="-120"/>
              </a:rPr>
              <a:t>“보장을 정확히 보고 말씀드리려면 동의가 필요해요. 알림톡으로 금방 끝나요.”</a:t>
            </a:r>
            <a:endParaRPr lang="en-US" sz="1650" dirty="0"/>
          </a:p>
        </p:txBody>
      </p:sp>
      <p:sp>
        <p:nvSpPr>
          <p:cNvPr id="42" name="Text 36"/>
          <p:cNvSpPr txBox="1"/>
          <p:nvPr/>
        </p:nvSpPr>
        <p:spPr>
          <a:xfrm>
            <a:off x="548640" y="6126480"/>
            <a:ext cx="11094415"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 · 출처: MeAI 활용 가이드북 v4 p.27·39·45 · 확정 화면</a:t>
            </a:r>
            <a:endParaRPr lang="en-US" sz="110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MeAI 활용 방법</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홈에서 누르기만 하면 MeAI가 열려요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길은 세 가지예요 · 흰 카드, 검은 카드, 추천 카드</a:t>
            </a:r>
            <a:endParaRPr lang="en-US" sz="1700" dirty="0"/>
          </a:p>
        </p:txBody>
      </p:sp>
      <p:sp>
        <p:nvSpPr>
          <p:cNvPr id="13" name="Shape 11"/>
          <p:cNvSpPr/>
          <p:nvPr/>
        </p:nvSpPr>
        <p:spPr>
          <a:xfrm>
            <a:off x="548640" y="1965960"/>
            <a:ext cx="5760720" cy="1288582"/>
          </a:xfrm>
          <a:prstGeom prst="roundRect">
            <a:avLst>
              <a:gd name="adj" fmla="val 8941"/>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65960"/>
            <a:ext cx="5760720" cy="1288582"/>
          </a:xfrm>
          <a:prstGeom prst="rect">
            <a:avLst/>
          </a:prstGeom>
        </p:spPr>
      </p:pic>
      <p:sp>
        <p:nvSpPr>
          <p:cNvPr id="15" name="Shape 12"/>
          <p:cNvSpPr/>
          <p:nvPr/>
        </p:nvSpPr>
        <p:spPr>
          <a:xfrm>
            <a:off x="589066" y="2536979"/>
            <a:ext cx="2809614" cy="687244"/>
          </a:xfrm>
          <a:prstGeom prst="roundRect">
            <a:avLst>
              <a:gd name="adj" fmla="val 10644"/>
            </a:avLst>
          </a:prstGeom>
          <a:ln w="25400">
            <a:solidFill>
              <a:srgbClr val="3182F6"/>
            </a:solidFill>
            <a:prstDash val="solid"/>
          </a:ln>
        </p:spPr>
      </p:sp>
      <p:sp>
        <p:nvSpPr>
          <p:cNvPr id="16" name="Shape 13"/>
          <p:cNvSpPr/>
          <p:nvPr/>
        </p:nvSpPr>
        <p:spPr>
          <a:xfrm>
            <a:off x="3459320" y="2536979"/>
            <a:ext cx="2809614" cy="687244"/>
          </a:xfrm>
          <a:prstGeom prst="roundRect">
            <a:avLst>
              <a:gd name="adj" fmla="val 10644"/>
            </a:avLst>
          </a:prstGeom>
          <a:ln w="25400">
            <a:solidFill>
              <a:srgbClr val="3182F6"/>
            </a:solidFill>
            <a:prstDash val="solid"/>
          </a:ln>
        </p:spPr>
      </p:sp>
      <p:sp>
        <p:nvSpPr>
          <p:cNvPr id="17" name="Shape 14"/>
          <p:cNvSpPr/>
          <p:nvPr/>
        </p:nvSpPr>
        <p:spPr>
          <a:xfrm>
            <a:off x="565003" y="2406797"/>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65003" y="240679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3455469" y="2406797"/>
            <a:ext cx="310896" cy="310896"/>
          </a:xfrm>
          <a:prstGeom prst="ellipse">
            <a:avLst/>
          </a:prstGeom>
          <a:solidFill>
            <a:srgbClr val="3182F6"/>
          </a:solidFill>
          <a:ln w="19050">
            <a:solidFill>
              <a:srgbClr val="FFFFFF"/>
            </a:solidFill>
            <a:prstDash val="solid"/>
          </a:ln>
        </p:spPr>
      </p:sp>
      <p:sp>
        <p:nvSpPr>
          <p:cNvPr id="20" name="Text 17"/>
          <p:cNvSpPr txBox="1"/>
          <p:nvPr/>
        </p:nvSpPr>
        <p:spPr>
          <a:xfrm>
            <a:off x="3455469" y="240679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548640" y="3400846"/>
            <a:ext cx="5760720" cy="896112"/>
          </a:xfrm>
          <a:prstGeom prst="roundRect">
            <a:avLst>
              <a:gd name="adj" fmla="val 14286"/>
            </a:avLst>
          </a:prstGeom>
          <a:solidFill>
            <a:srgbClr val="E8F3FF"/>
          </a:solidFill>
          <a:ln w="12700">
            <a:solidFill>
              <a:srgbClr val="E8F3FF"/>
            </a:solidFill>
            <a:prstDash val="solid"/>
          </a:ln>
        </p:spPr>
      </p:sp>
      <p:sp>
        <p:nvSpPr>
          <p:cNvPr id="22" name="Text 19"/>
          <p:cNvSpPr txBox="1"/>
          <p:nvPr/>
        </p:nvSpPr>
        <p:spPr>
          <a:xfrm>
            <a:off x="777240" y="3492286"/>
            <a:ext cx="137160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화면 문구</a:t>
            </a:r>
            <a:endParaRPr lang="en-US" sz="1250" dirty="0"/>
          </a:p>
        </p:txBody>
      </p:sp>
      <p:sp>
        <p:nvSpPr>
          <p:cNvPr id="23" name="Text 20"/>
          <p:cNvSpPr txBox="1"/>
          <p:nvPr/>
        </p:nvSpPr>
        <p:spPr>
          <a:xfrm>
            <a:off x="777240" y="3748318"/>
            <a:ext cx="5394960" cy="512064"/>
          </a:xfrm>
          <a:prstGeom prst="rect">
            <a:avLst/>
          </a:prstGeom>
          <a:noFill/>
          <a:ln/>
        </p:spPr>
        <p:txBody>
          <a:bodyPr wrap="square" lIns="0" tIns="0" rIns="0" bIns="0" rtlCol="0" anchor="t"/>
          <a:lstStyle/>
          <a:p>
            <a:pPr indent="0" marL="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“어떤 대화를 시작할지만 고르면,</a:t>
            </a:r>
            <a:endParaRPr lang="en-US" sz="1500" dirty="0"/>
          </a:p>
          <a:p>
            <a:pPr indent="0" marL="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나머지는 MeAI가 준비합니다.”</a:t>
            </a:r>
            <a:endParaRPr lang="en-US" sz="1500" dirty="0"/>
          </a:p>
        </p:txBody>
      </p:sp>
      <p:sp>
        <p:nvSpPr>
          <p:cNvPr id="24" name="Shape 21"/>
          <p:cNvSpPr/>
          <p:nvPr/>
        </p:nvSpPr>
        <p:spPr>
          <a:xfrm>
            <a:off x="548640" y="4388398"/>
            <a:ext cx="5760720" cy="749808"/>
          </a:xfrm>
          <a:prstGeom prst="roundRect">
            <a:avLst>
              <a:gd name="adj" fmla="val 17073"/>
            </a:avLst>
          </a:prstGeom>
          <a:solidFill>
            <a:srgbClr val="FFFFFF"/>
          </a:solidFill>
          <a:ln w="9525">
            <a:solidFill>
              <a:srgbClr val="E5E8EB"/>
            </a:solidFill>
            <a:prstDash val="solid"/>
          </a:ln>
        </p:spPr>
      </p:sp>
      <p:pic>
        <p:nvPicPr>
          <p:cNvPr id="25" name="Image 1" descr="MeAI 화면 캡처">    </p:cNvPr>
          <p:cNvPicPr>
            <a:picLocks noChangeAspect="1"/>
          </p:cNvPicPr>
          <p:nvPr/>
        </p:nvPicPr>
        <p:blipFill>
          <a:blip r:embed="rId2"/>
          <a:stretch>
            <a:fillRect/>
          </a:stretch>
        </p:blipFill>
        <p:spPr>
          <a:xfrm>
            <a:off x="777240" y="4552990"/>
            <a:ext cx="1168400" cy="420624"/>
          </a:xfrm>
          <a:prstGeom prst="rect">
            <a:avLst/>
          </a:prstGeom>
        </p:spPr>
      </p:pic>
      <p:sp>
        <p:nvSpPr>
          <p:cNvPr id="26" name="Text 22"/>
          <p:cNvSpPr txBox="1"/>
          <p:nvPr/>
        </p:nvSpPr>
        <p:spPr>
          <a:xfrm>
            <a:off x="2148840" y="4461550"/>
            <a:ext cx="3931920" cy="274320"/>
          </a:xfrm>
          <a:prstGeom prst="rect">
            <a:avLst/>
          </a:prstGeom>
          <a:noFill/>
          <a:ln/>
        </p:spPr>
        <p:txBody>
          <a:bodyPr wrap="square" lIns="0" tIns="0" rIns="0" bIns="0" rtlCol="0" anchor="ctr"/>
          <a:lstStyle/>
          <a:p>
            <a:pPr indent="0" marL="0">
              <a:buNone/>
            </a:pPr>
            <a:r>
              <a:rPr lang="en-US" sz="1350" b="1" dirty="0">
                <a:solidFill>
                  <a:srgbClr val="191F28"/>
                </a:solidFill>
                <a:latin typeface="맑은 고딕" pitchFamily="34" charset="0"/>
                <a:ea typeface="맑은 고딕" pitchFamily="34" charset="-122"/>
                <a:cs typeface="맑은 고딕" pitchFamily="34" charset="-120"/>
              </a:rPr>
              <a:t>길을 잃으면</a:t>
            </a:r>
            <a:endParaRPr lang="en-US" sz="1350" dirty="0"/>
          </a:p>
        </p:txBody>
      </p:sp>
      <p:sp>
        <p:nvSpPr>
          <p:cNvPr id="27" name="Text 23"/>
          <p:cNvSpPr txBox="1"/>
          <p:nvPr/>
        </p:nvSpPr>
        <p:spPr>
          <a:xfrm>
            <a:off x="2148840" y="4754158"/>
            <a:ext cx="4023360" cy="329184"/>
          </a:xfrm>
          <a:prstGeom prst="rect">
            <a:avLst/>
          </a:prstGeom>
          <a:noFill/>
          <a:ln/>
        </p:spPr>
        <p:txBody>
          <a:bodyPr wrap="square" lIns="0" tIns="0" rIns="0" bIns="0" rtlCol="0" anchor="t"/>
          <a:lstStyle/>
          <a:p>
            <a:pPr indent="0" marL="0">
              <a:buNone/>
            </a:pPr>
            <a:r>
              <a:rPr lang="en-US" sz="1300" dirty="0">
                <a:solidFill>
                  <a:srgbClr val="4E5968"/>
                </a:solidFill>
                <a:latin typeface="맑은 고딕" pitchFamily="34" charset="0"/>
                <a:ea typeface="맑은 고딕" pitchFamily="34" charset="-122"/>
                <a:cs typeface="맑은 고딕" pitchFamily="34" charset="-120"/>
              </a:rPr>
              <a:t>어느 화면이든 왼쪽 위 [MeAI 홈]을 누르면 처음으로</a:t>
            </a:r>
            <a:endParaRPr lang="en-US" sz="1300" dirty="0"/>
          </a:p>
        </p:txBody>
      </p:sp>
      <p:sp>
        <p:nvSpPr>
          <p:cNvPr id="28" name="Text 24"/>
          <p:cNvSpPr txBox="1"/>
          <p:nvPr/>
        </p:nvSpPr>
        <p:spPr>
          <a:xfrm>
            <a:off x="548640" y="5174782"/>
            <a:ext cx="5760720" cy="274320"/>
          </a:xfrm>
          <a:prstGeom prst="rect">
            <a:avLst/>
          </a:prstGeom>
          <a:noFill/>
          <a:ln/>
        </p:spPr>
        <p:txBody>
          <a:bodyPr wrap="square" lIns="0" tIns="0" rIns="0" bIns="0" rtlCol="0" anchor="ctr"/>
          <a:lstStyle/>
          <a:p>
            <a:pPr algn="l" indent="0" marL="0">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 · 확정 화면</a:t>
            </a:r>
            <a:endParaRPr lang="en-US" sz="1200" dirty="0"/>
          </a:p>
        </p:txBody>
      </p:sp>
      <p:sp>
        <p:nvSpPr>
          <p:cNvPr id="29" name="Shape 25"/>
          <p:cNvSpPr/>
          <p:nvPr/>
        </p:nvSpPr>
        <p:spPr>
          <a:xfrm>
            <a:off x="6537960" y="1965960"/>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0" name="Shape 26"/>
          <p:cNvSpPr/>
          <p:nvPr/>
        </p:nvSpPr>
        <p:spPr>
          <a:xfrm>
            <a:off x="10225735" y="2114550"/>
            <a:ext cx="1280160" cy="80010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1" name="Image 2" descr="MeAI 화면 캡처">    </p:cNvPr>
          <p:cNvPicPr>
            <a:picLocks noChangeAspect="1"/>
          </p:cNvPicPr>
          <p:nvPr/>
        </p:nvPicPr>
        <p:blipFill>
          <a:blip r:embed="rId3"/>
          <a:stretch>
            <a:fillRect/>
          </a:stretch>
        </p:blipFill>
        <p:spPr>
          <a:xfrm>
            <a:off x="10225735" y="2114550"/>
            <a:ext cx="1280160" cy="800100"/>
          </a:xfrm>
          <a:prstGeom prst="rect">
            <a:avLst/>
          </a:prstGeom>
        </p:spPr>
      </p:pic>
      <p:sp>
        <p:nvSpPr>
          <p:cNvPr id="32" name="Shape 27"/>
          <p:cNvSpPr/>
          <p:nvPr/>
        </p:nvSpPr>
        <p:spPr>
          <a:xfrm>
            <a:off x="6684264" y="2066544"/>
            <a:ext cx="365760" cy="365760"/>
          </a:xfrm>
          <a:prstGeom prst="ellipse">
            <a:avLst/>
          </a:prstGeom>
          <a:solidFill>
            <a:srgbClr val="3182F6"/>
          </a:solidFill>
          <a:ln w="19050">
            <a:solidFill>
              <a:srgbClr val="FFFFFF"/>
            </a:solidFill>
            <a:prstDash val="solid"/>
          </a:ln>
        </p:spPr>
      </p:sp>
      <p:sp>
        <p:nvSpPr>
          <p:cNvPr id="33" name="Text 28"/>
          <p:cNvSpPr txBox="1"/>
          <p:nvPr/>
        </p:nvSpPr>
        <p:spPr>
          <a:xfrm>
            <a:off x="6684264" y="20665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34" name="Text 29"/>
          <p:cNvSpPr txBox="1"/>
          <p:nvPr/>
        </p:nvSpPr>
        <p:spPr>
          <a:xfrm>
            <a:off x="7141464" y="2039112"/>
            <a:ext cx="2947111"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일반대화</a:t>
            </a:r>
            <a:endParaRPr lang="en-US" sz="1550" dirty="0"/>
          </a:p>
        </p:txBody>
      </p:sp>
      <p:sp>
        <p:nvSpPr>
          <p:cNvPr id="35" name="Text 30"/>
          <p:cNvSpPr txBox="1"/>
          <p:nvPr/>
        </p:nvSpPr>
        <p:spPr>
          <a:xfrm>
            <a:off x="7141464" y="2350008"/>
            <a:ext cx="2947111"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[일반대화] 카드</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질문 예시 누르기</a:t>
            </a:r>
            <a:endParaRPr lang="en-US" sz="1250" dirty="0"/>
          </a:p>
        </p:txBody>
      </p:sp>
      <p:sp>
        <p:nvSpPr>
          <p:cNvPr id="36" name="Text 31"/>
          <p:cNvSpPr txBox="1"/>
          <p:nvPr/>
        </p:nvSpPr>
        <p:spPr>
          <a:xfrm>
            <a:off x="7141464" y="2834640"/>
            <a:ext cx="2947111"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무엇이든 물어요 · 바로 시작돼요</a:t>
            </a:r>
            <a:endParaRPr lang="en-US" sz="1150" dirty="0"/>
          </a:p>
        </p:txBody>
      </p:sp>
      <p:sp>
        <p:nvSpPr>
          <p:cNvPr id="37" name="Shape 32"/>
          <p:cNvSpPr/>
          <p:nvPr/>
        </p:nvSpPr>
        <p:spPr>
          <a:xfrm>
            <a:off x="6537960" y="3127248"/>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8" name="Shape 33"/>
          <p:cNvSpPr/>
          <p:nvPr/>
        </p:nvSpPr>
        <p:spPr>
          <a:xfrm>
            <a:off x="10232067" y="3241548"/>
            <a:ext cx="1273828" cy="868680"/>
          </a:xfrm>
          <a:prstGeom prst="roundRect">
            <a:avLst>
              <a:gd name="adj" fmla="val 293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9" name="Image 3" descr="MeAI 화면 캡처">    </p:cNvPr>
          <p:cNvPicPr>
            <a:picLocks noChangeAspect="1"/>
          </p:cNvPicPr>
          <p:nvPr/>
        </p:nvPicPr>
        <p:blipFill>
          <a:blip r:embed="rId4"/>
          <a:stretch>
            <a:fillRect/>
          </a:stretch>
        </p:blipFill>
        <p:spPr>
          <a:xfrm>
            <a:off x="10232067" y="3241548"/>
            <a:ext cx="1273828" cy="868680"/>
          </a:xfrm>
          <a:prstGeom prst="rect">
            <a:avLst/>
          </a:prstGeom>
        </p:spPr>
      </p:pic>
      <p:sp>
        <p:nvSpPr>
          <p:cNvPr id="40" name="Shape 34"/>
          <p:cNvSpPr/>
          <p:nvPr/>
        </p:nvSpPr>
        <p:spPr>
          <a:xfrm>
            <a:off x="6684264" y="3227832"/>
            <a:ext cx="365760" cy="365760"/>
          </a:xfrm>
          <a:prstGeom prst="ellipse">
            <a:avLst/>
          </a:prstGeom>
          <a:solidFill>
            <a:srgbClr val="3182F6"/>
          </a:solidFill>
          <a:ln w="19050">
            <a:solidFill>
              <a:srgbClr val="FFFFFF"/>
            </a:solidFill>
            <a:prstDash val="solid"/>
          </a:ln>
        </p:spPr>
      </p:sp>
      <p:sp>
        <p:nvSpPr>
          <p:cNvPr id="41" name="Text 35"/>
          <p:cNvSpPr txBox="1"/>
          <p:nvPr/>
        </p:nvSpPr>
        <p:spPr>
          <a:xfrm>
            <a:off x="6684264" y="32278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2" name="Text 36"/>
          <p:cNvSpPr txBox="1"/>
          <p:nvPr/>
        </p:nvSpPr>
        <p:spPr>
          <a:xfrm>
            <a:off x="7141464" y="3200400"/>
            <a:ext cx="2953443"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맞춤대화</a:t>
            </a:r>
            <a:endParaRPr lang="en-US" sz="1550" dirty="0"/>
          </a:p>
        </p:txBody>
      </p:sp>
      <p:sp>
        <p:nvSpPr>
          <p:cNvPr id="43" name="Text 37"/>
          <p:cNvSpPr txBox="1"/>
          <p:nvPr/>
        </p:nvSpPr>
        <p:spPr>
          <a:xfrm>
            <a:off x="7141464" y="3511296"/>
            <a:ext cx="2953443"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[맞춤대화] 카드 → 이름 한 글자</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[맞춤대화]</a:t>
            </a:r>
            <a:endParaRPr lang="en-US" sz="1250" dirty="0"/>
          </a:p>
        </p:txBody>
      </p:sp>
      <p:sp>
        <p:nvSpPr>
          <p:cNvPr id="44" name="Text 38"/>
          <p:cNvSpPr txBox="1"/>
          <p:nvPr/>
        </p:nvSpPr>
        <p:spPr>
          <a:xfrm>
            <a:off x="7141464" y="3995928"/>
            <a:ext cx="2953443"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고객 한 명의 보장 내역으로 답해요</a:t>
            </a:r>
            <a:endParaRPr lang="en-US" sz="1150" dirty="0"/>
          </a:p>
        </p:txBody>
      </p:sp>
      <p:sp>
        <p:nvSpPr>
          <p:cNvPr id="45" name="Shape 39"/>
          <p:cNvSpPr/>
          <p:nvPr/>
        </p:nvSpPr>
        <p:spPr>
          <a:xfrm>
            <a:off x="6537960" y="4288536"/>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46" name="Shape 40"/>
          <p:cNvSpPr/>
          <p:nvPr/>
        </p:nvSpPr>
        <p:spPr>
          <a:xfrm>
            <a:off x="10225735" y="4497856"/>
            <a:ext cx="1280160" cy="678639"/>
          </a:xfrm>
          <a:prstGeom prst="roundRect">
            <a:avLst>
              <a:gd name="adj" fmla="val 377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7" name="Image 4" descr="MeAI 화면 캡처">    </p:cNvPr>
          <p:cNvPicPr>
            <a:picLocks noChangeAspect="1"/>
          </p:cNvPicPr>
          <p:nvPr/>
        </p:nvPicPr>
        <p:blipFill>
          <a:blip r:embed="rId5"/>
          <a:stretch>
            <a:fillRect/>
          </a:stretch>
        </p:blipFill>
        <p:spPr>
          <a:xfrm>
            <a:off x="10225735" y="4497856"/>
            <a:ext cx="1280160" cy="678639"/>
          </a:xfrm>
          <a:prstGeom prst="rect">
            <a:avLst/>
          </a:prstGeom>
        </p:spPr>
      </p:pic>
      <p:sp>
        <p:nvSpPr>
          <p:cNvPr id="48" name="Shape 41"/>
          <p:cNvSpPr/>
          <p:nvPr/>
        </p:nvSpPr>
        <p:spPr>
          <a:xfrm>
            <a:off x="6684264" y="4389120"/>
            <a:ext cx="365760" cy="365760"/>
          </a:xfrm>
          <a:prstGeom prst="ellipse">
            <a:avLst/>
          </a:prstGeom>
          <a:solidFill>
            <a:srgbClr val="3182F6"/>
          </a:solidFill>
          <a:ln w="19050">
            <a:solidFill>
              <a:srgbClr val="FFFFFF"/>
            </a:solidFill>
            <a:prstDash val="solid"/>
          </a:ln>
        </p:spPr>
      </p:sp>
      <p:sp>
        <p:nvSpPr>
          <p:cNvPr id="49" name="Text 42"/>
          <p:cNvSpPr txBox="1"/>
          <p:nvPr/>
        </p:nvSpPr>
        <p:spPr>
          <a:xfrm>
            <a:off x="6684264" y="43891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50" name="Text 43"/>
          <p:cNvSpPr txBox="1"/>
          <p:nvPr/>
        </p:nvSpPr>
        <p:spPr>
          <a:xfrm>
            <a:off x="7141464" y="4361688"/>
            <a:ext cx="2947111"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추천 카드에서</a:t>
            </a:r>
            <a:endParaRPr lang="en-US" sz="1550" dirty="0"/>
          </a:p>
        </p:txBody>
      </p:sp>
      <p:sp>
        <p:nvSpPr>
          <p:cNvPr id="51" name="Text 44"/>
          <p:cNvSpPr txBox="1"/>
          <p:nvPr/>
        </p:nvSpPr>
        <p:spPr>
          <a:xfrm>
            <a:off x="7141464" y="4672584"/>
            <a:ext cx="2947111"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[MeAI 고객찾기에서 열기]</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추천 질문 → 전송(↑)</a:t>
            </a:r>
            <a:endParaRPr lang="en-US" sz="1250" dirty="0"/>
          </a:p>
        </p:txBody>
      </p:sp>
      <p:sp>
        <p:nvSpPr>
          <p:cNvPr id="52" name="Text 45"/>
          <p:cNvSpPr txBox="1"/>
          <p:nvPr/>
        </p:nvSpPr>
        <p:spPr>
          <a:xfrm>
            <a:off x="7141464" y="5157216"/>
            <a:ext cx="2947111"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질문이 채워진 채로 열려요</a:t>
            </a:r>
            <a:endParaRPr lang="en-US" sz="1150" dirty="0"/>
          </a:p>
        </p:txBody>
      </p:sp>
      <p:sp>
        <p:nvSpPr>
          <p:cNvPr id="53" name="Shape 46"/>
          <p:cNvSpPr/>
          <p:nvPr/>
        </p:nvSpPr>
        <p:spPr>
          <a:xfrm>
            <a:off x="548640" y="5532120"/>
            <a:ext cx="11094415" cy="658368"/>
          </a:xfrm>
          <a:prstGeom prst="roundRect">
            <a:avLst>
              <a:gd name="adj" fmla="val 19444"/>
            </a:avLst>
          </a:prstGeom>
          <a:solidFill>
            <a:srgbClr val="191F28"/>
          </a:solidFill>
          <a:ln w="12700">
            <a:solidFill>
              <a:srgbClr val="191F28"/>
            </a:solidFill>
            <a:prstDash val="solid"/>
          </a:ln>
        </p:spPr>
      </p:sp>
      <p:sp>
        <p:nvSpPr>
          <p:cNvPr id="54" name="Text 47"/>
          <p:cNvSpPr txBox="1"/>
          <p:nvPr/>
        </p:nvSpPr>
        <p:spPr>
          <a:xfrm>
            <a:off x="868680" y="5532120"/>
            <a:ext cx="10454335" cy="658368"/>
          </a:xfrm>
          <a:prstGeom prst="rect">
            <a:avLst/>
          </a:prstGeom>
          <a:noFill/>
          <a:ln/>
        </p:spPr>
        <p:txBody>
          <a:bodyPr wrap="square" lIns="0" tIns="0" rIns="0" bIns="0" rtlCol="0" anchor="ctr"/>
          <a:lstStyle/>
          <a:p>
            <a:pPr indent="0" marL="0">
              <a:buNone/>
            </a:pPr>
            <a:r>
              <a:rPr lang="en-US" sz="1800" b="1" dirty="0">
                <a:solidFill>
                  <a:srgbClr val="C9E2FF"/>
                </a:solidFill>
                <a:latin typeface="맑은 고딕" pitchFamily="34" charset="0"/>
                <a:ea typeface="맑은 고딕" pitchFamily="34" charset="-122"/>
                <a:cs typeface="맑은 고딕" pitchFamily="34" charset="-120"/>
              </a:rPr>
              <a:t>기억할 것   </a:t>
            </a:r>
            <a:pPr indent="0" marL="0">
              <a:buNone/>
            </a:pPr>
            <a:r>
              <a:rPr lang="en-US" sz="1800" b="1" dirty="0">
                <a:solidFill>
                  <a:srgbClr val="FFFFFF"/>
                </a:solidFill>
                <a:latin typeface="맑은 고딕" pitchFamily="34" charset="0"/>
                <a:ea typeface="맑은 고딕" pitchFamily="34" charset="-122"/>
                <a:cs typeface="맑은 고딕" pitchFamily="34" charset="-120"/>
              </a:rPr>
              <a:t>누르고 → 고르고 → 보내기. 클릭만으로 편하게 써요.</a:t>
            </a:r>
            <a:endParaRPr lang="en-US" sz="1800" dirty="0"/>
          </a:p>
        </p:txBody>
      </p:sp>
      <p:sp>
        <p:nvSpPr>
          <p:cNvPr id="55" name="Text 4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4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일반대화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일반대화는 무엇이든 물어보는 창이에요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고객을 정하지 않고 상품·약관·화법을 물어요</a:t>
            </a:r>
            <a:endParaRPr lang="en-US" sz="1700" dirty="0"/>
          </a:p>
        </p:txBody>
      </p:sp>
      <p:sp>
        <p:nvSpPr>
          <p:cNvPr id="13" name="Shape 11"/>
          <p:cNvSpPr/>
          <p:nvPr/>
        </p:nvSpPr>
        <p:spPr>
          <a:xfrm>
            <a:off x="548640" y="1938528"/>
            <a:ext cx="5760720" cy="4114800"/>
          </a:xfrm>
          <a:prstGeom prst="roundRect">
            <a:avLst>
              <a:gd name="adj" fmla="val 28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38528"/>
            <a:ext cx="5760720" cy="4114800"/>
          </a:xfrm>
          <a:prstGeom prst="rect">
            <a:avLst/>
          </a:prstGeom>
        </p:spPr>
      </p:pic>
      <p:sp>
        <p:nvSpPr>
          <p:cNvPr id="15" name="Shape 12"/>
          <p:cNvSpPr/>
          <p:nvPr/>
        </p:nvSpPr>
        <p:spPr>
          <a:xfrm>
            <a:off x="1197864" y="1975104"/>
            <a:ext cx="365760" cy="365760"/>
          </a:xfrm>
          <a:prstGeom prst="ellipse">
            <a:avLst/>
          </a:prstGeom>
          <a:solidFill>
            <a:srgbClr val="3182F6"/>
          </a:solidFill>
          <a:ln w="19050">
            <a:solidFill>
              <a:srgbClr val="FFFFFF"/>
            </a:solidFill>
            <a:prstDash val="solid"/>
          </a:ln>
        </p:spPr>
      </p:sp>
      <p:sp>
        <p:nvSpPr>
          <p:cNvPr id="16" name="Text 13"/>
          <p:cNvSpPr txBox="1"/>
          <p:nvPr/>
        </p:nvSpPr>
        <p:spPr>
          <a:xfrm>
            <a:off x="1197864" y="19751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1120140" y="2491740"/>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120140" y="24917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1120140" y="3058668"/>
            <a:ext cx="365760" cy="365760"/>
          </a:xfrm>
          <a:prstGeom prst="ellipse">
            <a:avLst/>
          </a:prstGeom>
          <a:solidFill>
            <a:srgbClr val="3182F6"/>
          </a:solidFill>
          <a:ln w="19050">
            <a:solidFill>
              <a:srgbClr val="FFFFFF"/>
            </a:solidFill>
            <a:prstDash val="solid"/>
          </a:ln>
        </p:spPr>
      </p:sp>
      <p:sp>
        <p:nvSpPr>
          <p:cNvPr id="20" name="Text 17"/>
          <p:cNvSpPr txBox="1"/>
          <p:nvPr/>
        </p:nvSpPr>
        <p:spPr>
          <a:xfrm>
            <a:off x="1120140" y="30586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2400300" y="3982212"/>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400300" y="39822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2400300" y="5303520"/>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400300" y="53035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1051560" y="5266944"/>
            <a:ext cx="365760" cy="365760"/>
          </a:xfrm>
          <a:prstGeom prst="ellipse">
            <a:avLst/>
          </a:prstGeom>
          <a:solidFill>
            <a:srgbClr val="3182F6"/>
          </a:solidFill>
          <a:ln w="19050">
            <a:solidFill>
              <a:srgbClr val="FFFFFF"/>
            </a:solidFill>
            <a:prstDash val="solid"/>
          </a:ln>
        </p:spPr>
      </p:sp>
      <p:sp>
        <p:nvSpPr>
          <p:cNvPr id="26" name="Text 23"/>
          <p:cNvSpPr txBox="1"/>
          <p:nvPr/>
        </p:nvSpPr>
        <p:spPr>
          <a:xfrm>
            <a:off x="1051560" y="5266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27" name="Shape 24"/>
          <p:cNvSpPr/>
          <p:nvPr/>
        </p:nvSpPr>
        <p:spPr>
          <a:xfrm>
            <a:off x="2761488" y="5088636"/>
            <a:ext cx="1892808" cy="123444"/>
          </a:xfrm>
          <a:prstGeom prst="roundRect">
            <a:avLst>
              <a:gd name="adj" fmla="val 29630"/>
            </a:avLst>
          </a:prstGeom>
          <a:ln w="22225">
            <a:solidFill>
              <a:srgbClr val="F04452"/>
            </a:solidFill>
            <a:prstDash val="solid"/>
          </a:ln>
        </p:spPr>
      </p:sp>
      <p:sp>
        <p:nvSpPr>
          <p:cNvPr id="28" name="Text 25"/>
          <p:cNvSpPr txBox="1"/>
          <p:nvPr/>
        </p:nvSpPr>
        <p:spPr>
          <a:xfrm>
            <a:off x="4681728" y="5061204"/>
            <a:ext cx="1600200" cy="182880"/>
          </a:xfrm>
          <a:prstGeom prst="rect">
            <a:avLst/>
          </a:prstGeom>
          <a:noFill/>
          <a:ln/>
        </p:spPr>
        <p:txBody>
          <a:bodyPr wrap="square" lIns="0" tIns="0" rIns="0" bIns="0" rtlCol="0" anchor="ctr"/>
          <a:lstStyle/>
          <a:p>
            <a:pPr indent="0" marL="0">
              <a:buNone/>
            </a:pPr>
            <a:r>
              <a:rPr lang="en-US" sz="1000" b="1" dirty="0">
                <a:solidFill>
                  <a:srgbClr val="F04452"/>
                </a:solidFill>
                <a:latin typeface="맑은 고딕" pitchFamily="34" charset="0"/>
                <a:ea typeface="맑은 고딕" pitchFamily="34" charset="-122"/>
                <a:cs typeface="맑은 고딕" pitchFamily="34" charset="-120"/>
              </a:rPr>
              <a:t>← 개인정보는 넣지 않아요</a:t>
            </a:r>
            <a:endParaRPr lang="en-US" sz="1000" dirty="0"/>
          </a:p>
        </p:txBody>
      </p:sp>
      <p:sp>
        <p:nvSpPr>
          <p:cNvPr id="29" name="Text 26"/>
          <p:cNvSpPr txBox="1"/>
          <p:nvPr/>
        </p:nvSpPr>
        <p:spPr>
          <a:xfrm>
            <a:off x="548640" y="6089904"/>
            <a:ext cx="5760720"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화면: 확정 화면 · MeAI 홈 [일반대화] 카드로 들어온 첫 화면</a:t>
            </a:r>
            <a:endParaRPr lang="en-US" sz="1100" dirty="0"/>
          </a:p>
        </p:txBody>
      </p:sp>
      <p:sp>
        <p:nvSpPr>
          <p:cNvPr id="30" name="Shape 27"/>
          <p:cNvSpPr/>
          <p:nvPr/>
        </p:nvSpPr>
        <p:spPr>
          <a:xfrm>
            <a:off x="6675120" y="1947672"/>
            <a:ext cx="329184" cy="329184"/>
          </a:xfrm>
          <a:prstGeom prst="ellipse">
            <a:avLst/>
          </a:prstGeom>
          <a:solidFill>
            <a:srgbClr val="3182F6"/>
          </a:solidFill>
          <a:ln w="19050">
            <a:solidFill>
              <a:srgbClr val="FFFFFF"/>
            </a:solidFill>
            <a:prstDash val="solid"/>
          </a:ln>
        </p:spPr>
      </p:sp>
      <p:sp>
        <p:nvSpPr>
          <p:cNvPr id="31" name="Text 28"/>
          <p:cNvSpPr txBox="1"/>
          <p:nvPr/>
        </p:nvSpPr>
        <p:spPr>
          <a:xfrm>
            <a:off x="667512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2" name="Text 29"/>
          <p:cNvSpPr txBox="1"/>
          <p:nvPr/>
        </p:nvSpPr>
        <p:spPr>
          <a:xfrm>
            <a:off x="7132320" y="193852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a:t>
            </a:r>
            <a:endParaRPr lang="en-US" sz="1550" dirty="0"/>
          </a:p>
        </p:txBody>
      </p:sp>
      <p:sp>
        <p:nvSpPr>
          <p:cNvPr id="33" name="Text 30"/>
          <p:cNvSpPr txBox="1"/>
          <p:nvPr/>
        </p:nvSpPr>
        <p:spPr>
          <a:xfrm>
            <a:off x="7132320" y="224028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홈으로 돌아가요</a:t>
            </a:r>
            <a:endParaRPr lang="en-US" sz="1200" dirty="0"/>
          </a:p>
        </p:txBody>
      </p:sp>
      <p:sp>
        <p:nvSpPr>
          <p:cNvPr id="34" name="Shape 31"/>
          <p:cNvSpPr/>
          <p:nvPr/>
        </p:nvSpPr>
        <p:spPr>
          <a:xfrm>
            <a:off x="6675120" y="2505456"/>
            <a:ext cx="329184" cy="329184"/>
          </a:xfrm>
          <a:prstGeom prst="ellipse">
            <a:avLst/>
          </a:prstGeom>
          <a:solidFill>
            <a:srgbClr val="3182F6"/>
          </a:solidFill>
          <a:ln w="19050">
            <a:solidFill>
              <a:srgbClr val="FFFFFF"/>
            </a:solidFill>
            <a:prstDash val="solid"/>
          </a:ln>
        </p:spPr>
      </p:sp>
      <p:sp>
        <p:nvSpPr>
          <p:cNvPr id="35" name="Text 32"/>
          <p:cNvSpPr txBox="1"/>
          <p:nvPr/>
        </p:nvSpPr>
        <p:spPr>
          <a:xfrm>
            <a:off x="6675120" y="25054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6" name="Text 33"/>
          <p:cNvSpPr txBox="1"/>
          <p:nvPr/>
        </p:nvSpPr>
        <p:spPr>
          <a:xfrm>
            <a:off x="7132320" y="2496312"/>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약관 검색 · 사용 가이드</a:t>
            </a:r>
            <a:endParaRPr lang="en-US" sz="1550" dirty="0"/>
          </a:p>
        </p:txBody>
      </p:sp>
      <p:sp>
        <p:nvSpPr>
          <p:cNvPr id="37" name="Text 34"/>
          <p:cNvSpPr txBox="1"/>
          <p:nvPr/>
        </p:nvSpPr>
        <p:spPr>
          <a:xfrm>
            <a:off x="7132320" y="2798064"/>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약관 원문 찾기 · 화면 사용법</a:t>
            </a:r>
            <a:endParaRPr lang="en-US" sz="1200" dirty="0"/>
          </a:p>
        </p:txBody>
      </p:sp>
      <p:sp>
        <p:nvSpPr>
          <p:cNvPr id="38" name="Shape 35"/>
          <p:cNvSpPr/>
          <p:nvPr/>
        </p:nvSpPr>
        <p:spPr>
          <a:xfrm>
            <a:off x="6675120" y="3063240"/>
            <a:ext cx="329184" cy="329184"/>
          </a:xfrm>
          <a:prstGeom prst="ellipse">
            <a:avLst/>
          </a:prstGeom>
          <a:solidFill>
            <a:srgbClr val="3182F6"/>
          </a:solidFill>
          <a:ln w="19050">
            <a:solidFill>
              <a:srgbClr val="FFFFFF"/>
            </a:solidFill>
            <a:prstDash val="solid"/>
          </a:ln>
        </p:spPr>
      </p:sp>
      <p:sp>
        <p:nvSpPr>
          <p:cNvPr id="39" name="Text 36"/>
          <p:cNvSpPr txBox="1"/>
          <p:nvPr/>
        </p:nvSpPr>
        <p:spPr>
          <a:xfrm>
            <a:off x="6675120" y="3063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0" name="Text 37"/>
          <p:cNvSpPr txBox="1"/>
          <p:nvPr/>
        </p:nvSpPr>
        <p:spPr>
          <a:xfrm>
            <a:off x="7132320" y="3054096"/>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대화 이력</a:t>
            </a:r>
            <a:endParaRPr lang="en-US" sz="1550" dirty="0"/>
          </a:p>
        </p:txBody>
      </p:sp>
      <p:sp>
        <p:nvSpPr>
          <p:cNvPr id="41" name="Text 38"/>
          <p:cNvSpPr txBox="1"/>
          <p:nvPr/>
        </p:nvSpPr>
        <p:spPr>
          <a:xfrm>
            <a:off x="7132320" y="3355848"/>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월별로 쌓여요 · 누르면 이어서 물어요</a:t>
            </a:r>
            <a:endParaRPr lang="en-US" sz="1200" dirty="0"/>
          </a:p>
        </p:txBody>
      </p:sp>
      <p:sp>
        <p:nvSpPr>
          <p:cNvPr id="42" name="Shape 39"/>
          <p:cNvSpPr/>
          <p:nvPr/>
        </p:nvSpPr>
        <p:spPr>
          <a:xfrm>
            <a:off x="6675120" y="3621024"/>
            <a:ext cx="329184" cy="329184"/>
          </a:xfrm>
          <a:prstGeom prst="ellipse">
            <a:avLst/>
          </a:prstGeom>
          <a:solidFill>
            <a:srgbClr val="3182F6"/>
          </a:solidFill>
          <a:ln w="19050">
            <a:solidFill>
              <a:srgbClr val="FFFFFF"/>
            </a:solidFill>
            <a:prstDash val="solid"/>
          </a:ln>
        </p:spPr>
      </p:sp>
      <p:sp>
        <p:nvSpPr>
          <p:cNvPr id="43" name="Text 40"/>
          <p:cNvSpPr txBox="1"/>
          <p:nvPr/>
        </p:nvSpPr>
        <p:spPr>
          <a:xfrm>
            <a:off x="6675120" y="36210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4" name="Text 41"/>
          <p:cNvSpPr txBox="1"/>
          <p:nvPr/>
        </p:nvSpPr>
        <p:spPr>
          <a:xfrm>
            <a:off x="7132320" y="3611880"/>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질문 예시 탭 3개</a:t>
            </a:r>
            <a:endParaRPr lang="en-US" sz="1550" dirty="0"/>
          </a:p>
        </p:txBody>
      </p:sp>
      <p:sp>
        <p:nvSpPr>
          <p:cNvPr id="45" name="Text 42"/>
          <p:cNvSpPr txBox="1"/>
          <p:nvPr/>
        </p:nvSpPr>
        <p:spPr>
          <a:xfrm>
            <a:off x="7132320" y="3913632"/>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비교 · 지식 검색 · 자주하는 질문 → 누르면 시작</a:t>
            </a:r>
            <a:endParaRPr lang="en-US" sz="1200" dirty="0"/>
          </a:p>
        </p:txBody>
      </p:sp>
      <p:sp>
        <p:nvSpPr>
          <p:cNvPr id="46" name="Shape 43"/>
          <p:cNvSpPr/>
          <p:nvPr/>
        </p:nvSpPr>
        <p:spPr>
          <a:xfrm>
            <a:off x="6675120" y="4178808"/>
            <a:ext cx="329184" cy="329184"/>
          </a:xfrm>
          <a:prstGeom prst="ellipse">
            <a:avLst/>
          </a:prstGeom>
          <a:solidFill>
            <a:srgbClr val="3182F6"/>
          </a:solidFill>
          <a:ln w="19050">
            <a:solidFill>
              <a:srgbClr val="FFFFFF"/>
            </a:solidFill>
            <a:prstDash val="solid"/>
          </a:ln>
        </p:spPr>
      </p:sp>
      <p:sp>
        <p:nvSpPr>
          <p:cNvPr id="47" name="Text 44"/>
          <p:cNvSpPr txBox="1"/>
          <p:nvPr/>
        </p:nvSpPr>
        <p:spPr>
          <a:xfrm>
            <a:off x="667512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8" name="Text 45"/>
          <p:cNvSpPr txBox="1"/>
          <p:nvPr/>
        </p:nvSpPr>
        <p:spPr>
          <a:xfrm>
            <a:off x="7132320" y="4169664"/>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9" name="Text 46"/>
          <p:cNvSpPr txBox="1"/>
          <p:nvPr/>
        </p:nvSpPr>
        <p:spPr>
          <a:xfrm>
            <a:off x="7132320" y="4471416"/>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말하듯 쓰고 전송(↑) · [상품 선택]으로 상품 고르기</a:t>
            </a:r>
            <a:endParaRPr lang="en-US" sz="1200" dirty="0"/>
          </a:p>
        </p:txBody>
      </p:sp>
      <p:sp>
        <p:nvSpPr>
          <p:cNvPr id="50" name="Shape 47"/>
          <p:cNvSpPr/>
          <p:nvPr/>
        </p:nvSpPr>
        <p:spPr>
          <a:xfrm>
            <a:off x="6675120" y="4736592"/>
            <a:ext cx="329184" cy="329184"/>
          </a:xfrm>
          <a:prstGeom prst="ellipse">
            <a:avLst/>
          </a:prstGeom>
          <a:solidFill>
            <a:srgbClr val="3182F6"/>
          </a:solidFill>
          <a:ln w="19050">
            <a:solidFill>
              <a:srgbClr val="FFFFFF"/>
            </a:solidFill>
            <a:prstDash val="solid"/>
          </a:ln>
        </p:spPr>
      </p:sp>
      <p:sp>
        <p:nvSpPr>
          <p:cNvPr id="51" name="Text 48"/>
          <p:cNvSpPr txBox="1"/>
          <p:nvPr/>
        </p:nvSpPr>
        <p:spPr>
          <a:xfrm>
            <a:off x="6675120" y="4736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52" name="Text 49"/>
          <p:cNvSpPr txBox="1"/>
          <p:nvPr/>
        </p:nvSpPr>
        <p:spPr>
          <a:xfrm>
            <a:off x="7132320" y="472744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[새로 대화하기]</a:t>
            </a:r>
            <a:endParaRPr lang="en-US" sz="1550" dirty="0"/>
          </a:p>
        </p:txBody>
      </p:sp>
      <p:sp>
        <p:nvSpPr>
          <p:cNvPr id="53" name="Text 50"/>
          <p:cNvSpPr txBox="1"/>
          <p:nvPr/>
        </p:nvSpPr>
        <p:spPr>
          <a:xfrm>
            <a:off x="7132320" y="502920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주제가 바뀌면 새로 열어요</a:t>
            </a:r>
            <a:endParaRPr lang="en-US" sz="1200" dirty="0"/>
          </a:p>
        </p:txBody>
      </p:sp>
      <p:sp>
        <p:nvSpPr>
          <p:cNvPr id="54" name="Shape 51"/>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5" name="Text 52"/>
          <p:cNvSpPr txBox="1"/>
          <p:nvPr/>
        </p:nvSpPr>
        <p:spPr>
          <a:xfrm>
            <a:off x="6858000" y="5431536"/>
            <a:ext cx="1117600" cy="310896"/>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6" name="Shape 53"/>
          <p:cNvSpPr/>
          <p:nvPr/>
        </p:nvSpPr>
        <p:spPr>
          <a:xfrm>
            <a:off x="7975600" y="5431536"/>
            <a:ext cx="1307719" cy="310896"/>
          </a:xfrm>
          <a:prstGeom prst="roundRect">
            <a:avLst>
              <a:gd name="adj" fmla="val 50000"/>
            </a:avLst>
          </a:prstGeom>
          <a:solidFill>
            <a:srgbClr val="FFFFFF"/>
          </a:solidFill>
          <a:ln w="9525">
            <a:solidFill>
              <a:srgbClr val="C9E2FF"/>
            </a:solidFill>
            <a:prstDash val="solid"/>
          </a:ln>
        </p:spPr>
      </p:sp>
      <p:sp>
        <p:nvSpPr>
          <p:cNvPr id="57" name="Text 54"/>
          <p:cNvSpPr txBox="1"/>
          <p:nvPr/>
        </p:nvSpPr>
        <p:spPr>
          <a:xfrm>
            <a:off x="7975600" y="5431536"/>
            <a:ext cx="1307719"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상품·특약 개념</a:t>
            </a:r>
            <a:endParaRPr lang="en-US" sz="1150" dirty="0"/>
          </a:p>
        </p:txBody>
      </p:sp>
      <p:sp>
        <p:nvSpPr>
          <p:cNvPr id="58" name="Shape 55"/>
          <p:cNvSpPr/>
          <p:nvPr/>
        </p:nvSpPr>
        <p:spPr>
          <a:xfrm>
            <a:off x="9374759" y="5431536"/>
            <a:ext cx="1643634" cy="310896"/>
          </a:xfrm>
          <a:prstGeom prst="roundRect">
            <a:avLst>
              <a:gd name="adj" fmla="val 50000"/>
            </a:avLst>
          </a:prstGeom>
          <a:solidFill>
            <a:srgbClr val="FFFFFF"/>
          </a:solidFill>
          <a:ln w="9525">
            <a:solidFill>
              <a:srgbClr val="C9E2FF"/>
            </a:solidFill>
            <a:prstDash val="solid"/>
          </a:ln>
        </p:spPr>
      </p:sp>
      <p:sp>
        <p:nvSpPr>
          <p:cNvPr id="59" name="Text 56"/>
          <p:cNvSpPr txBox="1"/>
          <p:nvPr/>
        </p:nvSpPr>
        <p:spPr>
          <a:xfrm>
            <a:off x="9374759" y="5431536"/>
            <a:ext cx="164363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자사·타사 보장 비교</a:t>
            </a:r>
            <a:endParaRPr lang="en-US" sz="1150" dirty="0"/>
          </a:p>
        </p:txBody>
      </p:sp>
      <p:sp>
        <p:nvSpPr>
          <p:cNvPr id="60" name="Shape 57"/>
          <p:cNvSpPr/>
          <p:nvPr/>
        </p:nvSpPr>
        <p:spPr>
          <a:xfrm>
            <a:off x="7975600" y="5815584"/>
            <a:ext cx="1293114" cy="310896"/>
          </a:xfrm>
          <a:prstGeom prst="roundRect">
            <a:avLst>
              <a:gd name="adj" fmla="val 50000"/>
            </a:avLst>
          </a:prstGeom>
          <a:solidFill>
            <a:srgbClr val="FFFFFF"/>
          </a:solidFill>
          <a:ln w="9525">
            <a:solidFill>
              <a:srgbClr val="C9E2FF"/>
            </a:solidFill>
            <a:prstDash val="solid"/>
          </a:ln>
        </p:spPr>
      </p:sp>
      <p:sp>
        <p:nvSpPr>
          <p:cNvPr id="61" name="Text 58"/>
          <p:cNvSpPr txBox="1"/>
          <p:nvPr/>
        </p:nvSpPr>
        <p:spPr>
          <a:xfrm>
            <a:off x="7975600" y="5815584"/>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고객 설득 화법</a:t>
            </a:r>
            <a:endParaRPr lang="en-US" sz="1150" dirty="0"/>
          </a:p>
        </p:txBody>
      </p:sp>
      <p:sp>
        <p:nvSpPr>
          <p:cNvPr id="62" name="Shape 59"/>
          <p:cNvSpPr/>
          <p:nvPr/>
        </p:nvSpPr>
        <p:spPr>
          <a:xfrm>
            <a:off x="9360154" y="5815584"/>
            <a:ext cx="1293114" cy="310896"/>
          </a:xfrm>
          <a:prstGeom prst="roundRect">
            <a:avLst>
              <a:gd name="adj" fmla="val 50000"/>
            </a:avLst>
          </a:prstGeom>
          <a:solidFill>
            <a:srgbClr val="FFFFFF"/>
          </a:solidFill>
          <a:ln w="9525">
            <a:solidFill>
              <a:srgbClr val="C9E2FF"/>
            </a:solidFill>
            <a:prstDash val="solid"/>
          </a:ln>
        </p:spPr>
      </p:sp>
      <p:sp>
        <p:nvSpPr>
          <p:cNvPr id="63" name="Text 60"/>
          <p:cNvSpPr txBox="1"/>
          <p:nvPr/>
        </p:nvSpPr>
        <p:spPr>
          <a:xfrm>
            <a:off x="9360154" y="5815584"/>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약관 지식 확인</a:t>
            </a:r>
            <a:endParaRPr lang="en-US" sz="1150" dirty="0"/>
          </a:p>
        </p:txBody>
      </p:sp>
      <p:sp>
        <p:nvSpPr>
          <p:cNvPr id="64" name="Text 6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맞춤대화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맞춤대화는 고객 한 명을 위한 창이에요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그 고객의 보장 내역을 읽고 답해요 · 그래서 동의가 먼저예요</a:t>
            </a:r>
            <a:endParaRPr lang="en-US" sz="1700" dirty="0"/>
          </a:p>
        </p:txBody>
      </p:sp>
      <p:sp>
        <p:nvSpPr>
          <p:cNvPr id="13" name="Shape 11"/>
          <p:cNvSpPr/>
          <p:nvPr/>
        </p:nvSpPr>
        <p:spPr>
          <a:xfrm>
            <a:off x="548640" y="1956816"/>
            <a:ext cx="5760720" cy="360045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56816"/>
            <a:ext cx="5760720" cy="3600450"/>
          </a:xfrm>
          <a:prstGeom prst="rect">
            <a:avLst/>
          </a:prstGeom>
        </p:spPr>
      </p:pic>
      <p:sp>
        <p:nvSpPr>
          <p:cNvPr id="15" name="Shape 12"/>
          <p:cNvSpPr/>
          <p:nvPr/>
        </p:nvSpPr>
        <p:spPr>
          <a:xfrm>
            <a:off x="4749165" y="1992821"/>
            <a:ext cx="1504188" cy="152019"/>
          </a:xfrm>
          <a:prstGeom prst="roundRect">
            <a:avLst>
              <a:gd name="adj" fmla="val 30075"/>
            </a:avLst>
          </a:prstGeom>
          <a:ln w="22225">
            <a:solidFill>
              <a:srgbClr val="3182F6"/>
            </a:solidFill>
            <a:prstDash val="solid"/>
          </a:ln>
        </p:spPr>
      </p:sp>
      <p:sp>
        <p:nvSpPr>
          <p:cNvPr id="16" name="Shape 13"/>
          <p:cNvSpPr/>
          <p:nvPr/>
        </p:nvSpPr>
        <p:spPr>
          <a:xfrm>
            <a:off x="2492883" y="4845177"/>
            <a:ext cx="508063" cy="172022"/>
          </a:xfrm>
          <a:prstGeom prst="roundRect">
            <a:avLst>
              <a:gd name="adj" fmla="val 21262"/>
            </a:avLst>
          </a:prstGeom>
          <a:ln w="22225">
            <a:solidFill>
              <a:srgbClr val="F04452"/>
            </a:solidFill>
            <a:prstDash val="solid"/>
          </a:ln>
        </p:spPr>
      </p:sp>
      <p:sp>
        <p:nvSpPr>
          <p:cNvPr id="17" name="Shape 14"/>
          <p:cNvSpPr/>
          <p:nvPr/>
        </p:nvSpPr>
        <p:spPr>
          <a:xfrm>
            <a:off x="1265873" y="2334006"/>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265873" y="233400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4378261" y="1885950"/>
            <a:ext cx="365760" cy="365760"/>
          </a:xfrm>
          <a:prstGeom prst="ellipse">
            <a:avLst/>
          </a:prstGeom>
          <a:solidFill>
            <a:srgbClr val="3182F6"/>
          </a:solidFill>
          <a:ln w="19050">
            <a:solidFill>
              <a:srgbClr val="FFFFFF"/>
            </a:solidFill>
            <a:prstDash val="solid"/>
          </a:ln>
        </p:spPr>
      </p:sp>
      <p:sp>
        <p:nvSpPr>
          <p:cNvPr id="20" name="Text 17"/>
          <p:cNvSpPr txBox="1"/>
          <p:nvPr/>
        </p:nvSpPr>
        <p:spPr>
          <a:xfrm>
            <a:off x="4378261" y="188595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2125980" y="2286000"/>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125980" y="2286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3" name="Shape 20"/>
          <p:cNvSpPr/>
          <p:nvPr/>
        </p:nvSpPr>
        <p:spPr>
          <a:xfrm>
            <a:off x="2109978" y="4742307"/>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109978" y="4742307"/>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5" name="Shape 22"/>
          <p:cNvSpPr/>
          <p:nvPr/>
        </p:nvSpPr>
        <p:spPr>
          <a:xfrm>
            <a:off x="5566410" y="4966335"/>
            <a:ext cx="365760" cy="365760"/>
          </a:xfrm>
          <a:prstGeom prst="ellipse">
            <a:avLst/>
          </a:prstGeom>
          <a:solidFill>
            <a:srgbClr val="3182F6"/>
          </a:solidFill>
          <a:ln w="19050">
            <a:solidFill>
              <a:srgbClr val="FFFFFF"/>
            </a:solidFill>
            <a:prstDash val="solid"/>
          </a:ln>
        </p:spPr>
      </p:sp>
      <p:sp>
        <p:nvSpPr>
          <p:cNvPr id="26" name="Text 23"/>
          <p:cNvSpPr txBox="1"/>
          <p:nvPr/>
        </p:nvSpPr>
        <p:spPr>
          <a:xfrm>
            <a:off x="5566410" y="4966335"/>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7" name="Shape 24"/>
          <p:cNvSpPr/>
          <p:nvPr/>
        </p:nvSpPr>
        <p:spPr>
          <a:xfrm>
            <a:off x="548640" y="5648706"/>
            <a:ext cx="5760720" cy="402336"/>
          </a:xfrm>
          <a:prstGeom prst="roundRect">
            <a:avLst>
              <a:gd name="adj" fmla="val 27273"/>
            </a:avLst>
          </a:prstGeom>
          <a:solidFill>
            <a:srgbClr val="F9FAFB"/>
          </a:solidFill>
          <a:ln w="9525">
            <a:solidFill>
              <a:srgbClr val="E5E8EB"/>
            </a:solidFill>
            <a:prstDash val="solid"/>
          </a:ln>
        </p:spPr>
      </p:sp>
      <p:sp>
        <p:nvSpPr>
          <p:cNvPr id="28" name="Text 25"/>
          <p:cNvSpPr txBox="1"/>
          <p:nvPr/>
        </p:nvSpPr>
        <p:spPr>
          <a:xfrm>
            <a:off x="749808" y="5648706"/>
            <a:ext cx="5394960" cy="40233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버튼으로 들어가면   </a:t>
            </a:r>
            <a:pPr indent="0" marL="0">
              <a:buNone/>
            </a:pPr>
            <a:r>
              <a:rPr lang="en-US" sz="1300" b="1" dirty="0">
                <a:solidFill>
                  <a:srgbClr val="191F28"/>
                </a:solidFill>
                <a:latin typeface="맑은 고딕" pitchFamily="34" charset="0"/>
                <a:ea typeface="맑은 고딕" pitchFamily="34" charset="-122"/>
                <a:cs typeface="맑은 고딕" pitchFamily="34" charset="-120"/>
              </a:rPr>
              <a:t>고객 정보 칸(아는 것만) → 계약 확인 → [보장분석 해줘]</a:t>
            </a:r>
            <a:endParaRPr lang="en-US" sz="1300" dirty="0"/>
          </a:p>
        </p:txBody>
      </p:sp>
      <p:sp>
        <p:nvSpPr>
          <p:cNvPr id="29" name="Shape 26"/>
          <p:cNvSpPr/>
          <p:nvPr/>
        </p:nvSpPr>
        <p:spPr>
          <a:xfrm>
            <a:off x="6675120" y="1947672"/>
            <a:ext cx="329184" cy="329184"/>
          </a:xfrm>
          <a:prstGeom prst="ellipse">
            <a:avLst/>
          </a:prstGeom>
          <a:solidFill>
            <a:srgbClr val="3182F6"/>
          </a:solidFill>
          <a:ln w="19050">
            <a:solidFill>
              <a:srgbClr val="FFFFFF"/>
            </a:solidFill>
            <a:prstDash val="solid"/>
          </a:ln>
        </p:spPr>
      </p:sp>
      <p:sp>
        <p:nvSpPr>
          <p:cNvPr id="30" name="Text 27"/>
          <p:cNvSpPr txBox="1"/>
          <p:nvPr/>
        </p:nvSpPr>
        <p:spPr>
          <a:xfrm>
            <a:off x="667512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1" name="Text 28"/>
          <p:cNvSpPr txBox="1"/>
          <p:nvPr/>
        </p:nvSpPr>
        <p:spPr>
          <a:xfrm>
            <a:off x="7132320" y="193852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담당 고객</a:t>
            </a:r>
            <a:endParaRPr lang="en-US" sz="1550" dirty="0"/>
          </a:p>
        </p:txBody>
      </p:sp>
      <p:sp>
        <p:nvSpPr>
          <p:cNvPr id="32" name="Text 29"/>
          <p:cNvSpPr txBox="1"/>
          <p:nvPr/>
        </p:nvSpPr>
        <p:spPr>
          <a:xfrm>
            <a:off x="7132320" y="224028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이름 · 사전조회 동의 남은 날(화면엔 ‘보장분석 동의’)</a:t>
            </a:r>
            <a:endParaRPr lang="en-US" sz="1200" dirty="0"/>
          </a:p>
        </p:txBody>
      </p:sp>
      <p:sp>
        <p:nvSpPr>
          <p:cNvPr id="33" name="Shape 30"/>
          <p:cNvSpPr/>
          <p:nvPr/>
        </p:nvSpPr>
        <p:spPr>
          <a:xfrm>
            <a:off x="6675120" y="2532888"/>
            <a:ext cx="329184" cy="329184"/>
          </a:xfrm>
          <a:prstGeom prst="ellipse">
            <a:avLst/>
          </a:prstGeom>
          <a:solidFill>
            <a:srgbClr val="3182F6"/>
          </a:solidFill>
          <a:ln w="19050">
            <a:solidFill>
              <a:srgbClr val="FFFFFF"/>
            </a:solidFill>
            <a:prstDash val="solid"/>
          </a:ln>
        </p:spPr>
      </p:sp>
      <p:sp>
        <p:nvSpPr>
          <p:cNvPr id="34" name="Text 31"/>
          <p:cNvSpPr txBox="1"/>
          <p:nvPr/>
        </p:nvSpPr>
        <p:spPr>
          <a:xfrm>
            <a:off x="6675120" y="25328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5" name="Text 32"/>
          <p:cNvSpPr txBox="1"/>
          <p:nvPr/>
        </p:nvSpPr>
        <p:spPr>
          <a:xfrm>
            <a:off x="7132320" y="2523744"/>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위 버튼 3개</a:t>
            </a:r>
            <a:endParaRPr lang="en-US" sz="1550" dirty="0"/>
          </a:p>
        </p:txBody>
      </p:sp>
      <p:sp>
        <p:nvSpPr>
          <p:cNvPr id="36" name="Text 33"/>
          <p:cNvSpPr txBox="1"/>
          <p:nvPr/>
        </p:nvSpPr>
        <p:spPr>
          <a:xfrm>
            <a:off x="7132320" y="2825496"/>
            <a:ext cx="4510735" cy="438912"/>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분석] · [사용중인 정보 수정]</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 = 답이 온 뒤 켜져요 · 좋았던 답을 고객에게</a:t>
            </a:r>
            <a:endParaRPr lang="en-US" sz="1200" dirty="0"/>
          </a:p>
        </p:txBody>
      </p:sp>
      <p:sp>
        <p:nvSpPr>
          <p:cNvPr id="37" name="Shape 34"/>
          <p:cNvSpPr/>
          <p:nvPr/>
        </p:nvSpPr>
        <p:spPr>
          <a:xfrm>
            <a:off x="6675120" y="3328416"/>
            <a:ext cx="329184" cy="329184"/>
          </a:xfrm>
          <a:prstGeom prst="ellipse">
            <a:avLst/>
          </a:prstGeom>
          <a:solidFill>
            <a:srgbClr val="3182F6"/>
          </a:solidFill>
          <a:ln w="19050">
            <a:solidFill>
              <a:srgbClr val="FFFFFF"/>
            </a:solidFill>
            <a:prstDash val="solid"/>
          </a:ln>
        </p:spPr>
      </p:sp>
      <p:sp>
        <p:nvSpPr>
          <p:cNvPr id="38" name="Text 35"/>
          <p:cNvSpPr txBox="1"/>
          <p:nvPr/>
        </p:nvSpPr>
        <p:spPr>
          <a:xfrm>
            <a:off x="6675120" y="3328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9" name="Text 36"/>
          <p:cNvSpPr txBox="1"/>
          <p:nvPr/>
        </p:nvSpPr>
        <p:spPr>
          <a:xfrm>
            <a:off x="7132320" y="3319272"/>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선택된 정상 계약 리스트</a:t>
            </a:r>
            <a:endParaRPr lang="en-US" sz="1550" dirty="0"/>
          </a:p>
        </p:txBody>
      </p:sp>
      <p:sp>
        <p:nvSpPr>
          <p:cNvPr id="40" name="Text 37"/>
          <p:cNvSpPr txBox="1"/>
          <p:nvPr/>
        </p:nvSpPr>
        <p:spPr>
          <a:xfrm>
            <a:off x="7132320" y="3621024"/>
            <a:ext cx="4510735" cy="438912"/>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이번 대화에서 MeAI가 읽는 계약</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점 색 = 약관DB 준비 상태</a:t>
            </a:r>
            <a:endParaRPr lang="en-US" sz="1200" dirty="0"/>
          </a:p>
        </p:txBody>
      </p:sp>
      <p:sp>
        <p:nvSpPr>
          <p:cNvPr id="41" name="Shape 38"/>
          <p:cNvSpPr/>
          <p:nvPr/>
        </p:nvSpPr>
        <p:spPr>
          <a:xfrm>
            <a:off x="6675120" y="4123944"/>
            <a:ext cx="329184" cy="329184"/>
          </a:xfrm>
          <a:prstGeom prst="ellipse">
            <a:avLst/>
          </a:prstGeom>
          <a:solidFill>
            <a:srgbClr val="3182F6"/>
          </a:solidFill>
          <a:ln w="19050">
            <a:solidFill>
              <a:srgbClr val="FFFFFF"/>
            </a:solidFill>
            <a:prstDash val="solid"/>
          </a:ln>
        </p:spPr>
      </p:sp>
      <p:sp>
        <p:nvSpPr>
          <p:cNvPr id="42" name="Text 39"/>
          <p:cNvSpPr txBox="1"/>
          <p:nvPr/>
        </p:nvSpPr>
        <p:spPr>
          <a:xfrm>
            <a:off x="6675120" y="41239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3" name="Text 40"/>
          <p:cNvSpPr txBox="1"/>
          <p:nvPr/>
        </p:nvSpPr>
        <p:spPr>
          <a:xfrm>
            <a:off x="7132320" y="4114800"/>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질문 예시 [보장분석 해줘]</a:t>
            </a:r>
            <a:endParaRPr lang="en-US" sz="1550" dirty="0"/>
          </a:p>
        </p:txBody>
      </p:sp>
      <p:sp>
        <p:nvSpPr>
          <p:cNvPr id="44" name="Text 41"/>
          <p:cNvSpPr txBox="1"/>
          <p:nvPr/>
        </p:nvSpPr>
        <p:spPr>
          <a:xfrm>
            <a:off x="7132320" y="4416552"/>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바로 시작돼요</a:t>
            </a:r>
            <a:endParaRPr lang="en-US" sz="1200" dirty="0"/>
          </a:p>
        </p:txBody>
      </p:sp>
      <p:sp>
        <p:nvSpPr>
          <p:cNvPr id="45" name="Shape 42"/>
          <p:cNvSpPr/>
          <p:nvPr/>
        </p:nvSpPr>
        <p:spPr>
          <a:xfrm>
            <a:off x="6675120" y="4709160"/>
            <a:ext cx="329184" cy="329184"/>
          </a:xfrm>
          <a:prstGeom prst="ellipse">
            <a:avLst/>
          </a:prstGeom>
          <a:solidFill>
            <a:srgbClr val="3182F6"/>
          </a:solidFill>
          <a:ln w="19050">
            <a:solidFill>
              <a:srgbClr val="FFFFFF"/>
            </a:solidFill>
            <a:prstDash val="solid"/>
          </a:ln>
        </p:spPr>
      </p:sp>
      <p:sp>
        <p:nvSpPr>
          <p:cNvPr id="46" name="Text 43"/>
          <p:cNvSpPr txBox="1"/>
          <p:nvPr/>
        </p:nvSpPr>
        <p:spPr>
          <a:xfrm>
            <a:off x="6675120" y="4709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7" name="Text 44"/>
          <p:cNvSpPr txBox="1"/>
          <p:nvPr/>
        </p:nvSpPr>
        <p:spPr>
          <a:xfrm>
            <a:off x="7132320" y="4700016"/>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8" name="Text 45"/>
          <p:cNvSpPr txBox="1"/>
          <p:nvPr/>
        </p:nvSpPr>
        <p:spPr>
          <a:xfrm>
            <a:off x="7132320" y="5001768"/>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추천 질문으로 오면 채워져 있어요 · 전송(↑)만</a:t>
            </a:r>
            <a:endParaRPr lang="en-US" sz="1200" dirty="0"/>
          </a:p>
        </p:txBody>
      </p:sp>
      <p:sp>
        <p:nvSpPr>
          <p:cNvPr id="49" name="Shape 46"/>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0" name="Text 47"/>
          <p:cNvSpPr txBox="1"/>
          <p:nvPr/>
        </p:nvSpPr>
        <p:spPr>
          <a:xfrm>
            <a:off x="6858000" y="5431536"/>
            <a:ext cx="1117600" cy="310896"/>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1" name="Shape 48"/>
          <p:cNvSpPr/>
          <p:nvPr/>
        </p:nvSpPr>
        <p:spPr>
          <a:xfrm>
            <a:off x="7975600" y="5431536"/>
            <a:ext cx="913384" cy="310896"/>
          </a:xfrm>
          <a:prstGeom prst="roundRect">
            <a:avLst>
              <a:gd name="adj" fmla="val 50000"/>
            </a:avLst>
          </a:prstGeom>
          <a:solidFill>
            <a:srgbClr val="FFFFFF"/>
          </a:solidFill>
          <a:ln w="9525">
            <a:solidFill>
              <a:srgbClr val="C9E2FF"/>
            </a:solidFill>
            <a:prstDash val="solid"/>
          </a:ln>
        </p:spPr>
      </p:sp>
      <p:sp>
        <p:nvSpPr>
          <p:cNvPr id="52" name="Text 49"/>
          <p:cNvSpPr txBox="1"/>
          <p:nvPr/>
        </p:nvSpPr>
        <p:spPr>
          <a:xfrm>
            <a:off x="7975600" y="5431536"/>
            <a:ext cx="91338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보장분석</a:t>
            </a:r>
            <a:endParaRPr lang="en-US" sz="1150" dirty="0"/>
          </a:p>
        </p:txBody>
      </p:sp>
      <p:sp>
        <p:nvSpPr>
          <p:cNvPr id="53" name="Shape 50"/>
          <p:cNvSpPr/>
          <p:nvPr/>
        </p:nvSpPr>
        <p:spPr>
          <a:xfrm>
            <a:off x="8980424" y="5431536"/>
            <a:ext cx="1293114" cy="310896"/>
          </a:xfrm>
          <a:prstGeom prst="roundRect">
            <a:avLst>
              <a:gd name="adj" fmla="val 50000"/>
            </a:avLst>
          </a:prstGeom>
          <a:solidFill>
            <a:srgbClr val="FFFFFF"/>
          </a:solidFill>
          <a:ln w="9525">
            <a:solidFill>
              <a:srgbClr val="C9E2FF"/>
            </a:solidFill>
            <a:prstDash val="solid"/>
          </a:ln>
        </p:spPr>
      </p:sp>
      <p:sp>
        <p:nvSpPr>
          <p:cNvPr id="54" name="Text 51"/>
          <p:cNvSpPr txBox="1"/>
          <p:nvPr/>
        </p:nvSpPr>
        <p:spPr>
          <a:xfrm>
            <a:off x="8980424" y="5431536"/>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부족 보장 제안</a:t>
            </a:r>
            <a:endParaRPr lang="en-US" sz="1150" dirty="0"/>
          </a:p>
        </p:txBody>
      </p:sp>
      <p:sp>
        <p:nvSpPr>
          <p:cNvPr id="55" name="Shape 52"/>
          <p:cNvSpPr/>
          <p:nvPr/>
        </p:nvSpPr>
        <p:spPr>
          <a:xfrm>
            <a:off x="7975600" y="5815584"/>
            <a:ext cx="1558925" cy="310896"/>
          </a:xfrm>
          <a:prstGeom prst="roundRect">
            <a:avLst>
              <a:gd name="adj" fmla="val 50000"/>
            </a:avLst>
          </a:prstGeom>
          <a:solidFill>
            <a:srgbClr val="FFFFFF"/>
          </a:solidFill>
          <a:ln w="9525">
            <a:solidFill>
              <a:srgbClr val="C9E2FF"/>
            </a:solidFill>
            <a:prstDash val="solid"/>
          </a:ln>
        </p:spPr>
      </p:sp>
      <p:sp>
        <p:nvSpPr>
          <p:cNvPr id="56" name="Text 53"/>
          <p:cNvSpPr txBox="1"/>
          <p:nvPr/>
        </p:nvSpPr>
        <p:spPr>
          <a:xfrm>
            <a:off x="7975600" y="5815584"/>
            <a:ext cx="1558925"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요약 리포트 → 카톡</a:t>
            </a:r>
            <a:endParaRPr lang="en-US" sz="1150" dirty="0"/>
          </a:p>
        </p:txBody>
      </p:sp>
      <p:sp>
        <p:nvSpPr>
          <p:cNvPr id="57" name="Text 54"/>
          <p:cNvSpPr txBox="1"/>
          <p:nvPr/>
        </p:nvSpPr>
        <p:spPr>
          <a:xfrm>
            <a:off x="548640" y="6087618"/>
            <a:ext cx="5760720" cy="237744"/>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화면: 확정 화면 · 고객찾기 추천 질문으로 들어온 예시 고객 · 이름·날짜·금액은 예시</a:t>
            </a:r>
            <a:endParaRPr lang="en-US" sz="1050" dirty="0"/>
          </a:p>
        </p:txBody>
      </p:sp>
      <p:sp>
        <p:nvSpPr>
          <p:cNvPr id="58" name="Text 55"/>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9" name="Text 5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질문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질문은 만드는 게 아니라 고르는 거예요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화면 안에 질문 창구가 네 곳 있어요. 누르기만 하면 돼요.</a:t>
            </a:r>
            <a:endParaRPr lang="en-US" sz="1700" dirty="0"/>
          </a:p>
        </p:txBody>
      </p:sp>
      <p:sp>
        <p:nvSpPr>
          <p:cNvPr id="13" name="Shape 11"/>
          <p:cNvSpPr/>
          <p:nvPr/>
        </p:nvSpPr>
        <p:spPr>
          <a:xfrm>
            <a:off x="548640" y="1874520"/>
            <a:ext cx="2609012" cy="3401568"/>
          </a:xfrm>
          <a:prstGeom prst="roundRect">
            <a:avLst>
              <a:gd name="adj" fmla="val 5608"/>
            </a:avLst>
          </a:prstGeom>
          <a:solidFill>
            <a:srgbClr val="F9FAFB"/>
          </a:solidFill>
          <a:ln w="12700">
            <a:solidFill>
              <a:srgbClr val="F9FAFB"/>
            </a:solidFill>
            <a:prstDash val="solid"/>
          </a:ln>
        </p:spPr>
      </p:sp>
      <p:sp>
        <p:nvSpPr>
          <p:cNvPr id="14" name="Text 12"/>
          <p:cNvSpPr txBox="1"/>
          <p:nvPr/>
        </p:nvSpPr>
        <p:spPr>
          <a:xfrm>
            <a:off x="731520"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① 시작할 때</a:t>
            </a:r>
            <a:endParaRPr lang="en-US" sz="1700" dirty="0"/>
          </a:p>
        </p:txBody>
      </p:sp>
      <p:sp>
        <p:nvSpPr>
          <p:cNvPr id="15" name="Shape 13"/>
          <p:cNvSpPr/>
          <p:nvPr/>
        </p:nvSpPr>
        <p:spPr>
          <a:xfrm>
            <a:off x="731520" y="2304288"/>
            <a:ext cx="1183640" cy="274320"/>
          </a:xfrm>
          <a:prstGeom prst="roundRect">
            <a:avLst>
              <a:gd name="adj" fmla="val 50000"/>
            </a:avLst>
          </a:prstGeom>
          <a:solidFill>
            <a:srgbClr val="E8F3FF"/>
          </a:solidFill>
          <a:ln w="12700">
            <a:solidFill>
              <a:srgbClr val="E8F3FF"/>
            </a:solidFill>
            <a:prstDash val="solid"/>
          </a:ln>
        </p:spPr>
      </p:sp>
      <p:sp>
        <p:nvSpPr>
          <p:cNvPr id="16" name="Text 14"/>
          <p:cNvSpPr txBox="1"/>
          <p:nvPr/>
        </p:nvSpPr>
        <p:spPr>
          <a:xfrm>
            <a:off x="731520" y="2304288"/>
            <a:ext cx="1183640"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질문 예시 탭</a:t>
            </a:r>
            <a:endParaRPr lang="en-US" sz="1150" dirty="0"/>
          </a:p>
        </p:txBody>
      </p:sp>
      <p:pic>
        <p:nvPicPr>
          <p:cNvPr id="17" name="Image 0" descr="MeAI 화면 캡처">    </p:cNvPr>
          <p:cNvPicPr>
            <a:picLocks noChangeAspect="1"/>
          </p:cNvPicPr>
          <p:nvPr/>
        </p:nvPicPr>
        <p:blipFill>
          <a:blip r:embed="rId1"/>
          <a:stretch>
            <a:fillRect/>
          </a:stretch>
        </p:blipFill>
        <p:spPr>
          <a:xfrm>
            <a:off x="685800" y="2745785"/>
            <a:ext cx="2334692" cy="1732191"/>
          </a:xfrm>
          <a:prstGeom prst="rect">
            <a:avLst/>
          </a:prstGeom>
        </p:spPr>
      </p:pic>
      <p:sp>
        <p:nvSpPr>
          <p:cNvPr id="18" name="Shape 15"/>
          <p:cNvSpPr/>
          <p:nvPr/>
        </p:nvSpPr>
        <p:spPr>
          <a:xfrm>
            <a:off x="620727" y="3471495"/>
            <a:ext cx="310896" cy="310896"/>
          </a:xfrm>
          <a:prstGeom prst="ellipse">
            <a:avLst/>
          </a:prstGeom>
          <a:solidFill>
            <a:srgbClr val="F04452"/>
          </a:solidFill>
          <a:ln w="19050">
            <a:solidFill>
              <a:srgbClr val="FFFFFF"/>
            </a:solidFill>
            <a:prstDash val="solid"/>
          </a:ln>
        </p:spPr>
      </p:sp>
      <p:sp>
        <p:nvSpPr>
          <p:cNvPr id="19" name="Text 16"/>
          <p:cNvSpPr txBox="1"/>
          <p:nvPr/>
        </p:nvSpPr>
        <p:spPr>
          <a:xfrm>
            <a:off x="620727" y="3471495"/>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0" name="Text 17"/>
          <p:cNvSpPr txBox="1"/>
          <p:nvPr/>
        </p:nvSpPr>
        <p:spPr>
          <a:xfrm>
            <a:off x="731520"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담보 차이 · 용어 뜻 · 많이 물은 질문</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예시를 누르면 바로 대화가 시작돼요</a:t>
            </a:r>
            <a:endParaRPr lang="en-US" sz="1250" dirty="0"/>
          </a:p>
        </p:txBody>
      </p:sp>
      <p:sp>
        <p:nvSpPr>
          <p:cNvPr id="21" name="Shape 18"/>
          <p:cNvSpPr/>
          <p:nvPr/>
        </p:nvSpPr>
        <p:spPr>
          <a:xfrm>
            <a:off x="3377108" y="1874520"/>
            <a:ext cx="2609012" cy="3401568"/>
          </a:xfrm>
          <a:prstGeom prst="roundRect">
            <a:avLst>
              <a:gd name="adj" fmla="val 5608"/>
            </a:avLst>
          </a:prstGeom>
          <a:solidFill>
            <a:srgbClr val="F9FAFB"/>
          </a:solidFill>
          <a:ln w="12700">
            <a:solidFill>
              <a:srgbClr val="F9FAFB"/>
            </a:solidFill>
            <a:prstDash val="solid"/>
          </a:ln>
        </p:spPr>
      </p:sp>
      <p:sp>
        <p:nvSpPr>
          <p:cNvPr id="22" name="Text 19"/>
          <p:cNvSpPr txBox="1"/>
          <p:nvPr/>
        </p:nvSpPr>
        <p:spPr>
          <a:xfrm>
            <a:off x="3559988"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② 고객이 정해졌을 때</a:t>
            </a:r>
            <a:endParaRPr lang="en-US" sz="1700" dirty="0"/>
          </a:p>
        </p:txBody>
      </p:sp>
      <p:sp>
        <p:nvSpPr>
          <p:cNvPr id="23" name="Shape 20"/>
          <p:cNvSpPr/>
          <p:nvPr/>
        </p:nvSpPr>
        <p:spPr>
          <a:xfrm>
            <a:off x="3559988" y="2304288"/>
            <a:ext cx="2115439" cy="274320"/>
          </a:xfrm>
          <a:prstGeom prst="roundRect">
            <a:avLst>
              <a:gd name="adj" fmla="val 50000"/>
            </a:avLst>
          </a:prstGeom>
          <a:solidFill>
            <a:srgbClr val="E8F3FF"/>
          </a:solidFill>
          <a:ln w="12700">
            <a:solidFill>
              <a:srgbClr val="E8F3FF"/>
            </a:solidFill>
            <a:prstDash val="solid"/>
          </a:ln>
        </p:spPr>
      </p:sp>
      <p:sp>
        <p:nvSpPr>
          <p:cNvPr id="24" name="Text 21"/>
          <p:cNvSpPr txBox="1"/>
          <p:nvPr/>
        </p:nvSpPr>
        <p:spPr>
          <a:xfrm>
            <a:off x="3559988" y="2304288"/>
            <a:ext cx="2115439"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MeAI에 이렇게 물어보세요</a:t>
            </a:r>
            <a:endParaRPr lang="en-US" sz="1150" dirty="0"/>
          </a:p>
        </p:txBody>
      </p:sp>
      <p:pic>
        <p:nvPicPr>
          <p:cNvPr id="25" name="Image 1" descr="MeAI 화면 캡처">    </p:cNvPr>
          <p:cNvPicPr>
            <a:picLocks noChangeAspect="1"/>
          </p:cNvPicPr>
          <p:nvPr/>
        </p:nvPicPr>
        <p:blipFill>
          <a:blip r:embed="rId2"/>
          <a:stretch>
            <a:fillRect/>
          </a:stretch>
        </p:blipFill>
        <p:spPr>
          <a:xfrm>
            <a:off x="3514268" y="2815962"/>
            <a:ext cx="2334692" cy="1591835"/>
          </a:xfrm>
          <a:prstGeom prst="rect">
            <a:avLst/>
          </a:prstGeom>
        </p:spPr>
      </p:pic>
      <p:sp>
        <p:nvSpPr>
          <p:cNvPr id="26" name="Shape 22"/>
          <p:cNvSpPr/>
          <p:nvPr/>
        </p:nvSpPr>
        <p:spPr>
          <a:xfrm>
            <a:off x="5552015" y="3049630"/>
            <a:ext cx="310896" cy="310896"/>
          </a:xfrm>
          <a:prstGeom prst="ellipse">
            <a:avLst/>
          </a:prstGeom>
          <a:solidFill>
            <a:srgbClr val="F04452"/>
          </a:solidFill>
          <a:ln w="19050">
            <a:solidFill>
              <a:srgbClr val="FFFFFF"/>
            </a:solidFill>
            <a:prstDash val="solid"/>
          </a:ln>
        </p:spPr>
      </p:sp>
      <p:sp>
        <p:nvSpPr>
          <p:cNvPr id="27" name="Text 23"/>
          <p:cNvSpPr txBox="1"/>
          <p:nvPr/>
        </p:nvSpPr>
        <p:spPr>
          <a:xfrm>
            <a:off x="5552015" y="304963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8" name="Text 24"/>
          <p:cNvSpPr txBox="1"/>
          <p:nvPr/>
        </p:nvSpPr>
        <p:spPr>
          <a:xfrm>
            <a:off x="3559988"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입력창에 질문이 채워져요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전송(↑)만 누르면 돼요</a:t>
            </a:r>
            <a:endParaRPr lang="en-US" sz="1250" dirty="0"/>
          </a:p>
        </p:txBody>
      </p:sp>
      <p:sp>
        <p:nvSpPr>
          <p:cNvPr id="29" name="Shape 25"/>
          <p:cNvSpPr/>
          <p:nvPr/>
        </p:nvSpPr>
        <p:spPr>
          <a:xfrm>
            <a:off x="6205576" y="1874520"/>
            <a:ext cx="2609012" cy="3401568"/>
          </a:xfrm>
          <a:prstGeom prst="roundRect">
            <a:avLst>
              <a:gd name="adj" fmla="val 5608"/>
            </a:avLst>
          </a:prstGeom>
          <a:solidFill>
            <a:srgbClr val="F9FAFB"/>
          </a:solidFill>
          <a:ln w="12700">
            <a:solidFill>
              <a:srgbClr val="F9FAFB"/>
            </a:solidFill>
            <a:prstDash val="solid"/>
          </a:ln>
        </p:spPr>
      </p:sp>
      <p:sp>
        <p:nvSpPr>
          <p:cNvPr id="30" name="Text 26"/>
          <p:cNvSpPr txBox="1"/>
          <p:nvPr/>
        </p:nvSpPr>
        <p:spPr>
          <a:xfrm>
            <a:off x="6388456"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③ 답을 받은 뒤</a:t>
            </a:r>
            <a:endParaRPr lang="en-US" sz="1700" dirty="0"/>
          </a:p>
        </p:txBody>
      </p:sp>
      <p:sp>
        <p:nvSpPr>
          <p:cNvPr id="31" name="Shape 27"/>
          <p:cNvSpPr/>
          <p:nvPr/>
        </p:nvSpPr>
        <p:spPr>
          <a:xfrm>
            <a:off x="6388456" y="2304288"/>
            <a:ext cx="1799971" cy="274320"/>
          </a:xfrm>
          <a:prstGeom prst="roundRect">
            <a:avLst>
              <a:gd name="adj" fmla="val 50000"/>
            </a:avLst>
          </a:prstGeom>
          <a:solidFill>
            <a:srgbClr val="E8F3FF"/>
          </a:solidFill>
          <a:ln w="12700">
            <a:solidFill>
              <a:srgbClr val="E8F3FF"/>
            </a:solidFill>
            <a:prstDash val="solid"/>
          </a:ln>
        </p:spPr>
      </p:sp>
      <p:sp>
        <p:nvSpPr>
          <p:cNvPr id="32" name="Text 28"/>
          <p:cNvSpPr txBox="1"/>
          <p:nvPr/>
        </p:nvSpPr>
        <p:spPr>
          <a:xfrm>
            <a:off x="6388456" y="2304288"/>
            <a:ext cx="1799971"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답 아래 질문 버튼 3개</a:t>
            </a:r>
            <a:endParaRPr lang="en-US" sz="1150" dirty="0"/>
          </a:p>
        </p:txBody>
      </p:sp>
      <p:pic>
        <p:nvPicPr>
          <p:cNvPr id="33" name="Image 2" descr="MeAI 화면 캡처">    </p:cNvPr>
          <p:cNvPicPr>
            <a:picLocks noChangeAspect="1"/>
          </p:cNvPicPr>
          <p:nvPr/>
        </p:nvPicPr>
        <p:blipFill>
          <a:blip r:embed="rId3"/>
          <a:stretch>
            <a:fillRect/>
          </a:stretch>
        </p:blipFill>
        <p:spPr>
          <a:xfrm>
            <a:off x="6342736" y="2658548"/>
            <a:ext cx="2334692" cy="1906665"/>
          </a:xfrm>
          <a:prstGeom prst="rect">
            <a:avLst/>
          </a:prstGeom>
        </p:spPr>
      </p:pic>
      <p:sp>
        <p:nvSpPr>
          <p:cNvPr id="34" name="Shape 29"/>
          <p:cNvSpPr/>
          <p:nvPr/>
        </p:nvSpPr>
        <p:spPr>
          <a:xfrm>
            <a:off x="6273758" y="2967876"/>
            <a:ext cx="310896" cy="310896"/>
          </a:xfrm>
          <a:prstGeom prst="ellipse">
            <a:avLst/>
          </a:prstGeom>
          <a:solidFill>
            <a:srgbClr val="F04452"/>
          </a:solidFill>
          <a:ln w="19050">
            <a:solidFill>
              <a:srgbClr val="FFFFFF"/>
            </a:solidFill>
            <a:prstDash val="solid"/>
          </a:ln>
        </p:spPr>
      </p:sp>
      <p:sp>
        <p:nvSpPr>
          <p:cNvPr id="35" name="Text 30"/>
          <p:cNvSpPr txBox="1"/>
          <p:nvPr/>
        </p:nvSpPr>
        <p:spPr>
          <a:xfrm>
            <a:off x="6273758" y="2967876"/>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6" name="Text 31"/>
          <p:cNvSpPr txBox="1"/>
          <p:nvPr/>
        </p:nvSpPr>
        <p:spPr>
          <a:xfrm>
            <a:off x="6388456"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그 질문이 바로 전송돼요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가이드북 이름은 ‘꼬리질문’</a:t>
            </a:r>
            <a:endParaRPr lang="en-US" sz="1250" dirty="0"/>
          </a:p>
        </p:txBody>
      </p:sp>
      <p:sp>
        <p:nvSpPr>
          <p:cNvPr id="37" name="Shape 32"/>
          <p:cNvSpPr/>
          <p:nvPr/>
        </p:nvSpPr>
        <p:spPr>
          <a:xfrm>
            <a:off x="9034043" y="1874520"/>
            <a:ext cx="2609012" cy="3401568"/>
          </a:xfrm>
          <a:prstGeom prst="roundRect">
            <a:avLst>
              <a:gd name="adj" fmla="val 5608"/>
            </a:avLst>
          </a:prstGeom>
          <a:solidFill>
            <a:srgbClr val="F9FAFB"/>
          </a:solidFill>
          <a:ln w="12700">
            <a:solidFill>
              <a:srgbClr val="F9FAFB"/>
            </a:solidFill>
            <a:prstDash val="solid"/>
          </a:ln>
        </p:spPr>
      </p:sp>
      <p:sp>
        <p:nvSpPr>
          <p:cNvPr id="38" name="Text 33"/>
          <p:cNvSpPr txBox="1"/>
          <p:nvPr/>
        </p:nvSpPr>
        <p:spPr>
          <a:xfrm>
            <a:off x="9216923"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④ 더 필요할 때</a:t>
            </a:r>
            <a:endParaRPr lang="en-US" sz="1700" dirty="0"/>
          </a:p>
        </p:txBody>
      </p:sp>
      <p:sp>
        <p:nvSpPr>
          <p:cNvPr id="39" name="Text 34"/>
          <p:cNvSpPr txBox="1"/>
          <p:nvPr/>
        </p:nvSpPr>
        <p:spPr>
          <a:xfrm>
            <a:off x="9216923"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[질문 더보기]에서 골라 써요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좋았던 질문은 저장 → 나의 질문</a:t>
            </a:r>
            <a:endParaRPr lang="en-US" sz="1250" dirty="0"/>
          </a:p>
        </p:txBody>
      </p:sp>
      <p:pic>
        <p:nvPicPr>
          <p:cNvPr id="40" name="Image 3" descr="MeAI 화면 캡처">    </p:cNvPr>
          <p:cNvPicPr>
            <a:picLocks noChangeAspect="1"/>
          </p:cNvPicPr>
          <p:nvPr/>
        </p:nvPicPr>
        <p:blipFill>
          <a:blip r:embed="rId4"/>
          <a:stretch>
            <a:fillRect/>
          </a:stretch>
        </p:blipFill>
        <p:spPr>
          <a:xfrm>
            <a:off x="9433293" y="2743200"/>
            <a:ext cx="1810512" cy="1005840"/>
          </a:xfrm>
          <a:prstGeom prst="rect">
            <a:avLst/>
          </a:prstGeom>
        </p:spPr>
      </p:pic>
      <p:sp>
        <p:nvSpPr>
          <p:cNvPr id="41" name="Shape 35"/>
          <p:cNvSpPr/>
          <p:nvPr/>
        </p:nvSpPr>
        <p:spPr>
          <a:xfrm>
            <a:off x="11006633" y="2700909"/>
            <a:ext cx="310896" cy="310896"/>
          </a:xfrm>
          <a:prstGeom prst="ellipse">
            <a:avLst/>
          </a:prstGeom>
          <a:solidFill>
            <a:srgbClr val="F04452"/>
          </a:solidFill>
          <a:ln w="19050">
            <a:solidFill>
              <a:srgbClr val="FFFFFF"/>
            </a:solidFill>
            <a:prstDash val="solid"/>
          </a:ln>
        </p:spPr>
      </p:sp>
      <p:sp>
        <p:nvSpPr>
          <p:cNvPr id="42" name="Text 36"/>
          <p:cNvSpPr txBox="1"/>
          <p:nvPr/>
        </p:nvSpPr>
        <p:spPr>
          <a:xfrm>
            <a:off x="11006633" y="2700909"/>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43" name="Text 37"/>
          <p:cNvSpPr txBox="1"/>
          <p:nvPr/>
        </p:nvSpPr>
        <p:spPr>
          <a:xfrm>
            <a:off x="9216923" y="3886200"/>
            <a:ext cx="2243252" cy="548640"/>
          </a:xfrm>
          <a:prstGeom prst="rect">
            <a:avLst/>
          </a:prstGeom>
          <a:noFill/>
          <a:ln/>
        </p:spPr>
        <p:txBody>
          <a:bodyPr wrap="square" lIns="0" tIns="0" rIns="0" bIns="0" rtlCol="0" anchor="t"/>
          <a:lstStyle/>
          <a:p>
            <a:pPr indent="0" marL="0">
              <a:lnSpc>
                <a:spcPct val="112000"/>
              </a:lnSpc>
              <a:buNone/>
            </a:pPr>
            <a:r>
              <a:rPr lang="en-US" sz="1200" dirty="0">
                <a:solidFill>
                  <a:srgbClr val="6B7684"/>
                </a:solidFill>
                <a:latin typeface="맑은 고딕" pitchFamily="34" charset="0"/>
                <a:ea typeface="맑은 고딕" pitchFamily="34" charset="-122"/>
                <a:cs typeface="맑은 고딕" pitchFamily="34" charset="-120"/>
              </a:rPr>
              <a:t>대화 이력·나의 질문은 PC·휴대폰 똑같이</a:t>
            </a:r>
            <a:endParaRPr lang="en-US" sz="1200" dirty="0"/>
          </a:p>
        </p:txBody>
      </p:sp>
      <p:sp>
        <p:nvSpPr>
          <p:cNvPr id="44" name="Shape 38"/>
          <p:cNvSpPr/>
          <p:nvPr/>
        </p:nvSpPr>
        <p:spPr>
          <a:xfrm>
            <a:off x="548640" y="5376672"/>
            <a:ext cx="11094415" cy="731520"/>
          </a:xfrm>
          <a:prstGeom prst="roundRect">
            <a:avLst>
              <a:gd name="adj" fmla="val 20000"/>
            </a:avLst>
          </a:prstGeom>
          <a:solidFill>
            <a:srgbClr val="F0EDFF"/>
          </a:solidFill>
          <a:ln w="12700">
            <a:solidFill>
              <a:srgbClr val="F0EDFF"/>
            </a:solidFill>
            <a:prstDash val="solid"/>
          </a:ln>
        </p:spPr>
      </p:sp>
      <p:sp>
        <p:nvSpPr>
          <p:cNvPr id="45" name="Text 39"/>
          <p:cNvSpPr txBox="1"/>
          <p:nvPr/>
        </p:nvSpPr>
        <p:spPr>
          <a:xfrm>
            <a:off x="822960" y="5376672"/>
            <a:ext cx="2377440" cy="731520"/>
          </a:xfrm>
          <a:prstGeom prst="rect">
            <a:avLst/>
          </a:prstGeom>
          <a:noFill/>
          <a:ln/>
        </p:spPr>
        <p:txBody>
          <a:bodyPr wrap="square" lIns="0" tIns="0" rIns="0" bIns="0" rtlCol="0" anchor="ctr"/>
          <a:lstStyle/>
          <a:p>
            <a:pPr indent="0" marL="0">
              <a:buNone/>
            </a:pPr>
            <a:r>
              <a:rPr lang="en-US" sz="1400" b="1" dirty="0">
                <a:solidFill>
                  <a:srgbClr val="7048E8"/>
                </a:solidFill>
                <a:latin typeface="맑은 고딕" pitchFamily="34" charset="0"/>
                <a:ea typeface="맑은 고딕" pitchFamily="34" charset="-122"/>
                <a:cs typeface="맑은 고딕" pitchFamily="34" charset="-120"/>
              </a:rPr>
              <a:t>질문을 이어 쓸수록 · 평균 가계약</a:t>
            </a:r>
            <a:endParaRPr lang="en-US" sz="1400" dirty="0"/>
          </a:p>
        </p:txBody>
      </p:sp>
      <p:sp>
        <p:nvSpPr>
          <p:cNvPr id="46" name="Shape 40"/>
          <p:cNvSpPr/>
          <p:nvPr/>
        </p:nvSpPr>
        <p:spPr>
          <a:xfrm>
            <a:off x="3154680" y="5819493"/>
            <a:ext cx="310896" cy="197259"/>
          </a:xfrm>
          <a:prstGeom prst="roundRect">
            <a:avLst>
              <a:gd name="adj" fmla="val 18542"/>
            </a:avLst>
          </a:prstGeom>
          <a:solidFill>
            <a:srgbClr val="B9A8F5"/>
          </a:solidFill>
          <a:ln w="12700">
            <a:solidFill>
              <a:srgbClr val="B9A8F5"/>
            </a:solidFill>
            <a:prstDash val="solid"/>
          </a:ln>
        </p:spPr>
      </p:sp>
      <p:sp>
        <p:nvSpPr>
          <p:cNvPr id="47" name="Text 41"/>
          <p:cNvSpPr txBox="1"/>
          <p:nvPr/>
        </p:nvSpPr>
        <p:spPr>
          <a:xfrm>
            <a:off x="353872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1개 · 11.99건</a:t>
            </a:r>
            <a:endParaRPr lang="en-US" sz="1300" dirty="0"/>
          </a:p>
        </p:txBody>
      </p:sp>
      <p:sp>
        <p:nvSpPr>
          <p:cNvPr id="48" name="Shape 42"/>
          <p:cNvSpPr/>
          <p:nvPr/>
        </p:nvSpPr>
        <p:spPr>
          <a:xfrm>
            <a:off x="5029200" y="5736740"/>
            <a:ext cx="310896" cy="280012"/>
          </a:xfrm>
          <a:prstGeom prst="roundRect">
            <a:avLst>
              <a:gd name="adj" fmla="val 13062"/>
            </a:avLst>
          </a:prstGeom>
          <a:solidFill>
            <a:srgbClr val="B9A8F5"/>
          </a:solidFill>
          <a:ln w="12700">
            <a:solidFill>
              <a:srgbClr val="B9A8F5"/>
            </a:solidFill>
            <a:prstDash val="solid"/>
          </a:ln>
        </p:spPr>
      </p:sp>
      <p:sp>
        <p:nvSpPr>
          <p:cNvPr id="49" name="Text 43"/>
          <p:cNvSpPr txBox="1"/>
          <p:nvPr/>
        </p:nvSpPr>
        <p:spPr>
          <a:xfrm>
            <a:off x="541324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2개 · 17.02건</a:t>
            </a:r>
            <a:endParaRPr lang="en-US" sz="1300" dirty="0"/>
          </a:p>
        </p:txBody>
      </p:sp>
      <p:sp>
        <p:nvSpPr>
          <p:cNvPr id="50" name="Shape 44"/>
          <p:cNvSpPr/>
          <p:nvPr/>
        </p:nvSpPr>
        <p:spPr>
          <a:xfrm>
            <a:off x="6903720" y="5559552"/>
            <a:ext cx="310896" cy="457200"/>
          </a:xfrm>
          <a:prstGeom prst="roundRect">
            <a:avLst>
              <a:gd name="adj" fmla="val 11765"/>
            </a:avLst>
          </a:prstGeom>
          <a:solidFill>
            <a:srgbClr val="7048E8"/>
          </a:solidFill>
          <a:ln w="12700">
            <a:solidFill>
              <a:srgbClr val="7048E8"/>
            </a:solidFill>
            <a:prstDash val="solid"/>
          </a:ln>
        </p:spPr>
      </p:sp>
      <p:sp>
        <p:nvSpPr>
          <p:cNvPr id="51" name="Text 45"/>
          <p:cNvSpPr txBox="1"/>
          <p:nvPr/>
        </p:nvSpPr>
        <p:spPr>
          <a:xfrm>
            <a:off x="7287768" y="5468112"/>
            <a:ext cx="1783080" cy="548640"/>
          </a:xfrm>
          <a:prstGeom prst="rect">
            <a:avLst/>
          </a:prstGeom>
          <a:noFill/>
          <a:ln/>
        </p:spPr>
        <p:txBody>
          <a:bodyPr wrap="square" lIns="0" tIns="0" rIns="0" bIns="0" rtlCol="0" anchor="b"/>
          <a:lstStyle/>
          <a:p>
            <a:pPr indent="0" marL="0">
              <a:buNone/>
            </a:pPr>
            <a:r>
              <a:rPr lang="en-US" sz="1300" b="1" dirty="0">
                <a:solidFill>
                  <a:srgbClr val="191F28"/>
                </a:solidFill>
                <a:latin typeface="맑은 고딕" pitchFamily="34" charset="0"/>
                <a:ea typeface="맑은 고딕" pitchFamily="34" charset="-122"/>
                <a:cs typeface="맑은 고딕" pitchFamily="34" charset="-120"/>
              </a:rPr>
              <a:t>3개 이상 · 27.79건</a:t>
            </a:r>
            <a:endParaRPr lang="en-US" sz="1300" dirty="0"/>
          </a:p>
        </p:txBody>
      </p:sp>
      <p:sp>
        <p:nvSpPr>
          <p:cNvPr id="52" name="Text 46"/>
          <p:cNvSpPr txBox="1"/>
          <p:nvPr/>
        </p:nvSpPr>
        <p:spPr>
          <a:xfrm>
            <a:off x="9128455" y="5394960"/>
            <a:ext cx="1234440" cy="694944"/>
          </a:xfrm>
          <a:prstGeom prst="rect">
            <a:avLst/>
          </a:prstGeom>
          <a:noFill/>
          <a:ln/>
        </p:spPr>
        <p:txBody>
          <a:bodyPr wrap="square" lIns="0" tIns="0" rIns="0" bIns="0" rtlCol="0" anchor="ctr"/>
          <a:lstStyle/>
          <a:p>
            <a:pPr indent="0" marL="0">
              <a:buNone/>
            </a:pPr>
            <a:r>
              <a:rPr lang="en-US" sz="3200" b="1" dirty="0">
                <a:solidFill>
                  <a:srgbClr val="7048E8"/>
                </a:solidFill>
                <a:latin typeface="맑은 고딕" pitchFamily="34" charset="0"/>
                <a:ea typeface="맑은 고딕" pitchFamily="34" charset="-122"/>
                <a:cs typeface="맑은 고딕" pitchFamily="34" charset="-120"/>
              </a:rPr>
              <a:t>2.3배</a:t>
            </a:r>
            <a:endParaRPr lang="en-US" sz="3200" dirty="0"/>
          </a:p>
        </p:txBody>
      </p:sp>
      <p:sp>
        <p:nvSpPr>
          <p:cNvPr id="53" name="Text 47"/>
          <p:cNvSpPr txBox="1"/>
          <p:nvPr/>
        </p:nvSpPr>
        <p:spPr>
          <a:xfrm>
            <a:off x="10271455" y="5376672"/>
            <a:ext cx="1234440" cy="731520"/>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1개 대비 3개 이상</a:t>
            </a:r>
            <a:endParaRPr lang="en-US" sz="1250" dirty="0"/>
          </a:p>
        </p:txBody>
      </p:sp>
      <p:sp>
        <p:nvSpPr>
          <p:cNvPr id="54" name="Text 48"/>
          <p:cNvSpPr txBox="1"/>
          <p:nvPr/>
        </p:nvSpPr>
        <p:spPr>
          <a:xfrm>
            <a:off x="548640" y="6144768"/>
            <a:ext cx="8412480"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100" dirty="0"/>
          </a:p>
        </p:txBody>
      </p:sp>
      <p:sp>
        <p:nvSpPr>
          <p:cNvPr id="55" name="Text 49"/>
          <p:cNvSpPr txBox="1"/>
          <p:nvPr/>
        </p:nvSpPr>
        <p:spPr>
          <a:xfrm>
            <a:off x="8716975" y="6144768"/>
            <a:ext cx="292608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이름·질문 문장은 예시</a:t>
            </a:r>
            <a:endParaRPr lang="en-US" sz="1100" dirty="0"/>
          </a:p>
        </p:txBody>
      </p:sp>
      <p:sp>
        <p:nvSpPr>
          <p:cNvPr id="56" name="Text 50"/>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1"/>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맞춤대화는 “보장분석 해줘” 한 마디로 시작해요</a:t>
            </a:r>
            <a:endParaRPr lang="en-US" sz="3400" dirty="0"/>
          </a:p>
        </p:txBody>
      </p:sp>
      <p:sp>
        <p:nvSpPr>
          <p:cNvPr id="12" name="Shape 10"/>
          <p:cNvSpPr/>
          <p:nvPr/>
        </p:nvSpPr>
        <p:spPr>
          <a:xfrm>
            <a:off x="548640" y="1691640"/>
            <a:ext cx="4751524" cy="2697480"/>
          </a:xfrm>
          <a:prstGeom prst="roundRect">
            <a:avLst>
              <a:gd name="adj" fmla="val 352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3" name="Image 0" descr="MeAI 화면 캡처">    </p:cNvPr>
          <p:cNvPicPr>
            <a:picLocks noChangeAspect="1"/>
          </p:cNvPicPr>
          <p:nvPr/>
        </p:nvPicPr>
        <p:blipFill>
          <a:blip r:embed="rId1"/>
          <a:stretch>
            <a:fillRect/>
          </a:stretch>
        </p:blipFill>
        <p:spPr>
          <a:xfrm>
            <a:off x="548640" y="1691640"/>
            <a:ext cx="4751524" cy="2697480"/>
          </a:xfrm>
          <a:prstGeom prst="rect">
            <a:avLst/>
          </a:prstGeom>
        </p:spPr>
      </p:pic>
      <p:sp>
        <p:nvSpPr>
          <p:cNvPr id="14" name="Shape 11"/>
          <p:cNvSpPr/>
          <p:nvPr/>
        </p:nvSpPr>
        <p:spPr>
          <a:xfrm>
            <a:off x="1349201" y="2804020"/>
            <a:ext cx="329184" cy="329184"/>
          </a:xfrm>
          <a:prstGeom prst="ellipse">
            <a:avLst/>
          </a:prstGeom>
          <a:solidFill>
            <a:srgbClr val="3182F6"/>
          </a:solidFill>
          <a:ln w="19050">
            <a:solidFill>
              <a:srgbClr val="FFFFFF"/>
            </a:solidFill>
            <a:prstDash val="solid"/>
          </a:ln>
        </p:spPr>
      </p:sp>
      <p:sp>
        <p:nvSpPr>
          <p:cNvPr id="15" name="Text 12"/>
          <p:cNvSpPr txBox="1"/>
          <p:nvPr/>
        </p:nvSpPr>
        <p:spPr>
          <a:xfrm>
            <a:off x="1349201" y="28040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Shape 13"/>
          <p:cNvSpPr/>
          <p:nvPr/>
        </p:nvSpPr>
        <p:spPr>
          <a:xfrm>
            <a:off x="1349201" y="3313819"/>
            <a:ext cx="329184" cy="329184"/>
          </a:xfrm>
          <a:prstGeom prst="ellipse">
            <a:avLst/>
          </a:prstGeom>
          <a:solidFill>
            <a:srgbClr val="3182F6"/>
          </a:solidFill>
          <a:ln w="19050">
            <a:solidFill>
              <a:srgbClr val="FFFFFF"/>
            </a:solidFill>
            <a:prstDash val="solid"/>
          </a:ln>
        </p:spPr>
      </p:sp>
      <p:sp>
        <p:nvSpPr>
          <p:cNvPr id="17" name="Text 14"/>
          <p:cNvSpPr txBox="1"/>
          <p:nvPr/>
        </p:nvSpPr>
        <p:spPr>
          <a:xfrm>
            <a:off x="1349201" y="3313819"/>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Shape 15"/>
          <p:cNvSpPr/>
          <p:nvPr/>
        </p:nvSpPr>
        <p:spPr>
          <a:xfrm>
            <a:off x="4096176" y="3779073"/>
            <a:ext cx="329184" cy="329184"/>
          </a:xfrm>
          <a:prstGeom prst="ellipse">
            <a:avLst/>
          </a:prstGeom>
          <a:solidFill>
            <a:srgbClr val="3182F6"/>
          </a:solidFill>
          <a:ln w="19050">
            <a:solidFill>
              <a:srgbClr val="FFFFFF"/>
            </a:solidFill>
            <a:prstDash val="solid"/>
          </a:ln>
        </p:spPr>
      </p:sp>
      <p:sp>
        <p:nvSpPr>
          <p:cNvPr id="19" name="Text 16"/>
          <p:cNvSpPr txBox="1"/>
          <p:nvPr/>
        </p:nvSpPr>
        <p:spPr>
          <a:xfrm>
            <a:off x="4096176" y="377907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0" name="Shape 17"/>
          <p:cNvSpPr/>
          <p:nvPr/>
        </p:nvSpPr>
        <p:spPr>
          <a:xfrm>
            <a:off x="2301436" y="3147465"/>
            <a:ext cx="256032" cy="256032"/>
          </a:xfrm>
          <a:prstGeom prst="ellipse">
            <a:avLst/>
          </a:prstGeom>
          <a:solidFill>
            <a:srgbClr val="3182F6"/>
          </a:solidFill>
          <a:ln w="19050">
            <a:solidFill>
              <a:srgbClr val="FFFFFF"/>
            </a:solidFill>
            <a:prstDash val="solid"/>
          </a:ln>
        </p:spPr>
      </p:sp>
      <p:sp>
        <p:nvSpPr>
          <p:cNvPr id="21" name="Text 18"/>
          <p:cNvSpPr txBox="1"/>
          <p:nvPr/>
        </p:nvSpPr>
        <p:spPr>
          <a:xfrm>
            <a:off x="2301436" y="3147465"/>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9"/>
          <p:cNvSpPr/>
          <p:nvPr/>
        </p:nvSpPr>
        <p:spPr>
          <a:xfrm>
            <a:off x="4396880" y="3832301"/>
            <a:ext cx="581567" cy="222728"/>
          </a:xfrm>
          <a:prstGeom prst="roundRect">
            <a:avLst>
              <a:gd name="adj" fmla="val 16422"/>
            </a:avLst>
          </a:prstGeom>
          <a:ln w="25400">
            <a:solidFill>
              <a:srgbClr val="F04452"/>
            </a:solidFill>
            <a:prstDash val="solid"/>
          </a:ln>
        </p:spPr>
      </p:sp>
      <p:sp>
        <p:nvSpPr>
          <p:cNvPr id="23" name="Shape 20"/>
          <p:cNvSpPr/>
          <p:nvPr/>
        </p:nvSpPr>
        <p:spPr>
          <a:xfrm>
            <a:off x="5806440" y="1691640"/>
            <a:ext cx="2000250" cy="329184"/>
          </a:xfrm>
          <a:prstGeom prst="roundRect">
            <a:avLst>
              <a:gd name="adj" fmla="val 50000"/>
            </a:avLst>
          </a:prstGeom>
          <a:solidFill>
            <a:srgbClr val="191F28"/>
          </a:solidFill>
          <a:ln w="12700">
            <a:solidFill>
              <a:srgbClr val="191F28"/>
            </a:solidFill>
            <a:prstDash val="solid"/>
          </a:ln>
        </p:spPr>
      </p:sp>
      <p:sp>
        <p:nvSpPr>
          <p:cNvPr id="24" name="Text 21"/>
          <p:cNvSpPr txBox="1"/>
          <p:nvPr/>
        </p:nvSpPr>
        <p:spPr>
          <a:xfrm>
            <a:off x="5806440" y="1691640"/>
            <a:ext cx="20002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고객 정보는 아는 것만</a:t>
            </a:r>
            <a:endParaRPr lang="en-US" sz="1300" dirty="0"/>
          </a:p>
        </p:txBody>
      </p:sp>
      <p:sp>
        <p:nvSpPr>
          <p:cNvPr id="25" name="Shape 22"/>
          <p:cNvSpPr/>
          <p:nvPr/>
        </p:nvSpPr>
        <p:spPr>
          <a:xfrm>
            <a:off x="5806440" y="2148840"/>
            <a:ext cx="329184" cy="329184"/>
          </a:xfrm>
          <a:prstGeom prst="ellipse">
            <a:avLst/>
          </a:prstGeom>
          <a:solidFill>
            <a:srgbClr val="3182F6"/>
          </a:solidFill>
          <a:ln w="19050">
            <a:solidFill>
              <a:srgbClr val="FFFFFF"/>
            </a:solidFill>
            <a:prstDash val="solid"/>
          </a:ln>
        </p:spPr>
      </p:sp>
      <p:sp>
        <p:nvSpPr>
          <p:cNvPr id="26" name="Text 23"/>
          <p:cNvSpPr txBox="1"/>
          <p:nvPr/>
        </p:nvSpPr>
        <p:spPr>
          <a:xfrm>
            <a:off x="5806440" y="2148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27" name="Text 24"/>
          <p:cNvSpPr txBox="1"/>
          <p:nvPr/>
        </p:nvSpPr>
        <p:spPr>
          <a:xfrm>
            <a:off x="6245352" y="2121408"/>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병력·가족력이 핵심</a:t>
            </a:r>
            <a:endParaRPr lang="en-US" sz="1550" dirty="0"/>
          </a:p>
        </p:txBody>
      </p:sp>
      <p:sp>
        <p:nvSpPr>
          <p:cNvPr id="28" name="Text 25"/>
          <p:cNvSpPr txBox="1"/>
          <p:nvPr/>
        </p:nvSpPr>
        <p:spPr>
          <a:xfrm>
            <a:off x="8412480" y="2084832"/>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답의 방향을 가장 크게 바꿔요</a:t>
            </a:r>
            <a:endParaRPr lang="en-US" sz="1200" dirty="0"/>
          </a:p>
        </p:txBody>
      </p:sp>
      <p:sp>
        <p:nvSpPr>
          <p:cNvPr id="29" name="Shape 26"/>
          <p:cNvSpPr/>
          <p:nvPr/>
        </p:nvSpPr>
        <p:spPr>
          <a:xfrm>
            <a:off x="5806440" y="2715768"/>
            <a:ext cx="329184" cy="329184"/>
          </a:xfrm>
          <a:prstGeom prst="ellipse">
            <a:avLst/>
          </a:prstGeom>
          <a:solidFill>
            <a:srgbClr val="3182F6"/>
          </a:solidFill>
          <a:ln w="19050">
            <a:solidFill>
              <a:srgbClr val="FFFFFF"/>
            </a:solidFill>
            <a:prstDash val="solid"/>
          </a:ln>
        </p:spPr>
      </p:sp>
      <p:sp>
        <p:nvSpPr>
          <p:cNvPr id="30" name="Text 27"/>
          <p:cNvSpPr txBox="1"/>
          <p:nvPr/>
        </p:nvSpPr>
        <p:spPr>
          <a:xfrm>
            <a:off x="580644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1" name="Text 28"/>
          <p:cNvSpPr txBox="1"/>
          <p:nvPr/>
        </p:nvSpPr>
        <p:spPr>
          <a:xfrm>
            <a:off x="6245352" y="2688336"/>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희망 보험료</a:t>
            </a:r>
            <a:endParaRPr lang="en-US" sz="1550" dirty="0"/>
          </a:p>
        </p:txBody>
      </p:sp>
      <p:sp>
        <p:nvSpPr>
          <p:cNvPr id="32" name="Text 29"/>
          <p:cNvSpPr txBox="1"/>
          <p:nvPr/>
        </p:nvSpPr>
        <p:spPr>
          <a:xfrm>
            <a:off x="8412480" y="2651760"/>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넣으면 예산 안에서 제안해요</a:t>
            </a:r>
            <a:endParaRPr lang="en-US" sz="1200" dirty="0"/>
          </a:p>
        </p:txBody>
      </p:sp>
      <p:sp>
        <p:nvSpPr>
          <p:cNvPr id="33" name="Shape 30"/>
          <p:cNvSpPr/>
          <p:nvPr/>
        </p:nvSpPr>
        <p:spPr>
          <a:xfrm>
            <a:off x="5806440" y="3282696"/>
            <a:ext cx="329184" cy="329184"/>
          </a:xfrm>
          <a:prstGeom prst="ellipse">
            <a:avLst/>
          </a:prstGeom>
          <a:solidFill>
            <a:srgbClr val="3182F6"/>
          </a:solidFill>
          <a:ln w="19050">
            <a:solidFill>
              <a:srgbClr val="FFFFFF"/>
            </a:solidFill>
            <a:prstDash val="solid"/>
          </a:ln>
        </p:spPr>
      </p:sp>
      <p:sp>
        <p:nvSpPr>
          <p:cNvPr id="34" name="Text 31"/>
          <p:cNvSpPr txBox="1"/>
          <p:nvPr/>
        </p:nvSpPr>
        <p:spPr>
          <a:xfrm>
            <a:off x="58064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5" name="Text 32"/>
          <p:cNvSpPr txBox="1"/>
          <p:nvPr/>
        </p:nvSpPr>
        <p:spPr>
          <a:xfrm>
            <a:off x="6245352" y="3255264"/>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메모엔 상황만</a:t>
            </a:r>
            <a:endParaRPr lang="en-US" sz="1550" dirty="0"/>
          </a:p>
        </p:txBody>
      </p:sp>
      <p:sp>
        <p:nvSpPr>
          <p:cNvPr id="36" name="Text 33"/>
          <p:cNvSpPr txBox="1"/>
          <p:nvPr/>
        </p:nvSpPr>
        <p:spPr>
          <a:xfrm>
            <a:off x="8412480" y="3218688"/>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“자녀 결혼 앞둠”처럼 적어요</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이름·연락처는 넣지 않아요</a:t>
            </a:r>
            <a:endParaRPr lang="en-US" sz="1200" dirty="0"/>
          </a:p>
        </p:txBody>
      </p:sp>
      <p:sp>
        <p:nvSpPr>
          <p:cNvPr id="37" name="Shape 34"/>
          <p:cNvSpPr/>
          <p:nvPr/>
        </p:nvSpPr>
        <p:spPr>
          <a:xfrm>
            <a:off x="5806440" y="3849624"/>
            <a:ext cx="329184" cy="329184"/>
          </a:xfrm>
          <a:prstGeom prst="ellipse">
            <a:avLst/>
          </a:prstGeom>
          <a:solidFill>
            <a:srgbClr val="3182F6"/>
          </a:solidFill>
          <a:ln w="19050">
            <a:solidFill>
              <a:srgbClr val="FFFFFF"/>
            </a:solidFill>
            <a:prstDash val="solid"/>
          </a:ln>
        </p:spPr>
      </p:sp>
      <p:sp>
        <p:nvSpPr>
          <p:cNvPr id="38" name="Text 35"/>
          <p:cNvSpPr txBox="1"/>
          <p:nvPr/>
        </p:nvSpPr>
        <p:spPr>
          <a:xfrm>
            <a:off x="5806440" y="3849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9" name="Text 36"/>
          <p:cNvSpPr txBox="1"/>
          <p:nvPr/>
        </p:nvSpPr>
        <p:spPr>
          <a:xfrm>
            <a:off x="6245352" y="3822192"/>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 완료]로 반영</a:t>
            </a:r>
            <a:endParaRPr lang="en-US" sz="1550" dirty="0"/>
          </a:p>
        </p:txBody>
      </p:sp>
      <p:sp>
        <p:nvSpPr>
          <p:cNvPr id="40" name="Text 37"/>
          <p:cNvSpPr txBox="1"/>
          <p:nvPr/>
        </p:nvSpPr>
        <p:spPr>
          <a:xfrm>
            <a:off x="8412480" y="3785616"/>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비울 땐 [입력하지 않고 넘어가기]</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고칠 땐 [사용중인 정보 수정]</a:t>
            </a:r>
            <a:endParaRPr lang="en-US" sz="1200" dirty="0"/>
          </a:p>
        </p:txBody>
      </p:sp>
      <p:sp>
        <p:nvSpPr>
          <p:cNvPr id="41" name="Shape 38"/>
          <p:cNvSpPr/>
          <p:nvPr/>
        </p:nvSpPr>
        <p:spPr>
          <a:xfrm>
            <a:off x="5806440" y="4389120"/>
            <a:ext cx="5836615" cy="566928"/>
          </a:xfrm>
          <a:prstGeom prst="roundRect">
            <a:avLst>
              <a:gd name="adj" fmla="val 19355"/>
            </a:avLst>
          </a:prstGeom>
          <a:solidFill>
            <a:srgbClr val="F9FAFB"/>
          </a:solidFill>
          <a:ln w="12700">
            <a:solidFill>
              <a:srgbClr val="F9FAFB"/>
            </a:solidFill>
            <a:prstDash val="solid"/>
          </a:ln>
        </p:spPr>
      </p:sp>
      <p:sp>
        <p:nvSpPr>
          <p:cNvPr id="42" name="Text 39"/>
          <p:cNvSpPr txBox="1"/>
          <p:nvPr/>
        </p:nvSpPr>
        <p:spPr>
          <a:xfrm>
            <a:off x="5989320" y="4389120"/>
            <a:ext cx="5562295" cy="566928"/>
          </a:xfrm>
          <a:prstGeom prst="rect">
            <a:avLst/>
          </a:prstGeom>
          <a:noFill/>
          <a:ln/>
        </p:spPr>
        <p:txBody>
          <a:bodyPr wrap="square" lIns="0" tIns="0" rIns="0" bIns="0" rtlCol="0" anchor="ctr"/>
          <a:lstStyle/>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관계없는 계약은 체크를 풀면 분석에서 빠져요</a:t>
            </a:r>
            <a:endParaRPr lang="en-US" sz="1200" dirty="0"/>
          </a:p>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약관DB 구성이 안 된 상품은 답이 부정확할 수 있어요</a:t>
            </a:r>
            <a:endParaRPr lang="en-US" sz="1200" dirty="0"/>
          </a:p>
        </p:txBody>
      </p:sp>
      <p:sp>
        <p:nvSpPr>
          <p:cNvPr id="43" name="Shape 40"/>
          <p:cNvSpPr/>
          <p:nvPr/>
        </p:nvSpPr>
        <p:spPr>
          <a:xfrm>
            <a:off x="548640" y="4754880"/>
            <a:ext cx="4937760" cy="968801"/>
          </a:xfrm>
          <a:prstGeom prst="roundRect">
            <a:avLst>
              <a:gd name="adj" fmla="val 101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4" name="Image 1" descr="MeAI 화면 캡처">    </p:cNvPr>
          <p:cNvPicPr>
            <a:picLocks noChangeAspect="1"/>
          </p:cNvPicPr>
          <p:nvPr/>
        </p:nvPicPr>
        <p:blipFill>
          <a:blip r:embed="rId2"/>
          <a:stretch>
            <a:fillRect/>
          </a:stretch>
        </p:blipFill>
        <p:spPr>
          <a:xfrm>
            <a:off x="548640" y="4754880"/>
            <a:ext cx="4937760" cy="968801"/>
          </a:xfrm>
          <a:prstGeom prst="rect">
            <a:avLst/>
          </a:prstGeom>
        </p:spPr>
      </p:pic>
      <p:sp>
        <p:nvSpPr>
          <p:cNvPr id="45" name="Shape 41"/>
          <p:cNvSpPr/>
          <p:nvPr/>
        </p:nvSpPr>
        <p:spPr>
          <a:xfrm>
            <a:off x="673647" y="5014269"/>
            <a:ext cx="743789" cy="209386"/>
          </a:xfrm>
          <a:prstGeom prst="roundRect">
            <a:avLst>
              <a:gd name="adj" fmla="val 17468"/>
            </a:avLst>
          </a:prstGeom>
          <a:ln w="25400">
            <a:solidFill>
              <a:srgbClr val="F04452"/>
            </a:solidFill>
            <a:prstDash val="solid"/>
          </a:ln>
        </p:spPr>
      </p:sp>
      <p:sp>
        <p:nvSpPr>
          <p:cNvPr id="46" name="Shape 42"/>
          <p:cNvSpPr/>
          <p:nvPr/>
        </p:nvSpPr>
        <p:spPr>
          <a:xfrm>
            <a:off x="1424496" y="4961951"/>
            <a:ext cx="310896" cy="310896"/>
          </a:xfrm>
          <a:prstGeom prst="ellipse">
            <a:avLst/>
          </a:prstGeom>
          <a:solidFill>
            <a:srgbClr val="3182F6"/>
          </a:solidFill>
          <a:ln w="19050">
            <a:solidFill>
              <a:srgbClr val="FFFFFF"/>
            </a:solidFill>
            <a:prstDash val="solid"/>
          </a:ln>
        </p:spPr>
      </p:sp>
      <p:sp>
        <p:nvSpPr>
          <p:cNvPr id="47" name="Text 43"/>
          <p:cNvSpPr txBox="1"/>
          <p:nvPr/>
        </p:nvSpPr>
        <p:spPr>
          <a:xfrm>
            <a:off x="1424496" y="4961951"/>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48" name="Shape 44"/>
          <p:cNvSpPr/>
          <p:nvPr/>
        </p:nvSpPr>
        <p:spPr>
          <a:xfrm>
            <a:off x="4830926" y="5177587"/>
            <a:ext cx="310896" cy="310896"/>
          </a:xfrm>
          <a:prstGeom prst="ellipse">
            <a:avLst/>
          </a:prstGeom>
          <a:solidFill>
            <a:srgbClr val="3182F6"/>
          </a:solidFill>
          <a:ln w="19050">
            <a:solidFill>
              <a:srgbClr val="FFFFFF"/>
            </a:solidFill>
            <a:prstDash val="solid"/>
          </a:ln>
        </p:spPr>
      </p:sp>
      <p:sp>
        <p:nvSpPr>
          <p:cNvPr id="49" name="Text 45"/>
          <p:cNvSpPr txBox="1"/>
          <p:nvPr/>
        </p:nvSpPr>
        <p:spPr>
          <a:xfrm>
            <a:off x="4830926" y="517758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50" name="Shape 46"/>
          <p:cNvSpPr/>
          <p:nvPr/>
        </p:nvSpPr>
        <p:spPr>
          <a:xfrm>
            <a:off x="5806440" y="5074920"/>
            <a:ext cx="1835150" cy="329184"/>
          </a:xfrm>
          <a:prstGeom prst="roundRect">
            <a:avLst>
              <a:gd name="adj" fmla="val 50000"/>
            </a:avLst>
          </a:prstGeom>
          <a:solidFill>
            <a:srgbClr val="191F28"/>
          </a:solidFill>
          <a:ln w="12700">
            <a:solidFill>
              <a:srgbClr val="191F28"/>
            </a:solidFill>
            <a:prstDash val="solid"/>
          </a:ln>
        </p:spPr>
      </p:sp>
      <p:sp>
        <p:nvSpPr>
          <p:cNvPr id="51" name="Text 47"/>
          <p:cNvSpPr txBox="1"/>
          <p:nvPr/>
        </p:nvSpPr>
        <p:spPr>
          <a:xfrm>
            <a:off x="5806440" y="5074920"/>
            <a:ext cx="18351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첫 질문은 버튼 하나</a:t>
            </a:r>
            <a:endParaRPr lang="en-US" sz="1300" dirty="0"/>
          </a:p>
        </p:txBody>
      </p:sp>
      <p:sp>
        <p:nvSpPr>
          <p:cNvPr id="52" name="Shape 48"/>
          <p:cNvSpPr/>
          <p:nvPr/>
        </p:nvSpPr>
        <p:spPr>
          <a:xfrm>
            <a:off x="5806440" y="5486400"/>
            <a:ext cx="292608" cy="292608"/>
          </a:xfrm>
          <a:prstGeom prst="ellipse">
            <a:avLst/>
          </a:prstGeom>
          <a:solidFill>
            <a:srgbClr val="3182F6"/>
          </a:solidFill>
          <a:ln w="19050">
            <a:solidFill>
              <a:srgbClr val="FFFFFF"/>
            </a:solidFill>
            <a:prstDash val="solid"/>
          </a:ln>
        </p:spPr>
      </p:sp>
      <p:sp>
        <p:nvSpPr>
          <p:cNvPr id="53" name="Text 49"/>
          <p:cNvSpPr txBox="1"/>
          <p:nvPr/>
        </p:nvSpPr>
        <p:spPr>
          <a:xfrm>
            <a:off x="5806440" y="54864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5</a:t>
            </a:r>
            <a:endParaRPr lang="en-US" sz="1200" dirty="0"/>
          </a:p>
        </p:txBody>
      </p:sp>
      <p:sp>
        <p:nvSpPr>
          <p:cNvPr id="54" name="Text 50"/>
          <p:cNvSpPr txBox="1"/>
          <p:nvPr/>
        </p:nvSpPr>
        <p:spPr>
          <a:xfrm>
            <a:off x="6190488" y="546811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[보장분석 해줘] 한 번</a:t>
            </a:r>
            <a:endParaRPr lang="en-US" sz="1450" dirty="0"/>
          </a:p>
        </p:txBody>
      </p:sp>
      <p:sp>
        <p:nvSpPr>
          <p:cNvPr id="55" name="Text 51"/>
          <p:cNvSpPr txBox="1"/>
          <p:nvPr/>
        </p:nvSpPr>
        <p:spPr>
          <a:xfrm>
            <a:off x="8412480" y="546811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입력창 위 버튼으로 전체 그림부터 봐요</a:t>
            </a:r>
            <a:endParaRPr lang="en-US" sz="1250" dirty="0"/>
          </a:p>
        </p:txBody>
      </p:sp>
      <p:sp>
        <p:nvSpPr>
          <p:cNvPr id="56" name="Shape 52"/>
          <p:cNvSpPr/>
          <p:nvPr/>
        </p:nvSpPr>
        <p:spPr>
          <a:xfrm>
            <a:off x="5806440" y="5852160"/>
            <a:ext cx="292608" cy="292608"/>
          </a:xfrm>
          <a:prstGeom prst="ellipse">
            <a:avLst/>
          </a:prstGeom>
          <a:solidFill>
            <a:srgbClr val="3182F6"/>
          </a:solidFill>
          <a:ln w="19050">
            <a:solidFill>
              <a:srgbClr val="FFFFFF"/>
            </a:solidFill>
            <a:prstDash val="solid"/>
          </a:ln>
        </p:spPr>
      </p:sp>
      <p:sp>
        <p:nvSpPr>
          <p:cNvPr id="57" name="Text 53"/>
          <p:cNvSpPr txBox="1"/>
          <p:nvPr/>
        </p:nvSpPr>
        <p:spPr>
          <a:xfrm>
            <a:off x="5806440" y="5852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6</a:t>
            </a:r>
            <a:endParaRPr lang="en-US" sz="1200" dirty="0"/>
          </a:p>
        </p:txBody>
      </p:sp>
      <p:sp>
        <p:nvSpPr>
          <p:cNvPr id="58" name="Text 54"/>
          <p:cNvSpPr txBox="1"/>
          <p:nvPr/>
        </p:nvSpPr>
        <p:spPr>
          <a:xfrm>
            <a:off x="6190488" y="583387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추천 질문으로 왔다면</a:t>
            </a:r>
            <a:endParaRPr lang="en-US" sz="1450" dirty="0"/>
          </a:p>
        </p:txBody>
      </p:sp>
      <p:sp>
        <p:nvSpPr>
          <p:cNvPr id="59" name="Text 55"/>
          <p:cNvSpPr txBox="1"/>
          <p:nvPr/>
        </p:nvSpPr>
        <p:spPr>
          <a:xfrm>
            <a:off x="8412480" y="583387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채워진 질문은 전송(↑)만</a:t>
            </a:r>
            <a:endParaRPr lang="en-US" sz="1250" dirty="0"/>
          </a:p>
        </p:txBody>
      </p:sp>
      <p:sp>
        <p:nvSpPr>
          <p:cNvPr id="60" name="Text 56"/>
          <p:cNvSpPr txBox="1"/>
          <p:nvPr/>
        </p:nvSpPr>
        <p:spPr>
          <a:xfrm>
            <a:off x="548640" y="5833872"/>
            <a:ext cx="5120640" cy="457200"/>
          </a:xfrm>
          <a:prstGeom prst="rect">
            <a:avLst/>
          </a:prstGeom>
          <a:noFill/>
          <a:ln/>
        </p:spPr>
        <p:txBody>
          <a:bodyPr wrap="square" lIns="0" tIns="0" rIns="0" bIns="0" rtlCol="0" anchor="ctr"/>
          <a:lstStyle/>
          <a:p>
            <a:pPr indent="0" marL="0">
              <a:lnSpc>
                <a:spcPct val="105000"/>
              </a:lnSpc>
              <a:buNone/>
            </a:pPr>
            <a:r>
              <a:rPr lang="en-US" sz="1200" b="1" dirty="0">
                <a:solidFill>
                  <a:srgbClr val="7048E8"/>
                </a:solidFill>
                <a:latin typeface="맑은 고딕" pitchFamily="34" charset="0"/>
                <a:ea typeface="맑은 고딕" pitchFamily="34" charset="-122"/>
                <a:cs typeface="맑은 고딕" pitchFamily="34" charset="-120"/>
              </a:rPr>
              <a:t>이 순서로  [이 고객으로 맞춤대화 시작] → [보장분석 해줘] → 담보를 좁혀 다시 묻기</a:t>
            </a:r>
            <a:endParaRPr lang="en-US" sz="1200" dirty="0"/>
          </a:p>
        </p:txBody>
      </p:sp>
      <p:sp>
        <p:nvSpPr>
          <p:cNvPr id="61" name="Text 57"/>
          <p:cNvSpPr txBox="1"/>
          <p:nvPr/>
        </p:nvSpPr>
        <p:spPr>
          <a:xfrm>
            <a:off x="548640" y="6199632"/>
            <a:ext cx="11094415" cy="201168"/>
          </a:xfrm>
          <a:prstGeom prst="rect">
            <a:avLst/>
          </a:prstGeom>
          <a:noFill/>
          <a:ln/>
        </p:spPr>
        <p:txBody>
          <a:bodyPr wrap="square" lIns="0" tIns="0" rIns="0" bIns="0" rtlCol="0" anchor="ctr"/>
          <a:lstStyle/>
          <a:p>
            <a:pPr indent="0" marL="0">
              <a:buNone/>
            </a:pPr>
            <a:r>
              <a:rPr lang="en-US" sz="1000" dirty="0">
                <a:solidFill>
                  <a:srgbClr val="8B95A1"/>
                </a:solidFill>
                <a:latin typeface="맑은 고딕" pitchFamily="34" charset="0"/>
                <a:ea typeface="맑은 고딕" pitchFamily="34" charset="-122"/>
                <a:cs typeface="맑은 고딕" pitchFamily="34" charset="-120"/>
              </a:rPr>
              <a:t>화면: 확정 화면 · 이름과 칸 안의 글은 예시 · 출처: MeAI 활용 가이드북 영업가족 편 v3(2026.09) 37·38쪽 · 가이드북 v4(2026.10) 38·49쪽 · 확정 화면</a:t>
            </a:r>
            <a:endParaRPr lang="en-US" sz="1000" dirty="0"/>
          </a:p>
        </p:txBody>
      </p:sp>
      <p:sp>
        <p:nvSpPr>
          <p:cNvPr id="62" name="Text 5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3" name="Text 5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답은 안심 → 제안 → 다음 행동 순서로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답변은 이 순서로 와요 · 그 순서대로 상담하면 돼요</a:t>
            </a:r>
            <a:endParaRPr lang="en-US" sz="1700" dirty="0"/>
          </a:p>
        </p:txBody>
      </p:sp>
      <p:sp>
        <p:nvSpPr>
          <p:cNvPr id="13" name="Text 11"/>
          <p:cNvSpPr txBox="1"/>
          <p:nvPr/>
        </p:nvSpPr>
        <p:spPr>
          <a:xfrm>
            <a:off x="548640" y="1874520"/>
            <a:ext cx="7315200" cy="274320"/>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한 답변의 위쪽(왼쪽)과 아래쪽(오른쪽)이에요</a:t>
            </a:r>
            <a:endParaRPr lang="en-US" sz="1300" dirty="0"/>
          </a:p>
        </p:txBody>
      </p:sp>
      <p:sp>
        <p:nvSpPr>
          <p:cNvPr id="14" name="Shape 12"/>
          <p:cNvSpPr/>
          <p:nvPr/>
        </p:nvSpPr>
        <p:spPr>
          <a:xfrm>
            <a:off x="548640" y="2194560"/>
            <a:ext cx="4630405" cy="2697480"/>
          </a:xfrm>
          <a:prstGeom prst="roundRect">
            <a:avLst>
              <a:gd name="adj" fmla="val 343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5" name="Image 0" descr="MeAI 화면 캡처">    </p:cNvPr>
          <p:cNvPicPr>
            <a:picLocks noChangeAspect="1"/>
          </p:cNvPicPr>
          <p:nvPr/>
        </p:nvPicPr>
        <p:blipFill>
          <a:blip r:embed="rId1"/>
          <a:stretch>
            <a:fillRect/>
          </a:stretch>
        </p:blipFill>
        <p:spPr>
          <a:xfrm>
            <a:off x="548640" y="2194560"/>
            <a:ext cx="4630405" cy="2697480"/>
          </a:xfrm>
          <a:prstGeom prst="rect">
            <a:avLst/>
          </a:prstGeom>
        </p:spPr>
      </p:pic>
      <p:sp>
        <p:nvSpPr>
          <p:cNvPr id="16" name="Shape 13"/>
          <p:cNvSpPr/>
          <p:nvPr/>
        </p:nvSpPr>
        <p:spPr>
          <a:xfrm>
            <a:off x="6217920" y="2194560"/>
            <a:ext cx="4303957" cy="2697480"/>
          </a:xfrm>
          <a:prstGeom prst="roundRect">
            <a:avLst>
              <a:gd name="adj" fmla="val 3191"/>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7" name="Image 1" descr="MeAI 화면 캡처">    </p:cNvPr>
          <p:cNvPicPr>
            <a:picLocks noChangeAspect="1"/>
          </p:cNvPicPr>
          <p:nvPr/>
        </p:nvPicPr>
        <p:blipFill>
          <a:blip r:embed="rId2"/>
          <a:stretch>
            <a:fillRect/>
          </a:stretch>
        </p:blipFill>
        <p:spPr>
          <a:xfrm>
            <a:off x="6217920" y="2194560"/>
            <a:ext cx="4303957" cy="2697480"/>
          </a:xfrm>
          <a:prstGeom prst="rect">
            <a:avLst/>
          </a:prstGeom>
        </p:spPr>
      </p:pic>
      <p:sp>
        <p:nvSpPr>
          <p:cNvPr id="18" name="Shape 14"/>
          <p:cNvSpPr/>
          <p:nvPr/>
        </p:nvSpPr>
        <p:spPr>
          <a:xfrm>
            <a:off x="710166" y="3459845"/>
            <a:ext cx="4361195" cy="942234"/>
          </a:xfrm>
          <a:prstGeom prst="roundRect">
            <a:avLst>
              <a:gd name="adj" fmla="val 3882"/>
            </a:avLst>
          </a:prstGeom>
          <a:ln w="25400">
            <a:solidFill>
              <a:srgbClr val="00A86B"/>
            </a:solidFill>
            <a:prstDash val="solid"/>
          </a:ln>
        </p:spPr>
      </p:sp>
      <p:sp>
        <p:nvSpPr>
          <p:cNvPr id="19" name="Shape 15"/>
          <p:cNvSpPr/>
          <p:nvPr/>
        </p:nvSpPr>
        <p:spPr>
          <a:xfrm>
            <a:off x="9095566" y="2624956"/>
            <a:ext cx="1271169" cy="395363"/>
          </a:xfrm>
          <a:prstGeom prst="roundRect">
            <a:avLst>
              <a:gd name="adj" fmla="val 9251"/>
            </a:avLst>
          </a:prstGeom>
          <a:ln w="25400">
            <a:solidFill>
              <a:srgbClr val="F04452"/>
            </a:solidFill>
            <a:prstDash val="solid"/>
          </a:ln>
        </p:spPr>
      </p:sp>
      <p:sp>
        <p:nvSpPr>
          <p:cNvPr id="20" name="Shape 16"/>
          <p:cNvSpPr/>
          <p:nvPr/>
        </p:nvSpPr>
        <p:spPr>
          <a:xfrm>
            <a:off x="6368058" y="3720963"/>
            <a:ext cx="1251150" cy="162650"/>
          </a:xfrm>
          <a:prstGeom prst="roundRect">
            <a:avLst>
              <a:gd name="adj" fmla="val 22488"/>
            </a:avLst>
          </a:prstGeom>
          <a:ln w="25400">
            <a:solidFill>
              <a:srgbClr val="3182F6"/>
            </a:solidFill>
            <a:prstDash val="solid"/>
          </a:ln>
        </p:spPr>
      </p:sp>
      <p:sp>
        <p:nvSpPr>
          <p:cNvPr id="21" name="Shape 17"/>
          <p:cNvSpPr/>
          <p:nvPr/>
        </p:nvSpPr>
        <p:spPr>
          <a:xfrm>
            <a:off x="545574" y="2783755"/>
            <a:ext cx="329184" cy="329184"/>
          </a:xfrm>
          <a:prstGeom prst="ellipse">
            <a:avLst/>
          </a:prstGeom>
          <a:solidFill>
            <a:srgbClr val="191F28"/>
          </a:solidFill>
          <a:ln w="19050">
            <a:solidFill>
              <a:srgbClr val="FFFFFF"/>
            </a:solidFill>
            <a:prstDash val="solid"/>
          </a:ln>
        </p:spPr>
      </p:sp>
      <p:sp>
        <p:nvSpPr>
          <p:cNvPr id="22" name="Text 18"/>
          <p:cNvSpPr txBox="1"/>
          <p:nvPr/>
        </p:nvSpPr>
        <p:spPr>
          <a:xfrm>
            <a:off x="545574" y="2783755"/>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3" name="Shape 19"/>
          <p:cNvSpPr/>
          <p:nvPr/>
        </p:nvSpPr>
        <p:spPr>
          <a:xfrm>
            <a:off x="545574" y="3376016"/>
            <a:ext cx="329184" cy="329184"/>
          </a:xfrm>
          <a:prstGeom prst="ellipse">
            <a:avLst/>
          </a:prstGeom>
          <a:solidFill>
            <a:srgbClr val="00A86B"/>
          </a:solidFill>
          <a:ln w="19050">
            <a:solidFill>
              <a:srgbClr val="FFFFFF"/>
            </a:solidFill>
            <a:prstDash val="solid"/>
          </a:ln>
        </p:spPr>
      </p:sp>
      <p:sp>
        <p:nvSpPr>
          <p:cNvPr id="24" name="Text 20"/>
          <p:cNvSpPr txBox="1"/>
          <p:nvPr/>
        </p:nvSpPr>
        <p:spPr>
          <a:xfrm>
            <a:off x="545574" y="33760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5" name="Shape 21"/>
          <p:cNvSpPr/>
          <p:nvPr/>
        </p:nvSpPr>
        <p:spPr>
          <a:xfrm>
            <a:off x="8830882" y="2655543"/>
            <a:ext cx="329184" cy="329184"/>
          </a:xfrm>
          <a:prstGeom prst="ellipse">
            <a:avLst/>
          </a:prstGeom>
          <a:solidFill>
            <a:srgbClr val="F04452"/>
          </a:solidFill>
          <a:ln w="19050">
            <a:solidFill>
              <a:srgbClr val="FFFFFF"/>
            </a:solidFill>
            <a:prstDash val="solid"/>
          </a:ln>
        </p:spPr>
      </p:sp>
      <p:sp>
        <p:nvSpPr>
          <p:cNvPr id="26" name="Text 22"/>
          <p:cNvSpPr txBox="1"/>
          <p:nvPr/>
        </p:nvSpPr>
        <p:spPr>
          <a:xfrm>
            <a:off x="8830882" y="265554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7" name="Shape 23"/>
          <p:cNvSpPr/>
          <p:nvPr/>
        </p:nvSpPr>
        <p:spPr>
          <a:xfrm>
            <a:off x="6203466" y="3631440"/>
            <a:ext cx="329184" cy="329184"/>
          </a:xfrm>
          <a:prstGeom prst="ellipse">
            <a:avLst/>
          </a:prstGeom>
          <a:solidFill>
            <a:srgbClr val="3182F6"/>
          </a:solidFill>
          <a:ln w="19050">
            <a:solidFill>
              <a:srgbClr val="FFFFFF"/>
            </a:solidFill>
            <a:prstDash val="solid"/>
          </a:ln>
        </p:spPr>
      </p:sp>
      <p:sp>
        <p:nvSpPr>
          <p:cNvPr id="28" name="Text 24"/>
          <p:cNvSpPr txBox="1"/>
          <p:nvPr/>
        </p:nvSpPr>
        <p:spPr>
          <a:xfrm>
            <a:off x="6203466" y="36314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9" name="Shape 25"/>
          <p:cNvSpPr/>
          <p:nvPr/>
        </p:nvSpPr>
        <p:spPr>
          <a:xfrm>
            <a:off x="548640" y="5029200"/>
            <a:ext cx="2650160" cy="621792"/>
          </a:xfrm>
          <a:prstGeom prst="roundRect">
            <a:avLst>
              <a:gd name="adj" fmla="val 17647"/>
            </a:avLst>
          </a:prstGeom>
          <a:solidFill>
            <a:srgbClr val="FFFFFF"/>
          </a:solidFill>
          <a:ln w="15875">
            <a:solidFill>
              <a:srgbClr val="191F28"/>
            </a:solidFill>
            <a:prstDash val="solid"/>
          </a:ln>
        </p:spPr>
      </p:sp>
      <p:sp>
        <p:nvSpPr>
          <p:cNvPr id="30" name="Shape 26"/>
          <p:cNvSpPr/>
          <p:nvPr/>
        </p:nvSpPr>
        <p:spPr>
          <a:xfrm>
            <a:off x="658368" y="5148072"/>
            <a:ext cx="365760" cy="365760"/>
          </a:xfrm>
          <a:prstGeom prst="ellipse">
            <a:avLst/>
          </a:prstGeom>
          <a:solidFill>
            <a:srgbClr val="191F28"/>
          </a:solidFill>
          <a:ln w="19050">
            <a:solidFill>
              <a:srgbClr val="FFFFFF"/>
            </a:solidFill>
            <a:prstDash val="solid"/>
          </a:ln>
        </p:spPr>
      </p:sp>
      <p:sp>
        <p:nvSpPr>
          <p:cNvPr id="31" name="Text 27"/>
          <p:cNvSpPr txBox="1"/>
          <p:nvPr/>
        </p:nvSpPr>
        <p:spPr>
          <a:xfrm>
            <a:off x="658368"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32" name="Text 28"/>
          <p:cNvSpPr txBox="1"/>
          <p:nvPr/>
        </p:nvSpPr>
        <p:spPr>
          <a:xfrm>
            <a:off x="1115568"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한 줄 결론</a:t>
            </a:r>
            <a:endParaRPr lang="en-US" sz="1450" dirty="0"/>
          </a:p>
        </p:txBody>
      </p:sp>
      <p:sp>
        <p:nvSpPr>
          <p:cNvPr id="33" name="Text 29"/>
          <p:cNvSpPr txBox="1"/>
          <p:nvPr/>
        </p:nvSpPr>
        <p:spPr>
          <a:xfrm>
            <a:off x="1115568"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오늘 상담 주제예요</a:t>
            </a:r>
            <a:endParaRPr lang="en-US" sz="1200" dirty="0"/>
          </a:p>
        </p:txBody>
      </p:sp>
      <p:sp>
        <p:nvSpPr>
          <p:cNvPr id="34" name="Text 30"/>
          <p:cNvSpPr txBox="1"/>
          <p:nvPr/>
        </p:nvSpPr>
        <p:spPr>
          <a:xfrm>
            <a:off x="3180512"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35" name="Shape 31"/>
          <p:cNvSpPr/>
          <p:nvPr/>
        </p:nvSpPr>
        <p:spPr>
          <a:xfrm>
            <a:off x="3363392" y="5029200"/>
            <a:ext cx="2650160" cy="621792"/>
          </a:xfrm>
          <a:prstGeom prst="roundRect">
            <a:avLst>
              <a:gd name="adj" fmla="val 17647"/>
            </a:avLst>
          </a:prstGeom>
          <a:solidFill>
            <a:srgbClr val="FFFFFF"/>
          </a:solidFill>
          <a:ln w="15875">
            <a:solidFill>
              <a:srgbClr val="00A86B"/>
            </a:solidFill>
            <a:prstDash val="solid"/>
          </a:ln>
        </p:spPr>
      </p:sp>
      <p:sp>
        <p:nvSpPr>
          <p:cNvPr id="36" name="Shape 32"/>
          <p:cNvSpPr/>
          <p:nvPr/>
        </p:nvSpPr>
        <p:spPr>
          <a:xfrm>
            <a:off x="3473120" y="5148072"/>
            <a:ext cx="365760" cy="365760"/>
          </a:xfrm>
          <a:prstGeom prst="ellipse">
            <a:avLst/>
          </a:prstGeom>
          <a:solidFill>
            <a:srgbClr val="00A86B"/>
          </a:solidFill>
          <a:ln w="19050">
            <a:solidFill>
              <a:srgbClr val="FFFFFF"/>
            </a:solidFill>
            <a:prstDash val="solid"/>
          </a:ln>
        </p:spPr>
      </p:sp>
      <p:sp>
        <p:nvSpPr>
          <p:cNvPr id="37" name="Text 33"/>
          <p:cNvSpPr txBox="1"/>
          <p:nvPr/>
        </p:nvSpPr>
        <p:spPr>
          <a:xfrm>
            <a:off x="3473120"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38" name="Text 34"/>
          <p:cNvSpPr txBox="1"/>
          <p:nvPr/>
        </p:nvSpPr>
        <p:spPr>
          <a:xfrm>
            <a:off x="3930320"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잘 갖춰진 것</a:t>
            </a:r>
            <a:endParaRPr lang="en-US" sz="1450" dirty="0"/>
          </a:p>
        </p:txBody>
      </p:sp>
      <p:sp>
        <p:nvSpPr>
          <p:cNvPr id="39" name="Text 35"/>
          <p:cNvSpPr txBox="1"/>
          <p:nvPr/>
        </p:nvSpPr>
        <p:spPr>
          <a:xfrm>
            <a:off x="3930320"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고객에게 안심부터 드려요</a:t>
            </a:r>
            <a:endParaRPr lang="en-US" sz="1200" dirty="0"/>
          </a:p>
        </p:txBody>
      </p:sp>
      <p:sp>
        <p:nvSpPr>
          <p:cNvPr id="40" name="Text 36"/>
          <p:cNvSpPr txBox="1"/>
          <p:nvPr/>
        </p:nvSpPr>
        <p:spPr>
          <a:xfrm>
            <a:off x="5995264"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1" name="Shape 37"/>
          <p:cNvSpPr/>
          <p:nvPr/>
        </p:nvSpPr>
        <p:spPr>
          <a:xfrm>
            <a:off x="6178144" y="5029200"/>
            <a:ext cx="2650160" cy="621792"/>
          </a:xfrm>
          <a:prstGeom prst="roundRect">
            <a:avLst>
              <a:gd name="adj" fmla="val 17647"/>
            </a:avLst>
          </a:prstGeom>
          <a:solidFill>
            <a:srgbClr val="FFFFFF"/>
          </a:solidFill>
          <a:ln w="15875">
            <a:solidFill>
              <a:srgbClr val="F04452"/>
            </a:solidFill>
            <a:prstDash val="solid"/>
          </a:ln>
        </p:spPr>
      </p:sp>
      <p:sp>
        <p:nvSpPr>
          <p:cNvPr id="42" name="Shape 38"/>
          <p:cNvSpPr/>
          <p:nvPr/>
        </p:nvSpPr>
        <p:spPr>
          <a:xfrm>
            <a:off x="6287872" y="5148072"/>
            <a:ext cx="365760" cy="365760"/>
          </a:xfrm>
          <a:prstGeom prst="ellipse">
            <a:avLst/>
          </a:prstGeom>
          <a:solidFill>
            <a:srgbClr val="F04452"/>
          </a:solidFill>
          <a:ln w="19050">
            <a:solidFill>
              <a:srgbClr val="FFFFFF"/>
            </a:solidFill>
            <a:prstDash val="solid"/>
          </a:ln>
        </p:spPr>
      </p:sp>
      <p:sp>
        <p:nvSpPr>
          <p:cNvPr id="43" name="Text 39"/>
          <p:cNvSpPr txBox="1"/>
          <p:nvPr/>
        </p:nvSpPr>
        <p:spPr>
          <a:xfrm>
            <a:off x="6287872"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44" name="Text 40"/>
          <p:cNvSpPr txBox="1"/>
          <p:nvPr/>
        </p:nvSpPr>
        <p:spPr>
          <a:xfrm>
            <a:off x="6745072"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비어 있는 것</a:t>
            </a:r>
            <a:endParaRPr lang="en-US" sz="1450" dirty="0"/>
          </a:p>
        </p:txBody>
      </p:sp>
      <p:sp>
        <p:nvSpPr>
          <p:cNvPr id="45" name="Text 41"/>
          <p:cNvSpPr txBox="1"/>
          <p:nvPr/>
        </p:nvSpPr>
        <p:spPr>
          <a:xfrm>
            <a:off x="6745072"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'미가입' 줄이 제안 포인트예요</a:t>
            </a:r>
            <a:endParaRPr lang="en-US" sz="1200" dirty="0"/>
          </a:p>
        </p:txBody>
      </p:sp>
      <p:sp>
        <p:nvSpPr>
          <p:cNvPr id="46" name="Text 42"/>
          <p:cNvSpPr txBox="1"/>
          <p:nvPr/>
        </p:nvSpPr>
        <p:spPr>
          <a:xfrm>
            <a:off x="8810015"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7" name="Shape 43"/>
          <p:cNvSpPr/>
          <p:nvPr/>
        </p:nvSpPr>
        <p:spPr>
          <a:xfrm>
            <a:off x="8992895" y="5029200"/>
            <a:ext cx="2650160" cy="621792"/>
          </a:xfrm>
          <a:prstGeom prst="roundRect">
            <a:avLst>
              <a:gd name="adj" fmla="val 17647"/>
            </a:avLst>
          </a:prstGeom>
          <a:solidFill>
            <a:srgbClr val="FFFFFF"/>
          </a:solidFill>
          <a:ln w="15875">
            <a:solidFill>
              <a:srgbClr val="3182F6"/>
            </a:solidFill>
            <a:prstDash val="solid"/>
          </a:ln>
        </p:spPr>
      </p:sp>
      <p:sp>
        <p:nvSpPr>
          <p:cNvPr id="48" name="Shape 44"/>
          <p:cNvSpPr/>
          <p:nvPr/>
        </p:nvSpPr>
        <p:spPr>
          <a:xfrm>
            <a:off x="9102623" y="5148072"/>
            <a:ext cx="365760" cy="365760"/>
          </a:xfrm>
          <a:prstGeom prst="ellipse">
            <a:avLst/>
          </a:prstGeom>
          <a:solidFill>
            <a:srgbClr val="3182F6"/>
          </a:solidFill>
          <a:ln w="19050">
            <a:solidFill>
              <a:srgbClr val="FFFFFF"/>
            </a:solidFill>
            <a:prstDash val="solid"/>
          </a:ln>
        </p:spPr>
      </p:sp>
      <p:sp>
        <p:nvSpPr>
          <p:cNvPr id="49" name="Text 45"/>
          <p:cNvSpPr txBox="1"/>
          <p:nvPr/>
        </p:nvSpPr>
        <p:spPr>
          <a:xfrm>
            <a:off x="9102623"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50" name="Text 46"/>
          <p:cNvSpPr txBox="1"/>
          <p:nvPr/>
        </p:nvSpPr>
        <p:spPr>
          <a:xfrm>
            <a:off x="9559823"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이제 하면 되는 일</a:t>
            </a:r>
            <a:endParaRPr lang="en-US" sz="1450" dirty="0"/>
          </a:p>
        </p:txBody>
      </p:sp>
      <p:sp>
        <p:nvSpPr>
          <p:cNvPr id="51" name="Text 47"/>
          <p:cNvSpPr txBox="1"/>
          <p:nvPr/>
        </p:nvSpPr>
        <p:spPr>
          <a:xfrm>
            <a:off x="9559823"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다음 행동이에요</a:t>
            </a:r>
            <a:endParaRPr lang="en-US" sz="1200" dirty="0"/>
          </a:p>
        </p:txBody>
      </p:sp>
      <p:sp>
        <p:nvSpPr>
          <p:cNvPr id="52" name="Shape 48"/>
          <p:cNvSpPr/>
          <p:nvPr/>
        </p:nvSpPr>
        <p:spPr>
          <a:xfrm>
            <a:off x="548640" y="5760720"/>
            <a:ext cx="7589520" cy="457200"/>
          </a:xfrm>
          <a:prstGeom prst="roundRect">
            <a:avLst>
              <a:gd name="adj" fmla="val 24000"/>
            </a:avLst>
          </a:prstGeom>
          <a:solidFill>
            <a:srgbClr val="E8F3FF"/>
          </a:solidFill>
          <a:ln w="12700">
            <a:solidFill>
              <a:srgbClr val="E8F3FF"/>
            </a:solidFill>
            <a:prstDash val="solid"/>
          </a:ln>
        </p:spPr>
      </p:sp>
      <p:sp>
        <p:nvSpPr>
          <p:cNvPr id="53" name="Text 49"/>
          <p:cNvSpPr txBox="1"/>
          <p:nvPr/>
        </p:nvSpPr>
        <p:spPr>
          <a:xfrm>
            <a:off x="731520" y="5760720"/>
            <a:ext cx="7315200" cy="457200"/>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한 번 더 물어요 “가입증권 별로 핵심만 표로 요약해줘”  </a:t>
            </a:r>
            <a:pPr indent="0" marL="0">
              <a:buNone/>
            </a:pPr>
            <a:r>
              <a:rPr lang="en-US" sz="1200" dirty="0">
                <a:solidFill>
                  <a:srgbClr val="4E5968"/>
                </a:solidFill>
                <a:latin typeface="맑은 고딕" pitchFamily="34" charset="0"/>
                <a:ea typeface="맑은 고딕" pitchFamily="34" charset="-122"/>
                <a:cs typeface="맑은 고딕" pitchFamily="34" charset="-120"/>
              </a:rPr>
              <a:t>증권 단위 표라 고객에게 보여 주기 좋아요</a:t>
            </a:r>
            <a:endParaRPr lang="en-US" sz="1350" dirty="0"/>
          </a:p>
        </p:txBody>
      </p:sp>
      <p:sp>
        <p:nvSpPr>
          <p:cNvPr id="54" name="Text 50"/>
          <p:cNvSpPr txBox="1"/>
          <p:nvPr/>
        </p:nvSpPr>
        <p:spPr>
          <a:xfrm>
            <a:off x="8275320" y="5760720"/>
            <a:ext cx="3367735" cy="457200"/>
          </a:xfrm>
          <a:prstGeom prst="rect">
            <a:avLst/>
          </a:prstGeom>
          <a:noFill/>
          <a:ln/>
        </p:spPr>
        <p:txBody>
          <a:bodyPr wrap="square" lIns="0" tIns="0" rIns="0" bIns="0" rtlCol="0" anchor="ctr"/>
          <a:lstStyle/>
          <a:p>
            <a:pPr algn="r" indent="0" marL="0">
              <a:buNone/>
            </a:pPr>
            <a:r>
              <a:rPr lang="en-US" sz="1050" dirty="0">
                <a:solidFill>
                  <a:srgbClr val="8B95A1"/>
                </a:solidFill>
                <a:latin typeface="맑은 고딕" pitchFamily="34" charset="0"/>
                <a:ea typeface="맑은 고딕" pitchFamily="34" charset="-122"/>
                <a:cs typeface="맑은 고딕" pitchFamily="34" charset="-120"/>
              </a:rPr>
              <a:t>※ 화면 속 금액은 예시예요</a:t>
            </a:r>
            <a:endParaRPr lang="en-US" sz="1050" dirty="0"/>
          </a:p>
          <a:p>
            <a:pPr algn="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v4(2026.10) 50쪽 · 영업가족 편 v3(2026.09) 49쪽</a:t>
            </a:r>
            <a:endParaRPr lang="en-US" sz="1050" dirty="0"/>
          </a:p>
        </p:txBody>
      </p:sp>
      <p:sp>
        <p:nvSpPr>
          <p:cNvPr id="55" name="Text 5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직접 물을 땐 “누구에게 + 무엇을”이면 돼요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말하듯 써도 MeAI가 알아들어요</a:t>
            </a:r>
            <a:endParaRPr lang="en-US" sz="1700" dirty="0"/>
          </a:p>
        </p:txBody>
      </p:sp>
      <p:sp>
        <p:nvSpPr>
          <p:cNvPr id="13" name="Shape 11"/>
          <p:cNvSpPr/>
          <p:nvPr/>
        </p:nvSpPr>
        <p:spPr>
          <a:xfrm>
            <a:off x="548640" y="1901952"/>
            <a:ext cx="2788920" cy="1207008"/>
          </a:xfrm>
          <a:prstGeom prst="roundRect">
            <a:avLst>
              <a:gd name="adj" fmla="val 10606"/>
            </a:avLst>
          </a:prstGeom>
          <a:solidFill>
            <a:srgbClr val="E8F3FF"/>
          </a:solidFill>
          <a:ln w="12700">
            <a:solidFill>
              <a:srgbClr val="E8F3FF"/>
            </a:solidFill>
            <a:prstDash val="solid"/>
          </a:ln>
        </p:spPr>
      </p:sp>
      <p:sp>
        <p:nvSpPr>
          <p:cNvPr id="14" name="Text 12"/>
          <p:cNvSpPr txBox="1"/>
          <p:nvPr/>
        </p:nvSpPr>
        <p:spPr>
          <a:xfrm>
            <a:off x="731520" y="1993392"/>
            <a:ext cx="2514600" cy="310896"/>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누구에게</a:t>
            </a:r>
            <a:endParaRPr lang="en-US" sz="1400" dirty="0"/>
          </a:p>
        </p:txBody>
      </p:sp>
      <p:sp>
        <p:nvSpPr>
          <p:cNvPr id="15" name="Text 13"/>
          <p:cNvSpPr txBox="1"/>
          <p:nvPr/>
        </p:nvSpPr>
        <p:spPr>
          <a:xfrm>
            <a:off x="731520" y="2322576"/>
            <a:ext cx="251460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“40대 자녀 둘 가장, 암진단비만 있는 고객에게”</a:t>
            </a:r>
            <a:endParaRPr lang="en-US" sz="1350" dirty="0"/>
          </a:p>
        </p:txBody>
      </p:sp>
      <p:sp>
        <p:nvSpPr>
          <p:cNvPr id="16" name="Text 14"/>
          <p:cNvSpPr txBox="1"/>
          <p:nvPr/>
        </p:nvSpPr>
        <p:spPr>
          <a:xfrm>
            <a:off x="3337560"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17" name="Shape 15"/>
          <p:cNvSpPr/>
          <p:nvPr/>
        </p:nvSpPr>
        <p:spPr>
          <a:xfrm>
            <a:off x="3511296" y="1901952"/>
            <a:ext cx="2514600" cy="1207008"/>
          </a:xfrm>
          <a:prstGeom prst="roundRect">
            <a:avLst>
              <a:gd name="adj" fmla="val 10606"/>
            </a:avLst>
          </a:prstGeom>
          <a:solidFill>
            <a:srgbClr val="FFFFFF"/>
          </a:solidFill>
          <a:ln w="15875">
            <a:solidFill>
              <a:srgbClr val="191F28"/>
            </a:solidFill>
            <a:prstDash val="solid"/>
          </a:ln>
        </p:spPr>
      </p:sp>
      <p:sp>
        <p:nvSpPr>
          <p:cNvPr id="18" name="Text 16"/>
          <p:cNvSpPr txBox="1"/>
          <p:nvPr/>
        </p:nvSpPr>
        <p:spPr>
          <a:xfrm>
            <a:off x="3694176" y="1993392"/>
            <a:ext cx="2240280" cy="310896"/>
          </a:xfrm>
          <a:prstGeom prst="rect">
            <a:avLst/>
          </a:prstGeom>
          <a:noFill/>
          <a:ln/>
        </p:spPr>
        <p:txBody>
          <a:bodyPr wrap="square" lIns="0" tIns="0" rIns="0" bIns="0" rtlCol="0" anchor="ctr"/>
          <a:lstStyle/>
          <a:p>
            <a:pPr indent="0" marL="0">
              <a:buNone/>
            </a:pPr>
            <a:r>
              <a:rPr lang="en-US" sz="1400" b="1" dirty="0">
                <a:solidFill>
                  <a:srgbClr val="191F28"/>
                </a:solidFill>
                <a:latin typeface="맑은 고딕" pitchFamily="34" charset="0"/>
                <a:ea typeface="맑은 고딕" pitchFamily="34" charset="-122"/>
                <a:cs typeface="맑은 고딕" pitchFamily="34" charset="-120"/>
              </a:rPr>
              <a:t>무엇을</a:t>
            </a:r>
            <a:endParaRPr lang="en-US" sz="1400" dirty="0"/>
          </a:p>
        </p:txBody>
      </p:sp>
      <p:sp>
        <p:nvSpPr>
          <p:cNvPr id="19" name="Text 17"/>
          <p:cNvSpPr txBox="1"/>
          <p:nvPr/>
        </p:nvSpPr>
        <p:spPr>
          <a:xfrm>
            <a:off x="3694176" y="2322576"/>
            <a:ext cx="224028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“암 통합치료비가 왜 필요한지 설명해줘”</a:t>
            </a:r>
            <a:endParaRPr lang="en-US" sz="1350" dirty="0"/>
          </a:p>
        </p:txBody>
      </p:sp>
      <p:sp>
        <p:nvSpPr>
          <p:cNvPr id="20" name="Text 18"/>
          <p:cNvSpPr txBox="1"/>
          <p:nvPr/>
        </p:nvSpPr>
        <p:spPr>
          <a:xfrm>
            <a:off x="6025896"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1" name="Shape 19"/>
          <p:cNvSpPr/>
          <p:nvPr/>
        </p:nvSpPr>
        <p:spPr>
          <a:xfrm>
            <a:off x="6199632" y="1901952"/>
            <a:ext cx="2514600" cy="1207008"/>
          </a:xfrm>
          <a:prstGeom prst="roundRect">
            <a:avLst>
              <a:gd name="adj" fmla="val 10606"/>
            </a:avLst>
          </a:prstGeom>
          <a:solidFill>
            <a:srgbClr val="FFFFFF"/>
          </a:solidFill>
          <a:ln w="12700">
            <a:solidFill>
              <a:srgbClr val="D1D6DB"/>
            </a:solidFill>
            <a:prstDash val="solid"/>
          </a:ln>
        </p:spPr>
      </p:sp>
      <p:sp>
        <p:nvSpPr>
          <p:cNvPr id="22" name="Text 20"/>
          <p:cNvSpPr txBox="1"/>
          <p:nvPr/>
        </p:nvSpPr>
        <p:spPr>
          <a:xfrm>
            <a:off x="6382512" y="1993392"/>
            <a:ext cx="2240280" cy="310896"/>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형식 · 있으면 좋아요</a:t>
            </a:r>
            <a:endParaRPr lang="en-US" sz="1400" dirty="0"/>
          </a:p>
        </p:txBody>
      </p:sp>
      <p:sp>
        <p:nvSpPr>
          <p:cNvPr id="23" name="Text 21"/>
          <p:cNvSpPr txBox="1"/>
          <p:nvPr/>
        </p:nvSpPr>
        <p:spPr>
          <a:xfrm>
            <a:off x="6382512" y="2322576"/>
            <a:ext cx="22402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“표로” · “구어체로”</a:t>
            </a:r>
            <a:endParaRPr lang="en-US" sz="1350" dirty="0"/>
          </a:p>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“카톡 6줄로”</a:t>
            </a:r>
            <a:endParaRPr lang="en-US" sz="1350" dirty="0"/>
          </a:p>
        </p:txBody>
      </p:sp>
      <p:sp>
        <p:nvSpPr>
          <p:cNvPr id="24" name="Text 22"/>
          <p:cNvSpPr txBox="1"/>
          <p:nvPr/>
        </p:nvSpPr>
        <p:spPr>
          <a:xfrm>
            <a:off x="8714232"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5" name="Shape 23"/>
          <p:cNvSpPr/>
          <p:nvPr/>
        </p:nvSpPr>
        <p:spPr>
          <a:xfrm>
            <a:off x="8887968" y="1901952"/>
            <a:ext cx="2743200" cy="1207008"/>
          </a:xfrm>
          <a:prstGeom prst="roundRect">
            <a:avLst>
              <a:gd name="adj" fmla="val 10606"/>
            </a:avLst>
          </a:prstGeom>
          <a:solidFill>
            <a:srgbClr val="FFF8E1"/>
          </a:solidFill>
          <a:ln w="12700">
            <a:solidFill>
              <a:srgbClr val="FFF8E1"/>
            </a:solidFill>
            <a:prstDash val="solid"/>
          </a:ln>
        </p:spPr>
      </p:sp>
      <p:sp>
        <p:nvSpPr>
          <p:cNvPr id="26" name="Text 24"/>
          <p:cNvSpPr txBox="1"/>
          <p:nvPr/>
        </p:nvSpPr>
        <p:spPr>
          <a:xfrm>
            <a:off x="9070848" y="1993392"/>
            <a:ext cx="2468880" cy="310896"/>
          </a:xfrm>
          <a:prstGeom prst="rect">
            <a:avLst/>
          </a:prstGeom>
          <a:noFill/>
          <a:ln/>
        </p:spPr>
        <p:txBody>
          <a:bodyPr wrap="square" lIns="0" tIns="0" rIns="0" bIns="0" rtlCol="0" anchor="ctr"/>
          <a:lstStyle/>
          <a:p>
            <a:pPr indent="0" marL="0">
              <a:buNone/>
            </a:pPr>
            <a:r>
              <a:rPr lang="en-US" sz="1400" b="1" dirty="0">
                <a:solidFill>
                  <a:srgbClr val="B7791F"/>
                </a:solidFill>
                <a:latin typeface="맑은 고딕" pitchFamily="34" charset="0"/>
                <a:ea typeface="맑은 고딕" pitchFamily="34" charset="-122"/>
                <a:cs typeface="맑은 고딕" pitchFamily="34" charset="-120"/>
              </a:rPr>
              <a:t>안전장치 한 마디</a:t>
            </a:r>
            <a:endParaRPr lang="en-US" sz="1400" dirty="0"/>
          </a:p>
        </p:txBody>
      </p:sp>
      <p:sp>
        <p:nvSpPr>
          <p:cNvPr id="27" name="Text 25"/>
          <p:cNvSpPr txBox="1"/>
          <p:nvPr/>
        </p:nvSpPr>
        <p:spPr>
          <a:xfrm>
            <a:off x="9070848" y="2322576"/>
            <a:ext cx="24688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“자료에 없으면 추정하지 말고</a:t>
            </a:r>
            <a:endParaRPr lang="en-US" sz="1350" dirty="0"/>
          </a:p>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‘확인필요’로 표시해”</a:t>
            </a:r>
            <a:endParaRPr lang="en-US" sz="1350" dirty="0"/>
          </a:p>
        </p:txBody>
      </p:sp>
      <p:sp>
        <p:nvSpPr>
          <p:cNvPr id="28" name="Text 26"/>
          <p:cNvSpPr txBox="1"/>
          <p:nvPr/>
        </p:nvSpPr>
        <p:spPr>
          <a:xfrm>
            <a:off x="548640" y="3246120"/>
            <a:ext cx="7315200" cy="329184"/>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한 줄만 바꿔도 답이 달라져요</a:t>
            </a:r>
            <a:endParaRPr lang="en-US" sz="1600" dirty="0"/>
          </a:p>
        </p:txBody>
      </p:sp>
      <p:sp>
        <p:nvSpPr>
          <p:cNvPr id="29" name="Shape 27"/>
          <p:cNvSpPr/>
          <p:nvPr/>
        </p:nvSpPr>
        <p:spPr>
          <a:xfrm>
            <a:off x="548640" y="3630168"/>
            <a:ext cx="3566160" cy="1143000"/>
          </a:xfrm>
          <a:prstGeom prst="roundRect">
            <a:avLst>
              <a:gd name="adj" fmla="val 11200"/>
            </a:avLst>
          </a:prstGeom>
          <a:solidFill>
            <a:srgbClr val="F2F4F6"/>
          </a:solidFill>
          <a:ln w="12700">
            <a:solidFill>
              <a:srgbClr val="F2F4F6"/>
            </a:solidFill>
            <a:prstDash val="solid"/>
          </a:ln>
        </p:spPr>
      </p:sp>
      <p:sp>
        <p:nvSpPr>
          <p:cNvPr id="30" name="Shape 28"/>
          <p:cNvSpPr/>
          <p:nvPr/>
        </p:nvSpPr>
        <p:spPr>
          <a:xfrm>
            <a:off x="731520" y="3758184"/>
            <a:ext cx="518160" cy="274320"/>
          </a:xfrm>
          <a:prstGeom prst="roundRect">
            <a:avLst>
              <a:gd name="adj" fmla="val 50000"/>
            </a:avLst>
          </a:prstGeom>
          <a:solidFill>
            <a:srgbClr val="6B7684"/>
          </a:solidFill>
          <a:ln w="12700">
            <a:solidFill>
              <a:srgbClr val="6B7684"/>
            </a:solidFill>
            <a:prstDash val="solid"/>
          </a:ln>
        </p:spPr>
      </p:sp>
      <p:sp>
        <p:nvSpPr>
          <p:cNvPr id="31" name="Text 29"/>
          <p:cNvSpPr txBox="1"/>
          <p:nvPr/>
        </p:nvSpPr>
        <p:spPr>
          <a:xfrm>
            <a:off x="73152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전</a:t>
            </a:r>
            <a:endParaRPr lang="en-US" sz="1200" dirty="0"/>
          </a:p>
        </p:txBody>
      </p:sp>
      <p:sp>
        <p:nvSpPr>
          <p:cNvPr id="32" name="Text 30"/>
          <p:cNvSpPr txBox="1"/>
          <p:nvPr/>
        </p:nvSpPr>
        <p:spPr>
          <a:xfrm>
            <a:off x="731520" y="4069080"/>
            <a:ext cx="3200400" cy="347472"/>
          </a:xfrm>
          <a:prstGeom prst="rect">
            <a:avLst/>
          </a:prstGeom>
          <a:noFill/>
          <a:ln/>
        </p:spPr>
        <p:txBody>
          <a:bodyPr wrap="square" lIns="0" tIns="0" rIns="0" bIns="0" rtlCol="0" anchor="ctr"/>
          <a:lstStyle/>
          <a:p>
            <a:pPr indent="0" marL="0">
              <a:buNone/>
            </a:pPr>
            <a:r>
              <a:rPr lang="en-US" sz="1600" b="1" dirty="0">
                <a:solidFill>
                  <a:srgbClr val="4E5968"/>
                </a:solidFill>
                <a:latin typeface="맑은 고딕" pitchFamily="34" charset="0"/>
                <a:ea typeface="맑은 고딕" pitchFamily="34" charset="-122"/>
                <a:cs typeface="맑은 고딕" pitchFamily="34" charset="-120"/>
              </a:rPr>
              <a:t>“실손 설명해줘”</a:t>
            </a:r>
            <a:endParaRPr lang="en-US" sz="1600" dirty="0"/>
          </a:p>
        </p:txBody>
      </p:sp>
      <p:sp>
        <p:nvSpPr>
          <p:cNvPr id="33" name="Text 31"/>
          <p:cNvSpPr txBox="1"/>
          <p:nvPr/>
        </p:nvSpPr>
        <p:spPr>
          <a:xfrm>
            <a:off x="731520" y="4416552"/>
            <a:ext cx="3200400" cy="292608"/>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 실손의 일반 개념을 길게 설명</a:t>
            </a:r>
            <a:endParaRPr lang="en-US" sz="1300" dirty="0"/>
          </a:p>
        </p:txBody>
      </p:sp>
      <p:sp>
        <p:nvSpPr>
          <p:cNvPr id="34" name="Text 32"/>
          <p:cNvSpPr txBox="1"/>
          <p:nvPr/>
        </p:nvSpPr>
        <p:spPr>
          <a:xfrm>
            <a:off x="4114800" y="3630168"/>
            <a:ext cx="365760" cy="1143000"/>
          </a:xfrm>
          <a:prstGeom prst="rect">
            <a:avLst/>
          </a:prstGeom>
          <a:noFill/>
          <a:ln/>
        </p:spPr>
        <p:txBody>
          <a:bodyPr wrap="square" lIns="0" tIns="0" rIns="0" bIns="0" rtlCol="0" anchor="ctr"/>
          <a:lstStyle/>
          <a:p>
            <a:pPr algn="ctr" indent="0" marL="0">
              <a:buNone/>
            </a:pPr>
            <a:r>
              <a:rPr lang="en-US" sz="2800" dirty="0">
                <a:solidFill>
                  <a:srgbClr val="3182F6"/>
                </a:solidFill>
                <a:latin typeface="맑은 고딕" pitchFamily="34" charset="0"/>
                <a:ea typeface="맑은 고딕" pitchFamily="34" charset="-122"/>
                <a:cs typeface="맑은 고딕" pitchFamily="34" charset="-120"/>
              </a:rPr>
              <a:t>›</a:t>
            </a:r>
            <a:endParaRPr lang="en-US" sz="2800" dirty="0"/>
          </a:p>
        </p:txBody>
      </p:sp>
      <p:sp>
        <p:nvSpPr>
          <p:cNvPr id="35" name="Shape 33"/>
          <p:cNvSpPr/>
          <p:nvPr/>
        </p:nvSpPr>
        <p:spPr>
          <a:xfrm>
            <a:off x="4480560" y="3630168"/>
            <a:ext cx="7162495" cy="1143000"/>
          </a:xfrm>
          <a:prstGeom prst="roundRect">
            <a:avLst>
              <a:gd name="adj" fmla="val 11200"/>
            </a:avLst>
          </a:prstGeom>
          <a:solidFill>
            <a:srgbClr val="FFFFFF"/>
          </a:solidFill>
          <a:ln w="19050">
            <a:solidFill>
              <a:srgbClr val="3182F6"/>
            </a:solidFill>
            <a:prstDash val="solid"/>
          </a:ln>
        </p:spPr>
      </p:sp>
      <p:sp>
        <p:nvSpPr>
          <p:cNvPr id="36" name="Shape 34"/>
          <p:cNvSpPr/>
          <p:nvPr/>
        </p:nvSpPr>
        <p:spPr>
          <a:xfrm>
            <a:off x="4663440" y="3758184"/>
            <a:ext cx="518160" cy="274320"/>
          </a:xfrm>
          <a:prstGeom prst="roundRect">
            <a:avLst>
              <a:gd name="adj" fmla="val 50000"/>
            </a:avLst>
          </a:prstGeom>
          <a:solidFill>
            <a:srgbClr val="3182F6"/>
          </a:solidFill>
          <a:ln w="12700">
            <a:solidFill>
              <a:srgbClr val="3182F6"/>
            </a:solidFill>
            <a:prstDash val="solid"/>
          </a:ln>
        </p:spPr>
      </p:sp>
      <p:sp>
        <p:nvSpPr>
          <p:cNvPr id="37" name="Text 35"/>
          <p:cNvSpPr txBox="1"/>
          <p:nvPr/>
        </p:nvSpPr>
        <p:spPr>
          <a:xfrm>
            <a:off x="466344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후</a:t>
            </a:r>
            <a:endParaRPr lang="en-US" sz="1200" dirty="0"/>
          </a:p>
        </p:txBody>
      </p:sp>
      <p:sp>
        <p:nvSpPr>
          <p:cNvPr id="38" name="Text 36"/>
          <p:cNvSpPr txBox="1"/>
          <p:nvPr/>
        </p:nvSpPr>
        <p:spPr>
          <a:xfrm>
            <a:off x="4663440" y="4050792"/>
            <a:ext cx="6842455" cy="36576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“3세대 실손 가입한 50대 고객에게, 4세대와 비교해서 … 표 1개로 정리하고 …”</a:t>
            </a:r>
            <a:endParaRPr lang="en-US" sz="1450" dirty="0"/>
          </a:p>
        </p:txBody>
      </p:sp>
      <p:sp>
        <p:nvSpPr>
          <p:cNvPr id="39" name="Text 37"/>
          <p:cNvSpPr txBox="1"/>
          <p:nvPr/>
        </p:nvSpPr>
        <p:spPr>
          <a:xfrm>
            <a:off x="4663440" y="4416552"/>
            <a:ext cx="6842455" cy="292608"/>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 고객 세대 기준 비교표 + 바로 말할 수 있는 3가지</a:t>
            </a:r>
            <a:endParaRPr lang="en-US" sz="1350" dirty="0"/>
          </a:p>
        </p:txBody>
      </p:sp>
      <p:sp>
        <p:nvSpPr>
          <p:cNvPr id="40" name="Shape 38"/>
          <p:cNvSpPr/>
          <p:nvPr/>
        </p:nvSpPr>
        <p:spPr>
          <a:xfrm>
            <a:off x="548640" y="4937760"/>
            <a:ext cx="11094415" cy="1078992"/>
          </a:xfrm>
          <a:prstGeom prst="roundRect">
            <a:avLst>
              <a:gd name="adj" fmla="val 11864"/>
            </a:avLst>
          </a:prstGeom>
          <a:solidFill>
            <a:srgbClr val="F9FAFB"/>
          </a:solidFill>
          <a:ln w="12700">
            <a:solidFill>
              <a:srgbClr val="F9FAFB"/>
            </a:solidFill>
            <a:prstDash val="solid"/>
          </a:ln>
        </p:spPr>
      </p:sp>
      <p:pic>
        <p:nvPicPr>
          <p:cNvPr id="41" name="Image 0" descr="MeAI 화면 캡처">    </p:cNvPr>
          <p:cNvPicPr>
            <a:picLocks noChangeAspect="1"/>
          </p:cNvPicPr>
          <p:nvPr/>
        </p:nvPicPr>
        <p:blipFill>
          <a:blip r:embed="rId1"/>
          <a:stretch>
            <a:fillRect/>
          </a:stretch>
        </p:blipFill>
        <p:spPr>
          <a:xfrm>
            <a:off x="777240" y="5029200"/>
            <a:ext cx="2213002" cy="731520"/>
          </a:xfrm>
          <a:prstGeom prst="rect">
            <a:avLst/>
          </a:prstGeom>
        </p:spPr>
      </p:pic>
      <p:sp>
        <p:nvSpPr>
          <p:cNvPr id="42" name="Shape 39"/>
          <p:cNvSpPr/>
          <p:nvPr/>
        </p:nvSpPr>
        <p:spPr>
          <a:xfrm>
            <a:off x="2451309" y="4941064"/>
            <a:ext cx="237744" cy="237744"/>
          </a:xfrm>
          <a:prstGeom prst="ellipse">
            <a:avLst/>
          </a:prstGeom>
          <a:solidFill>
            <a:srgbClr val="F04452"/>
          </a:solidFill>
          <a:ln w="19050">
            <a:solidFill>
              <a:srgbClr val="FFFFFF"/>
            </a:solidFill>
            <a:prstDash val="solid"/>
          </a:ln>
        </p:spPr>
      </p:sp>
      <p:sp>
        <p:nvSpPr>
          <p:cNvPr id="43" name="Text 40"/>
          <p:cNvSpPr txBox="1"/>
          <p:nvPr/>
        </p:nvSpPr>
        <p:spPr>
          <a:xfrm>
            <a:off x="2451309" y="4941064"/>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44" name="Shape 41"/>
          <p:cNvSpPr/>
          <p:nvPr/>
        </p:nvSpPr>
        <p:spPr>
          <a:xfrm>
            <a:off x="2672609" y="5371370"/>
            <a:ext cx="237744" cy="237744"/>
          </a:xfrm>
          <a:prstGeom prst="ellipse">
            <a:avLst/>
          </a:prstGeom>
          <a:solidFill>
            <a:srgbClr val="F04452"/>
          </a:solidFill>
          <a:ln w="19050">
            <a:solidFill>
              <a:srgbClr val="FFFFFF"/>
            </a:solidFill>
            <a:prstDash val="solid"/>
          </a:ln>
        </p:spPr>
      </p:sp>
      <p:sp>
        <p:nvSpPr>
          <p:cNvPr id="45" name="Text 42"/>
          <p:cNvSpPr txBox="1"/>
          <p:nvPr/>
        </p:nvSpPr>
        <p:spPr>
          <a:xfrm>
            <a:off x="2672609" y="5371370"/>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6" name="Text 43"/>
          <p:cNvSpPr txBox="1"/>
          <p:nvPr/>
        </p:nvSpPr>
        <p:spPr>
          <a:xfrm>
            <a:off x="731520" y="5742432"/>
            <a:ext cx="2651760" cy="237744"/>
          </a:xfrm>
          <a:prstGeom prst="rect">
            <a:avLst/>
          </a:prstGeom>
          <a:noFill/>
          <a:ln/>
        </p:spPr>
        <p:txBody>
          <a:bodyPr wrap="square" lIns="0" tIns="0" rIns="0" bIns="0" rtlCol="0" anchor="ctr"/>
          <a:lstStyle/>
          <a:p>
            <a:pPr algn="ctr" indent="0" marL="0">
              <a:buNone/>
            </a:pPr>
            <a:r>
              <a:rPr lang="en-US" sz="1100" dirty="0">
                <a:solidFill>
                  <a:srgbClr val="8B95A1"/>
                </a:solidFill>
                <a:latin typeface="맑은 고딕" pitchFamily="34" charset="0"/>
                <a:ea typeface="맑은 고딕" pitchFamily="34" charset="-122"/>
                <a:cs typeface="맑은 고딕" pitchFamily="34" charset="-120"/>
              </a:rPr>
              <a:t>휴대폰 MeAI 입력창</a:t>
            </a:r>
            <a:endParaRPr lang="en-US" sz="1100" dirty="0"/>
          </a:p>
        </p:txBody>
      </p:sp>
      <p:sp>
        <p:nvSpPr>
          <p:cNvPr id="47" name="Text 44"/>
          <p:cNvSpPr txBox="1"/>
          <p:nvPr/>
        </p:nvSpPr>
        <p:spPr>
          <a:xfrm>
            <a:off x="3657600" y="4937760"/>
            <a:ext cx="7802575" cy="1078992"/>
          </a:xfrm>
          <a:prstGeom prst="rect">
            <a:avLst/>
          </a:prstGeom>
          <a:noFill/>
          <a:ln/>
        </p:spPr>
        <p:txBody>
          <a:bodyPr wrap="square" lIns="0" tIns="0" rIns="0" bIns="0" rtlCol="0" anchor="ctr"/>
          <a:lstStyle/>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안 맞으면 “더 쉽게” · “표로 다시” 한 마디</a:t>
            </a:r>
            <a:endParaRPr lang="en-US" sz="1550" dirty="0"/>
          </a:p>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휴대폰은 ① 마이크를 눌러 말해요 · 오타만 확인하고 ② ↑</a:t>
            </a:r>
            <a:endParaRPr lang="en-US" sz="1550" dirty="0"/>
          </a:p>
        </p:txBody>
      </p:sp>
      <p:sp>
        <p:nvSpPr>
          <p:cNvPr id="48" name="Text 45"/>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예시 문장 출처: MeAI 활용 가이드북 영업가족 편(2026.09)</a:t>
            </a:r>
            <a:endParaRPr lang="en-US" sz="11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할 말도 MeAI가 초안을 써요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한 줄만 부탁하면 초안이 나와요</a:t>
            </a:r>
            <a:endParaRPr lang="en-US" sz="1700" dirty="0"/>
          </a:p>
        </p:txBody>
      </p:sp>
      <p:sp>
        <p:nvSpPr>
          <p:cNvPr id="13" name="Shape 11"/>
          <p:cNvSpPr/>
          <p:nvPr/>
        </p:nvSpPr>
        <p:spPr>
          <a:xfrm>
            <a:off x="548640" y="1874520"/>
            <a:ext cx="11094415" cy="1691640"/>
          </a:xfrm>
          <a:prstGeom prst="roundRect">
            <a:avLst>
              <a:gd name="adj" fmla="val 8649"/>
            </a:avLst>
          </a:prstGeom>
          <a:solidFill>
            <a:srgbClr val="F9FAFB"/>
          </a:solidFill>
          <a:ln w="12700">
            <a:solidFill>
              <a:srgbClr val="F9FAFB"/>
            </a:solidFill>
            <a:prstDash val="solid"/>
          </a:ln>
        </p:spPr>
      </p:sp>
      <p:sp>
        <p:nvSpPr>
          <p:cNvPr id="14" name="Text 12"/>
          <p:cNvSpPr txBox="1"/>
          <p:nvPr/>
        </p:nvSpPr>
        <p:spPr>
          <a:xfrm>
            <a:off x="777240" y="1965960"/>
            <a:ext cx="2834640" cy="36576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파란 추천 질문 한 번</a:t>
            </a:r>
            <a:endParaRPr lang="en-US" sz="1700" dirty="0"/>
          </a:p>
        </p:txBody>
      </p:sp>
      <p:sp>
        <p:nvSpPr>
          <p:cNvPr id="15" name="Text 13"/>
          <p:cNvSpPr txBox="1"/>
          <p:nvPr/>
        </p:nvSpPr>
        <p:spPr>
          <a:xfrm>
            <a:off x="777240" y="2350008"/>
            <a:ext cx="2834640" cy="566928"/>
          </a:xfrm>
          <a:prstGeom prst="rect">
            <a:avLst/>
          </a:prstGeom>
          <a:noFill/>
          <a:ln/>
        </p:spPr>
        <p:txBody>
          <a:bodyPr wrap="square" lIns="0" tIns="0" rIns="0" bIns="0" rtlCol="0" anchor="t"/>
          <a:lstStyle/>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그룹·나이대·유형 조건으로 요청</a:t>
            </a:r>
            <a:endParaRPr lang="en-US" sz="1300" dirty="0"/>
          </a:p>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고객 성명·연락처는 넣지 않아요</a:t>
            </a:r>
            <a:endParaRPr lang="en-US" sz="1300" dirty="0"/>
          </a:p>
        </p:txBody>
      </p:sp>
      <p:pic>
        <p:nvPicPr>
          <p:cNvPr id="16" name="Image 0" descr="MeAI 화면 캡처">    </p:cNvPr>
          <p:cNvPicPr>
            <a:picLocks noChangeAspect="1"/>
          </p:cNvPicPr>
          <p:nvPr/>
        </p:nvPicPr>
        <p:blipFill>
          <a:blip r:embed="rId1"/>
          <a:stretch>
            <a:fillRect/>
          </a:stretch>
        </p:blipFill>
        <p:spPr>
          <a:xfrm>
            <a:off x="3749040" y="1993392"/>
            <a:ext cx="5943600" cy="1143000"/>
          </a:xfrm>
          <a:prstGeom prst="rect">
            <a:avLst/>
          </a:prstGeom>
        </p:spPr>
      </p:pic>
      <p:sp>
        <p:nvSpPr>
          <p:cNvPr id="17" name="Shape 14"/>
          <p:cNvSpPr/>
          <p:nvPr/>
        </p:nvSpPr>
        <p:spPr>
          <a:xfrm>
            <a:off x="3977640" y="2374392"/>
            <a:ext cx="1600200" cy="0"/>
          </a:xfrm>
          <a:prstGeom prst="line">
            <a:avLst/>
          </a:prstGeom>
          <a:noFill/>
          <a:ln w="31750">
            <a:solidFill>
              <a:srgbClr val="3182F6"/>
            </a:solidFill>
            <a:prstDash val="solid"/>
          </a:ln>
        </p:spPr>
      </p:sp>
      <p:sp>
        <p:nvSpPr>
          <p:cNvPr id="18" name="Shape 15"/>
          <p:cNvSpPr/>
          <p:nvPr/>
        </p:nvSpPr>
        <p:spPr>
          <a:xfrm>
            <a:off x="8625840" y="2374392"/>
            <a:ext cx="819150" cy="0"/>
          </a:xfrm>
          <a:prstGeom prst="line">
            <a:avLst/>
          </a:prstGeom>
          <a:noFill/>
          <a:ln w="31750">
            <a:solidFill>
              <a:srgbClr val="7048E8"/>
            </a:solidFill>
            <a:prstDash val="solid"/>
          </a:ln>
        </p:spPr>
      </p:sp>
      <p:sp>
        <p:nvSpPr>
          <p:cNvPr id="19" name="Shape 16"/>
          <p:cNvSpPr/>
          <p:nvPr/>
        </p:nvSpPr>
        <p:spPr>
          <a:xfrm>
            <a:off x="3985260" y="2538222"/>
            <a:ext cx="1508760" cy="0"/>
          </a:xfrm>
          <a:prstGeom prst="line">
            <a:avLst/>
          </a:prstGeom>
          <a:noFill/>
          <a:ln w="31750">
            <a:solidFill>
              <a:srgbClr val="7048E8"/>
            </a:solidFill>
            <a:prstDash val="solid"/>
          </a:ln>
        </p:spPr>
      </p:sp>
      <p:sp>
        <p:nvSpPr>
          <p:cNvPr id="20" name="Shape 17"/>
          <p:cNvSpPr/>
          <p:nvPr/>
        </p:nvSpPr>
        <p:spPr>
          <a:xfrm>
            <a:off x="5505450" y="2538222"/>
            <a:ext cx="1508760" cy="0"/>
          </a:xfrm>
          <a:prstGeom prst="line">
            <a:avLst/>
          </a:prstGeom>
          <a:noFill/>
          <a:ln w="31750">
            <a:solidFill>
              <a:srgbClr val="F04452"/>
            </a:solidFill>
            <a:prstDash val="solid"/>
          </a:ln>
        </p:spPr>
      </p:sp>
      <p:sp>
        <p:nvSpPr>
          <p:cNvPr id="21" name="Shape 18"/>
          <p:cNvSpPr/>
          <p:nvPr/>
        </p:nvSpPr>
        <p:spPr>
          <a:xfrm>
            <a:off x="777240" y="3200400"/>
            <a:ext cx="274320" cy="274320"/>
          </a:xfrm>
          <a:prstGeom prst="ellipse">
            <a:avLst/>
          </a:prstGeom>
          <a:solidFill>
            <a:srgbClr val="3182F6"/>
          </a:solidFill>
          <a:ln w="19050">
            <a:solidFill>
              <a:srgbClr val="FFFFFF"/>
            </a:solidFill>
            <a:prstDash val="solid"/>
          </a:ln>
        </p:spPr>
      </p:sp>
      <p:sp>
        <p:nvSpPr>
          <p:cNvPr id="22" name="Text 19"/>
          <p:cNvSpPr txBox="1"/>
          <p:nvPr/>
        </p:nvSpPr>
        <p:spPr>
          <a:xfrm>
            <a:off x="77724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a:t>
            </a:r>
            <a:endParaRPr lang="en-US" sz="1100" dirty="0"/>
          </a:p>
        </p:txBody>
      </p:sp>
      <p:sp>
        <p:nvSpPr>
          <p:cNvPr id="23" name="Text 20"/>
          <p:cNvSpPr txBox="1"/>
          <p:nvPr/>
        </p:nvSpPr>
        <p:spPr>
          <a:xfrm>
            <a:off x="112471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조건</a:t>
            </a:r>
            <a:endParaRPr lang="en-US" sz="1300" dirty="0"/>
          </a:p>
        </p:txBody>
      </p:sp>
      <p:sp>
        <p:nvSpPr>
          <p:cNvPr id="24" name="Shape 21"/>
          <p:cNvSpPr/>
          <p:nvPr/>
        </p:nvSpPr>
        <p:spPr>
          <a:xfrm>
            <a:off x="1866392" y="3200400"/>
            <a:ext cx="274320" cy="274320"/>
          </a:xfrm>
          <a:prstGeom prst="ellipse">
            <a:avLst/>
          </a:prstGeom>
          <a:solidFill>
            <a:srgbClr val="7048E8"/>
          </a:solidFill>
          <a:ln w="19050">
            <a:solidFill>
              <a:srgbClr val="FFFFFF"/>
            </a:solidFill>
            <a:prstDash val="solid"/>
          </a:ln>
        </p:spPr>
      </p:sp>
      <p:sp>
        <p:nvSpPr>
          <p:cNvPr id="25" name="Text 22"/>
          <p:cNvSpPr txBox="1"/>
          <p:nvPr/>
        </p:nvSpPr>
        <p:spPr>
          <a:xfrm>
            <a:off x="1866392"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2</a:t>
            </a:r>
            <a:endParaRPr lang="en-US" sz="1100" dirty="0"/>
          </a:p>
        </p:txBody>
      </p:sp>
      <p:sp>
        <p:nvSpPr>
          <p:cNvPr id="26" name="Text 23"/>
          <p:cNvSpPr txBox="1"/>
          <p:nvPr/>
        </p:nvSpPr>
        <p:spPr>
          <a:xfrm>
            <a:off x="2213864"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3~4줄 · 부담스럽지 않은 톤</a:t>
            </a:r>
            <a:endParaRPr lang="en-US" sz="1300" dirty="0"/>
          </a:p>
        </p:txBody>
      </p:sp>
      <p:sp>
        <p:nvSpPr>
          <p:cNvPr id="27" name="Shape 24"/>
          <p:cNvSpPr/>
          <p:nvPr/>
        </p:nvSpPr>
        <p:spPr>
          <a:xfrm>
            <a:off x="4665980" y="3200400"/>
            <a:ext cx="274320" cy="274320"/>
          </a:xfrm>
          <a:prstGeom prst="ellipse">
            <a:avLst/>
          </a:prstGeom>
          <a:solidFill>
            <a:srgbClr val="F04452"/>
          </a:solidFill>
          <a:ln w="19050">
            <a:solidFill>
              <a:srgbClr val="FFFFFF"/>
            </a:solidFill>
            <a:prstDash val="solid"/>
          </a:ln>
        </p:spPr>
      </p:sp>
      <p:sp>
        <p:nvSpPr>
          <p:cNvPr id="28" name="Text 25"/>
          <p:cNvSpPr txBox="1"/>
          <p:nvPr/>
        </p:nvSpPr>
        <p:spPr>
          <a:xfrm>
            <a:off x="466598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3</a:t>
            </a:r>
            <a:endParaRPr lang="en-US" sz="1100" dirty="0"/>
          </a:p>
        </p:txBody>
      </p:sp>
      <p:sp>
        <p:nvSpPr>
          <p:cNvPr id="29" name="Text 26"/>
          <p:cNvSpPr txBox="1"/>
          <p:nvPr/>
        </p:nvSpPr>
        <p:spPr>
          <a:xfrm>
            <a:off x="501345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성명·연락처는 빼요</a:t>
            </a:r>
            <a:endParaRPr lang="en-US" sz="1300" dirty="0"/>
          </a:p>
        </p:txBody>
      </p:sp>
      <p:sp>
        <p:nvSpPr>
          <p:cNvPr id="30" name="Text 27"/>
          <p:cNvSpPr txBox="1"/>
          <p:nvPr/>
        </p:nvSpPr>
        <p:spPr>
          <a:xfrm>
            <a:off x="548640" y="3675888"/>
            <a:ext cx="566928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직접 부탁해도 돼요</a:t>
            </a:r>
            <a:endParaRPr lang="en-US" sz="1700" dirty="0"/>
          </a:p>
        </p:txBody>
      </p:sp>
      <p:sp>
        <p:nvSpPr>
          <p:cNvPr id="31" name="Shape 28"/>
          <p:cNvSpPr/>
          <p:nvPr/>
        </p:nvSpPr>
        <p:spPr>
          <a:xfrm>
            <a:off x="548640" y="4069080"/>
            <a:ext cx="5669280" cy="731520"/>
          </a:xfrm>
          <a:prstGeom prst="roundRect">
            <a:avLst>
              <a:gd name="adj" fmla="val 17500"/>
            </a:avLst>
          </a:prstGeom>
          <a:solidFill>
            <a:srgbClr val="FFFFFF"/>
          </a:solidFill>
          <a:ln w="15875">
            <a:solidFill>
              <a:srgbClr val="3182F6"/>
            </a:solidFill>
            <a:prstDash val="solid"/>
          </a:ln>
        </p:spPr>
      </p:sp>
      <p:sp>
        <p:nvSpPr>
          <p:cNvPr id="32" name="Text 29"/>
          <p:cNvSpPr txBox="1"/>
          <p:nvPr/>
        </p:nvSpPr>
        <p:spPr>
          <a:xfrm>
            <a:off x="731520" y="4123944"/>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카톡 안내문</a:t>
            </a:r>
            <a:endParaRPr lang="en-US" sz="1200" dirty="0"/>
          </a:p>
        </p:txBody>
      </p:sp>
      <p:sp>
        <p:nvSpPr>
          <p:cNvPr id="33" name="Text 30"/>
          <p:cNvSpPr txBox="1"/>
          <p:nvPr/>
        </p:nvSpPr>
        <p:spPr>
          <a:xfrm>
            <a:off x="731520" y="4343400"/>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“보장분석 결과를 고객에게 보낼 카톡 안내문 6줄로 써줘. 존댓말, 단정 표현은 빼고”</a:t>
            </a:r>
            <a:endParaRPr lang="en-US" sz="1350" dirty="0"/>
          </a:p>
        </p:txBody>
      </p:sp>
      <p:sp>
        <p:nvSpPr>
          <p:cNvPr id="34" name="Shape 31"/>
          <p:cNvSpPr/>
          <p:nvPr/>
        </p:nvSpPr>
        <p:spPr>
          <a:xfrm>
            <a:off x="548640" y="4873752"/>
            <a:ext cx="5669280" cy="731520"/>
          </a:xfrm>
          <a:prstGeom prst="roundRect">
            <a:avLst>
              <a:gd name="adj" fmla="val 17500"/>
            </a:avLst>
          </a:prstGeom>
          <a:solidFill>
            <a:srgbClr val="FFFFFF"/>
          </a:solidFill>
          <a:ln w="15875">
            <a:solidFill>
              <a:srgbClr val="3182F6"/>
            </a:solidFill>
            <a:prstDash val="solid"/>
          </a:ln>
        </p:spPr>
      </p:sp>
      <p:sp>
        <p:nvSpPr>
          <p:cNvPr id="35" name="Text 32"/>
          <p:cNvSpPr txBox="1"/>
          <p:nvPr/>
        </p:nvSpPr>
        <p:spPr>
          <a:xfrm>
            <a:off x="731520" y="4928616"/>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첫 미팅 전</a:t>
            </a:r>
            <a:endParaRPr lang="en-US" sz="1200" dirty="0"/>
          </a:p>
        </p:txBody>
      </p:sp>
      <p:sp>
        <p:nvSpPr>
          <p:cNvPr id="36" name="Text 33"/>
          <p:cNvSpPr txBox="1"/>
          <p:nvPr/>
        </p:nvSpPr>
        <p:spPr>
          <a:xfrm>
            <a:off x="731520" y="5148072"/>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“이 고객에게 첫 만남에서 꺼낼 질문 3개 만들어줘”</a:t>
            </a:r>
            <a:endParaRPr lang="en-US" sz="1350" dirty="0"/>
          </a:p>
        </p:txBody>
      </p:sp>
      <p:sp>
        <p:nvSpPr>
          <p:cNvPr id="37" name="Text 34"/>
          <p:cNvSpPr txBox="1"/>
          <p:nvPr/>
        </p:nvSpPr>
        <p:spPr>
          <a:xfrm>
            <a:off x="6446520" y="3675888"/>
            <a:ext cx="274320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앞에서는 두 버튼</a:t>
            </a:r>
            <a:endParaRPr lang="en-US" sz="1700" dirty="0"/>
          </a:p>
        </p:txBody>
      </p:sp>
      <p:sp>
        <p:nvSpPr>
          <p:cNvPr id="38" name="Shape 35"/>
          <p:cNvSpPr/>
          <p:nvPr/>
        </p:nvSpPr>
        <p:spPr>
          <a:xfrm>
            <a:off x="9616135" y="3712464"/>
            <a:ext cx="2026920" cy="274320"/>
          </a:xfrm>
          <a:prstGeom prst="roundRect">
            <a:avLst>
              <a:gd name="adj" fmla="val 50000"/>
            </a:avLst>
          </a:prstGeom>
          <a:solidFill>
            <a:srgbClr val="FFF0F0"/>
          </a:solidFill>
          <a:ln w="12700">
            <a:solidFill>
              <a:srgbClr val="FFF0F0"/>
            </a:solidFill>
            <a:prstDash val="solid"/>
          </a:ln>
        </p:spPr>
      </p:sp>
      <p:sp>
        <p:nvSpPr>
          <p:cNvPr id="39" name="Text 36"/>
          <p:cNvSpPr txBox="1"/>
          <p:nvPr/>
        </p:nvSpPr>
        <p:spPr>
          <a:xfrm>
            <a:off x="9616135" y="3712464"/>
            <a:ext cx="2026920" cy="274320"/>
          </a:xfrm>
          <a:prstGeom prst="rect">
            <a:avLst/>
          </a:prstGeom>
          <a:noFill/>
          <a:ln/>
        </p:spPr>
        <p:txBody>
          <a:bodyPr wrap="square" lIns="0" tIns="0" rIns="0" bIns="0" rtlCol="0" anchor="ctr"/>
          <a:lstStyle/>
          <a:p>
            <a:pPr algn="ctr" indent="0" marL="0">
              <a:buNone/>
            </a:pPr>
            <a:r>
              <a:rPr lang="en-US" sz="1200" b="1" dirty="0">
                <a:solidFill>
                  <a:srgbClr val="F04452"/>
                </a:solidFill>
                <a:latin typeface="맑은 고딕" pitchFamily="34" charset="0"/>
                <a:ea typeface="맑은 고딕" pitchFamily="34" charset="-122"/>
                <a:cs typeface="맑은 고딕" pitchFamily="34" charset="-120"/>
              </a:rPr>
              <a:t>개발 중 · 바뀔 수 있어요</a:t>
            </a:r>
            <a:endParaRPr lang="en-US" sz="1200" dirty="0"/>
          </a:p>
        </p:txBody>
      </p:sp>
      <p:pic>
        <p:nvPicPr>
          <p:cNvPr id="40" name="Image 1" descr="MeAI 화면 캡처">    </p:cNvPr>
          <p:cNvPicPr>
            <a:picLocks noChangeAspect="1"/>
          </p:cNvPicPr>
          <p:nvPr/>
        </p:nvPicPr>
        <p:blipFill>
          <a:blip r:embed="rId2"/>
          <a:stretch>
            <a:fillRect/>
          </a:stretch>
        </p:blipFill>
        <p:spPr>
          <a:xfrm>
            <a:off x="6446520" y="4216613"/>
            <a:ext cx="2506828" cy="619334"/>
          </a:xfrm>
          <a:prstGeom prst="rect">
            <a:avLst/>
          </a:prstGeom>
        </p:spPr>
      </p:pic>
      <p:pic>
        <p:nvPicPr>
          <p:cNvPr id="41" name="Image 2" descr="MeAI 화면 캡처">    </p:cNvPr>
          <p:cNvPicPr>
            <a:picLocks noChangeAspect="1"/>
          </p:cNvPicPr>
          <p:nvPr/>
        </p:nvPicPr>
        <p:blipFill>
          <a:blip r:embed="rId3"/>
          <a:stretch>
            <a:fillRect/>
          </a:stretch>
        </p:blipFill>
        <p:spPr>
          <a:xfrm>
            <a:off x="9447985" y="4069080"/>
            <a:ext cx="1883312" cy="777240"/>
          </a:xfrm>
          <a:prstGeom prst="rect">
            <a:avLst/>
          </a:prstGeom>
        </p:spPr>
      </p:pic>
      <p:sp>
        <p:nvSpPr>
          <p:cNvPr id="42" name="Text 37"/>
          <p:cNvSpPr txBox="1"/>
          <p:nvPr/>
        </p:nvSpPr>
        <p:spPr>
          <a:xfrm>
            <a:off x="9136228" y="4828032"/>
            <a:ext cx="2506828" cy="201168"/>
          </a:xfrm>
          <a:prstGeom prst="rect">
            <a:avLst/>
          </a:prstGeom>
          <a:noFill/>
          <a:ln/>
        </p:spPr>
        <p:txBody>
          <a:bodyPr wrap="square" lIns="0" tIns="0" rIns="0" bIns="0" rtlCol="0" anchor="ctr"/>
          <a:lstStyle/>
          <a:p>
            <a:pPr algn="ctr" indent="0" marL="0">
              <a:buNone/>
            </a:pPr>
            <a:r>
              <a:rPr lang="en-US" sz="1050" dirty="0">
                <a:solidFill>
                  <a:srgbClr val="8B95A1"/>
                </a:solidFill>
                <a:latin typeface="맑은 고딕" pitchFamily="34" charset="0"/>
                <a:ea typeface="맑은 고딕" pitchFamily="34" charset="-122"/>
                <a:cs typeface="맑은 고딕" pitchFamily="34" charset="-120"/>
              </a:rPr>
              <a:t>화면 속 숫자는 예시예요</a:t>
            </a:r>
            <a:endParaRPr lang="en-US" sz="1050" dirty="0"/>
          </a:p>
        </p:txBody>
      </p:sp>
      <p:sp>
        <p:nvSpPr>
          <p:cNvPr id="43" name="Text 38"/>
          <p:cNvSpPr txBox="1"/>
          <p:nvPr/>
        </p:nvSpPr>
        <p:spPr>
          <a:xfrm>
            <a:off x="6446520"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[간편 분석]</a:t>
            </a:r>
            <a:endParaRPr lang="en-US" sz="1500" dirty="0"/>
          </a:p>
        </p:txBody>
      </p:sp>
      <p:sp>
        <p:nvSpPr>
          <p:cNvPr id="44" name="Text 39"/>
          <p:cNvSpPr txBox="1"/>
          <p:nvPr/>
        </p:nvSpPr>
        <p:spPr>
          <a:xfrm>
            <a:off x="6446520"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어려운 보험 용어를 일상 언어로</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약관을 따질 땐 상세 분석</a:t>
            </a:r>
            <a:endParaRPr lang="en-US" sz="1150" dirty="0"/>
          </a:p>
        </p:txBody>
      </p:sp>
      <p:sp>
        <p:nvSpPr>
          <p:cNvPr id="45" name="Text 40"/>
          <p:cNvSpPr txBox="1"/>
          <p:nvPr/>
        </p:nvSpPr>
        <p:spPr>
          <a:xfrm>
            <a:off x="9136228"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[용어]</a:t>
            </a:r>
            <a:endParaRPr lang="en-US" sz="1500" dirty="0"/>
          </a:p>
        </p:txBody>
      </p:sp>
      <p:sp>
        <p:nvSpPr>
          <p:cNvPr id="46" name="Text 41"/>
          <p:cNvSpPr txBox="1"/>
          <p:nvPr/>
        </p:nvSpPr>
        <p:spPr>
          <a:xfrm>
            <a:off x="9136228"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켜고 표시된 말을 누르면 뜻풀이</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고객 눈높이 문장, 그대로 읽어요</a:t>
            </a:r>
            <a:endParaRPr lang="en-US" sz="1150" dirty="0"/>
          </a:p>
        </p:txBody>
      </p:sp>
      <p:sp>
        <p:nvSpPr>
          <p:cNvPr id="47" name="Shape 42"/>
          <p:cNvSpPr/>
          <p:nvPr/>
        </p:nvSpPr>
        <p:spPr>
          <a:xfrm>
            <a:off x="548640" y="5760720"/>
            <a:ext cx="11094415" cy="384048"/>
          </a:xfrm>
          <a:prstGeom prst="roundRect">
            <a:avLst>
              <a:gd name="adj" fmla="val 33333"/>
            </a:avLst>
          </a:prstGeom>
          <a:solidFill>
            <a:srgbClr val="FFF8E1"/>
          </a:solidFill>
          <a:ln w="12700">
            <a:solidFill>
              <a:srgbClr val="FFF8E1"/>
            </a:solidFill>
            <a:prstDash val="solid"/>
          </a:ln>
        </p:spPr>
      </p:sp>
      <p:sp>
        <p:nvSpPr>
          <p:cNvPr id="48" name="Text 43"/>
          <p:cNvSpPr txBox="1"/>
          <p:nvPr/>
        </p:nvSpPr>
        <p:spPr>
          <a:xfrm>
            <a:off x="868680" y="5760720"/>
            <a:ext cx="10454335" cy="384048"/>
          </a:xfrm>
          <a:prstGeom prst="rect">
            <a:avLst/>
          </a:prstGeom>
          <a:noFill/>
          <a:ln/>
        </p:spPr>
        <p:txBody>
          <a:bodyPr wrap="square" lIns="0" tIns="0" rIns="0" bIns="0" rtlCol="0" anchor="ctr"/>
          <a:lstStyle/>
          <a:p>
            <a:pPr indent="0" marL="0">
              <a:buNone/>
            </a:pPr>
            <a:r>
              <a:rPr lang="en-US" sz="1400" dirty="0">
                <a:solidFill>
                  <a:srgbClr val="191F28"/>
                </a:solidFill>
                <a:latin typeface="맑은 고딕" pitchFamily="34" charset="0"/>
                <a:ea typeface="맑은 고딕" pitchFamily="34" charset="-122"/>
                <a:cs typeface="맑은 고딕" pitchFamily="34" charset="-120"/>
              </a:rPr>
              <a:t>답은 초안이에요 · 숫자·약관 근거 확인 → 내 말투로</a:t>
            </a:r>
            <a:endParaRPr lang="en-US" sz="1400" dirty="0"/>
          </a:p>
        </p:txBody>
      </p:sp>
      <p:sp>
        <p:nvSpPr>
          <p:cNvPr id="49" name="Text 44"/>
          <p:cNvSpPr txBox="1"/>
          <p:nvPr/>
        </p:nvSpPr>
        <p:spPr>
          <a:xfrm>
            <a:off x="548640" y="6181344"/>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확정 화면 · MeAI 활용 가이드북 영업가족 편(2026.09) · 가이드북 v4(2026.10) p.2·37·51·53</a:t>
            </a:r>
            <a:endParaRPr lang="en-US" sz="1050" dirty="0"/>
          </a:p>
        </p:txBody>
      </p:sp>
      <p:sp>
        <p:nvSpPr>
          <p:cNvPr id="50" name="Text 45"/>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1" name="Text 4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이렇게는 묻지 마세요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답도 나빠지고, 규정에도 어긋나요</a:t>
            </a:r>
            <a:endParaRPr lang="en-US" sz="1700" dirty="0"/>
          </a:p>
        </p:txBody>
      </p:sp>
      <p:sp>
        <p:nvSpPr>
          <p:cNvPr id="13" name="Shape 11"/>
          <p:cNvSpPr/>
          <p:nvPr/>
        </p:nvSpPr>
        <p:spPr>
          <a:xfrm>
            <a:off x="548640"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Text 12"/>
          <p:cNvSpPr txBox="1"/>
          <p:nvPr/>
        </p:nvSpPr>
        <p:spPr>
          <a:xfrm>
            <a:off x="777240"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① 개인정보를 넣는 질문</a:t>
            </a:r>
            <a:endParaRPr lang="en-US" sz="1650" dirty="0"/>
          </a:p>
        </p:txBody>
      </p:sp>
      <p:sp>
        <p:nvSpPr>
          <p:cNvPr id="15" name="Text 13"/>
          <p:cNvSpPr txBox="1"/>
          <p:nvPr/>
        </p:nvSpPr>
        <p:spPr>
          <a:xfrm>
            <a:off x="777240"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“김OO(연락처) 고객 보장분석”</a:t>
            </a:r>
            <a:endParaRPr lang="en-US" sz="1500" dirty="0"/>
          </a:p>
        </p:txBody>
      </p:sp>
      <p:sp>
        <p:nvSpPr>
          <p:cNvPr id="16" name="Text 14"/>
          <p:cNvSpPr txBox="1"/>
          <p:nvPr/>
        </p:nvSpPr>
        <p:spPr>
          <a:xfrm>
            <a:off x="777240"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맞춤대화에선 “이 고객”이라고만</a:t>
            </a:r>
            <a:endParaRPr lang="en-US" sz="1500" dirty="0"/>
          </a:p>
        </p:txBody>
      </p:sp>
      <p:sp>
        <p:nvSpPr>
          <p:cNvPr id="17" name="Shape 15"/>
          <p:cNvSpPr/>
          <p:nvPr/>
        </p:nvSpPr>
        <p:spPr>
          <a:xfrm>
            <a:off x="6159856"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8" name="Text 16"/>
          <p:cNvSpPr txBox="1"/>
          <p:nvPr/>
        </p:nvSpPr>
        <p:spPr>
          <a:xfrm>
            <a:off x="6388456"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② 여러 질문을 한 번에</a:t>
            </a:r>
            <a:endParaRPr lang="en-US" sz="1650" dirty="0"/>
          </a:p>
        </p:txBody>
      </p:sp>
      <p:sp>
        <p:nvSpPr>
          <p:cNvPr id="19" name="Text 17"/>
          <p:cNvSpPr txBox="1"/>
          <p:nvPr/>
        </p:nvSpPr>
        <p:spPr>
          <a:xfrm>
            <a:off x="6388456"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“보장분석하고 화법도 만들고 카톡도 써줘”</a:t>
            </a:r>
            <a:endParaRPr lang="en-US" sz="1500" dirty="0"/>
          </a:p>
        </p:txBody>
      </p:sp>
      <p:sp>
        <p:nvSpPr>
          <p:cNvPr id="20" name="Text 18"/>
          <p:cNvSpPr txBox="1"/>
          <p:nvPr/>
        </p:nvSpPr>
        <p:spPr>
          <a:xfrm>
            <a:off x="6388456"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하나씩 이어서 물어요 · 고객·주제가 바뀌면 [새로 대화하기]</a:t>
            </a:r>
            <a:endParaRPr lang="en-US" sz="1500" dirty="0"/>
          </a:p>
        </p:txBody>
      </p:sp>
      <p:sp>
        <p:nvSpPr>
          <p:cNvPr id="21" name="Shape 19"/>
          <p:cNvSpPr/>
          <p:nvPr/>
        </p:nvSpPr>
        <p:spPr>
          <a:xfrm>
            <a:off x="548640"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777240"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답을 그대로 고객에게</a:t>
            </a:r>
            <a:endParaRPr lang="en-US" sz="1650" dirty="0"/>
          </a:p>
        </p:txBody>
      </p:sp>
      <p:sp>
        <p:nvSpPr>
          <p:cNvPr id="23" name="Text 21"/>
          <p:cNvSpPr txBox="1"/>
          <p:nvPr/>
        </p:nvSpPr>
        <p:spPr>
          <a:xfrm>
            <a:off x="777240"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답변 복사 → 바로 카톡 전송</a:t>
            </a:r>
            <a:endParaRPr lang="en-US" sz="1500" dirty="0"/>
          </a:p>
        </p:txBody>
      </p:sp>
      <p:sp>
        <p:nvSpPr>
          <p:cNvPr id="24" name="Text 22"/>
          <p:cNvSpPr txBox="1"/>
          <p:nvPr/>
        </p:nvSpPr>
        <p:spPr>
          <a:xfrm>
            <a:off x="777240"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숫자·약관 근거 확인하고 내 말로</a:t>
            </a:r>
            <a:endParaRPr lang="en-US" sz="1500" dirty="0"/>
          </a:p>
        </p:txBody>
      </p:sp>
      <p:sp>
        <p:nvSpPr>
          <p:cNvPr id="25" name="Shape 23"/>
          <p:cNvSpPr/>
          <p:nvPr/>
        </p:nvSpPr>
        <p:spPr>
          <a:xfrm>
            <a:off x="6159856"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6388456"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④ 단정을 강요하는 질문</a:t>
            </a:r>
            <a:endParaRPr lang="en-US" sz="1650" dirty="0"/>
          </a:p>
        </p:txBody>
      </p:sp>
      <p:sp>
        <p:nvSpPr>
          <p:cNvPr id="27" name="Text 25"/>
          <p:cNvSpPr txBox="1"/>
          <p:nvPr/>
        </p:nvSpPr>
        <p:spPr>
          <a:xfrm>
            <a:off x="6388456"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“무조건 가입 가능하다고 말해줘”</a:t>
            </a:r>
            <a:endParaRPr lang="en-US" sz="1500" dirty="0"/>
          </a:p>
        </p:txBody>
      </p:sp>
      <p:sp>
        <p:nvSpPr>
          <p:cNvPr id="28" name="Text 26"/>
          <p:cNvSpPr txBox="1"/>
          <p:nvPr/>
        </p:nvSpPr>
        <p:spPr>
          <a:xfrm>
            <a:off x="6388456"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“가능성과 확인할 조건을 알려줘”</a:t>
            </a:r>
            <a:endParaRPr lang="en-US" sz="1500" dirty="0"/>
          </a:p>
        </p:txBody>
      </p:sp>
      <p:sp>
        <p:nvSpPr>
          <p:cNvPr id="29" name="Text 27"/>
          <p:cNvSpPr txBox="1"/>
          <p:nvPr/>
        </p:nvSpPr>
        <p:spPr>
          <a:xfrm>
            <a:off x="548640" y="4754880"/>
            <a:ext cx="5486400" cy="237744"/>
          </a:xfrm>
          <a:prstGeom prst="rect">
            <a:avLst/>
          </a:prstGeom>
          <a:noFill/>
          <a:ln/>
        </p:spPr>
        <p:txBody>
          <a:bodyPr wrap="square" lIns="0" tIns="0" rIns="0" bIns="0" rtlCol="0" anchor="ctr"/>
          <a:lstStyle/>
          <a:p>
            <a:pPr indent="0" marL="0">
              <a:buNone/>
            </a:pPr>
            <a:r>
              <a:rPr lang="en-US" sz="1150" dirty="0">
                <a:solidFill>
                  <a:srgbClr val="8B95A1"/>
                </a:solidFill>
                <a:latin typeface="맑은 고딕" pitchFamily="34" charset="0"/>
                <a:ea typeface="맑은 고딕" pitchFamily="34" charset="-122"/>
                <a:cs typeface="맑은 고딕" pitchFamily="34" charset="-120"/>
              </a:rPr>
              <a:t>③ 입력창 아래 안내문(화면 그대로)</a:t>
            </a:r>
            <a:endParaRPr lang="en-US" sz="1150" dirty="0"/>
          </a:p>
        </p:txBody>
      </p:sp>
      <p:pic>
        <p:nvPicPr>
          <p:cNvPr id="30" name="Image 0" descr="MeAI 화면 캡처">    </p:cNvPr>
          <p:cNvPicPr>
            <a:picLocks noChangeAspect="1"/>
          </p:cNvPicPr>
          <p:nvPr/>
        </p:nvPicPr>
        <p:blipFill>
          <a:blip r:embed="rId1"/>
          <a:stretch>
            <a:fillRect/>
          </a:stretch>
        </p:blipFill>
        <p:spPr>
          <a:xfrm>
            <a:off x="548640" y="5010912"/>
            <a:ext cx="7823939" cy="475488"/>
          </a:xfrm>
          <a:prstGeom prst="rect">
            <a:avLst/>
          </a:prstGeom>
        </p:spPr>
      </p:pic>
      <p:sp>
        <p:nvSpPr>
          <p:cNvPr id="31" name="Shape 28"/>
          <p:cNvSpPr/>
          <p:nvPr/>
        </p:nvSpPr>
        <p:spPr>
          <a:xfrm>
            <a:off x="548640" y="5577840"/>
            <a:ext cx="11094415" cy="457200"/>
          </a:xfrm>
          <a:prstGeom prst="roundRect">
            <a:avLst>
              <a:gd name="adj" fmla="val 24000"/>
            </a:avLst>
          </a:prstGeom>
          <a:solidFill>
            <a:srgbClr val="F2F4F6"/>
          </a:solidFill>
          <a:ln w="12700">
            <a:solidFill>
              <a:srgbClr val="F2F4F6"/>
            </a:solidFill>
            <a:prstDash val="solid"/>
          </a:ln>
        </p:spPr>
      </p:sp>
      <p:sp>
        <p:nvSpPr>
          <p:cNvPr id="32" name="Shape 29"/>
          <p:cNvSpPr/>
          <p:nvPr/>
        </p:nvSpPr>
        <p:spPr>
          <a:xfrm>
            <a:off x="685800" y="5650992"/>
            <a:ext cx="1413510" cy="310896"/>
          </a:xfrm>
          <a:prstGeom prst="roundRect">
            <a:avLst>
              <a:gd name="adj" fmla="val 50000"/>
            </a:avLst>
          </a:prstGeom>
          <a:solidFill>
            <a:srgbClr val="191F28"/>
          </a:solidFill>
          <a:ln w="12700">
            <a:solidFill>
              <a:srgbClr val="191F28"/>
            </a:solidFill>
            <a:prstDash val="solid"/>
          </a:ln>
        </p:spPr>
      </p:sp>
      <p:sp>
        <p:nvSpPr>
          <p:cNvPr id="33" name="Text 30"/>
          <p:cNvSpPr txBox="1"/>
          <p:nvPr/>
        </p:nvSpPr>
        <p:spPr>
          <a:xfrm>
            <a:off x="685800" y="5650992"/>
            <a:ext cx="14135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함께 지킬 약속</a:t>
            </a:r>
            <a:endParaRPr lang="en-US" sz="1250" dirty="0"/>
          </a:p>
        </p:txBody>
      </p:sp>
      <p:sp>
        <p:nvSpPr>
          <p:cNvPr id="34" name="Text 31"/>
          <p:cNvSpPr txBox="1"/>
          <p:nvPr/>
        </p:nvSpPr>
        <p:spPr>
          <a:xfrm>
            <a:off x="2282190" y="5577840"/>
            <a:ext cx="9223705" cy="45720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동의 없으면 보지 않기 · 자료 외부 반출 금지 · 미검증 책임은 사용자에게</a:t>
            </a:r>
            <a:endParaRPr lang="en-US" sz="1450" dirty="0"/>
          </a:p>
        </p:txBody>
      </p:sp>
      <p:sp>
        <p:nvSpPr>
          <p:cNvPr id="35" name="Text 32"/>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영업가족 편(2026.09) · 가이드북 v4(2026.10) p.73 · MeAI 화면 안내문</a:t>
            </a:r>
            <a:endParaRPr lang="en-US" sz="1050" dirty="0"/>
          </a:p>
        </p:txBody>
      </p:sp>
      <p:sp>
        <p:nvSpPr>
          <p:cNvPr id="36"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7"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김민수 고객, 동의부터 받고 터치해요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상령일 2주 전 · AI 추천 고객 · MeAI 홈에서 리포트까지 따라 해요</a:t>
            </a:r>
            <a:endParaRPr lang="en-US" sz="1700" dirty="0"/>
          </a:p>
        </p:txBody>
      </p:sp>
      <p:sp>
        <p:nvSpPr>
          <p:cNvPr id="13" name="Shape 11"/>
          <p:cNvSpPr/>
          <p:nvPr/>
        </p:nvSpPr>
        <p:spPr>
          <a:xfrm>
            <a:off x="548640" y="1938528"/>
            <a:ext cx="2581580" cy="2487168"/>
          </a:xfrm>
          <a:prstGeom prst="roundRect">
            <a:avLst>
              <a:gd name="adj" fmla="val 5882"/>
            </a:avLst>
          </a:prstGeom>
          <a:solidFill>
            <a:srgbClr val="F2F4F6"/>
          </a:solidFill>
          <a:ln w="12700">
            <a:solidFill>
              <a:srgbClr val="F2F4F6"/>
            </a:solidFill>
            <a:prstDash val="solid"/>
          </a:ln>
        </p:spPr>
      </p:sp>
      <p:sp>
        <p:nvSpPr>
          <p:cNvPr id="14" name="Text 12"/>
          <p:cNvSpPr txBox="1"/>
          <p:nvPr/>
        </p:nvSpPr>
        <p:spPr>
          <a:xfrm>
            <a:off x="685800"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MeAI 홈</a:t>
            </a:r>
            <a:endParaRPr lang="en-US" sz="1250" dirty="0"/>
          </a:p>
        </p:txBody>
      </p:sp>
      <p:sp>
        <p:nvSpPr>
          <p:cNvPr id="15" name="Text 13"/>
          <p:cNvSpPr txBox="1"/>
          <p:nvPr/>
        </p:nvSpPr>
        <p:spPr>
          <a:xfrm>
            <a:off x="3130220"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6" name="Shape 14"/>
          <p:cNvSpPr/>
          <p:nvPr/>
        </p:nvSpPr>
        <p:spPr>
          <a:xfrm>
            <a:off x="3386252" y="1938528"/>
            <a:ext cx="2581580" cy="2487168"/>
          </a:xfrm>
          <a:prstGeom prst="roundRect">
            <a:avLst>
              <a:gd name="adj" fmla="val 5882"/>
            </a:avLst>
          </a:prstGeom>
          <a:solidFill>
            <a:srgbClr val="F2F4F6"/>
          </a:solidFill>
          <a:ln w="12700">
            <a:solidFill>
              <a:srgbClr val="F2F4F6"/>
            </a:solidFill>
            <a:prstDash val="solid"/>
          </a:ln>
        </p:spPr>
      </p:sp>
      <p:sp>
        <p:nvSpPr>
          <p:cNvPr id="17" name="Text 15"/>
          <p:cNvSpPr txBox="1"/>
          <p:nvPr/>
        </p:nvSpPr>
        <p:spPr>
          <a:xfrm>
            <a:off x="3523412"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고객찾기</a:t>
            </a:r>
            <a:endParaRPr lang="en-US" sz="1250" dirty="0"/>
          </a:p>
        </p:txBody>
      </p:sp>
      <p:sp>
        <p:nvSpPr>
          <p:cNvPr id="18" name="Text 16"/>
          <p:cNvSpPr txBox="1"/>
          <p:nvPr/>
        </p:nvSpPr>
        <p:spPr>
          <a:xfrm>
            <a:off x="5967832"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9" name="Shape 17"/>
          <p:cNvSpPr/>
          <p:nvPr/>
        </p:nvSpPr>
        <p:spPr>
          <a:xfrm>
            <a:off x="6223864" y="1938528"/>
            <a:ext cx="2581580" cy="2487168"/>
          </a:xfrm>
          <a:prstGeom prst="roundRect">
            <a:avLst>
              <a:gd name="adj" fmla="val 5882"/>
            </a:avLst>
          </a:prstGeom>
          <a:solidFill>
            <a:srgbClr val="F2F4F6"/>
          </a:solidFill>
          <a:ln w="12700">
            <a:solidFill>
              <a:srgbClr val="F2F4F6"/>
            </a:solidFill>
            <a:prstDash val="solid"/>
          </a:ln>
        </p:spPr>
      </p:sp>
      <p:sp>
        <p:nvSpPr>
          <p:cNvPr id="20" name="Text 18"/>
          <p:cNvSpPr txBox="1"/>
          <p:nvPr/>
        </p:nvSpPr>
        <p:spPr>
          <a:xfrm>
            <a:off x="6361024"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맞춤대화</a:t>
            </a:r>
            <a:endParaRPr lang="en-US" sz="1250" dirty="0"/>
          </a:p>
        </p:txBody>
      </p:sp>
      <p:sp>
        <p:nvSpPr>
          <p:cNvPr id="21" name="Text 19"/>
          <p:cNvSpPr txBox="1"/>
          <p:nvPr/>
        </p:nvSpPr>
        <p:spPr>
          <a:xfrm>
            <a:off x="8805443"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22" name="Shape 20"/>
          <p:cNvSpPr/>
          <p:nvPr/>
        </p:nvSpPr>
        <p:spPr>
          <a:xfrm>
            <a:off x="9061475" y="1938528"/>
            <a:ext cx="2581580" cy="2487168"/>
          </a:xfrm>
          <a:prstGeom prst="roundRect">
            <a:avLst>
              <a:gd name="adj" fmla="val 5882"/>
            </a:avLst>
          </a:prstGeom>
          <a:solidFill>
            <a:srgbClr val="F2F4F6"/>
          </a:solidFill>
          <a:ln w="12700">
            <a:solidFill>
              <a:srgbClr val="F2F4F6"/>
            </a:solidFill>
            <a:prstDash val="solid"/>
          </a:ln>
        </p:spPr>
      </p:sp>
      <p:sp>
        <p:nvSpPr>
          <p:cNvPr id="23" name="Text 21"/>
          <p:cNvSpPr txBox="1"/>
          <p:nvPr/>
        </p:nvSpPr>
        <p:spPr>
          <a:xfrm>
            <a:off x="9198635"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요약 리포트</a:t>
            </a:r>
            <a:endParaRPr lang="en-US" sz="1250" dirty="0"/>
          </a:p>
        </p:txBody>
      </p:sp>
      <p:pic>
        <p:nvPicPr>
          <p:cNvPr id="24" name="Image 0" descr="MeAI 화면 캡처">    </p:cNvPr>
          <p:cNvPicPr>
            <a:picLocks noChangeAspect="1"/>
          </p:cNvPicPr>
          <p:nvPr/>
        </p:nvPicPr>
        <p:blipFill>
          <a:blip r:embed="rId1"/>
          <a:stretch>
            <a:fillRect/>
          </a:stretch>
        </p:blipFill>
        <p:spPr>
          <a:xfrm>
            <a:off x="948013" y="2286000"/>
            <a:ext cx="1782834" cy="2048256"/>
          </a:xfrm>
          <a:prstGeom prst="rect">
            <a:avLst/>
          </a:prstGeom>
        </p:spPr>
      </p:pic>
      <p:sp>
        <p:nvSpPr>
          <p:cNvPr id="25" name="Shape 22"/>
          <p:cNvSpPr/>
          <p:nvPr/>
        </p:nvSpPr>
        <p:spPr>
          <a:xfrm>
            <a:off x="1060692" y="3718277"/>
            <a:ext cx="553380" cy="120191"/>
          </a:xfrm>
          <a:prstGeom prst="roundRect">
            <a:avLst>
              <a:gd name="adj" fmla="val 22824"/>
            </a:avLst>
          </a:prstGeom>
          <a:ln w="22225">
            <a:solidFill>
              <a:srgbClr val="F04452"/>
            </a:solidFill>
            <a:prstDash val="solid"/>
          </a:ln>
        </p:spPr>
      </p:sp>
      <p:pic>
        <p:nvPicPr>
          <p:cNvPr id="26" name="Image 1" descr="MeAI 화면 캡처">    </p:cNvPr>
          <p:cNvPicPr>
            <a:picLocks noChangeAspect="1"/>
          </p:cNvPicPr>
          <p:nvPr/>
        </p:nvPicPr>
        <p:blipFill>
          <a:blip r:embed="rId2"/>
          <a:stretch>
            <a:fillRect/>
          </a:stretch>
        </p:blipFill>
        <p:spPr>
          <a:xfrm>
            <a:off x="3495980" y="2350008"/>
            <a:ext cx="2362124" cy="711483"/>
          </a:xfrm>
          <a:prstGeom prst="rect">
            <a:avLst/>
          </a:prstGeom>
        </p:spPr>
      </p:pic>
      <p:sp>
        <p:nvSpPr>
          <p:cNvPr id="27" name="Text 23"/>
          <p:cNvSpPr txBox="1"/>
          <p:nvPr/>
        </p:nvSpPr>
        <p:spPr>
          <a:xfrm>
            <a:off x="3386252" y="3061491"/>
            <a:ext cx="2581580" cy="256032"/>
          </a:xfrm>
          <a:prstGeom prst="rect">
            <a:avLst/>
          </a:prstGeom>
          <a:noFill/>
          <a:ln/>
        </p:spPr>
        <p:txBody>
          <a:bodyPr wrap="square" lIns="0" tIns="0" rIns="0" bIns="0" rtlCol="0" anchor="ctr"/>
          <a:lstStyle/>
          <a:p>
            <a:pPr algn="ctr" indent="0" marL="0">
              <a:buNone/>
            </a:pPr>
            <a:r>
              <a:rPr lang="en-US" sz="1400" dirty="0">
                <a:solidFill>
                  <a:srgbClr val="B0B8C1"/>
                </a:solidFill>
                <a:latin typeface="맑은 고딕" pitchFamily="34" charset="0"/>
                <a:ea typeface="맑은 고딕" pitchFamily="34" charset="-122"/>
                <a:cs typeface="맑은 고딕" pitchFamily="34" charset="-120"/>
              </a:rPr>
              <a:t>↓</a:t>
            </a:r>
            <a:endParaRPr lang="en-US" sz="1400" dirty="0"/>
          </a:p>
        </p:txBody>
      </p:sp>
      <p:pic>
        <p:nvPicPr>
          <p:cNvPr id="28" name="Image 2" descr="MeAI 화면 캡처">    </p:cNvPr>
          <p:cNvPicPr>
            <a:picLocks noChangeAspect="1"/>
          </p:cNvPicPr>
          <p:nvPr/>
        </p:nvPicPr>
        <p:blipFill>
          <a:blip r:embed="rId3"/>
          <a:stretch>
            <a:fillRect/>
          </a:stretch>
        </p:blipFill>
        <p:spPr>
          <a:xfrm>
            <a:off x="3569132" y="3335811"/>
            <a:ext cx="2215820" cy="1129724"/>
          </a:xfrm>
          <a:prstGeom prst="rect">
            <a:avLst/>
          </a:prstGeom>
        </p:spPr>
      </p:pic>
      <p:sp>
        <p:nvSpPr>
          <p:cNvPr id="29" name="Shape 24"/>
          <p:cNvSpPr/>
          <p:nvPr/>
        </p:nvSpPr>
        <p:spPr>
          <a:xfrm>
            <a:off x="6406744" y="2350008"/>
            <a:ext cx="2063496" cy="292608"/>
          </a:xfrm>
          <a:prstGeom prst="roundRect">
            <a:avLst>
              <a:gd name="adj" fmla="val 50000"/>
            </a:avLst>
          </a:prstGeom>
          <a:solidFill>
            <a:srgbClr val="FFFFFF"/>
          </a:solidFill>
          <a:ln w="12700">
            <a:solidFill>
              <a:srgbClr val="FFFFFF"/>
            </a:solidFill>
            <a:prstDash val="solid"/>
          </a:ln>
        </p:spPr>
      </p:sp>
      <p:sp>
        <p:nvSpPr>
          <p:cNvPr id="30" name="Text 25"/>
          <p:cNvSpPr txBox="1"/>
          <p:nvPr/>
        </p:nvSpPr>
        <p:spPr>
          <a:xfrm>
            <a:off x="6406744" y="2350008"/>
            <a:ext cx="2063496" cy="292608"/>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동의 반영 뒤 · 15분 안팎</a:t>
            </a:r>
            <a:endParaRPr lang="en-US" sz="1200" dirty="0"/>
          </a:p>
        </p:txBody>
      </p:sp>
      <p:sp>
        <p:nvSpPr>
          <p:cNvPr id="31" name="Text 26"/>
          <p:cNvSpPr txBox="1"/>
          <p:nvPr/>
        </p:nvSpPr>
        <p:spPr>
          <a:xfrm>
            <a:off x="6406744" y="2761488"/>
            <a:ext cx="2215820" cy="274320"/>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MeAI에게 첫 질문</a:t>
            </a:r>
            <a:endParaRPr lang="en-US" sz="1300" dirty="0"/>
          </a:p>
        </p:txBody>
      </p:sp>
      <p:sp>
        <p:nvSpPr>
          <p:cNvPr id="32" name="Shape 27"/>
          <p:cNvSpPr/>
          <p:nvPr/>
        </p:nvSpPr>
        <p:spPr>
          <a:xfrm>
            <a:off x="6361024" y="3054096"/>
            <a:ext cx="2307260" cy="1207008"/>
          </a:xfrm>
          <a:prstGeom prst="roundRect">
            <a:avLst>
              <a:gd name="adj" fmla="val 10606"/>
            </a:avLst>
          </a:prstGeom>
          <a:solidFill>
            <a:srgbClr val="FFFFFF"/>
          </a:solidFill>
          <a:ln w="15875">
            <a:solidFill>
              <a:srgbClr val="3182F6"/>
            </a:solidFill>
            <a:prstDash val="solid"/>
          </a:ln>
        </p:spPr>
      </p:sp>
      <p:sp>
        <p:nvSpPr>
          <p:cNvPr id="33" name="Text 28"/>
          <p:cNvSpPr txBox="1"/>
          <p:nvPr/>
        </p:nvSpPr>
        <p:spPr>
          <a:xfrm>
            <a:off x="6498184" y="3054096"/>
            <a:ext cx="2078660" cy="1207008"/>
          </a:xfrm>
          <a:prstGeom prst="rect">
            <a:avLst/>
          </a:prstGeom>
          <a:noFill/>
          <a:ln/>
        </p:spPr>
        <p:txBody>
          <a:bodyPr wrap="square" lIns="0" tIns="0" rIns="0" bIns="0" rtlCol="0" anchor="ctr"/>
          <a:lstStyle/>
          <a:p>
            <a:pPr indent="0" marL="0">
              <a:lnSpc>
                <a:spcPct val="118000"/>
              </a:lnSpc>
              <a:buNone/>
            </a:pPr>
            <a:r>
              <a:rPr lang="en-US" sz="1450" b="1" dirty="0">
                <a:solidFill>
                  <a:srgbClr val="191F28"/>
                </a:solidFill>
                <a:latin typeface="맑은 고딕" pitchFamily="34" charset="0"/>
                <a:ea typeface="맑은 고딕" pitchFamily="34" charset="-122"/>
                <a:cs typeface="맑은 고딕" pitchFamily="34" charset="-120"/>
              </a:rPr>
              <a:t>“상령일 전에 암진단비를 늘려야 하는 이유를 쉽게 설명해줘”</a:t>
            </a:r>
            <a:endParaRPr lang="en-US" sz="1450" dirty="0"/>
          </a:p>
        </p:txBody>
      </p:sp>
      <p:pic>
        <p:nvPicPr>
          <p:cNvPr id="34" name="Image 3" descr="MeAI 화면 캡처">    </p:cNvPr>
          <p:cNvPicPr>
            <a:picLocks noChangeAspect="1"/>
          </p:cNvPicPr>
          <p:nvPr/>
        </p:nvPicPr>
        <p:blipFill>
          <a:blip r:embed="rId4"/>
          <a:stretch>
            <a:fillRect/>
          </a:stretch>
        </p:blipFill>
        <p:spPr>
          <a:xfrm>
            <a:off x="9316762" y="2304288"/>
            <a:ext cx="998188" cy="2029968"/>
          </a:xfrm>
          <a:prstGeom prst="rect">
            <a:avLst/>
          </a:prstGeom>
        </p:spPr>
      </p:pic>
      <p:sp>
        <p:nvSpPr>
          <p:cNvPr id="35" name="Text 29"/>
          <p:cNvSpPr txBox="1"/>
          <p:nvPr/>
        </p:nvSpPr>
        <p:spPr>
          <a:xfrm>
            <a:off x="10433075" y="3858768"/>
            <a:ext cx="1118540" cy="457200"/>
          </a:xfrm>
          <a:prstGeom prst="rect">
            <a:avLst/>
          </a:prstGeom>
          <a:noFill/>
          <a:ln/>
        </p:spPr>
        <p:txBody>
          <a:bodyPr wrap="square" lIns="0" tIns="0" rIns="0" bIns="0" rtlCol="0" anchor="b"/>
          <a:lstStyle/>
          <a:p>
            <a:pP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a:t>
            </a:r>
            <a:endParaRPr lang="en-US" sz="1100" dirty="0"/>
          </a:p>
        </p:txBody>
      </p:sp>
      <p:sp>
        <p:nvSpPr>
          <p:cNvPr id="36" name="Shape 30"/>
          <p:cNvSpPr/>
          <p:nvPr/>
        </p:nvSpPr>
        <p:spPr>
          <a:xfrm>
            <a:off x="548640" y="4572000"/>
            <a:ext cx="347472" cy="347472"/>
          </a:xfrm>
          <a:prstGeom prst="ellipse">
            <a:avLst/>
          </a:prstGeom>
          <a:solidFill>
            <a:srgbClr val="3182F6"/>
          </a:solidFill>
          <a:ln w="19050">
            <a:solidFill>
              <a:srgbClr val="FFFFFF"/>
            </a:solidFill>
            <a:prstDash val="solid"/>
          </a:ln>
        </p:spPr>
      </p:sp>
      <p:sp>
        <p:nvSpPr>
          <p:cNvPr id="37" name="Text 31"/>
          <p:cNvSpPr txBox="1"/>
          <p:nvPr/>
        </p:nvSpPr>
        <p:spPr>
          <a:xfrm>
            <a:off x="548640"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8" name="Text 32"/>
          <p:cNvSpPr txBox="1"/>
          <p:nvPr/>
        </p:nvSpPr>
        <p:spPr>
          <a:xfrm>
            <a:off x="969264"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카드 읽기</a:t>
            </a:r>
            <a:endParaRPr lang="en-US" sz="1550" dirty="0"/>
          </a:p>
        </p:txBody>
      </p:sp>
      <p:sp>
        <p:nvSpPr>
          <p:cNvPr id="39" name="Text 33"/>
          <p:cNvSpPr txBox="1"/>
          <p:nvPr/>
        </p:nvSpPr>
        <p:spPr>
          <a:xfrm>
            <a:off x="969264"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상령일 2주 · 암진단비 1천만원</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동의 필요 표시 → 알림톡부터</a:t>
            </a:r>
            <a:endParaRPr lang="en-US" sz="1200" dirty="0"/>
          </a:p>
        </p:txBody>
      </p:sp>
      <p:sp>
        <p:nvSpPr>
          <p:cNvPr id="40" name="Shape 34"/>
          <p:cNvSpPr/>
          <p:nvPr/>
        </p:nvSpPr>
        <p:spPr>
          <a:xfrm>
            <a:off x="3386252" y="4572000"/>
            <a:ext cx="347472" cy="347472"/>
          </a:xfrm>
          <a:prstGeom prst="ellipse">
            <a:avLst/>
          </a:prstGeom>
          <a:solidFill>
            <a:srgbClr val="3182F6"/>
          </a:solidFill>
          <a:ln w="19050">
            <a:solidFill>
              <a:srgbClr val="FFFFFF"/>
            </a:solidFill>
            <a:prstDash val="solid"/>
          </a:ln>
        </p:spPr>
      </p:sp>
      <p:sp>
        <p:nvSpPr>
          <p:cNvPr id="41" name="Text 35"/>
          <p:cNvSpPr txBox="1"/>
          <p:nvPr/>
        </p:nvSpPr>
        <p:spPr>
          <a:xfrm>
            <a:off x="3386252"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42" name="Text 36"/>
          <p:cNvSpPr txBox="1"/>
          <p:nvPr/>
        </p:nvSpPr>
        <p:spPr>
          <a:xfrm>
            <a:off x="3806876"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첫 말 → 알림톡 보내기</a:t>
            </a:r>
            <a:endParaRPr lang="en-US" sz="1550" dirty="0"/>
          </a:p>
        </p:txBody>
      </p:sp>
      <p:sp>
        <p:nvSpPr>
          <p:cNvPr id="43" name="Text 37"/>
          <p:cNvSpPr txBox="1"/>
          <p:nvPr/>
        </p:nvSpPr>
        <p:spPr>
          <a:xfrm>
            <a:off x="3806876"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[사전조회동의 요청하기]</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 번호 넣고 [보내기]</a:t>
            </a:r>
            <a:endParaRPr lang="en-US" sz="1200" dirty="0"/>
          </a:p>
        </p:txBody>
      </p:sp>
      <p:sp>
        <p:nvSpPr>
          <p:cNvPr id="44" name="Shape 38"/>
          <p:cNvSpPr/>
          <p:nvPr/>
        </p:nvSpPr>
        <p:spPr>
          <a:xfrm>
            <a:off x="6223864" y="4572000"/>
            <a:ext cx="347472" cy="347472"/>
          </a:xfrm>
          <a:prstGeom prst="ellipse">
            <a:avLst/>
          </a:prstGeom>
          <a:solidFill>
            <a:srgbClr val="3182F6"/>
          </a:solidFill>
          <a:ln w="19050">
            <a:solidFill>
              <a:srgbClr val="FFFFFF"/>
            </a:solidFill>
            <a:prstDash val="solid"/>
          </a:ln>
        </p:spPr>
      </p:sp>
      <p:sp>
        <p:nvSpPr>
          <p:cNvPr id="45" name="Text 39"/>
          <p:cNvSpPr txBox="1"/>
          <p:nvPr/>
        </p:nvSpPr>
        <p:spPr>
          <a:xfrm>
            <a:off x="6223864"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6" name="Text 40"/>
          <p:cNvSpPr txBox="1"/>
          <p:nvPr/>
        </p:nvSpPr>
        <p:spPr>
          <a:xfrm>
            <a:off x="6644488"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동의 뒤 진단비 점검</a:t>
            </a:r>
            <a:endParaRPr lang="en-US" sz="1550" dirty="0"/>
          </a:p>
        </p:txBody>
      </p:sp>
      <p:sp>
        <p:nvSpPr>
          <p:cNvPr id="47" name="Text 41"/>
          <p:cNvSpPr txBox="1"/>
          <p:nvPr/>
        </p:nvSpPr>
        <p:spPr>
          <a:xfrm>
            <a:off x="6644488"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 고객으로 맞춤대화 시작]</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 [보장분석 해줘] → 첫 질문</a:t>
            </a:r>
            <a:endParaRPr lang="en-US" sz="1200" dirty="0"/>
          </a:p>
        </p:txBody>
      </p:sp>
      <p:sp>
        <p:nvSpPr>
          <p:cNvPr id="48" name="Shape 42"/>
          <p:cNvSpPr/>
          <p:nvPr/>
        </p:nvSpPr>
        <p:spPr>
          <a:xfrm>
            <a:off x="9061475" y="4572000"/>
            <a:ext cx="347472" cy="347472"/>
          </a:xfrm>
          <a:prstGeom prst="ellipse">
            <a:avLst/>
          </a:prstGeom>
          <a:solidFill>
            <a:srgbClr val="3182F6"/>
          </a:solidFill>
          <a:ln w="19050">
            <a:solidFill>
              <a:srgbClr val="FFFFFF"/>
            </a:solidFill>
            <a:prstDash val="solid"/>
          </a:ln>
        </p:spPr>
      </p:sp>
      <p:sp>
        <p:nvSpPr>
          <p:cNvPr id="49" name="Text 43"/>
          <p:cNvSpPr txBox="1"/>
          <p:nvPr/>
        </p:nvSpPr>
        <p:spPr>
          <a:xfrm>
            <a:off x="9061475"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50" name="Text 44"/>
          <p:cNvSpPr txBox="1"/>
          <p:nvPr/>
        </p:nvSpPr>
        <p:spPr>
          <a:xfrm>
            <a:off x="9482099"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상령일 전 제안</a:t>
            </a:r>
            <a:endParaRPr lang="en-US" sz="1550" dirty="0"/>
          </a:p>
        </p:txBody>
      </p:sp>
      <p:sp>
        <p:nvSpPr>
          <p:cNvPr id="51" name="Text 45"/>
          <p:cNvSpPr txBox="1"/>
          <p:nvPr/>
        </p:nvSpPr>
        <p:spPr>
          <a:xfrm>
            <a:off x="9482099"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인상 전 가입의 이점을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리포트로 보내요</a:t>
            </a:r>
            <a:endParaRPr lang="en-US" sz="1200" dirty="0"/>
          </a:p>
        </p:txBody>
      </p:sp>
      <p:sp>
        <p:nvSpPr>
          <p:cNvPr id="52" name="Shape 46"/>
          <p:cNvSpPr/>
          <p:nvPr/>
        </p:nvSpPr>
        <p:spPr>
          <a:xfrm>
            <a:off x="548640" y="5468112"/>
            <a:ext cx="11094415" cy="566928"/>
          </a:xfrm>
          <a:prstGeom prst="roundRect">
            <a:avLst>
              <a:gd name="adj" fmla="val 22581"/>
            </a:avLst>
          </a:prstGeom>
          <a:solidFill>
            <a:srgbClr val="191F28"/>
          </a:solidFill>
          <a:ln w="12700">
            <a:solidFill>
              <a:srgbClr val="191F28"/>
            </a:solidFill>
            <a:prstDash val="solid"/>
          </a:ln>
        </p:spPr>
      </p:sp>
      <p:sp>
        <p:nvSpPr>
          <p:cNvPr id="53" name="Text 47"/>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0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00" dirty="0"/>
          </a:p>
        </p:txBody>
      </p:sp>
      <p:sp>
        <p:nvSpPr>
          <p:cNvPr id="54" name="Text 48"/>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15분 안팎·첫 말·첫 질문: MeAI 활용 가이드북 v4 p.45·62</a:t>
            </a:r>
            <a:endParaRPr lang="en-US" sz="1100" dirty="0"/>
          </a:p>
        </p:txBody>
      </p:sp>
      <p:sp>
        <p:nvSpPr>
          <p:cNvPr id="55" name="Text 4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첫 말, MeAI에게 첫 질문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카드가 달라도 짝은 같아요. 오늘 한 분께 터치해 보세요.</a:t>
            </a:r>
            <a:endParaRPr lang="en-US" sz="1700" dirty="0"/>
          </a:p>
        </p:txBody>
      </p:sp>
      <p:sp>
        <p:nvSpPr>
          <p:cNvPr id="13" name="Shape 11"/>
          <p:cNvSpPr/>
          <p:nvPr/>
        </p:nvSpPr>
        <p:spPr>
          <a:xfrm>
            <a:off x="548640" y="1920240"/>
            <a:ext cx="2697480" cy="347472"/>
          </a:xfrm>
          <a:prstGeom prst="roundRect">
            <a:avLst>
              <a:gd name="adj" fmla="val 26316"/>
            </a:avLst>
          </a:prstGeom>
          <a:solidFill>
            <a:srgbClr val="F2F4F6"/>
          </a:solidFill>
          <a:ln w="12700">
            <a:solidFill>
              <a:srgbClr val="F2F4F6"/>
            </a:solidFill>
            <a:prstDash val="solid"/>
          </a:ln>
        </p:spPr>
      </p:sp>
      <p:sp>
        <p:nvSpPr>
          <p:cNvPr id="14" name="Text 12"/>
          <p:cNvSpPr txBox="1"/>
          <p:nvPr/>
        </p:nvSpPr>
        <p:spPr>
          <a:xfrm>
            <a:off x="685800" y="1920240"/>
            <a:ext cx="25146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상황</a:t>
            </a:r>
            <a:endParaRPr lang="en-US" sz="1400" dirty="0"/>
          </a:p>
        </p:txBody>
      </p:sp>
      <p:sp>
        <p:nvSpPr>
          <p:cNvPr id="15" name="Shape 13"/>
          <p:cNvSpPr/>
          <p:nvPr/>
        </p:nvSpPr>
        <p:spPr>
          <a:xfrm>
            <a:off x="3337560" y="1920240"/>
            <a:ext cx="4754880" cy="347472"/>
          </a:xfrm>
          <a:prstGeom prst="roundRect">
            <a:avLst>
              <a:gd name="adj" fmla="val 26316"/>
            </a:avLst>
          </a:prstGeom>
          <a:solidFill>
            <a:srgbClr val="F2F4F6"/>
          </a:solidFill>
          <a:ln w="12700">
            <a:solidFill>
              <a:srgbClr val="F2F4F6"/>
            </a:solidFill>
            <a:prstDash val="solid"/>
          </a:ln>
        </p:spPr>
      </p:sp>
      <p:sp>
        <p:nvSpPr>
          <p:cNvPr id="16" name="Text 14"/>
          <p:cNvSpPr txBox="1"/>
          <p:nvPr/>
        </p:nvSpPr>
        <p:spPr>
          <a:xfrm>
            <a:off x="3474720" y="1920240"/>
            <a:ext cx="45720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고객에게 첫 말</a:t>
            </a:r>
            <a:endParaRPr lang="en-US" sz="1400" dirty="0"/>
          </a:p>
        </p:txBody>
      </p:sp>
      <p:sp>
        <p:nvSpPr>
          <p:cNvPr id="17" name="Shape 15"/>
          <p:cNvSpPr/>
          <p:nvPr/>
        </p:nvSpPr>
        <p:spPr>
          <a:xfrm>
            <a:off x="8183880" y="1920240"/>
            <a:ext cx="3456432" cy="347472"/>
          </a:xfrm>
          <a:prstGeom prst="roundRect">
            <a:avLst>
              <a:gd name="adj" fmla="val 26316"/>
            </a:avLst>
          </a:prstGeom>
          <a:solidFill>
            <a:srgbClr val="F2F4F6"/>
          </a:solidFill>
          <a:ln w="12700">
            <a:solidFill>
              <a:srgbClr val="F2F4F6"/>
            </a:solidFill>
            <a:prstDash val="solid"/>
          </a:ln>
        </p:spPr>
      </p:sp>
      <p:sp>
        <p:nvSpPr>
          <p:cNvPr id="18" name="Text 16"/>
          <p:cNvSpPr txBox="1"/>
          <p:nvPr/>
        </p:nvSpPr>
        <p:spPr>
          <a:xfrm>
            <a:off x="8321040" y="1920240"/>
            <a:ext cx="3273552"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MeAI에게 첫 질문</a:t>
            </a:r>
            <a:endParaRPr lang="en-US" sz="1400" dirty="0"/>
          </a:p>
        </p:txBody>
      </p:sp>
      <p:sp>
        <p:nvSpPr>
          <p:cNvPr id="19" name="Shape 17"/>
          <p:cNvSpPr/>
          <p:nvPr/>
        </p:nvSpPr>
        <p:spPr>
          <a:xfrm>
            <a:off x="548640" y="2340864"/>
            <a:ext cx="2697480" cy="1005840"/>
          </a:xfrm>
          <a:prstGeom prst="roundRect">
            <a:avLst>
              <a:gd name="adj" fmla="val 10909"/>
            </a:avLst>
          </a:prstGeom>
          <a:solidFill>
            <a:srgbClr val="F9FAFB"/>
          </a:solidFill>
          <a:ln w="12700">
            <a:solidFill>
              <a:srgbClr val="F9FAFB"/>
            </a:solidFill>
            <a:prstDash val="solid"/>
          </a:ln>
        </p:spPr>
      </p:sp>
      <p:sp>
        <p:nvSpPr>
          <p:cNvPr id="20" name="Shape 18"/>
          <p:cNvSpPr/>
          <p:nvPr/>
        </p:nvSpPr>
        <p:spPr>
          <a:xfrm>
            <a:off x="3337560" y="2340864"/>
            <a:ext cx="4754880" cy="1005840"/>
          </a:xfrm>
          <a:prstGeom prst="roundRect">
            <a:avLst>
              <a:gd name="adj" fmla="val 10909"/>
            </a:avLst>
          </a:prstGeom>
          <a:solidFill>
            <a:srgbClr val="F9FAFB"/>
          </a:solidFill>
          <a:ln w="12700">
            <a:solidFill>
              <a:srgbClr val="F9FAFB"/>
            </a:solidFill>
            <a:prstDash val="solid"/>
          </a:ln>
        </p:spPr>
      </p:sp>
      <p:sp>
        <p:nvSpPr>
          <p:cNvPr id="21" name="Shape 19"/>
          <p:cNvSpPr/>
          <p:nvPr/>
        </p:nvSpPr>
        <p:spPr>
          <a:xfrm>
            <a:off x="8183880" y="2340864"/>
            <a:ext cx="3456432" cy="1005840"/>
          </a:xfrm>
          <a:prstGeom prst="roundRect">
            <a:avLst>
              <a:gd name="adj" fmla="val 10909"/>
            </a:avLst>
          </a:prstGeom>
          <a:solidFill>
            <a:srgbClr val="F9FAFB"/>
          </a:solidFill>
          <a:ln w="12700">
            <a:solidFill>
              <a:srgbClr val="F9FAFB"/>
            </a:solidFill>
            <a:prstDash val="solid"/>
          </a:ln>
        </p:spPr>
      </p:sp>
      <p:pic>
        <p:nvPicPr>
          <p:cNvPr id="22" name="Image 0" descr="MeAI 화면 캡처">    </p:cNvPr>
          <p:cNvPicPr>
            <a:picLocks noChangeAspect="1"/>
          </p:cNvPicPr>
          <p:nvPr/>
        </p:nvPicPr>
        <p:blipFill>
          <a:blip r:embed="rId1"/>
          <a:stretch>
            <a:fillRect/>
          </a:stretch>
        </p:blipFill>
        <p:spPr>
          <a:xfrm>
            <a:off x="692384" y="2404872"/>
            <a:ext cx="764072" cy="877824"/>
          </a:xfrm>
          <a:prstGeom prst="rect">
            <a:avLst/>
          </a:prstGeom>
        </p:spPr>
      </p:pic>
      <p:sp>
        <p:nvSpPr>
          <p:cNvPr id="23" name="Shape 20"/>
          <p:cNvSpPr/>
          <p:nvPr/>
        </p:nvSpPr>
        <p:spPr>
          <a:xfrm>
            <a:off x="740675" y="3018705"/>
            <a:ext cx="237163" cy="51510"/>
          </a:xfrm>
          <a:prstGeom prst="rect">
            <a:avLst/>
          </a:prstGeom>
          <a:ln w="15875">
            <a:solidFill>
              <a:srgbClr val="F04452"/>
            </a:solidFill>
            <a:prstDash val="solid"/>
          </a:ln>
        </p:spPr>
      </p:sp>
      <p:sp>
        <p:nvSpPr>
          <p:cNvPr id="24" name="Shape 21"/>
          <p:cNvSpPr/>
          <p:nvPr/>
        </p:nvSpPr>
        <p:spPr>
          <a:xfrm>
            <a:off x="438912" y="2249424"/>
            <a:ext cx="310896" cy="310896"/>
          </a:xfrm>
          <a:prstGeom prst="ellipse">
            <a:avLst/>
          </a:prstGeom>
          <a:solidFill>
            <a:srgbClr val="3182F6"/>
          </a:solidFill>
          <a:ln w="19050">
            <a:solidFill>
              <a:srgbClr val="FFFFFF"/>
            </a:solidFill>
            <a:prstDash val="solid"/>
          </a:ln>
        </p:spPr>
      </p:sp>
      <p:sp>
        <p:nvSpPr>
          <p:cNvPr id="25" name="Text 22"/>
          <p:cNvSpPr txBox="1"/>
          <p:nvPr/>
        </p:nvSpPr>
        <p:spPr>
          <a:xfrm>
            <a:off x="438912" y="22494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6" name="Text 23"/>
          <p:cNvSpPr txBox="1"/>
          <p:nvPr/>
        </p:nvSpPr>
        <p:spPr>
          <a:xfrm>
            <a:off x="1572768" y="2432304"/>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2주 전</a:t>
            </a:r>
            <a:endParaRPr lang="en-US" sz="1500" dirty="0"/>
          </a:p>
        </p:txBody>
      </p:sp>
      <p:sp>
        <p:nvSpPr>
          <p:cNvPr id="27" name="Text 24"/>
          <p:cNvSpPr txBox="1"/>
          <p:nvPr/>
        </p:nvSpPr>
        <p:spPr>
          <a:xfrm>
            <a:off x="1572768" y="2761488"/>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동의 필요 · 앞 장 김민수</a:t>
            </a:r>
            <a:endParaRPr lang="en-US" sz="1200" dirty="0"/>
          </a:p>
        </p:txBody>
      </p:sp>
      <p:sp>
        <p:nvSpPr>
          <p:cNvPr id="28" name="Shape 25"/>
          <p:cNvSpPr/>
          <p:nvPr/>
        </p:nvSpPr>
        <p:spPr>
          <a:xfrm>
            <a:off x="1572768" y="3035808"/>
            <a:ext cx="1096010" cy="256032"/>
          </a:xfrm>
          <a:prstGeom prst="roundRect">
            <a:avLst>
              <a:gd name="adj" fmla="val 50000"/>
            </a:avLst>
          </a:prstGeom>
          <a:solidFill>
            <a:srgbClr val="FFF0F0"/>
          </a:solidFill>
          <a:ln w="12700">
            <a:solidFill>
              <a:srgbClr val="FFF0F0"/>
            </a:solidFill>
            <a:prstDash val="solid"/>
          </a:ln>
        </p:spPr>
      </p:sp>
      <p:sp>
        <p:nvSpPr>
          <p:cNvPr id="29" name="Text 26"/>
          <p:cNvSpPr txBox="1"/>
          <p:nvPr/>
        </p:nvSpPr>
        <p:spPr>
          <a:xfrm>
            <a:off x="1572768" y="3035808"/>
            <a:ext cx="1096010" cy="256032"/>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알림톡부터</a:t>
            </a:r>
            <a:endParaRPr lang="en-US" sz="1150" dirty="0"/>
          </a:p>
        </p:txBody>
      </p:sp>
      <p:sp>
        <p:nvSpPr>
          <p:cNvPr id="30" name="Text 27"/>
          <p:cNvSpPr txBox="1"/>
          <p:nvPr/>
        </p:nvSpPr>
        <p:spPr>
          <a:xfrm>
            <a:off x="3474720" y="2340864"/>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2주 뒤 보험 나이가 올라가요.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그 전에 점검하려고 동의 알림톡 보내요.”</a:t>
            </a:r>
            <a:endParaRPr lang="en-US" sz="1450" dirty="0"/>
          </a:p>
        </p:txBody>
      </p:sp>
      <p:sp>
        <p:nvSpPr>
          <p:cNvPr id="31" name="Text 28"/>
          <p:cNvSpPr txBox="1"/>
          <p:nvPr/>
        </p:nvSpPr>
        <p:spPr>
          <a:xfrm>
            <a:off x="8321040" y="2395728"/>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동의 반영 뒤</a:t>
            </a:r>
            <a:endParaRPr lang="en-US" sz="1150" dirty="0"/>
          </a:p>
        </p:txBody>
      </p:sp>
      <p:sp>
        <p:nvSpPr>
          <p:cNvPr id="32" name="Shape 29"/>
          <p:cNvSpPr/>
          <p:nvPr/>
        </p:nvSpPr>
        <p:spPr>
          <a:xfrm>
            <a:off x="8293608" y="2651760"/>
            <a:ext cx="3236976" cy="621792"/>
          </a:xfrm>
          <a:prstGeom prst="roundRect">
            <a:avLst>
              <a:gd name="adj" fmla="val 14706"/>
            </a:avLst>
          </a:prstGeom>
          <a:solidFill>
            <a:srgbClr val="FFFFFF"/>
          </a:solidFill>
          <a:ln w="12700">
            <a:solidFill>
              <a:srgbClr val="3182F6"/>
            </a:solidFill>
            <a:prstDash val="solid"/>
          </a:ln>
        </p:spPr>
      </p:sp>
      <p:sp>
        <p:nvSpPr>
          <p:cNvPr id="33" name="Text 30"/>
          <p:cNvSpPr txBox="1"/>
          <p:nvPr/>
        </p:nvSpPr>
        <p:spPr>
          <a:xfrm>
            <a:off x="8412480" y="2651760"/>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상령일 전에 암진단비를 늘려야 하는</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이유를 쉽게 설명해줘</a:t>
            </a:r>
            <a:endParaRPr lang="en-US" sz="1300" dirty="0"/>
          </a:p>
        </p:txBody>
      </p:sp>
      <p:sp>
        <p:nvSpPr>
          <p:cNvPr id="34" name="Shape 31"/>
          <p:cNvSpPr/>
          <p:nvPr/>
        </p:nvSpPr>
        <p:spPr>
          <a:xfrm>
            <a:off x="548640" y="3419856"/>
            <a:ext cx="2697480" cy="1005840"/>
          </a:xfrm>
          <a:prstGeom prst="roundRect">
            <a:avLst>
              <a:gd name="adj" fmla="val 10909"/>
            </a:avLst>
          </a:prstGeom>
          <a:solidFill>
            <a:srgbClr val="FFFFFF"/>
          </a:solidFill>
          <a:ln w="9525">
            <a:solidFill>
              <a:srgbClr val="E5E8EB"/>
            </a:solidFill>
            <a:prstDash val="solid"/>
          </a:ln>
        </p:spPr>
      </p:sp>
      <p:sp>
        <p:nvSpPr>
          <p:cNvPr id="35" name="Shape 32"/>
          <p:cNvSpPr/>
          <p:nvPr/>
        </p:nvSpPr>
        <p:spPr>
          <a:xfrm>
            <a:off x="3337560" y="3419856"/>
            <a:ext cx="4754880" cy="1005840"/>
          </a:xfrm>
          <a:prstGeom prst="roundRect">
            <a:avLst>
              <a:gd name="adj" fmla="val 10909"/>
            </a:avLst>
          </a:prstGeom>
          <a:solidFill>
            <a:srgbClr val="FFFFFF"/>
          </a:solidFill>
          <a:ln w="9525">
            <a:solidFill>
              <a:srgbClr val="E5E8EB"/>
            </a:solidFill>
            <a:prstDash val="solid"/>
          </a:ln>
        </p:spPr>
      </p:sp>
      <p:sp>
        <p:nvSpPr>
          <p:cNvPr id="36" name="Shape 33"/>
          <p:cNvSpPr/>
          <p:nvPr/>
        </p:nvSpPr>
        <p:spPr>
          <a:xfrm>
            <a:off x="8183880" y="3419856"/>
            <a:ext cx="3456432" cy="1005840"/>
          </a:xfrm>
          <a:prstGeom prst="roundRect">
            <a:avLst>
              <a:gd name="adj" fmla="val 10909"/>
            </a:avLst>
          </a:prstGeom>
          <a:solidFill>
            <a:srgbClr val="FFFFFF"/>
          </a:solidFill>
          <a:ln w="9525">
            <a:solidFill>
              <a:srgbClr val="E5E8EB"/>
            </a:solidFill>
            <a:prstDash val="solid"/>
          </a:ln>
        </p:spPr>
      </p:sp>
      <p:pic>
        <p:nvPicPr>
          <p:cNvPr id="37" name="Image 1" descr="MeAI 화면 캡처">    </p:cNvPr>
          <p:cNvPicPr>
            <a:picLocks noChangeAspect="1"/>
          </p:cNvPicPr>
          <p:nvPr/>
        </p:nvPicPr>
        <p:blipFill>
          <a:blip r:embed="rId2"/>
          <a:stretch>
            <a:fillRect/>
          </a:stretch>
        </p:blipFill>
        <p:spPr>
          <a:xfrm>
            <a:off x="667512" y="3483864"/>
            <a:ext cx="813816" cy="877824"/>
          </a:xfrm>
          <a:prstGeom prst="rect">
            <a:avLst/>
          </a:prstGeom>
        </p:spPr>
      </p:pic>
      <p:sp>
        <p:nvSpPr>
          <p:cNvPr id="38" name="Shape 34"/>
          <p:cNvSpPr/>
          <p:nvPr/>
        </p:nvSpPr>
        <p:spPr>
          <a:xfrm>
            <a:off x="718947" y="4080510"/>
            <a:ext cx="273177" cy="52578"/>
          </a:xfrm>
          <a:prstGeom prst="rect">
            <a:avLst/>
          </a:prstGeom>
          <a:ln w="15875">
            <a:solidFill>
              <a:srgbClr val="F04452"/>
            </a:solidFill>
            <a:prstDash val="solid"/>
          </a:ln>
        </p:spPr>
      </p:sp>
      <p:sp>
        <p:nvSpPr>
          <p:cNvPr id="39" name="Shape 35"/>
          <p:cNvSpPr/>
          <p:nvPr/>
        </p:nvSpPr>
        <p:spPr>
          <a:xfrm>
            <a:off x="438912" y="3328416"/>
            <a:ext cx="310896" cy="310896"/>
          </a:xfrm>
          <a:prstGeom prst="ellipse">
            <a:avLst/>
          </a:prstGeom>
          <a:solidFill>
            <a:srgbClr val="3182F6"/>
          </a:solidFill>
          <a:ln w="19050">
            <a:solidFill>
              <a:srgbClr val="FFFFFF"/>
            </a:solidFill>
            <a:prstDash val="solid"/>
          </a:ln>
        </p:spPr>
      </p:sp>
      <p:sp>
        <p:nvSpPr>
          <p:cNvPr id="40" name="Text 36"/>
          <p:cNvSpPr txBox="1"/>
          <p:nvPr/>
        </p:nvSpPr>
        <p:spPr>
          <a:xfrm>
            <a:off x="438912" y="3328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41" name="Text 37"/>
          <p:cNvSpPr txBox="1"/>
          <p:nvPr/>
        </p:nvSpPr>
        <p:spPr>
          <a:xfrm>
            <a:off x="1572768" y="3511296"/>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동의 만료 임박</a:t>
            </a:r>
            <a:endParaRPr lang="en-US" sz="1500" dirty="0"/>
          </a:p>
        </p:txBody>
      </p:sp>
      <p:sp>
        <p:nvSpPr>
          <p:cNvPr id="42" name="Text 38"/>
          <p:cNvSpPr txBox="1"/>
          <p:nvPr/>
        </p:nvSpPr>
        <p:spPr>
          <a:xfrm>
            <a:off x="1572768" y="3840480"/>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이달 말 만료</a:t>
            </a:r>
            <a:endParaRPr lang="en-US" sz="1200" dirty="0"/>
          </a:p>
        </p:txBody>
      </p:sp>
      <p:sp>
        <p:nvSpPr>
          <p:cNvPr id="43" name="Text 39"/>
          <p:cNvSpPr txBox="1"/>
          <p:nvPr/>
        </p:nvSpPr>
        <p:spPr>
          <a:xfrm>
            <a:off x="3474720" y="3419856"/>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이달 말 동의가 만료돼 연장 부탁드려요.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새로 나온 보장도 봐 드릴게요.”</a:t>
            </a:r>
            <a:endParaRPr lang="en-US" sz="1450" dirty="0"/>
          </a:p>
        </p:txBody>
      </p:sp>
      <p:sp>
        <p:nvSpPr>
          <p:cNvPr id="44" name="Shape 40"/>
          <p:cNvSpPr/>
          <p:nvPr/>
        </p:nvSpPr>
        <p:spPr>
          <a:xfrm>
            <a:off x="8293608" y="3511296"/>
            <a:ext cx="3236976" cy="822960"/>
          </a:xfrm>
          <a:prstGeom prst="roundRect">
            <a:avLst>
              <a:gd name="adj" fmla="val 11111"/>
            </a:avLst>
          </a:prstGeom>
          <a:solidFill>
            <a:srgbClr val="FFFFFF"/>
          </a:solidFill>
          <a:ln w="12700">
            <a:solidFill>
              <a:srgbClr val="3182F6"/>
            </a:solidFill>
            <a:prstDash val="solid"/>
          </a:ln>
        </p:spPr>
      </p:sp>
      <p:sp>
        <p:nvSpPr>
          <p:cNvPr id="45" name="Text 41"/>
          <p:cNvSpPr txBox="1"/>
          <p:nvPr/>
        </p:nvSpPr>
        <p:spPr>
          <a:xfrm>
            <a:off x="8412480" y="3511296"/>
            <a:ext cx="3044952" cy="822960"/>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최근 신담보 기준으로</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 고객 보장의 빈 곳을 알려줘</a:t>
            </a:r>
            <a:endParaRPr lang="en-US" sz="1300" dirty="0"/>
          </a:p>
        </p:txBody>
      </p:sp>
      <p:sp>
        <p:nvSpPr>
          <p:cNvPr id="46" name="Shape 42"/>
          <p:cNvSpPr/>
          <p:nvPr/>
        </p:nvSpPr>
        <p:spPr>
          <a:xfrm>
            <a:off x="548640" y="4498848"/>
            <a:ext cx="2697480" cy="1005840"/>
          </a:xfrm>
          <a:prstGeom prst="roundRect">
            <a:avLst>
              <a:gd name="adj" fmla="val 10909"/>
            </a:avLst>
          </a:prstGeom>
          <a:solidFill>
            <a:srgbClr val="FFFFFF"/>
          </a:solidFill>
          <a:ln w="9525">
            <a:solidFill>
              <a:srgbClr val="E5E8EB"/>
            </a:solidFill>
            <a:prstDash val="solid"/>
          </a:ln>
        </p:spPr>
      </p:sp>
      <p:sp>
        <p:nvSpPr>
          <p:cNvPr id="47" name="Shape 43"/>
          <p:cNvSpPr/>
          <p:nvPr/>
        </p:nvSpPr>
        <p:spPr>
          <a:xfrm>
            <a:off x="3337560" y="4498848"/>
            <a:ext cx="4754880" cy="1005840"/>
          </a:xfrm>
          <a:prstGeom prst="roundRect">
            <a:avLst>
              <a:gd name="adj" fmla="val 10909"/>
            </a:avLst>
          </a:prstGeom>
          <a:solidFill>
            <a:srgbClr val="FFFFFF"/>
          </a:solidFill>
          <a:ln w="9525">
            <a:solidFill>
              <a:srgbClr val="E5E8EB"/>
            </a:solidFill>
            <a:prstDash val="solid"/>
          </a:ln>
        </p:spPr>
      </p:sp>
      <p:sp>
        <p:nvSpPr>
          <p:cNvPr id="48" name="Shape 44"/>
          <p:cNvSpPr/>
          <p:nvPr/>
        </p:nvSpPr>
        <p:spPr>
          <a:xfrm>
            <a:off x="8183880" y="4498848"/>
            <a:ext cx="3456432" cy="1005840"/>
          </a:xfrm>
          <a:prstGeom prst="roundRect">
            <a:avLst>
              <a:gd name="adj" fmla="val 10909"/>
            </a:avLst>
          </a:prstGeom>
          <a:solidFill>
            <a:srgbClr val="FFFFFF"/>
          </a:solidFill>
          <a:ln w="9525">
            <a:solidFill>
              <a:srgbClr val="E5E8EB"/>
            </a:solidFill>
            <a:prstDash val="solid"/>
          </a:ln>
        </p:spPr>
      </p:sp>
      <p:pic>
        <p:nvPicPr>
          <p:cNvPr id="49" name="Image 2" descr="MeAI 화면 캡처">    </p:cNvPr>
          <p:cNvPicPr>
            <a:picLocks noChangeAspect="1"/>
          </p:cNvPicPr>
          <p:nvPr/>
        </p:nvPicPr>
        <p:blipFill>
          <a:blip r:embed="rId3"/>
          <a:stretch>
            <a:fillRect/>
          </a:stretch>
        </p:blipFill>
        <p:spPr>
          <a:xfrm>
            <a:off x="640080" y="4601978"/>
            <a:ext cx="868680" cy="799580"/>
          </a:xfrm>
          <a:prstGeom prst="rect">
            <a:avLst/>
          </a:prstGeom>
        </p:spPr>
      </p:pic>
      <p:sp>
        <p:nvSpPr>
          <p:cNvPr id="50" name="Shape 45"/>
          <p:cNvSpPr/>
          <p:nvPr/>
        </p:nvSpPr>
        <p:spPr>
          <a:xfrm>
            <a:off x="666404" y="4996832"/>
            <a:ext cx="812742" cy="164523"/>
          </a:xfrm>
          <a:prstGeom prst="rect">
            <a:avLst/>
          </a:prstGeom>
          <a:ln w="15875">
            <a:solidFill>
              <a:srgbClr val="F04452"/>
            </a:solidFill>
            <a:prstDash val="solid"/>
          </a:ln>
        </p:spPr>
      </p:sp>
      <p:sp>
        <p:nvSpPr>
          <p:cNvPr id="51" name="Shape 46"/>
          <p:cNvSpPr/>
          <p:nvPr/>
        </p:nvSpPr>
        <p:spPr>
          <a:xfrm>
            <a:off x="438912" y="4407408"/>
            <a:ext cx="310896" cy="310896"/>
          </a:xfrm>
          <a:prstGeom prst="ellipse">
            <a:avLst/>
          </a:prstGeom>
          <a:solidFill>
            <a:srgbClr val="3182F6"/>
          </a:solidFill>
          <a:ln w="19050">
            <a:solidFill>
              <a:srgbClr val="FFFFFF"/>
            </a:solidFill>
            <a:prstDash val="solid"/>
          </a:ln>
        </p:spPr>
      </p:sp>
      <p:sp>
        <p:nvSpPr>
          <p:cNvPr id="52" name="Text 47"/>
          <p:cNvSpPr txBox="1"/>
          <p:nvPr/>
        </p:nvSpPr>
        <p:spPr>
          <a:xfrm>
            <a:off x="438912" y="44074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53" name="Text 48"/>
          <p:cNvSpPr txBox="1"/>
          <p:nvPr/>
        </p:nvSpPr>
        <p:spPr>
          <a:xfrm>
            <a:off x="1572768" y="4590288"/>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생일 임박 그룹</a:t>
            </a:r>
            <a:endParaRPr lang="en-US" sz="1500" dirty="0"/>
          </a:p>
        </p:txBody>
      </p:sp>
      <p:sp>
        <p:nvSpPr>
          <p:cNvPr id="54" name="Text 49"/>
          <p:cNvSpPr txBox="1"/>
          <p:nvPr/>
        </p:nvSpPr>
        <p:spPr>
          <a:xfrm>
            <a:off x="1572768" y="4919472"/>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고객찾기 · 영업 기회 탭</a:t>
            </a:r>
            <a:endParaRPr lang="en-US" sz="1200" dirty="0"/>
          </a:p>
        </p:txBody>
      </p:sp>
      <p:sp>
        <p:nvSpPr>
          <p:cNvPr id="55" name="Shape 50"/>
          <p:cNvSpPr/>
          <p:nvPr/>
        </p:nvSpPr>
        <p:spPr>
          <a:xfrm>
            <a:off x="3474720" y="4572000"/>
            <a:ext cx="2121281" cy="256032"/>
          </a:xfrm>
          <a:prstGeom prst="roundRect">
            <a:avLst>
              <a:gd name="adj" fmla="val 50000"/>
            </a:avLst>
          </a:prstGeom>
          <a:solidFill>
            <a:srgbClr val="F2F4F6"/>
          </a:solidFill>
          <a:ln w="12700">
            <a:solidFill>
              <a:srgbClr val="F2F4F6"/>
            </a:solidFill>
            <a:prstDash val="solid"/>
          </a:ln>
        </p:spPr>
      </p:sp>
      <p:sp>
        <p:nvSpPr>
          <p:cNvPr id="56" name="Text 51"/>
          <p:cNvSpPr txBox="1"/>
          <p:nvPr/>
        </p:nvSpPr>
        <p:spPr>
          <a:xfrm>
            <a:off x="3474720" y="4572000"/>
            <a:ext cx="2121281" cy="256032"/>
          </a:xfrm>
          <a:prstGeom prst="rect">
            <a:avLst/>
          </a:prstGeom>
          <a:noFill/>
          <a:ln/>
        </p:spPr>
        <p:txBody>
          <a:bodyPr wrap="square" lIns="0" tIns="0" rIns="0" bIns="0" rtlCol="0" anchor="ctr"/>
          <a:lstStyle/>
          <a:p>
            <a:pPr algn="ctr" indent="0" marL="0">
              <a:buNone/>
            </a:pPr>
            <a:r>
              <a:rPr lang="en-US" sz="1150" b="1" dirty="0">
                <a:solidFill>
                  <a:srgbClr val="4E5968"/>
                </a:solidFill>
                <a:latin typeface="맑은 고딕" pitchFamily="34" charset="0"/>
                <a:ea typeface="맑은 고딕" pitchFamily="34" charset="-122"/>
                <a:cs typeface="맑은 고딕" pitchFamily="34" charset="-120"/>
              </a:rPr>
              <a:t>화면 안내 → 내 말로 풀어요</a:t>
            </a:r>
            <a:endParaRPr lang="en-US" sz="1150" dirty="0"/>
          </a:p>
        </p:txBody>
      </p:sp>
      <p:sp>
        <p:nvSpPr>
          <p:cNvPr id="57" name="Text 52"/>
          <p:cNvSpPr txBox="1"/>
          <p:nvPr/>
        </p:nvSpPr>
        <p:spPr>
          <a:xfrm>
            <a:off x="3474720" y="4864608"/>
            <a:ext cx="4480560" cy="603504"/>
          </a:xfrm>
          <a:prstGeom prst="rect">
            <a:avLst/>
          </a:prstGeom>
          <a:noFill/>
          <a:ln/>
        </p:spPr>
        <p:txBody>
          <a:bodyPr wrap="square" lIns="0" tIns="0" rIns="0" bIns="0" rtlCol="0" anchor="t"/>
          <a:lstStyle/>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화면 안내: 축하 인사로 대화를 열고 자연스럽게</a:t>
            </a:r>
            <a:endParaRPr lang="en-US" sz="1350" dirty="0"/>
          </a:p>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보장 점검으로 이어가기 좋은 시점입니다.</a:t>
            </a:r>
            <a:endParaRPr lang="en-US" sz="1350" dirty="0"/>
          </a:p>
        </p:txBody>
      </p:sp>
      <p:sp>
        <p:nvSpPr>
          <p:cNvPr id="58" name="Text 53"/>
          <p:cNvSpPr txBox="1"/>
          <p:nvPr/>
        </p:nvSpPr>
        <p:spPr>
          <a:xfrm>
            <a:off x="8321040" y="4553712"/>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파란 일반대화 추천 질문(틀)</a:t>
            </a:r>
            <a:endParaRPr lang="en-US" sz="1150" dirty="0"/>
          </a:p>
        </p:txBody>
      </p:sp>
      <p:sp>
        <p:nvSpPr>
          <p:cNvPr id="59" name="Shape 54"/>
          <p:cNvSpPr/>
          <p:nvPr/>
        </p:nvSpPr>
        <p:spPr>
          <a:xfrm>
            <a:off x="8293608" y="4809744"/>
            <a:ext cx="3236976" cy="621792"/>
          </a:xfrm>
          <a:prstGeom prst="roundRect">
            <a:avLst>
              <a:gd name="adj" fmla="val 14706"/>
            </a:avLst>
          </a:prstGeom>
          <a:solidFill>
            <a:srgbClr val="FFFFFF"/>
          </a:solidFill>
          <a:ln w="12700">
            <a:solidFill>
              <a:srgbClr val="3182F6"/>
            </a:solidFill>
            <a:prstDash val="solid"/>
          </a:ln>
        </p:spPr>
      </p:sp>
      <p:sp>
        <p:nvSpPr>
          <p:cNvPr id="60" name="Text 55"/>
          <p:cNvSpPr txBox="1"/>
          <p:nvPr/>
        </p:nvSpPr>
        <p:spPr>
          <a:xfrm>
            <a:off x="8412480" y="4809744"/>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#생일 임박, #나이대, #고객유형 —</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 안내 문자 문안을 작성해줘 …</a:t>
            </a:r>
            <a:endParaRPr lang="en-US" sz="1300" dirty="0"/>
          </a:p>
        </p:txBody>
      </p:sp>
      <p:sp>
        <p:nvSpPr>
          <p:cNvPr id="61" name="Shape 56"/>
          <p:cNvSpPr/>
          <p:nvPr/>
        </p:nvSpPr>
        <p:spPr>
          <a:xfrm>
            <a:off x="548640" y="5614416"/>
            <a:ext cx="11094415" cy="457200"/>
          </a:xfrm>
          <a:prstGeom prst="roundRect">
            <a:avLst>
              <a:gd name="adj" fmla="val 28000"/>
            </a:avLst>
          </a:prstGeom>
          <a:solidFill>
            <a:srgbClr val="191F28"/>
          </a:solidFill>
          <a:ln w="12700">
            <a:solidFill>
              <a:srgbClr val="191F28"/>
            </a:solidFill>
            <a:prstDash val="solid"/>
          </a:ln>
        </p:spPr>
      </p:sp>
      <p:sp>
        <p:nvSpPr>
          <p:cNvPr id="62" name="Text 57"/>
          <p:cNvSpPr txBox="1"/>
          <p:nvPr/>
        </p:nvSpPr>
        <p:spPr>
          <a:xfrm>
            <a:off x="868680" y="5614416"/>
            <a:ext cx="10454335" cy="457200"/>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1600" dirty="0"/>
          </a:p>
        </p:txBody>
      </p:sp>
      <p:sp>
        <p:nvSpPr>
          <p:cNvPr id="63" name="Text 58"/>
          <p:cNvSpPr txBox="1"/>
          <p:nvPr/>
        </p:nvSpPr>
        <p:spPr>
          <a:xfrm>
            <a:off x="548640" y="6126480"/>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D-90은 사전조회동의(가입설계동의와 별개) · 이름·숫자는 예시 · 출처: MeAI 활용 가이드북 v4 p.33·61·62 · 확정 화면</a:t>
            </a:r>
            <a:endParaRPr lang="en-US" sz="1100" dirty="0"/>
          </a:p>
        </p:txBody>
      </p:sp>
      <p:sp>
        <p:nvSpPr>
          <p:cNvPr id="64" name="Text 5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 뒤엔 좋았던 답만 골라 카톡으로 보내요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휴대폰 하나로 발송까지 끝나요. 김민수 고객이면 ‘인상 전 가입의 이점’을 담아요.</a:t>
            </a:r>
            <a:endParaRPr lang="en-US" sz="1700" dirty="0"/>
          </a:p>
        </p:txBody>
      </p:sp>
      <p:pic>
        <p:nvPicPr>
          <p:cNvPr id="13" name="Image 0" descr="MeAI 화면 캡처">    </p:cNvPr>
          <p:cNvPicPr>
            <a:picLocks noChangeAspect="1"/>
          </p:cNvPicPr>
          <p:nvPr/>
        </p:nvPicPr>
        <p:blipFill>
          <a:blip r:embed="rId1"/>
          <a:stretch>
            <a:fillRect/>
          </a:stretch>
        </p:blipFill>
        <p:spPr>
          <a:xfrm>
            <a:off x="1113157" y="1901952"/>
            <a:ext cx="1438829" cy="2926080"/>
          </a:xfrm>
          <a:prstGeom prst="rect">
            <a:avLst/>
          </a:prstGeom>
        </p:spPr>
      </p:pic>
      <p:sp>
        <p:nvSpPr>
          <p:cNvPr id="14" name="Shape 11"/>
          <p:cNvSpPr/>
          <p:nvPr/>
        </p:nvSpPr>
        <p:spPr>
          <a:xfrm>
            <a:off x="1890570" y="2174391"/>
            <a:ext cx="347472" cy="347472"/>
          </a:xfrm>
          <a:prstGeom prst="ellipse">
            <a:avLst/>
          </a:prstGeom>
          <a:solidFill>
            <a:srgbClr val="3182F6"/>
          </a:solidFill>
          <a:ln w="19050">
            <a:solidFill>
              <a:srgbClr val="FFFFFF"/>
            </a:solidFill>
            <a:prstDash val="solid"/>
          </a:ln>
        </p:spPr>
      </p:sp>
      <p:sp>
        <p:nvSpPr>
          <p:cNvPr id="15" name="Text 12"/>
          <p:cNvSpPr txBox="1"/>
          <p:nvPr/>
        </p:nvSpPr>
        <p:spPr>
          <a:xfrm>
            <a:off x="1890570" y="2174391"/>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Text 13"/>
          <p:cNvSpPr txBox="1"/>
          <p:nvPr/>
        </p:nvSpPr>
        <p:spPr>
          <a:xfrm>
            <a:off x="548640"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[요약 생성] 누르기</a:t>
            </a:r>
            <a:endParaRPr lang="en-US" sz="1550" dirty="0"/>
          </a:p>
        </p:txBody>
      </p:sp>
      <p:sp>
        <p:nvSpPr>
          <p:cNvPr id="17" name="Text 14"/>
          <p:cNvSpPr txBox="1"/>
          <p:nvPr/>
        </p:nvSpPr>
        <p:spPr>
          <a:xfrm>
            <a:off x="548640"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휴대폰은 대화 화면 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PC는 오른쪽 위 [요약 리포트]</a:t>
            </a:r>
            <a:endParaRPr lang="en-US" sz="1200" dirty="0"/>
          </a:p>
        </p:txBody>
      </p:sp>
      <p:sp>
        <p:nvSpPr>
          <p:cNvPr id="18" name="Text 15"/>
          <p:cNvSpPr txBox="1"/>
          <p:nvPr/>
        </p:nvSpPr>
        <p:spPr>
          <a:xfrm>
            <a:off x="3134792"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19" name="Image 1" descr="MeAI 화면 캡처">    </p:cNvPr>
          <p:cNvPicPr>
            <a:picLocks noChangeAspect="1"/>
          </p:cNvPicPr>
          <p:nvPr/>
        </p:nvPicPr>
        <p:blipFill>
          <a:blip r:embed="rId2"/>
          <a:stretch>
            <a:fillRect/>
          </a:stretch>
        </p:blipFill>
        <p:spPr>
          <a:xfrm>
            <a:off x="3955341" y="1901952"/>
            <a:ext cx="1438829" cy="2926080"/>
          </a:xfrm>
          <a:prstGeom prst="rect">
            <a:avLst/>
          </a:prstGeom>
        </p:spPr>
      </p:pic>
      <p:sp>
        <p:nvSpPr>
          <p:cNvPr id="20" name="Shape 16"/>
          <p:cNvSpPr/>
          <p:nvPr/>
        </p:nvSpPr>
        <p:spPr>
          <a:xfrm>
            <a:off x="4006422" y="2713952"/>
            <a:ext cx="347472" cy="347472"/>
          </a:xfrm>
          <a:prstGeom prst="ellipse">
            <a:avLst/>
          </a:prstGeom>
          <a:solidFill>
            <a:srgbClr val="3182F6"/>
          </a:solidFill>
          <a:ln w="19050">
            <a:solidFill>
              <a:srgbClr val="FFFFFF"/>
            </a:solidFill>
            <a:prstDash val="solid"/>
          </a:ln>
        </p:spPr>
      </p:sp>
      <p:sp>
        <p:nvSpPr>
          <p:cNvPr id="21" name="Text 17"/>
          <p:cNvSpPr txBox="1"/>
          <p:nvPr/>
        </p:nvSpPr>
        <p:spPr>
          <a:xfrm>
            <a:off x="4006422" y="2713952"/>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8"/>
          <p:cNvSpPr/>
          <p:nvPr/>
        </p:nvSpPr>
        <p:spPr>
          <a:xfrm>
            <a:off x="4024516" y="4437196"/>
            <a:ext cx="1300480" cy="186771"/>
          </a:xfrm>
          <a:prstGeom prst="roundRect">
            <a:avLst>
              <a:gd name="adj" fmla="val 14688"/>
            </a:avLst>
          </a:prstGeom>
          <a:ln w="19050">
            <a:solidFill>
              <a:srgbClr val="F04452"/>
            </a:solidFill>
            <a:prstDash val="solid"/>
          </a:ln>
        </p:spPr>
      </p:sp>
      <p:sp>
        <p:nvSpPr>
          <p:cNvPr id="23" name="Text 19"/>
          <p:cNvSpPr txBox="1"/>
          <p:nvPr/>
        </p:nvSpPr>
        <p:spPr>
          <a:xfrm>
            <a:off x="3390824"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넣을 답만 체크</a:t>
            </a:r>
            <a:endParaRPr lang="en-US" sz="1550" dirty="0"/>
          </a:p>
        </p:txBody>
      </p:sp>
      <p:sp>
        <p:nvSpPr>
          <p:cNvPr id="24" name="Text 20"/>
          <p:cNvSpPr txBox="1"/>
          <p:nvPr/>
        </p:nvSpPr>
        <p:spPr>
          <a:xfrm>
            <a:off x="3390824"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내부 판단용 답은 빼고</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[편집하기]로 다듬어요</a:t>
            </a:r>
            <a:endParaRPr lang="en-US" sz="1200" dirty="0"/>
          </a:p>
        </p:txBody>
      </p:sp>
      <p:sp>
        <p:nvSpPr>
          <p:cNvPr id="25" name="Text 21"/>
          <p:cNvSpPr txBox="1"/>
          <p:nvPr/>
        </p:nvSpPr>
        <p:spPr>
          <a:xfrm>
            <a:off x="5976976"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26" name="Image 2" descr="MeAI 화면 캡처">    </p:cNvPr>
          <p:cNvPicPr>
            <a:picLocks noChangeAspect="1"/>
          </p:cNvPicPr>
          <p:nvPr/>
        </p:nvPicPr>
        <p:blipFill>
          <a:blip r:embed="rId3"/>
          <a:stretch>
            <a:fillRect/>
          </a:stretch>
        </p:blipFill>
        <p:spPr>
          <a:xfrm>
            <a:off x="6797525" y="1901952"/>
            <a:ext cx="1438829" cy="2926080"/>
          </a:xfrm>
          <a:prstGeom prst="rect">
            <a:avLst/>
          </a:prstGeom>
        </p:spPr>
      </p:pic>
      <p:sp>
        <p:nvSpPr>
          <p:cNvPr id="27" name="Shape 22"/>
          <p:cNvSpPr/>
          <p:nvPr/>
        </p:nvSpPr>
        <p:spPr>
          <a:xfrm>
            <a:off x="7332827" y="4349928"/>
            <a:ext cx="347472" cy="347472"/>
          </a:xfrm>
          <a:prstGeom prst="ellipse">
            <a:avLst/>
          </a:prstGeom>
          <a:solidFill>
            <a:srgbClr val="3182F6"/>
          </a:solidFill>
          <a:ln w="19050">
            <a:solidFill>
              <a:srgbClr val="FFFFFF"/>
            </a:solidFill>
            <a:prstDash val="solid"/>
          </a:ln>
        </p:spPr>
      </p:sp>
      <p:sp>
        <p:nvSpPr>
          <p:cNvPr id="28" name="Text 23"/>
          <p:cNvSpPr txBox="1"/>
          <p:nvPr/>
        </p:nvSpPr>
        <p:spPr>
          <a:xfrm>
            <a:off x="7332827" y="4349928"/>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9" name="Text 24"/>
          <p:cNvSpPr txBox="1"/>
          <p:nvPr/>
        </p:nvSpPr>
        <p:spPr>
          <a:xfrm>
            <a:off x="6233008"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[리포트 생성하기]</a:t>
            </a:r>
            <a:endParaRPr lang="en-US" sz="1550" dirty="0"/>
          </a:p>
        </p:txBody>
      </p:sp>
      <p:sp>
        <p:nvSpPr>
          <p:cNvPr id="30" name="Text 25"/>
          <p:cNvSpPr txBox="1"/>
          <p:nvPr/>
        </p:nvSpPr>
        <p:spPr>
          <a:xfrm>
            <a:off x="6233008"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카카오톡으로 링크가 전송돼요</a:t>
            </a:r>
            <a:endParaRPr lang="en-US" sz="1200" dirty="0"/>
          </a:p>
        </p:txBody>
      </p:sp>
      <p:sp>
        <p:nvSpPr>
          <p:cNvPr id="31" name="Text 26"/>
          <p:cNvSpPr txBox="1"/>
          <p:nvPr/>
        </p:nvSpPr>
        <p:spPr>
          <a:xfrm>
            <a:off x="8819159"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32" name="Shape 27"/>
          <p:cNvSpPr/>
          <p:nvPr/>
        </p:nvSpPr>
        <p:spPr>
          <a:xfrm>
            <a:off x="9075191" y="2286000"/>
            <a:ext cx="2567864" cy="2187925"/>
          </a:xfrm>
          <a:prstGeom prst="roundRect">
            <a:avLst>
              <a:gd name="adj" fmla="val 2347"/>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3" name="Image 3" descr="MeAI 화면 캡처">    </p:cNvPr>
          <p:cNvPicPr>
            <a:picLocks noChangeAspect="1"/>
          </p:cNvPicPr>
          <p:nvPr/>
        </p:nvPicPr>
        <p:blipFill>
          <a:blip r:embed="rId4"/>
          <a:stretch>
            <a:fillRect/>
          </a:stretch>
        </p:blipFill>
        <p:spPr>
          <a:xfrm>
            <a:off x="9075191" y="2286000"/>
            <a:ext cx="2567864" cy="2187925"/>
          </a:xfrm>
          <a:prstGeom prst="rect">
            <a:avLst/>
          </a:prstGeom>
        </p:spPr>
      </p:pic>
      <p:sp>
        <p:nvSpPr>
          <p:cNvPr id="34" name="Shape 28"/>
          <p:cNvSpPr/>
          <p:nvPr/>
        </p:nvSpPr>
        <p:spPr>
          <a:xfrm>
            <a:off x="9163482" y="3684426"/>
            <a:ext cx="347472" cy="347472"/>
          </a:xfrm>
          <a:prstGeom prst="ellipse">
            <a:avLst/>
          </a:prstGeom>
          <a:solidFill>
            <a:srgbClr val="3182F6"/>
          </a:solidFill>
          <a:ln w="19050">
            <a:solidFill>
              <a:srgbClr val="FFFFFF"/>
            </a:solidFill>
            <a:prstDash val="solid"/>
          </a:ln>
        </p:spPr>
      </p:sp>
      <p:sp>
        <p:nvSpPr>
          <p:cNvPr id="35" name="Text 29"/>
          <p:cNvSpPr txBox="1"/>
          <p:nvPr/>
        </p:nvSpPr>
        <p:spPr>
          <a:xfrm>
            <a:off x="9163482" y="3684426"/>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36" name="Text 30"/>
          <p:cNvSpPr txBox="1"/>
          <p:nvPr/>
        </p:nvSpPr>
        <p:spPr>
          <a:xfrm>
            <a:off x="9075191"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알림톡 도착 · 7일 열람</a:t>
            </a:r>
            <a:endParaRPr lang="en-US" sz="1550" dirty="0"/>
          </a:p>
        </p:txBody>
      </p:sp>
      <p:sp>
        <p:nvSpPr>
          <p:cNvPr id="37" name="Text 31"/>
          <p:cNvSpPr txBox="1"/>
          <p:nvPr/>
        </p:nvSpPr>
        <p:spPr>
          <a:xfrm>
            <a:off x="9075191"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받은 날부터 7일까지 열어요</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기간도 함께 알려 주세요</a:t>
            </a:r>
            <a:endParaRPr lang="en-US" sz="1200" dirty="0"/>
          </a:p>
        </p:txBody>
      </p:sp>
      <p:sp>
        <p:nvSpPr>
          <p:cNvPr id="38" name="Shape 32"/>
          <p:cNvSpPr/>
          <p:nvPr/>
        </p:nvSpPr>
        <p:spPr>
          <a:xfrm>
            <a:off x="9134170" y="1901952"/>
            <a:ext cx="2508885" cy="310896"/>
          </a:xfrm>
          <a:prstGeom prst="roundRect">
            <a:avLst>
              <a:gd name="adj" fmla="val 50000"/>
            </a:avLst>
          </a:prstGeom>
          <a:solidFill>
            <a:srgbClr val="FFFFFF"/>
          </a:solidFill>
          <a:ln w="15875">
            <a:solidFill>
              <a:srgbClr val="3182F6"/>
            </a:solidFill>
            <a:prstDash val="solid"/>
          </a:ln>
        </p:spPr>
      </p:sp>
      <p:sp>
        <p:nvSpPr>
          <p:cNvPr id="39" name="Text 33"/>
          <p:cNvSpPr txBox="1"/>
          <p:nvPr/>
        </p:nvSpPr>
        <p:spPr>
          <a:xfrm>
            <a:off x="9134170" y="1901952"/>
            <a:ext cx="2508885" cy="310896"/>
          </a:xfrm>
          <a:prstGeom prst="rect">
            <a:avLst/>
          </a:prstGeom>
          <a:noFill/>
          <a:ln/>
        </p:spPr>
        <p:txBody>
          <a:bodyPr wrap="square" lIns="0" tIns="0" rIns="0" bIns="0" rtlCol="0" anchor="ctr"/>
          <a:lstStyle/>
          <a:p>
            <a:pPr algn="ctr" indent="0" marL="0">
              <a:buNone/>
            </a:pPr>
            <a:r>
              <a:rPr lang="en-US" sz="1250" b="1" dirty="0">
                <a:solidFill>
                  <a:srgbClr val="3182F6"/>
                </a:solidFill>
                <a:latin typeface="맑은 고딕" pitchFamily="34" charset="0"/>
                <a:ea typeface="맑은 고딕" pitchFamily="34" charset="-122"/>
                <a:cs typeface="맑은 고딕" pitchFamily="34" charset="-120"/>
              </a:rPr>
              <a:t>처음 한 번은 내 카톡으로 먼저</a:t>
            </a:r>
            <a:endParaRPr lang="en-US" sz="1250" dirty="0"/>
          </a:p>
        </p:txBody>
      </p:sp>
      <p:sp>
        <p:nvSpPr>
          <p:cNvPr id="40" name="Text 34"/>
          <p:cNvSpPr txBox="1"/>
          <p:nvPr/>
        </p:nvSpPr>
        <p:spPr>
          <a:xfrm>
            <a:off x="7985455" y="4553712"/>
            <a:ext cx="365760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 · 이름은 가렸어요</a:t>
            </a:r>
            <a:endParaRPr lang="en-US" sz="1100" dirty="0"/>
          </a:p>
        </p:txBody>
      </p:sp>
      <p:sp>
        <p:nvSpPr>
          <p:cNvPr id="41" name="Shape 35"/>
          <p:cNvSpPr/>
          <p:nvPr/>
        </p:nvSpPr>
        <p:spPr>
          <a:xfrm>
            <a:off x="548640" y="5742432"/>
            <a:ext cx="11094415" cy="438912"/>
          </a:xfrm>
          <a:prstGeom prst="roundRect">
            <a:avLst>
              <a:gd name="adj" fmla="val 29167"/>
            </a:avLst>
          </a:prstGeom>
          <a:solidFill>
            <a:srgbClr val="FFF8E1"/>
          </a:solidFill>
          <a:ln w="12700">
            <a:solidFill>
              <a:srgbClr val="FFF8E1"/>
            </a:solidFill>
            <a:prstDash val="solid"/>
          </a:ln>
        </p:spPr>
      </p:sp>
      <p:sp>
        <p:nvSpPr>
          <p:cNvPr id="42" name="Text 36"/>
          <p:cNvSpPr txBox="1"/>
          <p:nvPr/>
        </p:nvSpPr>
        <p:spPr>
          <a:xfrm>
            <a:off x="868680" y="5742432"/>
            <a:ext cx="10454335" cy="438912"/>
          </a:xfrm>
          <a:prstGeom prst="rect">
            <a:avLst/>
          </a:prstGeom>
          <a:noFill/>
          <a:ln/>
        </p:spPr>
        <p:txBody>
          <a:bodyPr wrap="square" lIns="0" tIns="0" rIns="0" bIns="0" rtlCol="0" anchor="ctr"/>
          <a:lstStyle/>
          <a:p>
            <a:pPr indent="0" marL="0">
              <a:buNone/>
            </a:pPr>
            <a:r>
              <a:rPr lang="en-US" sz="1450" dirty="0">
                <a:solidFill>
                  <a:srgbClr val="191F28"/>
                </a:solidFill>
                <a:latin typeface="맑은 고딕" pitchFamily="34" charset="0"/>
                <a:ea typeface="맑은 고딕" pitchFamily="34" charset="-122"/>
                <a:cs typeface="맑은 고딕" pitchFamily="34" charset="-120"/>
              </a:rPr>
              <a:t>보내기 전 숫자·약관 근거·개인정보 확인 · ‘AI로 생성된 보조자료’ 표시가 붙어요</a:t>
            </a:r>
            <a:endParaRPr lang="en-US" sz="145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첫 5일, 하루 하나씩만 해 보세요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첫 사용까지 짧을수록 정착률이 높았어요(데이터분석팀 MeAI 사용 분석 2026.08).</a:t>
            </a:r>
            <a:endParaRPr lang="en-US" sz="1700" dirty="0"/>
          </a:p>
        </p:txBody>
      </p:sp>
      <p:sp>
        <p:nvSpPr>
          <p:cNvPr id="13" name="Shape 11"/>
          <p:cNvSpPr/>
          <p:nvPr/>
        </p:nvSpPr>
        <p:spPr>
          <a:xfrm>
            <a:off x="548640" y="2011680"/>
            <a:ext cx="2072579" cy="3246120"/>
          </a:xfrm>
          <a:prstGeom prst="roundRect">
            <a:avLst>
              <a:gd name="adj" fmla="val 7059"/>
            </a:avLst>
          </a:prstGeom>
          <a:solidFill>
            <a:srgbClr val="3182F6"/>
          </a:solidFill>
          <a:ln w="12700">
            <a:solidFill>
              <a:srgbClr val="3182F6"/>
            </a:solidFill>
            <a:prstDash val="solid"/>
          </a:ln>
        </p:spPr>
      </p:sp>
      <p:sp>
        <p:nvSpPr>
          <p:cNvPr id="14" name="Text 12"/>
          <p:cNvSpPr txBox="1"/>
          <p:nvPr/>
        </p:nvSpPr>
        <p:spPr>
          <a:xfrm>
            <a:off x="777240" y="2212848"/>
            <a:ext cx="1706819"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DAY 1</a:t>
            </a:r>
            <a:endParaRPr lang="en-US" sz="1400" dirty="0"/>
          </a:p>
        </p:txBody>
      </p:sp>
      <p:sp>
        <p:nvSpPr>
          <p:cNvPr id="15" name="Text 13"/>
          <p:cNvSpPr txBox="1"/>
          <p:nvPr/>
        </p:nvSpPr>
        <p:spPr>
          <a:xfrm>
            <a:off x="777240"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FFFFFF"/>
                </a:solidFill>
                <a:latin typeface="맑은 고딕" pitchFamily="34" charset="0"/>
                <a:ea typeface="맑은 고딕" pitchFamily="34" charset="-122"/>
                <a:cs typeface="맑은 고딕" pitchFamily="34" charset="-120"/>
              </a:rPr>
              <a:t>MeAI 홈 열기</a:t>
            </a:r>
            <a:endParaRPr lang="en-US" sz="2000" dirty="0"/>
          </a:p>
        </p:txBody>
      </p:sp>
      <p:sp>
        <p:nvSpPr>
          <p:cNvPr id="16" name="Text 14"/>
          <p:cNvSpPr txBox="1"/>
          <p:nvPr/>
        </p:nvSpPr>
        <p:spPr>
          <a:xfrm>
            <a:off x="777240"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숫자 4개와</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추천 카드 3장 읽기</a:t>
            </a:r>
            <a:endParaRPr lang="en-US" sz="1450" dirty="0"/>
          </a:p>
        </p:txBody>
      </p:sp>
      <p:sp>
        <p:nvSpPr>
          <p:cNvPr id="17" name="Text 15"/>
          <p:cNvSpPr txBox="1"/>
          <p:nvPr/>
        </p:nvSpPr>
        <p:spPr>
          <a:xfrm>
            <a:off x="777240"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질문 예시</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하나 눌러 보기</a:t>
            </a:r>
            <a:endParaRPr lang="en-US" sz="1450" dirty="0"/>
          </a:p>
        </p:txBody>
      </p:sp>
      <p:sp>
        <p:nvSpPr>
          <p:cNvPr id="18" name="Shape 16"/>
          <p:cNvSpPr/>
          <p:nvPr/>
        </p:nvSpPr>
        <p:spPr>
          <a:xfrm>
            <a:off x="2804099"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Text 17"/>
          <p:cNvSpPr txBox="1"/>
          <p:nvPr/>
        </p:nvSpPr>
        <p:spPr>
          <a:xfrm>
            <a:off x="3032699"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2</a:t>
            </a:r>
            <a:endParaRPr lang="en-US" sz="1400" dirty="0"/>
          </a:p>
        </p:txBody>
      </p:sp>
      <p:sp>
        <p:nvSpPr>
          <p:cNvPr id="20" name="Text 18"/>
          <p:cNvSpPr txBox="1"/>
          <p:nvPr/>
        </p:nvSpPr>
        <p:spPr>
          <a:xfrm>
            <a:off x="3032699"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카드 → 고객찾기</a:t>
            </a:r>
            <a:endParaRPr lang="en-US" sz="2000" dirty="0"/>
          </a:p>
        </p:txBody>
      </p:sp>
      <p:sp>
        <p:nvSpPr>
          <p:cNvPr id="21" name="Text 19"/>
          <p:cNvSpPr txBox="1"/>
          <p:nvPr/>
        </p:nvSpPr>
        <p:spPr>
          <a:xfrm>
            <a:off x="3032699"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한눈에 보기</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6칸 확인</a:t>
            </a:r>
            <a:endParaRPr lang="en-US" sz="1450" dirty="0"/>
          </a:p>
        </p:txBody>
      </p:sp>
      <p:sp>
        <p:nvSpPr>
          <p:cNvPr id="22" name="Text 20"/>
          <p:cNvSpPr txBox="1"/>
          <p:nvPr/>
        </p:nvSpPr>
        <p:spPr>
          <a:xfrm>
            <a:off x="3032699"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추천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눌러 보기</a:t>
            </a:r>
            <a:endParaRPr lang="en-US" sz="1450" dirty="0"/>
          </a:p>
        </p:txBody>
      </p:sp>
      <p:sp>
        <p:nvSpPr>
          <p:cNvPr id="23" name="Shape 21"/>
          <p:cNvSpPr/>
          <p:nvPr/>
        </p:nvSpPr>
        <p:spPr>
          <a:xfrm>
            <a:off x="5059558"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4" name="Text 22"/>
          <p:cNvSpPr txBox="1"/>
          <p:nvPr/>
        </p:nvSpPr>
        <p:spPr>
          <a:xfrm>
            <a:off x="5288158"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3</a:t>
            </a:r>
            <a:endParaRPr lang="en-US" sz="1400" dirty="0"/>
          </a:p>
        </p:txBody>
      </p:sp>
      <p:sp>
        <p:nvSpPr>
          <p:cNvPr id="25" name="Text 23"/>
          <p:cNvSpPr txBox="1"/>
          <p:nvPr/>
        </p:nvSpPr>
        <p:spPr>
          <a:xfrm>
            <a:off x="5288158"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맞춤대화 시작</a:t>
            </a:r>
            <a:endParaRPr lang="en-US" sz="2000" dirty="0"/>
          </a:p>
        </p:txBody>
      </p:sp>
      <p:sp>
        <p:nvSpPr>
          <p:cNvPr id="26" name="Text 24"/>
          <p:cNvSpPr txBox="1"/>
          <p:nvPr/>
        </p:nvSpPr>
        <p:spPr>
          <a:xfrm>
            <a:off x="5288158"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[보장분석 해줘]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다음 질문 2번</a:t>
            </a:r>
            <a:endParaRPr lang="en-US" sz="1450" dirty="0"/>
          </a:p>
        </p:txBody>
      </p:sp>
      <p:sp>
        <p:nvSpPr>
          <p:cNvPr id="27" name="Text 25"/>
          <p:cNvSpPr txBox="1"/>
          <p:nvPr/>
        </p:nvSpPr>
        <p:spPr>
          <a:xfrm>
            <a:off x="5288158"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부족 보장</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3개 메모</a:t>
            </a:r>
            <a:endParaRPr lang="en-US" sz="1450" dirty="0"/>
          </a:p>
        </p:txBody>
      </p:sp>
      <p:sp>
        <p:nvSpPr>
          <p:cNvPr id="28" name="Shape 26"/>
          <p:cNvSpPr/>
          <p:nvPr/>
        </p:nvSpPr>
        <p:spPr>
          <a:xfrm>
            <a:off x="7315017"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9" name="Text 27"/>
          <p:cNvSpPr txBox="1"/>
          <p:nvPr/>
        </p:nvSpPr>
        <p:spPr>
          <a:xfrm>
            <a:off x="7543617"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4</a:t>
            </a:r>
            <a:endParaRPr lang="en-US" sz="1400" dirty="0"/>
          </a:p>
        </p:txBody>
      </p:sp>
      <p:sp>
        <p:nvSpPr>
          <p:cNvPr id="30" name="Text 28"/>
          <p:cNvSpPr txBox="1"/>
          <p:nvPr/>
        </p:nvSpPr>
        <p:spPr>
          <a:xfrm>
            <a:off x="7543617"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그룹으로 찾기</a:t>
            </a:r>
            <a:endParaRPr lang="en-US" sz="2000" dirty="0"/>
          </a:p>
        </p:txBody>
      </p:sp>
      <p:sp>
        <p:nvSpPr>
          <p:cNvPr id="31" name="Text 29"/>
          <p:cNvSpPr txBox="1"/>
          <p:nvPr/>
        </p:nvSpPr>
        <p:spPr>
          <a:xfrm>
            <a:off x="7543617"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[사전동의 만료]</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그룹 확인</a:t>
            </a:r>
            <a:endParaRPr lang="en-US" sz="1450" dirty="0"/>
          </a:p>
        </p:txBody>
      </p:sp>
      <p:sp>
        <p:nvSpPr>
          <p:cNvPr id="32" name="Text 30"/>
          <p:cNvSpPr txBox="1"/>
          <p:nvPr/>
        </p:nvSpPr>
        <p:spPr>
          <a:xfrm>
            <a:off x="7543617"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D-n 짧은 1명께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재동의 부탁하기</a:t>
            </a:r>
            <a:endParaRPr lang="en-US" sz="1450" dirty="0"/>
          </a:p>
        </p:txBody>
      </p:sp>
      <p:sp>
        <p:nvSpPr>
          <p:cNvPr id="33" name="Shape 31"/>
          <p:cNvSpPr/>
          <p:nvPr/>
        </p:nvSpPr>
        <p:spPr>
          <a:xfrm>
            <a:off x="9570476"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4" name="Text 32"/>
          <p:cNvSpPr txBox="1"/>
          <p:nvPr/>
        </p:nvSpPr>
        <p:spPr>
          <a:xfrm>
            <a:off x="9799076"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5</a:t>
            </a:r>
            <a:endParaRPr lang="en-US" sz="1400" dirty="0"/>
          </a:p>
        </p:txBody>
      </p:sp>
      <p:sp>
        <p:nvSpPr>
          <p:cNvPr id="35" name="Text 33"/>
          <p:cNvSpPr txBox="1"/>
          <p:nvPr/>
        </p:nvSpPr>
        <p:spPr>
          <a:xfrm>
            <a:off x="9799076"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리포트 보내기</a:t>
            </a:r>
            <a:endParaRPr lang="en-US" sz="2000" dirty="0"/>
          </a:p>
        </p:txBody>
      </p:sp>
      <p:sp>
        <p:nvSpPr>
          <p:cNvPr id="36" name="Text 34"/>
          <p:cNvSpPr txBox="1"/>
          <p:nvPr/>
        </p:nvSpPr>
        <p:spPr>
          <a:xfrm>
            <a:off x="9799076"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요약 리포트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내 카톡으로 받기</a:t>
            </a:r>
            <a:endParaRPr lang="en-US" sz="1450" dirty="0"/>
          </a:p>
        </p:txBody>
      </p:sp>
      <p:sp>
        <p:nvSpPr>
          <p:cNvPr id="37" name="Text 35"/>
          <p:cNvSpPr txBox="1"/>
          <p:nvPr/>
        </p:nvSpPr>
        <p:spPr>
          <a:xfrm>
            <a:off x="9799076"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좋았던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나의 질문에 저장</a:t>
            </a:r>
            <a:endParaRPr lang="en-US" sz="1450" dirty="0"/>
          </a:p>
        </p:txBody>
      </p:sp>
      <p:sp>
        <p:nvSpPr>
          <p:cNvPr id="38" name="Shape 36"/>
          <p:cNvSpPr/>
          <p:nvPr/>
        </p:nvSpPr>
        <p:spPr>
          <a:xfrm>
            <a:off x="548640" y="5486400"/>
            <a:ext cx="11094415" cy="713232"/>
          </a:xfrm>
          <a:prstGeom prst="roundRect">
            <a:avLst>
              <a:gd name="adj" fmla="val 17949"/>
            </a:avLst>
          </a:prstGeom>
          <a:solidFill>
            <a:srgbClr val="191F28"/>
          </a:solidFill>
          <a:ln w="12700">
            <a:solidFill>
              <a:srgbClr val="191F28"/>
            </a:solidFill>
            <a:prstDash val="solid"/>
          </a:ln>
        </p:spPr>
      </p:sp>
      <p:sp>
        <p:nvSpPr>
          <p:cNvPr id="39" name="Text 37"/>
          <p:cNvSpPr txBox="1"/>
          <p:nvPr/>
        </p:nvSpPr>
        <p:spPr>
          <a:xfrm>
            <a:off x="868680" y="5486400"/>
            <a:ext cx="10454335" cy="713232"/>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5일 뒤   </a:t>
            </a:r>
            <a:pPr indent="0" marL="0">
              <a:buNone/>
            </a:pPr>
            <a:r>
              <a:rPr lang="en-US" sz="2000" b="1" dirty="0">
                <a:solidFill>
                  <a:srgbClr val="FFFFFF"/>
                </a:solidFill>
                <a:latin typeface="맑은 고딕" pitchFamily="34" charset="0"/>
                <a:ea typeface="맑은 고딕" pitchFamily="34" charset="-122"/>
                <a:cs typeface="맑은 고딕" pitchFamily="34" charset="-120"/>
              </a:rPr>
              <a:t>“MeAI 홈에서 하루를 시작하는 사람”이 돼요.</a:t>
            </a:r>
            <a:endParaRPr lang="en-US" sz="2000" dirty="0"/>
          </a:p>
        </p:txBody>
      </p:sp>
      <p:sp>
        <p:nvSpPr>
          <p:cNvPr id="40" name="Text 3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1" name="Text 3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182F6"/>
        </a:solidFill>
      </p:bgPr>
    </p:bg>
    <p:spTree>
      <p:nvGrpSpPr>
        <p:cNvPr id="1" name=""/>
        <p:cNvGrpSpPr/>
        <p:nvPr/>
      </p:nvGrpSpPr>
      <p:grpSpPr>
        <a:xfrm>
          <a:off x="0" y="0"/>
          <a:ext cx="0" cy="0"/>
          <a:chOff x="0" y="0"/>
          <a:chExt cx="0" cy="0"/>
        </a:xfrm>
      </p:grpSpPr>
      <p:sp>
        <p:nvSpPr>
          <p:cNvPr id="2" name="Text 0"/>
          <p:cNvSpPr txBox="1"/>
          <p:nvPr/>
        </p:nvSpPr>
        <p:spPr>
          <a:xfrm>
            <a:off x="6522415" y="731520"/>
            <a:ext cx="5120640" cy="2194560"/>
          </a:xfrm>
          <a:prstGeom prst="rect">
            <a:avLst/>
          </a:prstGeom>
          <a:noFill/>
          <a:ln/>
        </p:spPr>
        <p:txBody>
          <a:bodyPr wrap="square" lIns="0" tIns="0" rIns="0" bIns="0" rtlCol="0" anchor="t"/>
          <a:lstStyle/>
          <a:p>
            <a:pPr algn="r" indent="0" marL="0">
              <a:buNone/>
            </a:pPr>
            <a:r>
              <a:rPr lang="en-US" sz="12000" b="1" dirty="0">
                <a:solidFill>
                  <a:srgbClr val="FFFFFF">
                    <a:alpha val="18000"/>
                  </a:srgbClr>
                </a:solidFill>
                <a:latin typeface="맑은 고딕" pitchFamily="34" charset="0"/>
                <a:ea typeface="맑은 고딕" pitchFamily="34" charset="-122"/>
                <a:cs typeface="맑은 고딕" pitchFamily="34" charset="-120"/>
              </a:rPr>
              <a:t>MeAI</a:t>
            </a:r>
            <a:endParaRPr lang="en-US" sz="12000" dirty="0"/>
          </a:p>
        </p:txBody>
      </p:sp>
      <p:sp>
        <p:nvSpPr>
          <p:cNvPr id="3" name="Text 1"/>
          <p:cNvSpPr txBox="1"/>
          <p:nvPr/>
        </p:nvSpPr>
        <p:spPr>
          <a:xfrm>
            <a:off x="731520" y="502920"/>
            <a:ext cx="3657600"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마무리</a:t>
            </a:r>
            <a:endParaRPr lang="en-US" sz="1400" dirty="0"/>
          </a:p>
        </p:txBody>
      </p:sp>
      <p:sp>
        <p:nvSpPr>
          <p:cNvPr id="4" name="Shape 2"/>
          <p:cNvSpPr/>
          <p:nvPr/>
        </p:nvSpPr>
        <p:spPr>
          <a:xfrm>
            <a:off x="731520" y="896112"/>
            <a:ext cx="884936" cy="365760"/>
          </a:xfrm>
          <a:prstGeom prst="roundRect">
            <a:avLst>
              <a:gd name="adj" fmla="val 50000"/>
            </a:avLst>
          </a:prstGeom>
          <a:solidFill>
            <a:srgbClr val="1B64DA"/>
          </a:solidFill>
          <a:ln w="12700">
            <a:solidFill>
              <a:srgbClr val="1B64DA"/>
            </a:solidFill>
            <a:prstDash val="solid"/>
          </a:ln>
        </p:spPr>
      </p:sp>
      <p:sp>
        <p:nvSpPr>
          <p:cNvPr id="5" name="Text 3"/>
          <p:cNvSpPr txBox="1"/>
          <p:nvPr/>
        </p:nvSpPr>
        <p:spPr>
          <a:xfrm>
            <a:off x="731520"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 찾기</a:t>
            </a:r>
            <a:endParaRPr lang="en-US" sz="1400" dirty="0"/>
          </a:p>
        </p:txBody>
      </p:sp>
      <p:sp>
        <p:nvSpPr>
          <p:cNvPr id="6" name="Shape 4"/>
          <p:cNvSpPr/>
          <p:nvPr/>
        </p:nvSpPr>
        <p:spPr>
          <a:xfrm>
            <a:off x="1744472" y="896112"/>
            <a:ext cx="1062736" cy="365760"/>
          </a:xfrm>
          <a:prstGeom prst="roundRect">
            <a:avLst>
              <a:gd name="adj" fmla="val 50000"/>
            </a:avLst>
          </a:prstGeom>
          <a:solidFill>
            <a:srgbClr val="1B64DA"/>
          </a:solidFill>
          <a:ln w="12700">
            <a:solidFill>
              <a:srgbClr val="1B64DA"/>
            </a:solidFill>
            <a:prstDash val="solid"/>
          </a:ln>
        </p:spPr>
      </p:sp>
      <p:sp>
        <p:nvSpPr>
          <p:cNvPr id="7" name="Text 5"/>
          <p:cNvSpPr txBox="1"/>
          <p:nvPr/>
        </p:nvSpPr>
        <p:spPr>
          <a:xfrm>
            <a:off x="1744472" y="896112"/>
            <a:ext cx="10627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 고르기</a:t>
            </a:r>
            <a:endParaRPr lang="en-US" sz="1400" dirty="0"/>
          </a:p>
        </p:txBody>
      </p:sp>
      <p:sp>
        <p:nvSpPr>
          <p:cNvPr id="8" name="Shape 6"/>
          <p:cNvSpPr/>
          <p:nvPr/>
        </p:nvSpPr>
        <p:spPr>
          <a:xfrm>
            <a:off x="2935224" y="896112"/>
            <a:ext cx="884936" cy="365760"/>
          </a:xfrm>
          <a:prstGeom prst="roundRect">
            <a:avLst>
              <a:gd name="adj" fmla="val 50000"/>
            </a:avLst>
          </a:prstGeom>
          <a:solidFill>
            <a:srgbClr val="1B64DA"/>
          </a:solidFill>
          <a:ln w="12700">
            <a:solidFill>
              <a:srgbClr val="1B64DA"/>
            </a:solidFill>
            <a:prstDash val="solid"/>
          </a:ln>
        </p:spPr>
      </p:sp>
      <p:sp>
        <p:nvSpPr>
          <p:cNvPr id="9" name="Text 7"/>
          <p:cNvSpPr txBox="1"/>
          <p:nvPr/>
        </p:nvSpPr>
        <p:spPr>
          <a:xfrm>
            <a:off x="2935224"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 묻기</a:t>
            </a:r>
            <a:endParaRPr lang="en-US" sz="1400" dirty="0"/>
          </a:p>
        </p:txBody>
      </p:sp>
      <p:sp>
        <p:nvSpPr>
          <p:cNvPr id="10" name="Shape 8"/>
          <p:cNvSpPr/>
          <p:nvPr/>
        </p:nvSpPr>
        <p:spPr>
          <a:xfrm>
            <a:off x="3948176" y="896112"/>
            <a:ext cx="1240536" cy="365760"/>
          </a:xfrm>
          <a:prstGeom prst="roundRect">
            <a:avLst>
              <a:gd name="adj" fmla="val 50000"/>
            </a:avLst>
          </a:prstGeom>
          <a:solidFill>
            <a:srgbClr val="1B64DA"/>
          </a:solidFill>
          <a:ln w="12700">
            <a:solidFill>
              <a:srgbClr val="1B64DA"/>
            </a:solidFill>
            <a:prstDash val="solid"/>
          </a:ln>
        </p:spPr>
      </p:sp>
      <p:sp>
        <p:nvSpPr>
          <p:cNvPr id="11" name="Text 9"/>
          <p:cNvSpPr txBox="1"/>
          <p:nvPr/>
        </p:nvSpPr>
        <p:spPr>
          <a:xfrm>
            <a:off x="3948176" y="896112"/>
            <a:ext cx="12405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 터치하기</a:t>
            </a:r>
            <a:endParaRPr lang="en-US" sz="1400" dirty="0"/>
          </a:p>
        </p:txBody>
      </p:sp>
      <p:sp>
        <p:nvSpPr>
          <p:cNvPr id="12" name="Text 10"/>
          <p:cNvSpPr txBox="1"/>
          <p:nvPr/>
        </p:nvSpPr>
        <p:spPr>
          <a:xfrm>
            <a:off x="731520" y="1463040"/>
            <a:ext cx="8229600" cy="2194560"/>
          </a:xfrm>
          <a:prstGeom prst="rect">
            <a:avLst/>
          </a:prstGeom>
          <a:noFill/>
          <a:ln/>
        </p:spPr>
        <p:txBody>
          <a:bodyPr wrap="square" lIns="0" tIns="0" rIns="0" bIns="0" rtlCol="0" anchor="t"/>
          <a:lstStyle/>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오늘 연락할 내 고객은,</a:t>
            </a:r>
            <a:endParaRPr lang="en-US" sz="5200" dirty="0"/>
          </a:p>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MeAI 홈에 있어요</a:t>
            </a:r>
            <a:endParaRPr lang="en-US" sz="5200" dirty="0"/>
          </a:p>
        </p:txBody>
      </p:sp>
      <p:sp>
        <p:nvSpPr>
          <p:cNvPr id="13" name="Text 11"/>
          <p:cNvSpPr txBox="1"/>
          <p:nvPr/>
        </p:nvSpPr>
        <p:spPr>
          <a:xfrm>
            <a:off x="731520" y="3749040"/>
            <a:ext cx="8229600" cy="502920"/>
          </a:xfrm>
          <a:prstGeom prst="rect">
            <a:avLst/>
          </a:prstGeom>
          <a:noFill/>
          <a:ln/>
        </p:spPr>
        <p:txBody>
          <a:bodyPr wrap="square" lIns="0" tIns="0" rIns="0" bIns="0" rtlCol="0" anchor="ctr"/>
          <a:lstStyle/>
          <a:p>
            <a:pPr indent="0" marL="0">
              <a:buNone/>
            </a:pPr>
            <a:r>
              <a:rPr lang="en-US" sz="2400" dirty="0">
                <a:solidFill>
                  <a:srgbClr val="FFFFFF"/>
                </a:solidFill>
                <a:latin typeface="맑은 고딕" pitchFamily="34" charset="0"/>
                <a:ea typeface="맑은 고딕" pitchFamily="34" charset="-122"/>
                <a:cs typeface="맑은 고딕" pitchFamily="34" charset="-120"/>
              </a:rPr>
              <a:t>찾는 일은 MeAI가, 만나는 일은 여러분이.</a:t>
            </a:r>
            <a:endParaRPr lang="en-US" sz="2400" dirty="0"/>
          </a:p>
        </p:txBody>
      </p:sp>
      <p:sp>
        <p:nvSpPr>
          <p:cNvPr id="14" name="Shape 12"/>
          <p:cNvSpPr/>
          <p:nvPr/>
        </p:nvSpPr>
        <p:spPr>
          <a:xfrm>
            <a:off x="731520" y="4480560"/>
            <a:ext cx="3638550" cy="457200"/>
          </a:xfrm>
          <a:prstGeom prst="roundRect">
            <a:avLst>
              <a:gd name="adj" fmla="val 50000"/>
            </a:avLst>
          </a:prstGeom>
          <a:solidFill>
            <a:srgbClr val="1B64DA"/>
          </a:solidFill>
          <a:ln w="12700">
            <a:solidFill>
              <a:srgbClr val="1B64DA"/>
            </a:solidFill>
            <a:prstDash val="solid"/>
          </a:ln>
        </p:spPr>
      </p:sp>
      <p:sp>
        <p:nvSpPr>
          <p:cNvPr id="15" name="Text 13"/>
          <p:cNvSpPr txBox="1"/>
          <p:nvPr/>
        </p:nvSpPr>
        <p:spPr>
          <a:xfrm>
            <a:off x="731520" y="4480560"/>
            <a:ext cx="363855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매일 아침 MeAI 홈 · 오늘 한 분께 터치</a:t>
            </a:r>
            <a:endParaRPr lang="en-US" sz="1500" dirty="0"/>
          </a:p>
        </p:txBody>
      </p:sp>
      <p:sp>
        <p:nvSpPr>
          <p:cNvPr id="16" name="Shape 14"/>
          <p:cNvSpPr/>
          <p:nvPr/>
        </p:nvSpPr>
        <p:spPr>
          <a:xfrm>
            <a:off x="4552950" y="4480560"/>
            <a:ext cx="2125980" cy="457200"/>
          </a:xfrm>
          <a:prstGeom prst="roundRect">
            <a:avLst>
              <a:gd name="adj" fmla="val 50000"/>
            </a:avLst>
          </a:prstGeom>
          <a:solidFill>
            <a:srgbClr val="1B64DA"/>
          </a:solidFill>
          <a:ln w="12700">
            <a:solidFill>
              <a:srgbClr val="1B64DA"/>
            </a:solidFill>
            <a:prstDash val="solid"/>
          </a:ln>
        </p:spPr>
      </p:sp>
      <p:sp>
        <p:nvSpPr>
          <p:cNvPr id="17" name="Text 15"/>
          <p:cNvSpPr txBox="1"/>
          <p:nvPr/>
        </p:nvSpPr>
        <p:spPr>
          <a:xfrm>
            <a:off x="4552950" y="4480560"/>
            <a:ext cx="21259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문의 · 세일즈혁신TF</a:t>
            </a:r>
            <a:endParaRPr lang="en-US" sz="1500" dirty="0"/>
          </a:p>
        </p:txBody>
      </p:sp>
      <p:sp>
        <p:nvSpPr>
          <p:cNvPr id="18" name="Text 16"/>
          <p:cNvSpPr txBox="1"/>
          <p:nvPr/>
        </p:nvSpPr>
        <p:spPr>
          <a:xfrm>
            <a:off x="731520" y="5074920"/>
            <a:ext cx="10728655" cy="329184"/>
          </a:xfrm>
          <a:prstGeom prst="rect">
            <a:avLst/>
          </a:prstGeom>
          <a:noFill/>
          <a:ln/>
        </p:spPr>
        <p:txBody>
          <a:bodyPr wrap="square" lIns="0" tIns="0" rIns="0" bIns="0" rtlCol="0" anchor="ctr"/>
          <a:lstStyle/>
          <a:p>
            <a:pPr indent="0" marL="0">
              <a:buNone/>
            </a:pPr>
            <a:r>
              <a:rPr lang="en-US" sz="1500" dirty="0">
                <a:solidFill>
                  <a:srgbClr val="FFFFFF">
                    <a:alpha val="85000"/>
                  </a:srgbClr>
                </a:solidFill>
                <a:latin typeface="맑은 고딕" pitchFamily="34" charset="0"/>
                <a:ea typeface="맑은 고딕" pitchFamily="34" charset="-122"/>
                <a:cs typeface="맑은 고딕" pitchFamily="34" charset="-120"/>
              </a:rPr>
              <a:t>MeAI 홈 CRM(추천 고객·고객찾기)을 만든 분들 · AI추진파트 문현우님 · 이경복님</a:t>
            </a:r>
            <a:endParaRPr lang="en-US" sz="1500" dirty="0"/>
          </a:p>
        </p:txBody>
      </p:sp>
      <p:sp>
        <p:nvSpPr>
          <p:cNvPr id="19" name="Text 17"/>
          <p:cNvSpPr txBox="1"/>
          <p:nvPr/>
        </p:nvSpPr>
        <p:spPr>
          <a:xfrm>
            <a:off x="731520" y="5559552"/>
            <a:ext cx="10728655" cy="502920"/>
          </a:xfrm>
          <a:prstGeom prst="rect">
            <a:avLst/>
          </a:prstGeom>
          <a:noFill/>
          <a:ln/>
        </p:spPr>
        <p:txBody>
          <a:bodyPr wrap="square" lIns="0" tIns="0" rIns="0" bIns="0" rtlCol="0" anchor="ctr"/>
          <a:lstStyle/>
          <a:p>
            <a:pPr indent="0" marL="0">
              <a:lnSpc>
                <a:spcPct val="120000"/>
              </a:lnSpc>
              <a:buNone/>
            </a:pPr>
            <a:r>
              <a:rPr lang="en-US" sz="1150" dirty="0">
                <a:solidFill>
                  <a:srgbClr val="FFFFFF">
                    <a:alpha val="90000"/>
                  </a:srgbClr>
                </a:solidFill>
                <a:latin typeface="맑은 고딕" pitchFamily="34" charset="0"/>
                <a:ea typeface="맑은 고딕" pitchFamily="34" charset="-122"/>
                <a:cs typeface="맑은 고딕" pitchFamily="34" charset="-120"/>
              </a:rPr>
              <a:t>본 자료의 전부·일부(수정 포함)의 외부 제공·배포·게시(온/오프라인)는 금지됩니다. 미검증으로 인한 금융소비자보호법 등 관련 법령상 책임은 사용자에게 있습니다. 화면 속 고객 이름·숫자는 예시 데이터입니다.</a:t>
            </a:r>
            <a:endParaRPr lang="en-US" sz="1150" dirty="0"/>
          </a:p>
        </p:txBody>
      </p:sp>
      <p:sp>
        <p:nvSpPr>
          <p:cNvPr id="20"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21" name="Text 1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진행용 · 송출 제외</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진행 큐시트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숨김 장 · 송출·PDF 제외 · 개발자 코너(5장)는 시간 유동 · 대본 전문은 각 장의 발표자 노트</a:t>
            </a:r>
            <a:endParaRPr lang="en-US" sz="1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868680"/>
                <a:gridCol w="384048"/>
                <a:gridCol w="658368"/>
                <a:gridCol w="3017520"/>
                <a:gridCol w="6165799"/>
              </a:tblGrid>
              <a:tr h="162763">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예상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장</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예상</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진행 메모</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00:00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표지 · MeAI 홈(추천 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오프닝 음악이 끝나면 바로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00:35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오늘의 순서 · 먼저 줄 + 네 걸음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위 '먼저' 줄을 왼쪽에서 오른쪽으로 짚고(왜 MeAI 홈인가 → 만든 분께 듣기…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01:35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왜 MeAI 홈인가 · 7%·2%·2.8배·4배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숫자 7%와 2% 뒤 한 박자 쉼.</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03:25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만든 분 소개 · 두 분 초대</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두 분 입장·착석(진행자 오른쪽 두 자리), 핀마이크 2개 사전 음량 확인.</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04:25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홈이 움직이는 방식 · 개발자 설명</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개발자 두 분은 4장 자리 그대로(진행자 오른쪽 두 자리), 핀마이크 2개 켠 채…</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08:25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 가는 문 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5장(개발자 코너)에서 이 장으로 먼저 넘긴 뒤 첫 문장 시작: 두 분이 자리에 …</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09:25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7</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 한 화면(세트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번호 1→5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추천 카드 한 장(김민수)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번호 ①→⑤ 순서로 카드를 짚음.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12:50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고객찾기 세 단 · 김민수 펼친 카드</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문장에서 앞 장의 김민수 카드를 떠올리게 한 뒤 핀 ①→②→③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14:15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그룹 설명 · 언제 열까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왼쪽 캡처는 위에서 아래로 파란 밑줄(묶인 기준)과 노란 표시(말할 방향)를 짚고…</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15:55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동의 상태 · 알림톡</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세 줄을 위에서 아래로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홈에서 대화 열기(클릭 세 길)</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송출 전 목업 MeAI 홈 탭을 세트 3으로 넘겨 둔다(새로고침 금지).</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19:00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일반대화 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 → ⑥ 핀 순서로 슬라이드에서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20:40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맞춤대화 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①→⑤ 핀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22:30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질문 고르기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14장 끝('둘 다 누르기만 하면 시작됩니다')을 받아 '이제 질문하는 법입니다'…</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24:40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보장분석 해줘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탭 2개 미리 열어 둠: ① 고객찾기 김도윤(동의 유효) [이 고객으로 맞춤대화 …</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26:50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답 읽는 순서</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핀 1→4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28:20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18</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직접 묻는 공식(누구에게 + 무엇을)</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17장 마지막 물음('직접 물을 때는 어떻게?')을 받아 바로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30:10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19</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고객에게 할 말 초안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캡처 핀 1→3, 3번 성명·연락처 밑줄에서 멈춤.</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32:00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이렇게는 묻지 마세요</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①→④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33:45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김민수 고객 시연(상령일 2주 전 · 동의부터)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방송 화면으로 넘기기 전에 MeAI 홈 추천 카드 아래 세 번째 점(추천 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36:05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말·첫 질문 짝</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줄은 앞 장 정리라 가리키기만.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37:05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75초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요약 리포트 보내기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①→④ 핀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38:20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5일 미션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DAY 1→5 칸을 차례로 짚으며 빠르게.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39:45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마무리</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네 걸음은 위 칩 1→4를 차례로 짚듯 천천히(칩은 강조 없이 넷 다 같은 모양).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dc:title>
  <dc:subject>MeAI 홈 활용 방송 대본은 발표자 노트에 있어요</dc:subject>
  <dc:creator>세일즈혁신TF</dc:creator>
  <cp:lastModifiedBy>세일즈혁신TF</cp:lastModifiedBy>
  <cp:revision>1</cp:revision>
  <dcterms:created xsi:type="dcterms:W3CDTF">2026-09-30T09:52:15Z</dcterms:created>
  <dcterms:modified xsi:type="dcterms:W3CDTF">2026-09-30T09:52:15Z</dcterms:modified>
</cp:coreProperties>
</file>