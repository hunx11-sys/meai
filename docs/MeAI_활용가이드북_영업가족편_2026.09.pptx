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가이드북은 2026년 9월 기준 최신 MeAI 화면(PC·모바일)을 기준으로 만들었습니다. 구버전 교안과 화면이 다르다는 점을 먼저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대상별 진입 파트를 안내합니다. 완전 초보는 PART 1~2, 이미 쓰는 분은 PART 3~4부터 바로 실습해도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"AI 선배"라는 비유를 심어두고 이후 파트에서 반복 회수합니다. 실습: 각자 폰에서 MeAI 일반대화를 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일반대화 vs 맞춤대화 구분이 이 교안의 뼈대입니다. 진입 버튼 위치(상단 MeAI 일반대화 / 고객 카드 MeAI)를 꼭 함께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보상·심사·영업·일반 전문가로 나뉘어 처리된다는 점만 전달하면 충분합니다. "C34 뭐야?" 실습으로 답변 구조를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앱 화면입니다. 참석자 폰으로 함께 따라가며 세 번 터치를 실습하세요. 상단의 일일 300회 표시도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화면 다섯 요소 이름을 소리 내어 읽게 하세요. 특히 왼쪽 메뉴 맨 아래 [새로 대화하기] 위치를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실습. 세 탭(보장 비교·지식 검색·자주하는 질문)의 예시를 각 1개씩 눌러보게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입력 실습. 마이크를 누르고 "이 고객 보장분석 해줘"를 말해보게 하세요. 개인정보 입력 금지도 함께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장. 데이터상 프롬프트 2개 이상 사용자의 성과가 크게 높았습니다. 꼬리질문 버튼을 한 번 더 누르는 습관을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나의 질문 저장 → 프롬프트 라이브러리(추천/최신/나의 질문) → 이 질문 사용하기 흐름을 시연합니다. PC·모바일 공통입니다.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맞춤대화 5단계를 먼저 보여주고 이후 STEP별로 들어갑니다. 실습용 고객 1명을 미리 정해두면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정보 5칸(직업·병력·가족력·신규 제안 월 보험료·메모). [입력 완료]를 눌러야 반영된다는 점을 강조하세요. 메모에 개인정보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보장분석 카드의 색(부족·충분·미가입)과 권장 대비 막대를 고객과 함께 보는 활용법을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"보장분석 해줘" 한 번으로 나오는 답변 구조(보장 현황 점검 / 상담 핵심 포인트 / 확인 우선순위)를 실제 화면으로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모바일 화면 4장. 요약 생성 → 선택·편집 → 리포트 생성 → 카카오톡 알림톡. 실습은 본인 카톡으로 먼저 받아보게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리포트는 고객에게 가는 문서입니다. 검증 책임과 D+7일 열람 기간을 반드시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공식 4요소. 처음엔 상황+요청 두 조각만으로 시작하게 하고, 안전장치 문구("자료에 없으면 확인필요")는 그대로 외우게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보장분석 기본 3종은 순서대로 외우게 합니다. MeAI 활용의 72%가 보장분석이라는 데이터를 함께 언급하세요.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 관련 장입니다. 개인정보 입력 금지와 미검증 책임은 화면 하단 안내문 원문을 읽어주는 방식으로 전달하세요.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논리 장. MeAI 답의 품질은 질문의 품질이며, 초보의 벽 세 가지(이름·코드 모름 / 무엇을 물을지 모름 / 안전장치 누락)를 도구가 해결한다는 흐름으로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5종. 파란 테두리 3종(특약검색기·보상시뮬레이터·프롬프트 라이브러리)이 MeAI 질문을 직접 만들어준다는 점을 강조하고 주소를 폰 홈 화면에 추가하게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특약검색기 「MeAI 프롬프트 복사」 시연. 특약 카드를 열고 버튼을 눌러 복사된 프롬프트를 MeAI에 붙여 답을 보여주세요. 작성 규칙(추측 금지·약관 확인 필요)이 내장돼 있음을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보상시뮬레이터 「질병보상 MeAI 조회 프롬프트 복사」 시연. 위암 검색 → 버튼 → MeAI 붙여넣기 → 답의 고객 설명 예시를 읽어주는 흐름입니다.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라이브러리 적극 활용. 오늘 상담 단계를 누르고 카드 하나를 복사해 MeAI에 붙이는 실습을 시키세요. 좋았던 질문은 나의 질문으로 저장까지.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선순환 정리. 도구에서 질문 → MeAI 붙여넣기·꼬리질문 → 나의 질문 저장. 기능 3종 이상 사용자 구간의 가계약 2.3배 데이터를 함께 언급하세요.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 약속. 특히 1번(검증 후 사용)과 2번(개인정보 금지)은 금소법과 직결됩니다.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주 미션 체크리스트. 권한 부여 후 첫 주 내 사용이 정착률을 좌우합니다. 5일 뒤 팀 단위로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가이드북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926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보험영업 AI 파트너 MeAI, 처음 쓰는 영업가족을 위해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켜는 법부터 고객에게 리포트 보내는 법까지 한 권에 담았어요.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886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 최신 화면 기준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38862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· 모바일 공통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685800"/>
            <a:ext cx="2286000" cy="4160520"/>
          </a:xfrm>
          <a:prstGeom prst="roundRect">
            <a:avLst>
              <a:gd name="adj" fmla="val 88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0488" y="749808"/>
            <a:ext cx="2157984" cy="4032504"/>
          </a:xfrm>
          <a:prstGeom prst="roundRect">
            <a:avLst>
              <a:gd name="adj" fmla="val 72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795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795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6995160" y="469087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005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50608" y="101498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50608" y="10149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7744968" y="101498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44968" y="10149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693408" y="1399032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84848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당뇨 있는 50대 고객,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가능한 상품 알려줘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0216" y="1901952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91656" y="1947672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가능한 경우가 많아요. 유병자를 위한 간편심사 상품이 있고, 최근에는 3N5·355처럼 고지 항목이 간단한 상품도 있어요.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진단 시기와 투약 여부를 알려주시면 더 정확하게 안내할 수 있어요.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300216" y="3502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300216" y="3730752"/>
            <a:ext cx="187452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0216" y="37307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간편심사 상품별 고지 항목을 비교해줘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300216" y="4005072"/>
            <a:ext cx="187452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0216" y="400507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이 고객에게 설명할 화법을 만들어줘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300216" y="4352544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4352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자유롭게 질문해 주세요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973568" y="4398264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73568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900" dirty="0"/>
          </a:p>
        </p:txBody>
      </p:sp>
      <p:pic>
        <p:nvPicPr>
          <p:cNvPr id="34" name="Image 0" descr="/tmp/claude-0/-home-user-MeAI/fc097454-2b30-54b4-8cdf-96642e2114b9/scratchpad/chars/01_dl-merry-b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3520440"/>
            <a:ext cx="868680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USE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가이드북, 이렇게 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쓰는 분도, 이미 쓰고 있는 분도 필요한 부분부터 펼치면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31343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13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2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처음이라면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무엇인지, 어디서 켜는지부터 차근차근 시작해요.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31343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2313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4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바로 써보고 싶다면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일반대화와 고객 맞춤대화, 3단계씩 따라 하면 끝나요.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231343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313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자료를 보내려면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내용을 요약 리포트로 만들어 카카오톡으로 보내요.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231343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2313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7 · 8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막히거나 더 잘 쓰고 싶다면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공식, 영업지원 도구, 현장 시나리오와 주의사항을 담았어요.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500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041648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3977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자료는 2026년 9월 기준 최신 화면이에요.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 교육자료에 있던 화면(입력창 옆에 '약관 검색' 버튼이 있던 구버전)과는 메뉴 위치와 이름이 다르니, 이 가이드북 화면을 기준으로 봐주세요.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여덟 개 파트, 54장으로 정리했어요.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463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MeAI, 이게 뭔가요?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463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63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463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· 접속과 화면 구성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1463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2402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240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240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무엇이든 물어보기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2240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240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240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고객 한 명을 위한 대화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240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01752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0175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30175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· 카카오톡으로 보내기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0175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0175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30175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잘하는 법 · 프롬프트 기초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0175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79476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794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 도구 · MeAI를 더 잘 쓰는 지름길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703320" y="3794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79476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3794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활용 · 주의사항 · FAQ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3794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뭔가요?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보험영업만 공부한 AI 선배가 24시간 옆에 있어요.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한 줄 정의와 할 수 있는 일 5가지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일반대화와 맞춤대화, 두 가지 대화의 차이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전문가에게 나눠 보내는 MeAI의 두뇌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MeAI란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MeAI는 보험영업만 공부한 'AI 선배'예요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보내듯 물어보면, 약관과 상품을 근거로 답해줘요. 컴퓨터가 서툴러도 괜찮아요.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910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54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대기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10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새벽이든 주말이든, 고객 앞에서든 바로 물어볼 수 있어요.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49424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37744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408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말하듯 질문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96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명령어는 없어요. 카톡 보내듯 쓰거나, 마이크로 말하면 돼요.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035808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6382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127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있는 답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383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약관과 상품 자료를 찾아 근거와 함께 답해요.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822192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95020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∞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13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번이든 OK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169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틀려도, 다시 물어도 지치지 않아요. 꼬리질문으로 깊이 파도 돼요.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0" y="1325880"/>
            <a:ext cx="2194560" cy="3337560"/>
          </a:xfrm>
          <a:prstGeom prst="roundRect">
            <a:avLst>
              <a:gd name="adj" fmla="val 916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21808" y="1389888"/>
            <a:ext cx="2066544" cy="3209544"/>
          </a:xfrm>
          <a:prstGeom prst="roundRect">
            <a:avLst>
              <a:gd name="adj" fmla="val 7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5896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674827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6080760" y="450799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44768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79008" y="1947672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70448" y="1993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보험에 가입된 40대의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평균 보험료가 얼마야?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413248" y="2432304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04688" y="24780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보험에 가입한 40대의 월 평균 보험료는 약 56.8만원이에요. 이 수치를 근거로 고객이 비갱신으로 전환하도록 설득하면 좋을 것 같아요.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5431536" y="3429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   ✎   ♡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413248" y="3685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2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5413248" y="3895344"/>
            <a:ext cx="1874520" cy="20116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13248" y="38953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보험료를 줄일 때 꼭 비갱신으로 유지해야 할 보장은?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5413248" y="4206240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04688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자유롭게 질문해 주세요</a:t>
            </a:r>
            <a:endParaRPr lang="en-US" sz="60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40880" y="4242816"/>
            <a:ext cx="201168" cy="20116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57800" y="4681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MeAI 모바일 대화 화면 예시</a:t>
            </a:r>
            <a:endParaRPr lang="en-US" sz="800" dirty="0"/>
          </a:p>
        </p:txBody>
      </p:sp>
      <p:pic>
        <p:nvPicPr>
          <p:cNvPr id="44" name="Image 0" descr="/tmp/claude-0/-home-user-MeAI/fc097454-2b30-54b4-8cdf-96642e2114b9/scratchpad/chars/05_dl-indi-a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383280"/>
            <a:ext cx="777240" cy="1216152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할 수 있는 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해주는 일, 다섯 가지만 기억하세요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다섯 가지가 MeAI 화면의 메뉴와 버튼 이름 그대로예요.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검색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상품·특약·약관·의학 용어를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눈높이로 설명해줘요.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"간편 355가 무슨 뜻이야?"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1343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1343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31343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담보를 표로 비교하고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차이점을 정리해줘요.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vs 통합암진단비 비교해줘"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9476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5935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5935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95935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가입 내역을 읽고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보장을 찾아줘요.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068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0527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0527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0527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상세설계·가계약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60527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요청하면 담보 구성안을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정리해 설계를 도와줘요.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"암통합치료비 3천만원 추가한 설계안"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8660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119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5119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▤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25119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25119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내용을 리포트로 만들어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 보내줘요.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[요약 생성] 버튼 한 번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덤으로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왼쪽 메뉴의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전사 약관 원문을 상품명으로 바로 찾을 수 있고,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월별로 자동 저장돼요.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두 가지 대화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일반대화와 맞춤대화, 두 가지만 구분하면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정하지 않고 묻는 대화와, 특정 고객의 보장분석을 옆에 두고 하는 대화예요.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물어보는 창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특정하지 않아요. 상품·특약 개념, 화법, 약관 지식, 보장 비교 등 공부하고 준비할 때 써요.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432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 개념 질문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175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보장 비교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9184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91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설득 화법 만들기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661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661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지식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931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진입: 모바일 고객 목록 상단 [MeAI 일반대화] 버튼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776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6916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고객에게 무엇을 팔 것인가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103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명의 보장분석 데이터를 MeAI가 함께 봐요. 부족한 보장 찾기, 제안 준비, 리포트 발송까지 이어져요.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74320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7432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 입력 → 보장분석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017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0175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보장·제안 우선순위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29184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291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상세설계·가계약 요청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35661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35661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93192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3931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진입: 고객 카드의 [MeAI] 버튼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5902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일반대화로 감을 익히고, 고객을 만나기 전에는 꼭 맞춤대화로 준비하세요.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MeAI의 두뇌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알아서 나눠, 딱 맞는 전문가에게 보내요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병원의 안내 데스크처럼 질문의 의도를 읽고, 전문가별 답을 하나로 합쳐 돌려줘요.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91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질문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"C34 뭐야?"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77440" y="160020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691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데스크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나누기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51960" y="13258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444752"/>
            <a:ext cx="146304" cy="146304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325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지식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325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C34가 어떤 질환군인지 정의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51960" y="17830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901952"/>
            <a:ext cx="146304" cy="14630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1783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전문가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질환의 약관상 보장 범위·면책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51960" y="22402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359152"/>
            <a:ext cx="146304" cy="146304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 전문가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고지 항목과 인수심사 유의점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26974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2816352"/>
            <a:ext cx="146304" cy="146304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2697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전문가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697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설명할 화법·제안 포인트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022592" y="1600200"/>
            <a:ext cx="1618488" cy="1051560"/>
          </a:xfrm>
          <a:prstGeom prst="roundRect">
            <a:avLst>
              <a:gd name="adj" fmla="val 1043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22592" y="169164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답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19202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정리된 답변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꼬리질문 제안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2918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4564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물어도 돼요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"C34 뭐야?" 다섯 글자에도 세 전문가의 답이 합쳐져 와요.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32918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34564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290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7490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덧붙이면 더 정확해요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4290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"50대 남성 고객, 폐암 진단 후 보장 확인"처럼 배경을 주면 답이 더 뾰족해져요.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32918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4564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물어볼 질문까지 제안해요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1722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 버튼을 누르면 타이핑 없이 다음 대화로 이어져요.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접속과 화면 구성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모바일, 어디서 켜고 어디를 누르는지 알아봐요.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모바일 두 가지 접속 방법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앱에서 MeAI로 들어가는 3단계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화면과 모바일 화면의 구성 요소 이름 익히기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접속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PC에서도, 핸드폰에서도 똑같이 써요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같아요. 사무실에서는 PC, 고객 앞에서는 모바일이 편해요.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842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영업지원시스템 → MeAI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화면으로 표와 리포트 보기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34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메뉴에서 약관 검색·대화 이력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00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편집과 복사가 편해요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66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보장분석 화면에서 바로 연결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19842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영업지원모바일 app → 보장분석 → MeAI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 폰만 꺼내면 끝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2834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말하면 질문 완성(음성 입력)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200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버튼으로 맞춤대화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566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리포트를 카카오톡으로 바로 발송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2381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343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이력과 저장한 나의 질문은 PC와 모바일에서 똑같이 보여요. 사무실에서 준비하고, 현장에서 이어가세요.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모바일 진입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핸드폰에서 MeAI 켜는 법, 딱 세 번 터치예요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영업지원모바일 app 홈에서 시작해요. 실제 화면이에요.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shots/entry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600200" cy="3246120"/>
          </a:xfrm>
          <a:prstGeom prst="rect">
            <a:avLst/>
          </a:prstGeom>
        </p:spPr>
      </p:pic>
      <p:pic>
        <p:nvPicPr>
          <p:cNvPr id="6" name="Image 1" descr="/tmp/claude-0/-home-user-MeAI/fc097454-2b30-54b4-8cdf-96642e2114b9/scratchpad/shots/entry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71600"/>
            <a:ext cx="1691640" cy="3246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233172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657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023360" y="228600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0233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023360" y="3081528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02336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645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앱 홈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2377440" y="464515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③ 고객 목록(보장분석)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43484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3484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782312" y="14630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홈에서 [보장분석] 아이콘 터치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782312" y="1737360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 가운데 아이콘 묶음의 첫 번째가 보장분석이에요. 여기가 MeAI로 들어가는 문이에요.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43484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43484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782312" y="233172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[MeAI 일반대화] = 무엇이든 묻는 창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782312" y="2606040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위, 고객등록 버튼 옆에 있어요. 고객을 정하지 않은 공부·비교 질문은 여기서.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43484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3484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782312" y="32004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= 그 고객 맞춤대화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782312" y="3474720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고객마다 붙어 있는 보라색 MeAI 버튼을 누르면, 그 고객의 보장분석을 옆에 둔 맞춤대화가 열려요.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434840" y="406908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0" y="40690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상단에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보장분석 활용 : 3회 (제한 횟수 : 일일 300회)"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보여요. 하루 사용 한도가 표시되는 곳이니 참고하세요.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PC 화면 구성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화면, 이름부터 익혀두면 헤매지 않아요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메뉴, 가운데는 대화, 아래는 입력창. 세 덩어리예요.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389888"/>
            <a:ext cx="5330952" cy="274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6304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46304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435608"/>
            <a:ext cx="443484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143560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MeritzFire Sales AI · MeAI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12064" y="1664208"/>
            <a:ext cx="1325880" cy="3026664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" y="17739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meritz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63624" y="17739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⊟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" y="2167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약관 검색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" y="2395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  사용 가이드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2962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New_chat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" y="31638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 남성 암보험 비교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" y="33649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간편심사 상품 고지 항목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" y="3630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38313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화법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0325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 세대별 차이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21792" y="4306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306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대화하기  ⊕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2020824" y="1984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
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도와드릴까요?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20824" y="2715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일도 할 수 있어요. 아래 질문 예시를 클릭해서 바로 대화를 시작해 보세요!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020824" y="296265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20824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 보장 비교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990088" y="296265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90088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지식 검색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959352" y="296265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 자주하는 질문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2020824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암진단비와 통합암진단비의 차이점을 고객 관점에서 쉽게 이해할 수 있게 비교해줘</a:t>
            </a:r>
            <a:endParaRPr lang="en-US" sz="630" dirty="0"/>
          </a:p>
        </p:txBody>
      </p:sp>
      <p:sp>
        <p:nvSpPr>
          <p:cNvPr id="35" name="Text 33"/>
          <p:cNvSpPr txBox="1"/>
          <p:nvPr/>
        </p:nvSpPr>
        <p:spPr>
          <a:xfrm>
            <a:off x="2020824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표적항암약물허가치료비 종류별 특약이 타사의 일반적인 1회성 표적항암약물 담보보다 더 좋은 이유를 설명해줘</a:t>
            </a:r>
            <a:endParaRPr lang="en-US" sz="630" dirty="0"/>
          </a:p>
        </p:txBody>
      </p:sp>
      <p:sp>
        <p:nvSpPr>
          <p:cNvPr id="36" name="Text 34"/>
          <p:cNvSpPr txBox="1"/>
          <p:nvPr/>
        </p:nvSpPr>
        <p:spPr>
          <a:xfrm>
            <a:off x="2020824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메리츠 암진단및치료비가 가지는 상품경쟁력을 타사 암진단비와 비교해서 설명해줘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2020824" y="3995928"/>
            <a:ext cx="3703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39959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업무와 관련하여 궁금한 점을 자유롭게 질문해 주세요.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5221224" y="39959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449824" y="4059936"/>
            <a:ext cx="201168" cy="20116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49824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2020824" y="4379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MeAI의 답변은 생성형 AI를 통해 작성되어 오류가 있을 수 있으므로, 반드시 직접 근거자료를 확인하여 진위를 검증하시기 바랍니다.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1655064" y="212140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55064" y="2121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55064" y="292608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655064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55064" y="42519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55064" y="4251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75504" y="292608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75504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84064" y="381304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84064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138988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8076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428232" y="13716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 · 사용 가이드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428232" y="16459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약관을 상품명으로 검색하고, 화면 안내(사용 가이드)를 다시 볼 수 있어요.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2057400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8076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428232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428232" y="231343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대화가 월별로 자동 저장돼요. 클릭하면 그 대화를 이어서 할 수 있어요.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80760" y="2724912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8076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428232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대화하기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428232" y="298094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주제가 바뀌면 새 대화를 열어요. 이전 대화와 섞이지 않아 답이 정확해요.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080760" y="3392424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08076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6428232" y="33741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탭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428232" y="36484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 · 지식 검색 · 자주하는 질문 세 탭. 예시를 클릭하면 바로 답변이 시작돼요.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080760" y="4059936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08076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6428232" y="40416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· 마이크 · 전송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428232" y="43159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입력하거나 마이크로 말해요. 아래 안내문처럼 답은 꼭 근거 확인 후 사용해요.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모바일 화면 구성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화면은 더 단순해요. 버튼 네 개만 알면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화면 기준이에요. 맞춤대화는 상단 버튼이 두 개 더 생겨요(PART 4).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76022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38528" y="1664208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8528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514600" y="1664208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20391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질문 예시를 클릭해서 바로 대화를 시작해 보세요!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1088136" y="2267712"/>
            <a:ext cx="19019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9576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  보장 비교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61288" y="2542032"/>
            <a:ext cx="1737360" cy="274320"/>
          </a:xfrm>
          <a:prstGeom prst="rect">
            <a:avLst/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0700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암진단비와 통합암진단비의 차이점을 고객 관점에서 쉽게 비교해줘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표적항암약물허가치료비 종류별 특약이 타사보다 좋은 이유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145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메리츠 암진단및치료비의 상품경쟁력을 타사와 비교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1088136" y="3593592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지식 검색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2761488" y="35935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⌵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88136" y="3913632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79576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  자주하는 질문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761488" y="39136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⌵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88136" y="429768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9576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자유롭게 질문해 주세요</a:t>
            </a:r>
            <a:endParaRPr lang="en-US" sz="6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42976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34056" y="4343400"/>
            <a:ext cx="201168" cy="20116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34056" y="4343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" y="160934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2648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45536" y="160934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45536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45536" y="2286000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45536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45536" y="432511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45536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4048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187952" y="146304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메뉴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187952" y="173736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 줄 세 개. 대화 이력, 약관 검색, 사용 가이드가 들어 있어요.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225856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4048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187952" y="224028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· 새로 대화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187952" y="251460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생성은 지금 대화를 리포트로 만들고, 새로 대화는 새 주제를 시작해요.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0" y="30358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4048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187952" y="30175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(보장 비교 · 지식 검색 · 자주하는 질문)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4187952" y="329184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물을지 모르면 예시를 누르세요. 누르는 순간 대화가 시작돼요.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840480" y="381304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404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187952" y="379476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· 마이크 · 전송(↑)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4187952" y="40690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쓰거나, 마이크를 눌러 말하세요. 말한 내용이 글자로 바뀐 뒤 ↑ 를 눌러 보내요.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840480" y="4526280"/>
            <a:ext cx="4754880" cy="27432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977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화면 아래 안내처럼 이름·연락처·주소 등 개인정보는 입력하지 않아요.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클릭 → 직접 질문 → 꼬리질문. 세 단계면 충분해요.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질문 예시 탭으로 첫 대화 시작하기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직접 입력하거나 마이크로 말해서 질문하기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 꼬리질문으로 깊이 파고, 자주 쓰는 질문 저장하기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검색과 대화 이력 활용법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STEP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대화는 질문 예시를 누르는 것으로 시작해요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몰라도 괜찮아요. 세 개의 탭에 검증된 질문이 들어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2011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질문 예시를 클릭해서 바로 대화를 시작해 보세요!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905256" y="2249424"/>
            <a:ext cx="190195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F044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696" y="2295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  보장 비교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78408" y="2523744"/>
            <a:ext cx="1737360" cy="274320"/>
          </a:xfrm>
          <a:prstGeom prst="rect">
            <a:avLst/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암진단비와 통합암진단비의 차이점을 고객 관점에서 쉽게 비교해줘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28254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표적항암약물허가치료비 종류별 특약이 타사보다 좋은 이유를 설명해줘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118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메리츠 암진단및치료비의 상품경쟁력을 타사와 비교해서 설명해줘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905256" y="3529584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지식 검색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5256" y="3849624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  자주하는 질문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239572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137160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159105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11880" y="15910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1463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자사·타사, 담보 간 차이를 표로 비교하는 질문 모음. "A와 B의 차이를 고객 관점에서 비교해줘" 형태예요.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219456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24140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11880" y="24140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검색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상품·특약·약관·의학 용어의 뜻과 구조를 묻는 질문. 처음 듣는 단어가 나오면 이 탭이에요.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29000" y="301752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323697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3236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자주하는 질문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108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영업가족들이 실제로 많이 물은 질문을 모아둔 탭. 남들이 뭘 묻는지 보기만 해도 공부가 돼요.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388620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11880" y="3931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해보세요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제목을 누르면 예시가 펼쳐지고, 예시 문장을 누르면 그 질문이 바로 전송돼요. 첫날은 세 탭의 예시를 하나씩 눌러 답이 어떻게 나오는지 구경만 해도 충분해요.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STEP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물어볼 땐 쓰거나, 말하세요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키보드가 불편하면 마이크 버튼을 누르고 말하면 글자로 바뀌어요.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9377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당뇨 있는 50대 고객, 가입 가능한 상품 알려줘|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417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517904"/>
            <a:ext cx="310896" cy="31089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질문부터 시작해 보세요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4780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지식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9572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"간편심사 3N5와 355, 숫자가 무슨 뜻이야?"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8094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9809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89864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"암진단비와 암통합치료비 차이를 고객 눈높이로 설명해줘"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48386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483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화법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40156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"40대 자녀 있는 가장에게 사망보장이 왜 먼저인지 설명하는 화법 만들어줘"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8678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9867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90448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"뇌출혈진단비 특약의 지급 사유와 면책을 약관 기준으로 알려줘"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0" y="141732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600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음성으로 질문하기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225856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22402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버튼 터치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2514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오른쪽의 마이크를 눌러요.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943600" y="299008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29718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말투로 말하기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2461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 보장분석 해줘"처럼 짧게. 긴 질문도 말이 더 빨라요.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943600" y="372160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37033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확인 후 전송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91072" y="39776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내용이 글자로 바뀌면 오타만 확인하고 ↑ 를 눌러요.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4315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 특히 편해요. 고객 앞에서 타이핑 없이 물어볼 수 있어요.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STEP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오면, 꼬리질문 버튼으로 이어가세요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MeAI가 다음 질문을 미리 만들어 둬요. 타이핑 없이 버튼만 누르면 대화가 깊어져요.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194767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뇌·심장 질환군의 진단비를 우선 보완하는 순서를 정합니다.</a:t>
            </a:r>
            <a:endParaRPr lang="en-US" sz="5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암 치료비 라인(암 통합치료비·고액항암·반복지급형) 추가 필요 여부를 진단합니다.</a:t>
            </a:r>
            <a:endParaRPr lang="en-US" sz="5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간병인 사용일당·간호간병통합서비스 일당 등 생활비성 담보 보완을 검토합니다.</a:t>
            </a:r>
            <a:endParaRPr lang="en-US" sz="56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2953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    ☺    👍    👎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" y="32278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8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905256" y="3438144"/>
            <a:ext cx="1901952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" y="343814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가장 먼저 보완해야 할 보장 순서대로 알려줘</a:t>
            </a:r>
            <a:endParaRPr lang="en-US" sz="560" dirty="0"/>
          </a:p>
        </p:txBody>
      </p:sp>
      <p:sp>
        <p:nvSpPr>
          <p:cNvPr id="20" name="Shape 18"/>
          <p:cNvSpPr/>
          <p:nvPr/>
        </p:nvSpPr>
        <p:spPr>
          <a:xfrm>
            <a:off x="905256" y="3694176"/>
            <a:ext cx="1901952" cy="21945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" y="369417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증권별로 요약해서 해지/유지 판단 포인트를 정리해줘</a:t>
            </a:r>
            <a:endParaRPr lang="en-US" sz="560" dirty="0"/>
          </a:p>
        </p:txBody>
      </p:sp>
      <p:sp>
        <p:nvSpPr>
          <p:cNvPr id="22" name="Shape 20"/>
          <p:cNvSpPr/>
          <p:nvPr/>
        </p:nvSpPr>
        <p:spPr>
          <a:xfrm>
            <a:off x="905256" y="3950208"/>
            <a:ext cx="1901952" cy="21945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" y="395020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가입 증권별로 담보 구조와 갱신 여부를 요약해줘</a:t>
            </a:r>
            <a:endParaRPr lang="en-US" sz="560" dirty="0"/>
          </a:p>
        </p:txBody>
      </p:sp>
      <p:sp>
        <p:nvSpPr>
          <p:cNvPr id="24" name="Shape 22"/>
          <p:cNvSpPr/>
          <p:nvPr/>
        </p:nvSpPr>
        <p:spPr>
          <a:xfrm>
            <a:off x="905256" y="4261104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256" y="4261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📕 질문 더보기 (프롬프트 라이브러리)  ↗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962656" y="290779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62656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62656" y="34564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62656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76856" y="4242816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76856" y="4242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아이콘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776472" y="17373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복사(⧉) · 사람 아이콘 · 좋아요/싫어요. 복사로 답을 그대로 메모장이나 카톡에 옮길 수 있어요.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2900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90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776472" y="23317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776472" y="260604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대화 흐름을 읽고 다음 질문 3개를 제안해요. 마음에 드는 걸 누르면 그 질문이 바로 전송돼요.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29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3776472" y="320040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더보기 → 프롬프트 라이브러리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377647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많은 검증 질문이 필요하면 여기로. 추천·최신·나의 질문 탭에서 골라 "이 질문 사용하기"를 누르면 끝.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29000" y="402336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11880" y="4069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중요할까요?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데이터상 프롬프트를 하나만 쓴 분보다 두 개 이상 이어서 쓴 분의 성과가 훨씬 높았어요. 꼬리질문 버튼 하나만 더 누르는 습관이 차이를 만들어요.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질문 저장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먹힌 질문은 저장해두고, 클릭 한 번으로 다시 써요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저장한 질문은 프롬프트 라이브러리의 [나의 질문] 탭에 모이고, PC와 모바일에서 똑같이 보여요.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72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질문 아래 아이콘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"갱신형 보험에 가입되어 있는 우리나라 40대의 월 평균 보험료가 얼마정도야?"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274320" cy="274320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15568" y="2514600"/>
            <a:ext cx="274320" cy="274320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99616" y="2514600"/>
            <a:ext cx="274320" cy="274320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9961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     편집      저장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 를 누르면 "나의 질문으로 저장"돼요.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33756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1572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19019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1901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032504" y="19019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32504" y="1901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544568" y="1901952"/>
            <a:ext cx="758952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44568" y="190195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질문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일반 대화  4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2395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 40대 월평균 보험료 확인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520440" y="26060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84448" y="26243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보험 시장의 최신 통계와 4세대 보험 기준을 바탕으로 '40대 남녀 월평균 보험료 현황 및 적정선'에 대한 상세 분석 리포트를 작성해줘</a:t>
            </a:r>
            <a:endParaRPr lang="en-US" sz="53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3108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보장 범위 자가 진단 및 과거 보험의 과다 판단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32735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보장 상품을 자연스럽게 추천하는 멘트를 알려줘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172200" y="14630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1572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사용하기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55080" y="192024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9088" y="1947672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보험에 가입되어 있는 우리나라 40대의 월 평균 보험료가 얼마정도야?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355080" y="26517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5080" y="2651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사용하기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대화창에 질문이 바로 들어가요.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질문을 저장하나요?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마음에 들었던 질문, 매달 반복하는 질문(보장분석·화법·안내문)을 저장해요.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32461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1071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열 수 있나요?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410712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[질문 더보기], 또는 PC·모바일 메뉴의 프롬프트 라이브러리에서 열어요.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9893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5391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팀과 나누려면?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153912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 도구의 프롬프트 라이브러리(PART 7)에 검증된 270개가 정리돼 있어요.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왼쪽 메뉴 활용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검색과 대화 이력, 두 메뉴가 시간을 아껴줘요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PC는 왼쪽 메뉴, 모바일은 ≡ 메뉴 안에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184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618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상품명을 넣으면 전사 약관 원문을 바로 찾아줘요. 고객이 "그거 약관에 있어요?"라고 물을 때 근거를 펼쳐 보여줄 수 있어요.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· 특약명으로 검색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7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약관 원문 확인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31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답변의 근거 확인용으로 딱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6184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1618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대화가 월별로 자동 저장돼요. 지난달 준비했던 고객 대화를 열어 이어서 질문할 수 있어요.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자동 정리 (2026년 9월 · 8월 …)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5387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클릭하면 그 대화를 이어서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831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대화명은 첫 질문으로 자동 생성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6184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1618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가이드 · 새로 대화하기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가이드는 화면 안내를 다시 보여줘요. 새로 대화하기는 주제가 바뀔 때 눌러 대화를 깨끗하게 시작해요.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사용 가이드 다시 보기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5387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고객·주제가 바뀌면 새로 대화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831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대화와 섞이지 않아 답이 정확</a:t>
            </a:r>
            <a:endParaRPr lang="en-US" sz="93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명을 위한 대화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보장분석을 옆에 두고, 무엇이 부족한지 바로 찾아요.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전체 흐름 5단계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고객 정보 입력  ·  STEP 2  분석할 상품 선택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 보장 내역 확인  ·  STEP 4  "보장분석 해줘"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 4개와 상세설계 요청법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전체 흐름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이 순서로 흘러가요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버튼을 누른 뒤의 다섯 단계예요. 익숙해지면 3분이면 끝나요.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선택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목록에서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[MeAI] 버튼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 입력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직업·병력·가족력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보험료·메모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476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선택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담보·상품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내역 확인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부족·충분·미가입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8660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질문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꼬리질문으로 제안 준비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다음은 자연스럽게 이어져요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 · 가계약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암통합치료비 3천만원 추가한 설계안 보여줘"처럼 말로 요청해요.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290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4290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필요한 답만 골라 리포트로 만들고 고객에게 발송해요. (PART 5)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893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이력에 자동 저장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고객과의 대화는 월별로 저장돼요. 다음 방문 전 다시 열어 이어가요.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STEP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정보를 먼저 알려주면, 답이 그 고객 것이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있는 것만 넣어도 돼요. 비워도 대화는 되지만, 채우면 답의 정확도가 확 달라져요.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30759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0759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정보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905256" y="1993392"/>
            <a:ext cx="1901952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" y="20665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고객 정보를 입력하세요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350008" y="2075688"/>
            <a:ext cx="384048" cy="15544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50008" y="20756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미입력</a:t>
            </a:r>
            <a:endParaRPr lang="en-US" sz="5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" y="2267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정보를 미리 설정하고 시작하면 고객의 맥락을 고려한 답변을 할 수 있습니다.</a:t>
            </a:r>
            <a:endParaRPr lang="en-US" sz="530" dirty="0"/>
          </a:p>
        </p:txBody>
      </p:sp>
      <p:sp>
        <p:nvSpPr>
          <p:cNvPr id="24" name="Text 22"/>
          <p:cNvSpPr txBox="1"/>
          <p:nvPr/>
        </p:nvSpPr>
        <p:spPr>
          <a:xfrm>
            <a:off x="996696" y="2633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  직업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1801368" y="2633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정비사(1급)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96696" y="287121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" y="2907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  병력</a:t>
            </a:r>
            <a:endParaRPr lang="en-US" sz="600" dirty="0"/>
          </a:p>
        </p:txBody>
      </p:sp>
      <p:sp>
        <p:nvSpPr>
          <p:cNvPr id="28" name="Text 26"/>
          <p:cNvSpPr txBox="1"/>
          <p:nvPr/>
        </p:nvSpPr>
        <p:spPr>
          <a:xfrm>
            <a:off x="1801368" y="2907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심근경색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996696" y="314553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6696" y="3182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👥  가족력</a:t>
            </a:r>
            <a:endParaRPr lang="en-US" sz="600" dirty="0"/>
          </a:p>
        </p:txBody>
      </p:sp>
      <p:sp>
        <p:nvSpPr>
          <p:cNvPr id="31" name="Text 29"/>
          <p:cNvSpPr txBox="1"/>
          <p:nvPr/>
        </p:nvSpPr>
        <p:spPr>
          <a:xfrm>
            <a:off x="1801368" y="3182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고혈압, 당뇨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996696" y="341985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6696" y="34564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  신규 제안 월 보험료</a:t>
            </a:r>
            <a:endParaRPr lang="en-US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1801368" y="3456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10만원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96696" y="369417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6696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메모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1801368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자녀 결혼 앞두고 있음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996696" y="396849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9968" y="4096512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29968" y="40965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완료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962656" y="160934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62656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" y="258775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9768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62656" y="407822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962656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버튼이 네 개로 늘어요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3776472" y="173736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맞춤대화에는 [보장 분석] [사용 정보] [요약 생성] [새로 대화]가 있어요. 사용 정보를 누르면 언제든 고객 정보를 수정할 수 있어요.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23957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42900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776472" y="23774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칸, 아는 것만 채워요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3776472" y="265176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· 병력 · 가족력 · 신규 제안 월 보험료 · 메모. 병력과 가족력은 답변 방향을 가장 크게 바꾸는 항목이에요. 희망 보험료를 넣으면 예산 안에서 제안해줘요.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429000" y="33101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2900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776472" y="32918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[입력 완료]를 눌러야 반영돼요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3776472" y="356616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입력만 하고 넘어가면 저장되지 않아요. 완료 후 상단 표시가 "미입력"에서 바뀌는지 확인하세요.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29000" y="416052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611880" y="4160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메모에 고객 이름·연락처·주소·주민번호 같은 개인정보는 쓰지 않아요. "자녀 결혼 앞둠, 배우자 암 진단 이력"처럼 상황만 적어요.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STEP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상품을 고르면, 그 범위 안에서 답해요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보장분석에 올라온 고객의 계약이 카드로 보여요. 담보로 걸러서 필요한 상품만 체크할 수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30759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0759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정보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상품을 선택하세요.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22494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정상 계약의 총 보험료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404,145원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2770632"/>
            <a:ext cx="182880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원하시는 담보만 선택해서 확인하실 수 있어요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932688" y="3017520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301752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1344168" y="3017520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44168" y="3017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뇌/심장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057400" y="3017520"/>
            <a:ext cx="5577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57400" y="3017520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치료비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2670048" y="3017520"/>
            <a:ext cx="5577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70048" y="3017520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수술비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3282696" y="3017520"/>
            <a:ext cx="75895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82696" y="301752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⌵ 더보기</a:t>
            </a:r>
            <a:endParaRPr lang="en-US" sz="550" dirty="0"/>
          </a:p>
        </p:txBody>
      </p:sp>
      <p:sp>
        <p:nvSpPr>
          <p:cNvPr id="34" name="Text 32"/>
          <p:cNvSpPr txBox="1"/>
          <p:nvPr/>
        </p:nvSpPr>
        <p:spPr>
          <a:xfrm>
            <a:off x="932688" y="3319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전체 선택 (8/8)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32688" y="3547872"/>
            <a:ext cx="1828800" cy="914400"/>
          </a:xfrm>
          <a:prstGeom prst="rect">
            <a:avLst/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8408" y="35935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</a:t>
            </a:r>
            <a:endParaRPr lang="en-US" sz="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endParaRPr lang="en-US" sz="500" dirty="0"/>
          </a:p>
        </p:txBody>
      </p:sp>
      <p:sp>
        <p:nvSpPr>
          <p:cNvPr id="37" name="Text 35"/>
          <p:cNvSpPr txBox="1"/>
          <p:nvPr/>
        </p:nvSpPr>
        <p:spPr>
          <a:xfrm>
            <a:off x="1362456" y="3566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6"/>
          <p:cNvSpPr txBox="1"/>
          <p:nvPr/>
        </p:nvSpPr>
        <p:spPr>
          <a:xfrm>
            <a:off x="1362456" y="3712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신한생명</a:t>
            </a:r>
            <a:endParaRPr lang="en-US" sz="450" dirty="0"/>
          </a:p>
        </p:txBody>
      </p:sp>
      <p:sp>
        <p:nvSpPr>
          <p:cNvPr id="39" name="Text 37"/>
          <p:cNvSpPr txBox="1"/>
          <p:nvPr/>
        </p:nvSpPr>
        <p:spPr>
          <a:xfrm>
            <a:off x="1362456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오렌지종신보험</a:t>
            </a:r>
            <a:endParaRPr lang="en-US" sz="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(무배당, 저해지환급형)</a:t>
            </a:r>
            <a:endParaRPr lang="en-US" sz="450" dirty="0"/>
          </a:p>
        </p:txBody>
      </p:sp>
      <p:sp>
        <p:nvSpPr>
          <p:cNvPr id="40" name="Text 38"/>
          <p:cNvSpPr txBox="1"/>
          <p:nvPr/>
        </p:nvSpPr>
        <p:spPr>
          <a:xfrm>
            <a:off x="1362456" y="4187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2017년 8월 ~</a:t>
            </a:r>
            <a:endParaRPr lang="en-US" sz="4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2057년 12월</a:t>
            </a:r>
            <a:endParaRPr lang="en-US" sz="430" dirty="0"/>
          </a:p>
        </p:txBody>
      </p:sp>
      <p:sp>
        <p:nvSpPr>
          <p:cNvPr id="41" name="Text 39"/>
          <p:cNvSpPr txBox="1"/>
          <p:nvPr/>
        </p:nvSpPr>
        <p:spPr>
          <a:xfrm>
            <a:off x="1837944" y="3566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 txBox="1"/>
          <p:nvPr/>
        </p:nvSpPr>
        <p:spPr>
          <a:xfrm>
            <a:off x="1837944" y="3712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DB손보</a:t>
            </a:r>
            <a:endParaRPr lang="en-US" sz="450" dirty="0"/>
          </a:p>
        </p:txBody>
      </p:sp>
      <p:sp>
        <p:nvSpPr>
          <p:cNvPr id="43" name="Text 41"/>
          <p:cNvSpPr txBox="1"/>
          <p:nvPr/>
        </p:nvSpPr>
        <p:spPr>
          <a:xfrm>
            <a:off x="1837944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대성인병보장보험</a:t>
            </a:r>
            <a:endParaRPr lang="en-US" sz="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1종 비갱신형</a:t>
            </a:r>
            <a:endParaRPr lang="en-US" sz="450" dirty="0"/>
          </a:p>
        </p:txBody>
      </p:sp>
      <p:sp>
        <p:nvSpPr>
          <p:cNvPr id="44" name="Text 42"/>
          <p:cNvSpPr txBox="1"/>
          <p:nvPr/>
        </p:nvSpPr>
        <p:spPr>
          <a:xfrm>
            <a:off x="1837944" y="4187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2017년 8월 ~</a:t>
            </a:r>
            <a:endParaRPr lang="en-US" sz="4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2057년 12월</a:t>
            </a:r>
            <a:endParaRPr lang="en-US" sz="430" dirty="0"/>
          </a:p>
        </p:txBody>
      </p:sp>
      <p:sp>
        <p:nvSpPr>
          <p:cNvPr id="45" name="Text 43"/>
          <p:cNvSpPr txBox="1"/>
          <p:nvPr/>
        </p:nvSpPr>
        <p:spPr>
          <a:xfrm>
            <a:off x="2313432" y="3566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6" name="Text 44"/>
          <p:cNvSpPr txBox="1"/>
          <p:nvPr/>
        </p:nvSpPr>
        <p:spPr>
          <a:xfrm>
            <a:off x="2313432" y="3712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</a:t>
            </a:r>
            <a:endParaRPr lang="en-US" sz="450" dirty="0"/>
          </a:p>
        </p:txBody>
      </p:sp>
      <p:sp>
        <p:nvSpPr>
          <p:cNvPr id="47" name="Text 45"/>
          <p:cNvSpPr txBox="1"/>
          <p:nvPr/>
        </p:nvSpPr>
        <p:spPr>
          <a:xfrm>
            <a:off x="2313432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통합간편건강보험</a:t>
            </a:r>
            <a:endParaRPr lang="en-US" sz="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(세만기형)2607</a:t>
            </a:r>
            <a:endParaRPr lang="en-US" sz="450" dirty="0"/>
          </a:p>
        </p:txBody>
      </p:sp>
      <p:sp>
        <p:nvSpPr>
          <p:cNvPr id="48" name="Text 46"/>
          <p:cNvSpPr txBox="1"/>
          <p:nvPr/>
        </p:nvSpPr>
        <p:spPr>
          <a:xfrm>
            <a:off x="2313432" y="4187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12월 ~</a:t>
            </a:r>
            <a:endParaRPr lang="en-US" sz="4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12월</a:t>
            </a:r>
            <a:endParaRPr lang="en-US" sz="430" dirty="0"/>
          </a:p>
        </p:txBody>
      </p:sp>
      <p:sp>
        <p:nvSpPr>
          <p:cNvPr id="49" name="Shape 47"/>
          <p:cNvSpPr/>
          <p:nvPr/>
        </p:nvSpPr>
        <p:spPr>
          <a:xfrm>
            <a:off x="2962656" y="240487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962656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62656" y="29992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62656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29768" y="354787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9768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보험료가 먼저 보여요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3776472" y="17373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정상 계약의 월 보험료 합계예요. 고객과 "지금 매달 이만큼 내고 계세요"로 대화를 시작할 수 있는 숫자예요.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2900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4290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776472" y="23317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칩으로 걸러요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3776472" y="260604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· 뇌/심장 · 치료비 · 수술비 등 담보를 누르면 관련 상품만 남아요. 주제가 정해진 상담이면 걸러서 보는 게 빨라요.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2900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429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3776472" y="320040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카드를 체크해요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377647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기본은 전체 선택이에요. 이번 상담과 관련 없는 계약은 체크를 풀면 MeAI가 그 상품은 빼고 분석해요.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29000" y="406908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61188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전체 선택 그대로 두고 "보장분석 해줘"부터 하세요. 전체 그림을 본 뒤 담보를 좁혀 다시 묻는 순서가 가장 자연스러워요.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STEP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 분석] 버튼을 누르면 부족한 보장이 색으로 보여요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 상세를 카드로 보면서 대화할 수 있어요. 빨간 글자가 제안 포인트예요.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이민호님의 보장분석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6459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(40대 중반, 남성)</a:t>
            </a:r>
            <a:endParaRPr lang="en-US" sz="550" dirty="0"/>
          </a:p>
        </p:txBody>
      </p:sp>
      <p:sp>
        <p:nvSpPr>
          <p:cNvPr id="13" name="Text 11"/>
          <p:cNvSpPr txBox="1"/>
          <p:nvPr/>
        </p:nvSpPr>
        <p:spPr>
          <a:xfrm>
            <a:off x="1892808" y="18745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부족   ● 충분   ● 미가입</a:t>
            </a:r>
            <a:endParaRPr lang="en-US" sz="520" dirty="0"/>
          </a:p>
        </p:txBody>
      </p:sp>
      <p:sp>
        <p:nvSpPr>
          <p:cNvPr id="14" name="Shape 12"/>
          <p:cNvSpPr/>
          <p:nvPr/>
        </p:nvSpPr>
        <p:spPr>
          <a:xfrm>
            <a:off x="1901952" y="1920240"/>
            <a:ext cx="54864" cy="5486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1136" y="1920240"/>
            <a:ext cx="54864" cy="5486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920240"/>
            <a:ext cx="54864" cy="54864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</a:t>
            </a:r>
            <a:endParaRPr lang="en-US" sz="62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후유장해</a:t>
            </a:r>
            <a:endParaRPr lang="en-US" sz="62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</a:t>
            </a:r>
            <a:endParaRPr lang="en-US" sz="620" dirty="0"/>
          </a:p>
        </p:txBody>
      </p:sp>
      <p:sp>
        <p:nvSpPr>
          <p:cNvPr id="20" name="Text 18"/>
          <p:cNvSpPr txBox="1"/>
          <p:nvPr/>
        </p:nvSpPr>
        <p:spPr>
          <a:xfrm>
            <a:off x="2249424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뇌혈관 질환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578608" y="2112264"/>
            <a:ext cx="27432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78608" y="2112264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932688" y="2304288"/>
            <a:ext cx="411480" cy="1828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2322576"/>
            <a:ext cx="1920240" cy="3658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2404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보장 상세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263347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4,000만원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932688" y="2816352"/>
            <a:ext cx="1828800" cy="64008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" y="2816352"/>
            <a:ext cx="731520" cy="6400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2953512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2953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기준 대비 6,000만원 부족</a:t>
            </a:r>
            <a:endParaRPr lang="en-US" sz="530" dirty="0"/>
          </a:p>
        </p:txBody>
      </p:sp>
      <p:sp>
        <p:nvSpPr>
          <p:cNvPr id="31" name="Shape 29"/>
          <p:cNvSpPr/>
          <p:nvPr/>
        </p:nvSpPr>
        <p:spPr>
          <a:xfrm>
            <a:off x="932688" y="3255264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" y="33009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질병사망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2578608" y="33009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⌃</a:t>
            </a:r>
            <a:endParaRPr lang="en-US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3502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권장금액</a:t>
            </a:r>
            <a:endParaRPr lang="en-US" sz="550" dirty="0"/>
          </a:p>
        </p:txBody>
      </p:sp>
      <p:sp>
        <p:nvSpPr>
          <p:cNvPr id="35" name="Text 33"/>
          <p:cNvSpPr txBox="1"/>
          <p:nvPr/>
        </p:nvSpPr>
        <p:spPr>
          <a:xfrm>
            <a:off x="1892808" y="35021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4,000만원</a:t>
            </a:r>
            <a:endParaRPr lang="en-US" sz="55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3685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가입금액</a:t>
            </a:r>
            <a:endParaRPr lang="en-US" sz="550" dirty="0"/>
          </a:p>
        </p:txBody>
      </p:sp>
      <p:sp>
        <p:nvSpPr>
          <p:cNvPr id="37" name="Text 35"/>
          <p:cNvSpPr txBox="1"/>
          <p:nvPr/>
        </p:nvSpPr>
        <p:spPr>
          <a:xfrm>
            <a:off x="1892808" y="36850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2,000만원</a:t>
            </a:r>
            <a:endParaRPr lang="en-US" sz="55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" y="38679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부족금액</a:t>
            </a:r>
            <a:endParaRPr lang="en-US" sz="550" dirty="0"/>
          </a:p>
        </p:txBody>
      </p:sp>
      <p:sp>
        <p:nvSpPr>
          <p:cNvPr id="39" name="Text 37"/>
          <p:cNvSpPr txBox="1"/>
          <p:nvPr/>
        </p:nvSpPr>
        <p:spPr>
          <a:xfrm>
            <a:off x="1892808" y="38679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2,000만원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932688" y="42062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6696" y="4233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메트라이프생명 무배당 마스터플랜</a:t>
            </a:r>
            <a:endParaRPr lang="en-US" sz="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변액유니버셜종신보험</a:t>
            </a:r>
            <a:endParaRPr lang="en-US" sz="450" dirty="0"/>
          </a:p>
        </p:txBody>
      </p:sp>
      <p:sp>
        <p:nvSpPr>
          <p:cNvPr id="42" name="Text 40"/>
          <p:cNvSpPr txBox="1"/>
          <p:nvPr/>
        </p:nvSpPr>
        <p:spPr>
          <a:xfrm>
            <a:off x="2167128" y="4233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질병사망고도후유장해</a:t>
            </a:r>
            <a:endParaRPr lang="en-US" sz="4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500만원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2962656" y="20848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62656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768" y="27706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9768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962656" y="327355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62656" y="3273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분류 탭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3776472" y="17373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· 후유장해 · 암 · 뇌혈관 질환 · 심장 질환 … 탭을 넘기며 분류별로 봐요. 빨간 탭이 부족한 분류예요.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2900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4290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776472" y="23317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기준 대비 막대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3776472" y="260604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가입금액이 권장 기준의 어디까지 왔는지 막대로 보여요. "6,000만원 부족"처럼 부족액이 바로 계산돼요.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2900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29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3776472" y="320040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담보 카드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377647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권장금액 · 가입금액 · 부족금액이 담보별로 나와요. 아래엔 어느 회사 어떤 상품에서 얼마가 나오는지까지 보여요.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29000" y="406908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61188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활용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카드를 고객과 함께 보며 "여기 빨간 부분이 지금 비어 있는 곳이에요"라고 말하면, 설명 없이도 제안 이유가 전달돼요.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STEP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한 마디면, 표부터 공략 방향까지 준비돼요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위 꼬리질문 [보장분석 해줘] 버튼을 누르거나, 그대로 말하면 돼요. 답은 이렇게 구성돼요.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보장분석 해줘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848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📕 질문 더보기 (프롬프트 라이브러리)  ↗</a:t>
            </a:r>
            <a:endParaRPr lang="en-US" sz="63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1764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 이 버튼 하나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이렇게 말해요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300984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"가입증권별로 핵심만 표로 요약해줘"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630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"해지하면 좋은 상품과 공략법 알려줘"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023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3종 세트는 PART 6에서 자세히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146304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3832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 구조 (실제 답변 예)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보장 현황 점검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167128"/>
            <a:ext cx="36576" cy="219456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2103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준비된 부분  실손 보유, 암·뇌혈관·허혈성 진단비 확보로 초기 자금 대비 가능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29000" y="2496312"/>
            <a:ext cx="36576" cy="219456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0" y="24323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필요한 부분  암·순환계 통합치료비 등 치료비 라인 없음, 간병 일당 공백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상담 핵심 포인트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3209544"/>
            <a:ext cx="36576" cy="21945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66160" y="31455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"진단비 중심 구조로 기본 대비는 잘 되어 있지만, 치료비와 간병 라인이 비어 있어요" 식의 한 문단 설명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확인 우선순위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3922776"/>
            <a:ext cx="36576" cy="219456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3858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뇌혈관·허혈성 수술비 가입 가능 여부 → 간병인 일당 보완 → 암 통합치료비 추가 → 갱신형 특약 정리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416052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20440" y="4160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꼬리질문: "가장 먼저 보완해야 할 보장 순서대로 알려줘" → "증권별 해지/유지 판단 포인트 정리" 로 이어가세요.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상단 버튼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상단 버튼, 이름이 곧 기능이에요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네 개, PC는 세 개. 이름이 조금 다르지만 하는 일은 같아요.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 모바일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476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8562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보장분석 카드(STEP 3 화면)를 다시 열어요. 대화 중 언제든 확인.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243230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946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694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정보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47802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입력한 고객 정보(직업·병력·가족력·희망보험료·메모)를 수정해요.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9125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912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09981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대화를 요약 리포트로 만들어요. 카카오톡 발송까지 이어져요.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1304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13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216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고객으로 새 주제의 대화를 시작해요. 이전 대화는 이력에 남아요.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 PC (오른쪽 위)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81051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9476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🗎 보장분석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18562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모바일의 [보장 분석]. 고객 보장 현황과 보완점 분석 화면을 열어요.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709160" y="243230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56946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사용중인 정보 수정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4780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모바일의 [사용 정보]. 고객 정보를 고쳐요.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709160" y="305409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19125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191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⤓ 요약 리포트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0998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모바일의 [요약 생성]. 리포트 만들기·편집·발송.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09160" y="37033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PC의 [새로 대화하기 ⊕]는 왼쪽 메뉴 맨 아래에 있어요. 고객 이름과 "보장분석 완료 · N일 남음" 표시도 왼쪽 위에서 확인하세요.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상세설계 · 가계약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제안이 정해졌다면, 설계도 말로 요청하세요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맞춤대화에서 담보와 금액을 말하면 MeAI가 설계안을 정리해줘요. 최종 확정은 가입설계 시스템에서 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요청해요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920240"/>
            <a:ext cx="3291840" cy="566928"/>
          </a:xfrm>
          <a:prstGeom prst="roundRect">
            <a:avLst>
              <a:gd name="adj" fmla="val 1935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965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고객에게 암 통합치료비 3천만원, 특정순환계 통합치료비 2천만원을 추가한 설계안 만들어줘. 월 보험료는 10만원 안으로.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보험료 10만원 기준으로 담보 구성안을 정리했어요.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암 통합치료비 3,000만원 (비급여 포함형)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특정순환계질환 통합치료비 2,000만원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기존 뇌출혈진단비는 유지, 갱신형 치아 2건은 정리 권장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월 보험료와 상세 담보표는 아래 표를 확인하세요. 가입설계 전 인수심사 조건을 확인해 주세요.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답변 내용은 예시예요.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00600" y="1481328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14630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담보명 + 금액을 정확히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48072" y="17373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 통합치료비 3천만원"처럼 특약명과 가입금액을 말하면 설계안이 구체적으로 나와요. 특약명이 헷갈리면 특약검색기(PART 7)에서 복사하세요.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2677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함께 말해요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254203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"월 10만원 안으로"를 붙이면 예산 안에서 담보 배분을 제안해요. STEP 1에서 희망 보험료를 입력해 뒀다면 자동 반영돼요.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800600" y="3090672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307238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유지·정리까지 한 번에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148072" y="334670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"기존 계약 중 정리할 것도 알려줘"를 덧붙이면 리모델링 관점(유지/축소/해지/대체)으로 함께 정리해줘요.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800600" y="3895344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387705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확정은 시스템에서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4151376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설계안은 상담용 초안이에요. 실제 가입설계·가계약은 영업지원시스템에서 인수심사 조건과 함께 확정하세요.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 보내기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좋았던 답만 골라, 고객에게 리포트로 보내요.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만들기 4단계 (실제 화면)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 전에 꼭 확인할 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 리포트 다루는 법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4단계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→ 선택·편집 → 리포트 생성 → 카카오톡 도착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 하나로 상담부터 발송까지 끝나요. 실제 모바일 화면이에요.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shots/repo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28016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버튼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화면 상단 [요약 생성]을 눌러요. 대화가 어느 정도 쌓인 뒤가 좋아요.</a:t>
            </a:r>
            <a:endParaRPr lang="en-US" sz="83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pic>
        <p:nvPicPr>
          <p:cNvPr id="11" name="Image 1" descr="/tmp/claude-0/-home-user-MeAI/fc097454-2b30-54b4-8cdf-96642e2114b9/scratchpad/shots/repor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371600"/>
            <a:ext cx="1280160" cy="2606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432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질문·답변 선택 → 편집하기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리포트에 넣을 답변만 체크해요. 잡담이나 중간 확인 질문은 빼고, [편집하기]로 문구를 다듬어요.</a:t>
            </a:r>
            <a:endParaRPr lang="en-US" sz="83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pic>
        <p:nvPicPr>
          <p:cNvPr id="17" name="Image 2" descr="/tmp/claude-0/-home-user-MeAI/fc097454-2b30-54b4-8cdf-96642e2114b9/scratchpad/shots/repor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1280160" cy="2606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006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8006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6177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생성하기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[리포트 생성하기]를 누르면 "완료되면 카카오톡으로 다운로드 링크가 전송됩니다" 안내가 떠요.</a:t>
            </a:r>
            <a:endParaRPr lang="en-US" sz="83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pic>
        <p:nvPicPr>
          <p:cNvPr id="23" name="Image 3" descr="/tmp/claude-0/-home-user-MeAI/fc097454-2b30-54b4-8cdf-96642e2114b9/scratchpad/shots/report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71600"/>
            <a:ext cx="1280160" cy="2606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8580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580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6751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알림톡 도착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6751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알림톡으로 "MeAI 요약레포트 안내"가 와요. [요약레포트 확인하기]로 열어요.</a:t>
            </a:r>
            <a:endParaRPr lang="en-US" sz="83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체크포인트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리포트는 고객에게 가는 문서예요. 보내기 전 다섯 가지만 확인하세요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리포트에는 "AI로 생성된 보조자료입니다"가 표시돼요. 그래도 최종 책임은 보내는 사람에게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숫자와 약관 근거 확인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보장금액·보험료·면책 기간은 약관과 증권으로 한 번 더 확인해요. 근거가 불확실한 문장은 [편집하기]에서 빼요.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필요한 답만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체크박스로 답변을 골라요. 내부 판단용 질문("해지하면 좋은 상품")은 리포트에서 제외하는 게 안전해요.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없는지 확인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실수로 넣은 이름·연락처가 리포트에 남지 않았는지 훑어봐요.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461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46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 기간 D+7일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알림톡의 리포트 링크는 수신일로부터 7일까지 열람할 수 있어요. 고객에게 기간을 함께 안내하세요.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2461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246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PC에서는 [요약 리포트] 버튼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맞춤대화 오른쪽 위 [⤓ 요약 리포트]에서 같은 작업을 해요. 큰 화면이라 편집이 편해요.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미리보기에는 meritz 로고와 "AI로 생성된 보조자료입니다" 문구, 질문·답변 시각이 함께 표시돼요.</a:t>
            </a:r>
            <a:endParaRPr lang="en-US" sz="850" dirty="0"/>
          </a:p>
        </p:txBody>
      </p:sp>
      <p:pic>
        <p:nvPicPr>
          <p:cNvPr id="31" name="Image 0" descr="/tmp/claude-0/-home-user-MeAI/fc097454-2b30-54b4-8cdf-96642e2114b9/scratchpad/chars/03_dl-rara-a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0"/>
            <a:ext cx="502920" cy="109728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잘하는 법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기초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MeAI라도 질문이 다르면 답이 달라요. 공식 하나면 충분해요.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질문 공식 4요소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기본 3종 · 심화 프롬프트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화법·안내문 만들기 프롬프트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질문은 피하세요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질문 공식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질문 = 상황 + 요청 + 형식 + 안전장치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조각을 이어 붙이기만 하면 돼요. 처음엔 두 조각(상황+요청)만으로도 충분해요.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· 어떤 고객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"40대 자녀 둘 가장, 암진단비만 있는 고객에게"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240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627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해달라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 통합치료비가 왜 필요한지 설명해줘"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240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7720" y="146304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627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· 구어체 · N줄 · 비유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 1개 + 고객에게 말하듯 구어체 5줄로"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240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75120" y="146304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1627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금지 · 확인필요 표시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"자료에 없으면 추정하지 말고 '확인필요'로 표시해"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520440"/>
            <a:ext cx="8138160" cy="1097280"/>
          </a:xfrm>
          <a:prstGeom prst="roundRect">
            <a:avLst>
              <a:gd name="adj" fmla="val 1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질문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8EC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 자녀 둘 가장, 암진단비만 있는 고객에게 </a:t>
            </a:r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A6F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통합치료비가 왜 필요한지 설명해줘. </a:t>
            </a:r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D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1개와 고객에게 말하듯 구어체 5줄로 정리하고, </a:t>
            </a:r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B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없는 내용은 추정하지 말고 '확인필요'로 표시해.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전과 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줄만 바꿔도 답이 이렇게 달라져요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왼쪽처럼 물어도 답은 와요. 하지만 오른쪽처럼 물으면 바로 고객 앞에서 쓸 수 있는 답이 와요.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01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"실손 설명해줘"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실손의 일반 개념을 길게 설명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4160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0020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6002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8745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"3세대 실손 가입한 50대 고객에게, 4세대와 비교해서 자기부담과 비급여 한도의 차이를 표 1개로 정리하고, 유지가 유리한 경우 3가지를 구어체로 알려줘"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578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 세대 기준 비교표 + 바로 말할 수 있는 3가지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370332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0040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004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502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"수술비 특약 뭐가 좋아?"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일반적인 수술비 특약 종류 나열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224528" y="3657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480560" y="3063240"/>
            <a:ext cx="4160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20040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2004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4747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고객이 가입한 1~5종 수술비가 실제 청구 빈도가 높은 수술에서 어디까지 인정되는지 면책 사례 중심으로 분석하고, 보완 대안을 알려줘. 근거 없는 수치는 '확인필요'로"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178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 계약 기준 면책·공백 분석 + 보완 대안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보장분석 기본 3종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맞춤대화에서 가장 많이 쓰는 질문 3종 세트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MeAI 활용 중 72%가 보장분석이에요. 이 세 개는 순서대로 외워두세요.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1907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190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시작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727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5544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그림. 잘 준비된 부분 / 보완 필요 / 상담 포인트 / 확인 우선순위가 한 번에 나와요.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61518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151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정리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468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"가입증권 별로 핵심만 표로 요약해줘"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505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단위 표. 보험사·상품·보험료·핵심담보·갱신여부가 표로 정리돼 고객에게 보여주기 좋아요.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511296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5112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판단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649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"해지하면 좋은 상품들과 공략법을 알려줘"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3467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유지·축소·해지·대체 판단과 이유. 내부 검토용이니 리포트에는 신중히 넣어요.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2000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 더  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②에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"갱신특약이 포함된 상품은 빨간색 글자로 표시하고, 15년 이상 납입한 증권은 유지로 두고, 자료에 없으면 '확인필요'로 표시해"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를 덧붙이면 표가 바로 상담용이 돼요.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심화 프롬프트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필요할 땐 이 세 개를 복사해서 쓰세요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길어 보여도 그대로 붙이면 돼요. 저장해두고(PART 3) 필요할 때 [이 질문 사용하기]로 꺼내세요.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1143000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보장 통합표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5361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전체 그림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가입된 담보·특약의 보장금액을 6대 보장(암 / 뇌 / 심 / 수술비 / 간병비 / 실손·세대와 가입년도 포함) 관점으로 표 1개에 통합 정리해줘. 6대 외 담보는 중요도(핵심/중간/낮음)로 묶어 정리하고, 자료에 없으면 추정하지 말고 '확인필요'로 표시해.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536192"/>
            <a:ext cx="1143000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5361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상품단위 요약표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5361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고객 설명용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288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가입한 보험을 상품 단위로 쪼개서 표로 정리해줘. 칼럼은 보험사/상품 → 보험료 → 핵심담보 요약 → 갱신여부 → 결론. 표 아래에 고객에게 설명하듯 구어체로 핵심만 5줄 요약해줘. 갱신특약 포함 상품은 빨간 글자로 표시하고 15년 이상 납입 증권은 유지로.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27832"/>
            <a:ext cx="1143000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278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리모델링 실행안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278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제안 설계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20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결과를 실행 가능한 리모델링으로 바꿔줘. 상품별로 유지/축소/해지/대체/추가/전환/감액완납/납입면제 중 하나로 정리한 표를 먼저 만들고, 면책·갱신부담·보장공백·인수불가 가능성 같은 리스크를 반드시 표기해. 숫자·조건·근거 없는 단정은 금지, 없으면 '확인필요'.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잘 받는 요령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478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547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칼럼 순서를 직접 정해주면 표가 흔들리지 않아요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3803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"같은 소분류끼리만 합산"처럼 계산 규칙을 적어요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05993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0599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담보는 "미가입"으로 표시하라고 해요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3159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43159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 단위(만원)를 지정하면 읽기 쉬워요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화법 · 안내문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할 말도 MeAI가 초안을 써줘요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비유와 구어체를 요청하면 바로 말할 수 있는 문장이 나와요. 일반대화에서도 잘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사회초년생 · 첫 보험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보험이 하나도 없는 20대 사회초년생에게 '인생의 안전벨트'로서 가장 우선순위로 가입해야 할 필수 특약 3가지를 추천하고, 이유를 초등학생도 이해할 수준으로 설명해줘.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53619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36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암진단비만 있는 고객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288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암진단비만 가입된 고객에게 비급여 항암제·로봇수술·중입자치료 같은 고가 비용이 왜 실손으로 부족한지 3가지 이유로 요약하고, 암 통합치료비가 왜 '올인원'인지 부각해줘.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3639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36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순환계 치료비 · 비유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진단비는 한 번 받으면 끝이지만 치료받을 때마다 지급되는 '순환계 통합치료비'의 장점을, 뇌혈관·허혈성 질환을 '수도 배관'에 비유해서 설명하는 화법을 만들어줘.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13639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136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안내문 6줄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결과를 바탕으로 고객에게 보낼 카카오톡 안내문을 6줄로 써줘. 첫 줄 인사, 현재 강점 2줄, 보완 필요 2줄, 다음 만남 제안 1줄. 존댓말, 단정 표현 금지.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피해야 할 질문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묻지 마세요. 답도 나빠지고, 규정에도 어긋나요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가지만 기억하면 안전하게, 더 좋은 답을 받아요.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개인정보를 넣는 질문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121408"/>
            <a:ext cx="36118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214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"김OO(010-1234-5678) 고객 보장분석"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048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이름·연락처·주소·주민번호는 입력 금지. 맞춤대화는 이미 그 고객을 알고 있어요. "이 고객"이라고만 해요.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질문을 한 번에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121408"/>
            <a:ext cx="36118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1214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"보장분석하고 화법도 만들고 카톡도 써줘"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4048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하나씩. 보장분석 → 꼬리질문으로 화법 → 안내문 순서로 이어가면 각 답의 품질이 올라가요.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2461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그대로 고객에게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721608"/>
            <a:ext cx="36118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721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복사 → 바로 카톡 전송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0050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답은 초안이에요. 숫자·약관 근거를 확인하고 내 말로 다듬은 뒤 보내요. 미검증 책임은 사용자에게 있어요.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2461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단정을 강요하는 질문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721608"/>
            <a:ext cx="36118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721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"무조건 가입 가능하다고 말해줘"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40050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가능 여부·지급 여부는 심사와 약관이 결정해요. "가능성과 확인할 조건을 알려줘"로 물어요.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 도구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MeAI를 더 잘 쓰는 지름길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답은 좋은 질문에서 나와요. 도구가 그 질문을 대신 만들어줘요.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도구를 쓰면 MeAI 답이 좋아지는가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 · 보상시뮬레이터의 「MeAI 프롬프트 복사」 기능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 270개 적극 활용법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→ MeAI → 나의 질문 저장, 선순환 만들기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왜 도구인가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답의 품질은 질문의 품질이에요. 도구가 질문을 채워줘요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초보가 MeAI 앞에서 막히는 이유는 세 가지뿐이에요. 도구 하나씩이 그 세 가지를 정확히 해결해요.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초보의 벽 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09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이름과 코드를 몰라요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"뇌졸중 진단비가 정확히 어떤 특약이지? KCD 코드는?" 이름을 모르면 MeAI도 엉뚱한 특약을 설명해요.</a:t>
            </a:r>
            <a:endParaRPr lang="en-US" sz="78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1545336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1545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 · 보상시뮬레이터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8013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「MeAI 프롬프트 복사」를 누르면 상품명·특약명·KCD 코드·보장 대상 질병이 자동으로 채워진 질문이 만들어져요.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2670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5511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초보의 벽 2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7340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몰라요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2990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입력창 앞에서 "뭐라고 쓰지?" 하다가 닫아버려요. 가장 많은 초보가 여기서 멈춰요.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761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14800" y="2569464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8254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영업단계·주제별로 검증된 270개 질문이 있어요. 골라서 [복사하기] 한 번이면 프로의 질문이 돼요.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3465576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36941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5753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초보의 벽 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758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안전장치를 빼먹어요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014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"추측하지 마", "약관 기준으로", "없으면 확인필요" 같은 규칙을 매번 쓰긴 어려워요. 빠지면 답이 부풀어요.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37856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114800" y="3593592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0" y="3593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만든 프롬프트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38496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만든 질문에는 이 작성 규칙이 이미 들어 있어요. 손해보험 용어(상해)와 약관 기준 답변 규칙까지 자동이에요.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4526280"/>
            <a:ext cx="8138160" cy="292608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45262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데이터로도 확인됐어요. 도구와 MeAI를 함께 쓰는 "기능 3종 이상 사용자" 구간의 가계약이 2.3배 높았어요.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한눈에 보기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MeAI와 함께 쓰는 영업지원 도구 다섯 가지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세일즈혁신 영업지원 아이템. 설치도 로그인도 없이 주소 하나로 열려요.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tools/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383280" cy="2112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6118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703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주소 (설치·로그인 없음)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13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leehunsoo.github.io/MeAI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 브라우저에서 열고 홈 화면에 추가해 두세요. 항상 자동 업데이트돼요.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0" y="1417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11" name="Image 1" descr="/tmp/claude-0/-home-user-MeAI/fc097454-2b30-54b4-8cdf-96642e2114b9/scratchpad/chars/00_dl-merry-a_rgb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24528" y="1527048"/>
            <a:ext cx="548640" cy="7863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46320" y="1527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메리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1947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951종 검색 · 「MeAI 프롬프트 복사」</a:t>
            </a:r>
            <a:endParaRPr lang="en-US" sz="730" dirty="0"/>
          </a:p>
        </p:txBody>
      </p:sp>
      <p:sp>
        <p:nvSpPr>
          <p:cNvPr id="15" name="Shape 11"/>
          <p:cNvSpPr/>
          <p:nvPr/>
        </p:nvSpPr>
        <p:spPr>
          <a:xfrm>
            <a:off x="5532120" y="2194560"/>
            <a:ext cx="685800" cy="16459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32120" y="21945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연결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6400800" y="1417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18" name="Image 2" descr="/tmp/claude-0/-home-user-MeAI/fc097454-2b30-54b4-8cdf-96642e2114b9/scratchpad/chars/02_dl-eco-a_rgb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10528" y="1527048"/>
            <a:ext cx="548640" cy="7863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32320" y="1527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에코</a:t>
            </a:r>
            <a:endParaRPr lang="en-US" sz="750" dirty="0"/>
          </a:p>
        </p:txBody>
      </p:sp>
      <p:sp>
        <p:nvSpPr>
          <p:cNvPr id="21" name="Text 16"/>
          <p:cNvSpPr txBox="1"/>
          <p:nvPr/>
        </p:nvSpPr>
        <p:spPr>
          <a:xfrm>
            <a:off x="7132320" y="1947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병명 → 단계별 보장 · 「질병보상 MeAI 조회 프롬프트」</a:t>
            </a:r>
            <a:endParaRPr lang="en-US" sz="730" dirty="0"/>
          </a:p>
        </p:txBody>
      </p:sp>
      <p:sp>
        <p:nvSpPr>
          <p:cNvPr id="22" name="Shape 17"/>
          <p:cNvSpPr/>
          <p:nvPr/>
        </p:nvSpPr>
        <p:spPr>
          <a:xfrm>
            <a:off x="7818120" y="2194560"/>
            <a:ext cx="685800" cy="16459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818120" y="21945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연결</a:t>
            </a:r>
            <a:endParaRPr lang="en-US" sz="600" dirty="0"/>
          </a:p>
        </p:txBody>
      </p:sp>
      <p:sp>
        <p:nvSpPr>
          <p:cNvPr id="24" name="Shape 19"/>
          <p:cNvSpPr/>
          <p:nvPr/>
        </p:nvSpPr>
        <p:spPr>
          <a:xfrm>
            <a:off x="4114800" y="251460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25" name="Image 3" descr="/tmp/claude-0/-home-user-MeAI/fc097454-2b30-54b4-8cdf-96642e2114b9/scratchpad/chars/05_dl-indi-a_rgb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24528" y="2624328"/>
            <a:ext cx="548640" cy="7863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46320" y="2624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846320" y="2852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인디</a:t>
            </a:r>
            <a:endParaRPr lang="en-US" sz="750" dirty="0"/>
          </a:p>
        </p:txBody>
      </p:sp>
      <p:sp>
        <p:nvSpPr>
          <p:cNvPr id="28" name="Text 22"/>
          <p:cNvSpPr txBox="1"/>
          <p:nvPr/>
        </p:nvSpPr>
        <p:spPr>
          <a:xfrm>
            <a:off x="4846320" y="30449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MeAI 질문 270개 · [복사하기]</a:t>
            </a:r>
            <a:endParaRPr lang="en-US" sz="730" dirty="0"/>
          </a:p>
        </p:txBody>
      </p:sp>
      <p:sp>
        <p:nvSpPr>
          <p:cNvPr id="29" name="Shape 23"/>
          <p:cNvSpPr/>
          <p:nvPr/>
        </p:nvSpPr>
        <p:spPr>
          <a:xfrm>
            <a:off x="5532120" y="3291840"/>
            <a:ext cx="685800" cy="16459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532120" y="32918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연결</a:t>
            </a:r>
            <a:endParaRPr lang="en-US" sz="600" dirty="0"/>
          </a:p>
        </p:txBody>
      </p:sp>
      <p:sp>
        <p:nvSpPr>
          <p:cNvPr id="31" name="Shape 25"/>
          <p:cNvSpPr/>
          <p:nvPr/>
        </p:nvSpPr>
        <p:spPr>
          <a:xfrm>
            <a:off x="6400800" y="251460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32" name="Image 4" descr="/tmp/claude-0/-home-user-MeAI/fc097454-2b30-54b4-8cdf-96642e2114b9/scratchpad/chars/03_dl-rara-a_rgb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10528" y="2624328"/>
            <a:ext cx="548640" cy="78638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132320" y="2624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7132320" y="2852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라라</a:t>
            </a:r>
            <a:endParaRPr lang="en-US" sz="750" dirty="0"/>
          </a:p>
        </p:txBody>
      </p:sp>
      <p:sp>
        <p:nvSpPr>
          <p:cNvPr id="35" name="Text 28"/>
          <p:cNvSpPr txBox="1"/>
          <p:nvPr/>
        </p:nvSpPr>
        <p:spPr>
          <a:xfrm>
            <a:off x="7132320" y="30449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장기상품 50종 · 알릴의무 · 예외질환 판정</a:t>
            </a:r>
            <a:endParaRPr lang="en-US" sz="730" dirty="0"/>
          </a:p>
        </p:txBody>
      </p:sp>
      <p:sp>
        <p:nvSpPr>
          <p:cNvPr id="36" name="Shape 29"/>
          <p:cNvSpPr/>
          <p:nvPr/>
        </p:nvSpPr>
        <p:spPr>
          <a:xfrm>
            <a:off x="4114800" y="361188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37" name="Image 5" descr="/tmp/claude-0/-home-user-MeAI/fc097454-2b30-54b4-8cdf-96642e2114b9/scratchpad/chars/08_dl-ziziry-a_rgb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224528" y="3721608"/>
            <a:ext cx="548640" cy="78638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846320" y="37216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시뮬레이션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4846320" y="3950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5B8D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찌지리</a:t>
            </a:r>
            <a:endParaRPr lang="en-US" sz="750" dirty="0"/>
          </a:p>
        </p:txBody>
      </p:sp>
      <p:sp>
        <p:nvSpPr>
          <p:cNvPr id="40" name="Text 32"/>
          <p:cNvSpPr txBox="1"/>
          <p:nvPr/>
        </p:nvSpPr>
        <p:spPr>
          <a:xfrm>
            <a:off x="4846320" y="41422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암·뇌·심장 통합치료비 12종, 단계별 지급액</a:t>
            </a:r>
            <a:endParaRPr lang="en-US" sz="730" dirty="0"/>
          </a:p>
        </p:txBody>
      </p:sp>
      <p:sp>
        <p:nvSpPr>
          <p:cNvPr id="41" name="Shape 33"/>
          <p:cNvSpPr/>
          <p:nvPr/>
        </p:nvSpPr>
        <p:spPr>
          <a:xfrm>
            <a:off x="6400800" y="361188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537960" y="3657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테두리 3종이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질문을 직접 만들어줘요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6537960" y="4160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장부터 이 세 도구의 MeAI 연결 버튼을 자세히 봐요.</a:t>
            </a:r>
            <a:endParaRPr lang="en-US" sz="800" dirty="0"/>
          </a:p>
        </p:txBody>
      </p:sp>
      <p:sp>
        <p:nvSpPr>
          <p:cNvPr id="44" name="Text 3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5" name="Text 3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TOOL 01 특약검색기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951개, 이름만 넣어도 바로 나와요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"뇌졸중 진단비가 어느 특약에 있지?" 외울 필요가 없어요.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tools/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120640" cy="3200400"/>
          </a:xfrm>
          <a:prstGeom prst="rect">
            <a:avLst/>
          </a:prstGeom>
        </p:spPr>
      </p:pic>
      <p:pic>
        <p:nvPicPr>
          <p:cNvPr id="6" name="Image 1" descr="/tmp/claude-0/-home-user-MeAI/fc097454-2b30-54b4-8cdf-96642e2114b9/scratchpad/chars/00_dl-merry-a_rg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56032"/>
            <a:ext cx="548640" cy="7863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5216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6199632" y="146304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방식 동시 검색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17373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질병코드(C73) · 질병명(갑상선암) · 특약명(암진단비) 무엇으로 검색해도 돼요. 자주 찾는 질병 칩도 있어요.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852160" y="228600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6199632" y="226771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대상질병표 · 지급금액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2542032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카드를 열면 약관 별표 기준 대상질병과 지급금액 표가 한 화면에 나와요. [특약비교]로 두 특약 나란히 비교.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852160" y="3090672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5216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307238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히스토리 · 즐겨찾기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3346704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상품군의 출시·개정 이슈를 시간순으로 확인하고, 자주 보는 특약은 ★로 저장해요.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852160" y="3895344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85216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199632" y="387705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「MeAI 프롬프트 복사」 (다음 장)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199632" y="4151376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상세 카드 오른쪽 위 초록 버튼. 이 특약을 고객에게 설명하는 완성 질문이 복사돼요.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4" name="Text 2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특약검색기 × MeAI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카드의 「MeAI 프롬프트 복사」, 이렇게 동작해요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하나를 열고 버튼 한 번. 상품명·특약명·KCD가 채워진 "특약 설명 요청서"가 통째로 복사돼요.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tools/tool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206240" cy="2633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54680" y="1627632"/>
            <a:ext cx="274320" cy="274320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041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상세 카드 오른쪽 위  📋 MeAI 프롬프트 복사  (초록 버튼)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3703320" cy="329184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복사되는 프롬프트의 구조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38928" y="1828800"/>
            <a:ext cx="45720" cy="566928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8523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역할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285232" y="19842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보험상품을 쉽게 설명하는 교육 전문가. 약관을 새로 만들지 말고, 설계사가 고객에게 설명할 수 있게 재구성·요약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138928" y="2542032"/>
            <a:ext cx="45720" cy="566928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85232" y="2496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입력 정보 (자동 채움)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285232" y="26974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· 특약명 · 관련 KCD 코드 · 보장 분류 · 약관상 제외 코드 · 대표 질병명 · 가입금액별 차등 여부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138928" y="3255264"/>
            <a:ext cx="45720" cy="56692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85232" y="32095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작성 내용 5가지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285232" y="34107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특약 한 줄 요약 ② 어떤 상황에서 필요한가 ③ 핵심 목적 ④ 고객 설명 예시(대화체) ⑤ 알아두면 좋은 사항(약관·지급조건 확인)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138928" y="3968496"/>
            <a:ext cx="45720" cy="56692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85232" y="39227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작성 규칙 (안전장치)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285232" y="41239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"상해" 표기(재해 X) · 입력되지 않은 약관 내용 생성 금지 · 면책·감액·지급조건 추측 금지 · 임의 추천 금지 · 확인 안 되면 "약관 확인 필요" · 표 적극 활용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502920" y="42976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297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초보가 쓰기 어려운 규칙까지 다 들어 있어요. 그래서 누가 붙여도 같은 품질의 고객 설명이 나와요.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TOOL 02 · 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병이면 얼마 나와요?"에 3초 만에 답해요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보상시뮬레이터는 특약 전체를, 통합치료비 시뮬레이션은 통합치료비 12종을 치료 단계별로 계산해요.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6" name="Image 0" descr="/tmp/claude-0/-home-user-MeAI/fc097454-2b30-54b4-8cdf-96642e2114b9/scratchpad/tools/sim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703320" cy="1600200"/>
          </a:xfrm>
          <a:prstGeom prst="rect">
            <a:avLst/>
          </a:prstGeom>
        </p:spPr>
      </p:pic>
      <p:pic>
        <p:nvPicPr>
          <p:cNvPr id="7" name="Image 1" descr="/tmp/claude-0/-home-user-MeAI/fc097454-2b30-54b4-8cdf-96642e2114b9/scratchpad/chars/02_dl-eco-a_rgb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40480" y="3200400"/>
            <a:ext cx="5029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218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에코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7033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86968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병명·KCD코드 자동완성 (예: 위암, 뇌졸중, C16)</a:t>
            </a:r>
            <a:endParaRPr lang="en-US" sz="88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995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86968" y="3995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검사 → 수술 → 입원 → 치료 순서로 보장 흐름</a:t>
            </a:r>
            <a:endParaRPr lang="en-US" sz="88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2885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4288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「질병보상 MeAI 조회 프롬프트 복사」 버튼 (다음 장)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66344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17" name="Image 2" descr="/tmp/claude-0/-home-user-MeAI/fc097454-2b30-54b4-8cdf-96642e2114b9/scratchpad/tools/통합치료비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54480"/>
            <a:ext cx="3703320" cy="1600200"/>
          </a:xfrm>
          <a:prstGeom prst="rect">
            <a:avLst/>
          </a:prstGeom>
        </p:spPr>
      </p:pic>
      <p:pic>
        <p:nvPicPr>
          <p:cNvPr id="18" name="Image 3" descr="/tmp/claude-0/-home-user-MeAI/fc097454-2b30-54b4-8cdf-96642e2114b9/scratchpad/chars/08_dl-ziziry-a_rgb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0" y="3200400"/>
            <a:ext cx="502920" cy="7315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3218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시뮬레이션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84632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B8D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찌지리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37033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8D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5047488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질병명·코드 입력 → 암·뇌·심장 통합치료비 12종 지급액</a:t>
            </a:r>
            <a:endParaRPr lang="en-US" sz="88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995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8D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5047488" y="3995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→ 수술 → 항암 등 치료 단계별 금액</a:t>
            </a:r>
            <a:endParaRPr lang="en-US" sz="88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42885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8D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047488" y="4288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가입금액별 비교로 제안 금액 정하기</a:t>
            </a:r>
            <a:endParaRPr lang="en-US" sz="880" dirty="0"/>
          </a:p>
        </p:txBody>
      </p:sp>
      <p:sp>
        <p:nvSpPr>
          <p:cNvPr id="27" name="Text 21"/>
          <p:cNvSpPr txBox="1"/>
          <p:nvPr/>
        </p:nvSpPr>
        <p:spPr>
          <a:xfrm>
            <a:off x="502920" y="46817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보상시뮬레이터는 특약검색기와 같은 화면에서 하단 [보상시뮬레이터] 탭으로 전환해요. 특약 카드의 [이 특약의 보장 질병으로 시뮬레이션] 버튼으로도 넘어가요.</a:t>
            </a:r>
            <a:endParaRPr lang="en-US" sz="75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보상시뮬레이터 × MeAI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병명 하나로 "질병 설명 + 당사 특약 안내" 질문이 완성돼요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"위암이면 뭐가 나와요?"라는 고객 질문에, 시뮬레이터가 찾은 특약 목록을 그대로 MeAI에 넘겨요.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tools/sim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206240" cy="2633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2121408"/>
            <a:ext cx="274320" cy="274320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4612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041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 상단  📋 질병보상 MeAI 조회 프롬프트 복사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3703320" cy="329184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복사되는 프롬프트의 구조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38928" y="1828800"/>
            <a:ext cx="45720" cy="566928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8523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역할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285232" y="19842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영업가족을 교육하는 베테랑 보험교육 강사. 새 지식을 만들지 말고 입력 정보를 고객 설명용으로 재구성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138928" y="2542032"/>
            <a:ext cx="45720" cy="566928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85232" y="2496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입력 정보 (자동 채움)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285232" y="26974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질병명 · KCD 코드 · 당사 보장 가능 특약 목록(상품별로 묶고, 진단/수술/입원 등 단계 표시)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138928" y="3255264"/>
            <a:ext cx="45720" cy="56692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85232" y="32095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작성 내용 5가지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285232" y="34107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질병 개요 ② 주요 증상 ③ 일반적인 치료 과정(검사→진단→수술→입원→추적) ④ 당사 보장 특약 안내 ⑤ 영업 활용 포인트(핵심 한 줄 + 고객 설명 예시)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138928" y="3968496"/>
            <a:ext cx="45720" cy="56692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85232" y="39227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작성 규칙 (안전장치)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285232" y="41239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"상해" 표기 · 새 지급조건 생성 금지 · 약관 추측 금지 · 분석이 아니라 재구성이 목적 · 표 활용 · 확인 안 되면 "상품 약관 확인 필요"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502920" y="42976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297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순서: 병명 검색 → 프롬프트 복사 → MeAI 붙여넣기 → 답의 "고객 설명 예시"를 그대로 읽어주기.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TOOL 03 ·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상품이 생소하면 라인업, 질문이 막히면 라이브러리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신입 첫날부터 쓰기 좋은 도구예요.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6" name="Image 0" descr="/tmp/claude-0/-home-user-MeAI/fc097454-2b30-54b4-8cdf-96642e2114b9/scratchpad/tools/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703320" cy="1600200"/>
          </a:xfrm>
          <a:prstGeom prst="rect">
            <a:avLst/>
          </a:prstGeom>
        </p:spPr>
      </p:pic>
      <p:pic>
        <p:nvPicPr>
          <p:cNvPr id="7" name="Image 1" descr="/tmp/claude-0/-home-user-MeAI/fc097454-2b30-54b4-8cdf-96642e2114b9/scratchpad/chars/03_dl-rara-a_rgb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40480" y="3200400"/>
            <a:ext cx="5029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218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라라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7033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86968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장기상품 50종을 상품구분·심사유형으로 필터</a:t>
            </a:r>
            <a:endParaRPr lang="en-US" sz="88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995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86968" y="3995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[알릴의무 유형별] 탭으로 고지 항목 비교</a:t>
            </a:r>
            <a:endParaRPr lang="en-US" sz="88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2885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4288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[예외질환 판정] 탭: 간편보험 예외질환 바로 확인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663440" y="141732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pic>
        <p:nvPicPr>
          <p:cNvPr id="17" name="Image 2" descr="/tmp/claude-0/-home-user-MeAI/fc097454-2b30-54b4-8cdf-96642e2114b9/scratchpad/tools/prompts_mo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54480"/>
            <a:ext cx="3703320" cy="1600200"/>
          </a:xfrm>
          <a:prstGeom prst="rect">
            <a:avLst/>
          </a:prstGeom>
        </p:spPr>
      </p:pic>
      <p:pic>
        <p:nvPicPr>
          <p:cNvPr id="18" name="Image 3" descr="/tmp/claude-0/-home-user-MeAI/fc097454-2b30-54b4-8cdf-96642e2114b9/scratchpad/chars/05_dl-indi-a_rgb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0" y="3200400"/>
            <a:ext cx="502920" cy="7315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3218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84632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인디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37033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5047488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MeAI 질문 270개, 대주제·영업단계·소주제 필터</a:t>
            </a:r>
            <a:endParaRPr lang="en-US" sz="88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995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5047488" y="3995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누르면 전문과 해시태그, [복사하기] 한 번</a:t>
            </a:r>
            <a:endParaRPr lang="en-US" sz="88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42885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047488" y="4288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입력창에 붙여넣기만 하면 프로 질문 완성 (다음 장)</a:t>
            </a:r>
            <a:endParaRPr lang="en-US" sz="880" dirty="0"/>
          </a:p>
        </p:txBody>
      </p:sp>
      <p:sp>
        <p:nvSpPr>
          <p:cNvPr id="27" name="Text 2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8" name="Text 2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프롬프트 라이브러리 × MeAI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단계마다 "뭘 물을지"가 이미 정리돼 있어요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270개 질문이 대주제 4 · 영업단계 6 · 소주제 24로 나뉘어 있어요. 오늘 할 일의 단계를 누르면 그 단계의 질문만 남아요.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대주제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14984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15727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상품지식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28216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28216" y="15727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실전영업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41448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41448" y="15727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배경지식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54680" y="15727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5727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업무지원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영업단계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14884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고객발굴/CRM선정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487168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P038 뇌·심장 보장이 취약한 고객 유형 5가지와 대화 오프닝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255117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551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고객터치(전화·판촉)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250545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487168" y="2505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P224 복잡한 보장을 3분 안에 설명하는 핵심 요약 멘트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95351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2953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초회면담/방문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240280" y="290779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P011 30~40대 여성 암보장 필요성 통계 + 상담 스크립트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35584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3355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보장분석/리모델링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2240280" y="33101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87168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P006 통합암 특약 간 보장 범위 차이를 암 종류별 비교표로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375818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37581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가입제안/클로징/거절처리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37124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487168" y="3712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P017 "암 치료비 얼마 안 든다" 반론에 비급여 비용 논리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416052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사후관리/소개요청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4114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487168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P002 갑상선 전이암은 유사암 분류, 전이암진단비 제안 화법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5537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단계별 실제 수록 질문 예 (P번호는 카드 번호)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486400" y="1371600"/>
            <a:ext cx="3154680" cy="3291840"/>
          </a:xfrm>
          <a:prstGeom prst="roundRect">
            <a:avLst>
              <a:gd name="adj" fmla="val 3478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쓰세요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0" y="1828800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016752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일의 단계를 눌러요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016752" y="20848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오늘 보장분석 상담이면 [보장분석/리모델링]. 검색창에 "암", "화법" 키워드도 돼요.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669280" y="2523744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016752" y="25054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열고 [복사하기]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6016752" y="277977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전문과 해시태그를 확인하고 복사. 고객 상황(나이·병력)에 맞게 한두 단어만 바꿔도 좋아요.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669280" y="3218688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016752" y="32004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 붙여넣고, 꼬리질문으로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016752" y="34747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오면 꼬리질문 버튼으로 이어가요. 라이브러리 질문 + 꼬리질문 2번이 기본 세트예요.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669280" y="3913632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6928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016752" y="3895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질문은 나의 질문으로 저장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016752" y="416966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안에서 ⊕ 저장(PART 3). 다음엔 라이브러리 안 가고 [이 질문 사용하기]로 바로.</a:t>
            </a:r>
            <a:endParaRPr lang="en-US" sz="78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선순환 만들기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도구에서 질문을 만들고, MeAI에 붙이고, 좋으면 저장하세요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순환이 "기능 3종 이상 사용자"가 되는 길이에요. 초보의 질문이 곧 전문가의 질문이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0" y="16002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도구에서 질문 만들기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33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 「MeAI 프롬프트 복사」 · 보상시뮬레이터 「질병보상 MeAI 조회 프롬프트 복사」 · 프롬프트 라이브러리 [복사하기]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62763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627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0" y="16002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 붙여넣기 → 꼬리질문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633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또는 맞춤대화 입력창에 붙이고 전송. 답 아래 꼬리질문으로 한두 번 더 파요.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989320" y="14630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62763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1627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16002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질문으로 저장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633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좋았던 질문은 ⊕ 저장. 프롬프트 라이브러리 [나의 질문] 탭에 쌓여 PC·모바일에서 재사용.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611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↺  저장한 질문은 다음 상담에서 [이 질문 사용하기]로 바로 꺼내요. 도구를 거칠 필요도 없어져요.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00507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특약검색기에서 「뇌출혈진단비(통합간편)」 카드 → MeAI 프롬프트 복사 → 붙여넣기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2062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"[입력 정보] 상품명: 메리츠 통합간편건강보험 · 특약명: 뇌출혈진단비 · 관련 KCD: I60, I61, I62 … 이 특약을 고객이 이해할 수 있도록 한 줄 요약, 필요한 상황, 고객 설명 예시로 재구성해줘. 약관에 없는 내용은 생성하지 말고 '약관 확인 필요'로."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활용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FAQ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루틴에 넣고, 지킬 것은 지키면서, 첫 주 미션으로 습관을 만들어요.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MeAI와 함께하는 하루 루틴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시나리오 3가지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지켜야 할 5가지 · 자주 묻는 질문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주 미션 체크리스트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하루 루틴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MeAI와 함께하는 하루는 이렇게 흘러가요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어렵지 않아요. 원래 하던 일에 질문 한 번씩만 끼워 넣으면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08:30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· 준비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만날 고객의 맞춤대화를 열고 "보장분석 해줘". 부족 보장과 상담 포인트를 3분 안에 확인.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· 공부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막혔던 용어를 일반대화 지식 검색으로. 답이 좋으면 나의 질문으로 저장.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· 상담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 폰으로 보장분석 카드를 함께 보고, 막히면 마이크로 바로 질문. 도구로 특약 확인.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🌙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17:30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· 정리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대화에서 답변을 골라 요약 리포트 생성 → 카카오톡 발송. 내일 고객을 대화 이력에서 미리 열어두기.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현장 시나리오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순간, 이렇게 물어보세요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만나는 세 장면이에요. 질문 순서 그대로 따라 해보세요.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고객 첫 미팅 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084832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열고 고객 정보 입력(직업·가족력)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→ 부족 보장 3가지 확인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첫 만남에서 꺼낼 질문 3개 만들어줘"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895344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도구: 상품 라인업에서 제안 상품 알릴의무 확인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62763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기가입 고객 리모델링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084832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721608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"가입증권별로 핵심만 표로 요약해줘"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2688336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721608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"리모델링 실행안" 프롬프트로 유지/해지/대체 정리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3291840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290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721608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"갱신형 특약의 향후 보험료 부담을 구어체로 설명해줘"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3895344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3721608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 발송 (내부 판단 답변 제외)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62763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질문에 즉답이 필요할 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2084832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464808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"뇌경색도 뇌졸중진단비에서 나와요?" → 특약검색기에서 특약 카드 확인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2688336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「MeAI 프롬프트 복사」 → 붙여넣기 → 약관 기준 답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291840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464808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"이 내용을 고객에게 한 문장으로" 요청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3895344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7220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464808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PC라면 약관 검색으로 원문을 함께 보여주기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꼭 지켜주세요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약속, MeAI를 오래 잘 쓰는 조건이에요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 안내문에도 나오는 내용이에요. 한 번만 제대로 읽어두세요.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EEF0"/>
          </a:solidFill>
          <a:ln w="9525">
            <a:solidFill>
              <a:srgbClr val="FFE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반드시 검증 후 사용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답변은 생성형 AI가 작성해 오류가 있을 수 있어요. 근거자료(약관·증권)를 직접 확인한 뒤 고객에게 안내해요.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입력 금지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연락처 · 주소 · 주민번호 등 개인정보는 질문에도, 메모에도 넣지 않아요.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책임은 사용자에게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안내해 생긴 금융소비자보호법 등 관련 법령상 책임은 사용자에게 있어요.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004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사용 한도 확인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활용은 일일 300회 한도가 있어요. 고객 목록 상단에서 오늘 사용 횟수를 확인할 수 있어요.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외부 반출 금지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답변, 도구 화면, 이 가이드북을 포함한 교육자료의 외부 제공·배포·게시(온/오프라인)는 금지돼요.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989320" y="3017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127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 안내문 원문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"MeAI의 답변은 생성형 AI를 통해 작성되어 오류가 있을 수 있으므로, 반드시 직접 근거자료를 확인하여 진위를 검증하시기 바랍니다. 미검증으로 인한 금융소비자보호법 등 관련 법령상 책임은 사용자에게 있습니다."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FAQ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쓰는 분들이 가장 많이 묻는 질문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여섯 개면 첫 주 질문의 대부분이 해결돼요.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컴퓨터를 잘 못하는데요?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562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핸드폰만 켤 줄 알면 돼요. 앱 홈 → 보장분석 → MeAI, 그리고 마이크 버튼으로 말하면 끝이에요.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뭘 물어야 할지 모르겠어요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8562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탭 세 개와 꼬리질문 버튼을 누르기만 하세요. 더 필요하면 프롬프트 라이브러리 270개.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이상하거나 틀린 것 같아요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AI라 오류가 있을 수 있어요. 약관 검색으로 원문을 확인하고, 질문에 상황을 더 붙여 다시 물어보세요.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 한 대화를 폰에서 볼 수 있나요?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네. 대화 이력과 저장한 나의 질문은 PC·모바일에서 똑같이 보여요.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답을 바로 보내도 되나요?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후에요. 요약 리포트 기능으로 필요한 답만 골라 편집해서 카카오톡으로 보내는 게 안전해요.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어디서 열어요?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leehunsoo.github.io/MeAI 하나면 5종 모두 열려요. 설치·로그인 없음, 폰 홈 화면에 추가해 두세요.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첫 주 미션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5일, 하루 하나씩만 해보세요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권한을 받은 첫 주에 한 번 열어본 분들이 그대로 습관이 됐어요. 체크하며 따라가 보세요.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켜보기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→ 보장분석 → MeAI 일반대화 열기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3개 탭에서 각 1개씩 눌러보기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14884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말해보기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질문 하나 말해서 보내기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28600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 버튼 2번 이어가기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79476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3192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 [MeAI] → 고객 정보 입력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93192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실행, 부족 보장 3개 메모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44068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연결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7784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특약검색기에서 특약 하나 찾기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7784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9788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「MeAI 프롬프트 복사」→ MeAI 붙여넣기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08660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2376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2376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4380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답 저장(나의 질문)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22376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4380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만들어 내 카톡으로 먼저 받아보기</a:t>
            </a:r>
            <a:endParaRPr lang="en-US" sz="88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45720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5일 뒤, 여러분은 이미 "기능 3종 이상 사용자"예요. 그 구간의 성과가 가장 높았어요.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MeAI에게 물어보세요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지식은 MeAI가 채우고, 도구가 손을 거들어요.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여러분은 고객을 향한 마음만 가져오면 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370332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703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주소  leehunsoo.github.io/MeAI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11880" y="37033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3703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세일즈혁신TF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>
                    <a:alpha val="6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자료의 전부·일부(수정 포함)의 외부 제공·배포·게시(온/오프라인)는 금지됩니다. 미검증으로 인한 금융소비자보호법 등 관련 법령상 책임은 사용자에게 있습니다.</a:t>
            </a:r>
            <a:endParaRPr lang="en-US" sz="750" dirty="0"/>
          </a:p>
        </p:txBody>
      </p:sp>
      <p:pic>
        <p:nvPicPr>
          <p:cNvPr id="9" name="Image 0" descr="/tmp/claude-0/-home-user-MeAI/fc097454-2b30-54b4-8cdf-96642e2114b9/scratchpad/chars/00_dl-merry-a_rg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05840"/>
            <a:ext cx="731520" cy="1051560"/>
          </a:xfrm>
          <a:prstGeom prst="rect">
            <a:avLst/>
          </a:prstGeom>
        </p:spPr>
      </p:pic>
      <p:pic>
        <p:nvPicPr>
          <p:cNvPr id="10" name="Image 1" descr="/tmp/claude-0/-home-user-MeAI/fc097454-2b30-54b4-8cdf-96642e2114b9/scratchpad/chars/02_dl-eco-a_rgb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005840"/>
            <a:ext cx="731520" cy="1051560"/>
          </a:xfrm>
          <a:prstGeom prst="rect">
            <a:avLst/>
          </a:prstGeom>
        </p:spPr>
      </p:pic>
      <p:pic>
        <p:nvPicPr>
          <p:cNvPr id="11" name="Image 2" descr="/tmp/claude-0/-home-user-MeAI/fc097454-2b30-54b4-8cdf-96642e2114b9/scratchpad/chars/03_dl-rara-a_rgb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63840" y="1005840"/>
            <a:ext cx="731520" cy="1051560"/>
          </a:xfrm>
          <a:prstGeom prst="rect">
            <a:avLst/>
          </a:prstGeom>
        </p:spPr>
      </p:pic>
      <p:pic>
        <p:nvPicPr>
          <p:cNvPr id="12" name="Image 3" descr="/tmp/claude-0/-home-user-MeAI/fc097454-2b30-54b4-8cdf-96642e2114b9/scratchpad/chars/05_dl-indi-a_rgb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26480" y="2331720"/>
            <a:ext cx="731520" cy="1051560"/>
          </a:xfrm>
          <a:prstGeom prst="rect">
            <a:avLst/>
          </a:prstGeom>
        </p:spPr>
      </p:pic>
      <p:pic>
        <p:nvPicPr>
          <p:cNvPr id="13" name="Image 4" descr="/tmp/claude-0/-home-user-MeAI/fc097454-2b30-54b4-8cdf-96642e2114b9/scratchpad/chars/07_dl-tata-a_rgb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95160" y="2331720"/>
            <a:ext cx="731520" cy="1051560"/>
          </a:xfrm>
          <a:prstGeom prst="rect">
            <a:avLst/>
          </a:prstGeom>
        </p:spPr>
      </p:pic>
      <p:pic>
        <p:nvPicPr>
          <p:cNvPr id="14" name="Image 5" descr="/tmp/claude-0/-home-user-MeAI/fc097454-2b30-54b4-8cdf-96642e2114b9/scratchpad/chars/08_dl-ziziry-a_rgb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863840" y="2331720"/>
            <a:ext cx="7315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(영업가족 편)</dc:title>
  <dc:subject>PptxGenJS Presentation</dc:subject>
  <dc:creator>메리츠화재 세일즈혁신TF</dc:creator>
  <cp:lastModifiedBy>메리츠화재 세일즈혁신TF</cp:lastModifiedBy>
  <cp:revision>1</cp:revision>
  <dcterms:created xsi:type="dcterms:W3CDTF">2026-09-16T03:29:11Z</dcterms:created>
  <dcterms:modified xsi:type="dcterms:W3CDTF">2026-09-16T03:29:11Z</dcterms:modified>
</cp:coreProperties>
</file>