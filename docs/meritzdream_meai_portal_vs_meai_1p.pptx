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b" ContentType="application/vnd.ms-excel.sheet.binary.macroEnabled.12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2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717" r:id="rId2"/>
  </p:sldMasterIdLst>
  <p:notesMasterIdLst>
    <p:notesMasterId r:id="rId44"/>
  </p:notesMasterIdLst>
  <p:sldIdLst>
    <p:sldId id="7270" r:id="rId50"/>
  </p:sldIdLst>
  <p:sldSz cx="9144000" cy="5143500" type="screen16x9"/>
  <p:notesSz cx="6735763" cy="9866313"/>
  <p:custDataLst>
    <p:tags r:id="rId45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orient="horz" pos="169" userDrawn="1">
          <p15:clr>
            <a:srgbClr val="A4A3A4"/>
          </p15:clr>
        </p15:guide>
        <p15:guide id="3" orient="horz" pos="259" userDrawn="1">
          <p15:clr>
            <a:srgbClr val="A4A3A4"/>
          </p15:clr>
        </p15:guide>
        <p15:guide id="4" orient="horz" pos="78" userDrawn="1">
          <p15:clr>
            <a:srgbClr val="A4A3A4"/>
          </p15:clr>
        </p15:guide>
        <p15:guide id="6" orient="horz" pos="2096" userDrawn="1">
          <p15:clr>
            <a:srgbClr val="A4A3A4"/>
          </p15:clr>
        </p15:guide>
        <p15:guide id="7" orient="horz" pos="191" userDrawn="1">
          <p15:clr>
            <a:srgbClr val="A4A3A4"/>
          </p15:clr>
        </p15:guide>
        <p15:guide id="10" pos="1587" userDrawn="1">
          <p15:clr>
            <a:srgbClr val="A4A3A4"/>
          </p15:clr>
        </p15:guide>
        <p15:guide id="11" pos="1406" userDrawn="1">
          <p15:clr>
            <a:srgbClr val="A4A3A4"/>
          </p15:clr>
        </p15:guide>
        <p15:guide id="12" pos="4059" userDrawn="1">
          <p15:clr>
            <a:srgbClr val="A4A3A4"/>
          </p15:clr>
        </p15:guide>
        <p15:guide id="13" pos="1655" userDrawn="1">
          <p15:clr>
            <a:srgbClr val="A4A3A4"/>
          </p15:clr>
        </p15:guide>
        <p15:guide id="14" pos="2857" userDrawn="1">
          <p15:clr>
            <a:srgbClr val="A4A3A4"/>
          </p15:clr>
        </p15:guide>
        <p15:guide id="15" pos="22" userDrawn="1">
          <p15:clr>
            <a:srgbClr val="A4A3A4"/>
          </p15:clr>
        </p15:guide>
        <p15:guide id="18" pos="181" userDrawn="1">
          <p15:clr>
            <a:srgbClr val="A4A3A4"/>
          </p15:clr>
        </p15:guide>
        <p15:guide id="19" pos="5624" userDrawn="1">
          <p15:clr>
            <a:srgbClr val="A4A3A4"/>
          </p15:clr>
        </p15:guide>
        <p15:guide id="21" pos="5488" userDrawn="1">
          <p15:clr>
            <a:srgbClr val="A4A3A4"/>
          </p15:clr>
        </p15:guide>
        <p15:guide id="22" orient="horz" pos="1620" userDrawn="1">
          <p15:clr>
            <a:srgbClr val="A4A3A4"/>
          </p15:clr>
        </p15:guide>
        <p15:guide id="24" orient="horz" pos="2663" userDrawn="1">
          <p15:clr>
            <a:srgbClr val="A4A3A4"/>
          </p15:clr>
        </p15:guide>
        <p15:guide id="26" orient="horz" pos="713" userDrawn="1">
          <p15:clr>
            <a:srgbClr val="A4A3A4"/>
          </p15:clr>
        </p15:guide>
        <p15:guide id="27" orient="horz" pos="1144" userDrawn="1">
          <p15:clr>
            <a:srgbClr val="A4A3A4"/>
          </p15:clr>
        </p15:guide>
        <p15:guide id="28" orient="horz" pos="31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C000"/>
    <a:srgbClr val="9B1717"/>
    <a:srgbClr val="AEAFC3"/>
    <a:srgbClr val="FFFFCC"/>
    <a:srgbClr val="778242"/>
    <a:srgbClr val="CECED9"/>
    <a:srgbClr val="EFEEEC"/>
    <a:srgbClr val="FBE9E9"/>
    <a:srgbClr val="443A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5602" autoAdjust="0"/>
  </p:normalViewPr>
  <p:slideViewPr>
    <p:cSldViewPr snapToObjects="1" showGuides="1">
      <p:cViewPr varScale="1">
        <p:scale>
          <a:sx n="146" d="100"/>
          <a:sy n="146" d="100"/>
        </p:scale>
        <p:origin x="192" y="120"/>
      </p:cViewPr>
      <p:guideLst>
        <p:guide orient="horz"/>
        <p:guide orient="horz" pos="169"/>
        <p:guide orient="horz" pos="259"/>
        <p:guide orient="horz" pos="78"/>
        <p:guide orient="horz" pos="2096"/>
        <p:guide orient="horz" pos="191"/>
        <p:guide pos="1587"/>
        <p:guide pos="1406"/>
        <p:guide pos="4059"/>
        <p:guide pos="1655"/>
        <p:guide pos="2857"/>
        <p:guide pos="22"/>
        <p:guide pos="181"/>
        <p:guide pos="5624"/>
        <p:guide pos="5488"/>
        <p:guide orient="horz" pos="1620"/>
        <p:guide orient="horz" pos="2663"/>
        <p:guide orient="horz" pos="713"/>
        <p:guide orient="horz" pos="1144"/>
        <p:guide orient="horz" pos="3162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Objects="1" showGuides="1">
      <p:cViewPr varScale="1">
        <p:scale>
          <a:sx n="83" d="100"/>
          <a:sy n="83" d="100"/>
        </p:scale>
        <p:origin x="-1638" y="-78"/>
      </p:cViewPr>
      <p:guideLst>
        <p:guide orient="horz" pos="3108"/>
        <p:guide pos="2122"/>
      </p:guideLst>
    </p:cSldViewPr>
  </p:notesViewPr>
  <p:gridSpacing cx="36004" cy="36004"/>
</p:viewPr>
</file>

<file path=ppt/_rels/presentation.xml.rels><?xml version="1.0" encoding="utf-8"?><Relationships xmlns="http://schemas.openxmlformats.org/package/2006/relationships"><Relationship Id="rId4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45" Type="http://schemas.openxmlformats.org/officeDocument/2006/relationships/tags" Target="tags/tag1.xml"/><Relationship Id="rId49" Type="http://schemas.openxmlformats.org/officeDocument/2006/relationships/tableStyles" Target="tableStyles.xml"/><Relationship Id="rId44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46" Type="http://schemas.openxmlformats.org/officeDocument/2006/relationships/presProps" Target="presProps.xml"/><Relationship Id="rId1" Type="http://schemas.openxmlformats.org/officeDocument/2006/relationships/slideMaster" Target="slideMasters/slideMaster1.xml"/>  <Relationship Id="rId50" Type="http://schemas.openxmlformats.org/officeDocument/2006/relationships/slide" Target="slides/slide42.xml"/>
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3316"/>
          </a:xfrm>
          <a:prstGeom prst="rect">
            <a:avLst/>
          </a:prstGeom>
        </p:spPr>
        <p:txBody>
          <a:bodyPr vert="horz" lIns="90756" tIns="45377" rIns="90756" bIns="4537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1" cy="493316"/>
          </a:xfrm>
          <a:prstGeom prst="rect">
            <a:avLst/>
          </a:prstGeom>
        </p:spPr>
        <p:txBody>
          <a:bodyPr vert="horz" lIns="90756" tIns="45377" rIns="90756" bIns="45377" rtlCol="0"/>
          <a:lstStyle>
            <a:lvl1pPr algn="r">
              <a:defRPr sz="1200"/>
            </a:lvl1pPr>
          </a:lstStyle>
          <a:p>
            <a:fld id="{7CC397B6-49B3-423E-AFF4-3B89BA7A12DB}" type="datetimeFigureOut">
              <a:rPr lang="ko-KR" altLang="en-US" smtClean="0"/>
              <a:pPr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7" rIns="90756" bIns="4537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500"/>
            <a:ext cx="5388610" cy="4439841"/>
          </a:xfrm>
          <a:prstGeom prst="rect">
            <a:avLst/>
          </a:prstGeom>
        </p:spPr>
        <p:txBody>
          <a:bodyPr vert="horz" lIns="90756" tIns="45377" rIns="90756" bIns="4537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5"/>
            <a:ext cx="2918831" cy="493316"/>
          </a:xfrm>
          <a:prstGeom prst="rect">
            <a:avLst/>
          </a:prstGeom>
        </p:spPr>
        <p:txBody>
          <a:bodyPr vert="horz" lIns="90756" tIns="45377" rIns="90756" bIns="4537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5"/>
            <a:ext cx="2918831" cy="493316"/>
          </a:xfrm>
          <a:prstGeom prst="rect">
            <a:avLst/>
          </a:prstGeom>
        </p:spPr>
        <p:txBody>
          <a:bodyPr vert="horz" lIns="90756" tIns="45377" rIns="90756" bIns="45377" rtlCol="0" anchor="b"/>
          <a:lstStyle>
            <a:lvl1pPr algn="r">
              <a:defRPr sz="1200"/>
            </a:lvl1pPr>
          </a:lstStyle>
          <a:p>
            <a:fld id="{CDA5F09D-C347-43F5-A420-20947A82FB8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48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"1.0" encoding="UTF-8" standalone="yes"?>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기존 영업포탈에서는 고객 한 분을 등록하고, 보장을 확인하고, 설계하기까지 메뉴 다섯 곳을 오가며 열두 단계를 거쳐야 했습니다. 화면을 옮길 때마다 고객 정보도 다시 넣었습니다. MeAI는 두 화면입니다. MeAI 홈의 [고객 동의]에 휴대폰 번호를 넣으면 사전조회동의 알림톡이 가고, 고객이 동의하면 신규 등록 고객으로 들어옵니다. [맞춤대화]를 누르면 뜨는 고객 검색 창에서 이름으로 고객을 찾아 고릅니다. 맞춤대화가 열리면 "이 고객 보험 어디가 부족한지 알려줘" 한마디(또는 [보장 분석] 버튼)로 보장분석, "암 치료비 중심으로, 월 보험료 5만 원 안에서 설계안 만들어줘"로 설계, 그리고 [요약 리포트]로 고객에게 보낼 리포트까지 만듭니다. 고객 등록부터 리포트까지, 두 화면이면 됩니다. (참고 — 기존 12단계: 고객 등록 3 · 보장 확인 4 · 설계 5, 세일즈혁신TF 영업포탈 현황 진단 기준. 신규 등록 고객의 상세 정보는 다음 날 반영. 설계는 맞춤대화에 요청하는 장면이며 설계안 답 화면은 목업에 없어 넣지 않음.)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36301526"/>
              </p:ext>
            </p:extLst>
          </p:nvPr>
        </p:nvGraphicFramePr>
        <p:xfrm>
          <a:off x="1474" y="1194"/>
          <a:ext cx="1465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804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27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" y="1194"/>
                        <a:ext cx="1465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247653" y="2490741"/>
            <a:ext cx="8642349" cy="553998"/>
          </a:xfrm>
        </p:spPr>
        <p:txBody>
          <a:bodyPr>
            <a:spAutoFit/>
          </a:bodyPr>
          <a:lstStyle>
            <a:lvl1pPr>
              <a:defRPr sz="3600" baseline="0"/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0829" y="3246828"/>
            <a:ext cx="8642349" cy="276999"/>
          </a:xfrm>
        </p:spPr>
        <p:txBody>
          <a:bodyPr lIns="0" tIns="0" rIns="0" bIns="0">
            <a:spAutoFit/>
          </a:bodyPr>
          <a:lstStyle>
            <a:lvl1pPr marL="0" indent="0" algn="l" latinLnBrk="0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err="1"/>
              <a:t>필요시</a:t>
            </a:r>
            <a:r>
              <a:rPr lang="ko-KR" altLang="en-US" dirty="0"/>
              <a:t> 부제목을 입력하세요</a:t>
            </a:r>
          </a:p>
        </p:txBody>
      </p:sp>
      <p:sp>
        <p:nvSpPr>
          <p:cNvPr id="11" name="그림 개체 틀 10"/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9144000" cy="2409824"/>
          </a:xfrm>
        </p:spPr>
        <p:txBody>
          <a:bodyPr/>
          <a:lstStyle>
            <a:lvl1pPr>
              <a:defRPr baseline="0"/>
            </a:lvl1pPr>
          </a:lstStyle>
          <a:p>
            <a:endParaRPr lang="ko-KR" altLang="en-US" dirty="0"/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46609" y="3570687"/>
            <a:ext cx="8645525" cy="246221"/>
          </a:xfrm>
        </p:spPr>
        <p:txBody>
          <a:bodyPr lIns="0" tIns="0" rIns="0" bIns="0">
            <a:spAutoFit/>
          </a:bodyPr>
          <a:lstStyle>
            <a:lvl1pPr marL="0" indent="0" latinLnBrk="0">
              <a:buFontTx/>
              <a:buNone/>
              <a:defRPr sz="1600" baseline="0"/>
            </a:lvl1pPr>
          </a:lstStyle>
          <a:p>
            <a:pPr lvl="0"/>
            <a:r>
              <a:rPr lang="ko-KR" altLang="en-US" dirty="0"/>
              <a:t>작성자 또는 작성 조직</a:t>
            </a:r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5" hasCustomPrompt="1"/>
          </p:nvPr>
        </p:nvSpPr>
        <p:spPr>
          <a:xfrm>
            <a:off x="250830" y="3899255"/>
            <a:ext cx="8642351" cy="246221"/>
          </a:xfrm>
        </p:spPr>
        <p:txBody>
          <a:bodyPr lIns="0" tIns="0" rIns="0" bIns="0">
            <a:spAutoFit/>
          </a:bodyPr>
          <a:lstStyle>
            <a:lvl1pPr marL="0" indent="0" latinLnBrk="0">
              <a:buFontTx/>
              <a:buNone/>
              <a:defRPr sz="1600" baseline="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dirty="0"/>
              <a:t>작성일자</a:t>
            </a:r>
          </a:p>
        </p:txBody>
      </p:sp>
    </p:spTree>
    <p:extLst>
      <p:ext uri="{BB962C8B-B14F-4D97-AF65-F5344CB8AC3E}">
        <p14:creationId xmlns:p14="http://schemas.microsoft.com/office/powerpoint/2010/main" val="683990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0728829"/>
              </p:ext>
            </p:extLst>
          </p:nvPr>
        </p:nvGraphicFramePr>
        <p:xfrm>
          <a:off x="1283" y="1194"/>
          <a:ext cx="128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784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27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" y="1194"/>
                        <a:ext cx="1280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altLang="ko-KR" dirty="0"/>
              <a:t>Main Message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0826" y="1464469"/>
            <a:ext cx="8821739" cy="3375423"/>
          </a:xfrm>
        </p:spPr>
        <p:txBody>
          <a:bodyPr>
            <a:normAutofit/>
          </a:bodyPr>
          <a:lstStyle>
            <a:lvl1pPr>
              <a:defRPr sz="1800" baseline="0"/>
            </a:lvl1pPr>
            <a:lvl2pPr>
              <a:defRPr sz="1800" baseline="0"/>
            </a:lvl2pPr>
            <a:lvl3pPr>
              <a:defRPr sz="1800" baseline="0"/>
            </a:lvl3pPr>
            <a:lvl4pPr>
              <a:defRPr sz="1800" baseline="0"/>
            </a:lvl4pPr>
            <a:lvl5pPr>
              <a:defRPr sz="1800" baseline="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 hasCustomPrompt="1"/>
          </p:nvPr>
        </p:nvSpPr>
        <p:spPr>
          <a:xfrm>
            <a:off x="250830" y="1087044"/>
            <a:ext cx="8642351" cy="377428"/>
          </a:xfrm>
        </p:spPr>
        <p:txBody>
          <a:bodyPr lIns="0" tIns="0" rIns="0" bIns="0">
            <a:noAutofit/>
          </a:bodyPr>
          <a:lstStyle>
            <a:lvl1pPr marL="0" indent="0" latinLnBrk="0">
              <a:spcBef>
                <a:spcPts val="0"/>
              </a:spcBef>
              <a:buFontTx/>
              <a:buNone/>
              <a:defRPr sz="1800" b="1" baseline="0"/>
            </a:lvl1pPr>
            <a:lvl2pPr marL="0" indent="0" latinLnBrk="0">
              <a:spcBef>
                <a:spcPts val="0"/>
              </a:spcBef>
              <a:buFontTx/>
              <a:buNone/>
              <a:defRPr sz="1000" baseline="0">
                <a:solidFill>
                  <a:schemeClr val="bg1">
                    <a:lumMod val="65000"/>
                  </a:schemeClr>
                </a:solidFill>
              </a:defRPr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 altLang="ko-KR" dirty="0"/>
              <a:t>Sub Message</a:t>
            </a:r>
            <a:endParaRPr lang="ko-KR" altLang="en-US" dirty="0"/>
          </a:p>
          <a:p>
            <a:pPr lvl="1"/>
            <a:r>
              <a:rPr lang="en-US" altLang="ko-KR" dirty="0"/>
              <a:t>%, </a:t>
            </a:r>
            <a:r>
              <a:rPr lang="ko-KR" altLang="en-US" dirty="0"/>
              <a:t>억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250830" y="4867005"/>
            <a:ext cx="7129487" cy="248841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 typeface="+mj-lt"/>
              <a:buNone/>
              <a:defRPr sz="900" baseline="0"/>
            </a:lvl1pPr>
            <a:lvl2pPr marL="971550" indent="-514350">
              <a:buFont typeface="+mj-lt"/>
              <a:buAutoNum type="arabicPeriod"/>
              <a:defRPr sz="900"/>
            </a:lvl2pPr>
            <a:lvl3pPr marL="1371600" indent="-457200">
              <a:buFont typeface="+mj-lt"/>
              <a:buAutoNum type="arabicPeriod"/>
              <a:defRPr sz="900"/>
            </a:lvl3pPr>
            <a:lvl4pPr marL="1828800" indent="-457200">
              <a:buFont typeface="+mj-lt"/>
              <a:buAutoNum type="arabicPeriod"/>
              <a:defRPr sz="900"/>
            </a:lvl4pPr>
            <a:lvl5pPr marL="2286000" indent="-457200">
              <a:buFont typeface="+mj-lt"/>
              <a:buAutoNum type="arabicPeriod"/>
              <a:defRPr sz="900"/>
            </a:lvl5pPr>
          </a:lstStyle>
          <a:p>
            <a:pPr lvl="0"/>
            <a:r>
              <a:rPr lang="en-US" altLang="ko-KR" dirty="0"/>
              <a:t>Source :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3093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Mess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34894378"/>
              </p:ext>
            </p:extLst>
          </p:nvPr>
        </p:nvGraphicFramePr>
        <p:xfrm>
          <a:off x="1590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515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Picture 10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192"/>
                        <a:ext cx="1587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431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of Docu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424" y="2267712"/>
            <a:ext cx="4645152" cy="60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7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0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005212"/>
              </p:ext>
            </p:extLst>
          </p:nvPr>
        </p:nvGraphicFramePr>
        <p:xfrm>
          <a:off x="1474" y="1194"/>
          <a:ext cx="1465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849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6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" y="1194"/>
                        <a:ext cx="1465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247653" y="2490741"/>
            <a:ext cx="8642349" cy="553998"/>
          </a:xfrm>
        </p:spPr>
        <p:txBody>
          <a:bodyPr>
            <a:spAutoFit/>
          </a:bodyPr>
          <a:lstStyle>
            <a:lvl1pPr>
              <a:defRPr sz="3600" baseline="0"/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0829" y="3246828"/>
            <a:ext cx="8642349" cy="276999"/>
          </a:xfrm>
        </p:spPr>
        <p:txBody>
          <a:bodyPr lIns="0" tIns="0" rIns="0" bIns="0">
            <a:spAutoFit/>
          </a:bodyPr>
          <a:lstStyle>
            <a:lvl1pPr marL="0" indent="0" algn="l" latinLnBrk="0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err="1"/>
              <a:t>필요시</a:t>
            </a:r>
            <a:r>
              <a:rPr lang="ko-KR" altLang="en-US" dirty="0"/>
              <a:t> 부제목을 입력하세요</a:t>
            </a:r>
          </a:p>
        </p:txBody>
      </p:sp>
      <p:sp>
        <p:nvSpPr>
          <p:cNvPr id="11" name="그림 개체 틀 10"/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9144000" cy="2409824"/>
          </a:xfrm>
        </p:spPr>
        <p:txBody>
          <a:bodyPr/>
          <a:lstStyle>
            <a:lvl1pPr>
              <a:defRPr baseline="0"/>
            </a:lvl1pPr>
          </a:lstStyle>
          <a:p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" y="4407694"/>
            <a:ext cx="2438400" cy="288292"/>
          </a:xfrm>
          <a:prstGeom prst="rect">
            <a:avLst/>
          </a:prstGeom>
        </p:spPr>
      </p:pic>
      <p:sp>
        <p:nvSpPr>
          <p:cNvPr id="14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46609" y="3570687"/>
            <a:ext cx="8645525" cy="246221"/>
          </a:xfrm>
        </p:spPr>
        <p:txBody>
          <a:bodyPr lIns="0" tIns="0" rIns="0" bIns="0">
            <a:spAutoFit/>
          </a:bodyPr>
          <a:lstStyle>
            <a:lvl1pPr marL="0" indent="0" latinLnBrk="0">
              <a:buFontTx/>
              <a:buNone/>
              <a:defRPr sz="1600" baseline="0"/>
            </a:lvl1pPr>
          </a:lstStyle>
          <a:p>
            <a:pPr lvl="0"/>
            <a:r>
              <a:rPr lang="ko-KR" altLang="en-US" dirty="0"/>
              <a:t>작성자 또는 작성 조직</a:t>
            </a:r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5" hasCustomPrompt="1"/>
          </p:nvPr>
        </p:nvSpPr>
        <p:spPr>
          <a:xfrm>
            <a:off x="250830" y="3899255"/>
            <a:ext cx="8642351" cy="246221"/>
          </a:xfrm>
        </p:spPr>
        <p:txBody>
          <a:bodyPr lIns="0" tIns="0" rIns="0" bIns="0">
            <a:spAutoFit/>
          </a:bodyPr>
          <a:lstStyle>
            <a:lvl1pPr marL="0" indent="0" latinLnBrk="0">
              <a:buFontTx/>
              <a:buNone/>
              <a:defRPr sz="1600" baseline="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dirty="0"/>
              <a:t>작성일자</a:t>
            </a:r>
          </a:p>
        </p:txBody>
      </p:sp>
    </p:spTree>
    <p:extLst>
      <p:ext uri="{BB962C8B-B14F-4D97-AF65-F5344CB8AC3E}">
        <p14:creationId xmlns:p14="http://schemas.microsoft.com/office/powerpoint/2010/main" val="47021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08591785"/>
              </p:ext>
            </p:extLst>
          </p:nvPr>
        </p:nvGraphicFramePr>
        <p:xfrm>
          <a:off x="1283" y="1194"/>
          <a:ext cx="128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871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6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" y="1194"/>
                        <a:ext cx="1280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altLang="ko-KR" dirty="0"/>
              <a:t>Main Message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0826" y="1464469"/>
            <a:ext cx="8821739" cy="3375423"/>
          </a:xfrm>
        </p:spPr>
        <p:txBody>
          <a:bodyPr>
            <a:normAutofit/>
          </a:bodyPr>
          <a:lstStyle>
            <a:lvl1pPr>
              <a:defRPr sz="1800" baseline="0"/>
            </a:lvl1pPr>
            <a:lvl2pPr>
              <a:defRPr sz="1800" baseline="0"/>
            </a:lvl2pPr>
            <a:lvl3pPr>
              <a:defRPr sz="1800" baseline="0"/>
            </a:lvl3pPr>
            <a:lvl4pPr>
              <a:defRPr sz="1800" baseline="0"/>
            </a:lvl4pPr>
            <a:lvl5pPr>
              <a:defRPr sz="1800" baseline="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 hasCustomPrompt="1"/>
          </p:nvPr>
        </p:nvSpPr>
        <p:spPr>
          <a:xfrm>
            <a:off x="250830" y="1087044"/>
            <a:ext cx="8642351" cy="377428"/>
          </a:xfrm>
        </p:spPr>
        <p:txBody>
          <a:bodyPr lIns="0" tIns="0" rIns="0" bIns="0">
            <a:noAutofit/>
          </a:bodyPr>
          <a:lstStyle>
            <a:lvl1pPr marL="0" indent="0" latinLnBrk="0">
              <a:spcBef>
                <a:spcPts val="0"/>
              </a:spcBef>
              <a:buFontTx/>
              <a:buNone/>
              <a:defRPr sz="1800" b="1" baseline="0"/>
            </a:lvl1pPr>
            <a:lvl2pPr marL="0" indent="0" latinLnBrk="0">
              <a:spcBef>
                <a:spcPts val="0"/>
              </a:spcBef>
              <a:buFontTx/>
              <a:buNone/>
              <a:defRPr sz="1000" baseline="0">
                <a:solidFill>
                  <a:schemeClr val="bg1">
                    <a:lumMod val="65000"/>
                  </a:schemeClr>
                </a:solidFill>
              </a:defRPr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 altLang="ko-KR" dirty="0"/>
              <a:t>Sub Message</a:t>
            </a:r>
            <a:endParaRPr lang="ko-KR" altLang="en-US" dirty="0"/>
          </a:p>
          <a:p>
            <a:pPr lvl="1"/>
            <a:r>
              <a:rPr lang="en-US" altLang="ko-KR" dirty="0"/>
              <a:t>%, </a:t>
            </a:r>
            <a:r>
              <a:rPr lang="ko-KR" altLang="en-US" dirty="0"/>
              <a:t>억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250830" y="4867005"/>
            <a:ext cx="7129487" cy="248841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 typeface="+mj-lt"/>
              <a:buNone/>
              <a:defRPr sz="900" baseline="0"/>
            </a:lvl1pPr>
            <a:lvl2pPr marL="971550" indent="-514350">
              <a:buFont typeface="+mj-lt"/>
              <a:buAutoNum type="arabicPeriod"/>
              <a:defRPr sz="900"/>
            </a:lvl2pPr>
            <a:lvl3pPr marL="1371600" indent="-457200">
              <a:buFont typeface="+mj-lt"/>
              <a:buAutoNum type="arabicPeriod"/>
              <a:defRPr sz="900"/>
            </a:lvl3pPr>
            <a:lvl4pPr marL="1828800" indent="-457200">
              <a:buFont typeface="+mj-lt"/>
              <a:buAutoNum type="arabicPeriod"/>
              <a:defRPr sz="900"/>
            </a:lvl4pPr>
            <a:lvl5pPr marL="2286000" indent="-457200">
              <a:buFont typeface="+mj-lt"/>
              <a:buAutoNum type="arabicPeriod"/>
              <a:defRPr sz="900"/>
            </a:lvl5pPr>
          </a:lstStyle>
          <a:p>
            <a:pPr lvl="0"/>
            <a:r>
              <a:rPr lang="en-US" altLang="ko-KR" dirty="0"/>
              <a:t>Source :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5935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Mess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17093631"/>
              </p:ext>
            </p:extLst>
          </p:nvPr>
        </p:nvGraphicFramePr>
        <p:xfrm>
          <a:off x="1590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009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Picture 6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192"/>
                        <a:ext cx="1587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915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of Docu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424" y="2267712"/>
            <a:ext cx="4645152" cy="70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4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slideLayout" Target="../slideLayouts/slideLayout8.xml"/><Relationship Id="rId7" Type="http://schemas.openxmlformats.org/officeDocument/2006/relationships/tags" Target="../tags/tag6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vmlDrawing" Target="../drawings/vmlDrawing5.v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078138024"/>
              </p:ext>
            </p:extLst>
          </p:nvPr>
        </p:nvGraphicFramePr>
        <p:xfrm>
          <a:off x="1474" y="1194"/>
          <a:ext cx="1465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2658" name="think-cell Slide" r:id="rId9" imgW="360" imgH="360" progId="TCLayout.ActiveDocument.1">
                  <p:embed/>
                </p:oleObj>
              </mc:Choice>
              <mc:Fallback>
                <p:oleObj name="think-cell Slide" r:id="rId9" imgW="360" imgH="360" progId="TCLayout.ActiveDocument.1">
                  <p:embed/>
                  <p:pic>
                    <p:nvPicPr>
                      <p:cNvPr id="0" name="Picture 29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" y="1194"/>
                        <a:ext cx="1465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50830" y="87680"/>
            <a:ext cx="8642351" cy="32383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ko-KR" dirty="0"/>
              <a:t>Main Message – </a:t>
            </a:r>
            <a:r>
              <a:rPr lang="ko-KR" altLang="en-US" dirty="0"/>
              <a:t>최대한 </a:t>
            </a:r>
            <a:r>
              <a:rPr lang="en-US" altLang="ko-KR" dirty="0"/>
              <a:t>2</a:t>
            </a:r>
            <a:r>
              <a:rPr lang="ko-KR" altLang="en-US" dirty="0"/>
              <a:t>줄을 넘기지 않습니다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0829" y="1221584"/>
            <a:ext cx="8642349" cy="3671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9312" y="5005251"/>
            <a:ext cx="265176" cy="7094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fld id="{6CE8C368-3382-4C28-AE75-DF7C05ACA19D}" type="slidenum">
              <a:rPr lang="en-US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6780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5" r:id="rId3"/>
    <p:sldLayoutId id="2147483666" r:id="rId4"/>
    <p:sldLayoutId id="2147483727" r:id="rId5"/>
  </p:sldLayoutIdLst>
  <p:hf hdr="0" ftr="0" dt="0"/>
  <p:txStyles>
    <p:titleStyle>
      <a:lvl1pPr algn="l" defTabSz="914400" rtl="0" eaLnBrk="0" latinLnBrk="0" hangingPunct="0">
        <a:spcBef>
          <a:spcPts val="600"/>
        </a:spcBef>
        <a:buNone/>
        <a:defRPr sz="2800" b="1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Arial" pitchFamily="34" charset="0"/>
        </a:defRPr>
      </a:lvl1pPr>
    </p:titleStyle>
    <p:bodyStyle>
      <a:lvl1pPr marL="273050" indent="-273050" algn="l" defTabSz="914400" rtl="0" eaLnBrk="0" latinLnBrk="0" hangingPunct="0">
        <a:spcBef>
          <a:spcPts val="600"/>
        </a:spcBef>
        <a:buClr>
          <a:srgbClr val="9B1717"/>
        </a:buClr>
        <a:buSzPct val="100000"/>
        <a:buFont typeface="Wingdings" pitchFamily="2" charset="2"/>
        <a:buChar char="§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1pPr>
      <a:lvl2pPr marL="742950" indent="-285750" algn="l" defTabSz="914400" rtl="0" eaLnBrk="0" latinLnBrk="0" hangingPunct="0">
        <a:spcBef>
          <a:spcPts val="600"/>
        </a:spcBef>
        <a:buFont typeface="Arial" pitchFamily="34" charset="0"/>
        <a:buChar char="–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2pPr>
      <a:lvl3pPr marL="1143000" indent="-228600" algn="l" defTabSz="914400" rtl="0" eaLnBrk="0" latinLnBrk="0" hangingPunct="0">
        <a:spcBef>
          <a:spcPts val="6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3pPr>
      <a:lvl4pPr marL="1600200" indent="-228600" algn="l" defTabSz="914400" rtl="0" eaLnBrk="0" latinLnBrk="0" hangingPunct="0">
        <a:spcBef>
          <a:spcPts val="600"/>
        </a:spcBef>
        <a:buFont typeface="Arial" pitchFamily="34" charset="0"/>
        <a:buChar char="–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4pPr>
      <a:lvl5pPr marL="2057400" indent="-228600" algn="l" defTabSz="914400" rtl="0" eaLnBrk="0" latinLnBrk="0" hangingPunct="0">
        <a:spcBef>
          <a:spcPts val="600"/>
        </a:spcBef>
        <a:buFont typeface="Arial" pitchFamily="34" charset="0"/>
        <a:buChar char="»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009213783"/>
              </p:ext>
            </p:extLst>
          </p:nvPr>
        </p:nvGraphicFramePr>
        <p:xfrm>
          <a:off x="1474" y="1194"/>
          <a:ext cx="1465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672" name="think-cell Slide" r:id="rId8" imgW="360" imgH="360" progId="TCLayout.ActiveDocument.1">
                  <p:embed/>
                </p:oleObj>
              </mc:Choice>
              <mc:Fallback>
                <p:oleObj name="think-cell Slide" r:id="rId8" imgW="360" imgH="360" progId="TCLayout.ActiveDocument.1">
                  <p:embed/>
                  <p:pic>
                    <p:nvPicPr>
                      <p:cNvPr id="0" name="Picture 8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" y="1194"/>
                        <a:ext cx="1465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50830" y="87680"/>
            <a:ext cx="8642351" cy="32383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ko-KR" dirty="0"/>
              <a:t>Main Message – </a:t>
            </a:r>
            <a:r>
              <a:rPr lang="ko-KR" altLang="en-US" dirty="0"/>
              <a:t>최대한 </a:t>
            </a:r>
            <a:r>
              <a:rPr lang="en-US" altLang="ko-KR" dirty="0"/>
              <a:t>2</a:t>
            </a:r>
            <a:r>
              <a:rPr lang="ko-KR" altLang="en-US" dirty="0"/>
              <a:t>줄을 넘기지 않습니다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0829" y="1221584"/>
            <a:ext cx="8642349" cy="3671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748871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</p:sldLayoutIdLst>
  <p:hf hdr="0" ftr="0" dt="0"/>
  <p:txStyles>
    <p:titleStyle>
      <a:lvl1pPr algn="l" defTabSz="914400" rtl="0" eaLnBrk="0" latinLnBrk="0" hangingPunct="0">
        <a:spcBef>
          <a:spcPts val="600"/>
        </a:spcBef>
        <a:buNone/>
        <a:defRPr sz="2800" b="1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Arial" pitchFamily="34" charset="0"/>
        </a:defRPr>
      </a:lvl1pPr>
    </p:titleStyle>
    <p:bodyStyle>
      <a:lvl1pPr marL="273050" indent="-273050" algn="l" defTabSz="914400" rtl="0" eaLnBrk="0" latinLnBrk="0" hangingPunct="0">
        <a:spcBef>
          <a:spcPts val="600"/>
        </a:spcBef>
        <a:buClr>
          <a:srgbClr val="9B1717"/>
        </a:buClr>
        <a:buSzPct val="100000"/>
        <a:buFont typeface="Wingdings" pitchFamily="2" charset="2"/>
        <a:buChar char="§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1pPr>
      <a:lvl2pPr marL="742950" indent="-285750" algn="l" defTabSz="914400" rtl="0" eaLnBrk="0" latinLnBrk="0" hangingPunct="0">
        <a:spcBef>
          <a:spcPts val="600"/>
        </a:spcBef>
        <a:buFont typeface="Arial" pitchFamily="34" charset="0"/>
        <a:buChar char="–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2pPr>
      <a:lvl3pPr marL="1143000" indent="-228600" algn="l" defTabSz="914400" rtl="0" eaLnBrk="0" latinLnBrk="0" hangingPunct="0">
        <a:spcBef>
          <a:spcPts val="6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3pPr>
      <a:lvl4pPr marL="1600200" indent="-228600" algn="l" defTabSz="914400" rtl="0" eaLnBrk="0" latinLnBrk="0" hangingPunct="0">
        <a:spcBef>
          <a:spcPts val="600"/>
        </a:spcBef>
        <a:buFont typeface="Arial" pitchFamily="34" charset="0"/>
        <a:buChar char="–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4pPr>
      <a:lvl5pPr marL="2057400" indent="-228600" algn="l" defTabSz="914400" rtl="0" eaLnBrk="0" latinLnBrk="0" hangingPunct="0">
        <a:spcBef>
          <a:spcPts val="600"/>
        </a:spcBef>
        <a:buFont typeface="Arial" pitchFamily="34" charset="0"/>
        <a:buChar char="»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image" Target="../media/dream_meai_1_1-1.png"/><Relationship Id="rId2" Type="http://schemas.openxmlformats.org/officeDocument/2006/relationships/image" Target="../media/dream_meai_1_1-2.png"/><Relationship Id="rId3" Type="http://schemas.openxmlformats.org/officeDocument/2006/relationships/image" Target="../media/dream_meai_1_1-3.png"/><Relationship Id="rId4" Type="http://schemas.openxmlformats.org/officeDocument/2006/relationships/image" Target="../media/dream_meai_1_1-4.png"/><Relationship Id="rId5" Type="http://schemas.openxmlformats.org/officeDocument/2006/relationships/image" Target="../media/dream_meai_1_1-5.png"/><Relationship Id="rId6" Type="http://schemas.openxmlformats.org/officeDocument/2006/relationships/image" Target="../media/dream_meai_1_1-6.png"/><Relationship Id="rId7" Type="http://schemas.openxmlformats.org/officeDocument/2006/relationships/image" Target="../media/dream_meai_1_1-7.png"/><Relationship Id="rId8" Type="http://schemas.openxmlformats.org/officeDocument/2006/relationships/image" Target="../media/dream_meai_1_1-8.png"/><Relationship Id="rId9" Type="http://schemas.openxmlformats.org/officeDocument/2006/relationships/image" Target="../media/dream_meai_1_1-9.png"/><Relationship Id="rId10" Type="http://schemas.openxmlformats.org/officeDocument/2006/relationships/image" Target="../media/dream_meai_1_1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6.xml"/></Relationships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ko-KR" altLang="en-US" dirty="0"/>
              <a:t>고객 등록부터 리포트까지, MeAI 두 화면으로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274320" y="7680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영업포탈</a:t>
            </a:r>
            <a:endParaRPr lang="ko-KR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731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2800" b="1" dirty="0">
                <a:solidFill>
                  <a:srgbClr val="A6A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12단계</a:t>
            </a:r>
            <a:endParaRPr lang="ko-KR" sz="2800" dirty="0"/>
          </a:p>
        </p:txBody>
      </p:sp>
      <p:pic>
        <p:nvPicPr>
          <p:cNvPr id="5" name="Image 0" descr="기존 영업포탈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40000">
            <a:off x="274320" y="1298448"/>
            <a:ext cx="1965960" cy="1548174"/>
          </a:xfrm>
          <a:prstGeom prst="rect">
            <a:avLst/>
          </a:prstGeom>
        </p:spPr>
      </p:pic>
      <p:pic>
        <p:nvPicPr>
          <p:cNvPr id="6" name="Image 1" descr="기존 영업포탈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">
            <a:off x="1353312" y="1216152"/>
            <a:ext cx="1965960" cy="1548174"/>
          </a:xfrm>
          <a:prstGeom prst="rect">
            <a:avLst/>
          </a:prstGeom>
        </p:spPr>
      </p:pic>
      <p:pic>
        <p:nvPicPr>
          <p:cNvPr id="7" name="Image 2" descr="기존 영업포탈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80000">
            <a:off x="2395728" y="1371600"/>
            <a:ext cx="1938528" cy="1526571"/>
          </a:xfrm>
          <a:prstGeom prst="rect">
            <a:avLst/>
          </a:prstGeom>
        </p:spPr>
      </p:pic>
      <p:pic>
        <p:nvPicPr>
          <p:cNvPr id="8" name="Image 3" descr="기존 영업포탈 화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">
            <a:off x="566928" y="2331720"/>
            <a:ext cx="1965960" cy="1416089"/>
          </a:xfrm>
          <a:prstGeom prst="rect">
            <a:avLst/>
          </a:prstGeom>
        </p:spPr>
      </p:pic>
      <p:pic>
        <p:nvPicPr>
          <p:cNvPr id="9" name="Image 4" descr="기존 영업포탈 화면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2029968" y="2377440"/>
            <a:ext cx="1965960" cy="1416089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566928" y="1645920"/>
            <a:ext cx="91440" cy="566928"/>
          </a:xfrm>
          <a:prstGeom prst="line">
            <a:avLst/>
          </a:prstGeom>
          <a:noFill/>
          <a:ln w="28575">
            <a:solidFill>
              <a:srgbClr val="D9D9D9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 flipV="1">
            <a:off x="658368" y="1920240"/>
            <a:ext cx="365760" cy="292608"/>
          </a:xfrm>
          <a:prstGeom prst="line">
            <a:avLst/>
          </a:prstGeom>
          <a:noFill/>
          <a:ln w="28575">
            <a:solidFill>
              <a:srgbClr val="D9D9D9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 flipV="1">
            <a:off x="1024128" y="1554480"/>
            <a:ext cx="676656" cy="365760"/>
          </a:xfrm>
          <a:prstGeom prst="line">
            <a:avLst/>
          </a:prstGeom>
          <a:noFill/>
          <a:ln w="28575">
            <a:solidFill>
              <a:srgbClr val="D9D9D9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700784" y="1554480"/>
            <a:ext cx="475488" cy="274320"/>
          </a:xfrm>
          <a:prstGeom prst="line">
            <a:avLst/>
          </a:prstGeom>
          <a:noFill/>
          <a:ln w="28575">
            <a:solidFill>
              <a:srgbClr val="D9D9D9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 flipV="1">
            <a:off x="2176272" y="1627632"/>
            <a:ext cx="640080" cy="201168"/>
          </a:xfrm>
          <a:prstGeom prst="line">
            <a:avLst/>
          </a:prstGeom>
          <a:noFill/>
          <a:ln w="28575">
            <a:solidFill>
              <a:srgbClr val="D9D9D9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2816352" y="1627632"/>
            <a:ext cx="713232" cy="274320"/>
          </a:xfrm>
          <a:prstGeom prst="line">
            <a:avLst/>
          </a:prstGeom>
          <a:noFill/>
          <a:ln w="28575">
            <a:solidFill>
              <a:srgbClr val="D9D9D9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 flipV="1">
            <a:off x="960120" y="1901952"/>
            <a:ext cx="2569464" cy="841248"/>
          </a:xfrm>
          <a:prstGeom prst="line">
            <a:avLst/>
          </a:prstGeom>
          <a:noFill/>
          <a:ln w="28575">
            <a:solidFill>
              <a:srgbClr val="D9D9D9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960120" y="2743200"/>
            <a:ext cx="521208" cy="329184"/>
          </a:xfrm>
          <a:prstGeom prst="line">
            <a:avLst/>
          </a:prstGeom>
          <a:noFill/>
          <a:ln w="28575">
            <a:solidFill>
              <a:srgbClr val="D9D9D9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 flipV="1">
            <a:off x="1481328" y="2743200"/>
            <a:ext cx="822960" cy="329184"/>
          </a:xfrm>
          <a:prstGeom prst="line">
            <a:avLst/>
          </a:prstGeom>
          <a:noFill/>
          <a:ln w="28575">
            <a:solidFill>
              <a:srgbClr val="D9D9D9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2304288" y="2743200"/>
            <a:ext cx="640080" cy="365760"/>
          </a:xfrm>
          <a:prstGeom prst="line">
            <a:avLst/>
          </a:prstGeom>
          <a:noFill/>
          <a:ln w="28575">
            <a:solidFill>
              <a:srgbClr val="D9D9D9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 flipV="1">
            <a:off x="2944368" y="2816352"/>
            <a:ext cx="676656" cy="292608"/>
          </a:xfrm>
          <a:prstGeom prst="line">
            <a:avLst/>
          </a:prstGeom>
          <a:noFill/>
          <a:ln w="28575">
            <a:solidFill>
              <a:srgbClr val="D9D9D9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429768" y="1508760"/>
            <a:ext cx="274320" cy="27432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429768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ko-KR" sz="1000" dirty="0"/>
          </a:p>
        </p:txBody>
      </p:sp>
      <p:sp>
        <p:nvSpPr>
          <p:cNvPr id="23" name="Shape 16"/>
          <p:cNvSpPr/>
          <p:nvPr/>
        </p:nvSpPr>
        <p:spPr>
          <a:xfrm>
            <a:off x="521208" y="2075688"/>
            <a:ext cx="274320" cy="27432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21208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ko-KR" sz="1000" dirty="0"/>
          </a:p>
        </p:txBody>
      </p:sp>
      <p:sp>
        <p:nvSpPr>
          <p:cNvPr id="25" name="Shape 18"/>
          <p:cNvSpPr/>
          <p:nvPr/>
        </p:nvSpPr>
        <p:spPr>
          <a:xfrm>
            <a:off x="886968" y="1783080"/>
            <a:ext cx="274320" cy="27432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86968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ko-KR" sz="1000" dirty="0"/>
          </a:p>
        </p:txBody>
      </p:sp>
      <p:sp>
        <p:nvSpPr>
          <p:cNvPr id="27" name="Shape 20"/>
          <p:cNvSpPr/>
          <p:nvPr/>
        </p:nvSpPr>
        <p:spPr>
          <a:xfrm>
            <a:off x="1563624" y="1417320"/>
            <a:ext cx="274320" cy="27432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563624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ko-KR" sz="1000" dirty="0"/>
          </a:p>
        </p:txBody>
      </p:sp>
      <p:sp>
        <p:nvSpPr>
          <p:cNvPr id="29" name="Shape 22"/>
          <p:cNvSpPr/>
          <p:nvPr/>
        </p:nvSpPr>
        <p:spPr>
          <a:xfrm>
            <a:off x="2039112" y="1691640"/>
            <a:ext cx="274320" cy="27432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2039112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ko-KR" sz="1000" dirty="0"/>
          </a:p>
        </p:txBody>
      </p:sp>
      <p:sp>
        <p:nvSpPr>
          <p:cNvPr id="31" name="Shape 24"/>
          <p:cNvSpPr/>
          <p:nvPr/>
        </p:nvSpPr>
        <p:spPr>
          <a:xfrm>
            <a:off x="2679192" y="1490472"/>
            <a:ext cx="274320" cy="27432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2679192" y="1490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ko-KR" sz="1000" dirty="0"/>
          </a:p>
        </p:txBody>
      </p:sp>
      <p:sp>
        <p:nvSpPr>
          <p:cNvPr id="33" name="Shape 26"/>
          <p:cNvSpPr/>
          <p:nvPr/>
        </p:nvSpPr>
        <p:spPr>
          <a:xfrm>
            <a:off x="3392424" y="1764792"/>
            <a:ext cx="274320" cy="27432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3392424" y="1764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ko-KR" sz="1000" dirty="0"/>
          </a:p>
        </p:txBody>
      </p:sp>
      <p:sp>
        <p:nvSpPr>
          <p:cNvPr id="35" name="Shape 28"/>
          <p:cNvSpPr/>
          <p:nvPr/>
        </p:nvSpPr>
        <p:spPr>
          <a:xfrm>
            <a:off x="822960" y="2606040"/>
            <a:ext cx="274320" cy="27432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82296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ko-KR" sz="1000" dirty="0"/>
          </a:p>
        </p:txBody>
      </p:sp>
      <p:sp>
        <p:nvSpPr>
          <p:cNvPr id="37" name="Shape 30"/>
          <p:cNvSpPr/>
          <p:nvPr/>
        </p:nvSpPr>
        <p:spPr>
          <a:xfrm>
            <a:off x="1344168" y="2935224"/>
            <a:ext cx="274320" cy="27432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1344168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ko-KR" sz="1000" dirty="0"/>
          </a:p>
        </p:txBody>
      </p:sp>
      <p:sp>
        <p:nvSpPr>
          <p:cNvPr id="39" name="Shape 32"/>
          <p:cNvSpPr/>
          <p:nvPr/>
        </p:nvSpPr>
        <p:spPr>
          <a:xfrm>
            <a:off x="2167128" y="2606040"/>
            <a:ext cx="274320" cy="27432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2167128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ko-KR" sz="1000" dirty="0"/>
          </a:p>
        </p:txBody>
      </p:sp>
      <p:sp>
        <p:nvSpPr>
          <p:cNvPr id="41" name="Shape 34"/>
          <p:cNvSpPr/>
          <p:nvPr/>
        </p:nvSpPr>
        <p:spPr>
          <a:xfrm>
            <a:off x="2807208" y="2971800"/>
            <a:ext cx="274320" cy="27432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2807208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ko-KR" sz="1000" dirty="0"/>
          </a:p>
        </p:txBody>
      </p:sp>
      <p:sp>
        <p:nvSpPr>
          <p:cNvPr id="43" name="Shape 36"/>
          <p:cNvSpPr/>
          <p:nvPr/>
        </p:nvSpPr>
        <p:spPr>
          <a:xfrm>
            <a:off x="3483864" y="2679192"/>
            <a:ext cx="274320" cy="27432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3483864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274320" y="42245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5곳을 오가며 · 고객정보 다시 입력</a:t>
            </a:r>
            <a:endParaRPr lang="ko-KR" sz="1400" dirty="0"/>
          </a:p>
        </p:txBody>
      </p:sp>
      <p:sp>
        <p:nvSpPr>
          <p:cNvPr id="46" name="Shape 39"/>
          <p:cNvSpPr/>
          <p:nvPr/>
        </p:nvSpPr>
        <p:spPr>
          <a:xfrm>
            <a:off x="4215384" y="2935224"/>
            <a:ext cx="347472" cy="347472"/>
          </a:xfrm>
          <a:prstGeom prst="ellipse">
            <a:avLst/>
          </a:prstGeom>
          <a:solidFill>
            <a:srgbClr val="FFC00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4215384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ko-KR" sz="2200" dirty="0"/>
          </a:p>
        </p:txBody>
      </p:sp>
      <p:pic>
        <p:nvPicPr>
          <p:cNvPr id="48" name="Image 5" descr="배경 빛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393192"/>
            <a:ext cx="6126480" cy="4561713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4617720" y="7680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MeAI</a:t>
            </a:r>
            <a:endParaRPr lang="en-US" sz="1600" dirty="0"/>
          </a:p>
        </p:txBody>
      </p:sp>
      <p:sp>
        <p:nvSpPr>
          <p:cNvPr id="50" name="Text 42"/>
          <p:cNvSpPr txBox="1"/>
          <p:nvPr/>
        </p:nvSpPr>
        <p:spPr>
          <a:xfrm>
            <a:off x="6492240" y="731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2800" b="1" dirty="0">
                <a:solidFill>
                  <a:srgbClr val="FFC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화면</a:t>
            </a:r>
            <a:endParaRPr lang="ko-KR" sz="2800" dirty="0"/>
          </a:p>
        </p:txBody>
      </p:sp>
      <p:pic>
        <p:nvPicPr>
          <p:cNvPr id="51" name="Image 6" descr="MeAI 홈 화면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1216152"/>
            <a:ext cx="2880360" cy="1784838"/>
          </a:xfrm>
          <a:prstGeom prst="rect">
            <a:avLst/>
          </a:prstGeom>
        </p:spPr>
      </p:pic>
      <p:sp>
        <p:nvSpPr>
          <p:cNvPr id="52" name="Shape 43"/>
          <p:cNvSpPr/>
          <p:nvPr/>
        </p:nvSpPr>
        <p:spPr>
          <a:xfrm>
            <a:off x="4617720" y="1216152"/>
            <a:ext cx="2880360" cy="1784838"/>
          </a:xfrm>
          <a:prstGeom prst="roundRect">
            <a:avLst>
              <a:gd name="adj" fmla="val 3074"/>
            </a:avLst>
          </a:prstGeom>
          <a:ln w="12700">
            <a:solidFill>
              <a:srgbClr val="FFC000">
                <a:alpha val="70000"/>
              </a:srgbClr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6048932" y="1679858"/>
            <a:ext cx="1413803" cy="376135"/>
          </a:xfrm>
          <a:prstGeom prst="roundRect">
            <a:avLst>
              <a:gd name="adj" fmla="val 9724"/>
            </a:avLst>
          </a:prstGeom>
          <a:ln w="25400">
            <a:solidFill>
              <a:srgbClr val="FFC000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7462735" y="1867926"/>
            <a:ext cx="154217" cy="212334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</p:sp>
      <p:pic>
        <p:nvPicPr>
          <p:cNvPr id="55" name="Image 7" descr="고객 검색 창(이름으로 찾기)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1929384"/>
            <a:ext cx="1207008" cy="301752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7616952" y="1929384"/>
            <a:ext cx="1207008" cy="301752"/>
          </a:xfrm>
          <a:prstGeom prst="roundRect">
            <a:avLst>
              <a:gd name="adj" fmla="val 15152"/>
            </a:avLst>
          </a:prstGeom>
          <a:ln w="15875">
            <a:solidFill>
              <a:srgbClr val="FFC000"/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8220456" y="2240280"/>
            <a:ext cx="914" cy="82296"/>
          </a:xfrm>
          <a:prstGeom prst="line">
            <a:avLst/>
          </a:prstGeom>
          <a:noFill/>
          <a:ln w="31750">
            <a:solidFill>
              <a:srgbClr val="FFC000"/>
            </a:solidFill>
            <a:prstDash val="solid"/>
            <a:tailEnd type="triangle"/>
          </a:ln>
        </p:spPr>
      </p:sp>
      <p:pic>
        <p:nvPicPr>
          <p:cNvPr id="58" name="Image 8" descr="MeAI 맞춤대화 화면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9320" y="2331720"/>
            <a:ext cx="2880360" cy="1800225"/>
          </a:xfrm>
          <a:prstGeom prst="rect">
            <a:avLst/>
          </a:prstGeom>
        </p:spPr>
      </p:pic>
      <p:sp>
        <p:nvSpPr>
          <p:cNvPr id="59" name="Shape 48"/>
          <p:cNvSpPr/>
          <p:nvPr/>
        </p:nvSpPr>
        <p:spPr>
          <a:xfrm>
            <a:off x="5989320" y="2331720"/>
            <a:ext cx="2880360" cy="1800225"/>
          </a:xfrm>
          <a:prstGeom prst="roundRect">
            <a:avLst>
              <a:gd name="adj" fmla="val 3048"/>
            </a:avLst>
          </a:prstGeom>
          <a:ln w="19050">
            <a:solidFill>
              <a:srgbClr val="FFC000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6918491" y="1260641"/>
            <a:ext cx="291377" cy="110431"/>
          </a:xfrm>
          <a:prstGeom prst="roundRect">
            <a:avLst>
              <a:gd name="adj" fmla="val 24841"/>
            </a:avLst>
          </a:prstGeom>
          <a:ln w="22225">
            <a:solidFill>
              <a:srgbClr val="FFC000"/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7209868" y="1315857"/>
            <a:ext cx="407084" cy="156327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</p:sp>
      <p:pic>
        <p:nvPicPr>
          <p:cNvPr id="62" name="Image 9" descr="고객 동의 창(휴대폰번호 입력)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6952" y="1243584"/>
            <a:ext cx="1207008" cy="608533"/>
          </a:xfrm>
          <a:prstGeom prst="rect">
            <a:avLst/>
          </a:prstGeom>
        </p:spPr>
      </p:pic>
      <p:sp>
        <p:nvSpPr>
          <p:cNvPr id="63" name="Shape 51"/>
          <p:cNvSpPr/>
          <p:nvPr/>
        </p:nvSpPr>
        <p:spPr>
          <a:xfrm>
            <a:off x="7616952" y="1243584"/>
            <a:ext cx="1207008" cy="608533"/>
          </a:xfrm>
          <a:prstGeom prst="roundRect">
            <a:avLst>
              <a:gd name="adj" fmla="val 9016"/>
            </a:avLst>
          </a:prstGeom>
          <a:ln w="15875">
            <a:solidFill>
              <a:srgbClr val="FFC000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7397496" y="1170432"/>
            <a:ext cx="274320" cy="2743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5" name="Text 53"/>
          <p:cNvSpPr txBox="1"/>
          <p:nvPr/>
        </p:nvSpPr>
        <p:spPr>
          <a:xfrm>
            <a:off x="7397496" y="1170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200" dirty="0"/>
          </a:p>
        </p:txBody>
      </p:sp>
      <p:sp>
        <p:nvSpPr>
          <p:cNvPr id="66" name="Shape 54"/>
          <p:cNvSpPr/>
          <p:nvPr/>
        </p:nvSpPr>
        <p:spPr>
          <a:xfrm>
            <a:off x="7397496" y="1847088"/>
            <a:ext cx="274320" cy="2743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7" name="Text 55"/>
          <p:cNvSpPr txBox="1"/>
          <p:nvPr/>
        </p:nvSpPr>
        <p:spPr>
          <a:xfrm>
            <a:off x="7397496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200" dirty="0"/>
          </a:p>
        </p:txBody>
      </p:sp>
      <p:sp>
        <p:nvSpPr>
          <p:cNvPr id="68" name="Shape 56"/>
          <p:cNvSpPr/>
          <p:nvPr/>
        </p:nvSpPr>
        <p:spPr>
          <a:xfrm>
            <a:off x="6677835" y="2834640"/>
            <a:ext cx="274320" cy="2743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9" name="Text 57"/>
          <p:cNvSpPr txBox="1"/>
          <p:nvPr/>
        </p:nvSpPr>
        <p:spPr>
          <a:xfrm>
            <a:off x="6677835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200" dirty="0"/>
          </a:p>
        </p:txBody>
      </p:sp>
      <p:sp>
        <p:nvSpPr>
          <p:cNvPr id="70" name="Shape 58"/>
          <p:cNvSpPr/>
          <p:nvPr/>
        </p:nvSpPr>
        <p:spPr>
          <a:xfrm>
            <a:off x="6677835" y="3791760"/>
            <a:ext cx="274320" cy="2743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1" name="Text 59"/>
          <p:cNvSpPr txBox="1"/>
          <p:nvPr/>
        </p:nvSpPr>
        <p:spPr>
          <a:xfrm>
            <a:off x="6677835" y="379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200" dirty="0"/>
          </a:p>
        </p:txBody>
      </p:sp>
      <p:sp>
        <p:nvSpPr>
          <p:cNvPr id="72" name="Shape 60"/>
          <p:cNvSpPr/>
          <p:nvPr/>
        </p:nvSpPr>
        <p:spPr>
          <a:xfrm>
            <a:off x="8584501" y="2434019"/>
            <a:ext cx="274320" cy="2743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3" name="Text 61"/>
          <p:cNvSpPr txBox="1"/>
          <p:nvPr/>
        </p:nvSpPr>
        <p:spPr>
          <a:xfrm>
            <a:off x="8584501" y="24340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200" dirty="0"/>
          </a:p>
        </p:txBody>
      </p:sp>
      <p:sp>
        <p:nvSpPr>
          <p:cNvPr id="74" name="Shape 62"/>
          <p:cNvSpPr/>
          <p:nvPr/>
        </p:nvSpPr>
        <p:spPr>
          <a:xfrm>
            <a:off x="4636008" y="3159252"/>
            <a:ext cx="173736" cy="17373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5" name="Text 63"/>
          <p:cNvSpPr txBox="1"/>
          <p:nvPr/>
        </p:nvSpPr>
        <p:spPr>
          <a:xfrm>
            <a:off x="4636008" y="315925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900" dirty="0"/>
          </a:p>
        </p:txBody>
      </p:sp>
      <p:sp>
        <p:nvSpPr>
          <p:cNvPr id="76" name="Text 64"/>
          <p:cNvSpPr txBox="1"/>
          <p:nvPr/>
        </p:nvSpPr>
        <p:spPr>
          <a:xfrm>
            <a:off x="4855464" y="314553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등록</a:t>
            </a:r>
            <a:endParaRPr lang="ko-KR" sz="1200" dirty="0"/>
          </a:p>
        </p:txBody>
      </p:sp>
      <p:sp>
        <p:nvSpPr>
          <p:cNvPr id="77" name="Shape 65"/>
          <p:cNvSpPr/>
          <p:nvPr/>
        </p:nvSpPr>
        <p:spPr>
          <a:xfrm>
            <a:off x="4636008" y="3355848"/>
            <a:ext cx="173736" cy="17373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8" name="Text 66"/>
          <p:cNvSpPr txBox="1"/>
          <p:nvPr/>
        </p:nvSpPr>
        <p:spPr>
          <a:xfrm>
            <a:off x="4636008" y="335584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900" dirty="0"/>
          </a:p>
        </p:txBody>
      </p:sp>
      <p:sp>
        <p:nvSpPr>
          <p:cNvPr id="79" name="Text 67"/>
          <p:cNvSpPr txBox="1"/>
          <p:nvPr/>
        </p:nvSpPr>
        <p:spPr>
          <a:xfrm>
            <a:off x="4855464" y="33421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조회</a:t>
            </a:r>
            <a:endParaRPr lang="ko-KR" sz="1200" dirty="0"/>
          </a:p>
        </p:txBody>
      </p:sp>
      <p:sp>
        <p:nvSpPr>
          <p:cNvPr id="80" name="Shape 68"/>
          <p:cNvSpPr/>
          <p:nvPr/>
        </p:nvSpPr>
        <p:spPr>
          <a:xfrm>
            <a:off x="4636008" y="3552444"/>
            <a:ext cx="173736" cy="17373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81" name="Text 69"/>
          <p:cNvSpPr txBox="1"/>
          <p:nvPr/>
        </p:nvSpPr>
        <p:spPr>
          <a:xfrm>
            <a:off x="4636008" y="3552444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900" dirty="0"/>
          </a:p>
        </p:txBody>
      </p:sp>
      <p:sp>
        <p:nvSpPr>
          <p:cNvPr id="82" name="Text 70"/>
          <p:cNvSpPr txBox="1"/>
          <p:nvPr/>
        </p:nvSpPr>
        <p:spPr>
          <a:xfrm>
            <a:off x="4855464" y="35387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보장분석</a:t>
            </a:r>
            <a:endParaRPr lang="ko-KR" sz="1200" dirty="0"/>
          </a:p>
        </p:txBody>
      </p:sp>
      <p:sp>
        <p:nvSpPr>
          <p:cNvPr id="83" name="Shape 71"/>
          <p:cNvSpPr/>
          <p:nvPr/>
        </p:nvSpPr>
        <p:spPr>
          <a:xfrm>
            <a:off x="4636008" y="3749040"/>
            <a:ext cx="173736" cy="17373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84" name="Text 72"/>
          <p:cNvSpPr txBox="1"/>
          <p:nvPr/>
        </p:nvSpPr>
        <p:spPr>
          <a:xfrm>
            <a:off x="4636008" y="374904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900" dirty="0"/>
          </a:p>
        </p:txBody>
      </p:sp>
      <p:sp>
        <p:nvSpPr>
          <p:cNvPr id="85" name="Text 73"/>
          <p:cNvSpPr txBox="1"/>
          <p:nvPr/>
        </p:nvSpPr>
        <p:spPr>
          <a:xfrm>
            <a:off x="4855464" y="373532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설계</a:t>
            </a:r>
            <a:endParaRPr lang="ko-KR" sz="1200" dirty="0"/>
          </a:p>
        </p:txBody>
      </p:sp>
      <p:sp>
        <p:nvSpPr>
          <p:cNvPr id="86" name="Shape 74"/>
          <p:cNvSpPr/>
          <p:nvPr/>
        </p:nvSpPr>
        <p:spPr>
          <a:xfrm>
            <a:off x="4636008" y="3945636"/>
            <a:ext cx="173736" cy="17373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87" name="Text 75"/>
          <p:cNvSpPr txBox="1"/>
          <p:nvPr/>
        </p:nvSpPr>
        <p:spPr>
          <a:xfrm>
            <a:off x="4636008" y="394563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900" dirty="0"/>
          </a:p>
        </p:txBody>
      </p:sp>
      <p:sp>
        <p:nvSpPr>
          <p:cNvPr id="88" name="Text 76"/>
          <p:cNvSpPr txBox="1"/>
          <p:nvPr/>
        </p:nvSpPr>
        <p:spPr>
          <a:xfrm>
            <a:off x="4855464" y="393192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리포트</a:t>
            </a:r>
            <a:endParaRPr lang="ko-KR" sz="1200" dirty="0"/>
          </a:p>
        </p:txBody>
      </p:sp>
      <p:sp>
        <p:nvSpPr>
          <p:cNvPr id="89" name="Text 77"/>
          <p:cNvSpPr txBox="1"/>
          <p:nvPr/>
        </p:nvSpPr>
        <p:spPr>
          <a:xfrm>
            <a:off x="4617720" y="422452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C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→ 맞춤대화 · 다시 입력 없이</a:t>
            </a:r>
            <a:endParaRPr lang="ko-KR" sz="1400" dirty="0"/>
          </a:p>
        </p:txBody>
      </p:sp>
      <p:sp>
        <p:nvSpPr>
          <p:cNvPr id="90" name="Text 78"/>
          <p:cNvSpPr txBox="1"/>
          <p:nvPr/>
        </p:nvSpPr>
        <p:spPr>
          <a:xfrm>
            <a:off x="274320" y="46085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단계: 세일즈혁신TF 영업포탈 현황 진단(2026.7) 기준 · 화면 속 이름·숫자는 예시</a:t>
            </a:r>
            <a:endParaRPr lang="ko-KR" sz="12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49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0&quot;&gt;&lt;elem m_fUsage=&quot;9.22265127283678687320E+00&quot;&gt;&lt;m_msothmcolidx val=&quot;0&quot;/&gt;&lt;m_rgb r=&quot;FF&quot; g=&quot;C0&quot; b=&quot;00&quot;/&gt;&lt;/elem&gt;&lt;elem m_fUsage=&quot;4.48821669358540675798E-01&quot;&gt;&lt;m_msothmcolidx val=&quot;0&quot;/&gt;&lt;m_rgb r=&quot;E5&quot; g=&quot;E4&quot; b=&quot;E2&quot;/&gt;&lt;/elem&gt;&lt;elem m_fUsage=&quot;1.66773134856199795051E-01&quot;&gt;&lt;m_msothmcolidx val=&quot;0&quot;/&gt;&lt;m_rgb r=&quot;85&quot; g=&quot;82&quot; b=&quot;74&quot;/&gt;&lt;/elem&gt;&lt;elem m_fUsage=&quot;1.09418989131908131474E-01&quot;&gt;&lt;m_msothmcolidx val=&quot;0&quot;/&gt;&lt;m_rgb r=&quot;AD&quot; g=&quot;AB&quot; b=&quot;A1&quot;/&gt;&lt;/elem&gt;&lt;elem m_fUsage=&quot;5.23349323045620568040E-02&quot;&gt;&lt;m_msothmcolidx val=&quot;0&quot;/&gt;&lt;m_rgb r=&quot;F7&quot; g=&quot;B9&quot; b=&quot;46&quot;/&gt;&lt;/elem&gt;&lt;elem m_fUsage=&quot;1.09119942199483291854E-09&quot;&gt;&lt;m_msothmcolidx val=&quot;0&quot;/&gt;&lt;m_rgb r=&quot;A3&quot; g=&quot;A9&quot; b=&quot;48&quot;/&gt;&lt;/elem&gt;&lt;elem m_fUsage=&quot;1.36464638562954143155E-10&quot;&gt;&lt;m_msothmcolidx val=&quot;0&quot;/&gt;&lt;m_rgb r=&quot;FC&quot; g=&quot;A2&quot; b=&quot;48&quot;/&gt;&lt;/elem&gt;&lt;elem m_fUsage=&quot;1.27391877643311497204E-10&quot;&gt;&lt;m_msothmcolidx val=&quot;0&quot;/&gt;&lt;m_rgb r=&quot;77&quot; g=&quot;82&quot; b=&quot;42&quot;/&gt;&lt;/elem&gt;&lt;elem m_fUsage=&quot;1.17490142126167807827E-10&quot;&gt;&lt;m_msothmcolidx val=&quot;0&quot;/&gt;&lt;m_rgb r=&quot;9B&quot; g=&quot;17&quot; b=&quot;17&quot;/&gt;&lt;/elem&gt;&lt;elem m_fUsage=&quot;2.71327812536999455004E-11&quot;&gt;&lt;m_msothmcolidx val=&quot;0&quot;/&gt;&lt;m_rgb r=&quot;36&quot; g=&quot;40&quot; b=&quot;86&quot;/&gt;&lt;/elem&gt;&lt;elem m_fUsage=&quot;1.23202192432461508304E-11&quot;&gt;&lt;m_msothmcolidx val=&quot;0&quot;/&gt;&lt;m_rgb r=&quot;9A&quot; g=&quot;9A&quot; b=&quot;8B&quot;/&gt;&lt;/elem&gt;&lt;elem m_fUsage=&quot;3.73437147602706268830E-15&quot;&gt;&lt;m_msothmcolidx val=&quot;0&quot;/&gt;&lt;m_rgb r=&quot;3C&quot; g=&quot;3C&quot; b=&quot;3C&quot;/&gt;&lt;/elem&gt;&lt;elem m_fUsage=&quot;7.43154767125509373229E-16&quot;&gt;&lt;m_msothmcolidx val=&quot;0&quot;/&gt;&lt;m_rgb r=&quot;09&quot; g=&quot;1C&quot; b=&quot;5A&quot;/&gt;&lt;/elem&gt;&lt;elem m_fUsage=&quot;4.39328503696472623983E-34&quot;&gt;&lt;m_msothmcolidx val=&quot;0&quot;/&gt;&lt;m_rgb r=&quot;FB&quot; g=&quot;E9&quot; b=&quot;E9&quot;/&gt;&lt;/elem&gt;&lt;elem m_fUsage=&quot;1.19399327461795569727E-56&quot;&gt;&lt;m_msothmcolidx val=&quot;0&quot;/&gt;&lt;m_rgb r=&quot;66&quot; g=&quot;00&quot; b=&quot;66&quot;/&gt;&lt;/elem&gt;&lt;elem m_fUsage=&quot;1.39622078960197390864E-75&quot;&gt;&lt;m_msothmcolidx val=&quot;0&quot;/&gt;&lt;m_rgb r=&quot;FA&quot; g=&quot;B8&quot; b=&quot;56&quot;/&gt;&lt;/elem&gt;&lt;elem m_fUsage=&quot;2.37315574558149176538E-81&quot;&gt;&lt;m_msothmcolidx val=&quot;0&quot;/&gt;&lt;m_rgb r=&quot;41&quot; g=&quot;46&quot; b=&quot;28&quot;/&gt;&lt;/elem&gt;&lt;elem m_fUsage=&quot;6.55318646351572306369E-84&quot;&gt;&lt;m_msothmcolidx val=&quot;0&quot;/&gt;&lt;m_rgb r=&quot;F2&quot; g=&quot;F2&quot; b=&quot;F2&quot;/&gt;&lt;/elem&gt;&lt;elem m_fUsage=&quot;2.02868303842045247399E-86&quot;&gt;&lt;m_msothmcolidx val=&quot;0&quot;/&gt;&lt;m_rgb r=&quot;28&quot; g=&quot;28&quot; b=&quot;23&quot;/&gt;&lt;/elem&gt;&lt;elem m_fUsage=&quot;1.84159263022790562096E-86&quot;&gt;&lt;m_msothmcolidx val=&quot;0&quot;/&gt;&lt;m_rgb r=&quot;40&quot; g=&quot;40&quot; b=&quot;4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eritz Golden Template by Bhumjin">
  <a:themeElements>
    <a:clrScheme name="ATK Template">
      <a:dk1>
        <a:srgbClr val="000000"/>
      </a:dk1>
      <a:lt1>
        <a:srgbClr val="FFFFFF"/>
      </a:lt1>
      <a:dk2>
        <a:srgbClr val="778242"/>
      </a:dk2>
      <a:lt2>
        <a:srgbClr val="9B1717"/>
      </a:lt2>
      <a:accent1>
        <a:srgbClr val="364086"/>
      </a:accent1>
      <a:accent2>
        <a:srgbClr val="EFEEEC"/>
      </a:accent2>
      <a:accent3>
        <a:srgbClr val="ADABA1"/>
      </a:accent3>
      <a:accent4>
        <a:srgbClr val="858274"/>
      </a:accent4>
      <a:accent5>
        <a:srgbClr val="FCA248"/>
      </a:accent5>
      <a:accent6>
        <a:srgbClr val="CDD773"/>
      </a:accent6>
      <a:hlink>
        <a:srgbClr val="364086"/>
      </a:hlink>
      <a:folHlink>
        <a:srgbClr val="A3AADA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0" tIns="0" rIns="0" bIns="0" rtlCol="0" anchor="ctr"/>
      <a:lstStyle>
        <a:defPPr algn="ctr">
          <a:defRPr sz="1400" b="1" dirty="0" smtClean="0">
            <a:solidFill>
              <a:schemeClr val="tx1"/>
            </a:solidFill>
            <a:latin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ctr" eaLnBrk="0" latinLnBrk="0" hangingPunct="0">
          <a:defRPr sz="1600" b="1" dirty="0" smtClean="0">
            <a:latin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8_Meritz Golden Template by Bhumjin">
  <a:themeElements>
    <a:clrScheme name="ATK Template">
      <a:dk1>
        <a:srgbClr val="000000"/>
      </a:dk1>
      <a:lt1>
        <a:srgbClr val="FFFFFF"/>
      </a:lt1>
      <a:dk2>
        <a:srgbClr val="778242"/>
      </a:dk2>
      <a:lt2>
        <a:srgbClr val="9B1717"/>
      </a:lt2>
      <a:accent1>
        <a:srgbClr val="364086"/>
      </a:accent1>
      <a:accent2>
        <a:srgbClr val="EFEEEC"/>
      </a:accent2>
      <a:accent3>
        <a:srgbClr val="ADABA1"/>
      </a:accent3>
      <a:accent4>
        <a:srgbClr val="858274"/>
      </a:accent4>
      <a:accent5>
        <a:srgbClr val="FCA248"/>
      </a:accent5>
      <a:accent6>
        <a:srgbClr val="CDD773"/>
      </a:accent6>
      <a:hlink>
        <a:srgbClr val="364086"/>
      </a:hlink>
      <a:folHlink>
        <a:srgbClr val="A3AADA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0" tIns="0" rIns="0" bIns="0" rtlCol="0" anchor="ctr"/>
      <a:lstStyle>
        <a:defPPr algn="ctr">
          <a:defRPr sz="1400" b="1" dirty="0" smtClean="0">
            <a:solidFill>
              <a:schemeClr val="tx1"/>
            </a:solidFill>
            <a:latin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 eaLnBrk="0" latinLnBrk="0" hangingPunct="0">
          <a:defRPr sz="1600" b="1" dirty="0" smtClean="0">
            <a:latin typeface="Arial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241819</TotalTime>
  <Words>1455</Words>
  <Application>Microsoft Office PowerPoint</Application>
  <PresentationFormat>화면 슬라이드 쇼(16:9)</PresentationFormat>
  <Paragraphs>658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맑은 고딕</vt:lpstr>
      <vt:lpstr>맑은 고딕</vt:lpstr>
      <vt:lpstr>Arial</vt:lpstr>
      <vt:lpstr>Wingdings</vt:lpstr>
      <vt:lpstr>Meritz Golden Template by Bhumjin</vt:lpstr>
      <vt:lpstr>8_Meritz Golden Template by Bhumjin</vt:lpstr>
      <vt:lpstr>think-cell Slide</vt:lpstr>
      <vt:lpstr>고객 등록부터 리포트까지, MeAI 두 화면으로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meritz</dc:creator>
  <cp:lastModifiedBy>user</cp:lastModifiedBy>
  <cp:revision>6664</cp:revision>
  <cp:lastPrinted>2026-10-06T10:54:23Z</cp:lastPrinted>
  <dcterms:created xsi:type="dcterms:W3CDTF">2015-11-22T03:54:56Z</dcterms:created>
  <dcterms:modified xsi:type="dcterms:W3CDTF">2026-10-07T02:10:34Z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DRClass">
    <vt:lpwstr>0</vt:lpwstr>
  </property>
  <property fmtid="{D5CDD505-2E9C-101B-9397-08002B2CF9AE}" pid="3" name="FDRSet">
    <vt:lpwstr>manual</vt:lpwstr>
  </property>
</Properties>
</file>