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영업하며 한 번쯤, 이런 꿈 꿔 보셨을 겁니다. 고객을 매일 아침 누가 추천해 준다면. 약관을 공시실에 들어갈 필요 없이 바로 볼 수 있다면. 보장분석, 설계, 리포트까지 자동으로 만들어 준다면. YOUR TURN. 이제, MeAI로 그 꿈이 현실이 될 차례입니다.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MeAI 홈 화면입니다. 아침에 MeAI를 열면, 오늘 연락할 추천 고객 아홉 분이 이유와 함께 먼저 와 있습니다. 예를 들어 이 고객은 상령일이 2주 남았고 암진단비가 1천만원뿐이라는 이유가 한 문장으로 적혀 있습니다. 누구에게, 왜 지금 연락할지 고민하던 시간을 MeAI가 대신합니다. 그리고 홈에서 바로 대화로 이어지고, 약관도 대화로 바로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MeAI 홈이 오늘 연락할 고객을 추천하고, 홈에서 바로 일반대화와 맞춤대화로 이어집니다. 일반대화에서는 공시실에 들어가지 않아도 약관을 바로 확인합니다. 맞춤대화에서 AI가 고객의 부족한 보장을 분석하고, 예산을 말하면 설계안을 잡아 줍니다. 고객에게 보여 줄 답변을 골라 확인하면, 리포트가 카카오톡으로 고객에게 갑니다. 찾고, 묻고, 분석하고, 설계하고, 보내는 일. 이 모든 과정이 MeAI 하나로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 보겠습니다. MeAI를 활용한 경우 체결률이 12.7%에서 35.4%, 2.8배였습니다. 원래 잘하는 사람이라서일까요? 같은 FP의 고객끼리 비교해도 9.0%에서 36.0%, 4배였습니다. 질문이 의미가 있을까요? 질문을 한 개만 한 경우보다 세 개 이상 한 경우 평균 가계약이 12건에서 28건, 2.3배였습니다. (출처: 2026년 8월 TA채널 MeAI 사용 데이터 분석)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주인공을 꿈꾸는 사람들에게, 주인공으로 만들어주는 AI를. 메리츠의 MeAI입니다.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3" name="Image 0" descr="배경 빛">    </p:cNvPr>
          <p:cNvPicPr>
            <a:picLocks noChangeAspect="1"/>
          </p:cNvPicPr>
          <p:nvPr/>
        </p:nvPicPr>
        <p:blipFill>
          <a:blip r:embed="rId1">
            <a:alphaModFix amt="70000"/>
          </a:blip>
          <a:stretch>
            <a:fillRect/>
          </a:stretch>
        </p:blipFill>
        <p:spPr>
          <a:xfrm>
            <a:off x="914400" y="2743200"/>
            <a:ext cx="7315200" cy="2286000"/>
          </a:xfrm>
          <a:prstGeom prst="rect">
            <a:avLst/>
          </a:prstGeom>
        </p:spPr>
      </p:pic>
      <p:sp>
        <p:nvSpPr>
          <p:cNvPr id="4" name="Text 0"/>
          <p:cNvSpPr txBox="1"/>
          <p:nvPr/>
        </p:nvSpPr>
        <p:spPr>
          <a:xfrm>
            <a:off x="274320" y="457200"/>
            <a:ext cx="85953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맑은 고딕" pitchFamily="34" charset="0"/>
                <a:ea typeface="맑은 고딕" pitchFamily="34" charset="-122"/>
                <a:cs typeface="맑은 고딕" pitchFamily="34" charset="-120"/>
              </a:rPr>
              <a:t>영업하며 한 번쯤, 이런 꿈 꿔 보셨죠?</a:t>
            </a:r>
            <a:endParaRPr lang="en-US" sz="2400" dirty="0"/>
          </a:p>
        </p:txBody>
      </p:sp>
      <p:sp>
        <p:nvSpPr>
          <p:cNvPr id="5" name="Text 1"/>
          <p:cNvSpPr txBox="1"/>
          <p:nvPr/>
        </p:nvSpPr>
        <p:spPr>
          <a:xfrm>
            <a:off x="274320" y="1115568"/>
            <a:ext cx="859536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맑은 고딕" pitchFamily="34" charset="0"/>
                <a:ea typeface="맑은 고딕" pitchFamily="34" charset="-122"/>
                <a:cs typeface="맑은 고딕" pitchFamily="34" charset="-120"/>
              </a:rPr>
              <a:t>고객을 </a:t>
            </a:r>
            <a:r>
              <a:rPr lang="en-US" sz="2600" b="1" dirty="0">
                <a:solidFill>
                  <a:srgbClr val="FFC000"/>
                </a:solidFill>
                <a:latin typeface="맑은 고딕" pitchFamily="34" charset="0"/>
                <a:ea typeface="맑은 고딕" pitchFamily="34" charset="-122"/>
                <a:cs typeface="맑은 고딕" pitchFamily="34" charset="-120"/>
              </a:rPr>
              <a:t>매일 아침</a:t>
            </a:r>
            <a:r>
              <a:rPr lang="en-US" sz="2600" b="1" dirty="0">
                <a:solidFill>
                  <a:srgbClr val="FFFFFF"/>
                </a:solidFill>
                <a:latin typeface="맑은 고딕" pitchFamily="34" charset="0"/>
                <a:ea typeface="맑은 고딕" pitchFamily="34" charset="-122"/>
                <a:cs typeface="맑은 고딕" pitchFamily="34" charset="-120"/>
              </a:rPr>
              <a:t> 추천해준다면?</a:t>
            </a:r>
            <a:endParaRPr lang="en-US" sz="2600" dirty="0"/>
          </a:p>
        </p:txBody>
      </p:sp>
      <p:sp>
        <p:nvSpPr>
          <p:cNvPr id="6" name="Text 2"/>
          <p:cNvSpPr txBox="1"/>
          <p:nvPr/>
        </p:nvSpPr>
        <p:spPr>
          <a:xfrm>
            <a:off x="274320" y="1755648"/>
            <a:ext cx="859536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맑은 고딕" pitchFamily="34" charset="0"/>
                <a:ea typeface="맑은 고딕" pitchFamily="34" charset="-122"/>
                <a:cs typeface="맑은 고딕" pitchFamily="34" charset="-120"/>
              </a:rPr>
              <a:t>약관을 </a:t>
            </a:r>
            <a:r>
              <a:rPr lang="en-US" sz="2600" b="1" dirty="0">
                <a:solidFill>
                  <a:srgbClr val="FFC000"/>
                </a:solidFill>
                <a:latin typeface="맑은 고딕" pitchFamily="34" charset="0"/>
                <a:ea typeface="맑은 고딕" pitchFamily="34" charset="-122"/>
                <a:cs typeface="맑은 고딕" pitchFamily="34" charset="-120"/>
              </a:rPr>
              <a:t>공시실에 들어갈 필요 없이</a:t>
            </a:r>
            <a:r>
              <a:rPr lang="en-US" sz="2600" b="1" dirty="0">
                <a:solidFill>
                  <a:srgbClr val="FFFFFF"/>
                </a:solidFill>
                <a:latin typeface="맑은 고딕" pitchFamily="34" charset="0"/>
                <a:ea typeface="맑은 고딕" pitchFamily="34" charset="-122"/>
                <a:cs typeface="맑은 고딕" pitchFamily="34" charset="-120"/>
              </a:rPr>
              <a:t> 볼 수 있다면?</a:t>
            </a:r>
            <a:endParaRPr lang="en-US" sz="2600" dirty="0"/>
          </a:p>
        </p:txBody>
      </p:sp>
      <p:sp>
        <p:nvSpPr>
          <p:cNvPr id="7" name="Text 3"/>
          <p:cNvSpPr txBox="1"/>
          <p:nvPr/>
        </p:nvSpPr>
        <p:spPr>
          <a:xfrm>
            <a:off x="274320" y="2395728"/>
            <a:ext cx="8595360" cy="548640"/>
          </a:xfrm>
          <a:prstGeom prst="rect">
            <a:avLst/>
          </a:prstGeom>
          <a:noFill/>
          <a:ln/>
        </p:spPr>
        <p:txBody>
          <a:bodyPr wrap="square" lIns="0" tIns="0" rIns="0" bIns="0" rtlCol="0" anchor="ctr"/>
          <a:lstStyle/>
          <a:p>
            <a:pPr algn="ctr" indent="0" marL="0">
              <a:buNone/>
            </a:pPr>
            <a:r>
              <a:rPr lang="en-US" sz="2600" b="1" dirty="0">
                <a:solidFill>
                  <a:srgbClr val="FFC000"/>
                </a:solidFill>
                <a:latin typeface="맑은 고딕" pitchFamily="34" charset="0"/>
                <a:ea typeface="맑은 고딕" pitchFamily="34" charset="-122"/>
                <a:cs typeface="맑은 고딕" pitchFamily="34" charset="-120"/>
              </a:rPr>
              <a:t>자동으로</a:t>
            </a:r>
            <a:r>
              <a:rPr lang="en-US" sz="2600" b="1" dirty="0">
                <a:solidFill>
                  <a:srgbClr val="FFFFFF"/>
                </a:solidFill>
                <a:latin typeface="맑은 고딕" pitchFamily="34" charset="0"/>
                <a:ea typeface="맑은 고딕" pitchFamily="34" charset="-122"/>
                <a:cs typeface="맑은 고딕" pitchFamily="34" charset="-120"/>
              </a:rPr>
              <a:t> 보장분석, 설계, 리포트까지 만들어준다면?</a:t>
            </a:r>
            <a:endParaRPr lang="en-US" sz="2600" dirty="0"/>
          </a:p>
        </p:txBody>
      </p:sp>
      <p:sp>
        <p:nvSpPr>
          <p:cNvPr id="8" name="Text 4"/>
          <p:cNvSpPr txBox="1"/>
          <p:nvPr/>
        </p:nvSpPr>
        <p:spPr>
          <a:xfrm>
            <a:off x="274320" y="3127248"/>
            <a:ext cx="8595360" cy="640080"/>
          </a:xfrm>
          <a:prstGeom prst="rect">
            <a:avLst/>
          </a:prstGeom>
          <a:noFill/>
          <a:ln/>
        </p:spPr>
        <p:txBody>
          <a:bodyPr wrap="square" lIns="0" tIns="0" rIns="0" bIns="0" rtlCol="0" anchor="ctr"/>
          <a:lstStyle/>
          <a:p>
            <a:pPr algn="ctr" indent="0" marL="0">
              <a:buNone/>
            </a:pPr>
            <a:r>
              <a:rPr lang="en-US" sz="4000" b="1" dirty="0">
                <a:solidFill>
                  <a:srgbClr val="FFC000"/>
                </a:solidFill>
                <a:latin typeface="Arial" pitchFamily="34" charset="0"/>
                <a:ea typeface="Arial" pitchFamily="34" charset="-122"/>
                <a:cs typeface="Arial" pitchFamily="34" charset="-120"/>
              </a:rPr>
              <a:t>YOUR TURN</a:t>
            </a:r>
            <a:endParaRPr lang="en-US" sz="4000" dirty="0"/>
          </a:p>
        </p:txBody>
      </p:sp>
      <p:sp>
        <p:nvSpPr>
          <p:cNvPr id="9" name="Text 5"/>
          <p:cNvSpPr txBox="1"/>
          <p:nvPr/>
        </p:nvSpPr>
        <p:spPr>
          <a:xfrm>
            <a:off x="274320" y="3767328"/>
            <a:ext cx="85953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맑은 고딕" pitchFamily="34" charset="0"/>
                <a:ea typeface="맑은 고딕" pitchFamily="34" charset="-122"/>
                <a:cs typeface="맑은 고딕" pitchFamily="34" charset="-120"/>
              </a:rPr>
              <a:t>이제, </a:t>
            </a:r>
            <a:r>
              <a:rPr lang="en-US" sz="2400" b="1" dirty="0">
                <a:solidFill>
                  <a:srgbClr val="FFC000"/>
                </a:solidFill>
                <a:latin typeface="Arial" pitchFamily="34" charset="0"/>
                <a:ea typeface="Arial" pitchFamily="34" charset="-122"/>
                <a:cs typeface="Arial" pitchFamily="34" charset="-120"/>
              </a:rPr>
              <a:t>MeAI</a:t>
            </a:r>
            <a:r>
              <a:rPr lang="en-US" sz="2400" b="1" dirty="0">
                <a:solidFill>
                  <a:srgbClr val="FFFFFF"/>
                </a:solidFill>
                <a:latin typeface="맑은 고딕" pitchFamily="34" charset="0"/>
                <a:ea typeface="맑은 고딕" pitchFamily="34" charset="-122"/>
                <a:cs typeface="맑은 고딕" pitchFamily="34" charset="-120"/>
              </a:rPr>
              <a:t>로 그 꿈이 현실이 될 차례입니다</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ITLE_PREVIEW"/>
          <p:cNvSpPr txBox="1"/>
          <p:nvPr/>
        </p:nvSpPr>
        <p:spPr>
          <a:xfrm>
            <a:off x="246888" y="109728"/>
            <a:ext cx="8641080" cy="502920"/>
          </a:xfrm>
          <a:prstGeom prst="rect">
            <a:avLst/>
          </a:prstGeom>
          <a:noFill/>
          <a:ln/>
        </p:spPr>
        <p:txBody>
          <a:bodyPr wrap="square" lIns="0" tIns="0" rIns="0" bIns="0" rtlCol="0" anchor="ctr"/>
          <a:lstStyle/>
          <a:p>
            <a:pPr indent="0" marL="0">
              <a:buNone/>
            </a:pPr>
            <a:r>
              <a:rPr lang="en-US" sz="2800" b="1" dirty="0">
                <a:solidFill>
                  <a:srgbClr val="FFFFFF"/>
                </a:solidFill>
                <a:latin typeface="맑은 고딕" pitchFamily="34" charset="0"/>
                <a:ea typeface="맑은 고딕" pitchFamily="34" charset="-122"/>
                <a:cs typeface="맑은 고딕" pitchFamily="34" charset="-120"/>
              </a:rPr>
              <a:t>AI 시대, MeAI는 타사에 없는 강력한 무기</a:t>
            </a:r>
            <a:endParaRPr lang="en-US" sz="2800" dirty="0"/>
          </a:p>
        </p:txBody>
      </p:sp>
      <p:pic>
        <p:nvPicPr>
          <p:cNvPr id="4" name="Image 0" descr="배경 빛">    </p:cNvPr>
          <p:cNvPicPr>
            <a:picLocks noChangeAspect="1"/>
          </p:cNvPicPr>
          <p:nvPr/>
        </p:nvPicPr>
        <p:blipFill>
          <a:blip r:embed="rId1"/>
          <a:stretch>
            <a:fillRect/>
          </a:stretch>
        </p:blipFill>
        <p:spPr>
          <a:xfrm>
            <a:off x="3383280" y="457200"/>
            <a:ext cx="6309360" cy="4572000"/>
          </a:xfrm>
          <a:prstGeom prst="rect">
            <a:avLst/>
          </a:prstGeom>
        </p:spPr>
      </p:pic>
      <p:pic>
        <p:nvPicPr>
          <p:cNvPr id="5" name="Image 1" descr="MeAI 홈 화면(오늘의 추천 고객)">    </p:cNvPr>
          <p:cNvPicPr>
            <a:picLocks noChangeAspect="1"/>
          </p:cNvPicPr>
          <p:nvPr/>
        </p:nvPicPr>
        <p:blipFill>
          <a:blip r:embed="rId2"/>
          <a:stretch>
            <a:fillRect/>
          </a:stretch>
        </p:blipFill>
        <p:spPr>
          <a:xfrm>
            <a:off x="4343400" y="896112"/>
            <a:ext cx="4343400" cy="3744310"/>
          </a:xfrm>
          <a:prstGeom prst="rect">
            <a:avLst/>
          </a:prstGeom>
        </p:spPr>
      </p:pic>
      <p:sp>
        <p:nvSpPr>
          <p:cNvPr id="6" name="Shape 1"/>
          <p:cNvSpPr/>
          <p:nvPr/>
        </p:nvSpPr>
        <p:spPr>
          <a:xfrm>
            <a:off x="4343400" y="896112"/>
            <a:ext cx="4343400" cy="3744310"/>
          </a:xfrm>
          <a:prstGeom prst="roundRect">
            <a:avLst>
              <a:gd name="adj" fmla="val 1954"/>
            </a:avLst>
          </a:prstGeom>
          <a:ln w="12700">
            <a:solidFill>
              <a:srgbClr val="FFC000">
                <a:alpha val="55000"/>
              </a:srgbClr>
            </a:solidFill>
            <a:prstDash val="solid"/>
          </a:ln>
        </p:spPr>
      </p:sp>
      <p:sp>
        <p:nvSpPr>
          <p:cNvPr id="7" name="Shape 2"/>
          <p:cNvSpPr/>
          <p:nvPr/>
        </p:nvSpPr>
        <p:spPr>
          <a:xfrm>
            <a:off x="4414542" y="2992926"/>
            <a:ext cx="1370418" cy="1497724"/>
          </a:xfrm>
          <a:prstGeom prst="roundRect">
            <a:avLst>
              <a:gd name="adj" fmla="val 4003"/>
            </a:avLst>
          </a:prstGeom>
          <a:ln w="28575">
            <a:solidFill>
              <a:srgbClr val="FFC000"/>
            </a:solidFill>
            <a:prstDash val="solid"/>
          </a:ln>
        </p:spPr>
      </p:sp>
      <p:sp>
        <p:nvSpPr>
          <p:cNvPr id="8" name="Text 3"/>
          <p:cNvSpPr txBox="1"/>
          <p:nvPr/>
        </p:nvSpPr>
        <p:spPr>
          <a:xfrm>
            <a:off x="365760" y="960120"/>
            <a:ext cx="3840480" cy="310896"/>
          </a:xfrm>
          <a:prstGeom prst="rect">
            <a:avLst/>
          </a:prstGeom>
          <a:noFill/>
          <a:ln/>
        </p:spPr>
        <p:txBody>
          <a:bodyPr wrap="square" lIns="0" tIns="0" rIns="0" bIns="0" rtlCol="0" anchor="ctr"/>
          <a:lstStyle/>
          <a:p>
            <a:pPr indent="0" marL="0">
              <a:buNone/>
            </a:pPr>
            <a:r>
              <a:rPr lang="en-US" sz="1500" b="1" dirty="0">
                <a:solidFill>
                  <a:srgbClr val="FFC000"/>
                </a:solidFill>
                <a:latin typeface="맑은 고딕" pitchFamily="34" charset="0"/>
                <a:ea typeface="맑은 고딕" pitchFamily="34" charset="-122"/>
                <a:cs typeface="맑은 고딕" pitchFamily="34" charset="-120"/>
              </a:rPr>
              <a:t>MeAI 홈  ·  오늘의 추천 고객 9명</a:t>
            </a:r>
            <a:endParaRPr lang="en-US" sz="1500" dirty="0"/>
          </a:p>
        </p:txBody>
      </p:sp>
      <p:sp>
        <p:nvSpPr>
          <p:cNvPr id="9" name="Text 4"/>
          <p:cNvSpPr txBox="1"/>
          <p:nvPr/>
        </p:nvSpPr>
        <p:spPr>
          <a:xfrm>
            <a:off x="365760" y="1371600"/>
            <a:ext cx="3840480" cy="1645920"/>
          </a:xfrm>
          <a:prstGeom prst="rect">
            <a:avLst/>
          </a:prstGeom>
          <a:noFill/>
          <a:ln/>
        </p:spPr>
        <p:txBody>
          <a:bodyPr wrap="square" lIns="0" tIns="0" rIns="0" bIns="0" rtlCol="0" anchor="t"/>
          <a:lstStyle/>
          <a:p>
            <a:pPr indent="0" marL="0">
              <a:lnSpc>
                <a:spcPct val="105000"/>
              </a:lnSpc>
              <a:buNone/>
            </a:pPr>
            <a:r>
              <a:rPr lang="en-US" sz="3200" b="1" dirty="0">
                <a:solidFill>
                  <a:srgbClr val="FFFFFF"/>
                </a:solidFill>
                <a:latin typeface="맑은 고딕" pitchFamily="34" charset="0"/>
                <a:ea typeface="맑은 고딕" pitchFamily="34" charset="-122"/>
                <a:cs typeface="맑은 고딕" pitchFamily="34" charset="-120"/>
              </a:rPr>
              <a:t>아침마다</a:t>
            </a:r>
            <a:endParaRPr lang="en-US" sz="3200" dirty="0"/>
          </a:p>
          <a:p>
            <a:pPr indent="0" marL="0">
              <a:lnSpc>
                <a:spcPct val="105000"/>
              </a:lnSpc>
              <a:buNone/>
            </a:pPr>
            <a:r>
              <a:rPr lang="en-US" sz="3200" b="1" dirty="0">
                <a:solidFill>
                  <a:srgbClr val="FFFFFF"/>
                </a:solidFill>
                <a:latin typeface="맑은 고딕" pitchFamily="34" charset="0"/>
                <a:ea typeface="맑은 고딕" pitchFamily="34" charset="-122"/>
                <a:cs typeface="맑은 고딕" pitchFamily="34" charset="-120"/>
              </a:rPr>
              <a:t>MeAI가 먼저</a:t>
            </a:r>
            <a:endParaRPr lang="en-US" sz="3200" dirty="0"/>
          </a:p>
          <a:p>
            <a:pPr indent="0" marL="0">
              <a:lnSpc>
                <a:spcPct val="105000"/>
              </a:lnSpc>
              <a:buNone/>
            </a:pPr>
            <a:r>
              <a:rPr lang="en-US" sz="3200" b="1" dirty="0">
                <a:solidFill>
                  <a:srgbClr val="FFC000"/>
                </a:solidFill>
                <a:latin typeface="맑은 고딕" pitchFamily="34" charset="0"/>
                <a:ea typeface="맑은 고딕" pitchFamily="34" charset="-122"/>
                <a:cs typeface="맑은 고딕" pitchFamily="34" charset="-120"/>
              </a:rPr>
              <a:t>고객을 찾아옵니다</a:t>
            </a:r>
            <a:endParaRPr lang="en-US" sz="3200" dirty="0"/>
          </a:p>
        </p:txBody>
      </p:sp>
      <p:sp>
        <p:nvSpPr>
          <p:cNvPr id="10" name="Shape 5"/>
          <p:cNvSpPr/>
          <p:nvPr/>
        </p:nvSpPr>
        <p:spPr>
          <a:xfrm>
            <a:off x="365760" y="3246120"/>
            <a:ext cx="3611880" cy="1115568"/>
          </a:xfrm>
          <a:prstGeom prst="roundRect">
            <a:avLst>
              <a:gd name="adj" fmla="val 6557"/>
            </a:avLst>
          </a:prstGeom>
          <a:solidFill>
            <a:srgbClr val="141414"/>
          </a:solidFill>
          <a:ln w="12700">
            <a:solidFill>
              <a:srgbClr val="FFC000">
                <a:alpha val="70000"/>
              </a:srgbClr>
            </a:solidFill>
            <a:prstDash val="solid"/>
          </a:ln>
        </p:spPr>
      </p:sp>
      <p:sp>
        <p:nvSpPr>
          <p:cNvPr id="11" name="Text 6"/>
          <p:cNvSpPr txBox="1"/>
          <p:nvPr/>
        </p:nvSpPr>
        <p:spPr>
          <a:xfrm>
            <a:off x="566928" y="3374136"/>
            <a:ext cx="3246120" cy="256032"/>
          </a:xfrm>
          <a:prstGeom prst="rect">
            <a:avLst/>
          </a:prstGeom>
          <a:noFill/>
          <a:ln/>
        </p:spPr>
        <p:txBody>
          <a:bodyPr wrap="square" lIns="0" tIns="0" rIns="0" bIns="0" rtlCol="0" anchor="ctr"/>
          <a:lstStyle/>
          <a:p>
            <a:pPr indent="0" marL="0">
              <a:buNone/>
            </a:pPr>
            <a:r>
              <a:rPr lang="en-US" sz="1200" b="1" dirty="0">
                <a:solidFill>
                  <a:srgbClr val="B5B5B5"/>
                </a:solidFill>
                <a:latin typeface="맑은 고딕" pitchFamily="34" charset="0"/>
                <a:ea typeface="맑은 고딕" pitchFamily="34" charset="-122"/>
                <a:cs typeface="맑은 고딕" pitchFamily="34" charset="-120"/>
              </a:rPr>
              <a:t>왜 지금 연락할지, 이유 한 문장</a:t>
            </a:r>
            <a:endParaRPr lang="en-US" sz="1200" dirty="0"/>
          </a:p>
        </p:txBody>
      </p:sp>
      <p:sp>
        <p:nvSpPr>
          <p:cNvPr id="12" name="Text 7"/>
          <p:cNvSpPr txBox="1"/>
          <p:nvPr/>
        </p:nvSpPr>
        <p:spPr>
          <a:xfrm>
            <a:off x="566928" y="3666744"/>
            <a:ext cx="3282696" cy="603504"/>
          </a:xfrm>
          <a:prstGeom prst="rect">
            <a:avLst/>
          </a:prstGeom>
          <a:noFill/>
          <a:ln/>
        </p:spPr>
        <p:txBody>
          <a:bodyPr wrap="square" lIns="0" tIns="0" rIns="0" bIns="0" rtlCol="0" anchor="ctr"/>
          <a:lstStyle/>
          <a:p>
            <a:pPr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“상령일이 2주 남았고</a:t>
            </a:r>
            <a:endParaRPr lang="en-US" sz="1600" dirty="0"/>
          </a:p>
          <a:p>
            <a:pPr indent="0" marL="0">
              <a:lnSpc>
                <a:spcPct val="110000"/>
              </a:lnSpc>
              <a:buNone/>
            </a:pPr>
            <a:r>
              <a:rPr lang="en-US" sz="1600" b="1" dirty="0">
                <a:solidFill>
                  <a:srgbClr val="FFFFFF"/>
                </a:solidFill>
                <a:latin typeface="맑은 고딕" pitchFamily="34" charset="0"/>
                <a:ea typeface="맑은 고딕" pitchFamily="34" charset="-122"/>
                <a:cs typeface="맑은 고딕" pitchFamily="34" charset="-120"/>
              </a:rPr>
              <a:t>암진단비가 1천만원뿐입니다.”</a:t>
            </a:r>
            <a:endParaRPr lang="en-US" sz="1600" dirty="0"/>
          </a:p>
        </p:txBody>
      </p:sp>
      <p:sp>
        <p:nvSpPr>
          <p:cNvPr id="13" name="Shape 8"/>
          <p:cNvSpPr/>
          <p:nvPr/>
        </p:nvSpPr>
        <p:spPr>
          <a:xfrm flipV="1">
            <a:off x="3977640" y="3376974"/>
            <a:ext cx="436902" cy="426930"/>
          </a:xfrm>
          <a:prstGeom prst="line">
            <a:avLst/>
          </a:prstGeom>
          <a:noFill/>
          <a:ln w="19050">
            <a:solidFill>
              <a:srgbClr val="FFC000"/>
            </a:solidFill>
            <a:prstDash val="solid"/>
          </a:ln>
        </p:spPr>
      </p:sp>
      <p:sp>
        <p:nvSpPr>
          <p:cNvPr id="14" name="Text 9"/>
          <p:cNvSpPr txBox="1"/>
          <p:nvPr/>
        </p:nvSpPr>
        <p:spPr>
          <a:xfrm>
            <a:off x="365760" y="4572000"/>
            <a:ext cx="3611880" cy="256032"/>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 화면 속 이름·숫자는 예시</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ITLE_PREVIEW"/>
          <p:cNvSpPr txBox="1"/>
          <p:nvPr/>
        </p:nvSpPr>
        <p:spPr>
          <a:xfrm>
            <a:off x="246888" y="109728"/>
            <a:ext cx="8641080" cy="502920"/>
          </a:xfrm>
          <a:prstGeom prst="rect">
            <a:avLst/>
          </a:prstGeom>
          <a:noFill/>
          <a:ln/>
        </p:spPr>
        <p:txBody>
          <a:bodyPr wrap="square" lIns="0" tIns="0" rIns="0" bIns="0" rtlCol="0" anchor="ctr"/>
          <a:lstStyle/>
          <a:p>
            <a:pPr indent="0" marL="0">
              <a:buNone/>
            </a:pPr>
            <a:r>
              <a:rPr lang="en-US" sz="2800" b="1" dirty="0">
                <a:solidFill>
                  <a:srgbClr val="FFFFFF"/>
                </a:solidFill>
                <a:latin typeface="맑은 고딕" pitchFamily="34" charset="0"/>
                <a:ea typeface="맑은 고딕" pitchFamily="34" charset="-122"/>
                <a:cs typeface="맑은 고딕" pitchFamily="34" charset="-120"/>
              </a:rPr>
              <a:t>MeAI 홈에서 리포트까지, 모든 영업 과정이 하나로</a:t>
            </a:r>
            <a:endParaRPr lang="en-US" sz="2800" dirty="0"/>
          </a:p>
        </p:txBody>
      </p:sp>
      <p:sp>
        <p:nvSpPr>
          <p:cNvPr id="4" name="Text 1"/>
          <p:cNvSpPr txBox="1"/>
          <p:nvPr/>
        </p:nvSpPr>
        <p:spPr>
          <a:xfrm>
            <a:off x="246888"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01</a:t>
            </a:r>
            <a:endParaRPr lang="en-US" sz="2000" dirty="0"/>
          </a:p>
        </p:txBody>
      </p:sp>
      <p:pic>
        <p:nvPicPr>
          <p:cNvPr id="5" name="Image 0" descr="오늘 연락할 고객 추천">    </p:cNvPr>
          <p:cNvPicPr>
            <a:picLocks noChangeAspect="1"/>
          </p:cNvPicPr>
          <p:nvPr/>
        </p:nvPicPr>
        <p:blipFill>
          <a:blip r:embed="rId1"/>
          <a:stretch>
            <a:fillRect/>
          </a:stretch>
        </p:blipFill>
        <p:spPr>
          <a:xfrm>
            <a:off x="246888" y="1078992"/>
            <a:ext cx="1554480" cy="1965960"/>
          </a:xfrm>
          <a:prstGeom prst="rect">
            <a:avLst/>
          </a:prstGeom>
        </p:spPr>
      </p:pic>
      <p:sp>
        <p:nvSpPr>
          <p:cNvPr id="6" name="Shape 2"/>
          <p:cNvSpPr/>
          <p:nvPr/>
        </p:nvSpPr>
        <p:spPr>
          <a:xfrm>
            <a:off x="246888" y="1078992"/>
            <a:ext cx="1554480" cy="1965960"/>
          </a:xfrm>
          <a:prstGeom prst="roundRect">
            <a:avLst>
              <a:gd name="adj" fmla="val 3529"/>
            </a:avLst>
          </a:prstGeom>
          <a:ln w="9525">
            <a:solidFill>
              <a:srgbClr val="FFC000">
                <a:alpha val="65000"/>
              </a:srgbClr>
            </a:solidFill>
            <a:prstDash val="solid"/>
          </a:ln>
        </p:spPr>
      </p:sp>
      <p:sp>
        <p:nvSpPr>
          <p:cNvPr id="7" name="Text 3"/>
          <p:cNvSpPr txBox="1"/>
          <p:nvPr/>
        </p:nvSpPr>
        <p:spPr>
          <a:xfrm>
            <a:off x="246888" y="3136392"/>
            <a:ext cx="1755648" cy="329184"/>
          </a:xfrm>
          <a:prstGeom prst="rect">
            <a:avLst/>
          </a:prstGeom>
          <a:noFill/>
          <a:ln/>
        </p:spPr>
        <p:txBody>
          <a:bodyPr wrap="square" lIns="0" tIns="0" rIns="0" bIns="0" rtlCol="0" anchor="ct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MeAI 홈</a:t>
            </a:r>
            <a:endParaRPr lang="en-US" sz="1700" dirty="0"/>
          </a:p>
        </p:txBody>
      </p:sp>
      <p:sp>
        <p:nvSpPr>
          <p:cNvPr id="8" name="Text 4"/>
          <p:cNvSpPr txBox="1"/>
          <p:nvPr/>
        </p:nvSpPr>
        <p:spPr>
          <a:xfrm>
            <a:off x="246888" y="3474720"/>
            <a:ext cx="1755648"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오늘 연락할 고객 추천</a:t>
            </a:r>
            <a:endParaRPr lang="en-US" sz="1300" dirty="0"/>
          </a:p>
        </p:txBody>
      </p:sp>
      <p:sp>
        <p:nvSpPr>
          <p:cNvPr id="9" name="Shape 5"/>
          <p:cNvSpPr/>
          <p:nvPr/>
        </p:nvSpPr>
        <p:spPr>
          <a:xfrm>
            <a:off x="1773936" y="1924812"/>
            <a:ext cx="274320" cy="274320"/>
          </a:xfrm>
          <a:prstGeom prst="ellipse">
            <a:avLst/>
          </a:prstGeom>
          <a:solidFill>
            <a:srgbClr val="FFC000"/>
          </a:solidFill>
          <a:ln w="19050">
            <a:solidFill>
              <a:srgbClr val="000000"/>
            </a:solidFill>
            <a:prstDash val="solid"/>
          </a:ln>
        </p:spPr>
      </p:sp>
      <p:sp>
        <p:nvSpPr>
          <p:cNvPr id="10" name="Text 6"/>
          <p:cNvSpPr txBox="1"/>
          <p:nvPr/>
        </p:nvSpPr>
        <p:spPr>
          <a:xfrm>
            <a:off x="1773936" y="1906524"/>
            <a:ext cx="274320" cy="2743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a:t>
            </a:r>
            <a:endParaRPr lang="en-US" sz="1600" dirty="0"/>
          </a:p>
        </p:txBody>
      </p:sp>
      <p:sp>
        <p:nvSpPr>
          <p:cNvPr id="11" name="Text 7"/>
          <p:cNvSpPr txBox="1"/>
          <p:nvPr/>
        </p:nvSpPr>
        <p:spPr>
          <a:xfrm>
            <a:off x="2020824"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02</a:t>
            </a:r>
            <a:endParaRPr lang="en-US" sz="2000" dirty="0"/>
          </a:p>
        </p:txBody>
      </p:sp>
      <p:pic>
        <p:nvPicPr>
          <p:cNvPr id="12" name="Image 1" descr="공시실 없이 약관 확인">    </p:cNvPr>
          <p:cNvPicPr>
            <a:picLocks noChangeAspect="1"/>
          </p:cNvPicPr>
          <p:nvPr/>
        </p:nvPicPr>
        <p:blipFill>
          <a:blip r:embed="rId2"/>
          <a:stretch>
            <a:fillRect/>
          </a:stretch>
        </p:blipFill>
        <p:spPr>
          <a:xfrm>
            <a:off x="2020824" y="1078992"/>
            <a:ext cx="1554480" cy="1965960"/>
          </a:xfrm>
          <a:prstGeom prst="rect">
            <a:avLst/>
          </a:prstGeom>
        </p:spPr>
      </p:pic>
      <p:sp>
        <p:nvSpPr>
          <p:cNvPr id="13" name="Shape 8"/>
          <p:cNvSpPr/>
          <p:nvPr/>
        </p:nvSpPr>
        <p:spPr>
          <a:xfrm>
            <a:off x="2020824" y="1078992"/>
            <a:ext cx="1554480" cy="1965960"/>
          </a:xfrm>
          <a:prstGeom prst="roundRect">
            <a:avLst>
              <a:gd name="adj" fmla="val 3529"/>
            </a:avLst>
          </a:prstGeom>
          <a:ln w="9525">
            <a:solidFill>
              <a:srgbClr val="FFC000">
                <a:alpha val="65000"/>
              </a:srgbClr>
            </a:solidFill>
            <a:prstDash val="solid"/>
          </a:ln>
        </p:spPr>
      </p:sp>
      <p:sp>
        <p:nvSpPr>
          <p:cNvPr id="14" name="Text 9"/>
          <p:cNvSpPr txBox="1"/>
          <p:nvPr/>
        </p:nvSpPr>
        <p:spPr>
          <a:xfrm>
            <a:off x="2020824" y="3136392"/>
            <a:ext cx="1755648" cy="329184"/>
          </a:xfrm>
          <a:prstGeom prst="rect">
            <a:avLst/>
          </a:prstGeom>
          <a:noFill/>
          <a:ln/>
        </p:spPr>
        <p:txBody>
          <a:bodyPr wrap="square" lIns="0" tIns="0" rIns="0" bIns="0" rtlCol="0" anchor="ct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일반 · 맞춤대화</a:t>
            </a:r>
            <a:endParaRPr lang="en-US" sz="1700" dirty="0"/>
          </a:p>
        </p:txBody>
      </p:sp>
      <p:sp>
        <p:nvSpPr>
          <p:cNvPr id="15" name="Text 10"/>
          <p:cNvSpPr txBox="1"/>
          <p:nvPr/>
        </p:nvSpPr>
        <p:spPr>
          <a:xfrm>
            <a:off x="2020824" y="3474720"/>
            <a:ext cx="1755648"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공시실 없이 약관 확인</a:t>
            </a:r>
            <a:endParaRPr lang="en-US" sz="1300" dirty="0"/>
          </a:p>
        </p:txBody>
      </p:sp>
      <p:sp>
        <p:nvSpPr>
          <p:cNvPr id="16" name="Shape 11"/>
          <p:cNvSpPr/>
          <p:nvPr/>
        </p:nvSpPr>
        <p:spPr>
          <a:xfrm>
            <a:off x="3547872" y="1924812"/>
            <a:ext cx="274320" cy="274320"/>
          </a:xfrm>
          <a:prstGeom prst="ellipse">
            <a:avLst/>
          </a:prstGeom>
          <a:solidFill>
            <a:srgbClr val="FFC000"/>
          </a:solidFill>
          <a:ln w="19050">
            <a:solidFill>
              <a:srgbClr val="000000"/>
            </a:solidFill>
            <a:prstDash val="solid"/>
          </a:ln>
        </p:spPr>
      </p:sp>
      <p:sp>
        <p:nvSpPr>
          <p:cNvPr id="17" name="Text 12"/>
          <p:cNvSpPr txBox="1"/>
          <p:nvPr/>
        </p:nvSpPr>
        <p:spPr>
          <a:xfrm>
            <a:off x="3547872" y="1906524"/>
            <a:ext cx="274320" cy="2743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a:t>
            </a:r>
            <a:endParaRPr lang="en-US" sz="1600" dirty="0"/>
          </a:p>
        </p:txBody>
      </p:sp>
      <p:sp>
        <p:nvSpPr>
          <p:cNvPr id="18" name="Text 13"/>
          <p:cNvSpPr txBox="1"/>
          <p:nvPr/>
        </p:nvSpPr>
        <p:spPr>
          <a:xfrm>
            <a:off x="3794760"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03</a:t>
            </a:r>
            <a:endParaRPr lang="en-US" sz="2000" dirty="0"/>
          </a:p>
        </p:txBody>
      </p:sp>
      <p:pic>
        <p:nvPicPr>
          <p:cNvPr id="19" name="Image 2" descr="부족한 보장을 한눈에">    </p:cNvPr>
          <p:cNvPicPr>
            <a:picLocks noChangeAspect="1"/>
          </p:cNvPicPr>
          <p:nvPr/>
        </p:nvPicPr>
        <p:blipFill>
          <a:blip r:embed="rId3"/>
          <a:stretch>
            <a:fillRect/>
          </a:stretch>
        </p:blipFill>
        <p:spPr>
          <a:xfrm>
            <a:off x="3794760" y="1078992"/>
            <a:ext cx="1554480" cy="1965960"/>
          </a:xfrm>
          <a:prstGeom prst="rect">
            <a:avLst/>
          </a:prstGeom>
        </p:spPr>
      </p:pic>
      <p:sp>
        <p:nvSpPr>
          <p:cNvPr id="20" name="Shape 14"/>
          <p:cNvSpPr/>
          <p:nvPr/>
        </p:nvSpPr>
        <p:spPr>
          <a:xfrm>
            <a:off x="3794760" y="1078992"/>
            <a:ext cx="1554480" cy="1965960"/>
          </a:xfrm>
          <a:prstGeom prst="roundRect">
            <a:avLst>
              <a:gd name="adj" fmla="val 3529"/>
            </a:avLst>
          </a:prstGeom>
          <a:ln w="9525">
            <a:solidFill>
              <a:srgbClr val="FFC000">
                <a:alpha val="65000"/>
              </a:srgbClr>
            </a:solidFill>
            <a:prstDash val="solid"/>
          </a:ln>
        </p:spPr>
      </p:sp>
      <p:sp>
        <p:nvSpPr>
          <p:cNvPr id="21" name="Text 15"/>
          <p:cNvSpPr txBox="1"/>
          <p:nvPr/>
        </p:nvSpPr>
        <p:spPr>
          <a:xfrm>
            <a:off x="3794760" y="3136392"/>
            <a:ext cx="1755648" cy="329184"/>
          </a:xfrm>
          <a:prstGeom prst="rect">
            <a:avLst/>
          </a:prstGeom>
          <a:noFill/>
          <a:ln/>
        </p:spPr>
        <p:txBody>
          <a:bodyPr wrap="square" lIns="0" tIns="0" rIns="0" bIns="0" rtlCol="0" anchor="ctr"/>
          <a:lstStyle/>
          <a:p>
            <a:pPr indent="0" marL="0">
              <a:buNone/>
            </a:pPr>
            <a:r>
              <a:rPr lang="en-US" sz="1700" b="1" dirty="0">
                <a:solidFill>
                  <a:srgbClr val="FFC000"/>
                </a:solidFill>
                <a:latin typeface="맑은 고딕" pitchFamily="34" charset="0"/>
                <a:ea typeface="맑은 고딕" pitchFamily="34" charset="-122"/>
                <a:cs typeface="맑은 고딕" pitchFamily="34" charset="-120"/>
              </a:rPr>
              <a:t>AI </a:t>
            </a:r>
            <a:r>
              <a:rPr lang="en-US" sz="1700" b="1" dirty="0">
                <a:solidFill>
                  <a:srgbClr val="FFFFFF"/>
                </a:solidFill>
                <a:latin typeface="맑은 고딕" pitchFamily="34" charset="0"/>
                <a:ea typeface="맑은 고딕" pitchFamily="34" charset="-122"/>
                <a:cs typeface="맑은 고딕" pitchFamily="34" charset="-120"/>
              </a:rPr>
              <a:t>보장분석</a:t>
            </a:r>
            <a:endParaRPr lang="en-US" sz="1700" dirty="0"/>
          </a:p>
        </p:txBody>
      </p:sp>
      <p:sp>
        <p:nvSpPr>
          <p:cNvPr id="22" name="Text 16"/>
          <p:cNvSpPr txBox="1"/>
          <p:nvPr/>
        </p:nvSpPr>
        <p:spPr>
          <a:xfrm>
            <a:off x="3794760" y="3474720"/>
            <a:ext cx="1755648"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부족한 보장을 한눈에</a:t>
            </a:r>
            <a:endParaRPr lang="en-US" sz="1300" dirty="0"/>
          </a:p>
        </p:txBody>
      </p:sp>
      <p:sp>
        <p:nvSpPr>
          <p:cNvPr id="23" name="Shape 17"/>
          <p:cNvSpPr/>
          <p:nvPr/>
        </p:nvSpPr>
        <p:spPr>
          <a:xfrm>
            <a:off x="5321808" y="1924812"/>
            <a:ext cx="274320" cy="274320"/>
          </a:xfrm>
          <a:prstGeom prst="ellipse">
            <a:avLst/>
          </a:prstGeom>
          <a:solidFill>
            <a:srgbClr val="FFC000"/>
          </a:solidFill>
          <a:ln w="19050">
            <a:solidFill>
              <a:srgbClr val="000000"/>
            </a:solidFill>
            <a:prstDash val="solid"/>
          </a:ln>
        </p:spPr>
      </p:sp>
      <p:sp>
        <p:nvSpPr>
          <p:cNvPr id="24" name="Text 18"/>
          <p:cNvSpPr txBox="1"/>
          <p:nvPr/>
        </p:nvSpPr>
        <p:spPr>
          <a:xfrm>
            <a:off x="5321808" y="1906524"/>
            <a:ext cx="274320" cy="2743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a:t>
            </a:r>
            <a:endParaRPr lang="en-US" sz="1600" dirty="0"/>
          </a:p>
        </p:txBody>
      </p:sp>
      <p:sp>
        <p:nvSpPr>
          <p:cNvPr id="25" name="Shape 19"/>
          <p:cNvSpPr/>
          <p:nvPr/>
        </p:nvSpPr>
        <p:spPr>
          <a:xfrm>
            <a:off x="3977640" y="2286000"/>
            <a:ext cx="1188720" cy="365760"/>
          </a:xfrm>
          <a:prstGeom prst="roundRect">
            <a:avLst>
              <a:gd name="adj" fmla="val 50000"/>
            </a:avLst>
          </a:prstGeom>
          <a:solidFill>
            <a:srgbClr val="E5252A"/>
          </a:solidFill>
          <a:ln w="12700">
            <a:solidFill>
              <a:srgbClr val="E5252A"/>
            </a:solidFill>
            <a:prstDash val="solid"/>
          </a:ln>
        </p:spPr>
      </p:sp>
      <p:sp>
        <p:nvSpPr>
          <p:cNvPr id="26" name="Text 20"/>
          <p:cNvSpPr txBox="1"/>
          <p:nvPr/>
        </p:nvSpPr>
        <p:spPr>
          <a:xfrm>
            <a:off x="3977640" y="2286000"/>
            <a:ext cx="1188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미가입 2건</a:t>
            </a:r>
            <a:endParaRPr lang="en-US" sz="1500" dirty="0"/>
          </a:p>
        </p:txBody>
      </p:sp>
      <p:sp>
        <p:nvSpPr>
          <p:cNvPr id="27" name="Text 21"/>
          <p:cNvSpPr txBox="1"/>
          <p:nvPr/>
        </p:nvSpPr>
        <p:spPr>
          <a:xfrm>
            <a:off x="5568696"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04</a:t>
            </a:r>
            <a:endParaRPr lang="en-US" sz="2000" dirty="0"/>
          </a:p>
        </p:txBody>
      </p:sp>
      <p:pic>
        <p:nvPicPr>
          <p:cNvPr id="28" name="Image 3" descr="예산을 말하면 설계안">    </p:cNvPr>
          <p:cNvPicPr>
            <a:picLocks noChangeAspect="1"/>
          </p:cNvPicPr>
          <p:nvPr/>
        </p:nvPicPr>
        <p:blipFill>
          <a:blip r:embed="rId4"/>
          <a:stretch>
            <a:fillRect/>
          </a:stretch>
        </p:blipFill>
        <p:spPr>
          <a:xfrm>
            <a:off x="5568696" y="1078992"/>
            <a:ext cx="1554480" cy="1965960"/>
          </a:xfrm>
          <a:prstGeom prst="rect">
            <a:avLst/>
          </a:prstGeom>
        </p:spPr>
      </p:pic>
      <p:sp>
        <p:nvSpPr>
          <p:cNvPr id="29" name="Shape 22"/>
          <p:cNvSpPr/>
          <p:nvPr/>
        </p:nvSpPr>
        <p:spPr>
          <a:xfrm>
            <a:off x="5568696" y="1078992"/>
            <a:ext cx="1554480" cy="1965960"/>
          </a:xfrm>
          <a:prstGeom prst="roundRect">
            <a:avLst>
              <a:gd name="adj" fmla="val 3529"/>
            </a:avLst>
          </a:prstGeom>
          <a:ln w="9525">
            <a:solidFill>
              <a:srgbClr val="FFC000">
                <a:alpha val="65000"/>
              </a:srgbClr>
            </a:solidFill>
            <a:prstDash val="solid"/>
          </a:ln>
        </p:spPr>
      </p:sp>
      <p:sp>
        <p:nvSpPr>
          <p:cNvPr id="30" name="Text 23"/>
          <p:cNvSpPr txBox="1"/>
          <p:nvPr/>
        </p:nvSpPr>
        <p:spPr>
          <a:xfrm>
            <a:off x="5568696" y="3136392"/>
            <a:ext cx="1755648" cy="329184"/>
          </a:xfrm>
          <a:prstGeom prst="rect">
            <a:avLst/>
          </a:prstGeom>
          <a:noFill/>
          <a:ln/>
        </p:spPr>
        <p:txBody>
          <a:bodyPr wrap="square" lIns="0" tIns="0" rIns="0" bIns="0" rtlCol="0" anchor="ctr"/>
          <a:lstStyle/>
          <a:p>
            <a:pPr indent="0" marL="0">
              <a:buNone/>
            </a:pPr>
            <a:r>
              <a:rPr lang="en-US" sz="1700" b="1" dirty="0">
                <a:solidFill>
                  <a:srgbClr val="FFC000"/>
                </a:solidFill>
                <a:latin typeface="맑은 고딕" pitchFamily="34" charset="0"/>
                <a:ea typeface="맑은 고딕" pitchFamily="34" charset="-122"/>
                <a:cs typeface="맑은 고딕" pitchFamily="34" charset="-120"/>
              </a:rPr>
              <a:t>AI </a:t>
            </a:r>
            <a:r>
              <a:rPr lang="en-US" sz="1700" b="1" dirty="0">
                <a:solidFill>
                  <a:srgbClr val="FFFFFF"/>
                </a:solidFill>
                <a:latin typeface="맑은 고딕" pitchFamily="34" charset="0"/>
                <a:ea typeface="맑은 고딕" pitchFamily="34" charset="-122"/>
                <a:cs typeface="맑은 고딕" pitchFamily="34" charset="-120"/>
              </a:rPr>
              <a:t>설계</a:t>
            </a:r>
            <a:endParaRPr lang="en-US" sz="1700" dirty="0"/>
          </a:p>
        </p:txBody>
      </p:sp>
      <p:sp>
        <p:nvSpPr>
          <p:cNvPr id="31" name="Text 24"/>
          <p:cNvSpPr txBox="1"/>
          <p:nvPr/>
        </p:nvSpPr>
        <p:spPr>
          <a:xfrm>
            <a:off x="5568696" y="3474720"/>
            <a:ext cx="1755648"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예산을 말하면 설계안</a:t>
            </a:r>
            <a:endParaRPr lang="en-US" sz="1300" dirty="0"/>
          </a:p>
        </p:txBody>
      </p:sp>
      <p:sp>
        <p:nvSpPr>
          <p:cNvPr id="32" name="Shape 25"/>
          <p:cNvSpPr/>
          <p:nvPr/>
        </p:nvSpPr>
        <p:spPr>
          <a:xfrm>
            <a:off x="7095744" y="1924812"/>
            <a:ext cx="274320" cy="274320"/>
          </a:xfrm>
          <a:prstGeom prst="ellipse">
            <a:avLst/>
          </a:prstGeom>
          <a:solidFill>
            <a:srgbClr val="FFC000"/>
          </a:solidFill>
          <a:ln w="19050">
            <a:solidFill>
              <a:srgbClr val="000000"/>
            </a:solidFill>
            <a:prstDash val="solid"/>
          </a:ln>
        </p:spPr>
      </p:sp>
      <p:sp>
        <p:nvSpPr>
          <p:cNvPr id="33" name="Text 26"/>
          <p:cNvSpPr txBox="1"/>
          <p:nvPr/>
        </p:nvSpPr>
        <p:spPr>
          <a:xfrm>
            <a:off x="7095744" y="1906524"/>
            <a:ext cx="274320" cy="2743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a:t>
            </a:r>
            <a:endParaRPr lang="en-US" sz="1600" dirty="0"/>
          </a:p>
        </p:txBody>
      </p:sp>
      <p:sp>
        <p:nvSpPr>
          <p:cNvPr id="34" name="Shape 27"/>
          <p:cNvSpPr/>
          <p:nvPr/>
        </p:nvSpPr>
        <p:spPr>
          <a:xfrm>
            <a:off x="5623560" y="1865376"/>
            <a:ext cx="1444752" cy="822960"/>
          </a:xfrm>
          <a:prstGeom prst="roundRect">
            <a:avLst>
              <a:gd name="adj" fmla="val 13333"/>
            </a:avLst>
          </a:prstGeom>
          <a:solidFill>
            <a:srgbClr val="FFFFFF"/>
          </a:solidFill>
          <a:ln w="25400">
            <a:solidFill>
              <a:srgbClr val="FFC000"/>
            </a:solidFill>
            <a:prstDash val="solid"/>
          </a:ln>
        </p:spPr>
      </p:sp>
      <p:sp>
        <p:nvSpPr>
          <p:cNvPr id="35" name="Text 28"/>
          <p:cNvSpPr txBox="1"/>
          <p:nvPr/>
        </p:nvSpPr>
        <p:spPr>
          <a:xfrm>
            <a:off x="5623560" y="1865376"/>
            <a:ext cx="1444752" cy="822960"/>
          </a:xfrm>
          <a:prstGeom prst="rect">
            <a:avLst/>
          </a:prstGeom>
          <a:noFill/>
          <a:ln/>
        </p:spPr>
        <p:txBody>
          <a:bodyPr wrap="square" lIns="0" tIns="0" rIns="0" bIns="0" rtlCol="0" anchor="ctr"/>
          <a:lstStyle/>
          <a:p>
            <a:pPr algn="ctr" indent="0" marL="0">
              <a:lnSpc>
                <a:spcPct val="115000"/>
              </a:lnSpc>
              <a:buNone/>
            </a:pPr>
            <a:r>
              <a:rPr lang="en-US" sz="1400" b="1" dirty="0">
                <a:solidFill>
                  <a:srgbClr val="111111"/>
                </a:solidFill>
                <a:latin typeface="맑은 고딕" pitchFamily="34" charset="0"/>
                <a:ea typeface="맑은 고딕" pitchFamily="34" charset="-122"/>
                <a:cs typeface="맑은 고딕" pitchFamily="34" charset="-120"/>
              </a:rPr>
              <a:t>월 5만 원 안에서</a:t>
            </a:r>
            <a:endParaRPr lang="en-US" sz="1400" dirty="0"/>
          </a:p>
          <a:p>
            <a:pPr algn="ctr" indent="0" marL="0">
              <a:lnSpc>
                <a:spcPct val="115000"/>
              </a:lnSpc>
              <a:buNone/>
            </a:pPr>
            <a:r>
              <a:rPr lang="en-US" sz="1400" b="1" dirty="0">
                <a:solidFill>
                  <a:srgbClr val="111111"/>
                </a:solidFill>
                <a:latin typeface="맑은 고딕" pitchFamily="34" charset="0"/>
                <a:ea typeface="맑은 고딕" pitchFamily="34" charset="-122"/>
                <a:cs typeface="맑은 고딕" pitchFamily="34" charset="-120"/>
              </a:rPr>
              <a:t>설계안 만들어줘</a:t>
            </a:r>
            <a:endParaRPr lang="en-US" sz="1400" dirty="0"/>
          </a:p>
        </p:txBody>
      </p:sp>
      <p:sp>
        <p:nvSpPr>
          <p:cNvPr id="36" name="Text 29"/>
          <p:cNvSpPr txBox="1"/>
          <p:nvPr/>
        </p:nvSpPr>
        <p:spPr>
          <a:xfrm>
            <a:off x="7342632" y="713232"/>
            <a:ext cx="1554480" cy="310896"/>
          </a:xfrm>
          <a:prstGeom prst="rect">
            <a:avLst/>
          </a:prstGeom>
          <a:noFill/>
          <a:ln/>
        </p:spPr>
        <p:txBody>
          <a:bodyPr wrap="square" lIns="0" tIns="0" rIns="0" bIns="0" rtlCol="0" anchor="ctr"/>
          <a:lstStyle/>
          <a:p>
            <a:pPr indent="0" marL="0">
              <a:buNone/>
            </a:pPr>
            <a:r>
              <a:rPr lang="en-US" sz="2000" b="1" dirty="0">
                <a:solidFill>
                  <a:srgbClr val="FFC000"/>
                </a:solidFill>
                <a:latin typeface="맑은 고딕" pitchFamily="34" charset="0"/>
                <a:ea typeface="맑은 고딕" pitchFamily="34" charset="-122"/>
                <a:cs typeface="맑은 고딕" pitchFamily="34" charset="-120"/>
              </a:rPr>
              <a:t>05</a:t>
            </a:r>
            <a:endParaRPr lang="en-US" sz="2000" dirty="0"/>
          </a:p>
        </p:txBody>
      </p:sp>
      <p:pic>
        <p:nvPicPr>
          <p:cNvPr id="37" name="Image 4" descr="카카오톡으로 발송">    </p:cNvPr>
          <p:cNvPicPr>
            <a:picLocks noChangeAspect="1"/>
          </p:cNvPicPr>
          <p:nvPr/>
        </p:nvPicPr>
        <p:blipFill>
          <a:blip r:embed="rId5"/>
          <a:stretch>
            <a:fillRect/>
          </a:stretch>
        </p:blipFill>
        <p:spPr>
          <a:xfrm>
            <a:off x="7342632" y="1078992"/>
            <a:ext cx="1554480" cy="1965960"/>
          </a:xfrm>
          <a:prstGeom prst="rect">
            <a:avLst/>
          </a:prstGeom>
        </p:spPr>
      </p:pic>
      <p:sp>
        <p:nvSpPr>
          <p:cNvPr id="38" name="Shape 30"/>
          <p:cNvSpPr/>
          <p:nvPr/>
        </p:nvSpPr>
        <p:spPr>
          <a:xfrm>
            <a:off x="7342632" y="1078992"/>
            <a:ext cx="1554480" cy="1965960"/>
          </a:xfrm>
          <a:prstGeom prst="roundRect">
            <a:avLst>
              <a:gd name="adj" fmla="val 3529"/>
            </a:avLst>
          </a:prstGeom>
          <a:ln w="9525">
            <a:solidFill>
              <a:srgbClr val="FFC000">
                <a:alpha val="65000"/>
              </a:srgbClr>
            </a:solidFill>
            <a:prstDash val="solid"/>
          </a:ln>
        </p:spPr>
      </p:sp>
      <p:sp>
        <p:nvSpPr>
          <p:cNvPr id="39" name="Text 31"/>
          <p:cNvSpPr txBox="1"/>
          <p:nvPr/>
        </p:nvSpPr>
        <p:spPr>
          <a:xfrm>
            <a:off x="7342632" y="3136392"/>
            <a:ext cx="1554480" cy="329184"/>
          </a:xfrm>
          <a:prstGeom prst="rect">
            <a:avLst/>
          </a:prstGeom>
          <a:noFill/>
          <a:ln/>
        </p:spPr>
        <p:txBody>
          <a:bodyPr wrap="square" lIns="0" tIns="0" rIns="0" bIns="0" rtlCol="0" anchor="ctr"/>
          <a:lstStyle/>
          <a:p>
            <a:pPr indent="0" marL="0">
              <a:buNone/>
            </a:pPr>
            <a:r>
              <a:rPr lang="en-US" sz="1700" b="1" dirty="0">
                <a:solidFill>
                  <a:srgbClr val="FFC000"/>
                </a:solidFill>
                <a:latin typeface="맑은 고딕" pitchFamily="34" charset="0"/>
                <a:ea typeface="맑은 고딕" pitchFamily="34" charset="-122"/>
                <a:cs typeface="맑은 고딕" pitchFamily="34" charset="-120"/>
              </a:rPr>
              <a:t>AI </a:t>
            </a:r>
            <a:r>
              <a:rPr lang="en-US" sz="1700" b="1" dirty="0">
                <a:solidFill>
                  <a:srgbClr val="FFFFFF"/>
                </a:solidFill>
                <a:latin typeface="맑은 고딕" pitchFamily="34" charset="0"/>
                <a:ea typeface="맑은 고딕" pitchFamily="34" charset="-122"/>
                <a:cs typeface="맑은 고딕" pitchFamily="34" charset="-120"/>
              </a:rPr>
              <a:t>리포트</a:t>
            </a:r>
            <a:endParaRPr lang="en-US" sz="1700" dirty="0"/>
          </a:p>
        </p:txBody>
      </p:sp>
      <p:sp>
        <p:nvSpPr>
          <p:cNvPr id="40" name="Text 32"/>
          <p:cNvSpPr txBox="1"/>
          <p:nvPr/>
        </p:nvSpPr>
        <p:spPr>
          <a:xfrm>
            <a:off x="7342632" y="3474720"/>
            <a:ext cx="1554480" cy="274320"/>
          </a:xfrm>
          <a:prstGeom prst="rect">
            <a:avLst/>
          </a:prstGeom>
          <a:noFill/>
          <a:ln/>
        </p:spPr>
        <p:txBody>
          <a:bodyPr wrap="square" lIns="0" tIns="0" rIns="0" bIns="0" rtlCol="0" anchor="ctr"/>
          <a:lstStyle/>
          <a:p>
            <a:pPr indent="0" marL="0">
              <a:buNone/>
            </a:pPr>
            <a:r>
              <a:rPr lang="en-US" sz="1300" dirty="0">
                <a:solidFill>
                  <a:srgbClr val="D9D9D9"/>
                </a:solidFill>
                <a:latin typeface="맑은 고딕" pitchFamily="34" charset="0"/>
                <a:ea typeface="맑은 고딕" pitchFamily="34" charset="-122"/>
                <a:cs typeface="맑은 고딕" pitchFamily="34" charset="-120"/>
              </a:rPr>
              <a:t>카카오톡으로 발송</a:t>
            </a:r>
            <a:endParaRPr lang="en-US" sz="1300" dirty="0"/>
          </a:p>
        </p:txBody>
      </p:sp>
      <p:sp>
        <p:nvSpPr>
          <p:cNvPr id="41" name="Text 33"/>
          <p:cNvSpPr txBox="1"/>
          <p:nvPr/>
        </p:nvSpPr>
        <p:spPr>
          <a:xfrm>
            <a:off x="246888" y="3950208"/>
            <a:ext cx="8650224"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이 모든 과정이, </a:t>
            </a:r>
            <a:r>
              <a:rPr lang="en-US" sz="2800" b="1" dirty="0">
                <a:solidFill>
                  <a:srgbClr val="FFC000"/>
                </a:solidFill>
                <a:latin typeface="맑은 고딕" pitchFamily="34" charset="0"/>
                <a:ea typeface="맑은 고딕" pitchFamily="34" charset="-122"/>
                <a:cs typeface="맑은 고딕" pitchFamily="34" charset="-120"/>
              </a:rPr>
              <a:t>MeAI 하나로</a:t>
            </a:r>
            <a:endParaRPr lang="en-US" sz="2800" dirty="0"/>
          </a:p>
        </p:txBody>
      </p:sp>
      <p:sp>
        <p:nvSpPr>
          <p:cNvPr id="42" name="Text 34"/>
          <p:cNvSpPr txBox="1"/>
          <p:nvPr/>
        </p:nvSpPr>
        <p:spPr>
          <a:xfrm>
            <a:off x="246888" y="4617720"/>
            <a:ext cx="3657600" cy="256032"/>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 화면 속 이름·숫자는 예시</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ITLE_PREVIEW"/>
          <p:cNvSpPr txBox="1"/>
          <p:nvPr/>
        </p:nvSpPr>
        <p:spPr>
          <a:xfrm>
            <a:off x="246888" y="109728"/>
            <a:ext cx="8641080" cy="502920"/>
          </a:xfrm>
          <a:prstGeom prst="rect">
            <a:avLst/>
          </a:prstGeom>
          <a:noFill/>
          <a:ln/>
        </p:spPr>
        <p:txBody>
          <a:bodyPr wrap="square" lIns="0" tIns="0" rIns="0" bIns="0" rtlCol="0" anchor="ctr"/>
          <a:lstStyle/>
          <a:p>
            <a:pPr indent="0" marL="0">
              <a:buNone/>
            </a:pPr>
            <a:r>
              <a:rPr lang="en-US" sz="2800" b="1" dirty="0">
                <a:solidFill>
                  <a:srgbClr val="FFFFFF"/>
                </a:solidFill>
                <a:latin typeface="맑은 고딕" pitchFamily="34" charset="0"/>
                <a:ea typeface="맑은 고딕" pitchFamily="34" charset="-122"/>
                <a:cs typeface="맑은 고딕" pitchFamily="34" charset="-120"/>
              </a:rPr>
              <a:t>MeAI는 이미 차이를 만들어내고 있음</a:t>
            </a:r>
            <a:endParaRPr lang="en-US" sz="2800" dirty="0"/>
          </a:p>
        </p:txBody>
      </p:sp>
      <p:sp>
        <p:nvSpPr>
          <p:cNvPr id="4" name="Text 1"/>
          <p:cNvSpPr txBox="1"/>
          <p:nvPr/>
        </p:nvSpPr>
        <p:spPr>
          <a:xfrm>
            <a:off x="502920" y="932688"/>
            <a:ext cx="4206240" cy="292608"/>
          </a:xfrm>
          <a:prstGeom prst="rect">
            <a:avLst/>
          </a:prstGeom>
          <a:noFill/>
          <a:ln/>
        </p:spPr>
        <p:txBody>
          <a:bodyPr wrap="square" lIns="0" tIns="0" rIns="0" bIns="0" rtlCol="0" anchor="ctr"/>
          <a:lstStyle/>
          <a:p>
            <a:pPr indent="0" marL="0">
              <a:buNone/>
            </a:pPr>
            <a:r>
              <a:rPr lang="en-US" sz="1500" b="1" dirty="0">
                <a:solidFill>
                  <a:srgbClr val="FFC000"/>
                </a:solidFill>
                <a:latin typeface="맑은 고딕" pitchFamily="34" charset="0"/>
                <a:ea typeface="맑은 고딕" pitchFamily="34" charset="-122"/>
                <a:cs typeface="맑은 고딕" pitchFamily="34" charset="-120"/>
              </a:rPr>
              <a:t>효과가 있어?</a:t>
            </a:r>
            <a:endParaRPr lang="en-US" sz="1500" dirty="0"/>
          </a:p>
        </p:txBody>
      </p:sp>
      <p:sp>
        <p:nvSpPr>
          <p:cNvPr id="5" name="Text 2"/>
          <p:cNvSpPr txBox="1"/>
          <p:nvPr/>
        </p:nvSpPr>
        <p:spPr>
          <a:xfrm>
            <a:off x="502920" y="1243584"/>
            <a:ext cx="4206240" cy="365760"/>
          </a:xfrm>
          <a:prstGeom prst="rect">
            <a:avLst/>
          </a:prstGeom>
          <a:noFill/>
          <a:ln/>
        </p:spPr>
        <p:txBody>
          <a:bodyPr wrap="square" lIns="0" tIns="0" rIns="0" bIns="0"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MeAI 활용 시 체결률</a:t>
            </a:r>
            <a:endParaRPr lang="en-US" sz="1900" dirty="0"/>
          </a:p>
        </p:txBody>
      </p:sp>
      <p:sp>
        <p:nvSpPr>
          <p:cNvPr id="6" name="Text 3"/>
          <p:cNvSpPr txBox="1"/>
          <p:nvPr/>
        </p:nvSpPr>
        <p:spPr>
          <a:xfrm>
            <a:off x="411480" y="1572768"/>
            <a:ext cx="4480560" cy="1691640"/>
          </a:xfrm>
          <a:prstGeom prst="rect">
            <a:avLst/>
          </a:prstGeom>
          <a:noFill/>
          <a:ln/>
        </p:spPr>
        <p:txBody>
          <a:bodyPr wrap="square" lIns="0" tIns="0" rIns="0" bIns="0" rtlCol="0" anchor="ctr"/>
          <a:lstStyle/>
          <a:p>
            <a:pPr indent="0" marL="0">
              <a:buNone/>
            </a:pPr>
            <a:r>
              <a:rPr lang="en-US" sz="11800" b="1" dirty="0">
                <a:solidFill>
                  <a:srgbClr val="FFC000"/>
                </a:solidFill>
                <a:latin typeface="맑은 고딕" pitchFamily="34" charset="0"/>
                <a:ea typeface="맑은 고딕" pitchFamily="34" charset="-122"/>
                <a:cs typeface="맑은 고딕" pitchFamily="34" charset="-120"/>
              </a:rPr>
              <a:t>2.8</a:t>
            </a:r>
            <a:r>
              <a:rPr lang="en-US" sz="4400" b="1" dirty="0">
                <a:solidFill>
                  <a:srgbClr val="FFC000"/>
                </a:solidFill>
                <a:latin typeface="맑은 고딕" pitchFamily="34" charset="0"/>
                <a:ea typeface="맑은 고딕" pitchFamily="34" charset="-122"/>
                <a:cs typeface="맑은 고딕" pitchFamily="34" charset="-120"/>
              </a:rPr>
              <a:t>배</a:t>
            </a:r>
            <a:endParaRPr lang="en-US" sz="11800" dirty="0"/>
          </a:p>
        </p:txBody>
      </p:sp>
      <p:sp>
        <p:nvSpPr>
          <p:cNvPr id="7" name="Text 4"/>
          <p:cNvSpPr txBox="1"/>
          <p:nvPr/>
        </p:nvSpPr>
        <p:spPr>
          <a:xfrm>
            <a:off x="502920" y="3355848"/>
            <a:ext cx="4389120" cy="365760"/>
          </a:xfrm>
          <a:prstGeom prst="rect">
            <a:avLst/>
          </a:prstGeom>
          <a:noFill/>
          <a:ln/>
        </p:spPr>
        <p:txBody>
          <a:bodyPr wrap="square" lIns="0" tIns="0" rIns="0" bIns="0" rtlCol="0" anchor="ctr"/>
          <a:lstStyle/>
          <a:p>
            <a:pPr indent="0" marL="0">
              <a:buNone/>
            </a:pPr>
            <a:r>
              <a:rPr lang="en-US" sz="1800" dirty="0">
                <a:solidFill>
                  <a:srgbClr val="B5B5B5"/>
                </a:solidFill>
                <a:latin typeface="맑은 고딕" pitchFamily="34" charset="0"/>
                <a:ea typeface="맑은 고딕" pitchFamily="34" charset="-122"/>
                <a:cs typeface="맑은 고딕" pitchFamily="34" charset="-120"/>
              </a:rPr>
              <a:t>미활용 12.7%</a:t>
            </a:r>
            <a:r>
              <a:rPr lang="en-US" sz="1800" b="1" dirty="0">
                <a:solidFill>
                  <a:srgbClr val="FFC000"/>
                </a:solidFill>
                <a:latin typeface="맑은 고딕" pitchFamily="34" charset="0"/>
                <a:ea typeface="맑은 고딕" pitchFamily="34" charset="-122"/>
                <a:cs typeface="맑은 고딕" pitchFamily="34" charset="-120"/>
              </a:rPr>
              <a:t>   →   </a:t>
            </a:r>
            <a:r>
              <a:rPr lang="en-US" sz="1800" b="1" dirty="0">
                <a:solidFill>
                  <a:srgbClr val="FFFFFF"/>
                </a:solidFill>
                <a:latin typeface="맑은 고딕" pitchFamily="34" charset="0"/>
                <a:ea typeface="맑은 고딕" pitchFamily="34" charset="-122"/>
                <a:cs typeface="맑은 고딕" pitchFamily="34" charset="-120"/>
              </a:rPr>
              <a:t>활용 35.4%</a:t>
            </a:r>
            <a:endParaRPr lang="en-US" sz="1800" dirty="0"/>
          </a:p>
        </p:txBody>
      </p:sp>
      <p:sp>
        <p:nvSpPr>
          <p:cNvPr id="8" name="Shape 5"/>
          <p:cNvSpPr/>
          <p:nvPr/>
        </p:nvSpPr>
        <p:spPr>
          <a:xfrm>
            <a:off x="5074920" y="1005840"/>
            <a:ext cx="3822192" cy="1261872"/>
          </a:xfrm>
          <a:prstGeom prst="roundRect">
            <a:avLst>
              <a:gd name="adj" fmla="val 5797"/>
            </a:avLst>
          </a:prstGeom>
          <a:solidFill>
            <a:srgbClr val="141414"/>
          </a:solidFill>
          <a:ln w="9525">
            <a:solidFill>
              <a:srgbClr val="FFC000">
                <a:alpha val="60000"/>
              </a:srgbClr>
            </a:solidFill>
            <a:prstDash val="solid"/>
          </a:ln>
        </p:spPr>
      </p:sp>
      <p:sp>
        <p:nvSpPr>
          <p:cNvPr id="9" name="Text 6"/>
          <p:cNvSpPr txBox="1"/>
          <p:nvPr/>
        </p:nvSpPr>
        <p:spPr>
          <a:xfrm>
            <a:off x="5303520" y="1005840"/>
            <a:ext cx="1371600" cy="1261872"/>
          </a:xfrm>
          <a:prstGeom prst="rect">
            <a:avLst/>
          </a:prstGeom>
          <a:noFill/>
          <a:ln/>
        </p:spPr>
        <p:txBody>
          <a:bodyPr wrap="square" lIns="0" tIns="0" rIns="0" bIns="0" rtlCol="0" anchor="ctr"/>
          <a:lstStyle/>
          <a:p>
            <a:pPr indent="0" marL="0">
              <a:buNone/>
            </a:pPr>
            <a:r>
              <a:rPr lang="en-US" sz="4600" b="1" dirty="0">
                <a:solidFill>
                  <a:srgbClr val="FFC000"/>
                </a:solidFill>
                <a:latin typeface="맑은 고딕" pitchFamily="34" charset="0"/>
                <a:ea typeface="맑은 고딕" pitchFamily="34" charset="-122"/>
                <a:cs typeface="맑은 고딕" pitchFamily="34" charset="-120"/>
              </a:rPr>
              <a:t>4.0</a:t>
            </a:r>
            <a:r>
              <a:rPr lang="en-US" sz="2000" b="1" dirty="0">
                <a:solidFill>
                  <a:srgbClr val="FFC000"/>
                </a:solidFill>
                <a:latin typeface="맑은 고딕" pitchFamily="34" charset="0"/>
                <a:ea typeface="맑은 고딕" pitchFamily="34" charset="-122"/>
                <a:cs typeface="맑은 고딕" pitchFamily="34" charset="-120"/>
              </a:rPr>
              <a:t>배</a:t>
            </a:r>
            <a:endParaRPr lang="en-US" sz="4600" dirty="0"/>
          </a:p>
        </p:txBody>
      </p:sp>
      <p:sp>
        <p:nvSpPr>
          <p:cNvPr id="10" name="Text 7"/>
          <p:cNvSpPr txBox="1"/>
          <p:nvPr/>
        </p:nvSpPr>
        <p:spPr>
          <a:xfrm>
            <a:off x="6720840" y="1188720"/>
            <a:ext cx="2084832" cy="274320"/>
          </a:xfrm>
          <a:prstGeom prst="rect">
            <a:avLst/>
          </a:prstGeom>
          <a:noFill/>
          <a:ln/>
        </p:spPr>
        <p:txBody>
          <a:bodyPr wrap="square" lIns="0" tIns="0" rIns="0" bIns="0" rtlCol="0" anchor="ctr"/>
          <a:lstStyle/>
          <a:p>
            <a:pPr indent="0" marL="0">
              <a:buNone/>
            </a:pPr>
            <a:r>
              <a:rPr lang="en-US" sz="1300" b="1" dirty="0">
                <a:solidFill>
                  <a:srgbClr val="FFC000"/>
                </a:solidFill>
                <a:latin typeface="맑은 고딕" pitchFamily="34" charset="0"/>
                <a:ea typeface="맑은 고딕" pitchFamily="34" charset="-122"/>
                <a:cs typeface="맑은 고딕" pitchFamily="34" charset="-120"/>
              </a:rPr>
              <a:t>원래 잘하는 사람 아니야?</a:t>
            </a:r>
            <a:endParaRPr lang="en-US" sz="1300" dirty="0"/>
          </a:p>
        </p:txBody>
      </p:sp>
      <p:sp>
        <p:nvSpPr>
          <p:cNvPr id="11" name="Text 8"/>
          <p:cNvSpPr txBox="1"/>
          <p:nvPr/>
        </p:nvSpPr>
        <p:spPr>
          <a:xfrm>
            <a:off x="6720840" y="1463040"/>
            <a:ext cx="2084832" cy="329184"/>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같은 FP 고객끼리도</a:t>
            </a:r>
            <a:endParaRPr lang="en-US" sz="1500" dirty="0"/>
          </a:p>
        </p:txBody>
      </p:sp>
      <p:sp>
        <p:nvSpPr>
          <p:cNvPr id="12" name="Text 9"/>
          <p:cNvSpPr txBox="1"/>
          <p:nvPr/>
        </p:nvSpPr>
        <p:spPr>
          <a:xfrm>
            <a:off x="6720840" y="1810512"/>
            <a:ext cx="2084832" cy="274320"/>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미활용 9.0% → 활용 36.0%</a:t>
            </a:r>
            <a:endParaRPr lang="en-US" sz="1200" dirty="0"/>
          </a:p>
        </p:txBody>
      </p:sp>
      <p:sp>
        <p:nvSpPr>
          <p:cNvPr id="13" name="Shape 10"/>
          <p:cNvSpPr/>
          <p:nvPr/>
        </p:nvSpPr>
        <p:spPr>
          <a:xfrm>
            <a:off x="5074920" y="2468880"/>
            <a:ext cx="3822192" cy="1261872"/>
          </a:xfrm>
          <a:prstGeom prst="roundRect">
            <a:avLst>
              <a:gd name="adj" fmla="val 5797"/>
            </a:avLst>
          </a:prstGeom>
          <a:solidFill>
            <a:srgbClr val="141414"/>
          </a:solidFill>
          <a:ln w="9525">
            <a:solidFill>
              <a:srgbClr val="FFC000">
                <a:alpha val="60000"/>
              </a:srgbClr>
            </a:solidFill>
            <a:prstDash val="solid"/>
          </a:ln>
        </p:spPr>
      </p:sp>
      <p:sp>
        <p:nvSpPr>
          <p:cNvPr id="14" name="Text 11"/>
          <p:cNvSpPr txBox="1"/>
          <p:nvPr/>
        </p:nvSpPr>
        <p:spPr>
          <a:xfrm>
            <a:off x="5303520" y="2468880"/>
            <a:ext cx="1371600" cy="1261872"/>
          </a:xfrm>
          <a:prstGeom prst="rect">
            <a:avLst/>
          </a:prstGeom>
          <a:noFill/>
          <a:ln/>
        </p:spPr>
        <p:txBody>
          <a:bodyPr wrap="square" lIns="0" tIns="0" rIns="0" bIns="0" rtlCol="0" anchor="ctr"/>
          <a:lstStyle/>
          <a:p>
            <a:pPr indent="0" marL="0">
              <a:buNone/>
            </a:pPr>
            <a:r>
              <a:rPr lang="en-US" sz="4600" b="1" dirty="0">
                <a:solidFill>
                  <a:srgbClr val="FFC000"/>
                </a:solidFill>
                <a:latin typeface="맑은 고딕" pitchFamily="34" charset="0"/>
                <a:ea typeface="맑은 고딕" pitchFamily="34" charset="-122"/>
                <a:cs typeface="맑은 고딕" pitchFamily="34" charset="-120"/>
              </a:rPr>
              <a:t>2.3</a:t>
            </a:r>
            <a:r>
              <a:rPr lang="en-US" sz="2000" b="1" dirty="0">
                <a:solidFill>
                  <a:srgbClr val="FFC000"/>
                </a:solidFill>
                <a:latin typeface="맑은 고딕" pitchFamily="34" charset="0"/>
                <a:ea typeface="맑은 고딕" pitchFamily="34" charset="-122"/>
                <a:cs typeface="맑은 고딕" pitchFamily="34" charset="-120"/>
              </a:rPr>
              <a:t>배</a:t>
            </a:r>
            <a:endParaRPr lang="en-US" sz="4600" dirty="0"/>
          </a:p>
        </p:txBody>
      </p:sp>
      <p:sp>
        <p:nvSpPr>
          <p:cNvPr id="15" name="Text 12"/>
          <p:cNvSpPr txBox="1"/>
          <p:nvPr/>
        </p:nvSpPr>
        <p:spPr>
          <a:xfrm>
            <a:off x="6720840" y="2651760"/>
            <a:ext cx="2084832" cy="274320"/>
          </a:xfrm>
          <a:prstGeom prst="rect">
            <a:avLst/>
          </a:prstGeom>
          <a:noFill/>
          <a:ln/>
        </p:spPr>
        <p:txBody>
          <a:bodyPr wrap="square" lIns="0" tIns="0" rIns="0" bIns="0" rtlCol="0" anchor="ctr"/>
          <a:lstStyle/>
          <a:p>
            <a:pPr indent="0" marL="0">
              <a:buNone/>
            </a:pPr>
            <a:r>
              <a:rPr lang="en-US" sz="1300" b="1" dirty="0">
                <a:solidFill>
                  <a:srgbClr val="FFC000"/>
                </a:solidFill>
                <a:latin typeface="맑은 고딕" pitchFamily="34" charset="0"/>
                <a:ea typeface="맑은 고딕" pitchFamily="34" charset="-122"/>
                <a:cs typeface="맑은 고딕" pitchFamily="34" charset="-120"/>
              </a:rPr>
              <a:t>질문이 의미가 있어?</a:t>
            </a:r>
            <a:endParaRPr lang="en-US" sz="1300" dirty="0"/>
          </a:p>
        </p:txBody>
      </p:sp>
      <p:sp>
        <p:nvSpPr>
          <p:cNvPr id="16" name="Text 13"/>
          <p:cNvSpPr txBox="1"/>
          <p:nvPr/>
        </p:nvSpPr>
        <p:spPr>
          <a:xfrm>
            <a:off x="6720840" y="2926080"/>
            <a:ext cx="2084832" cy="329184"/>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질문 1개 → 3개 이상</a:t>
            </a:r>
            <a:endParaRPr lang="en-US" sz="1500" dirty="0"/>
          </a:p>
        </p:txBody>
      </p:sp>
      <p:sp>
        <p:nvSpPr>
          <p:cNvPr id="17" name="Text 14"/>
          <p:cNvSpPr txBox="1"/>
          <p:nvPr/>
        </p:nvSpPr>
        <p:spPr>
          <a:xfrm>
            <a:off x="6720840" y="3273552"/>
            <a:ext cx="2084832" cy="274320"/>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평균 가계약 12건 → 28건</a:t>
            </a:r>
            <a:endParaRPr lang="en-US" sz="1200" dirty="0"/>
          </a:p>
        </p:txBody>
      </p:sp>
      <p:sp>
        <p:nvSpPr>
          <p:cNvPr id="18" name="Text 15"/>
          <p:cNvSpPr txBox="1"/>
          <p:nvPr/>
        </p:nvSpPr>
        <p:spPr>
          <a:xfrm>
            <a:off x="502920" y="4206240"/>
            <a:ext cx="8394192" cy="274320"/>
          </a:xfrm>
          <a:prstGeom prst="rect">
            <a:avLst/>
          </a:prstGeom>
          <a:noFill/>
          <a:ln/>
        </p:spPr>
        <p:txBody>
          <a:bodyPr wrap="square" lIns="0" tIns="0" rIns="0" bIns="0" rtlCol="0" anchor="ctr"/>
          <a:lstStyle/>
          <a:p>
            <a:pPr indent="0" marL="0">
              <a:buNone/>
            </a:pPr>
            <a:r>
              <a:rPr lang="en-US" sz="1200" dirty="0">
                <a:solidFill>
                  <a:srgbClr val="B5B5B5"/>
                </a:solidFill>
                <a:latin typeface="맑은 고딕" pitchFamily="34" charset="0"/>
                <a:ea typeface="맑은 고딕" pitchFamily="34" charset="-122"/>
                <a:cs typeface="맑은 고딕" pitchFamily="34" charset="-120"/>
              </a:rPr>
              <a:t>출처: 2026년 8월 TA채널 MeAI 사용 데이터 분석</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3" name="Image 0" descr="배경 빛">    </p:cNvPr>
          <p:cNvPicPr>
            <a:picLocks noChangeAspect="1"/>
          </p:cNvPicPr>
          <p:nvPr/>
        </p:nvPicPr>
        <p:blipFill>
          <a:blip r:embed="rId1">
            <a:alphaModFix amt="80000"/>
          </a:blip>
          <a:stretch>
            <a:fillRect/>
          </a:stretch>
        </p:blipFill>
        <p:spPr>
          <a:xfrm>
            <a:off x="914400" y="2011680"/>
            <a:ext cx="7315200" cy="2834640"/>
          </a:xfrm>
          <a:prstGeom prst="rect">
            <a:avLst/>
          </a:prstGeom>
        </p:spPr>
      </p:pic>
      <p:sp>
        <p:nvSpPr>
          <p:cNvPr id="4" name="Text 0"/>
          <p:cNvSpPr txBox="1"/>
          <p:nvPr/>
        </p:nvSpPr>
        <p:spPr>
          <a:xfrm>
            <a:off x="274320" y="777240"/>
            <a:ext cx="8595360" cy="1600200"/>
          </a:xfrm>
          <a:prstGeom prst="rect">
            <a:avLst/>
          </a:prstGeom>
          <a:noFill/>
          <a:ln/>
        </p:spPr>
        <p:txBody>
          <a:bodyPr wrap="square" lIns="0" tIns="0" rIns="0" bIns="0" rtlCol="0" anchor="ctr"/>
          <a:lstStyle/>
          <a:p>
            <a:pPr algn="ctr" indent="0" marL="0">
              <a:lnSpc>
                <a:spcPct val="120000"/>
              </a:lnSpc>
              <a:buNone/>
            </a:pPr>
            <a:r>
              <a:rPr lang="en-US" sz="3400" b="1" dirty="0">
                <a:solidFill>
                  <a:srgbClr val="FFFFFF"/>
                </a:solidFill>
                <a:latin typeface="맑은 고딕" pitchFamily="34" charset="0"/>
                <a:ea typeface="맑은 고딕" pitchFamily="34" charset="-122"/>
                <a:cs typeface="맑은 고딕" pitchFamily="34" charset="-120"/>
              </a:rPr>
              <a:t>주인공을 꿈꾸는 사람들에게,</a:t>
            </a:r>
            <a:endParaRPr lang="en-US" sz="3400" dirty="0"/>
          </a:p>
          <a:p>
            <a:pPr algn="ctr" indent="0" marL="0">
              <a:lnSpc>
                <a:spcPct val="120000"/>
              </a:lnSpc>
              <a:buNone/>
            </a:pPr>
            <a:r>
              <a:rPr lang="en-US" sz="3400" b="1" dirty="0">
                <a:solidFill>
                  <a:srgbClr val="FFC000"/>
                </a:solidFill>
                <a:latin typeface="맑은 고딕" pitchFamily="34" charset="0"/>
                <a:ea typeface="맑은 고딕" pitchFamily="34" charset="-122"/>
                <a:cs typeface="맑은 고딕" pitchFamily="34" charset="-120"/>
              </a:rPr>
              <a:t>주인공으로 만들어주는 AI를</a:t>
            </a:r>
            <a:endParaRPr lang="en-US" sz="3400" dirty="0"/>
          </a:p>
        </p:txBody>
      </p:sp>
      <p:sp>
        <p:nvSpPr>
          <p:cNvPr id="5" name="Text 1"/>
          <p:cNvSpPr txBox="1"/>
          <p:nvPr/>
        </p:nvSpPr>
        <p:spPr>
          <a:xfrm>
            <a:off x="274320" y="2697480"/>
            <a:ext cx="8595360" cy="1417320"/>
          </a:xfrm>
          <a:prstGeom prst="rect">
            <a:avLst/>
          </a:prstGeom>
          <a:noFill/>
          <a:ln/>
        </p:spPr>
        <p:txBody>
          <a:bodyPr wrap="square" lIns="0" tIns="0" rIns="0" bIns="0" rtlCol="0" anchor="ctr"/>
          <a:lstStyle/>
          <a:p>
            <a:pPr algn="ctr" indent="0" marL="0">
              <a:buNone/>
            </a:pPr>
            <a:r>
              <a:rPr lang="en-US" sz="8400" b="1" dirty="0">
                <a:solidFill>
                  <a:srgbClr val="FFC000"/>
                </a:solidFill>
                <a:latin typeface="Arial" pitchFamily="34" charset="0"/>
                <a:ea typeface="Arial" pitchFamily="34" charset="-122"/>
                <a:cs typeface="Arial" pitchFamily="34" charset="-120"/>
              </a:rPr>
              <a:t>MeAI</a:t>
            </a:r>
            <a:endParaRPr lang="en-US" sz="8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메리츠드림 · MeAI</dc:title>
  <dc:subject>PptxGenJS Presentation</dc:subject>
  <dc:creator>PptxGenJS</dc:creator>
  <cp:lastModifiedBy>PptxGenJS</cp:lastModifiedBy>
  <cp:revision>1</cp:revision>
  <dcterms:created xsi:type="dcterms:W3CDTF">2026-10-07T03:24:42Z</dcterms:created>
  <dcterms:modified xsi:type="dcterms:W3CDTF">2026-10-07T03:24:42Z</dcterms:modified>
</cp:coreProperties>
</file>