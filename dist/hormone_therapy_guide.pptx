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af0d71be-f18b-b48a-2866-7045757a0e00}">
          <p14:sldIdLst>
            <p14:sldId id="256"/>
            <p14:sldId id="257"/>
          </p14:sldIdLst>
        </p14:section>
        <p14:section name="암 종류별 약 · 비용 · 기간" id="{ff17edbc-d33f-e954-aff2-b197f6f9284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메리츠 약관과 영업 포인트" id="{2b7c6214-a88f-163e-d720-0c3e19aa0f28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자료는 설계사 교육용입니다. 항암호르몬치료가 어떤 암에서, 어떤 약으로, 얼마나 오래 이어지는지 설명한 뒤 메리츠 약관 별표와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호르몬치료의 두 가지 특징, 환자 부담은 작지만 기간이 길다는 점이 이 자료 전체의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암 가운데 유방암과 전립선암이 호르몬치료의 90% 이상을 차지합니다. 나머지 셋은 참고 수준으로 짚고 넘어가면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유방암은 호르몬치료의 대표 분야입니다. 먹는 약은 월 1~8만 원으로 싸지만 5~10년 이어지고, 전이암은 월 1회 주사를 계속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전립선암은 진행이 느려 치료가 길어지는 암입니다. 기본 주사는 싸지만 평생 이어지고, 신형 먹는 약은 한 달 표시가가 100만 원을 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신형 약은 모두 메리츠 약관의 특정항암호르몬치료제 목록과 관련이 있습니다. 금액은 대략값이니 상담 시 병원 약제비 영수증으로 확인을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암은 호르몬치료 비중이 작습니다. 갑상선암은 약값이 아주 싸지만 평생 먹는다는 점, 그리고 약관 분류가 다르다는 점만 기억하면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영업 설명의 핵심 그림입니다. 항암주사와 호르몬치료의 기간 차이를 한 장에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17개 성분을 외울 필요는 없습니다. 유방암 약과 전립선암 약이 모두 들어 있다는 점, 그리고 두 가지 확인 사항만 기억하면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포인트를 순서대로 말하면 고객이 「해당된다, 오래 간다, 비싸질 수 있다」로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자료의 신뢰 범위를 분명히 하기 위한 것입니다. 확인된 숫자와 대략값을 나눠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1109167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AY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5C2C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메리츠화재 세일즈혁신 · 암 치료 이해 시리즈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항암호르몬치료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한눈에 보기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어떤 암에 쓰는지, 어떤 약을 얼마에 얼마나 오래 쓰는지</a:t>
            </a:r>
            <a:endParaRPr lang="en-US" sz="2000" dirty="0"/>
          </a:p>
        </p:txBody>
      </p:sp>
      <p:sp>
        <p:nvSpPr>
          <p:cNvPr id="5" name="pill"/>
          <p:cNvSpPr/>
          <p:nvPr/>
        </p:nvSpPr>
        <p:spPr>
          <a:xfrm>
            <a:off x="548640" y="475488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548640" y="47548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0D26"/>
                </a:solidFill>
              </a:rPr>
              <a:t>암 종류 5가지</a:t>
            </a:r>
            <a:endParaRPr lang="en-US" sz="1300" dirty="0"/>
          </a:p>
        </p:txBody>
      </p:sp>
      <p:sp>
        <p:nvSpPr>
          <p:cNvPr id="7" name="pill"/>
          <p:cNvSpPr/>
          <p:nvPr/>
        </p:nvSpPr>
        <p:spPr>
          <a:xfrm>
            <a:off x="3602736" y="4754880"/>
            <a:ext cx="3776472" cy="45720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8" name="pill-text"/>
          <p:cNvSpPr txBox="1"/>
          <p:nvPr/>
        </p:nvSpPr>
        <p:spPr>
          <a:xfrm>
            <a:off x="3602736" y="47548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0D26"/>
                </a:solidFill>
              </a:rPr>
              <a:t>주요 약 17개 성분</a:t>
            </a:r>
            <a:endParaRPr lang="en-US" sz="1300" dirty="0"/>
          </a:p>
        </p:txBody>
      </p:sp>
      <p:sp>
        <p:nvSpPr>
          <p:cNvPr id="9" name="pill"/>
          <p:cNvSpPr/>
          <p:nvPr/>
        </p:nvSpPr>
        <p:spPr>
          <a:xfrm>
            <a:off x="7562088" y="4754880"/>
            <a:ext cx="2267712" cy="45720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0" name="pill-text"/>
          <p:cNvSpPr txBox="1"/>
          <p:nvPr/>
        </p:nvSpPr>
        <p:spPr>
          <a:xfrm>
            <a:off x="7562088" y="4754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0D26"/>
                </a:solidFill>
              </a:rPr>
              <a:t>비용과 기간</a:t>
            </a:r>
            <a:endParaRPr lang="en-US" sz="1300" dirty="0"/>
          </a:p>
        </p:txBody>
      </p:sp>
      <p:sp>
        <p:nvSpPr>
          <p:cNvPr id="11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2026년 10월 · 금액은 대략값(가정값)이며 건강보험심사평가원 약가 목록으로 확인이 필요합니다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먼저 알아야 할 것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호르몬치료는 「싸지만 길다」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362956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" name="card-title"/>
          <p:cNvSpPr txBox="1"/>
          <p:nvPr/>
        </p:nvSpPr>
        <p:spPr>
          <a:xfrm>
            <a:off x="914400" y="210312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0D26"/>
                </a:solidFill>
              </a:rPr>
              <a:t>1. 환자가 내는 돈은 약값의 5%</a:t>
            </a:r>
            <a:endParaRPr lang="en-US" sz="1800" dirty="0"/>
          </a:p>
        </p:txBody>
      </p:sp>
      <p:sp>
        <p:nvSpPr>
          <p:cNvPr id="6" name="card-body"/>
          <p:cNvSpPr txBox="1"/>
          <p:nvPr/>
        </p:nvSpPr>
        <p:spPr>
          <a:xfrm>
            <a:off x="914400" y="2743200"/>
            <a:ext cx="46314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D4B"/>
                </a:solidFill>
              </a:rPr>
              <a:t>암 환자는 건강보험 산정특례(5년)로 약값의 5%만 냅니다. 한 달 200만 원짜리 약도 환자 부담은 10만 원 수준입니다.</a:t>
            </a:r>
            <a:endParaRPr lang="en-US" sz="1600" dirty="0"/>
          </a:p>
        </p:txBody>
      </p:sp>
      <p:sp>
        <p:nvSpPr>
          <p:cNvPr id="7" name="card-note"/>
          <p:cNvSpPr txBox="1"/>
          <p:nvPr/>
        </p:nvSpPr>
        <p:spPr>
          <a:xfrm>
            <a:off x="914400" y="4389120"/>
            <a:ext cx="46314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</a:rPr>
              <a:t>단, 새로 나온 약은 처음 몇 년 비급여로 시작해 전액 본인 부담인 경우가 있고, 산정특례 5년이 끝나면 부담이 커집니다.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6277356" y="1737360"/>
            <a:ext cx="5362956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9" name="card-title"/>
          <p:cNvSpPr txBox="1"/>
          <p:nvPr/>
        </p:nvSpPr>
        <p:spPr>
          <a:xfrm>
            <a:off x="6643116" y="210312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0D26"/>
                </a:solidFill>
              </a:rPr>
              <a:t>2. 치료가 5년, 10년, 평생 이어진다</a:t>
            </a:r>
            <a:endParaRPr lang="en-US" sz="1800" dirty="0"/>
          </a:p>
        </p:txBody>
      </p:sp>
      <p:sp>
        <p:nvSpPr>
          <p:cNvPr id="10" name="card-body"/>
          <p:cNvSpPr txBox="1"/>
          <p:nvPr/>
        </p:nvSpPr>
        <p:spPr>
          <a:xfrm>
            <a:off x="6643116" y="2743200"/>
            <a:ext cx="46314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D4B"/>
                </a:solidFill>
              </a:rPr>
              <a:t>항암주사(세포독성)는 보통 3~6개월이면 끝나지만, 호르몬치료는 유방암 5~10년, 전립선암 전이암은 평생 이어집니다.</a:t>
            </a:r>
            <a:endParaRPr lang="en-US" sz="1600" dirty="0"/>
          </a:p>
        </p:txBody>
      </p:sp>
      <p:sp>
        <p:nvSpPr>
          <p:cNvPr id="11" name="card-note"/>
          <p:cNvSpPr txBox="1"/>
          <p:nvPr/>
        </p:nvSpPr>
        <p:spPr>
          <a:xfrm>
            <a:off x="6643116" y="4389120"/>
            <a:ext cx="46314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</a:rPr>
              <a:t>그래서 특약의 「연간 1회」 「최초 1회」 지급 조건 차이가 고객에게 실제 금액 차이로 나타납니다.</a:t>
            </a:r>
            <a:endParaRPr lang="en-US" sz="1300" dirty="0"/>
          </a:p>
        </p:txBody>
      </p:sp>
      <p:sp>
        <p:nvSpPr>
          <p:cNvPr id="12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산정특례 본인부담률 5%는 국민건강보험 중증질환 등록 기준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어떤 암에 쓰나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호르몬을 먹고 자라는 암, 다섯 가지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035454" cy="3017520"/>
          </a:xfrm>
          <a:prstGeom prst="roundRect">
            <a:avLst>
              <a:gd name="adj" fmla="val 673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" name="cancer-name"/>
          <p:cNvSpPr txBox="1"/>
          <p:nvPr/>
        </p:nvSpPr>
        <p:spPr>
          <a:xfrm>
            <a:off x="777240" y="201168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</a:rPr>
              <a:t>유방암</a:t>
            </a:r>
            <a:endParaRPr lang="en-US" sz="1800" dirty="0"/>
          </a:p>
        </p:txBody>
      </p:sp>
      <p:sp>
        <p:nvSpPr>
          <p:cNvPr id="6" name="cancer-stat"/>
          <p:cNvSpPr txBox="1"/>
          <p:nvPr/>
        </p:nvSpPr>
        <p:spPr>
          <a:xfrm>
            <a:off x="777240" y="2514600"/>
            <a:ext cx="1578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약 70%</a:t>
            </a:r>
            <a:endParaRPr lang="en-US" sz="2200" dirty="0"/>
          </a:p>
        </p:txBody>
      </p:sp>
      <p:sp>
        <p:nvSpPr>
          <p:cNvPr id="7" name="cancer-desc"/>
          <p:cNvSpPr txBox="1"/>
          <p:nvPr/>
        </p:nvSpPr>
        <p:spPr>
          <a:xfrm>
            <a:off x="777240" y="3200400"/>
            <a:ext cx="15782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호르몬 수용체 양성 환자가 대상. 여성호르몬을 끊어 재발을 막음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2812694" y="1737360"/>
            <a:ext cx="2035454" cy="3017520"/>
          </a:xfrm>
          <a:prstGeom prst="roundRect">
            <a:avLst>
              <a:gd name="adj" fmla="val 673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9" name="cancer-name"/>
          <p:cNvSpPr txBox="1"/>
          <p:nvPr/>
        </p:nvSpPr>
        <p:spPr>
          <a:xfrm>
            <a:off x="3041294" y="201168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</a:rPr>
              <a:t>전립선암</a:t>
            </a:r>
            <a:endParaRPr lang="en-US" sz="1800" dirty="0"/>
          </a:p>
        </p:txBody>
      </p:sp>
      <p:sp>
        <p:nvSpPr>
          <p:cNvPr id="10" name="cancer-stat"/>
          <p:cNvSpPr txBox="1"/>
          <p:nvPr/>
        </p:nvSpPr>
        <p:spPr>
          <a:xfrm>
            <a:off x="3041294" y="2514600"/>
            <a:ext cx="1578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거의 전부</a:t>
            </a:r>
            <a:endParaRPr lang="en-US" sz="2200" dirty="0"/>
          </a:p>
        </p:txBody>
      </p:sp>
      <p:sp>
        <p:nvSpPr>
          <p:cNvPr id="11" name="cancer-desc"/>
          <p:cNvSpPr txBox="1"/>
          <p:nvPr/>
        </p:nvSpPr>
        <p:spPr>
          <a:xfrm>
            <a:off x="3041294" y="3200400"/>
            <a:ext cx="15782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중간 위험 이상은 대부분. 남성호르몬을 끊음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5076749" y="1737360"/>
            <a:ext cx="2035454" cy="3017520"/>
          </a:xfrm>
          <a:prstGeom prst="roundRect">
            <a:avLst>
              <a:gd name="adj" fmla="val 673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3" name="cancer-name"/>
          <p:cNvSpPr txBox="1"/>
          <p:nvPr/>
        </p:nvSpPr>
        <p:spPr>
          <a:xfrm>
            <a:off x="5305349" y="201168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</a:rPr>
              <a:t>자궁내막암</a:t>
            </a:r>
            <a:endParaRPr lang="en-US" sz="1800" dirty="0"/>
          </a:p>
        </p:txBody>
      </p:sp>
      <p:sp>
        <p:nvSpPr>
          <p:cNvPr id="14" name="cancer-stat"/>
          <p:cNvSpPr txBox="1"/>
          <p:nvPr/>
        </p:nvSpPr>
        <p:spPr>
          <a:xfrm>
            <a:off x="5305349" y="2514600"/>
            <a:ext cx="1578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일부</a:t>
            </a:r>
            <a:endParaRPr lang="en-US" sz="2200" dirty="0"/>
          </a:p>
        </p:txBody>
      </p:sp>
      <p:sp>
        <p:nvSpPr>
          <p:cNvPr id="15" name="cancer-desc"/>
          <p:cNvSpPr txBox="1"/>
          <p:nvPr/>
        </p:nvSpPr>
        <p:spPr>
          <a:xfrm>
            <a:off x="5305349" y="3200400"/>
            <a:ext cx="15782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재발·전이, 가임력 보존 희망자. 황체호르몬으로 억제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7340803" y="1737360"/>
            <a:ext cx="2035454" cy="3017520"/>
          </a:xfrm>
          <a:prstGeom prst="roundRect">
            <a:avLst>
              <a:gd name="adj" fmla="val 673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7" name="cancer-name"/>
          <p:cNvSpPr txBox="1"/>
          <p:nvPr/>
        </p:nvSpPr>
        <p:spPr>
          <a:xfrm>
            <a:off x="7569403" y="201168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</a:rPr>
              <a:t>난소암</a:t>
            </a:r>
            <a:endParaRPr lang="en-US" sz="1800" dirty="0"/>
          </a:p>
        </p:txBody>
      </p:sp>
      <p:sp>
        <p:nvSpPr>
          <p:cNvPr id="18" name="cancer-stat"/>
          <p:cNvSpPr txBox="1"/>
          <p:nvPr/>
        </p:nvSpPr>
        <p:spPr>
          <a:xfrm>
            <a:off x="7569403" y="2514600"/>
            <a:ext cx="1578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일부</a:t>
            </a:r>
            <a:endParaRPr lang="en-US" sz="2200" dirty="0"/>
          </a:p>
        </p:txBody>
      </p:sp>
      <p:sp>
        <p:nvSpPr>
          <p:cNvPr id="19" name="cancer-desc"/>
          <p:cNvSpPr txBox="1"/>
          <p:nvPr/>
        </p:nvSpPr>
        <p:spPr>
          <a:xfrm>
            <a:off x="7569403" y="3200400"/>
            <a:ext cx="15782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저등급 장액성 유형. 유방암과 같은 약으로 유지치료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9604858" y="1737360"/>
            <a:ext cx="2035454" cy="3017520"/>
          </a:xfrm>
          <a:prstGeom prst="roundRect">
            <a:avLst>
              <a:gd name="adj" fmla="val 673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1" name="cancer-name"/>
          <p:cNvSpPr txBox="1"/>
          <p:nvPr/>
        </p:nvSpPr>
        <p:spPr>
          <a:xfrm>
            <a:off x="9833458" y="201168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</a:rPr>
              <a:t>갑상선암</a:t>
            </a:r>
            <a:endParaRPr lang="en-US" sz="1800" dirty="0"/>
          </a:p>
        </p:txBody>
      </p:sp>
      <p:sp>
        <p:nvSpPr>
          <p:cNvPr id="22" name="cancer-stat"/>
          <p:cNvSpPr txBox="1"/>
          <p:nvPr/>
        </p:nvSpPr>
        <p:spPr>
          <a:xfrm>
            <a:off x="9833458" y="2514600"/>
            <a:ext cx="1578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수술 후 대부분</a:t>
            </a:r>
            <a:endParaRPr lang="en-US" sz="2200" dirty="0"/>
          </a:p>
        </p:txBody>
      </p:sp>
      <p:sp>
        <p:nvSpPr>
          <p:cNvPr id="23" name="cancer-desc"/>
          <p:cNvSpPr txBox="1"/>
          <p:nvPr/>
        </p:nvSpPr>
        <p:spPr>
          <a:xfrm>
            <a:off x="9833458" y="3200400"/>
            <a:ext cx="15782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갑상선호르몬을 넉넉히 먹여 자극호르몬을 누름</a:t>
            </a:r>
            <a:endParaRPr lang="en-US" sz="1250" dirty="0"/>
          </a:p>
        </p:txBody>
      </p:sp>
      <p:sp>
        <p:nvSpPr>
          <p:cNvPr id="24" name="notice-box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5" name="notice-text"/>
          <p:cNvSpPr txBox="1"/>
          <p:nvPr/>
        </p:nvSpPr>
        <p:spPr>
          <a:xfrm>
            <a:off x="777240" y="50749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0D26"/>
                </a:solidFill>
              </a:rPr>
              <a:t>참고 : 신경내분비종양(췌장·소장)도 호르몬 계열 주사를 쓰지만 메리츠 「특정항암호르몬치료제」 17개 성분 목록에는 없습니다. 갑상선암은 「갑상선 호르몬치료제」로 별도 분류입니다.</a:t>
            </a:r>
            <a:endParaRPr lang="en-US" sz="1300" dirty="0"/>
          </a:p>
        </p:txBody>
      </p:sp>
      <p:sp>
        <p:nvSpPr>
          <p:cNvPr id="26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비율은 국내외 진료지침과 역학 통계에 따른 대략값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암 종류별 약 · 비용 · 기간 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유방암 : 먹는 약 5~10년이 기본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1645920"/>
                <a:gridCol w="1737360"/>
                <a:gridCol w="1280160"/>
                <a:gridCol w="20391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성분 (상품명)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쓰는 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약값(월)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환자 부담(5%)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기간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폐경 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타목시펜 (놀바덱스)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1알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1만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수백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5년, 고위험 10년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폐경 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레트로졸 (페마라) · 아나스트로졸 (아리미덱스) · 엑스메스탄 (아로마신)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1알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4~8만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2~4천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5년, 고위험 7~10년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폐경 전 고위험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(난소기능 억제)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고세렐린 (졸라덱스) · 류프로렐린 (루프린)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월 1회 또는 3개월 1회 주사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월 1회 약 20만 원</a:t>
                      </a: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3개월형 약 50~60만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월 약 1만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2~5년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(먹는 약과 함께)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전이 · 재발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풀베스트란트 (파슬로덱스)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월 1회 주사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(첫 달 2회)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1팩 약 37만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1.9만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병이 진행될 때까지 계속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약값은 건강보험 표시가 기준 대략값(가정값). 파슬로덱스 37만6,724원은 2022년 직권조정 가격(데일리팜)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암 종류별 약 · 비용 · 기간 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전립선암 : 주사로 남성호르몬을 끊고, 먹는 약을 더한다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1463040"/>
                <a:gridCol w="1737360"/>
                <a:gridCol w="1188720"/>
                <a:gridCol w="19476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성분 (상품명)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쓰는 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약값(월)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환자 부담(5%)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기간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기본 호르몬 차단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(ADT 주사)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류프로렐린 (루프린) · 고세렐린 (졸라덱스) · 트립토렐린 (디페렐린) · 데가렐릭스 (퍼마곤)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1~3개월마다 주사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월 약 20만 원</a:t>
                      </a: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3개월형 60~70만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월 약 1만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국소암 6개월~3년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전이암 평생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구형 항남성호르몬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비칼루타미드 (카소덱스)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1알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6~7만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3천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주사와 함께 수개월~계속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신형 항남성호르몬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(고가)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엔잘루타마이드 (엑스탄디) · 아비라테론 (자이티가) · 아팔루타마이드 (얼리다) · 다로루타마이드 (뉴베카)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2~4알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130~250만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7~12만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진행될 때까지 계속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(보통 1~3년 이상)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약값은 건강보험 표시가 기준 대략값(가정값). 엑스탄디 캡슐당 1만4,170원은 심평원 조정 상한금액(데일리팜)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전립선암 신형 약, 한 달 표시가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보험이 끊기면 월 100~250만 원이 그대로 환자 몫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" name="drug-name"/>
          <p:cNvSpPr txBox="1"/>
          <p:nvPr/>
        </p:nvSpPr>
        <p:spPr>
          <a:xfrm>
            <a:off x="777240" y="2011680"/>
            <a:ext cx="214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엑스탄디 (엔잘루타마이드)</a:t>
            </a:r>
            <a:endParaRPr lang="en-US" sz="1300" dirty="0"/>
          </a:p>
        </p:txBody>
      </p:sp>
      <p:sp>
        <p:nvSpPr>
          <p:cNvPr id="6" name="drug-cost"/>
          <p:cNvSpPr txBox="1"/>
          <p:nvPr/>
        </p:nvSpPr>
        <p:spPr>
          <a:xfrm>
            <a:off x="777240" y="246888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약 170만 원</a:t>
            </a:r>
            <a:endParaRPr lang="en-US" sz="2000" dirty="0"/>
          </a:p>
        </p:txBody>
      </p:sp>
      <p:sp>
        <p:nvSpPr>
          <p:cNvPr id="7" name="drug-note"/>
          <p:cNvSpPr txBox="1"/>
          <p:nvPr/>
        </p:nvSpPr>
        <p:spPr>
          <a:xfrm>
            <a:off x="777240" y="3154680"/>
            <a:ext cx="214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</a:rPr>
              <a:t>하루 4캡슐 · 환자 부담(5%) 약 8.5만 원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3378708" y="173736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9" name="drug-name"/>
          <p:cNvSpPr txBox="1"/>
          <p:nvPr/>
        </p:nvSpPr>
        <p:spPr>
          <a:xfrm>
            <a:off x="3607308" y="2011680"/>
            <a:ext cx="214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자이티가 (아비라테론)</a:t>
            </a:r>
            <a:endParaRPr lang="en-US" sz="1300" dirty="0"/>
          </a:p>
        </p:txBody>
      </p:sp>
      <p:sp>
        <p:nvSpPr>
          <p:cNvPr id="10" name="drug-cost"/>
          <p:cNvSpPr txBox="1"/>
          <p:nvPr/>
        </p:nvSpPr>
        <p:spPr>
          <a:xfrm>
            <a:off x="3607308" y="246888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약 130~150만 원</a:t>
            </a:r>
            <a:endParaRPr lang="en-US" sz="2000" dirty="0"/>
          </a:p>
        </p:txBody>
      </p:sp>
      <p:sp>
        <p:nvSpPr>
          <p:cNvPr id="11" name="drug-note"/>
          <p:cNvSpPr txBox="1"/>
          <p:nvPr/>
        </p:nvSpPr>
        <p:spPr>
          <a:xfrm>
            <a:off x="3607308" y="3154680"/>
            <a:ext cx="214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</a:rPr>
              <a:t>하루 2알 + 스테로이드 · 환자 부담 약 7만 원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6208776" y="173736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3" name="drug-name"/>
          <p:cNvSpPr txBox="1"/>
          <p:nvPr/>
        </p:nvSpPr>
        <p:spPr>
          <a:xfrm>
            <a:off x="6437376" y="2011680"/>
            <a:ext cx="214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얼리다 (아팔루타마이드)</a:t>
            </a:r>
            <a:endParaRPr lang="en-US" sz="1300" dirty="0"/>
          </a:p>
        </p:txBody>
      </p:sp>
      <p:sp>
        <p:nvSpPr>
          <p:cNvPr id="14" name="drug-cost"/>
          <p:cNvSpPr txBox="1"/>
          <p:nvPr/>
        </p:nvSpPr>
        <p:spPr>
          <a:xfrm>
            <a:off x="6437376" y="246888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약 200만 원대</a:t>
            </a:r>
            <a:endParaRPr lang="en-US" sz="2000" dirty="0"/>
          </a:p>
        </p:txBody>
      </p:sp>
      <p:sp>
        <p:nvSpPr>
          <p:cNvPr id="15" name="drug-note"/>
          <p:cNvSpPr txBox="1"/>
          <p:nvPr/>
        </p:nvSpPr>
        <p:spPr>
          <a:xfrm>
            <a:off x="6437376" y="3154680"/>
            <a:ext cx="214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</a:rPr>
              <a:t>하루 4알 · 환자 부담 약 10만 원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9038844" y="173736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7" name="drug-name"/>
          <p:cNvSpPr txBox="1"/>
          <p:nvPr/>
        </p:nvSpPr>
        <p:spPr>
          <a:xfrm>
            <a:off x="9267444" y="2011680"/>
            <a:ext cx="214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뉴베카 (다로루타마이드)</a:t>
            </a:r>
            <a:endParaRPr lang="en-US" sz="1300" dirty="0"/>
          </a:p>
        </p:txBody>
      </p:sp>
      <p:sp>
        <p:nvSpPr>
          <p:cNvPr id="18" name="drug-cost"/>
          <p:cNvSpPr txBox="1"/>
          <p:nvPr/>
        </p:nvSpPr>
        <p:spPr>
          <a:xfrm>
            <a:off x="9267444" y="246888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약 250만 원대</a:t>
            </a:r>
            <a:endParaRPr lang="en-US" sz="2000" dirty="0"/>
          </a:p>
        </p:txBody>
      </p:sp>
      <p:sp>
        <p:nvSpPr>
          <p:cNvPr id="19" name="drug-note"/>
          <p:cNvSpPr txBox="1"/>
          <p:nvPr/>
        </p:nvSpPr>
        <p:spPr>
          <a:xfrm>
            <a:off x="9267444" y="3154680"/>
            <a:ext cx="214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</a:rPr>
              <a:t>하루 4알 · 환자 부담 약 12만 원</a:t>
            </a:r>
            <a:endParaRPr lang="en-US" sz="1150" dirty="0"/>
          </a:p>
        </p:txBody>
      </p:sp>
      <p:sp>
        <p:nvSpPr>
          <p:cNvPr id="20" name="notice-box"/>
          <p:cNvSpPr/>
          <p:nvPr/>
        </p:nvSpPr>
        <p:spPr>
          <a:xfrm>
            <a:off x="548640" y="448056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1" name="notice-text"/>
          <p:cNvSpPr txBox="1"/>
          <p:nvPr/>
        </p:nvSpPr>
        <p:spPr>
          <a:xfrm>
            <a:off x="777240" y="448056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0D26"/>
                </a:solidFill>
              </a:rPr>
              <a:t>전립선암은 진행이 느려 5년 넘게 치료하는 분이 많습니다. 산정특례 5년이 끝나거나 비급여 신약을 쓰면 위 금액이 그대로 환자 부담이 됩니다. 이 지점이 항암호르몬약물치료비 특약의 설명 포인트입니다.</a:t>
            </a:r>
            <a:endParaRPr lang="en-US" sz="1300" dirty="0"/>
          </a:p>
        </p:txBody>
      </p:sp>
      <p:sp>
        <p:nvSpPr>
          <p:cNvPr id="22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표시가는 건강보험 상한금액 기준 대략값(가정값). 2026년 10월 기준이며 자주 바뀜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암 종류별 약 · 비용 · 기간 ③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자궁내막암 · 난소암 · 갑상선암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1554480"/>
                <a:gridCol w="1645920"/>
                <a:gridCol w="222199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암 종류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성분 (상품명)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쓰는 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약값(월)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1F28"/>
                          </a:solidFill>
                        </a:rPr>
                        <a:t>기간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자궁내막암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메게스트롤 (메게이스 현탁액) · 메드록시프로게스테론 (프로베라)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1~2회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2~10만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6개월~1년, 재발·전이는 계속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자궁내막암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레트로졸 · 타목시펜 (유방암과 같은 약)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1알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1~8만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재발·전이 시 계속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난소암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(저등급 장액성)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레트로졸 (페마라)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1알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약 4~6만 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수년간 유지치료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갑상선암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레보티록신 (씬지로이드)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하루 1알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D4B"/>
                          </a:solidFill>
                        </a:rPr>
                        <a:t>5천 원 이하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50D26"/>
                          </a:solidFill>
                        </a:rPr>
                        <a:t>평생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ice-box"/>
          <p:cNvSpPr/>
          <p:nvPr/>
        </p:nvSpPr>
        <p:spPr>
          <a:xfrm>
            <a:off x="548640" y="493776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notice-text"/>
          <p:cNvSpPr txBox="1"/>
          <p:nvPr/>
        </p:nvSpPr>
        <p:spPr>
          <a:xfrm>
            <a:off x="777240" y="493776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5E00"/>
                </a:solidFill>
              </a:rPr>
              <a:t>주의 : 갑상선암의 레보티록신은 메리츠 약관에서 「특정항암호르몬치료제」가 아니라 「갑상선 호르몬치료제」 별표로 따로 분류됩니다. 특약 설명 때 두 목록을 섞지 않습니다.</a:t>
            </a:r>
            <a:endParaRPr lang="en-US" sz="1300" dirty="0"/>
          </a:p>
        </p:txBody>
      </p:sp>
      <p:sp>
        <p:nvSpPr>
          <p:cNvPr id="7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약값은 건강보험 표시가 기준 대략값(가정값)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치료 기간 비교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항암주사는 반년, 호르몬치료는 5년에서 평생</a:t>
            </a:r>
            <a:endParaRPr lang="en-US" sz="3000" dirty="0"/>
          </a:p>
        </p:txBody>
      </p:sp>
      <p:sp>
        <p:nvSpPr>
          <p:cNvPr id="4" name="bar-label"/>
          <p:cNvSpPr txBox="1"/>
          <p:nvPr/>
        </p:nvSpPr>
        <p:spPr>
          <a:xfrm>
            <a:off x="548640" y="1783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항암주사(세포독성) 보통</a:t>
            </a:r>
            <a:endParaRPr lang="en-US" sz="1300" dirty="0"/>
          </a:p>
        </p:txBody>
      </p:sp>
      <p:sp>
        <p:nvSpPr>
          <p:cNvPr id="5" name="bar"/>
          <p:cNvSpPr/>
          <p:nvPr/>
        </p:nvSpPr>
        <p:spPr>
          <a:xfrm>
            <a:off x="3566160" y="1801368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6" name="bar-value"/>
          <p:cNvSpPr txBox="1"/>
          <p:nvPr/>
        </p:nvSpPr>
        <p:spPr>
          <a:xfrm>
            <a:off x="416052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968"/>
                </a:solidFill>
              </a:rPr>
              <a:t>3~6개월</a:t>
            </a:r>
            <a:endParaRPr lang="en-US" sz="1300" dirty="0"/>
          </a:p>
        </p:txBody>
      </p:sp>
      <p:sp>
        <p:nvSpPr>
          <p:cNvPr id="7" name="bar-label"/>
          <p:cNvSpPr txBox="1"/>
          <p:nvPr/>
        </p:nvSpPr>
        <p:spPr>
          <a:xfrm>
            <a:off x="548640" y="2286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전립선암 국소 (방사선 병용)</a:t>
            </a:r>
            <a:endParaRPr lang="en-US" sz="1300" dirty="0"/>
          </a:p>
        </p:txBody>
      </p:sp>
      <p:sp>
        <p:nvSpPr>
          <p:cNvPr id="8" name="bar"/>
          <p:cNvSpPr/>
          <p:nvPr/>
        </p:nvSpPr>
        <p:spPr>
          <a:xfrm>
            <a:off x="3566160" y="230428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5C2CA"/>
          </a:solidFill>
          <a:ln w="12700">
            <a:solidFill>
              <a:srgbClr val="F5C2CA"/>
            </a:solidFill>
            <a:prstDash val="solid"/>
          </a:ln>
        </p:spPr>
      </p:sp>
      <p:sp>
        <p:nvSpPr>
          <p:cNvPr id="9" name="bar-value"/>
          <p:cNvSpPr txBox="1"/>
          <p:nvPr/>
        </p:nvSpPr>
        <p:spPr>
          <a:xfrm>
            <a:off x="553212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0D26"/>
                </a:solidFill>
              </a:rPr>
              <a:t>6개월~3년</a:t>
            </a:r>
            <a:endParaRPr lang="en-US" sz="1300" dirty="0"/>
          </a:p>
        </p:txBody>
      </p:sp>
      <p:sp>
        <p:nvSpPr>
          <p:cNvPr id="10" name="bar-label"/>
          <p:cNvSpPr txBox="1"/>
          <p:nvPr/>
        </p:nvSpPr>
        <p:spPr>
          <a:xfrm>
            <a:off x="548640" y="2788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유방암 난소기능 억제 주사</a:t>
            </a:r>
            <a:endParaRPr lang="en-US" sz="1300" dirty="0"/>
          </a:p>
        </p:txBody>
      </p:sp>
      <p:sp>
        <p:nvSpPr>
          <p:cNvPr id="11" name="bar"/>
          <p:cNvSpPr/>
          <p:nvPr/>
        </p:nvSpPr>
        <p:spPr>
          <a:xfrm>
            <a:off x="3566160" y="2807208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F5C2CA"/>
          </a:solidFill>
          <a:ln w="12700">
            <a:solidFill>
              <a:srgbClr val="F5C2CA"/>
            </a:solidFill>
            <a:prstDash val="solid"/>
          </a:ln>
        </p:spPr>
      </p:sp>
      <p:sp>
        <p:nvSpPr>
          <p:cNvPr id="12" name="bar-value"/>
          <p:cNvSpPr txBox="1"/>
          <p:nvPr/>
        </p:nvSpPr>
        <p:spPr>
          <a:xfrm>
            <a:off x="6629400" y="2788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0D26"/>
                </a:solidFill>
              </a:rPr>
              <a:t>2~5년</a:t>
            </a:r>
            <a:endParaRPr lang="en-US" sz="1300" dirty="0"/>
          </a:p>
        </p:txBody>
      </p:sp>
      <p:sp>
        <p:nvSpPr>
          <p:cNvPr id="13" name="bar-label"/>
          <p:cNvSpPr txBox="1"/>
          <p:nvPr/>
        </p:nvSpPr>
        <p:spPr>
          <a:xfrm>
            <a:off x="548640" y="3291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유방암 먹는 약</a:t>
            </a:r>
            <a:endParaRPr lang="en-US" sz="1300" dirty="0"/>
          </a:p>
        </p:txBody>
      </p:sp>
      <p:sp>
        <p:nvSpPr>
          <p:cNvPr id="14" name="bar"/>
          <p:cNvSpPr/>
          <p:nvPr/>
        </p:nvSpPr>
        <p:spPr>
          <a:xfrm>
            <a:off x="3566160" y="3310128"/>
            <a:ext cx="4389120" cy="256032"/>
          </a:xfrm>
          <a:prstGeom prst="roundRect">
            <a:avLst>
              <a:gd name="adj" fmla="val 2142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bar-value"/>
          <p:cNvSpPr txBox="1"/>
          <p:nvPr/>
        </p:nvSpPr>
        <p:spPr>
          <a:xfrm>
            <a:off x="809244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0D26"/>
                </a:solidFill>
              </a:rPr>
              <a:t>5년, 고위험 10년</a:t>
            </a:r>
            <a:endParaRPr lang="en-US" sz="1300" dirty="0"/>
          </a:p>
        </p:txBody>
      </p:sp>
      <p:sp>
        <p:nvSpPr>
          <p:cNvPr id="16" name="bar-label"/>
          <p:cNvSpPr txBox="1"/>
          <p:nvPr/>
        </p:nvSpPr>
        <p:spPr>
          <a:xfrm>
            <a:off x="548640" y="3794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전립선 전이암 호르몬 차단</a:t>
            </a:r>
            <a:endParaRPr lang="en-US" sz="1300" dirty="0"/>
          </a:p>
        </p:txBody>
      </p:sp>
      <p:sp>
        <p:nvSpPr>
          <p:cNvPr id="17" name="bar"/>
          <p:cNvSpPr/>
          <p:nvPr/>
        </p:nvSpPr>
        <p:spPr>
          <a:xfrm>
            <a:off x="3566160" y="3813048"/>
            <a:ext cx="6035040" cy="256032"/>
          </a:xfrm>
          <a:prstGeom prst="roundRect">
            <a:avLst>
              <a:gd name="adj" fmla="val 2142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bar-value"/>
          <p:cNvSpPr txBox="1"/>
          <p:nvPr/>
        </p:nvSpPr>
        <p:spPr>
          <a:xfrm>
            <a:off x="9738360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0D26"/>
                </a:solidFill>
              </a:rPr>
              <a:t>평생</a:t>
            </a:r>
            <a:endParaRPr lang="en-US" sz="1300" dirty="0"/>
          </a:p>
        </p:txBody>
      </p:sp>
      <p:sp>
        <p:nvSpPr>
          <p:cNvPr id="19" name="bar-label"/>
          <p:cNvSpPr txBox="1"/>
          <p:nvPr/>
        </p:nvSpPr>
        <p:spPr>
          <a:xfrm>
            <a:off x="548640" y="4297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갑상선암 호르몬제</a:t>
            </a:r>
            <a:endParaRPr lang="en-US" sz="1300" dirty="0"/>
          </a:p>
        </p:txBody>
      </p:sp>
      <p:sp>
        <p:nvSpPr>
          <p:cNvPr id="20" name="bar"/>
          <p:cNvSpPr/>
          <p:nvPr/>
        </p:nvSpPr>
        <p:spPr>
          <a:xfrm>
            <a:off x="3566160" y="4315968"/>
            <a:ext cx="6035040" cy="256032"/>
          </a:xfrm>
          <a:prstGeom prst="roundRect">
            <a:avLst>
              <a:gd name="adj" fmla="val 2142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bar-value"/>
          <p:cNvSpPr txBox="1"/>
          <p:nvPr/>
        </p:nvSpPr>
        <p:spPr>
          <a:xfrm>
            <a:off x="9738360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0D26"/>
                </a:solidFill>
              </a:rPr>
              <a:t>평생</a:t>
            </a:r>
            <a:endParaRPr lang="en-US" sz="1300" dirty="0"/>
          </a:p>
        </p:txBody>
      </p:sp>
      <p:sp>
        <p:nvSpPr>
          <p:cNvPr id="22" name="notice-box"/>
          <p:cNvSpPr/>
          <p:nvPr/>
        </p:nvSpPr>
        <p:spPr>
          <a:xfrm>
            <a:off x="548640" y="50292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3" name="notice-text"/>
          <p:cNvSpPr txBox="1"/>
          <p:nvPr/>
        </p:nvSpPr>
        <p:spPr>
          <a:xfrm>
            <a:off x="777240" y="502920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0D26"/>
                </a:solidFill>
              </a:rPr>
              <a:t>기간이 길수록 「연간 1회」처럼 해마다 다시 받을 수 있는 지급 조건이 고객에게 유리합니다. 「최초 1회」 조건과의 차이를 설명하는 근거가 됩니다.</a:t>
            </a:r>
            <a:endParaRPr lang="en-US" sz="1300" dirty="0"/>
          </a:p>
        </p:txBody>
      </p:sp>
      <p:sp>
        <p:nvSpPr>
          <p:cNvPr id="24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막대 길이는 기간 비교를 위한 그림이며 비율이 정확하지 않음. 기간은 국내외 표준 진료지침 기준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메리츠 약관과 맞춰 보기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「특정항암호르몬치료제」 별표 17개 성분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64008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" name="list-title"/>
          <p:cNvSpPr txBox="1"/>
          <p:nvPr/>
        </p:nvSpPr>
        <p:spPr>
          <a:xfrm>
            <a:off x="868680" y="2011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약관 별표에 있는 성분 (2021년 8월 기준)</a:t>
            </a:r>
            <a:endParaRPr lang="en-US" sz="1500" dirty="0"/>
          </a:p>
        </p:txBody>
      </p:sp>
      <p:sp>
        <p:nvSpPr>
          <p:cNvPr id="6" name="chip"/>
          <p:cNvSpPr/>
          <p:nvPr/>
        </p:nvSpPr>
        <p:spPr>
          <a:xfrm>
            <a:off x="868680" y="2560320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7" name="chip-text"/>
          <p:cNvSpPr txBox="1"/>
          <p:nvPr/>
        </p:nvSpPr>
        <p:spPr>
          <a:xfrm>
            <a:off x="868680" y="256032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타목시펜</a:t>
            </a:r>
            <a:endParaRPr lang="en-US" sz="1200" dirty="0"/>
          </a:p>
        </p:txBody>
      </p:sp>
      <p:sp>
        <p:nvSpPr>
          <p:cNvPr id="8" name="chip"/>
          <p:cNvSpPr/>
          <p:nvPr/>
        </p:nvSpPr>
        <p:spPr>
          <a:xfrm>
            <a:off x="2112264" y="2560320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chip-text"/>
          <p:cNvSpPr txBox="1"/>
          <p:nvPr/>
        </p:nvSpPr>
        <p:spPr>
          <a:xfrm>
            <a:off x="2112264" y="256032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토레미펜</a:t>
            </a:r>
            <a:endParaRPr lang="en-US" sz="1200" dirty="0"/>
          </a:p>
        </p:txBody>
      </p:sp>
      <p:sp>
        <p:nvSpPr>
          <p:cNvPr id="10" name="chip"/>
          <p:cNvSpPr/>
          <p:nvPr/>
        </p:nvSpPr>
        <p:spPr>
          <a:xfrm>
            <a:off x="3355848" y="2560320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1" name="chip-text"/>
          <p:cNvSpPr txBox="1"/>
          <p:nvPr/>
        </p:nvSpPr>
        <p:spPr>
          <a:xfrm>
            <a:off x="3355848" y="256032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레트로졸</a:t>
            </a:r>
            <a:endParaRPr lang="en-US" sz="1200" dirty="0"/>
          </a:p>
        </p:txBody>
      </p:sp>
      <p:sp>
        <p:nvSpPr>
          <p:cNvPr id="12" name="chip"/>
          <p:cNvSpPr/>
          <p:nvPr/>
        </p:nvSpPr>
        <p:spPr>
          <a:xfrm>
            <a:off x="4599432" y="2560320"/>
            <a:ext cx="1517904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3" name="chip-text"/>
          <p:cNvSpPr txBox="1"/>
          <p:nvPr/>
        </p:nvSpPr>
        <p:spPr>
          <a:xfrm>
            <a:off x="4599432" y="256032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아나스트로졸</a:t>
            </a:r>
            <a:endParaRPr lang="en-US" sz="1200" dirty="0"/>
          </a:p>
        </p:txBody>
      </p:sp>
      <p:sp>
        <p:nvSpPr>
          <p:cNvPr id="14" name="chip"/>
          <p:cNvSpPr/>
          <p:nvPr/>
        </p:nvSpPr>
        <p:spPr>
          <a:xfrm>
            <a:off x="868680" y="30175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5" name="chip-text"/>
          <p:cNvSpPr txBox="1"/>
          <p:nvPr/>
        </p:nvSpPr>
        <p:spPr>
          <a:xfrm>
            <a:off x="86868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엑스메스탄</a:t>
            </a:r>
            <a:endParaRPr lang="en-US" sz="1200" dirty="0"/>
          </a:p>
        </p:txBody>
      </p:sp>
      <p:sp>
        <p:nvSpPr>
          <p:cNvPr id="16" name="chip"/>
          <p:cNvSpPr/>
          <p:nvPr/>
        </p:nvSpPr>
        <p:spPr>
          <a:xfrm>
            <a:off x="2304288" y="3017520"/>
            <a:ext cx="1517904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7" name="chip-text"/>
          <p:cNvSpPr txBox="1"/>
          <p:nvPr/>
        </p:nvSpPr>
        <p:spPr>
          <a:xfrm>
            <a:off x="2304288" y="301752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풀베스트란트</a:t>
            </a:r>
            <a:endParaRPr lang="en-US" sz="1200" dirty="0"/>
          </a:p>
        </p:txBody>
      </p:sp>
      <p:sp>
        <p:nvSpPr>
          <p:cNvPr id="18" name="chip"/>
          <p:cNvSpPr/>
          <p:nvPr/>
        </p:nvSpPr>
        <p:spPr>
          <a:xfrm>
            <a:off x="3931920" y="3017520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9" name="chip-text"/>
          <p:cNvSpPr txBox="1"/>
          <p:nvPr/>
        </p:nvSpPr>
        <p:spPr>
          <a:xfrm>
            <a:off x="3931920" y="301752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고세렐린</a:t>
            </a:r>
            <a:endParaRPr lang="en-US" sz="1200" dirty="0"/>
          </a:p>
        </p:txBody>
      </p:sp>
      <p:sp>
        <p:nvSpPr>
          <p:cNvPr id="20" name="chip"/>
          <p:cNvSpPr/>
          <p:nvPr/>
        </p:nvSpPr>
        <p:spPr>
          <a:xfrm>
            <a:off x="5175504" y="30175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1" name="chip-text"/>
          <p:cNvSpPr txBox="1"/>
          <p:nvPr/>
        </p:nvSpPr>
        <p:spPr>
          <a:xfrm>
            <a:off x="5175504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류프로렐린</a:t>
            </a:r>
            <a:endParaRPr lang="en-US" sz="1200" dirty="0"/>
          </a:p>
        </p:txBody>
      </p:sp>
      <p:sp>
        <p:nvSpPr>
          <p:cNvPr id="22" name="chip"/>
          <p:cNvSpPr/>
          <p:nvPr/>
        </p:nvSpPr>
        <p:spPr>
          <a:xfrm>
            <a:off x="868680" y="34747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3" name="chip-text"/>
          <p:cNvSpPr txBox="1"/>
          <p:nvPr/>
        </p:nvSpPr>
        <p:spPr>
          <a:xfrm>
            <a:off x="868680" y="3474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트립토렐린</a:t>
            </a:r>
            <a:endParaRPr lang="en-US" sz="1200" dirty="0"/>
          </a:p>
        </p:txBody>
      </p:sp>
      <p:sp>
        <p:nvSpPr>
          <p:cNvPr id="24" name="chip"/>
          <p:cNvSpPr/>
          <p:nvPr/>
        </p:nvSpPr>
        <p:spPr>
          <a:xfrm>
            <a:off x="2304288" y="34747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5" name="chip-text"/>
          <p:cNvSpPr txBox="1"/>
          <p:nvPr/>
        </p:nvSpPr>
        <p:spPr>
          <a:xfrm>
            <a:off x="2304288" y="3474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데가렐릭스</a:t>
            </a:r>
            <a:endParaRPr lang="en-US" sz="1200" dirty="0"/>
          </a:p>
        </p:txBody>
      </p:sp>
      <p:sp>
        <p:nvSpPr>
          <p:cNvPr id="26" name="chip"/>
          <p:cNvSpPr/>
          <p:nvPr/>
        </p:nvSpPr>
        <p:spPr>
          <a:xfrm>
            <a:off x="3739896" y="3474720"/>
            <a:ext cx="1517904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7" name="chip-text"/>
          <p:cNvSpPr txBox="1"/>
          <p:nvPr/>
        </p:nvSpPr>
        <p:spPr>
          <a:xfrm>
            <a:off x="3739896" y="347472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비칼루타미드</a:t>
            </a:r>
            <a:endParaRPr lang="en-US" sz="1200" dirty="0"/>
          </a:p>
        </p:txBody>
      </p:sp>
      <p:sp>
        <p:nvSpPr>
          <p:cNvPr id="28" name="chip"/>
          <p:cNvSpPr/>
          <p:nvPr/>
        </p:nvSpPr>
        <p:spPr>
          <a:xfrm>
            <a:off x="868680" y="3931920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9" name="chip-text"/>
          <p:cNvSpPr txBox="1"/>
          <p:nvPr/>
        </p:nvSpPr>
        <p:spPr>
          <a:xfrm>
            <a:off x="868680" y="3931920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엔잘루타마이드</a:t>
            </a:r>
            <a:endParaRPr lang="en-US" sz="1200" dirty="0"/>
          </a:p>
        </p:txBody>
      </p:sp>
      <p:sp>
        <p:nvSpPr>
          <p:cNvPr id="30" name="chip"/>
          <p:cNvSpPr/>
          <p:nvPr/>
        </p:nvSpPr>
        <p:spPr>
          <a:xfrm>
            <a:off x="2688336" y="39319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1" name="chip-text"/>
          <p:cNvSpPr txBox="1"/>
          <p:nvPr/>
        </p:nvSpPr>
        <p:spPr>
          <a:xfrm>
            <a:off x="2688336" y="3931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아비라테론</a:t>
            </a:r>
            <a:endParaRPr lang="en-US" sz="1200" dirty="0"/>
          </a:p>
        </p:txBody>
      </p:sp>
      <p:sp>
        <p:nvSpPr>
          <p:cNvPr id="32" name="chip"/>
          <p:cNvSpPr/>
          <p:nvPr/>
        </p:nvSpPr>
        <p:spPr>
          <a:xfrm>
            <a:off x="4123944" y="3931920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3" name="chip-text"/>
          <p:cNvSpPr txBox="1"/>
          <p:nvPr/>
        </p:nvSpPr>
        <p:spPr>
          <a:xfrm>
            <a:off x="4123944" y="3931920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다로루타마이드</a:t>
            </a:r>
            <a:endParaRPr lang="en-US" sz="1200" dirty="0"/>
          </a:p>
        </p:txBody>
      </p:sp>
      <p:sp>
        <p:nvSpPr>
          <p:cNvPr id="34" name="chip"/>
          <p:cNvSpPr/>
          <p:nvPr/>
        </p:nvSpPr>
        <p:spPr>
          <a:xfrm>
            <a:off x="868680" y="4389120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5" name="chip-text"/>
          <p:cNvSpPr txBox="1"/>
          <p:nvPr/>
        </p:nvSpPr>
        <p:spPr>
          <a:xfrm>
            <a:off x="868680" y="4389120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에스트라머스틴</a:t>
            </a:r>
            <a:endParaRPr lang="en-US" sz="1200" dirty="0"/>
          </a:p>
        </p:txBody>
      </p:sp>
      <p:sp>
        <p:nvSpPr>
          <p:cNvPr id="36" name="chip"/>
          <p:cNvSpPr/>
          <p:nvPr/>
        </p:nvSpPr>
        <p:spPr>
          <a:xfrm>
            <a:off x="2688336" y="4389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7" name="chip-text"/>
          <p:cNvSpPr txBox="1"/>
          <p:nvPr/>
        </p:nvSpPr>
        <p:spPr>
          <a:xfrm>
            <a:off x="2688336" y="4389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메드록시프로게스테론</a:t>
            </a:r>
            <a:endParaRPr lang="en-US" sz="1200" dirty="0"/>
          </a:p>
        </p:txBody>
      </p:sp>
      <p:sp>
        <p:nvSpPr>
          <p:cNvPr id="38" name="chip"/>
          <p:cNvSpPr/>
          <p:nvPr/>
        </p:nvSpPr>
        <p:spPr>
          <a:xfrm>
            <a:off x="5084064" y="43891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9" name="chip-text"/>
          <p:cNvSpPr txBox="1"/>
          <p:nvPr/>
        </p:nvSpPr>
        <p:spPr>
          <a:xfrm>
            <a:off x="5084064" y="4389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0D26"/>
                </a:solidFill>
              </a:rPr>
              <a:t>메게스트롤</a:t>
            </a:r>
            <a:endParaRPr lang="en-US" sz="1200" dirty="0"/>
          </a:p>
        </p:txBody>
      </p:sp>
      <p:sp>
        <p:nvSpPr>
          <p:cNvPr id="40" name="list-source"/>
          <p:cNvSpPr txBox="1"/>
          <p:nvPr/>
        </p:nvSpPr>
        <p:spPr>
          <a:xfrm>
            <a:off x="868680" y="5349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</a:rPr>
              <a:t>앞 슬라이드의 약은 모두 이 목록 안에 있습니다. 출처 : 영업지원도구 특약검색기 약관 별표</a:t>
            </a:r>
            <a:endParaRPr lang="en-US" sz="1150" dirty="0"/>
          </a:p>
        </p:txBody>
      </p:sp>
      <p:sp>
        <p:nvSpPr>
          <p:cNvPr id="41" name="check-box"/>
          <p:cNvSpPr/>
          <p:nvPr/>
        </p:nvSpPr>
        <p:spPr>
          <a:xfrm>
            <a:off x="7269480" y="1737360"/>
            <a:ext cx="4370832" cy="20574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2" name="check-title"/>
          <p:cNvSpPr txBox="1"/>
          <p:nvPr/>
        </p:nvSpPr>
        <p:spPr>
          <a:xfrm>
            <a:off x="7543800" y="196596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5E00"/>
                </a:solidFill>
              </a:rPr>
              <a:t>확인 필요 1 · 목록 뒤에 나온 약</a:t>
            </a:r>
            <a:endParaRPr lang="en-US" sz="1400" dirty="0"/>
          </a:p>
        </p:txBody>
      </p:sp>
      <p:sp>
        <p:nvSpPr>
          <p:cNvPr id="43" name="check-body"/>
          <p:cNvSpPr txBox="1"/>
          <p:nvPr/>
        </p:nvSpPr>
        <p:spPr>
          <a:xfrm>
            <a:off x="7543800" y="2377440"/>
            <a:ext cx="3822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25E00"/>
                </a:solidFill>
              </a:rPr>
              <a:t>얼리다(아팔루타마이드)는 목록 끝에 덧붙은 형태이고, 뉴베카는 2021년 이후 쓰임이 늘었습니다. 지급 여부는 최신 약관 원문으로 확인합니다.</a:t>
            </a:r>
            <a:endParaRPr lang="en-US" sz="1250" dirty="0"/>
          </a:p>
        </p:txBody>
      </p:sp>
      <p:sp>
        <p:nvSpPr>
          <p:cNvPr id="44" name="check-box"/>
          <p:cNvSpPr/>
          <p:nvPr/>
        </p:nvSpPr>
        <p:spPr>
          <a:xfrm>
            <a:off x="7269480" y="3977640"/>
            <a:ext cx="4370832" cy="2057400"/>
          </a:xfrm>
          <a:prstGeom prst="roundRect">
            <a:avLst>
              <a:gd name="adj" fmla="val 6667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45" name="check-title"/>
          <p:cNvSpPr txBox="1"/>
          <p:nvPr/>
        </p:nvSpPr>
        <p:spPr>
          <a:xfrm>
            <a:off x="7543800" y="420624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D26"/>
                </a:solidFill>
              </a:rPr>
              <a:t>확인 필요 2 · 특약이 둘로 나뉜 상품</a:t>
            </a:r>
            <a:endParaRPr lang="en-US" sz="1400" dirty="0"/>
          </a:p>
        </p:txBody>
      </p:sp>
      <p:sp>
        <p:nvSpPr>
          <p:cNvPr id="46" name="check-body"/>
          <p:cNvSpPr txBox="1"/>
          <p:nvPr/>
        </p:nvSpPr>
        <p:spPr>
          <a:xfrm>
            <a:off x="7543800" y="4617720"/>
            <a:ext cx="3822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50D26"/>
                </a:solidFill>
              </a:rPr>
              <a:t>약관 변경 기록에 「항암호르몬치료 면책조항 추가, 항암약물치료에서 면책」이 있습니다. 호르몬치료 보장을 원하면 항암약물치료비와 항암호르몬약물치료비 두 특약을 함께 봅니다.</a:t>
            </a:r>
            <a:endParaRPr lang="en-US" sz="1250" dirty="0"/>
          </a:p>
        </p:txBody>
      </p:sp>
      <p:sp>
        <p:nvSpPr>
          <p:cNvPr id="47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성분 목록은 약관 별표 그대로. 처방약이 해당하는지는 약관이 전문의료인 확인을 요구함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고객에게 이렇게 설명합니다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영업 포인트 세 가지</a:t>
            </a:r>
            <a:endParaRPr lang="en-US" sz="3000" dirty="0"/>
          </a:p>
        </p:txBody>
      </p:sp>
      <p:sp>
        <p:nvSpPr>
          <p:cNvPr id="4" name="point-card"/>
          <p:cNvSpPr/>
          <p:nvPr/>
        </p:nvSpPr>
        <p:spPr>
          <a:xfrm>
            <a:off x="548640" y="1737360"/>
            <a:ext cx="3514344" cy="4206240"/>
          </a:xfrm>
          <a:prstGeom prst="roundRect">
            <a:avLst>
              <a:gd name="adj" fmla="val 3903"/>
            </a:avLst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5" name="point-number"/>
          <p:cNvSpPr txBox="1"/>
          <p:nvPr/>
        </p:nvSpPr>
        <p:spPr>
          <a:xfrm>
            <a:off x="86868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C2CA"/>
                </a:solidFill>
              </a:rPr>
              <a:t>1</a:t>
            </a:r>
            <a:endParaRPr lang="en-US" sz="4400" dirty="0"/>
          </a:p>
        </p:txBody>
      </p:sp>
      <p:sp>
        <p:nvSpPr>
          <p:cNvPr id="6" name="point-title"/>
          <p:cNvSpPr txBox="1"/>
          <p:nvPr/>
        </p:nvSpPr>
        <p:spPr>
          <a:xfrm>
            <a:off x="868680" y="29260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암 환자 10명 중 7명(유방암)이 호르몬치료를 받습니다</a:t>
            </a:r>
            <a:endParaRPr lang="en-US" sz="1700" dirty="0"/>
          </a:p>
        </p:txBody>
      </p:sp>
      <p:sp>
        <p:nvSpPr>
          <p:cNvPr id="7" name="point-body"/>
          <p:cNvSpPr txBox="1"/>
          <p:nvPr/>
        </p:nvSpPr>
        <p:spPr>
          <a:xfrm>
            <a:off x="868680" y="4023360"/>
            <a:ext cx="2874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DECEE"/>
                </a:solidFill>
              </a:rPr>
              <a:t>드문 치료가 아니라 유방암·전립선암의 기본 치료입니다. 「나한테 해당될까」라는 질문에 답이 됩니다.</a:t>
            </a:r>
            <a:endParaRPr lang="en-US" sz="1350" dirty="0"/>
          </a:p>
        </p:txBody>
      </p:sp>
      <p:sp>
        <p:nvSpPr>
          <p:cNvPr id="8" name="point-card"/>
          <p:cNvSpPr/>
          <p:nvPr/>
        </p:nvSpPr>
        <p:spPr>
          <a:xfrm>
            <a:off x="4337304" y="1737360"/>
            <a:ext cx="3514344" cy="4206240"/>
          </a:xfrm>
          <a:prstGeom prst="roundRect">
            <a:avLst>
              <a:gd name="adj" fmla="val 3903"/>
            </a:avLst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9" name="point-number"/>
          <p:cNvSpPr txBox="1"/>
          <p:nvPr/>
        </p:nvSpPr>
        <p:spPr>
          <a:xfrm>
            <a:off x="4657344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C2CA"/>
                </a:solidFill>
              </a:rPr>
              <a:t>2</a:t>
            </a:r>
            <a:endParaRPr lang="en-US" sz="4400" dirty="0"/>
          </a:p>
        </p:txBody>
      </p:sp>
      <p:sp>
        <p:nvSpPr>
          <p:cNvPr id="10" name="point-title"/>
          <p:cNvSpPr txBox="1"/>
          <p:nvPr/>
        </p:nvSpPr>
        <p:spPr>
          <a:xfrm>
            <a:off x="4657344" y="29260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치료가 5년, 10년, 평생 이어집니다</a:t>
            </a:r>
            <a:endParaRPr lang="en-US" sz="1700" dirty="0"/>
          </a:p>
        </p:txBody>
      </p:sp>
      <p:sp>
        <p:nvSpPr>
          <p:cNvPr id="11" name="point-body"/>
          <p:cNvSpPr txBox="1"/>
          <p:nvPr/>
        </p:nvSpPr>
        <p:spPr>
          <a:xfrm>
            <a:off x="4657344" y="4023360"/>
            <a:ext cx="2874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DECEE"/>
                </a:solidFill>
              </a:rPr>
              <a:t>그래서 해마다 다시 받을 수 있는 「연간 1회」 지급 조건이 중요합니다. 「최초 1회」와는 받는 횟수가 달라집니다.</a:t>
            </a:r>
            <a:endParaRPr lang="en-US" sz="1350" dirty="0"/>
          </a:p>
        </p:txBody>
      </p:sp>
      <p:sp>
        <p:nvSpPr>
          <p:cNvPr id="12" name="point-card"/>
          <p:cNvSpPr/>
          <p:nvPr/>
        </p:nvSpPr>
        <p:spPr>
          <a:xfrm>
            <a:off x="8125968" y="1737360"/>
            <a:ext cx="3514344" cy="4206240"/>
          </a:xfrm>
          <a:prstGeom prst="roundRect">
            <a:avLst>
              <a:gd name="adj" fmla="val 3903"/>
            </a:avLst>
          </a:prstGeom>
          <a:solidFill>
            <a:srgbClr val="A50D26"/>
          </a:solidFill>
          <a:ln w="12700">
            <a:solidFill>
              <a:srgbClr val="A50D26"/>
            </a:solidFill>
            <a:prstDash val="solid"/>
          </a:ln>
        </p:spPr>
      </p:sp>
      <p:sp>
        <p:nvSpPr>
          <p:cNvPr id="13" name="point-number"/>
          <p:cNvSpPr txBox="1"/>
          <p:nvPr/>
        </p:nvSpPr>
        <p:spPr>
          <a:xfrm>
            <a:off x="8446008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C2CA"/>
                </a:solidFill>
              </a:rPr>
              <a:t>3</a:t>
            </a:r>
            <a:endParaRPr lang="en-US" sz="4400" dirty="0"/>
          </a:p>
        </p:txBody>
      </p:sp>
      <p:sp>
        <p:nvSpPr>
          <p:cNvPr id="14" name="point-title"/>
          <p:cNvSpPr txBox="1"/>
          <p:nvPr/>
        </p:nvSpPr>
        <p:spPr>
          <a:xfrm>
            <a:off x="8446008" y="29260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보험 혜택이 끊기는 순간 월 100~250만 원</a:t>
            </a:r>
            <a:endParaRPr lang="en-US" sz="1700" dirty="0"/>
          </a:p>
        </p:txBody>
      </p:sp>
      <p:sp>
        <p:nvSpPr>
          <p:cNvPr id="15" name="point-body"/>
          <p:cNvSpPr txBox="1"/>
          <p:nvPr/>
        </p:nvSpPr>
        <p:spPr>
          <a:xfrm>
            <a:off x="8446008" y="4023360"/>
            <a:ext cx="2874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DECEE"/>
                </a:solidFill>
              </a:rPr>
              <a:t>산정특례 5년 종료, 비급여 신약 처방이면 전립선암 신형 약값이 그대로 환자 부담입니다. 진단비와 별개로 치료비 특약이 필요한 이유입니다.</a:t>
            </a:r>
            <a:endParaRPr lang="en-US" sz="1350" dirty="0"/>
          </a:p>
        </p:txBody>
      </p:sp>
      <p:sp>
        <p:nvSpPr>
          <p:cNvPr id="16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C2CA"/>
                </a:solidFill>
              </a:rPr>
              <a:t>금액·비율은 대략값(가정값). 상담 자료로 쓸 때는 최신 약관과 약가로 확인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5C2C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출처와 주의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숫자는 어디서 왔고, 무엇을 더 확인해야 하나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362956" cy="4297680"/>
          </a:xfrm>
          <a:prstGeom prst="roundRect">
            <a:avLst>
              <a:gd name="adj" fmla="val 3191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" name="src-title"/>
          <p:cNvSpPr txBox="1"/>
          <p:nvPr/>
        </p:nvSpPr>
        <p:spPr>
          <a:xfrm>
            <a:off x="868680" y="20116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확인된 출처</a:t>
            </a:r>
            <a:endParaRPr lang="en-US" sz="1600" dirty="0"/>
          </a:p>
        </p:txBody>
      </p:sp>
      <p:sp>
        <p:nvSpPr>
          <p:cNvPr id="6" name="src-list"/>
          <p:cNvSpPr txBox="1"/>
          <p:nvPr/>
        </p:nvSpPr>
        <p:spPr>
          <a:xfrm>
            <a:off x="868680" y="2514600"/>
            <a:ext cx="47228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</a:rPr>
              <a:t>엑스탄디 상한금액 캡슐당 1만4,170원, 본인부담률 5% : 데일리팜 기사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</a:rPr>
              <a:t>엑스탄디 건강보험 적용 전후 환자 부담 변화 : 메디칼타임즈 기사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</a:rPr>
              <a:t>파슬로덱스 팩당 37만6,724원(2022년 직권조정) : 데일리팜 기사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</a:rPr>
              <a:t>특정항암호르몬치료제 17개 성분 : 메리츠 약관 별표(영업지원도구 특약검색기 수록)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</a:rPr>
              <a:t>치료 기간 : 국내외 유방암·전립선암 표준 진료지침</a:t>
            </a:r>
            <a:endParaRPr lang="en-US" sz="1300" dirty="0"/>
          </a:p>
        </p:txBody>
      </p:sp>
      <p:sp>
        <p:nvSpPr>
          <p:cNvPr id="7" name="assume-box"/>
          <p:cNvSpPr/>
          <p:nvPr/>
        </p:nvSpPr>
        <p:spPr>
          <a:xfrm>
            <a:off x="6277356" y="1737360"/>
            <a:ext cx="5362956" cy="4297680"/>
          </a:xfrm>
          <a:prstGeom prst="roundRect">
            <a:avLst>
              <a:gd name="adj" fmla="val 3191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8" name="assume-title"/>
          <p:cNvSpPr txBox="1"/>
          <p:nvPr/>
        </p:nvSpPr>
        <p:spPr>
          <a:xfrm>
            <a:off x="6597396" y="20116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5E00"/>
                </a:solidFill>
              </a:rPr>
              <a:t>가정값으로 표기한 것</a:t>
            </a:r>
            <a:endParaRPr lang="en-US" sz="1600" dirty="0"/>
          </a:p>
        </p:txBody>
      </p:sp>
      <p:sp>
        <p:nvSpPr>
          <p:cNvPr id="9" name="assume-list"/>
          <p:cNvSpPr txBox="1"/>
          <p:nvPr/>
        </p:nvSpPr>
        <p:spPr>
          <a:xfrm>
            <a:off x="6597396" y="2514600"/>
            <a:ext cx="47228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25E00"/>
                </a:solidFill>
              </a:rPr>
              <a:t>타목시펜 · 레트로졸 · 아나스트로졸 · 비칼루타미드 등 먹는 약의 월 약값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25E00"/>
                </a:solidFill>
              </a:rPr>
              <a:t>졸라덱스 · 루프린 등 주사제의 회당 약값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25E00"/>
                </a:solidFill>
              </a:rPr>
              <a:t>자이티가 · 얼리다 · 뉴베카의 월 표시가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25E00"/>
                </a:solidFill>
              </a:rPr>
              <a:t>암 종류별 호르몬치료 대상 비율</a:t>
            </a:r>
            <a:endParaRPr lang="en-US" sz="1300" dirty="0"/>
          </a:p>
        </p:txBody>
      </p:sp>
      <p:sp>
        <p:nvSpPr>
          <p:cNvPr id="10" name="assume-note"/>
          <p:cNvSpPr txBox="1"/>
          <p:nvPr/>
        </p:nvSpPr>
        <p:spPr>
          <a:xfrm>
            <a:off x="6597396" y="493776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dirty="0">
                <a:solidFill>
                  <a:srgbClr val="B25E00"/>
                </a:solidFill>
              </a:rPr>
              <a:t>상담 자료로 쓰기 전에 건강보험심사평가원 약제급여목록으로 금액을 확인하고 날짜를 적어 둡니다.</a:t>
            </a:r>
            <a:endParaRPr lang="en-US" sz="1250" dirty="0"/>
          </a:p>
        </p:txBody>
      </p:sp>
      <p:sp>
        <p:nvSpPr>
          <p:cNvPr id="11" name="footer-note"/>
          <p:cNvSpPr txBox="1"/>
          <p:nvPr/>
        </p:nvSpPr>
        <p:spPr>
          <a:xfrm>
            <a:off x="54864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</a:rPr>
              <a:t>2026년 10월 23일 작성 · 설계사 교육용 · 고객 배포 전 금액 확인 필수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AI Meritz">
  <a:themeElements>
    <a:clrScheme name="MeAI Meritz">
      <a:dk1>
        <a:srgbClr val="191F28"/>
      </a:dk1>
      <a:lt1>
        <a:srgbClr val="FFFFFF"/>
      </a:lt1>
      <a:dk2>
        <a:srgbClr val="4E5968"/>
      </a:dk2>
      <a:lt2>
        <a:srgbClr val="F2F4F6"/>
      </a:lt2>
      <a:accent1>
        <a:srgbClr val="C8102E"/>
      </a:accent1>
      <a:accent2>
        <a:srgbClr val="A50D26"/>
      </a:accent2>
      <a:accent3>
        <a:srgbClr val="FDECEE"/>
      </a:accent3>
      <a:accent4>
        <a:srgbClr val="F5C2CA"/>
      </a:accent4>
      <a:accent5>
        <a:srgbClr val="B25E00"/>
      </a:accent5>
      <a:accent6>
        <a:srgbClr val="FFF3E0"/>
      </a:accent6>
      <a:hlink>
        <a:srgbClr val="2B5BBF"/>
      </a:hlink>
      <a:folHlink>
        <a:srgbClr val="7E2C72"/>
      </a:folHlink>
    </a:clrScheme>
    <a:fontScheme name="MeAI Meritz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항암호르몬치료 한눈에 보기</dc:title>
  <dc:subject>PptxGenJS Presentation</dc:subject>
  <dc:creator>MeAI 세일즈혁신</dc:creator>
  <cp:lastModifiedBy>MeAI 세일즈혁신</cp:lastModifiedBy>
  <cp:revision>1</cp:revision>
  <dcterms:created xsi:type="dcterms:W3CDTF">2026-10-23T02:08:28Z</dcterms:created>
  <dcterms:modified xsi:type="dcterms:W3CDTF">2026-10-23T02:08:28Z</dcterms:modified>
</cp:coreProperties>
</file>