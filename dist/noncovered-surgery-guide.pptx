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78b9a9aa-f556-b216-f6a5-0eb1053398e4}">
          <p14:sldIdLst>
            <p14:sldId id="256"/>
          </p14:sldIdLst>
        </p14:section>
        <p14:section name="한눈에 보기" id="{802d35c4-498f-8ce1-659b-2ee62dddbb53}">
          <p14:sldIdLst>
            <p14:sldId id="257"/>
            <p14:sldId id="258"/>
            <p14:sldId id="259"/>
          </p14:sldIdLst>
        </p14:section>
        <p14:section name="수술별 상세" id="{0fc05242-212a-11e2-741c-3fb70c96c598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질병으로 찾기" id="{016b965f-fa03-4771-3a28-e5e4d63e199a}">
          <p14:sldIdLst>
            <p14:sldId id="268"/>
          </p14:sldIdLst>
        </p14:section>
        <p14:section name="영업 포인트" id="{1dd0abac-2a4e-2492-58e0-c353bd70a41e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한 달 진료비(억원)</c:v>
                </c:pt>
              </c:strCache>
            </c:strRef>
          </c:tx>
          <c:spPr>
            <a:solidFill>
              <a:srgbClr val="3182F6"/>
            </a:solidFill>
            <a:effectLst/>
          </c:spPr>
          <c:invertIfNegative val="0"/>
          <c:dLbls>
            <c:numFmt formatCode="#,##0&quot;억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91F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1인실 병실료</c:v>
                  </c:pt>
                  <c:pt idx="1">
                    <c:v>도수치료</c:v>
                  </c:pt>
                  <c:pt idx="2">
                    <c:v>지르코니아 임플란트</c:v>
                  </c:pt>
                  <c:pt idx="3">
                    <c:v>싸이모신알파1(주사)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561</c:v>
                </c:pt>
                <c:pt idx="1">
                  <c:v>552</c:v>
                </c:pt>
                <c:pt idx="2">
                  <c:v>314</c:v>
                </c:pt>
                <c:pt idx="3">
                  <c:v>274</c:v>
                </c:pt>
              </c:numCache>
            </c:numRef>
          </c:val>
        </c:ser>
        <c:dLbls>
          <c:numFmt formatCode="#,##0&quot;억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91F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E59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메리츠화재 세일즈혁신 · 비급여 수술 가이드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914400"/>
            <a:ext cx="17373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세일즈혁신 · 2026.10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비급여 수술,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얼마나 들까요?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926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많이 하는 비급여 수술·시술 8가지의 평균 비용과 어떤 병에서 받는지 정리했어요</a:t>
            </a:r>
            <a:endParaRPr lang="en-US" sz="1600" dirty="0"/>
          </a:p>
        </p:txBody>
      </p:sp>
      <p:sp>
        <p:nvSpPr>
          <p:cNvPr id="5" name="cover-circle"/>
          <p:cNvSpPr/>
          <p:nvPr/>
        </p:nvSpPr>
        <p:spPr>
          <a:xfrm>
            <a:off x="6949440" y="333756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ove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3685032"/>
            <a:ext cx="676656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비급여, 숫자로 먼저 볼게요</a:t>
            </a:r>
            <a:endParaRPr lang="en-US" sz="2600" dirty="0"/>
          </a:p>
        </p:txBody>
      </p:sp>
      <p:sp>
        <p:nvSpPr>
          <p:cNvPr id="3" name="stat-card-0"/>
          <p:cNvSpPr/>
          <p:nvPr/>
        </p:nvSpPr>
        <p:spPr>
          <a:xfrm>
            <a:off x="548640" y="1325880"/>
            <a:ext cx="2514600" cy="237744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4" name="stat-num-0"/>
          <p:cNvSpPr txBox="1"/>
          <p:nvPr/>
        </p:nvSpPr>
        <p:spPr>
          <a:xfrm>
            <a:off x="82296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7,499억원</a:t>
            </a:r>
            <a:endParaRPr lang="en-US" sz="3000" dirty="0"/>
          </a:p>
        </p:txBody>
      </p:sp>
      <p:sp>
        <p:nvSpPr>
          <p:cNvPr id="5" name="stat-label-0"/>
          <p:cNvSpPr txBox="1"/>
          <p:nvPr/>
        </p:nvSpPr>
        <p:spPr>
          <a:xfrm>
            <a:off x="82296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병원급 비급여 진료비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한 달 합계 (2025.9)</a:t>
            </a:r>
            <a:endParaRPr lang="en-US" sz="1300" dirty="0"/>
          </a:p>
        </p:txBody>
      </p:sp>
      <p:sp>
        <p:nvSpPr>
          <p:cNvPr id="6" name="stat-card-1"/>
          <p:cNvSpPr/>
          <p:nvPr/>
        </p:nvSpPr>
        <p:spPr>
          <a:xfrm>
            <a:off x="3291840" y="1325880"/>
            <a:ext cx="2514600" cy="237744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7" name="stat-num-1"/>
          <p:cNvSpPr txBox="1"/>
          <p:nvPr/>
        </p:nvSpPr>
        <p:spPr>
          <a:xfrm>
            <a:off x="356616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753개</a:t>
            </a:r>
            <a:endParaRPr lang="en-US" sz="3000" dirty="0"/>
          </a:p>
        </p:txBody>
      </p:sp>
      <p:sp>
        <p:nvSpPr>
          <p:cNvPr id="8" name="stat-label-1"/>
          <p:cNvSpPr txBox="1"/>
          <p:nvPr/>
        </p:nvSpPr>
        <p:spPr>
          <a:xfrm>
            <a:off x="356616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심평원이 가격을 공개하는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비급여 항목 수 (2026)</a:t>
            </a:r>
            <a:endParaRPr lang="en-US" sz="1300" dirty="0"/>
          </a:p>
        </p:txBody>
      </p:sp>
      <p:sp>
        <p:nvSpPr>
          <p:cNvPr id="9" name="stat-card-2"/>
          <p:cNvSpPr/>
          <p:nvPr/>
        </p:nvSpPr>
        <p:spPr>
          <a:xfrm>
            <a:off x="6035040" y="1325880"/>
            <a:ext cx="2514600" cy="237744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0" name="stat-num-2"/>
          <p:cNvSpPr txBox="1"/>
          <p:nvPr/>
        </p:nvSpPr>
        <p:spPr>
          <a:xfrm>
            <a:off x="630936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64.3%</a:t>
            </a:r>
            <a:endParaRPr lang="en-US" sz="3000" dirty="0"/>
          </a:p>
        </p:txBody>
      </p:sp>
      <p:sp>
        <p:nvSpPr>
          <p:cNvPr id="11" name="stat-label-2"/>
          <p:cNvSpPr txBox="1"/>
          <p:nvPr/>
        </p:nvSpPr>
        <p:spPr>
          <a:xfrm>
            <a:off x="630936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1년 새 평균 가격이 오른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비급여 항목 비율 (2025)</a:t>
            </a:r>
            <a:endParaRPr lang="en-US" sz="1300" dirty="0"/>
          </a:p>
        </p:txBody>
      </p:sp>
      <p:sp>
        <p:nvSpPr>
          <p:cNvPr id="12" name="source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출처: 보건복지부·국민건강보험공단 비급여 보고제도 분석(2026.9 발표), 보건복지부·심평원 비급여 진료비용 공개(2025.9 / 2026.9)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돈이 가장 많이 몰리는 비급여 항목</a:t>
            </a:r>
            <a:endParaRPr lang="en-US" sz="2600" dirty="0"/>
          </a:p>
        </p:txBody>
      </p:sp>
      <p:graphicFrame>
        <p:nvGraphicFramePr>
          <p:cNvPr id="3" name="top-chart" descr=""/>
          <p:cNvGraphicFramePr/>
          <p:nvPr/>
        </p:nvGraphicFramePr>
        <p:xfrm>
          <a:off x="457200" y="109728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-card"/>
          <p:cNvSpPr/>
          <p:nvPr/>
        </p:nvSpPr>
        <p:spPr>
          <a:xfrm>
            <a:off x="5943600" y="1188720"/>
            <a:ext cx="2651760" cy="301752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5" name="insight-text"/>
          <p:cNvSpPr txBox="1"/>
          <p:nvPr/>
        </p:nvSpPr>
        <p:spPr>
          <a:xfrm>
            <a:off x="6172200" y="137160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수술 쪽은?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상급종합병원만 보면 1인실 다음으로 전립선암·갑상선암 로봇수술이 2·3위예요.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도수치료는 2026.7부터 관리급여로 바뀌었어요.</a:t>
            </a:r>
            <a:endParaRPr lang="en-US" sz="1500" dirty="0"/>
          </a:p>
        </p:txBody>
      </p:sp>
      <p:sp>
        <p:nvSpPr>
          <p:cNvPr id="6" name="source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출처: 보건복지부·국민건강보험공단, 2025년 하반기 병원급 비급여 진료비용 분석(2025.9 진료분, 4,098개 병원)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많이 하는 비급여 수술·시술 8가지</a:t>
            </a:r>
            <a:endParaRPr lang="en-US" sz="2600" dirty="0"/>
          </a:p>
        </p:txBody>
      </p:sp>
      <p:sp>
        <p:nvSpPr>
          <p:cNvPr id="3" name="list-card-0"/>
          <p:cNvSpPr/>
          <p:nvPr/>
        </p:nvSpPr>
        <p:spPr>
          <a:xfrm>
            <a:off x="548640" y="1143000"/>
            <a:ext cx="3931920" cy="676656"/>
          </a:xfrm>
          <a:prstGeom prst="roundRect">
            <a:avLst>
              <a:gd name="adj" fmla="val 20270"/>
            </a:avLst>
          </a:prstGeom>
          <a:solidFill>
            <a:schemeClr val="bg2"/>
          </a:solidFill>
          <a:ln/>
        </p:spPr>
      </p:sp>
      <p:sp>
        <p:nvSpPr>
          <p:cNvPr id="4" name="list-dot-0"/>
          <p:cNvSpPr/>
          <p:nvPr/>
        </p:nvSpPr>
        <p:spPr>
          <a:xfrm>
            <a:off x="685800" y="1271016"/>
            <a:ext cx="420624" cy="420624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list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371600"/>
            <a:ext cx="219456" cy="219456"/>
          </a:xfrm>
          <a:prstGeom prst="rect">
            <a:avLst/>
          </a:prstGeom>
        </p:spPr>
      </p:pic>
      <p:sp>
        <p:nvSpPr>
          <p:cNvPr id="6" name="list-text-0"/>
          <p:cNvSpPr txBox="1"/>
          <p:nvPr/>
        </p:nvSpPr>
        <p:spPr>
          <a:xfrm>
            <a:off x="1234440" y="11978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백내장 다초점 인공수정체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백내장</a:t>
            </a:r>
            <a:endParaRPr lang="en-US" sz="1300" dirty="0"/>
          </a:p>
        </p:txBody>
      </p:sp>
      <p:sp>
        <p:nvSpPr>
          <p:cNvPr id="7" name="list-price-0"/>
          <p:cNvSpPr txBox="1"/>
          <p:nvPr/>
        </p:nvSpPr>
        <p:spPr>
          <a:xfrm>
            <a:off x="3246120" y="119786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180만원</a:t>
            </a:r>
            <a:endParaRPr lang="en-US" sz="1200" dirty="0"/>
          </a:p>
        </p:txBody>
      </p:sp>
      <p:sp>
        <p:nvSpPr>
          <p:cNvPr id="8" name="list-card-1"/>
          <p:cNvSpPr/>
          <p:nvPr/>
        </p:nvSpPr>
        <p:spPr>
          <a:xfrm>
            <a:off x="4663440" y="1143000"/>
            <a:ext cx="3931920" cy="676656"/>
          </a:xfrm>
          <a:prstGeom prst="roundRect">
            <a:avLst>
              <a:gd name="adj" fmla="val 20270"/>
            </a:avLst>
          </a:prstGeom>
          <a:solidFill>
            <a:schemeClr val="bg2"/>
          </a:solidFill>
          <a:ln/>
        </p:spPr>
      </p:sp>
      <p:sp>
        <p:nvSpPr>
          <p:cNvPr id="9" name="list-dot-1"/>
          <p:cNvSpPr/>
          <p:nvPr/>
        </p:nvSpPr>
        <p:spPr>
          <a:xfrm>
            <a:off x="4800600" y="1271016"/>
            <a:ext cx="420624" cy="420624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list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371600"/>
            <a:ext cx="219456" cy="219456"/>
          </a:xfrm>
          <a:prstGeom prst="rect">
            <a:avLst/>
          </a:prstGeom>
        </p:spPr>
      </p:pic>
      <p:sp>
        <p:nvSpPr>
          <p:cNvPr id="11" name="list-text-1"/>
          <p:cNvSpPr txBox="1"/>
          <p:nvPr/>
        </p:nvSpPr>
        <p:spPr>
          <a:xfrm>
            <a:off x="5349240" y="11978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다빈치 로봇수술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전립선암</a:t>
            </a:r>
            <a:endParaRPr lang="en-US" sz="1300" dirty="0"/>
          </a:p>
        </p:txBody>
      </p:sp>
      <p:sp>
        <p:nvSpPr>
          <p:cNvPr id="12" name="list-price-1"/>
          <p:cNvSpPr txBox="1"/>
          <p:nvPr/>
        </p:nvSpPr>
        <p:spPr>
          <a:xfrm>
            <a:off x="7360920" y="119786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1,000만원</a:t>
            </a:r>
            <a:endParaRPr lang="en-US" sz="1200" dirty="0"/>
          </a:p>
        </p:txBody>
      </p:sp>
      <p:sp>
        <p:nvSpPr>
          <p:cNvPr id="13" name="list-card-2"/>
          <p:cNvSpPr/>
          <p:nvPr/>
        </p:nvSpPr>
        <p:spPr>
          <a:xfrm>
            <a:off x="548640" y="1929384"/>
            <a:ext cx="3931920" cy="676656"/>
          </a:xfrm>
          <a:prstGeom prst="roundRect">
            <a:avLst>
              <a:gd name="adj" fmla="val 20270"/>
            </a:avLst>
          </a:prstGeom>
          <a:solidFill>
            <a:schemeClr val="bg2"/>
          </a:solidFill>
          <a:ln/>
        </p:spPr>
      </p:sp>
      <p:sp>
        <p:nvSpPr>
          <p:cNvPr id="14" name="list-dot-2"/>
          <p:cNvSpPr/>
          <p:nvPr/>
        </p:nvSpPr>
        <p:spPr>
          <a:xfrm>
            <a:off x="685800" y="2057400"/>
            <a:ext cx="420624" cy="420624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list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157984"/>
            <a:ext cx="219456" cy="219456"/>
          </a:xfrm>
          <a:prstGeom prst="rect">
            <a:avLst/>
          </a:prstGeom>
        </p:spPr>
      </p:pic>
      <p:sp>
        <p:nvSpPr>
          <p:cNvPr id="16" name="list-text-2"/>
          <p:cNvSpPr txBox="1"/>
          <p:nvPr/>
        </p:nvSpPr>
        <p:spPr>
          <a:xfrm>
            <a:off x="1234440" y="19842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하이푸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자궁근종</a:t>
            </a:r>
            <a:endParaRPr lang="en-US" sz="1300" dirty="0"/>
          </a:p>
        </p:txBody>
      </p:sp>
      <p:sp>
        <p:nvSpPr>
          <p:cNvPr id="17" name="list-price-2"/>
          <p:cNvSpPr txBox="1"/>
          <p:nvPr/>
        </p:nvSpPr>
        <p:spPr>
          <a:xfrm>
            <a:off x="3246120" y="19842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657만원</a:t>
            </a:r>
            <a:endParaRPr lang="en-US" sz="1200" dirty="0"/>
          </a:p>
        </p:txBody>
      </p:sp>
      <p:sp>
        <p:nvSpPr>
          <p:cNvPr id="18" name="list-card-3"/>
          <p:cNvSpPr/>
          <p:nvPr/>
        </p:nvSpPr>
        <p:spPr>
          <a:xfrm>
            <a:off x="4663440" y="1929384"/>
            <a:ext cx="3931920" cy="676656"/>
          </a:xfrm>
          <a:prstGeom prst="roundRect">
            <a:avLst>
              <a:gd name="adj" fmla="val 20270"/>
            </a:avLst>
          </a:prstGeom>
          <a:solidFill>
            <a:schemeClr val="bg2"/>
          </a:solidFill>
          <a:ln/>
        </p:spPr>
      </p:sp>
      <p:sp>
        <p:nvSpPr>
          <p:cNvPr id="19" name="list-dot-3"/>
          <p:cNvSpPr/>
          <p:nvPr/>
        </p:nvSpPr>
        <p:spPr>
          <a:xfrm>
            <a:off x="4800600" y="2057400"/>
            <a:ext cx="420624" cy="420624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0" name="list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157984"/>
            <a:ext cx="219456" cy="219456"/>
          </a:xfrm>
          <a:prstGeom prst="rect">
            <a:avLst/>
          </a:prstGeom>
        </p:spPr>
      </p:pic>
      <p:sp>
        <p:nvSpPr>
          <p:cNvPr id="21" name="list-text-3"/>
          <p:cNvSpPr txBox="1"/>
          <p:nvPr/>
        </p:nvSpPr>
        <p:spPr>
          <a:xfrm>
            <a:off x="5349240" y="19842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맘모톰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유방 양성종양</a:t>
            </a:r>
            <a:endParaRPr lang="en-US" sz="1300" dirty="0"/>
          </a:p>
        </p:txBody>
      </p:sp>
      <p:sp>
        <p:nvSpPr>
          <p:cNvPr id="22" name="list-price-3"/>
          <p:cNvSpPr txBox="1"/>
          <p:nvPr/>
        </p:nvSpPr>
        <p:spPr>
          <a:xfrm>
            <a:off x="7360920" y="19842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편차 큼</a:t>
            </a:r>
            <a:endParaRPr lang="en-US" sz="1200" dirty="0"/>
          </a:p>
        </p:txBody>
      </p:sp>
      <p:sp>
        <p:nvSpPr>
          <p:cNvPr id="23" name="list-card-4"/>
          <p:cNvSpPr/>
          <p:nvPr/>
        </p:nvSpPr>
        <p:spPr>
          <a:xfrm>
            <a:off x="548640" y="2715768"/>
            <a:ext cx="3931920" cy="676656"/>
          </a:xfrm>
          <a:prstGeom prst="roundRect">
            <a:avLst>
              <a:gd name="adj" fmla="val 20270"/>
            </a:avLst>
          </a:prstGeom>
          <a:solidFill>
            <a:schemeClr val="bg2"/>
          </a:solidFill>
          <a:ln/>
        </p:spPr>
      </p:sp>
      <p:sp>
        <p:nvSpPr>
          <p:cNvPr id="24" name="list-dot-4"/>
          <p:cNvSpPr/>
          <p:nvPr/>
        </p:nvSpPr>
        <p:spPr>
          <a:xfrm>
            <a:off x="685800" y="2843784"/>
            <a:ext cx="420624" cy="420624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5" name="list-icon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2944368"/>
            <a:ext cx="219456" cy="219456"/>
          </a:xfrm>
          <a:prstGeom prst="rect">
            <a:avLst/>
          </a:prstGeom>
        </p:spPr>
      </p:pic>
      <p:sp>
        <p:nvSpPr>
          <p:cNvPr id="26" name="list-text-4"/>
          <p:cNvSpPr txBox="1"/>
          <p:nvPr/>
        </p:nvSpPr>
        <p:spPr>
          <a:xfrm>
            <a:off x="1234440" y="27706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하지정맥류 고주파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하지정맥류</a:t>
            </a:r>
            <a:endParaRPr lang="en-US" sz="1300" dirty="0"/>
          </a:p>
        </p:txBody>
      </p:sp>
      <p:sp>
        <p:nvSpPr>
          <p:cNvPr id="27" name="list-price-4"/>
          <p:cNvSpPr txBox="1"/>
          <p:nvPr/>
        </p:nvSpPr>
        <p:spPr>
          <a:xfrm>
            <a:off x="3246120" y="27706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159만원</a:t>
            </a:r>
            <a:endParaRPr lang="en-US" sz="1200" dirty="0"/>
          </a:p>
        </p:txBody>
      </p:sp>
      <p:sp>
        <p:nvSpPr>
          <p:cNvPr id="28" name="list-card-5"/>
          <p:cNvSpPr/>
          <p:nvPr/>
        </p:nvSpPr>
        <p:spPr>
          <a:xfrm>
            <a:off x="4663440" y="2715768"/>
            <a:ext cx="3931920" cy="676656"/>
          </a:xfrm>
          <a:prstGeom prst="roundRect">
            <a:avLst>
              <a:gd name="adj" fmla="val 20270"/>
            </a:avLst>
          </a:prstGeom>
          <a:solidFill>
            <a:schemeClr val="bg2"/>
          </a:solidFill>
          <a:ln/>
        </p:spPr>
      </p:sp>
      <p:sp>
        <p:nvSpPr>
          <p:cNvPr id="29" name="list-dot-5"/>
          <p:cNvSpPr/>
          <p:nvPr/>
        </p:nvSpPr>
        <p:spPr>
          <a:xfrm>
            <a:off x="4800600" y="2843784"/>
            <a:ext cx="420624" cy="420624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0" name="list-icon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2944368"/>
            <a:ext cx="219456" cy="219456"/>
          </a:xfrm>
          <a:prstGeom prst="rect">
            <a:avLst/>
          </a:prstGeom>
        </p:spPr>
      </p:pic>
      <p:sp>
        <p:nvSpPr>
          <p:cNvPr id="31" name="list-text-5"/>
          <p:cNvSpPr txBox="1"/>
          <p:nvPr/>
        </p:nvSpPr>
        <p:spPr>
          <a:xfrm>
            <a:off x="5349240" y="27706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신경성형술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척추관협착증</a:t>
            </a:r>
            <a:endParaRPr lang="en-US" sz="1300" dirty="0"/>
          </a:p>
        </p:txBody>
      </p:sp>
      <p:sp>
        <p:nvSpPr>
          <p:cNvPr id="32" name="list-price-5"/>
          <p:cNvSpPr txBox="1"/>
          <p:nvPr/>
        </p:nvSpPr>
        <p:spPr>
          <a:xfrm>
            <a:off x="7360920" y="27706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170만원</a:t>
            </a:r>
            <a:endParaRPr lang="en-US" sz="1200" dirty="0"/>
          </a:p>
        </p:txBody>
      </p:sp>
      <p:sp>
        <p:nvSpPr>
          <p:cNvPr id="33" name="list-card-6"/>
          <p:cNvSpPr/>
          <p:nvPr/>
        </p:nvSpPr>
        <p:spPr>
          <a:xfrm>
            <a:off x="548640" y="3502152"/>
            <a:ext cx="3931920" cy="676656"/>
          </a:xfrm>
          <a:prstGeom prst="roundRect">
            <a:avLst>
              <a:gd name="adj" fmla="val 20270"/>
            </a:avLst>
          </a:prstGeom>
          <a:solidFill>
            <a:schemeClr val="bg2"/>
          </a:solidFill>
          <a:ln/>
        </p:spPr>
      </p:sp>
      <p:sp>
        <p:nvSpPr>
          <p:cNvPr id="34" name="list-dot-6"/>
          <p:cNvSpPr/>
          <p:nvPr/>
        </p:nvSpPr>
        <p:spPr>
          <a:xfrm>
            <a:off x="685800" y="3630168"/>
            <a:ext cx="420624" cy="420624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5" name="list-icon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3730752"/>
            <a:ext cx="219456" cy="219456"/>
          </a:xfrm>
          <a:prstGeom prst="rect">
            <a:avLst/>
          </a:prstGeom>
        </p:spPr>
      </p:pic>
      <p:sp>
        <p:nvSpPr>
          <p:cNvPr id="36" name="list-text-6"/>
          <p:cNvSpPr txBox="1"/>
          <p:nvPr/>
        </p:nvSpPr>
        <p:spPr>
          <a:xfrm>
            <a:off x="1234440" y="35570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전립선 결찰술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전립선비대증</a:t>
            </a:r>
            <a:endParaRPr lang="en-US" sz="1300" dirty="0"/>
          </a:p>
        </p:txBody>
      </p:sp>
      <p:sp>
        <p:nvSpPr>
          <p:cNvPr id="37" name="list-price-6"/>
          <p:cNvSpPr txBox="1"/>
          <p:nvPr/>
        </p:nvSpPr>
        <p:spPr>
          <a:xfrm>
            <a:off x="3246120" y="355701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440만원</a:t>
            </a:r>
            <a:endParaRPr lang="en-US" sz="1200" dirty="0"/>
          </a:p>
        </p:txBody>
      </p:sp>
      <p:sp>
        <p:nvSpPr>
          <p:cNvPr id="38" name="list-card-7"/>
          <p:cNvSpPr/>
          <p:nvPr/>
        </p:nvSpPr>
        <p:spPr>
          <a:xfrm>
            <a:off x="4663440" y="3502152"/>
            <a:ext cx="3931920" cy="676656"/>
          </a:xfrm>
          <a:prstGeom prst="roundRect">
            <a:avLst>
              <a:gd name="adj" fmla="val 20270"/>
            </a:avLst>
          </a:prstGeom>
          <a:solidFill>
            <a:schemeClr val="bg2"/>
          </a:solidFill>
          <a:ln/>
        </p:spPr>
      </p:sp>
      <p:sp>
        <p:nvSpPr>
          <p:cNvPr id="39" name="list-dot-7"/>
          <p:cNvSpPr/>
          <p:nvPr/>
        </p:nvSpPr>
        <p:spPr>
          <a:xfrm>
            <a:off x="4800600" y="3630168"/>
            <a:ext cx="420624" cy="420624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40" name="list-icon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1184" y="3730752"/>
            <a:ext cx="219456" cy="219456"/>
          </a:xfrm>
          <a:prstGeom prst="rect">
            <a:avLst/>
          </a:prstGeom>
        </p:spPr>
      </p:pic>
      <p:sp>
        <p:nvSpPr>
          <p:cNvPr id="41" name="list-text-7"/>
          <p:cNvSpPr txBox="1"/>
          <p:nvPr/>
        </p:nvSpPr>
        <p:spPr>
          <a:xfrm>
            <a:off x="5349240" y="35570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무릎 골수 주사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무릎 골관절염</a:t>
            </a:r>
            <a:endParaRPr lang="en-US" sz="1300" dirty="0"/>
          </a:p>
        </p:txBody>
      </p:sp>
      <p:sp>
        <p:nvSpPr>
          <p:cNvPr id="42" name="list-price-7"/>
          <p:cNvSpPr txBox="1"/>
          <p:nvPr/>
        </p:nvSpPr>
        <p:spPr>
          <a:xfrm>
            <a:off x="7360920" y="355701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180~400만원</a:t>
            </a:r>
            <a:endParaRPr lang="en-US" sz="1200" dirty="0"/>
          </a:p>
        </p:txBody>
      </p:sp>
      <p:sp>
        <p:nvSpPr>
          <p:cNvPr id="43" name="source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금액은 각 상세 장의 출처 기준(공개 연도·기관 범위가 서로 달라 직접 비교용이 아님)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백내장 다초점 인공수정체</a:t>
            </a:r>
            <a:endParaRPr lang="en-US" sz="2600" dirty="0"/>
          </a:p>
        </p:txBody>
      </p:sp>
      <p:sp>
        <p:nvSpPr>
          <p:cNvPr id="3" name="title-dot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182880" cy="182880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1005840" y="109728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01 · 안과</a:t>
            </a:r>
            <a:endParaRPr lang="en-US" sz="1100" dirty="0"/>
          </a:p>
        </p:txBody>
      </p:sp>
      <p:sp>
        <p:nvSpPr>
          <p:cNvPr id="6" name="big-number"/>
          <p:cNvSpPr txBox="1"/>
          <p:nvPr/>
        </p:nvSpPr>
        <p:spPr>
          <a:xfrm>
            <a:off x="548640" y="1508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180만원</a:t>
            </a:r>
            <a:endParaRPr lang="en-US" sz="4000" dirty="0"/>
          </a:p>
        </p:txBody>
      </p:sp>
      <p:sp>
        <p:nvSpPr>
          <p:cNvPr id="7" name="big-label"/>
          <p:cNvSpPr txBox="1"/>
          <p:nvPr/>
        </p:nvSpPr>
        <p:spPr>
          <a:xfrm>
            <a:off x="54864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중간금액 · 한쪽 눈 (2022 공개)</a:t>
            </a:r>
            <a:endParaRPr lang="en-US" sz="1200" dirty="0"/>
          </a:p>
        </p:txBody>
      </p:sp>
      <p:sp>
        <p:nvSpPr>
          <p:cNvPr id="8" name="range-track"/>
          <p:cNvSpPr/>
          <p:nvPr/>
        </p:nvSpPr>
        <p:spPr>
          <a:xfrm>
            <a:off x="548640" y="3063240"/>
            <a:ext cx="3840480" cy="12801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9" name="range-fill"/>
          <p:cNvSpPr/>
          <p:nvPr/>
        </p:nvSpPr>
        <p:spPr>
          <a:xfrm>
            <a:off x="548640" y="3063240"/>
            <a:ext cx="651154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range-marker"/>
          <p:cNvSpPr/>
          <p:nvPr/>
        </p:nvSpPr>
        <p:spPr>
          <a:xfrm>
            <a:off x="1080922" y="3008376"/>
            <a:ext cx="237744" cy="23774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1" name="range-min"/>
          <p:cNvSpPr txBox="1"/>
          <p:nvPr/>
        </p:nvSpPr>
        <p:spPr>
          <a:xfrm>
            <a:off x="54864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최저 33만원</a:t>
            </a:r>
            <a:endParaRPr lang="en-US" sz="1100" dirty="0"/>
          </a:p>
        </p:txBody>
      </p:sp>
      <p:sp>
        <p:nvSpPr>
          <p:cNvPr id="12" name="range-max"/>
          <p:cNvSpPr txBox="1"/>
          <p:nvPr/>
        </p:nvSpPr>
        <p:spPr>
          <a:xfrm>
            <a:off x="256032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최고 900만원</a:t>
            </a:r>
            <a:endParaRPr lang="en-US" sz="1100" dirty="0"/>
          </a:p>
        </p:txBody>
      </p:sp>
      <p:sp>
        <p:nvSpPr>
          <p:cNvPr id="13" name="range-note"/>
          <p:cNvSpPr txBox="1"/>
          <p:nvPr/>
        </p:nvSpPr>
        <p:spPr>
          <a:xfrm>
            <a:off x="54864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같은 렌즈인데 최저·최고 27배 차이</a:t>
            </a:r>
            <a:endParaRPr lang="en-US" sz="1100" dirty="0"/>
          </a:p>
        </p:txBody>
      </p:sp>
      <p:sp>
        <p:nvSpPr>
          <p:cNvPr id="14" name="info-card"/>
          <p:cNvSpPr/>
          <p:nvPr/>
        </p:nvSpPr>
        <p:spPr>
          <a:xfrm>
            <a:off x="4800600" y="1097280"/>
            <a:ext cx="379476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5" name="info-text"/>
          <p:cNvSpPr txBox="1"/>
          <p:nvPr/>
        </p:nvSpPr>
        <p:spPr>
          <a:xfrm>
            <a:off x="5029200" y="128016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이런 병에서 받아요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백내장 (노안이 함께 있는 백내장 포함)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왜 비급여일까요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수술·단초점 렌즈는 건강보험, 다초점(조절성) 렌즈 값만 비급여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설계사 포인트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가격 격차가 가장 큰 대표 항목. 실손 청구·분쟁이 잦았던 수술</a:t>
            </a:r>
            <a:endParaRPr lang="en-US" sz="1100" dirty="0"/>
          </a:p>
        </p:txBody>
      </p:sp>
      <p:sp>
        <p:nvSpPr>
          <p:cNvPr id="16" name="source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출처: 보건복지부 비급여 진료비용 공개(2022) 보도, 데일리팜 「백내장 수술비 격차 27배」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다빈치 로봇수술</a:t>
            </a:r>
            <a:endParaRPr lang="en-US" sz="2600" dirty="0"/>
          </a:p>
        </p:txBody>
      </p:sp>
      <p:sp>
        <p:nvSpPr>
          <p:cNvPr id="3" name="title-dot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182880" cy="182880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1005840" y="109728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02 · 암 · 로봇</a:t>
            </a:r>
            <a:endParaRPr lang="en-US" sz="1100" dirty="0"/>
          </a:p>
        </p:txBody>
      </p:sp>
      <p:sp>
        <p:nvSpPr>
          <p:cNvPr id="6" name="big-number"/>
          <p:cNvSpPr txBox="1"/>
          <p:nvPr/>
        </p:nvSpPr>
        <p:spPr>
          <a:xfrm>
            <a:off x="548640" y="1508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1,000만원</a:t>
            </a:r>
            <a:endParaRPr lang="en-US" sz="4000" dirty="0"/>
          </a:p>
        </p:txBody>
      </p:sp>
      <p:sp>
        <p:nvSpPr>
          <p:cNvPr id="7" name="big-label"/>
          <p:cNvSpPr txBox="1"/>
          <p:nvPr/>
        </p:nvSpPr>
        <p:spPr>
          <a:xfrm>
            <a:off x="54864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가장 많이 받는 가격 · 전립선암</a:t>
            </a:r>
            <a:endParaRPr lang="en-US" sz="1200" dirty="0"/>
          </a:p>
        </p:txBody>
      </p:sp>
      <p:sp>
        <p:nvSpPr>
          <p:cNvPr id="8" name="range-track"/>
          <p:cNvSpPr/>
          <p:nvPr/>
        </p:nvSpPr>
        <p:spPr>
          <a:xfrm>
            <a:off x="548640" y="3063240"/>
            <a:ext cx="3840480" cy="12801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9" name="range-fill"/>
          <p:cNvSpPr/>
          <p:nvPr/>
        </p:nvSpPr>
        <p:spPr>
          <a:xfrm>
            <a:off x="548640" y="3063240"/>
            <a:ext cx="256032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range-marker"/>
          <p:cNvSpPr/>
          <p:nvPr/>
        </p:nvSpPr>
        <p:spPr>
          <a:xfrm>
            <a:off x="2990088" y="3008376"/>
            <a:ext cx="237744" cy="23774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1" name="range-min"/>
          <p:cNvSpPr txBox="1"/>
          <p:nvPr/>
        </p:nvSpPr>
        <p:spPr>
          <a:xfrm>
            <a:off x="54864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최저 300만원</a:t>
            </a:r>
            <a:endParaRPr lang="en-US" sz="1100" dirty="0"/>
          </a:p>
        </p:txBody>
      </p:sp>
      <p:sp>
        <p:nvSpPr>
          <p:cNvPr id="12" name="range-max"/>
          <p:cNvSpPr txBox="1"/>
          <p:nvPr/>
        </p:nvSpPr>
        <p:spPr>
          <a:xfrm>
            <a:off x="256032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최고 1,350만원</a:t>
            </a:r>
            <a:endParaRPr lang="en-US" sz="1100" dirty="0"/>
          </a:p>
        </p:txBody>
      </p:sp>
      <p:sp>
        <p:nvSpPr>
          <p:cNvPr id="13" name="range-note"/>
          <p:cNvSpPr txBox="1"/>
          <p:nvPr/>
        </p:nvSpPr>
        <p:spPr>
          <a:xfrm>
            <a:off x="54864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상급종합병원 기준 (심평원 2016 공개)</a:t>
            </a:r>
            <a:endParaRPr lang="en-US" sz="1100" dirty="0"/>
          </a:p>
        </p:txBody>
      </p:sp>
      <p:sp>
        <p:nvSpPr>
          <p:cNvPr id="14" name="info-card"/>
          <p:cNvSpPr/>
          <p:nvPr/>
        </p:nvSpPr>
        <p:spPr>
          <a:xfrm>
            <a:off x="4800600" y="1097280"/>
            <a:ext cx="379476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5" name="info-text"/>
          <p:cNvSpPr txBox="1"/>
          <p:nvPr/>
        </p:nvSpPr>
        <p:spPr>
          <a:xfrm>
            <a:off x="5029200" y="128016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이런 병에서 받아요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전립선암 · 갑상선암 · 자궁근종/자궁암 · 대장(직장)암 · 신장암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왜 비급여일까요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수술 자체는 건강보험, 로봇을 쓰는 비용이 비급여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설계사 포인트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상급종합병원 비급여 진료비 2·3위가 전립선암·갑상선암 로봇수술</a:t>
            </a:r>
            <a:endParaRPr lang="en-US" sz="1100" dirty="0"/>
          </a:p>
        </p:txBody>
      </p:sp>
      <p:sp>
        <p:nvSpPr>
          <p:cNvPr id="16" name="source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출처: 심평원 비급여 진료비용 공개(2016) 보도(메디칼업저버·헬스코리아뉴스), 보건복지부 비급여 보고제도 분석(2025)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하이푸 (고강도 초음파 집속술)</a:t>
            </a:r>
            <a:endParaRPr lang="en-US" sz="2600" dirty="0"/>
          </a:p>
        </p:txBody>
      </p:sp>
      <p:sp>
        <p:nvSpPr>
          <p:cNvPr id="3" name="title-dot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182880" cy="182880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1005840" y="109728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 · 여성</a:t>
            </a:r>
            <a:endParaRPr lang="en-US" sz="1100" dirty="0"/>
          </a:p>
        </p:txBody>
      </p:sp>
      <p:sp>
        <p:nvSpPr>
          <p:cNvPr id="6" name="big-number"/>
          <p:cNvSpPr txBox="1"/>
          <p:nvPr/>
        </p:nvSpPr>
        <p:spPr>
          <a:xfrm>
            <a:off x="548640" y="1508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657만원</a:t>
            </a:r>
            <a:endParaRPr lang="en-US" sz="4000" dirty="0"/>
          </a:p>
        </p:txBody>
      </p:sp>
      <p:sp>
        <p:nvSpPr>
          <p:cNvPr id="7" name="big-label"/>
          <p:cNvSpPr txBox="1"/>
          <p:nvPr/>
        </p:nvSpPr>
        <p:spPr>
          <a:xfrm>
            <a:off x="54864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평균 · 초음파 유도 방식 (59개 기관)</a:t>
            </a:r>
            <a:endParaRPr lang="en-US" sz="1200" dirty="0"/>
          </a:p>
        </p:txBody>
      </p:sp>
      <p:sp>
        <p:nvSpPr>
          <p:cNvPr id="8" name="range-track"/>
          <p:cNvSpPr/>
          <p:nvPr/>
        </p:nvSpPr>
        <p:spPr>
          <a:xfrm>
            <a:off x="548640" y="3063240"/>
            <a:ext cx="3840480" cy="12801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9" name="range-fill"/>
          <p:cNvSpPr/>
          <p:nvPr/>
        </p:nvSpPr>
        <p:spPr>
          <a:xfrm>
            <a:off x="548640" y="3063240"/>
            <a:ext cx="1456441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range-marker"/>
          <p:cNvSpPr/>
          <p:nvPr/>
        </p:nvSpPr>
        <p:spPr>
          <a:xfrm>
            <a:off x="1886209" y="3008376"/>
            <a:ext cx="237744" cy="23774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1" name="range-min"/>
          <p:cNvSpPr txBox="1"/>
          <p:nvPr/>
        </p:nvSpPr>
        <p:spPr>
          <a:xfrm>
            <a:off x="54864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최저 142만원</a:t>
            </a:r>
            <a:endParaRPr lang="en-US" sz="1100" dirty="0"/>
          </a:p>
        </p:txBody>
      </p:sp>
      <p:sp>
        <p:nvSpPr>
          <p:cNvPr id="12" name="range-max"/>
          <p:cNvSpPr txBox="1"/>
          <p:nvPr/>
        </p:nvSpPr>
        <p:spPr>
          <a:xfrm>
            <a:off x="256032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최고 1,500만원</a:t>
            </a:r>
            <a:endParaRPr lang="en-US" sz="1100" dirty="0"/>
          </a:p>
        </p:txBody>
      </p:sp>
      <p:sp>
        <p:nvSpPr>
          <p:cNvPr id="13" name="range-note"/>
          <p:cNvSpPr txBox="1"/>
          <p:nvPr/>
        </p:nvSpPr>
        <p:spPr>
          <a:xfrm>
            <a:off x="54864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심평원 공개자료 2021.9 반영분 인용</a:t>
            </a:r>
            <a:endParaRPr lang="en-US" sz="1100" dirty="0"/>
          </a:p>
        </p:txBody>
      </p:sp>
      <p:sp>
        <p:nvSpPr>
          <p:cNvPr id="14" name="info-card"/>
          <p:cNvSpPr/>
          <p:nvPr/>
        </p:nvSpPr>
        <p:spPr>
          <a:xfrm>
            <a:off x="4800600" y="1097280"/>
            <a:ext cx="379476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5" name="info-text"/>
          <p:cNvSpPr txBox="1"/>
          <p:nvPr/>
        </p:nvSpPr>
        <p:spPr>
          <a:xfrm>
            <a:off x="5029200" y="128016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이런 병에서 받아요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자궁근종 · 자궁선근증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왜 비급여일까요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배를 열지 않고 초음파 열로 근종을 태우는 치료로 비급여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설계사 포인트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MRI 유도 방식은 평균 약 400만원 안팎. 방식에 따라 가격이 크게 다름</a:t>
            </a:r>
            <a:endParaRPr lang="en-US" sz="1100" dirty="0"/>
          </a:p>
        </p:txBody>
      </p:sp>
      <p:sp>
        <p:nvSpPr>
          <p:cNvPr id="16" name="source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출처: 모두닥 「자궁근종 하이푸 시술 가격」(심평원 비급여 공개자료 2021.9 반영분 인용)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맘모톰 (진공흡인 유방 절제)</a:t>
            </a:r>
            <a:endParaRPr lang="en-US" sz="2600" dirty="0"/>
          </a:p>
        </p:txBody>
      </p:sp>
      <p:sp>
        <p:nvSpPr>
          <p:cNvPr id="3" name="title-dot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182880" cy="182880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1005840" y="109728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 · 여성</a:t>
            </a:r>
            <a:endParaRPr lang="en-US" sz="1100" dirty="0"/>
          </a:p>
        </p:txBody>
      </p:sp>
      <p:sp>
        <p:nvSpPr>
          <p:cNvPr id="6" name="big-number"/>
          <p:cNvSpPr txBox="1"/>
          <p:nvPr/>
        </p:nvSpPr>
        <p:spPr>
          <a:xfrm>
            <a:off x="548640" y="1508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병원별 편차 큼</a:t>
            </a:r>
            <a:endParaRPr lang="en-US" sz="3000" dirty="0"/>
          </a:p>
        </p:txBody>
      </p:sp>
      <p:sp>
        <p:nvSpPr>
          <p:cNvPr id="7" name="big-label"/>
          <p:cNvSpPr txBox="1"/>
          <p:nvPr/>
        </p:nvSpPr>
        <p:spPr>
          <a:xfrm>
            <a:off x="54864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전국 평균 공개값 미확보 · 병원 견적 확인 필요</a:t>
            </a:r>
            <a:endParaRPr lang="en-US" sz="1200" dirty="0"/>
          </a:p>
        </p:txBody>
      </p:sp>
      <p:sp>
        <p:nvSpPr>
          <p:cNvPr id="8" name="var-k-0"/>
          <p:cNvSpPr txBox="1"/>
          <p:nvPr/>
        </p:nvSpPr>
        <p:spPr>
          <a:xfrm>
            <a:off x="54864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시술 성격</a:t>
            </a:r>
            <a:endParaRPr lang="en-US" sz="1200" dirty="0"/>
          </a:p>
        </p:txBody>
      </p:sp>
      <p:sp>
        <p:nvSpPr>
          <p:cNvPr id="9" name="var-v-0"/>
          <p:cNvSpPr txBox="1"/>
          <p:nvPr/>
        </p:nvSpPr>
        <p:spPr>
          <a:xfrm>
            <a:off x="201168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바늘로 혹을 빨아들여 제거</a:t>
            </a:r>
            <a:endParaRPr lang="en-US" sz="1200" dirty="0"/>
          </a:p>
        </p:txBody>
      </p:sp>
      <p:sp>
        <p:nvSpPr>
          <p:cNvPr id="10" name="var-sep-0"/>
          <p:cNvSpPr/>
          <p:nvPr/>
        </p:nvSpPr>
        <p:spPr>
          <a:xfrm>
            <a:off x="548640" y="3154680"/>
            <a:ext cx="384048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1" name="var-k-1"/>
          <p:cNvSpPr txBox="1"/>
          <p:nvPr/>
        </p:nvSpPr>
        <p:spPr>
          <a:xfrm>
            <a:off x="54864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보험 이력</a:t>
            </a:r>
            <a:endParaRPr lang="en-US" sz="1200" dirty="0"/>
          </a:p>
        </p:txBody>
      </p:sp>
      <p:sp>
        <p:nvSpPr>
          <p:cNvPr id="12" name="var-v-1"/>
          <p:cNvSpPr txBox="1"/>
          <p:nvPr/>
        </p:nvSpPr>
        <p:spPr>
          <a:xfrm>
            <a:off x="201168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2019.7 법정비급여 전환</a:t>
            </a:r>
            <a:endParaRPr lang="en-US" sz="1200" dirty="0"/>
          </a:p>
        </p:txBody>
      </p:sp>
      <p:sp>
        <p:nvSpPr>
          <p:cNvPr id="13" name="var-sep-1"/>
          <p:cNvSpPr/>
          <p:nvPr/>
        </p:nvSpPr>
        <p:spPr>
          <a:xfrm>
            <a:off x="548640" y="3611880"/>
            <a:ext cx="384048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4" name="var-k-2"/>
          <p:cNvSpPr txBox="1"/>
          <p:nvPr/>
        </p:nvSpPr>
        <p:spPr>
          <a:xfrm>
            <a:off x="54864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실손</a:t>
            </a:r>
            <a:endParaRPr lang="en-US" sz="1200" dirty="0"/>
          </a:p>
        </p:txBody>
      </p:sp>
      <p:sp>
        <p:nvSpPr>
          <p:cNvPr id="15" name="var-v-2"/>
          <p:cNvSpPr txBox="1"/>
          <p:nvPr/>
        </p:nvSpPr>
        <p:spPr>
          <a:xfrm>
            <a:off x="201168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지급 대상 판결(서울중앙지법)</a:t>
            </a:r>
            <a:endParaRPr lang="en-US" sz="1200" dirty="0"/>
          </a:p>
        </p:txBody>
      </p:sp>
      <p:sp>
        <p:nvSpPr>
          <p:cNvPr id="16" name="info-card"/>
          <p:cNvSpPr/>
          <p:nvPr/>
        </p:nvSpPr>
        <p:spPr>
          <a:xfrm>
            <a:off x="4800600" y="1097280"/>
            <a:ext cx="379476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info-text"/>
          <p:cNvSpPr txBox="1"/>
          <p:nvPr/>
        </p:nvSpPr>
        <p:spPr>
          <a:xfrm>
            <a:off x="5029200" y="128016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이런 병에서 받아요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유방 양성종양 (섬유선종 등) · 유방 혹 조직검사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왜 비급여일까요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가슴을 크게 절개하지 않는 시술로 비급여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설계사 포인트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실손에서 통원 처리·입원 적정성이 자주 쟁점. 수술비 특약은 약관의 '수술' 정의 확인</a:t>
            </a:r>
            <a:endParaRPr lang="en-US" sz="1100" dirty="0"/>
          </a:p>
        </p:txBody>
      </p:sp>
      <p:sp>
        <p:nvSpPr>
          <p:cNvPr id="18" name="source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출처: 법률신문 「맘모톰 시술도 실손보험 지급대상」, 뱅크샐러드 「맘모톰 수술비용」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하지정맥류 (고주파·레이저·베나실)</a:t>
            </a:r>
            <a:endParaRPr lang="en-US" sz="2600" dirty="0"/>
          </a:p>
        </p:txBody>
      </p:sp>
      <p:sp>
        <p:nvSpPr>
          <p:cNvPr id="3" name="title-dot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182880" cy="182880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1005840" y="109728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05 · 혈관</a:t>
            </a:r>
            <a:endParaRPr lang="en-US" sz="1100" dirty="0"/>
          </a:p>
        </p:txBody>
      </p:sp>
      <p:sp>
        <p:nvSpPr>
          <p:cNvPr id="6" name="big-number"/>
          <p:cNvSpPr txBox="1"/>
          <p:nvPr/>
        </p:nvSpPr>
        <p:spPr>
          <a:xfrm>
            <a:off x="548640" y="1508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159만원</a:t>
            </a:r>
            <a:endParaRPr lang="en-US" sz="4000" dirty="0"/>
          </a:p>
        </p:txBody>
      </p:sp>
      <p:sp>
        <p:nvSpPr>
          <p:cNvPr id="7" name="big-label"/>
          <p:cNvSpPr txBox="1"/>
          <p:nvPr/>
        </p:nvSpPr>
        <p:spPr>
          <a:xfrm>
            <a:off x="54864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평균 · 고주파 폐쇄술 (경기 67개 병·의원)</a:t>
            </a:r>
            <a:endParaRPr lang="en-US" sz="1200" dirty="0"/>
          </a:p>
        </p:txBody>
      </p:sp>
      <p:sp>
        <p:nvSpPr>
          <p:cNvPr id="8" name="var-k-0"/>
          <p:cNvSpPr txBox="1"/>
          <p:nvPr/>
        </p:nvSpPr>
        <p:spPr>
          <a:xfrm>
            <a:off x="54864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고주파 최저</a:t>
            </a:r>
            <a:endParaRPr lang="en-US" sz="1200" dirty="0"/>
          </a:p>
        </p:txBody>
      </p:sp>
      <p:sp>
        <p:nvSpPr>
          <p:cNvPr id="9" name="var-v-0"/>
          <p:cNvSpPr txBox="1"/>
          <p:nvPr/>
        </p:nvSpPr>
        <p:spPr>
          <a:xfrm>
            <a:off x="201168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50만원</a:t>
            </a:r>
            <a:endParaRPr lang="en-US" sz="1200" dirty="0"/>
          </a:p>
        </p:txBody>
      </p:sp>
      <p:sp>
        <p:nvSpPr>
          <p:cNvPr id="10" name="var-sep-0"/>
          <p:cNvSpPr/>
          <p:nvPr/>
        </p:nvSpPr>
        <p:spPr>
          <a:xfrm>
            <a:off x="548640" y="3154680"/>
            <a:ext cx="384048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1" name="var-k-1"/>
          <p:cNvSpPr txBox="1"/>
          <p:nvPr/>
        </p:nvSpPr>
        <p:spPr>
          <a:xfrm>
            <a:off x="54864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고주파 평균</a:t>
            </a:r>
            <a:endParaRPr lang="en-US" sz="1200" dirty="0"/>
          </a:p>
        </p:txBody>
      </p:sp>
      <p:sp>
        <p:nvSpPr>
          <p:cNvPr id="12" name="var-v-1"/>
          <p:cNvSpPr txBox="1"/>
          <p:nvPr/>
        </p:nvSpPr>
        <p:spPr>
          <a:xfrm>
            <a:off x="201168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159만원</a:t>
            </a:r>
            <a:endParaRPr lang="en-US" sz="1200" dirty="0"/>
          </a:p>
        </p:txBody>
      </p:sp>
      <p:sp>
        <p:nvSpPr>
          <p:cNvPr id="13" name="var-sep-1"/>
          <p:cNvSpPr/>
          <p:nvPr/>
        </p:nvSpPr>
        <p:spPr>
          <a:xfrm>
            <a:off x="548640" y="3611880"/>
            <a:ext cx="384048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4" name="var-k-2"/>
          <p:cNvSpPr txBox="1"/>
          <p:nvPr/>
        </p:nvSpPr>
        <p:spPr>
          <a:xfrm>
            <a:off x="54864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베나실(접착)</a:t>
            </a:r>
            <a:endParaRPr lang="en-US" sz="1200" dirty="0"/>
          </a:p>
        </p:txBody>
      </p:sp>
      <p:sp>
        <p:nvSpPr>
          <p:cNvPr id="15" name="var-v-2"/>
          <p:cNvSpPr txBox="1"/>
          <p:nvPr/>
        </p:nvSpPr>
        <p:spPr>
          <a:xfrm>
            <a:off x="201168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한쪽 250~450만원</a:t>
            </a:r>
            <a:endParaRPr lang="en-US" sz="1200" dirty="0"/>
          </a:p>
        </p:txBody>
      </p:sp>
      <p:sp>
        <p:nvSpPr>
          <p:cNvPr id="16" name="info-card"/>
          <p:cNvSpPr/>
          <p:nvPr/>
        </p:nvSpPr>
        <p:spPr>
          <a:xfrm>
            <a:off x="4800600" y="1097280"/>
            <a:ext cx="379476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info-text"/>
          <p:cNvSpPr txBox="1"/>
          <p:nvPr/>
        </p:nvSpPr>
        <p:spPr>
          <a:xfrm>
            <a:off x="5029200" y="128016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이런 병에서 받아요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하지정맥류 (다리 혈관이 부풀어 튀어나오는 병)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왜 비급여일까요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역류 기준 등 급여 조건을 못 맞추면 수술 전체가 비급여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설계사 포인트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양쪽 다리·혈관 수에 따라 금액이 배로 늘어남</a:t>
            </a:r>
            <a:endParaRPr lang="en-US" sz="1100" dirty="0"/>
          </a:p>
        </p:txBody>
      </p:sp>
      <p:sp>
        <p:nvSpPr>
          <p:cNvPr id="18" name="source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출처: 내손안의닥터(my-doctor.io) 고주파정맥내막폐쇄술 경기 집계, 뱅크샐러드 「하지정맥류 수술비용」(베나실 병원 안내가)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경피적 경막외강 신경성형술</a:t>
            </a:r>
            <a:endParaRPr lang="en-US" sz="2600" dirty="0"/>
          </a:p>
        </p:txBody>
      </p:sp>
      <p:sp>
        <p:nvSpPr>
          <p:cNvPr id="3" name="title-dot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182880" cy="182880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1005840" y="109728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06 · 척추</a:t>
            </a:r>
            <a:endParaRPr lang="en-US" sz="1100" dirty="0"/>
          </a:p>
        </p:txBody>
      </p:sp>
      <p:sp>
        <p:nvSpPr>
          <p:cNvPr id="6" name="big-number"/>
          <p:cNvSpPr txBox="1"/>
          <p:nvPr/>
        </p:nvSpPr>
        <p:spPr>
          <a:xfrm>
            <a:off x="548640" y="1508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170만원</a:t>
            </a:r>
            <a:endParaRPr lang="en-US" sz="4000" dirty="0"/>
          </a:p>
        </p:txBody>
      </p:sp>
      <p:sp>
        <p:nvSpPr>
          <p:cNvPr id="7" name="big-label"/>
          <p:cNvSpPr txBox="1"/>
          <p:nvPr/>
        </p:nvSpPr>
        <p:spPr>
          <a:xfrm>
            <a:off x="54864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중간금액 (평균 약 177만원)</a:t>
            </a:r>
            <a:endParaRPr lang="en-US" sz="1200" dirty="0"/>
          </a:p>
        </p:txBody>
      </p:sp>
      <p:sp>
        <p:nvSpPr>
          <p:cNvPr id="8" name="var-k-0"/>
          <p:cNvSpPr txBox="1"/>
          <p:nvPr/>
        </p:nvSpPr>
        <p:spPr>
          <a:xfrm>
            <a:off x="54864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병원 게시가</a:t>
            </a:r>
            <a:endParaRPr lang="en-US" sz="1200" dirty="0"/>
          </a:p>
        </p:txBody>
      </p:sp>
      <p:sp>
        <p:nvSpPr>
          <p:cNvPr id="9" name="var-v-0"/>
          <p:cNvSpPr txBox="1"/>
          <p:nvPr/>
        </p:nvSpPr>
        <p:spPr>
          <a:xfrm>
            <a:off x="201168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115~175만원</a:t>
            </a:r>
            <a:endParaRPr lang="en-US" sz="1200" dirty="0"/>
          </a:p>
        </p:txBody>
      </p:sp>
      <p:sp>
        <p:nvSpPr>
          <p:cNvPr id="10" name="var-sep-0"/>
          <p:cNvSpPr/>
          <p:nvPr/>
        </p:nvSpPr>
        <p:spPr>
          <a:xfrm>
            <a:off x="548640" y="3154680"/>
            <a:ext cx="384048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1" name="var-k-1"/>
          <p:cNvSpPr txBox="1"/>
          <p:nvPr/>
        </p:nvSpPr>
        <p:spPr>
          <a:xfrm>
            <a:off x="54864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의원 범위</a:t>
            </a:r>
            <a:endParaRPr lang="en-US" sz="1200" dirty="0"/>
          </a:p>
        </p:txBody>
      </p:sp>
      <p:sp>
        <p:nvSpPr>
          <p:cNvPr id="12" name="var-v-1"/>
          <p:cNvSpPr txBox="1"/>
          <p:nvPr/>
        </p:nvSpPr>
        <p:spPr>
          <a:xfrm>
            <a:off x="201168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50~200만원</a:t>
            </a:r>
            <a:endParaRPr lang="en-US" sz="1200" dirty="0"/>
          </a:p>
        </p:txBody>
      </p:sp>
      <p:sp>
        <p:nvSpPr>
          <p:cNvPr id="13" name="var-sep-1"/>
          <p:cNvSpPr/>
          <p:nvPr/>
        </p:nvSpPr>
        <p:spPr>
          <a:xfrm>
            <a:off x="548640" y="3611880"/>
            <a:ext cx="384048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4" name="var-k-2"/>
          <p:cNvSpPr txBox="1"/>
          <p:nvPr/>
        </p:nvSpPr>
        <p:spPr>
          <a:xfrm>
            <a:off x="54864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제도 변화</a:t>
            </a:r>
            <a:endParaRPr lang="en-US" sz="1200" dirty="0"/>
          </a:p>
        </p:txBody>
      </p:sp>
      <p:sp>
        <p:nvSpPr>
          <p:cNvPr id="15" name="var-v-2"/>
          <p:cNvSpPr txBox="1"/>
          <p:nvPr/>
        </p:nvSpPr>
        <p:spPr>
          <a:xfrm>
            <a:off x="201168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관리급여 전환 검토 (2025.11)</a:t>
            </a:r>
            <a:endParaRPr lang="en-US" sz="1200" dirty="0"/>
          </a:p>
        </p:txBody>
      </p:sp>
      <p:sp>
        <p:nvSpPr>
          <p:cNvPr id="16" name="info-card"/>
          <p:cNvSpPr/>
          <p:nvPr/>
        </p:nvSpPr>
        <p:spPr>
          <a:xfrm>
            <a:off x="4800600" y="1097280"/>
            <a:ext cx="379476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info-text"/>
          <p:cNvSpPr txBox="1"/>
          <p:nvPr/>
        </p:nvSpPr>
        <p:spPr>
          <a:xfrm>
            <a:off x="5029200" y="128016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이런 병에서 받아요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척추관협착증 · 허리디스크(추간판탈출증) · 만성 요통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왜 비급여일까요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가는 관을 넣어 신경 주변 유착을 푸는 시술. 2007년부터 비급여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설계사 포인트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정부가 가격 관리 대상으로 검토 중. 향후 비용 구조가 바뀔 수 있음</a:t>
            </a:r>
            <a:endParaRPr lang="en-US" sz="1100" dirty="0"/>
          </a:p>
        </p:txBody>
      </p:sp>
      <p:sp>
        <p:nvSpPr>
          <p:cNvPr id="18" name="source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출처: 언론 보도 인용 평균·중간금액, 각 병원 비급여 게시가, 의학신문 「관리급여 검토항목」(2025.11)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전립선 결찰술 (유로리프트)</a:t>
            </a:r>
            <a:endParaRPr lang="en-US" sz="2600" dirty="0"/>
          </a:p>
        </p:txBody>
      </p:sp>
      <p:sp>
        <p:nvSpPr>
          <p:cNvPr id="3" name="title-dot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182880" cy="182880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1005840" y="109728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07 · 비뇨</a:t>
            </a:r>
            <a:endParaRPr lang="en-US" sz="1100" dirty="0"/>
          </a:p>
        </p:txBody>
      </p:sp>
      <p:sp>
        <p:nvSpPr>
          <p:cNvPr id="6" name="big-number"/>
          <p:cNvSpPr txBox="1"/>
          <p:nvPr/>
        </p:nvSpPr>
        <p:spPr>
          <a:xfrm>
            <a:off x="548640" y="1508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440만원</a:t>
            </a:r>
            <a:endParaRPr lang="en-US" sz="4000" dirty="0"/>
          </a:p>
        </p:txBody>
      </p:sp>
      <p:sp>
        <p:nvSpPr>
          <p:cNvPr id="7" name="big-label"/>
          <p:cNvSpPr txBox="1"/>
          <p:nvPr/>
        </p:nvSpPr>
        <p:spPr>
          <a:xfrm>
            <a:off x="54864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2부위 기준 · 병원 고지 가격</a:t>
            </a:r>
            <a:endParaRPr lang="en-US" sz="1200" dirty="0"/>
          </a:p>
        </p:txBody>
      </p:sp>
      <p:sp>
        <p:nvSpPr>
          <p:cNvPr id="8" name="var-k-0"/>
          <p:cNvSpPr txBox="1"/>
          <p:nvPr/>
        </p:nvSpPr>
        <p:spPr>
          <a:xfrm>
            <a:off x="54864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4부위</a:t>
            </a:r>
            <a:endParaRPr lang="en-US" sz="1200" dirty="0"/>
          </a:p>
        </p:txBody>
      </p:sp>
      <p:sp>
        <p:nvSpPr>
          <p:cNvPr id="9" name="var-v-0"/>
          <p:cNvSpPr txBox="1"/>
          <p:nvPr/>
        </p:nvSpPr>
        <p:spPr>
          <a:xfrm>
            <a:off x="201168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880만원</a:t>
            </a:r>
            <a:endParaRPr lang="en-US" sz="1200" dirty="0"/>
          </a:p>
        </p:txBody>
      </p:sp>
      <p:sp>
        <p:nvSpPr>
          <p:cNvPr id="10" name="var-sep-0"/>
          <p:cNvSpPr/>
          <p:nvPr/>
        </p:nvSpPr>
        <p:spPr>
          <a:xfrm>
            <a:off x="548640" y="3154680"/>
            <a:ext cx="384048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1" name="var-k-1"/>
          <p:cNvSpPr txBox="1"/>
          <p:nvPr/>
        </p:nvSpPr>
        <p:spPr>
          <a:xfrm>
            <a:off x="54864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병원 안내 범위</a:t>
            </a:r>
            <a:endParaRPr lang="en-US" sz="1200" dirty="0"/>
          </a:p>
        </p:txBody>
      </p:sp>
      <p:sp>
        <p:nvSpPr>
          <p:cNvPr id="12" name="var-v-1"/>
          <p:cNvSpPr txBox="1"/>
          <p:nvPr/>
        </p:nvSpPr>
        <p:spPr>
          <a:xfrm>
            <a:off x="201168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300~2,000만원</a:t>
            </a:r>
            <a:endParaRPr lang="en-US" sz="1200" dirty="0"/>
          </a:p>
        </p:txBody>
      </p:sp>
      <p:sp>
        <p:nvSpPr>
          <p:cNvPr id="13" name="var-sep-1"/>
          <p:cNvSpPr/>
          <p:nvPr/>
        </p:nvSpPr>
        <p:spPr>
          <a:xfrm>
            <a:off x="548640" y="3611880"/>
            <a:ext cx="384048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4" name="var-k-2"/>
          <p:cNvSpPr txBox="1"/>
          <p:nvPr/>
        </p:nvSpPr>
        <p:spPr>
          <a:xfrm>
            <a:off x="54864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급여 수술 대비</a:t>
            </a:r>
            <a:endParaRPr lang="en-US" sz="1200" dirty="0"/>
          </a:p>
        </p:txBody>
      </p:sp>
      <p:sp>
        <p:nvSpPr>
          <p:cNvPr id="15" name="var-v-2"/>
          <p:cNvSpPr txBox="1"/>
          <p:nvPr/>
        </p:nvSpPr>
        <p:spPr>
          <a:xfrm>
            <a:off x="201168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15배 이상</a:t>
            </a:r>
            <a:endParaRPr lang="en-US" sz="1200" dirty="0"/>
          </a:p>
        </p:txBody>
      </p:sp>
      <p:sp>
        <p:nvSpPr>
          <p:cNvPr id="16" name="info-card"/>
          <p:cNvSpPr/>
          <p:nvPr/>
        </p:nvSpPr>
        <p:spPr>
          <a:xfrm>
            <a:off x="4800600" y="1097280"/>
            <a:ext cx="379476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info-text"/>
          <p:cNvSpPr txBox="1"/>
          <p:nvPr/>
        </p:nvSpPr>
        <p:spPr>
          <a:xfrm>
            <a:off x="5029200" y="128016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이런 병에서 받아요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전립선비대증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왜 비급여일까요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실(결찰사)을 넣어 막힌 요도를 넓히는 시술로 비급여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설계사 포인트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백내장 다음으로 실손 청구가 급증한 항목으로 보도됨</a:t>
            </a:r>
            <a:endParaRPr lang="en-US" sz="1100" dirty="0"/>
          </a:p>
        </p:txBody>
      </p:sp>
      <p:sp>
        <p:nvSpPr>
          <p:cNvPr id="18" name="source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출처: 아시아경제 「전립선결찰술 비급여 급증」(2024.11), 비뇨의학과 비급여 고지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무릎 골수흡인농축물 주사</a:t>
            </a:r>
            <a:endParaRPr lang="en-US" sz="2600" dirty="0"/>
          </a:p>
        </p:txBody>
      </p:sp>
      <p:sp>
        <p:nvSpPr>
          <p:cNvPr id="3" name="title-dot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182880" cy="182880"/>
          </a:xfrm>
          <a:prstGeom prst="rect">
            <a:avLst/>
          </a:prstGeom>
        </p:spPr>
      </p:pic>
      <p:sp>
        <p:nvSpPr>
          <p:cNvPr id="5" name="chip"/>
          <p:cNvSpPr/>
          <p:nvPr/>
        </p:nvSpPr>
        <p:spPr>
          <a:xfrm>
            <a:off x="1005840" y="109728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08 · 관절</a:t>
            </a:r>
            <a:endParaRPr lang="en-US" sz="1100" dirty="0"/>
          </a:p>
        </p:txBody>
      </p:sp>
      <p:sp>
        <p:nvSpPr>
          <p:cNvPr id="6" name="big-number"/>
          <p:cNvSpPr txBox="1"/>
          <p:nvPr/>
        </p:nvSpPr>
        <p:spPr>
          <a:xfrm>
            <a:off x="548640" y="1508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180~400만원</a:t>
            </a:r>
            <a:endParaRPr lang="en-US" sz="3000" dirty="0"/>
          </a:p>
        </p:txBody>
      </p:sp>
      <p:sp>
        <p:nvSpPr>
          <p:cNvPr id="7" name="big-label"/>
          <p:cNvSpPr txBox="1"/>
          <p:nvPr/>
        </p:nvSpPr>
        <p:spPr>
          <a:xfrm>
            <a:off x="54864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무릎 1회 · 병원 게시가</a:t>
            </a:r>
            <a:endParaRPr lang="en-US" sz="1200" dirty="0"/>
          </a:p>
        </p:txBody>
      </p:sp>
      <p:sp>
        <p:nvSpPr>
          <p:cNvPr id="8" name="var-k-0"/>
          <p:cNvSpPr txBox="1"/>
          <p:nvPr/>
        </p:nvSpPr>
        <p:spPr>
          <a:xfrm>
            <a:off x="54864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제품 A</a:t>
            </a:r>
            <a:endParaRPr lang="en-US" sz="1200" dirty="0"/>
          </a:p>
        </p:txBody>
      </p:sp>
      <p:sp>
        <p:nvSpPr>
          <p:cNvPr id="9" name="var-v-0"/>
          <p:cNvSpPr txBox="1"/>
          <p:nvPr/>
        </p:nvSpPr>
        <p:spPr>
          <a:xfrm>
            <a:off x="201168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180만원</a:t>
            </a:r>
            <a:endParaRPr lang="en-US" sz="1200" dirty="0"/>
          </a:p>
        </p:txBody>
      </p:sp>
      <p:sp>
        <p:nvSpPr>
          <p:cNvPr id="10" name="var-sep-0"/>
          <p:cNvSpPr/>
          <p:nvPr/>
        </p:nvSpPr>
        <p:spPr>
          <a:xfrm>
            <a:off x="548640" y="3154680"/>
            <a:ext cx="384048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1" name="var-k-1"/>
          <p:cNvSpPr txBox="1"/>
          <p:nvPr/>
        </p:nvSpPr>
        <p:spPr>
          <a:xfrm>
            <a:off x="54864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제품 B</a:t>
            </a:r>
            <a:endParaRPr lang="en-US" sz="1200" dirty="0"/>
          </a:p>
        </p:txBody>
      </p:sp>
      <p:sp>
        <p:nvSpPr>
          <p:cNvPr id="12" name="var-v-1"/>
          <p:cNvSpPr txBox="1"/>
          <p:nvPr/>
        </p:nvSpPr>
        <p:spPr>
          <a:xfrm>
            <a:off x="201168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400만원</a:t>
            </a:r>
            <a:endParaRPr lang="en-US" sz="1200" dirty="0"/>
          </a:p>
        </p:txBody>
      </p:sp>
      <p:sp>
        <p:nvSpPr>
          <p:cNvPr id="13" name="var-sep-1"/>
          <p:cNvSpPr/>
          <p:nvPr/>
        </p:nvSpPr>
        <p:spPr>
          <a:xfrm>
            <a:off x="548640" y="3611880"/>
            <a:ext cx="384048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4" name="var-k-2"/>
          <p:cNvSpPr txBox="1"/>
          <p:nvPr/>
        </p:nvSpPr>
        <p:spPr>
          <a:xfrm>
            <a:off x="54864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비교: PRP 주사</a:t>
            </a:r>
            <a:endParaRPr lang="en-US" sz="1200" dirty="0"/>
          </a:p>
        </p:txBody>
      </p:sp>
      <p:sp>
        <p:nvSpPr>
          <p:cNvPr id="15" name="var-v-2"/>
          <p:cNvSpPr txBox="1"/>
          <p:nvPr/>
        </p:nvSpPr>
        <p:spPr>
          <a:xfrm>
            <a:off x="201168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20만원</a:t>
            </a:r>
            <a:endParaRPr lang="en-US" sz="1200" dirty="0"/>
          </a:p>
        </p:txBody>
      </p:sp>
      <p:sp>
        <p:nvSpPr>
          <p:cNvPr id="16" name="info-card"/>
          <p:cNvSpPr/>
          <p:nvPr/>
        </p:nvSpPr>
        <p:spPr>
          <a:xfrm>
            <a:off x="4800600" y="1097280"/>
            <a:ext cx="379476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info-text"/>
          <p:cNvSpPr txBox="1"/>
          <p:nvPr/>
        </p:nvSpPr>
        <p:spPr>
          <a:xfrm>
            <a:off x="5029200" y="128016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이런 병에서 받아요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무릎 골관절염 (퇴행성 관절염)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왜 비급여일까요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본인 골수를 뽑아 농축해 관절에 넣는 신의료 시술로 비급여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설계사 포인트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줄기세포 계열 주사는 일반 주사보다 10~20배 비쌈</a:t>
            </a:r>
            <a:endParaRPr lang="en-US" sz="1100" dirty="0"/>
          </a:p>
        </p:txBody>
      </p:sp>
      <p:sp>
        <p:nvSpPr>
          <p:cNvPr id="18" name="source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출처: 정형외과 병원 비급여 진료비 게시 목록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고객 병명으로 바로 찾기</a:t>
            </a:r>
            <a:endParaRPr lang="en-US" sz="2600" dirty="0"/>
          </a:p>
        </p:txBody>
      </p:sp>
      <p:sp>
        <p:nvSpPr>
          <p:cNvPr id="3" name="map-card-0"/>
          <p:cNvSpPr/>
          <p:nvPr/>
        </p:nvSpPr>
        <p:spPr>
          <a:xfrm>
            <a:off x="548640" y="1097280"/>
            <a:ext cx="2560320" cy="15544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4" name="map-dot-0"/>
          <p:cNvSpPr/>
          <p:nvPr/>
        </p:nvSpPr>
        <p:spPr>
          <a:xfrm>
            <a:off x="749808" y="1298448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map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399032"/>
            <a:ext cx="201168" cy="201168"/>
          </a:xfrm>
          <a:prstGeom prst="rect">
            <a:avLst/>
          </a:prstGeom>
        </p:spPr>
      </p:pic>
      <p:sp>
        <p:nvSpPr>
          <p:cNvPr id="6" name="map-group-0"/>
          <p:cNvSpPr txBox="1"/>
          <p:nvPr/>
        </p:nvSpPr>
        <p:spPr>
          <a:xfrm>
            <a:off x="1261872" y="12984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눈</a:t>
            </a:r>
            <a:endParaRPr lang="en-US" sz="1300" dirty="0"/>
          </a:p>
        </p:txBody>
      </p:sp>
      <p:sp>
        <p:nvSpPr>
          <p:cNvPr id="7" name="map-text-0"/>
          <p:cNvSpPr txBox="1"/>
          <p:nvPr/>
        </p:nvSpPr>
        <p:spPr>
          <a:xfrm>
            <a:off x="749808" y="1783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백내장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→ 다초점 인공수정체</a:t>
            </a:r>
            <a:endParaRPr lang="en-US" sz="1300" dirty="0"/>
          </a:p>
        </p:txBody>
      </p:sp>
      <p:sp>
        <p:nvSpPr>
          <p:cNvPr id="8" name="map-card-1"/>
          <p:cNvSpPr/>
          <p:nvPr/>
        </p:nvSpPr>
        <p:spPr>
          <a:xfrm>
            <a:off x="3291840" y="1097280"/>
            <a:ext cx="2560320" cy="15544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9" name="map-dot-1"/>
          <p:cNvSpPr/>
          <p:nvPr/>
        </p:nvSpPr>
        <p:spPr>
          <a:xfrm>
            <a:off x="3493008" y="1298448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map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399032"/>
            <a:ext cx="201168" cy="201168"/>
          </a:xfrm>
          <a:prstGeom prst="rect">
            <a:avLst/>
          </a:prstGeom>
        </p:spPr>
      </p:pic>
      <p:sp>
        <p:nvSpPr>
          <p:cNvPr id="11" name="map-group-1"/>
          <p:cNvSpPr txBox="1"/>
          <p:nvPr/>
        </p:nvSpPr>
        <p:spPr>
          <a:xfrm>
            <a:off x="4005072" y="12984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암</a:t>
            </a:r>
            <a:endParaRPr lang="en-US" sz="1300" dirty="0"/>
          </a:p>
        </p:txBody>
      </p:sp>
      <p:sp>
        <p:nvSpPr>
          <p:cNvPr id="12" name="map-text-1"/>
          <p:cNvSpPr txBox="1"/>
          <p:nvPr/>
        </p:nvSpPr>
        <p:spPr>
          <a:xfrm>
            <a:off x="3493008" y="1783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전립선암 · 갑상선암 · 자궁암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→ 다빈치 로봇수술</a:t>
            </a:r>
            <a:endParaRPr lang="en-US" sz="1300" dirty="0"/>
          </a:p>
        </p:txBody>
      </p:sp>
      <p:sp>
        <p:nvSpPr>
          <p:cNvPr id="13" name="map-card-2"/>
          <p:cNvSpPr/>
          <p:nvPr/>
        </p:nvSpPr>
        <p:spPr>
          <a:xfrm>
            <a:off x="6035040" y="1097280"/>
            <a:ext cx="2560320" cy="15544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4" name="map-dot-2"/>
          <p:cNvSpPr/>
          <p:nvPr/>
        </p:nvSpPr>
        <p:spPr>
          <a:xfrm>
            <a:off x="6236208" y="1298448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map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399032"/>
            <a:ext cx="201168" cy="201168"/>
          </a:xfrm>
          <a:prstGeom prst="rect">
            <a:avLst/>
          </a:prstGeom>
        </p:spPr>
      </p:pic>
      <p:sp>
        <p:nvSpPr>
          <p:cNvPr id="16" name="map-group-2"/>
          <p:cNvSpPr txBox="1"/>
          <p:nvPr/>
        </p:nvSpPr>
        <p:spPr>
          <a:xfrm>
            <a:off x="6748272" y="12984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여성</a:t>
            </a:r>
            <a:endParaRPr lang="en-US" sz="1300" dirty="0"/>
          </a:p>
        </p:txBody>
      </p:sp>
      <p:sp>
        <p:nvSpPr>
          <p:cNvPr id="17" name="map-text-2"/>
          <p:cNvSpPr txBox="1"/>
          <p:nvPr/>
        </p:nvSpPr>
        <p:spPr>
          <a:xfrm>
            <a:off x="6236208" y="1783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자궁근종 · 유방 양성종양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→ 하이푸 · 맘모톰</a:t>
            </a:r>
            <a:endParaRPr lang="en-US" sz="1300" dirty="0"/>
          </a:p>
        </p:txBody>
      </p:sp>
      <p:sp>
        <p:nvSpPr>
          <p:cNvPr id="18" name="map-card-3"/>
          <p:cNvSpPr/>
          <p:nvPr/>
        </p:nvSpPr>
        <p:spPr>
          <a:xfrm>
            <a:off x="548640" y="2788920"/>
            <a:ext cx="2560320" cy="15544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9" name="map-dot-3"/>
          <p:cNvSpPr/>
          <p:nvPr/>
        </p:nvSpPr>
        <p:spPr>
          <a:xfrm>
            <a:off x="749808" y="2990088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map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090672"/>
            <a:ext cx="201168" cy="201168"/>
          </a:xfrm>
          <a:prstGeom prst="rect">
            <a:avLst/>
          </a:prstGeom>
        </p:spPr>
      </p:pic>
      <p:sp>
        <p:nvSpPr>
          <p:cNvPr id="21" name="map-group-3"/>
          <p:cNvSpPr txBox="1"/>
          <p:nvPr/>
        </p:nvSpPr>
        <p:spPr>
          <a:xfrm>
            <a:off x="1261872" y="29900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혈관</a:t>
            </a:r>
            <a:endParaRPr lang="en-US" sz="1300" dirty="0"/>
          </a:p>
        </p:txBody>
      </p:sp>
      <p:sp>
        <p:nvSpPr>
          <p:cNvPr id="22" name="map-text-3"/>
          <p:cNvSpPr txBox="1"/>
          <p:nvPr/>
        </p:nvSpPr>
        <p:spPr>
          <a:xfrm>
            <a:off x="749808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하지정맥류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→ 고주파 · 베나실</a:t>
            </a:r>
            <a:endParaRPr lang="en-US" sz="1300" dirty="0"/>
          </a:p>
        </p:txBody>
      </p:sp>
      <p:sp>
        <p:nvSpPr>
          <p:cNvPr id="23" name="map-card-4"/>
          <p:cNvSpPr/>
          <p:nvPr/>
        </p:nvSpPr>
        <p:spPr>
          <a:xfrm>
            <a:off x="3291840" y="2788920"/>
            <a:ext cx="2560320" cy="15544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4" name="map-dot-4"/>
          <p:cNvSpPr/>
          <p:nvPr/>
        </p:nvSpPr>
        <p:spPr>
          <a:xfrm>
            <a:off x="3493008" y="2990088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map-icon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090672"/>
            <a:ext cx="201168" cy="201168"/>
          </a:xfrm>
          <a:prstGeom prst="rect">
            <a:avLst/>
          </a:prstGeom>
        </p:spPr>
      </p:pic>
      <p:sp>
        <p:nvSpPr>
          <p:cNvPr id="26" name="map-group-4"/>
          <p:cNvSpPr txBox="1"/>
          <p:nvPr/>
        </p:nvSpPr>
        <p:spPr>
          <a:xfrm>
            <a:off x="4005072" y="29900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척추 · 관절</a:t>
            </a:r>
            <a:endParaRPr lang="en-US" sz="1300" dirty="0"/>
          </a:p>
        </p:txBody>
      </p:sp>
      <p:sp>
        <p:nvSpPr>
          <p:cNvPr id="27" name="map-text-4"/>
          <p:cNvSpPr txBox="1"/>
          <p:nvPr/>
        </p:nvSpPr>
        <p:spPr>
          <a:xfrm>
            <a:off x="3493008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척추협착증 · 무릎관절염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→ 신경성형술 · 골수 주사</a:t>
            </a:r>
            <a:endParaRPr lang="en-US" sz="1300" dirty="0"/>
          </a:p>
        </p:txBody>
      </p:sp>
      <p:sp>
        <p:nvSpPr>
          <p:cNvPr id="28" name="map-card-5"/>
          <p:cNvSpPr/>
          <p:nvPr/>
        </p:nvSpPr>
        <p:spPr>
          <a:xfrm>
            <a:off x="6035040" y="2788920"/>
            <a:ext cx="2560320" cy="15544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9" name="map-dot-5"/>
          <p:cNvSpPr/>
          <p:nvPr/>
        </p:nvSpPr>
        <p:spPr>
          <a:xfrm>
            <a:off x="6236208" y="2990088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map-icon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090672"/>
            <a:ext cx="201168" cy="201168"/>
          </a:xfrm>
          <a:prstGeom prst="rect">
            <a:avLst/>
          </a:prstGeom>
        </p:spPr>
      </p:pic>
      <p:sp>
        <p:nvSpPr>
          <p:cNvPr id="31" name="map-group-5"/>
          <p:cNvSpPr txBox="1"/>
          <p:nvPr/>
        </p:nvSpPr>
        <p:spPr>
          <a:xfrm>
            <a:off x="6748272" y="29900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비뇨</a:t>
            </a:r>
            <a:endParaRPr lang="en-US" sz="1300" dirty="0"/>
          </a:p>
        </p:txBody>
      </p:sp>
      <p:sp>
        <p:nvSpPr>
          <p:cNvPr id="32" name="map-text-5"/>
          <p:cNvSpPr txBox="1"/>
          <p:nvPr/>
        </p:nvSpPr>
        <p:spPr>
          <a:xfrm>
            <a:off x="6236208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전립선비대증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→ 전립선 결찰술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4세대 vs 5세대 실손, 고객이 내는 돈</a:t>
            </a:r>
            <a:endParaRPr lang="en-US" sz="2600" dirty="0"/>
          </a:p>
        </p:txBody>
      </p:sp>
      <p:sp>
        <p:nvSpPr>
          <p:cNvPr id="3" name="leg4"/>
          <p:cNvSpPr txBox="1"/>
          <p:nvPr/>
        </p:nvSpPr>
        <p:spPr>
          <a:xfrm>
            <a:off x="3749040" y="1051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4세대</a:t>
            </a:r>
            <a:endParaRPr lang="en-US" sz="1100" dirty="0"/>
          </a:p>
        </p:txBody>
      </p:sp>
      <p:sp>
        <p:nvSpPr>
          <p:cNvPr id="4" name="leg4-sw"/>
          <p:cNvSpPr/>
          <p:nvPr/>
        </p:nvSpPr>
        <p:spPr>
          <a:xfrm>
            <a:off x="3520440" y="1115568"/>
            <a:ext cx="164592" cy="146304"/>
          </a:xfrm>
          <a:prstGeom prst="roundRect">
            <a:avLst>
              <a:gd name="adj" fmla="val 31250"/>
            </a:avLst>
          </a:prstGeom>
          <a:solidFill>
            <a:schemeClr val="accent4"/>
          </a:solidFill>
          <a:ln/>
        </p:spPr>
      </p:sp>
      <p:sp>
        <p:nvSpPr>
          <p:cNvPr id="5" name="leg5"/>
          <p:cNvSpPr txBox="1"/>
          <p:nvPr/>
        </p:nvSpPr>
        <p:spPr>
          <a:xfrm>
            <a:off x="4892040" y="1051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5세대</a:t>
            </a:r>
            <a:endParaRPr lang="en-US" sz="1100" dirty="0"/>
          </a:p>
        </p:txBody>
      </p:sp>
      <p:sp>
        <p:nvSpPr>
          <p:cNvPr id="6" name="leg5-sw"/>
          <p:cNvSpPr/>
          <p:nvPr/>
        </p:nvSpPr>
        <p:spPr>
          <a:xfrm>
            <a:off x="4663440" y="1115568"/>
            <a:ext cx="164592" cy="146304"/>
          </a:xfrm>
          <a:prstGeom prst="roundRect">
            <a:avLst>
              <a:gd name="adj" fmla="val 31250"/>
            </a:avLst>
          </a:prstGeom>
          <a:solidFill>
            <a:schemeClr val="accent5"/>
          </a:solidFill>
          <a:ln/>
        </p:spPr>
      </p:sp>
      <p:sp>
        <p:nvSpPr>
          <p:cNvPr id="7" name="gen-card-0"/>
          <p:cNvSpPr/>
          <p:nvPr/>
        </p:nvSpPr>
        <p:spPr>
          <a:xfrm>
            <a:off x="548640" y="1371600"/>
            <a:ext cx="8046720" cy="749808"/>
          </a:xfrm>
          <a:prstGeom prst="roundRect">
            <a:avLst>
              <a:gd name="adj" fmla="val 18293"/>
            </a:avLst>
          </a:prstGeom>
          <a:solidFill>
            <a:schemeClr val="bg2"/>
          </a:solidFill>
          <a:ln/>
        </p:spPr>
      </p:sp>
      <p:sp>
        <p:nvSpPr>
          <p:cNvPr id="8" name="gen-name-0"/>
          <p:cNvSpPr txBox="1"/>
          <p:nvPr/>
        </p:nvSpPr>
        <p:spPr>
          <a:xfrm>
            <a:off x="731520" y="1463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전립선암 로봇수술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1,000만원 · 중증 비급여</a:t>
            </a:r>
            <a:endParaRPr lang="en-US" sz="1300" dirty="0"/>
          </a:p>
        </p:txBody>
      </p:sp>
      <p:sp>
        <p:nvSpPr>
          <p:cNvPr id="9" name="gen-bar-0-0"/>
          <p:cNvSpPr/>
          <p:nvPr/>
        </p:nvSpPr>
        <p:spPr>
          <a:xfrm>
            <a:off x="3520440" y="1527048"/>
            <a:ext cx="2057400" cy="182880"/>
          </a:xfrm>
          <a:prstGeom prst="roundRect">
            <a:avLst>
              <a:gd name="adj" fmla="val 30000"/>
            </a:avLst>
          </a:prstGeom>
          <a:solidFill>
            <a:schemeClr val="accent4"/>
          </a:solidFill>
          <a:ln/>
        </p:spPr>
      </p:sp>
      <p:sp>
        <p:nvSpPr>
          <p:cNvPr id="10" name="gen-val-0-0"/>
          <p:cNvSpPr txBox="1"/>
          <p:nvPr/>
        </p:nvSpPr>
        <p:spPr>
          <a:xfrm>
            <a:off x="5650992" y="1490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300만원</a:t>
            </a:r>
            <a:endParaRPr lang="en-US" sz="1100" dirty="0"/>
          </a:p>
        </p:txBody>
      </p:sp>
      <p:sp>
        <p:nvSpPr>
          <p:cNvPr id="11" name="gen-bar-0-1"/>
          <p:cNvSpPr/>
          <p:nvPr/>
        </p:nvSpPr>
        <p:spPr>
          <a:xfrm>
            <a:off x="3520440" y="1801368"/>
            <a:ext cx="2057400" cy="182880"/>
          </a:xfrm>
          <a:prstGeom prst="roundRect">
            <a:avLst>
              <a:gd name="adj" fmla="val 30000"/>
            </a:avLst>
          </a:prstGeom>
          <a:solidFill>
            <a:schemeClr val="accent5"/>
          </a:solidFill>
          <a:ln/>
        </p:spPr>
      </p:sp>
      <p:sp>
        <p:nvSpPr>
          <p:cNvPr id="12" name="gen-val-0-1"/>
          <p:cNvSpPr txBox="1"/>
          <p:nvPr/>
        </p:nvSpPr>
        <p:spPr>
          <a:xfrm>
            <a:off x="5650992" y="1764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300만원</a:t>
            </a:r>
            <a:endParaRPr lang="en-US" sz="1100" dirty="0"/>
          </a:p>
        </p:txBody>
      </p:sp>
      <p:sp>
        <p:nvSpPr>
          <p:cNvPr id="13" name="gen-note-0"/>
          <p:cNvSpPr txBox="1"/>
          <p:nvPr/>
        </p:nvSpPr>
        <p:spPr>
          <a:xfrm>
            <a:off x="6949440" y="14447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30% 그대로</a:t>
            </a:r>
            <a:endParaRPr lang="en-US" sz="1400" dirty="0"/>
          </a:p>
        </p:txBody>
      </p:sp>
      <p:sp>
        <p:nvSpPr>
          <p:cNvPr id="14" name="gen-card-1"/>
          <p:cNvSpPr/>
          <p:nvPr/>
        </p:nvSpPr>
        <p:spPr>
          <a:xfrm>
            <a:off x="548640" y="2240280"/>
            <a:ext cx="8046720" cy="749808"/>
          </a:xfrm>
          <a:prstGeom prst="roundRect">
            <a:avLst>
              <a:gd name="adj" fmla="val 18293"/>
            </a:avLst>
          </a:prstGeom>
          <a:solidFill>
            <a:schemeClr val="bg2"/>
          </a:solidFill>
          <a:ln/>
        </p:spPr>
      </p:sp>
      <p:sp>
        <p:nvSpPr>
          <p:cNvPr id="15" name="gen-name-1"/>
          <p:cNvSpPr txBox="1"/>
          <p:nvPr/>
        </p:nvSpPr>
        <p:spPr>
          <a:xfrm>
            <a:off x="731520" y="2331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자궁근종 하이푸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657만원 · 비중증 비급여</a:t>
            </a:r>
            <a:endParaRPr lang="en-US" sz="1300" dirty="0"/>
          </a:p>
        </p:txBody>
      </p:sp>
      <p:sp>
        <p:nvSpPr>
          <p:cNvPr id="16" name="gen-bar-1-0"/>
          <p:cNvSpPr/>
          <p:nvPr/>
        </p:nvSpPr>
        <p:spPr>
          <a:xfrm>
            <a:off x="3520440" y="2395728"/>
            <a:ext cx="1351026" cy="182880"/>
          </a:xfrm>
          <a:prstGeom prst="roundRect">
            <a:avLst>
              <a:gd name="adj" fmla="val 30000"/>
            </a:avLst>
          </a:prstGeom>
          <a:solidFill>
            <a:schemeClr val="accent4"/>
          </a:solidFill>
          <a:ln/>
        </p:spPr>
      </p:sp>
      <p:sp>
        <p:nvSpPr>
          <p:cNvPr id="17" name="gen-val-1-0"/>
          <p:cNvSpPr txBox="1"/>
          <p:nvPr/>
        </p:nvSpPr>
        <p:spPr>
          <a:xfrm>
            <a:off x="4944618" y="23591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197만원</a:t>
            </a:r>
            <a:endParaRPr lang="en-US" sz="1100" dirty="0"/>
          </a:p>
        </p:txBody>
      </p:sp>
      <p:sp>
        <p:nvSpPr>
          <p:cNvPr id="18" name="gen-bar-1-1"/>
          <p:cNvSpPr/>
          <p:nvPr/>
        </p:nvSpPr>
        <p:spPr>
          <a:xfrm>
            <a:off x="3520440" y="2670048"/>
            <a:ext cx="2256282" cy="182880"/>
          </a:xfrm>
          <a:prstGeom prst="roundRect">
            <a:avLst>
              <a:gd name="adj" fmla="val 30000"/>
            </a:avLst>
          </a:prstGeom>
          <a:solidFill>
            <a:schemeClr val="accent5"/>
          </a:solidFill>
          <a:ln/>
        </p:spPr>
      </p:sp>
      <p:sp>
        <p:nvSpPr>
          <p:cNvPr id="19" name="gen-val-1-1"/>
          <p:cNvSpPr txBox="1"/>
          <p:nvPr/>
        </p:nvSpPr>
        <p:spPr>
          <a:xfrm>
            <a:off x="5849874" y="2633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329만원</a:t>
            </a:r>
            <a:endParaRPr lang="en-US" sz="1100" dirty="0"/>
          </a:p>
        </p:txBody>
      </p:sp>
      <p:sp>
        <p:nvSpPr>
          <p:cNvPr id="20" name="gen-note-1"/>
          <p:cNvSpPr txBox="1"/>
          <p:nvPr/>
        </p:nvSpPr>
        <p:spPr>
          <a:xfrm>
            <a:off x="6949440" y="231343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+132만원</a:t>
            </a:r>
            <a:endParaRPr lang="en-US" sz="1400" dirty="0"/>
          </a:p>
        </p:txBody>
      </p:sp>
      <p:sp>
        <p:nvSpPr>
          <p:cNvPr id="21" name="gen-card-2"/>
          <p:cNvSpPr/>
          <p:nvPr/>
        </p:nvSpPr>
        <p:spPr>
          <a:xfrm>
            <a:off x="548640" y="3108960"/>
            <a:ext cx="8046720" cy="749808"/>
          </a:xfrm>
          <a:prstGeom prst="roundRect">
            <a:avLst>
              <a:gd name="adj" fmla="val 18293"/>
            </a:avLst>
          </a:prstGeom>
          <a:solidFill>
            <a:schemeClr val="bg2"/>
          </a:solidFill>
          <a:ln/>
        </p:spPr>
      </p:sp>
      <p:sp>
        <p:nvSpPr>
          <p:cNvPr id="22" name="gen-name-2"/>
          <p:cNvSpPr txBox="1"/>
          <p:nvPr/>
        </p:nvSpPr>
        <p:spPr>
          <a:xfrm>
            <a:off x="731520" y="3200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전립선 결찰술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440만원 · 비중증 비급여</a:t>
            </a:r>
            <a:endParaRPr lang="en-US" sz="1300" dirty="0"/>
          </a:p>
        </p:txBody>
      </p:sp>
      <p:sp>
        <p:nvSpPr>
          <p:cNvPr id="23" name="gen-bar-2-0"/>
          <p:cNvSpPr/>
          <p:nvPr/>
        </p:nvSpPr>
        <p:spPr>
          <a:xfrm>
            <a:off x="3520440" y="3264408"/>
            <a:ext cx="905256" cy="182880"/>
          </a:xfrm>
          <a:prstGeom prst="roundRect">
            <a:avLst>
              <a:gd name="adj" fmla="val 30000"/>
            </a:avLst>
          </a:prstGeom>
          <a:solidFill>
            <a:schemeClr val="accent4"/>
          </a:solidFill>
          <a:ln/>
        </p:spPr>
      </p:sp>
      <p:sp>
        <p:nvSpPr>
          <p:cNvPr id="24" name="gen-val-2-0"/>
          <p:cNvSpPr txBox="1"/>
          <p:nvPr/>
        </p:nvSpPr>
        <p:spPr>
          <a:xfrm>
            <a:off x="4498848" y="3227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132만원</a:t>
            </a:r>
            <a:endParaRPr lang="en-US" sz="1100" dirty="0"/>
          </a:p>
        </p:txBody>
      </p:sp>
      <p:sp>
        <p:nvSpPr>
          <p:cNvPr id="25" name="gen-bar-2-1"/>
          <p:cNvSpPr/>
          <p:nvPr/>
        </p:nvSpPr>
        <p:spPr>
          <a:xfrm>
            <a:off x="3520440" y="3538728"/>
            <a:ext cx="1508760" cy="182880"/>
          </a:xfrm>
          <a:prstGeom prst="roundRect">
            <a:avLst>
              <a:gd name="adj" fmla="val 30000"/>
            </a:avLst>
          </a:prstGeom>
          <a:solidFill>
            <a:schemeClr val="accent5"/>
          </a:solidFill>
          <a:ln/>
        </p:spPr>
      </p:sp>
      <p:sp>
        <p:nvSpPr>
          <p:cNvPr id="26" name="gen-val-2-1"/>
          <p:cNvSpPr txBox="1"/>
          <p:nvPr/>
        </p:nvSpPr>
        <p:spPr>
          <a:xfrm>
            <a:off x="5102352" y="35021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220만원</a:t>
            </a:r>
            <a:endParaRPr lang="en-US" sz="1100" dirty="0"/>
          </a:p>
        </p:txBody>
      </p:sp>
      <p:sp>
        <p:nvSpPr>
          <p:cNvPr id="27" name="gen-note-2"/>
          <p:cNvSpPr txBox="1"/>
          <p:nvPr/>
        </p:nvSpPr>
        <p:spPr>
          <a:xfrm>
            <a:off x="6949440" y="318211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+88만원</a:t>
            </a:r>
            <a:endParaRPr lang="en-US" sz="1400" dirty="0"/>
          </a:p>
        </p:txBody>
      </p:sp>
      <p:sp>
        <p:nvSpPr>
          <p:cNvPr id="28" name="gen-rule"/>
          <p:cNvSpPr txBox="1"/>
          <p:nvPr/>
        </p:nvSpPr>
        <p:spPr>
          <a:xfrm>
            <a:off x="548640" y="3995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5세대(2026.5.6 출시): 비중증 비급여 자기부담 30→50%, 연간 한도 5,000→1,000만원 · 중증(암·뇌·심장·희귀난치 산정특례)은 30% 유지, 입원 본인부담 연 500만원 상한</a:t>
            </a:r>
            <a:endParaRPr lang="en-US" sz="1000" dirty="0"/>
          </a:p>
        </p:txBody>
      </p:sp>
      <p:sp>
        <p:nvSpPr>
          <p:cNvPr id="29" name="source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가정값: 입원·보장 대상 가정, 한도·공제 미반영. 출처: 금융위원회, 「5세대 실손 6일 출시」 보도(2026.5)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실손이 줄어든 자리, 수술비가 채워요</a:t>
            </a:r>
            <a:endParaRPr lang="en-US" sz="2600" dirty="0"/>
          </a:p>
        </p:txBody>
      </p:sp>
      <p:sp>
        <p:nvSpPr>
          <p:cNvPr id="3" name="kind-card-0"/>
          <p:cNvSpPr/>
          <p:nvPr/>
        </p:nvSpPr>
        <p:spPr>
          <a:xfrm>
            <a:off x="548640" y="1143000"/>
            <a:ext cx="2514600" cy="274320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kind-dot-0"/>
          <p:cNvSpPr/>
          <p:nvPr/>
        </p:nvSpPr>
        <p:spPr>
          <a:xfrm>
            <a:off x="777240" y="137160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kin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499616"/>
            <a:ext cx="246888" cy="246888"/>
          </a:xfrm>
          <a:prstGeom prst="rect">
            <a:avLst/>
          </a:prstGeom>
        </p:spPr>
      </p:pic>
      <p:sp>
        <p:nvSpPr>
          <p:cNvPr id="6" name="kind-text-0"/>
          <p:cNvSpPr txBox="1"/>
          <p:nvPr/>
        </p:nvSpPr>
        <p:spPr>
          <a:xfrm>
            <a:off x="777240" y="201168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실손보험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쓴 만큼 돌려받아요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5세대는 비중증 비급여 본인부담 50%. 수술비가 비쌀수록 남는 돈도 커져요.</a:t>
            </a:r>
            <a:endParaRPr lang="en-US" sz="1500" dirty="0"/>
          </a:p>
        </p:txBody>
      </p:sp>
      <p:sp>
        <p:nvSpPr>
          <p:cNvPr id="7" name="kind-card-1"/>
          <p:cNvSpPr/>
          <p:nvPr/>
        </p:nvSpPr>
        <p:spPr>
          <a:xfrm>
            <a:off x="3291840" y="1143000"/>
            <a:ext cx="2514600" cy="274320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/>
        </p:spPr>
      </p:sp>
      <p:sp>
        <p:nvSpPr>
          <p:cNvPr id="8" name="kind-dot-1"/>
          <p:cNvSpPr/>
          <p:nvPr/>
        </p:nvSpPr>
        <p:spPr>
          <a:xfrm>
            <a:off x="35204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kin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499616"/>
            <a:ext cx="246888" cy="246888"/>
          </a:xfrm>
          <a:prstGeom prst="rect">
            <a:avLst/>
          </a:prstGeom>
        </p:spPr>
      </p:pic>
      <p:sp>
        <p:nvSpPr>
          <p:cNvPr id="10" name="kind-text-1"/>
          <p:cNvSpPr txBox="1"/>
          <p:nvPr/>
        </p:nvSpPr>
        <p:spPr>
          <a:xfrm>
            <a:off x="3520440" y="201168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1-5종 수술비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수술 종류로 정액 지급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약관 분류표의 1종~5종에 따라 정해진 금액을 수술 1회마다 드려요. 실손과 따로 받아요.</a:t>
            </a:r>
            <a:endParaRPr lang="en-US" sz="1500" dirty="0"/>
          </a:p>
        </p:txBody>
      </p:sp>
      <p:sp>
        <p:nvSpPr>
          <p:cNvPr id="11" name="kind-card-2"/>
          <p:cNvSpPr/>
          <p:nvPr/>
        </p:nvSpPr>
        <p:spPr>
          <a:xfrm>
            <a:off x="6035040" y="1143000"/>
            <a:ext cx="2514600" cy="274320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/>
        </p:spPr>
      </p:sp>
      <p:sp>
        <p:nvSpPr>
          <p:cNvPr id="12" name="kind-dot-2"/>
          <p:cNvSpPr/>
          <p:nvPr/>
        </p:nvSpPr>
        <p:spPr>
          <a:xfrm>
            <a:off x="62636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kin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499616"/>
            <a:ext cx="246888" cy="246888"/>
          </a:xfrm>
          <a:prstGeom prst="rect">
            <a:avLst/>
          </a:prstGeom>
        </p:spPr>
      </p:pic>
      <p:sp>
        <p:nvSpPr>
          <p:cNvPr id="14" name="kind-text-2"/>
          <p:cNvSpPr txBox="1"/>
          <p:nvPr/>
        </p:nvSpPr>
        <p:spPr>
          <a:xfrm>
            <a:off x="6263640" y="201168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131대(130대) 질병수술비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질병군으로 정액 지급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백내장·유방·여성생식기·척추 등 131개 질병군마다 수술 1회당 가입금액을 드려요.</a:t>
            </a:r>
            <a:endParaRPr lang="en-US" sz="1500" dirty="0"/>
          </a:p>
        </p:txBody>
      </p:sp>
      <p:sp>
        <p:nvSpPr>
          <p:cNvPr id="15" name="grade-example"/>
          <p:cNvSpPr txBox="1"/>
          <p:nvPr/>
        </p:nvSpPr>
        <p:spPr>
          <a:xfrm>
            <a:off x="548640" y="4069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1-5종 약관 예시: 1종 10만 · 2종 20만 · 3종 100만 · 4종 300만 · 5종 500만원 (가입금액마다 다름)</a:t>
            </a:r>
            <a:endParaRPr lang="en-US" sz="1100" dirty="0"/>
          </a:p>
        </p:txBody>
      </p:sp>
      <p:sp>
        <p:nvSpPr>
          <p:cNvPr id="16" name="source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출처: 당사 약관 수술비Ⅱ(1-5종), 131대(케어프리)·130대(통합간편) 질병수술비. 131대·130대는 가입 1년 전 50%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8가지 수술, 당사 수술비로 보면 (1/2)</a:t>
            </a:r>
            <a:endParaRPr lang="en-US" sz="2600" dirty="0"/>
          </a:p>
        </p:txBody>
      </p:sp>
      <p:sp>
        <p:nvSpPr>
          <p:cNvPr id="3" name="hdr-수술"/>
          <p:cNvSpPr txBox="1"/>
          <p:nvPr/>
        </p:nvSpPr>
        <p:spPr>
          <a:xfrm>
            <a:off x="731520" y="1024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수술</a:t>
            </a:r>
            <a:endParaRPr lang="en-US" sz="1100" dirty="0"/>
          </a:p>
        </p:txBody>
      </p:sp>
      <p:sp>
        <p:nvSpPr>
          <p:cNvPr id="4" name="hdr-1-5종 수술비"/>
          <p:cNvSpPr txBox="1"/>
          <p:nvPr/>
        </p:nvSpPr>
        <p:spPr>
          <a:xfrm>
            <a:off x="3063240" y="1024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1-5종 수술비</a:t>
            </a:r>
            <a:endParaRPr lang="en-US" sz="1100" dirty="0"/>
          </a:p>
        </p:txBody>
      </p:sp>
      <p:sp>
        <p:nvSpPr>
          <p:cNvPr id="5" name="hdr-131대(130대) 질병수술비"/>
          <p:cNvSpPr txBox="1"/>
          <p:nvPr/>
        </p:nvSpPr>
        <p:spPr>
          <a:xfrm>
            <a:off x="5623560" y="1024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131대(130대) 질병수술비</a:t>
            </a:r>
            <a:endParaRPr lang="en-US" sz="1100" dirty="0"/>
          </a:p>
        </p:txBody>
      </p:sp>
      <p:sp>
        <p:nvSpPr>
          <p:cNvPr id="6" name="cov-card-0"/>
          <p:cNvSpPr/>
          <p:nvPr/>
        </p:nvSpPr>
        <p:spPr>
          <a:xfrm>
            <a:off x="548640" y="1325880"/>
            <a:ext cx="8046720" cy="676656"/>
          </a:xfrm>
          <a:prstGeom prst="roundRect">
            <a:avLst>
              <a:gd name="adj" fmla="val 20270"/>
            </a:avLst>
          </a:prstGeom>
          <a:solidFill>
            <a:schemeClr val="bg2"/>
          </a:solidFill>
          <a:ln/>
        </p:spPr>
      </p:sp>
      <p:sp>
        <p:nvSpPr>
          <p:cNvPr id="7" name="cov-name-0"/>
          <p:cNvSpPr txBox="1"/>
          <p:nvPr/>
        </p:nvSpPr>
        <p:spPr>
          <a:xfrm>
            <a:off x="731520" y="132588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백내장 다초점</a:t>
            </a:r>
            <a:endParaRPr lang="en-US" sz="1200" dirty="0"/>
          </a:p>
        </p:txBody>
      </p:sp>
      <p:sp>
        <p:nvSpPr>
          <p:cNvPr id="8" name="cov-grade-0"/>
          <p:cNvSpPr/>
          <p:nvPr/>
        </p:nvSpPr>
        <p:spPr>
          <a:xfrm>
            <a:off x="3063240" y="1435608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1종</a:t>
            </a:r>
            <a:endParaRPr lang="en-US" sz="1100" dirty="0"/>
          </a:p>
        </p:txBody>
      </p:sp>
      <p:sp>
        <p:nvSpPr>
          <p:cNvPr id="9" name="cov-gnote-0"/>
          <p:cNvSpPr txBox="1"/>
          <p:nvPr/>
        </p:nvSpPr>
        <p:spPr>
          <a:xfrm>
            <a:off x="3063240" y="173736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71항 백내장 수정체 관혈수술</a:t>
            </a:r>
            <a:endParaRPr lang="en-US" sz="900" dirty="0"/>
          </a:p>
        </p:txBody>
      </p:sp>
      <p:sp>
        <p:nvSpPr>
          <p:cNvPr id="10" name="cov-131-0"/>
          <p:cNvSpPr txBox="1"/>
          <p:nvPr/>
        </p:nvSpPr>
        <p:spPr>
          <a:xfrm>
            <a:off x="5623560" y="13990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[백내장]</a:t>
            </a:r>
            <a:endParaRPr lang="en-US" sz="1100" dirty="0"/>
          </a:p>
        </p:txBody>
      </p:sp>
      <p:sp>
        <p:nvSpPr>
          <p:cNvPr id="11" name="cov-note-0"/>
          <p:cNvSpPr txBox="1"/>
          <p:nvPr/>
        </p:nvSpPr>
        <p:spPr>
          <a:xfrm>
            <a:off x="5623560" y="17099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양쪽 눈 다른 날 수술이면 각각</a:t>
            </a:r>
            <a:endParaRPr lang="en-US" sz="900" dirty="0"/>
          </a:p>
        </p:txBody>
      </p:sp>
      <p:sp>
        <p:nvSpPr>
          <p:cNvPr id="12" name="cov-card-1"/>
          <p:cNvSpPr/>
          <p:nvPr/>
        </p:nvSpPr>
        <p:spPr>
          <a:xfrm>
            <a:off x="548640" y="2093976"/>
            <a:ext cx="8046720" cy="676656"/>
          </a:xfrm>
          <a:prstGeom prst="roundRect">
            <a:avLst>
              <a:gd name="adj" fmla="val 20270"/>
            </a:avLst>
          </a:prstGeom>
          <a:solidFill>
            <a:schemeClr val="bg2"/>
          </a:solidFill>
          <a:ln/>
        </p:spPr>
      </p:sp>
      <p:sp>
        <p:nvSpPr>
          <p:cNvPr id="13" name="cov-name-1"/>
          <p:cNvSpPr txBox="1"/>
          <p:nvPr/>
        </p:nvSpPr>
        <p:spPr>
          <a:xfrm>
            <a:off x="731520" y="209397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다빈치 로봇 (전립선암·갑상선암)</a:t>
            </a:r>
            <a:endParaRPr lang="en-US" sz="1200" dirty="0"/>
          </a:p>
        </p:txBody>
      </p:sp>
      <p:sp>
        <p:nvSpPr>
          <p:cNvPr id="14" name="cov-grade-1"/>
          <p:cNvSpPr/>
          <p:nvPr/>
        </p:nvSpPr>
        <p:spPr>
          <a:xfrm>
            <a:off x="3063240" y="2203704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3~5종</a:t>
            </a:r>
            <a:endParaRPr lang="en-US" sz="1100" dirty="0"/>
          </a:p>
        </p:txBody>
      </p:sp>
      <p:sp>
        <p:nvSpPr>
          <p:cNvPr id="15" name="cov-gnote-1"/>
          <p:cNvSpPr txBox="1"/>
          <p:nvPr/>
        </p:nvSpPr>
        <p:spPr>
          <a:xfrm>
            <a:off x="3063240" y="25054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악성신생물 수술(Ⅱ), 근치·방식에 따라</a:t>
            </a:r>
            <a:endParaRPr lang="en-US" sz="900" dirty="0"/>
          </a:p>
        </p:txBody>
      </p:sp>
      <p:sp>
        <p:nvSpPr>
          <p:cNvPr id="16" name="cov-131-1"/>
          <p:cNvSpPr txBox="1"/>
          <p:nvPr/>
        </p:nvSpPr>
        <p:spPr>
          <a:xfrm>
            <a:off x="5623560" y="2167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대상 아님</a:t>
            </a:r>
            <a:endParaRPr lang="en-US" sz="1100" dirty="0"/>
          </a:p>
        </p:txBody>
      </p:sp>
      <p:sp>
        <p:nvSpPr>
          <p:cNvPr id="17" name="cov-note-1"/>
          <p:cNvSpPr txBox="1"/>
          <p:nvPr/>
        </p:nvSpPr>
        <p:spPr>
          <a:xfrm>
            <a:off x="5623560" y="24780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암은 131대 밖 → 다빈치로봇 암수술비</a:t>
            </a:r>
            <a:endParaRPr lang="en-US" sz="900" dirty="0"/>
          </a:p>
        </p:txBody>
      </p:sp>
      <p:sp>
        <p:nvSpPr>
          <p:cNvPr id="18" name="cov-card-2"/>
          <p:cNvSpPr/>
          <p:nvPr/>
        </p:nvSpPr>
        <p:spPr>
          <a:xfrm>
            <a:off x="548640" y="2862072"/>
            <a:ext cx="8046720" cy="676656"/>
          </a:xfrm>
          <a:prstGeom prst="roundRect">
            <a:avLst>
              <a:gd name="adj" fmla="val 20270"/>
            </a:avLst>
          </a:prstGeom>
          <a:solidFill>
            <a:schemeClr val="bg2"/>
          </a:solidFill>
          <a:ln/>
        </p:spPr>
      </p:sp>
      <p:sp>
        <p:nvSpPr>
          <p:cNvPr id="19" name="cov-name-2"/>
          <p:cNvSpPr txBox="1"/>
          <p:nvPr/>
        </p:nvSpPr>
        <p:spPr>
          <a:xfrm>
            <a:off x="731520" y="2862072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하이푸 (자궁근종)</a:t>
            </a:r>
            <a:endParaRPr lang="en-US" sz="1200" dirty="0"/>
          </a:p>
        </p:txBody>
      </p:sp>
      <p:sp>
        <p:nvSpPr>
          <p:cNvPr id="20" name="cov-grade-2"/>
          <p:cNvSpPr/>
          <p:nvPr/>
        </p:nvSpPr>
        <p:spPr>
          <a:xfrm>
            <a:off x="3063240" y="297180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1종</a:t>
            </a:r>
            <a:endParaRPr lang="en-US" sz="1100" dirty="0"/>
          </a:p>
        </p:txBody>
      </p:sp>
      <p:sp>
        <p:nvSpPr>
          <p:cNvPr id="21" name="cov-gnote-2"/>
          <p:cNvSpPr txBox="1"/>
          <p:nvPr/>
        </p:nvSpPr>
        <p:spPr>
          <a:xfrm>
            <a:off x="3063240" y="32735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신의료기술 → 자궁 동일부위(53항)</a:t>
            </a:r>
            <a:endParaRPr lang="en-US" sz="900" dirty="0"/>
          </a:p>
        </p:txBody>
      </p:sp>
      <p:sp>
        <p:nvSpPr>
          <p:cNvPr id="22" name="cov-131-2"/>
          <p:cNvSpPr txBox="1"/>
          <p:nvPr/>
        </p:nvSpPr>
        <p:spPr>
          <a:xfrm>
            <a:off x="5623560" y="29352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[다빈도62대] 여성생식기 양성종양</a:t>
            </a:r>
            <a:endParaRPr lang="en-US" sz="1100" dirty="0"/>
          </a:p>
        </p:txBody>
      </p:sp>
      <p:sp>
        <p:nvSpPr>
          <p:cNvPr id="23" name="cov-note-2"/>
          <p:cNvSpPr txBox="1"/>
          <p:nvPr/>
        </p:nvSpPr>
        <p:spPr>
          <a:xfrm>
            <a:off x="5623560" y="32461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자궁선근증은 [관절염,생식기질환]</a:t>
            </a:r>
            <a:endParaRPr lang="en-US" sz="900" dirty="0"/>
          </a:p>
        </p:txBody>
      </p:sp>
      <p:sp>
        <p:nvSpPr>
          <p:cNvPr id="24" name="cov-card-3"/>
          <p:cNvSpPr/>
          <p:nvPr/>
        </p:nvSpPr>
        <p:spPr>
          <a:xfrm>
            <a:off x="548640" y="3630168"/>
            <a:ext cx="8046720" cy="676656"/>
          </a:xfrm>
          <a:prstGeom prst="roundRect">
            <a:avLst>
              <a:gd name="adj" fmla="val 20270"/>
            </a:avLst>
          </a:prstGeom>
          <a:solidFill>
            <a:schemeClr val="bg2"/>
          </a:solidFill>
          <a:ln/>
        </p:spPr>
      </p:sp>
      <p:sp>
        <p:nvSpPr>
          <p:cNvPr id="25" name="cov-name-3"/>
          <p:cNvSpPr txBox="1"/>
          <p:nvPr/>
        </p:nvSpPr>
        <p:spPr>
          <a:xfrm>
            <a:off x="731520" y="3630168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맘모톰 (유방 양성종양)</a:t>
            </a:r>
            <a:endParaRPr lang="en-US" sz="1200" dirty="0"/>
          </a:p>
        </p:txBody>
      </p:sp>
      <p:sp>
        <p:nvSpPr>
          <p:cNvPr id="26" name="cov-grade-3"/>
          <p:cNvSpPr/>
          <p:nvPr/>
        </p:nvSpPr>
        <p:spPr>
          <a:xfrm>
            <a:off x="3063240" y="3739896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1종</a:t>
            </a:r>
            <a:endParaRPr lang="en-US" sz="1100" dirty="0"/>
          </a:p>
        </p:txBody>
      </p:sp>
      <p:sp>
        <p:nvSpPr>
          <p:cNvPr id="27" name="cov-gnote-3"/>
          <p:cNvSpPr txBox="1"/>
          <p:nvPr/>
        </p:nvSpPr>
        <p:spPr>
          <a:xfrm>
            <a:off x="3063240" y="40416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4항에 '맘모톰' 직접 명시</a:t>
            </a:r>
            <a:endParaRPr lang="en-US" sz="900" dirty="0"/>
          </a:p>
        </p:txBody>
      </p:sp>
      <p:sp>
        <p:nvSpPr>
          <p:cNvPr id="28" name="cov-131-3"/>
          <p:cNvSpPr txBox="1"/>
          <p:nvPr/>
        </p:nvSpPr>
        <p:spPr>
          <a:xfrm>
            <a:off x="5623560" y="3703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[특정다빈도29대] 유방 양성신생물</a:t>
            </a:r>
            <a:endParaRPr lang="en-US" sz="1100" dirty="0"/>
          </a:p>
        </p:txBody>
      </p:sp>
      <p:sp>
        <p:nvSpPr>
          <p:cNvPr id="29" name="cov-note-3"/>
          <p:cNvSpPr txBox="1"/>
          <p:nvPr/>
        </p:nvSpPr>
        <p:spPr>
          <a:xfrm>
            <a:off x="5623560" y="40142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60일 안 2회 이상은 1회</a:t>
            </a:r>
            <a:endParaRPr lang="en-US" sz="900" dirty="0"/>
          </a:p>
        </p:txBody>
      </p:sp>
      <p:sp>
        <p:nvSpPr>
          <p:cNvPr id="30" name="source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근거: 당사 약관 1-5종 수술분류표Ⅱ 사용지침 5(신의료기술 = 동일부위 수술, 내시경·카테터 = 88항)·131대/130대 질병군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8가지 수술, 당사 수술비로 보면 (2/2)</a:t>
            </a:r>
            <a:endParaRPr lang="en-US" sz="2600" dirty="0"/>
          </a:p>
        </p:txBody>
      </p:sp>
      <p:sp>
        <p:nvSpPr>
          <p:cNvPr id="3" name="hdr-수술"/>
          <p:cNvSpPr txBox="1"/>
          <p:nvPr/>
        </p:nvSpPr>
        <p:spPr>
          <a:xfrm>
            <a:off x="731520" y="1024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수술</a:t>
            </a:r>
            <a:endParaRPr lang="en-US" sz="1100" dirty="0"/>
          </a:p>
        </p:txBody>
      </p:sp>
      <p:sp>
        <p:nvSpPr>
          <p:cNvPr id="4" name="hdr-1-5종 수술비"/>
          <p:cNvSpPr txBox="1"/>
          <p:nvPr/>
        </p:nvSpPr>
        <p:spPr>
          <a:xfrm>
            <a:off x="3063240" y="1024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1-5종 수술비</a:t>
            </a:r>
            <a:endParaRPr lang="en-US" sz="1100" dirty="0"/>
          </a:p>
        </p:txBody>
      </p:sp>
      <p:sp>
        <p:nvSpPr>
          <p:cNvPr id="5" name="hdr-131대(130대) 질병수술비"/>
          <p:cNvSpPr txBox="1"/>
          <p:nvPr/>
        </p:nvSpPr>
        <p:spPr>
          <a:xfrm>
            <a:off x="5623560" y="1024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131대(130대) 질병수술비</a:t>
            </a:r>
            <a:endParaRPr lang="en-US" sz="1100" dirty="0"/>
          </a:p>
        </p:txBody>
      </p:sp>
      <p:sp>
        <p:nvSpPr>
          <p:cNvPr id="6" name="cov-card-0"/>
          <p:cNvSpPr/>
          <p:nvPr/>
        </p:nvSpPr>
        <p:spPr>
          <a:xfrm>
            <a:off x="548640" y="1325880"/>
            <a:ext cx="8046720" cy="676656"/>
          </a:xfrm>
          <a:prstGeom prst="roundRect">
            <a:avLst>
              <a:gd name="adj" fmla="val 20270"/>
            </a:avLst>
          </a:prstGeom>
          <a:solidFill>
            <a:schemeClr val="bg2"/>
          </a:solidFill>
          <a:ln/>
        </p:spPr>
      </p:sp>
      <p:sp>
        <p:nvSpPr>
          <p:cNvPr id="7" name="cov-name-0"/>
          <p:cNvSpPr txBox="1"/>
          <p:nvPr/>
        </p:nvSpPr>
        <p:spPr>
          <a:xfrm>
            <a:off x="731520" y="132588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하지정맥류 (고주파·레이저)</a:t>
            </a:r>
            <a:endParaRPr lang="en-US" sz="1200" dirty="0"/>
          </a:p>
        </p:txBody>
      </p:sp>
      <p:sp>
        <p:nvSpPr>
          <p:cNvPr id="8" name="cov-grade-0"/>
          <p:cNvSpPr/>
          <p:nvPr/>
        </p:nvSpPr>
        <p:spPr>
          <a:xfrm>
            <a:off x="3063240" y="1435608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1종 유력</a:t>
            </a:r>
            <a:endParaRPr lang="en-US" sz="1100" dirty="0"/>
          </a:p>
        </p:txBody>
      </p:sp>
      <p:sp>
        <p:nvSpPr>
          <p:cNvPr id="9" name="cov-gnote-0"/>
          <p:cNvSpPr txBox="1"/>
          <p:nvPr/>
        </p:nvSpPr>
        <p:spPr>
          <a:xfrm>
            <a:off x="3063240" y="173736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23항 하지정맥류 근본수술, 방식 확인</a:t>
            </a:r>
            <a:endParaRPr lang="en-US" sz="900" dirty="0"/>
          </a:p>
        </p:txBody>
      </p:sp>
      <p:sp>
        <p:nvSpPr>
          <p:cNvPr id="10" name="cov-131-0"/>
          <p:cNvSpPr txBox="1"/>
          <p:nvPr/>
        </p:nvSpPr>
        <p:spPr>
          <a:xfrm>
            <a:off x="5623560" y="13990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대상 아님</a:t>
            </a:r>
            <a:endParaRPr lang="en-US" sz="1100" dirty="0"/>
          </a:p>
        </p:txBody>
      </p:sp>
      <p:sp>
        <p:nvSpPr>
          <p:cNvPr id="11" name="cov-note-0"/>
          <p:cNvSpPr txBox="1"/>
          <p:nvPr/>
        </p:nvSpPr>
        <p:spPr>
          <a:xfrm>
            <a:off x="5623560" y="17099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신의료기술치료비 특약에 고주파·베나실 명시</a:t>
            </a:r>
            <a:endParaRPr lang="en-US" sz="900" dirty="0"/>
          </a:p>
        </p:txBody>
      </p:sp>
      <p:sp>
        <p:nvSpPr>
          <p:cNvPr id="12" name="cov-card-1"/>
          <p:cNvSpPr/>
          <p:nvPr/>
        </p:nvSpPr>
        <p:spPr>
          <a:xfrm>
            <a:off x="548640" y="2093976"/>
            <a:ext cx="8046720" cy="676656"/>
          </a:xfrm>
          <a:prstGeom prst="roundRect">
            <a:avLst>
              <a:gd name="adj" fmla="val 20270"/>
            </a:avLst>
          </a:prstGeom>
          <a:solidFill>
            <a:schemeClr val="bg2"/>
          </a:solidFill>
          <a:ln/>
        </p:spPr>
      </p:sp>
      <p:sp>
        <p:nvSpPr>
          <p:cNvPr id="13" name="cov-name-1"/>
          <p:cNvSpPr txBox="1"/>
          <p:nvPr/>
        </p:nvSpPr>
        <p:spPr>
          <a:xfrm>
            <a:off x="731520" y="209397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신경성형술 (협착증·디스크)</a:t>
            </a:r>
            <a:endParaRPr lang="en-US" sz="1200" dirty="0"/>
          </a:p>
        </p:txBody>
      </p:sp>
      <p:sp>
        <p:nvSpPr>
          <p:cNvPr id="14" name="cov-grade-1"/>
          <p:cNvSpPr/>
          <p:nvPr/>
        </p:nvSpPr>
        <p:spPr>
          <a:xfrm>
            <a:off x="3063240" y="2203704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2종</a:t>
            </a:r>
            <a:endParaRPr lang="en-US" sz="1100" dirty="0"/>
          </a:p>
        </p:txBody>
      </p:sp>
      <p:sp>
        <p:nvSpPr>
          <p:cNvPr id="15" name="cov-gnote-1"/>
          <p:cNvSpPr txBox="1"/>
          <p:nvPr/>
        </p:nvSpPr>
        <p:spPr>
          <a:xfrm>
            <a:off x="3063240" y="25054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카테터 경피적 수술 → 88-2 척추</a:t>
            </a:r>
            <a:endParaRPr lang="en-US" sz="900" dirty="0"/>
          </a:p>
        </p:txBody>
      </p:sp>
      <p:sp>
        <p:nvSpPr>
          <p:cNvPr id="16" name="cov-131-1"/>
          <p:cNvSpPr txBox="1"/>
          <p:nvPr/>
        </p:nvSpPr>
        <p:spPr>
          <a:xfrm>
            <a:off x="5623560" y="2167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[다빈도] 척추병증</a:t>
            </a:r>
            <a:endParaRPr lang="en-US" sz="1100" dirty="0"/>
          </a:p>
        </p:txBody>
      </p:sp>
      <p:sp>
        <p:nvSpPr>
          <p:cNvPr id="17" name="cov-note-1"/>
          <p:cNvSpPr txBox="1"/>
          <p:nvPr/>
        </p:nvSpPr>
        <p:spPr>
          <a:xfrm>
            <a:off x="5623560" y="24780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130대는 허리디스크(M51) 없음</a:t>
            </a:r>
            <a:endParaRPr lang="en-US" sz="900" dirty="0"/>
          </a:p>
        </p:txBody>
      </p:sp>
      <p:sp>
        <p:nvSpPr>
          <p:cNvPr id="18" name="cov-card-2"/>
          <p:cNvSpPr/>
          <p:nvPr/>
        </p:nvSpPr>
        <p:spPr>
          <a:xfrm>
            <a:off x="548640" y="2862072"/>
            <a:ext cx="8046720" cy="676656"/>
          </a:xfrm>
          <a:prstGeom prst="roundRect">
            <a:avLst>
              <a:gd name="adj" fmla="val 20270"/>
            </a:avLst>
          </a:prstGeom>
          <a:solidFill>
            <a:schemeClr val="bg2"/>
          </a:solidFill>
          <a:ln/>
        </p:spPr>
      </p:sp>
      <p:sp>
        <p:nvSpPr>
          <p:cNvPr id="19" name="cov-name-2"/>
          <p:cNvSpPr txBox="1"/>
          <p:nvPr/>
        </p:nvSpPr>
        <p:spPr>
          <a:xfrm>
            <a:off x="731520" y="2862072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전립선 결찰술 (전립선비대증)</a:t>
            </a:r>
            <a:endParaRPr lang="en-US" sz="1200" dirty="0"/>
          </a:p>
        </p:txBody>
      </p:sp>
      <p:sp>
        <p:nvSpPr>
          <p:cNvPr id="20" name="cov-grade-2"/>
          <p:cNvSpPr/>
          <p:nvPr/>
        </p:nvSpPr>
        <p:spPr>
          <a:xfrm>
            <a:off x="3063240" y="297180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1종</a:t>
            </a:r>
            <a:endParaRPr lang="en-US" sz="1100" dirty="0"/>
          </a:p>
        </p:txBody>
      </p:sp>
      <p:sp>
        <p:nvSpPr>
          <p:cNvPr id="21" name="cov-gnote-2"/>
          <p:cNvSpPr txBox="1"/>
          <p:nvPr/>
        </p:nvSpPr>
        <p:spPr>
          <a:xfrm>
            <a:off x="3063240" y="32735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내시경 수술 → 88-3 비뇨·생식기</a:t>
            </a:r>
            <a:endParaRPr lang="en-US" sz="900" dirty="0"/>
          </a:p>
        </p:txBody>
      </p:sp>
      <p:sp>
        <p:nvSpPr>
          <p:cNvPr id="22" name="cov-131-2"/>
          <p:cNvSpPr txBox="1"/>
          <p:nvPr/>
        </p:nvSpPr>
        <p:spPr>
          <a:xfrm>
            <a:off x="5623560" y="29352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[관절염,생식기질환]</a:t>
            </a:r>
            <a:endParaRPr lang="en-US" sz="1100" dirty="0"/>
          </a:p>
        </p:txBody>
      </p:sp>
      <p:sp>
        <p:nvSpPr>
          <p:cNvPr id="23" name="cov-note-2"/>
          <p:cNvSpPr txBox="1"/>
          <p:nvPr/>
        </p:nvSpPr>
        <p:spPr>
          <a:xfrm>
            <a:off x="5623560" y="32461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신의료기술치료비 특약에도 명시</a:t>
            </a:r>
            <a:endParaRPr lang="en-US" sz="900" dirty="0"/>
          </a:p>
        </p:txBody>
      </p:sp>
      <p:sp>
        <p:nvSpPr>
          <p:cNvPr id="24" name="cov-card-3"/>
          <p:cNvSpPr/>
          <p:nvPr/>
        </p:nvSpPr>
        <p:spPr>
          <a:xfrm>
            <a:off x="548640" y="3630168"/>
            <a:ext cx="8046720" cy="676656"/>
          </a:xfrm>
          <a:prstGeom prst="roundRect">
            <a:avLst>
              <a:gd name="adj" fmla="val 20270"/>
            </a:avLst>
          </a:prstGeom>
          <a:solidFill>
            <a:schemeClr val="bg2"/>
          </a:solidFill>
          <a:ln/>
        </p:spPr>
      </p:sp>
      <p:sp>
        <p:nvSpPr>
          <p:cNvPr id="25" name="cov-name-3"/>
          <p:cNvSpPr txBox="1"/>
          <p:nvPr/>
        </p:nvSpPr>
        <p:spPr>
          <a:xfrm>
            <a:off x="731520" y="3630168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무릎 골수 주사 (관절염)</a:t>
            </a:r>
            <a:endParaRPr lang="en-US" sz="1200" dirty="0"/>
          </a:p>
        </p:txBody>
      </p:sp>
      <p:sp>
        <p:nvSpPr>
          <p:cNvPr id="26" name="cov-grade-3"/>
          <p:cNvSpPr/>
          <p:nvPr/>
        </p:nvSpPr>
        <p:spPr>
          <a:xfrm>
            <a:off x="3063240" y="3739896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해당 없음</a:t>
            </a:r>
            <a:endParaRPr lang="en-US" sz="1100" dirty="0"/>
          </a:p>
        </p:txBody>
      </p:sp>
      <p:sp>
        <p:nvSpPr>
          <p:cNvPr id="27" name="cov-gnote-3"/>
          <p:cNvSpPr txBox="1"/>
          <p:nvPr/>
        </p:nvSpPr>
        <p:spPr>
          <a:xfrm>
            <a:off x="3063240" y="40416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주사·흡인은 약관상 수술 아님</a:t>
            </a:r>
            <a:endParaRPr lang="en-US" sz="900" dirty="0"/>
          </a:p>
        </p:txBody>
      </p:sp>
      <p:sp>
        <p:nvSpPr>
          <p:cNvPr id="28" name="cov-131-3"/>
          <p:cNvSpPr txBox="1"/>
          <p:nvPr/>
        </p:nvSpPr>
        <p:spPr>
          <a:xfrm>
            <a:off x="5623560" y="3703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해당 없음</a:t>
            </a:r>
            <a:endParaRPr lang="en-US" sz="1100" dirty="0"/>
          </a:p>
        </p:txBody>
      </p:sp>
      <p:sp>
        <p:nvSpPr>
          <p:cNvPr id="29" name="cov-note-3"/>
          <p:cNvSpPr txBox="1"/>
          <p:nvPr/>
        </p:nvSpPr>
        <p:spPr>
          <a:xfrm>
            <a:off x="5623560" y="40142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수술비 특약 대상 아님</a:t>
            </a:r>
            <a:endParaRPr lang="en-US" sz="900" dirty="0"/>
          </a:p>
        </p:txBody>
      </p:sp>
      <p:sp>
        <p:nvSpPr>
          <p:cNvPr id="30" name="source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근거: 당사 약관 1-5종 수술분류표Ⅱ 사용지침 5(신의료기술 = 동일부위 수술, 내시경·카테터 = 88항)·131대/130대 질병군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이렇게 안내해 보세요</a:t>
            </a:r>
            <a:endParaRPr lang="en-US" sz="2600" dirty="0"/>
          </a:p>
        </p:txBody>
      </p:sp>
      <p:sp>
        <p:nvSpPr>
          <p:cNvPr id="3" name="case-card-0"/>
          <p:cNvSpPr/>
          <p:nvPr/>
        </p:nvSpPr>
        <p:spPr>
          <a:xfrm>
            <a:off x="548640" y="1097280"/>
            <a:ext cx="3931920" cy="315468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</p:spPr>
      </p:sp>
      <p:sp>
        <p:nvSpPr>
          <p:cNvPr id="4" name="case-h-0"/>
          <p:cNvSpPr txBox="1"/>
          <p:nvPr/>
        </p:nvSpPr>
        <p:spPr>
          <a:xfrm>
            <a:off x="822960" y="12801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전립선암 로봇수술</a:t>
            </a:r>
            <a:endParaRPr lang="en-US" sz="1300" dirty="0"/>
          </a:p>
        </p:txBody>
      </p:sp>
      <p:sp>
        <p:nvSpPr>
          <p:cNvPr id="5" name="case-cost-0"/>
          <p:cNvSpPr txBox="1"/>
          <p:nvPr/>
        </p:nvSpPr>
        <p:spPr>
          <a:xfrm>
            <a:off x="822960" y="1600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1,000만원</a:t>
            </a:r>
            <a:endParaRPr lang="en-US" sz="3000" dirty="0"/>
          </a:p>
        </p:txBody>
      </p:sp>
      <p:sp>
        <p:nvSpPr>
          <p:cNvPr id="6" name="case-row-0-0"/>
          <p:cNvSpPr/>
          <p:nvPr/>
        </p:nvSpPr>
        <p:spPr>
          <a:xfrm>
            <a:off x="731520" y="2377440"/>
            <a:ext cx="356616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/>
        </p:spPr>
      </p:sp>
      <p:sp>
        <p:nvSpPr>
          <p:cNvPr id="7" name="case-k-0-0"/>
          <p:cNvSpPr txBox="1"/>
          <p:nvPr/>
        </p:nvSpPr>
        <p:spPr>
          <a:xfrm>
            <a:off x="914400" y="23774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5세대 실손 본인부담</a:t>
            </a:r>
            <a:endParaRPr lang="en-US" sz="1200" dirty="0"/>
          </a:p>
        </p:txBody>
      </p:sp>
      <p:sp>
        <p:nvSpPr>
          <p:cNvPr id="8" name="case-v-0-0"/>
          <p:cNvSpPr txBox="1"/>
          <p:nvPr/>
        </p:nvSpPr>
        <p:spPr>
          <a:xfrm>
            <a:off x="2560320" y="23774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300만원</a:t>
            </a:r>
            <a:endParaRPr lang="en-US" sz="1200" dirty="0"/>
          </a:p>
        </p:txBody>
      </p:sp>
      <p:sp>
        <p:nvSpPr>
          <p:cNvPr id="9" name="case-row-0-1"/>
          <p:cNvSpPr/>
          <p:nvPr/>
        </p:nvSpPr>
        <p:spPr>
          <a:xfrm>
            <a:off x="731520" y="2944368"/>
            <a:ext cx="3566160" cy="475488"/>
          </a:xfrm>
          <a:prstGeom prst="roundRect">
            <a:avLst>
              <a:gd name="adj" fmla="val 23077"/>
            </a:avLst>
          </a:prstGeom>
          <a:solidFill>
            <a:schemeClr val="accent2"/>
          </a:solidFill>
          <a:ln/>
        </p:spPr>
      </p:sp>
      <p:sp>
        <p:nvSpPr>
          <p:cNvPr id="10" name="case-k-0-1"/>
          <p:cNvSpPr txBox="1"/>
          <p:nvPr/>
        </p:nvSpPr>
        <p:spPr>
          <a:xfrm>
            <a:off x="914400" y="29443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1-5종 수술비</a:t>
            </a:r>
            <a:endParaRPr lang="en-US" sz="1200" dirty="0"/>
          </a:p>
        </p:txBody>
      </p:sp>
      <p:sp>
        <p:nvSpPr>
          <p:cNvPr id="11" name="case-v-0-1"/>
          <p:cNvSpPr txBox="1"/>
          <p:nvPr/>
        </p:nvSpPr>
        <p:spPr>
          <a:xfrm>
            <a:off x="2560320" y="29443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악성신생물 3~5종</a:t>
            </a:r>
            <a:endParaRPr lang="en-US" sz="1200" dirty="0"/>
          </a:p>
        </p:txBody>
      </p:sp>
      <p:sp>
        <p:nvSpPr>
          <p:cNvPr id="12" name="case-row-0-2"/>
          <p:cNvSpPr/>
          <p:nvPr/>
        </p:nvSpPr>
        <p:spPr>
          <a:xfrm>
            <a:off x="731520" y="3511296"/>
            <a:ext cx="3566160" cy="475488"/>
          </a:xfrm>
          <a:prstGeom prst="roundRect">
            <a:avLst>
              <a:gd name="adj" fmla="val 23077"/>
            </a:avLst>
          </a:prstGeom>
          <a:solidFill>
            <a:schemeClr val="accent2"/>
          </a:solidFill>
          <a:ln/>
        </p:spPr>
      </p:sp>
      <p:sp>
        <p:nvSpPr>
          <p:cNvPr id="13" name="case-k-0-2"/>
          <p:cNvSpPr txBox="1"/>
          <p:nvPr/>
        </p:nvSpPr>
        <p:spPr>
          <a:xfrm>
            <a:off x="914400" y="35112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다빈치로봇 암수술비</a:t>
            </a:r>
            <a:endParaRPr lang="en-US" sz="1200" dirty="0"/>
          </a:p>
        </p:txBody>
      </p:sp>
      <p:sp>
        <p:nvSpPr>
          <p:cNvPr id="14" name="case-v-0-2"/>
          <p:cNvSpPr txBox="1"/>
          <p:nvPr/>
        </p:nvSpPr>
        <p:spPr>
          <a:xfrm>
            <a:off x="2560320" y="351129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별도 특약으로 추가</a:t>
            </a:r>
            <a:endParaRPr lang="en-US" sz="1200" dirty="0"/>
          </a:p>
        </p:txBody>
      </p:sp>
      <p:sp>
        <p:nvSpPr>
          <p:cNvPr id="15" name="case-card-1"/>
          <p:cNvSpPr/>
          <p:nvPr/>
        </p:nvSpPr>
        <p:spPr>
          <a:xfrm>
            <a:off x="4663440" y="1097280"/>
            <a:ext cx="3931920" cy="315468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</p:spPr>
      </p:sp>
      <p:sp>
        <p:nvSpPr>
          <p:cNvPr id="16" name="case-h-1"/>
          <p:cNvSpPr txBox="1"/>
          <p:nvPr/>
        </p:nvSpPr>
        <p:spPr>
          <a:xfrm>
            <a:off x="4937760" y="12801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백내장 다초점 · 양쪽 눈(다른 날)</a:t>
            </a:r>
            <a:endParaRPr lang="en-US" sz="1300" dirty="0"/>
          </a:p>
        </p:txBody>
      </p:sp>
      <p:sp>
        <p:nvSpPr>
          <p:cNvPr id="17" name="case-cost-1"/>
          <p:cNvSpPr txBox="1"/>
          <p:nvPr/>
        </p:nvSpPr>
        <p:spPr>
          <a:xfrm>
            <a:off x="4937760" y="1600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360만원</a:t>
            </a:r>
            <a:endParaRPr lang="en-US" sz="3000" dirty="0"/>
          </a:p>
        </p:txBody>
      </p:sp>
      <p:sp>
        <p:nvSpPr>
          <p:cNvPr id="18" name="case-row-1-0"/>
          <p:cNvSpPr/>
          <p:nvPr/>
        </p:nvSpPr>
        <p:spPr>
          <a:xfrm>
            <a:off x="4846320" y="2377440"/>
            <a:ext cx="356616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/>
        </p:spPr>
      </p:sp>
      <p:sp>
        <p:nvSpPr>
          <p:cNvPr id="19" name="case-k-1-0"/>
          <p:cNvSpPr txBox="1"/>
          <p:nvPr/>
        </p:nvSpPr>
        <p:spPr>
          <a:xfrm>
            <a:off x="5029200" y="23774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5세대 실손 본인부담</a:t>
            </a:r>
            <a:endParaRPr lang="en-US" sz="1200" dirty="0"/>
          </a:p>
        </p:txBody>
      </p:sp>
      <p:sp>
        <p:nvSpPr>
          <p:cNvPr id="20" name="case-v-1-0"/>
          <p:cNvSpPr txBox="1"/>
          <p:nvPr/>
        </p:nvSpPr>
        <p:spPr>
          <a:xfrm>
            <a:off x="6675120" y="23774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180만원</a:t>
            </a:r>
            <a:endParaRPr lang="en-US" sz="1200" dirty="0"/>
          </a:p>
        </p:txBody>
      </p:sp>
      <p:sp>
        <p:nvSpPr>
          <p:cNvPr id="21" name="case-row-1-1"/>
          <p:cNvSpPr/>
          <p:nvPr/>
        </p:nvSpPr>
        <p:spPr>
          <a:xfrm>
            <a:off x="4846320" y="2944368"/>
            <a:ext cx="3566160" cy="475488"/>
          </a:xfrm>
          <a:prstGeom prst="roundRect">
            <a:avLst>
              <a:gd name="adj" fmla="val 23077"/>
            </a:avLst>
          </a:prstGeom>
          <a:solidFill>
            <a:schemeClr val="accent2"/>
          </a:solidFill>
          <a:ln/>
        </p:spPr>
      </p:sp>
      <p:sp>
        <p:nvSpPr>
          <p:cNvPr id="22" name="case-k-1-1"/>
          <p:cNvSpPr txBox="1"/>
          <p:nvPr/>
        </p:nvSpPr>
        <p:spPr>
          <a:xfrm>
            <a:off x="5029200" y="29443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1-5종 수술비</a:t>
            </a:r>
            <a:endParaRPr lang="en-US" sz="1200" dirty="0"/>
          </a:p>
        </p:txBody>
      </p:sp>
      <p:sp>
        <p:nvSpPr>
          <p:cNvPr id="23" name="case-v-1-1"/>
          <p:cNvSpPr txBox="1"/>
          <p:nvPr/>
        </p:nvSpPr>
        <p:spPr>
          <a:xfrm>
            <a:off x="6675120" y="29443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1종 × 2회</a:t>
            </a:r>
            <a:endParaRPr lang="en-US" sz="1200" dirty="0"/>
          </a:p>
        </p:txBody>
      </p:sp>
      <p:sp>
        <p:nvSpPr>
          <p:cNvPr id="24" name="case-row-1-2"/>
          <p:cNvSpPr/>
          <p:nvPr/>
        </p:nvSpPr>
        <p:spPr>
          <a:xfrm>
            <a:off x="4846320" y="3511296"/>
            <a:ext cx="3566160" cy="475488"/>
          </a:xfrm>
          <a:prstGeom prst="roundRect">
            <a:avLst>
              <a:gd name="adj" fmla="val 23077"/>
            </a:avLst>
          </a:prstGeom>
          <a:solidFill>
            <a:schemeClr val="accent2"/>
          </a:solidFill>
          <a:ln/>
        </p:spPr>
      </p:sp>
      <p:sp>
        <p:nvSpPr>
          <p:cNvPr id="25" name="case-k-1-2"/>
          <p:cNvSpPr txBox="1"/>
          <p:nvPr/>
        </p:nvSpPr>
        <p:spPr>
          <a:xfrm>
            <a:off x="5029200" y="35112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131대 [백내장]</a:t>
            </a:r>
            <a:endParaRPr lang="en-US" sz="1200" dirty="0"/>
          </a:p>
        </p:txBody>
      </p:sp>
      <p:sp>
        <p:nvSpPr>
          <p:cNvPr id="26" name="case-v-1-2"/>
          <p:cNvSpPr txBox="1"/>
          <p:nvPr/>
        </p:nvSpPr>
        <p:spPr>
          <a:xfrm>
            <a:off x="6675120" y="351129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가입금액 × 2회</a:t>
            </a:r>
            <a:endParaRPr lang="en-US" sz="1200" dirty="0"/>
          </a:p>
        </p:txBody>
      </p:sp>
      <p:sp>
        <p:nvSpPr>
          <p:cNvPr id="27" name="source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가정값: 단순 계산(중증 30%·비중증 50%). 로봇 암수술 종은 방식에 따라 다름 · 다빈치 암수술비 최초 1회 · 같은 날 양쪽이면 131대 1회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자료 출처와 읽는 법</a:t>
            </a:r>
            <a:endParaRPr lang="en-US" sz="2600" dirty="0"/>
          </a:p>
        </p:txBody>
      </p:sp>
      <p:sp>
        <p:nvSpPr>
          <p:cNvPr id="3" name="sources"/>
          <p:cNvSpPr txBox="1"/>
          <p:nvPr/>
        </p:nvSpPr>
        <p:spPr>
          <a:xfrm>
            <a:off x="548640" y="11430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보건복지부·심평원 비급여 진료비용 공개 (2022·2025·2026 발표)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보건복지부·국민건강보험공단 비급여 보고제도 분석 (2025.9 진료분)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심평원 비급여 공개 보도: 로봇수술(2016), 하이푸(2021.9 반영)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언론: 데일리팜, 메디칼업저버, 아시아경제, 법률신문, 의학신문, 5세대 실손 출시 보도(2026.5)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당사 약관: 1-5종 수술분류표Ⅱ, 131대·130대 질병수술비 (특약검색기 tool.html)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병원 게시가·가격비교: 내손안의닥터, 모두닥, 병원 비급여 고지</a:t>
            </a:r>
            <a:endParaRPr lang="en-US" sz="1300" dirty="0"/>
          </a:p>
        </p:txBody>
      </p:sp>
      <p:sp>
        <p:nvSpPr>
          <p:cNvPr id="4" name="caution-card"/>
          <p:cNvSpPr/>
          <p:nvPr/>
        </p:nvSpPr>
        <p:spPr>
          <a:xfrm>
            <a:off x="5760720" y="1143000"/>
            <a:ext cx="2834640" cy="1920240"/>
          </a:xfrm>
          <a:prstGeom prst="roundRect">
            <a:avLst>
              <a:gd name="adj" fmla="val 9524"/>
            </a:avLst>
          </a:prstGeom>
          <a:solidFill>
            <a:schemeClr val="accent2"/>
          </a:solidFill>
          <a:ln/>
        </p:spPr>
      </p:sp>
      <p:sp>
        <p:nvSpPr>
          <p:cNvPr id="5" name="caution-text"/>
          <p:cNvSpPr txBox="1"/>
          <p:nvPr/>
        </p:nvSpPr>
        <p:spPr>
          <a:xfrm>
            <a:off x="5989320" y="13258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꼭 알아 두세요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공개 연도·집계 범위가 항목마다 달라요. 고객 안내 전 심평원 '비급여 진료비 정보'에서 최신 가격을 다시 확인하세요.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ss Clean">
  <a:themeElements>
    <a:clrScheme name="Toss Clean">
      <a:dk1>
        <a:srgbClr val="191F28"/>
      </a:dk1>
      <a:lt1>
        <a:srgbClr val="FFFFFF"/>
      </a:lt1>
      <a:dk2>
        <a:srgbClr val="4E5968"/>
      </a:dk2>
      <a:lt2>
        <a:srgbClr val="F2F4F6"/>
      </a:lt2>
      <a:accent1>
        <a:srgbClr val="3182F6"/>
      </a:accent1>
      <a:accent2>
        <a:srgbClr val="E8F3FF"/>
      </a:accent2>
      <a:accent3>
        <a:srgbClr val="8B95A1"/>
      </a:accent3>
      <a:accent4>
        <a:srgbClr val="E5E8EB"/>
      </a:accent4>
      <a:accent5>
        <a:srgbClr val="F04452"/>
      </a:accent5>
      <a:accent6>
        <a:srgbClr val="1B64DA"/>
      </a:accent6>
      <a:hlink>
        <a:srgbClr val="3182F6"/>
      </a:hlink>
      <a:folHlink>
        <a:srgbClr val="1B64DA"/>
      </a:folHlink>
    </a:clrScheme>
    <a:fontScheme name="Toss Clean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비급여 수술·시술 가이드</dc:title>
  <dc:subject>PptxGenJS Presentation</dc:subject>
  <dc:creator>메리츠화재 세일즈혁신</dc:creator>
  <cp:lastModifiedBy>메리츠화재 세일즈혁신</cp:lastModifiedBy>
  <cp:revision>1</cp:revision>
  <dcterms:created xsi:type="dcterms:W3CDTF">2026-10-13T22:26:35Z</dcterms:created>
  <dcterms:modified xsi:type="dcterms:W3CDTF">2026-10-13T22:26:35Z</dcterms:modified>
</cp:coreProperties>
</file>