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1dcb11f-4570-912d-e6b3-ff0aac00b955}">
          <p14:sldIdLst>
            <p14:sldId id="256"/>
          </p14:sldIdLst>
        </p14:section>
        <p14:section name="한눈에 보기" id="{09acbdd5-9eee-5408-cefa-2b32c9892f6b}">
          <p14:sldIdLst>
            <p14:sldId id="257"/>
            <p14:sldId id="258"/>
            <p14:sldId id="259"/>
          </p14:sldIdLst>
        </p14:section>
        <p14:section name="수술별 상세" id="{6ae29ad1-ce94-bdee-4316-396316386b3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질병으로 찾기" id="{0c5787fc-ef7b-8d13-be2a-2ae2a5740466}">
          <p14:sldIdLst>
            <p14:sldId id="268"/>
          </p14:sldIdLst>
        </p14:section>
        <p14:section name="영업 포인트" id="{1dd1b2f3-801c-9f58-8304-c3bb15b5fdfe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한 달 진료비(억원)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#,##0&quot;억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1인실 병실료</c:v>
                  </c:pt>
                  <c:pt idx="1">
                    <c:v>도수치료</c:v>
                  </c:pt>
                  <c:pt idx="2">
                    <c:v>지르코니아 임플란트</c:v>
                  </c:pt>
                  <c:pt idx="3">
                    <c:v>싸이모신알파1(주사)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561</c:v>
                </c:pt>
                <c:pt idx="1">
                  <c:v>552</c:v>
                </c:pt>
                <c:pt idx="2">
                  <c:v>314</c:v>
                </c:pt>
                <c:pt idx="3">
                  <c:v>274</c:v>
                </c:pt>
              </c:numCache>
            </c:numRef>
          </c:val>
        </c:ser>
        <c:dLbls>
          <c:numFmt formatCode="#,##0&quot;억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E59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메리츠화재 세일즈혁신 · 비급여 수술 가이드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914400"/>
            <a:ext cx="17373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세일즈혁신 · 2026.10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비급여 수술,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얼마나 들까요?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많이 하는 비급여 수술·시술 8가지의 평균 비용과 어떤 병에서 받는지 정리했어요</a:t>
            </a:r>
            <a:endParaRPr lang="en-US" sz="1600" dirty="0"/>
          </a:p>
        </p:txBody>
      </p:sp>
      <p:sp>
        <p:nvSpPr>
          <p:cNvPr id="5" name="cover-circle"/>
          <p:cNvSpPr/>
          <p:nvPr/>
        </p:nvSpPr>
        <p:spPr>
          <a:xfrm>
            <a:off x="6949440" y="33375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ov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2" y="368503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비급여, 숫자로 먼저 볼게요</a:t>
            </a:r>
            <a:endParaRPr lang="en-US" sz="2600" dirty="0"/>
          </a:p>
        </p:txBody>
      </p:sp>
      <p:sp>
        <p:nvSpPr>
          <p:cNvPr id="3" name="stat-card-0"/>
          <p:cNvSpPr/>
          <p:nvPr/>
        </p:nvSpPr>
        <p:spPr>
          <a:xfrm>
            <a:off x="5486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stat-num-0"/>
          <p:cNvSpPr txBox="1"/>
          <p:nvPr/>
        </p:nvSpPr>
        <p:spPr>
          <a:xfrm>
            <a:off x="8229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7,499억원</a:t>
            </a:r>
            <a:endParaRPr lang="en-US" sz="3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229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병원급 비급여 진료비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한 달 합계 (2025.9)</a:t>
            </a:r>
            <a:endParaRPr lang="en-US" sz="1300" dirty="0"/>
          </a:p>
        </p:txBody>
      </p:sp>
      <p:sp>
        <p:nvSpPr>
          <p:cNvPr id="6" name="stat-card-1"/>
          <p:cNvSpPr/>
          <p:nvPr/>
        </p:nvSpPr>
        <p:spPr>
          <a:xfrm>
            <a:off x="32918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7" name="stat-num-1"/>
          <p:cNvSpPr txBox="1"/>
          <p:nvPr/>
        </p:nvSpPr>
        <p:spPr>
          <a:xfrm>
            <a:off x="35661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753개</a:t>
            </a:r>
            <a:endParaRPr lang="en-US" sz="3000" dirty="0"/>
          </a:p>
        </p:txBody>
      </p:sp>
      <p:sp>
        <p:nvSpPr>
          <p:cNvPr id="8" name="stat-label-1"/>
          <p:cNvSpPr txBox="1"/>
          <p:nvPr/>
        </p:nvSpPr>
        <p:spPr>
          <a:xfrm>
            <a:off x="35661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심평원이 가격을 공개하는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비급여 항목 수 (2026)</a:t>
            </a:r>
            <a:endParaRPr lang="en-US" sz="1300" dirty="0"/>
          </a:p>
        </p:txBody>
      </p:sp>
      <p:sp>
        <p:nvSpPr>
          <p:cNvPr id="9" name="stat-card-2"/>
          <p:cNvSpPr/>
          <p:nvPr/>
        </p:nvSpPr>
        <p:spPr>
          <a:xfrm>
            <a:off x="60350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0" name="stat-num-2"/>
          <p:cNvSpPr txBox="1"/>
          <p:nvPr/>
        </p:nvSpPr>
        <p:spPr>
          <a:xfrm>
            <a:off x="63093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64.3%</a:t>
            </a:r>
            <a:endParaRPr lang="en-US" sz="3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3093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 새 평균 가격이 오른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비급여 항목 비율 (2025)</a:t>
            </a:r>
            <a:endParaRPr lang="en-US" sz="130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보건복지부·국민건강보험공단 비급여 보고제도 분석(2026.9 발표), 보건복지부·심평원 비급여 진료비용 공개(2025.9 / 2026.9)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돈이 가장 많이 몰리는 비급여 항목</a:t>
            </a:r>
            <a:endParaRPr lang="en-US" sz="2600" dirty="0"/>
          </a:p>
        </p:txBody>
      </p:sp>
      <p:graphicFrame>
        <p:nvGraphicFramePr>
          <p:cNvPr id="3" name="top-chart" descr=""/>
          <p:cNvGraphicFramePr/>
          <p:nvPr/>
        </p:nvGraphicFramePr>
        <p:xfrm>
          <a:off x="457200" y="10972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nsight-card"/>
          <p:cNvSpPr/>
          <p:nvPr/>
        </p:nvSpPr>
        <p:spPr>
          <a:xfrm>
            <a:off x="5943600" y="1188720"/>
            <a:ext cx="2651760" cy="301752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5" name="insight-text"/>
          <p:cNvSpPr txBox="1"/>
          <p:nvPr/>
        </p:nvSpPr>
        <p:spPr>
          <a:xfrm>
            <a:off x="6172200" y="1371600"/>
            <a:ext cx="2240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수술 쪽은?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상급종합병원만 보면 1인실 다음으로 전립선암·갑상선암 로봇수술이 2·3위예요.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도수치료는 2026.7부터 관리급여로 바뀌었어요.</a:t>
            </a:r>
            <a:endParaRPr lang="en-US" sz="1500" dirty="0"/>
          </a:p>
        </p:txBody>
      </p:sp>
      <p:sp>
        <p:nvSpPr>
          <p:cNvPr id="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보건복지부·국민건강보험공단, 2025년 하반기 병원급 비급여 진료비용 분석(2025.9 진료분, 4,098개 병원)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많이 하는 비급여 수술·시술 8가지</a:t>
            </a:r>
            <a:endParaRPr lang="en-US" sz="2600" dirty="0"/>
          </a:p>
        </p:txBody>
      </p:sp>
      <p:sp>
        <p:nvSpPr>
          <p:cNvPr id="3" name="list-card-0"/>
          <p:cNvSpPr/>
          <p:nvPr/>
        </p:nvSpPr>
        <p:spPr>
          <a:xfrm>
            <a:off x="548640" y="1143000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4" name="list-dot-0"/>
          <p:cNvSpPr/>
          <p:nvPr/>
        </p:nvSpPr>
        <p:spPr>
          <a:xfrm>
            <a:off x="685800" y="1271016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list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371600"/>
            <a:ext cx="219456" cy="219456"/>
          </a:xfrm>
          <a:prstGeom prst="rect">
            <a:avLst/>
          </a:prstGeom>
        </p:spPr>
      </p:pic>
      <p:sp>
        <p:nvSpPr>
          <p:cNvPr id="6" name="list-text-0"/>
          <p:cNvSpPr txBox="1"/>
          <p:nvPr/>
        </p:nvSpPr>
        <p:spPr>
          <a:xfrm>
            <a:off x="1234440" y="11978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백내장 다초점 인공수정체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백내장</a:t>
            </a:r>
            <a:endParaRPr lang="en-US" sz="1300" dirty="0"/>
          </a:p>
        </p:txBody>
      </p:sp>
      <p:sp>
        <p:nvSpPr>
          <p:cNvPr id="7" name="list-price-0"/>
          <p:cNvSpPr txBox="1"/>
          <p:nvPr/>
        </p:nvSpPr>
        <p:spPr>
          <a:xfrm>
            <a:off x="3246120" y="11978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180만원</a:t>
            </a:r>
            <a:endParaRPr lang="en-US" sz="1200" dirty="0"/>
          </a:p>
        </p:txBody>
      </p:sp>
      <p:sp>
        <p:nvSpPr>
          <p:cNvPr id="8" name="list-card-1"/>
          <p:cNvSpPr/>
          <p:nvPr/>
        </p:nvSpPr>
        <p:spPr>
          <a:xfrm>
            <a:off x="4663440" y="1143000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9" name="list-dot-1"/>
          <p:cNvSpPr/>
          <p:nvPr/>
        </p:nvSpPr>
        <p:spPr>
          <a:xfrm>
            <a:off x="4800600" y="1271016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list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371600"/>
            <a:ext cx="219456" cy="219456"/>
          </a:xfrm>
          <a:prstGeom prst="rect">
            <a:avLst/>
          </a:prstGeom>
        </p:spPr>
      </p:pic>
      <p:sp>
        <p:nvSpPr>
          <p:cNvPr id="11" name="list-text-1"/>
          <p:cNvSpPr txBox="1"/>
          <p:nvPr/>
        </p:nvSpPr>
        <p:spPr>
          <a:xfrm>
            <a:off x="5349240" y="11978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다빈치 로봇수술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전립선암</a:t>
            </a:r>
            <a:endParaRPr lang="en-US" sz="1300" dirty="0"/>
          </a:p>
        </p:txBody>
      </p:sp>
      <p:sp>
        <p:nvSpPr>
          <p:cNvPr id="12" name="list-price-1"/>
          <p:cNvSpPr txBox="1"/>
          <p:nvPr/>
        </p:nvSpPr>
        <p:spPr>
          <a:xfrm>
            <a:off x="7360920" y="11978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1,000만원</a:t>
            </a:r>
            <a:endParaRPr lang="en-US" sz="1200" dirty="0"/>
          </a:p>
        </p:txBody>
      </p:sp>
      <p:sp>
        <p:nvSpPr>
          <p:cNvPr id="13" name="list-card-2"/>
          <p:cNvSpPr/>
          <p:nvPr/>
        </p:nvSpPr>
        <p:spPr>
          <a:xfrm>
            <a:off x="548640" y="1929384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4" name="list-dot-2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5" name="list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57984"/>
            <a:ext cx="219456" cy="219456"/>
          </a:xfrm>
          <a:prstGeom prst="rect">
            <a:avLst/>
          </a:prstGeom>
        </p:spPr>
      </p:pic>
      <p:sp>
        <p:nvSpPr>
          <p:cNvPr id="16" name="list-text-2"/>
          <p:cNvSpPr txBox="1"/>
          <p:nvPr/>
        </p:nvSpPr>
        <p:spPr>
          <a:xfrm>
            <a:off x="1234440" y="1984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하이푸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자궁근종</a:t>
            </a:r>
            <a:endParaRPr lang="en-US" sz="1300" dirty="0"/>
          </a:p>
        </p:txBody>
      </p:sp>
      <p:sp>
        <p:nvSpPr>
          <p:cNvPr id="17" name="list-price-2"/>
          <p:cNvSpPr txBox="1"/>
          <p:nvPr/>
        </p:nvSpPr>
        <p:spPr>
          <a:xfrm>
            <a:off x="3246120" y="19842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657만원</a:t>
            </a:r>
            <a:endParaRPr lang="en-US" sz="1200" dirty="0"/>
          </a:p>
        </p:txBody>
      </p:sp>
      <p:sp>
        <p:nvSpPr>
          <p:cNvPr id="18" name="list-card-3"/>
          <p:cNvSpPr/>
          <p:nvPr/>
        </p:nvSpPr>
        <p:spPr>
          <a:xfrm>
            <a:off x="4663440" y="1929384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9" name="list-dot-3"/>
          <p:cNvSpPr/>
          <p:nvPr/>
        </p:nvSpPr>
        <p:spPr>
          <a:xfrm>
            <a:off x="4800600" y="2057400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list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184" y="2157984"/>
            <a:ext cx="219456" cy="219456"/>
          </a:xfrm>
          <a:prstGeom prst="rect">
            <a:avLst/>
          </a:prstGeom>
        </p:spPr>
      </p:pic>
      <p:sp>
        <p:nvSpPr>
          <p:cNvPr id="21" name="list-text-3"/>
          <p:cNvSpPr txBox="1"/>
          <p:nvPr/>
        </p:nvSpPr>
        <p:spPr>
          <a:xfrm>
            <a:off x="5349240" y="1984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맘모톰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유방 양성종양</a:t>
            </a:r>
            <a:endParaRPr lang="en-US" sz="1300" dirty="0"/>
          </a:p>
        </p:txBody>
      </p:sp>
      <p:sp>
        <p:nvSpPr>
          <p:cNvPr id="22" name="list-price-3"/>
          <p:cNvSpPr txBox="1"/>
          <p:nvPr/>
        </p:nvSpPr>
        <p:spPr>
          <a:xfrm>
            <a:off x="7360920" y="19842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편차 큼</a:t>
            </a:r>
            <a:endParaRPr lang="en-US" sz="1200" dirty="0"/>
          </a:p>
        </p:txBody>
      </p:sp>
      <p:sp>
        <p:nvSpPr>
          <p:cNvPr id="23" name="list-card-4"/>
          <p:cNvSpPr/>
          <p:nvPr/>
        </p:nvSpPr>
        <p:spPr>
          <a:xfrm>
            <a:off x="548640" y="2715768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4" name="list-dot-4"/>
          <p:cNvSpPr/>
          <p:nvPr/>
        </p:nvSpPr>
        <p:spPr>
          <a:xfrm>
            <a:off x="685800" y="2843784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5" name="list-icon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2944368"/>
            <a:ext cx="219456" cy="219456"/>
          </a:xfrm>
          <a:prstGeom prst="rect">
            <a:avLst/>
          </a:prstGeom>
        </p:spPr>
      </p:pic>
      <p:sp>
        <p:nvSpPr>
          <p:cNvPr id="26" name="list-text-4"/>
          <p:cNvSpPr txBox="1"/>
          <p:nvPr/>
        </p:nvSpPr>
        <p:spPr>
          <a:xfrm>
            <a:off x="1234440" y="2770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하지정맥류 고주파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하지정맥류</a:t>
            </a:r>
            <a:endParaRPr lang="en-US" sz="1300" dirty="0"/>
          </a:p>
        </p:txBody>
      </p:sp>
      <p:sp>
        <p:nvSpPr>
          <p:cNvPr id="27" name="list-price-4"/>
          <p:cNvSpPr txBox="1"/>
          <p:nvPr/>
        </p:nvSpPr>
        <p:spPr>
          <a:xfrm>
            <a:off x="3246120" y="27706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159만원</a:t>
            </a:r>
            <a:endParaRPr lang="en-US" sz="1200" dirty="0"/>
          </a:p>
        </p:txBody>
      </p:sp>
      <p:sp>
        <p:nvSpPr>
          <p:cNvPr id="28" name="list-card-5"/>
          <p:cNvSpPr/>
          <p:nvPr/>
        </p:nvSpPr>
        <p:spPr>
          <a:xfrm>
            <a:off x="4663440" y="2715768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9" name="list-dot-5"/>
          <p:cNvSpPr/>
          <p:nvPr/>
        </p:nvSpPr>
        <p:spPr>
          <a:xfrm>
            <a:off x="4800600" y="2843784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0" name="list-icon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184" y="2944368"/>
            <a:ext cx="219456" cy="219456"/>
          </a:xfrm>
          <a:prstGeom prst="rect">
            <a:avLst/>
          </a:prstGeom>
        </p:spPr>
      </p:pic>
      <p:sp>
        <p:nvSpPr>
          <p:cNvPr id="31" name="list-text-5"/>
          <p:cNvSpPr txBox="1"/>
          <p:nvPr/>
        </p:nvSpPr>
        <p:spPr>
          <a:xfrm>
            <a:off x="5349240" y="2770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신경성형술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척추관협착증</a:t>
            </a:r>
            <a:endParaRPr lang="en-US" sz="1300" dirty="0"/>
          </a:p>
        </p:txBody>
      </p:sp>
      <p:sp>
        <p:nvSpPr>
          <p:cNvPr id="32" name="list-price-5"/>
          <p:cNvSpPr txBox="1"/>
          <p:nvPr/>
        </p:nvSpPr>
        <p:spPr>
          <a:xfrm>
            <a:off x="7360920" y="27706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170만원</a:t>
            </a:r>
            <a:endParaRPr lang="en-US" sz="1200" dirty="0"/>
          </a:p>
        </p:txBody>
      </p:sp>
      <p:sp>
        <p:nvSpPr>
          <p:cNvPr id="33" name="list-card-6"/>
          <p:cNvSpPr/>
          <p:nvPr/>
        </p:nvSpPr>
        <p:spPr>
          <a:xfrm>
            <a:off x="548640" y="3502152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34" name="list-dot-6"/>
          <p:cNvSpPr/>
          <p:nvPr/>
        </p:nvSpPr>
        <p:spPr>
          <a:xfrm>
            <a:off x="685800" y="3630168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5" name="list-icon-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3730752"/>
            <a:ext cx="219456" cy="219456"/>
          </a:xfrm>
          <a:prstGeom prst="rect">
            <a:avLst/>
          </a:prstGeom>
        </p:spPr>
      </p:pic>
      <p:sp>
        <p:nvSpPr>
          <p:cNvPr id="36" name="list-text-6"/>
          <p:cNvSpPr txBox="1"/>
          <p:nvPr/>
        </p:nvSpPr>
        <p:spPr>
          <a:xfrm>
            <a:off x="1234440" y="35570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전립선 결찰술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전립선비대증</a:t>
            </a:r>
            <a:endParaRPr lang="en-US" sz="1300" dirty="0"/>
          </a:p>
        </p:txBody>
      </p:sp>
      <p:sp>
        <p:nvSpPr>
          <p:cNvPr id="37" name="list-price-6"/>
          <p:cNvSpPr txBox="1"/>
          <p:nvPr/>
        </p:nvSpPr>
        <p:spPr>
          <a:xfrm>
            <a:off x="3246120" y="355701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440만원</a:t>
            </a:r>
            <a:endParaRPr lang="en-US" sz="1200" dirty="0"/>
          </a:p>
        </p:txBody>
      </p:sp>
      <p:sp>
        <p:nvSpPr>
          <p:cNvPr id="38" name="list-card-7"/>
          <p:cNvSpPr/>
          <p:nvPr/>
        </p:nvSpPr>
        <p:spPr>
          <a:xfrm>
            <a:off x="4663440" y="3502152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39" name="list-dot-7"/>
          <p:cNvSpPr/>
          <p:nvPr/>
        </p:nvSpPr>
        <p:spPr>
          <a:xfrm>
            <a:off x="4800600" y="3630168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40" name="list-icon-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1184" y="3730752"/>
            <a:ext cx="219456" cy="219456"/>
          </a:xfrm>
          <a:prstGeom prst="rect">
            <a:avLst/>
          </a:prstGeom>
        </p:spPr>
      </p:pic>
      <p:sp>
        <p:nvSpPr>
          <p:cNvPr id="41" name="list-text-7"/>
          <p:cNvSpPr txBox="1"/>
          <p:nvPr/>
        </p:nvSpPr>
        <p:spPr>
          <a:xfrm>
            <a:off x="5349240" y="35570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무릎 골수 주사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무릎 골관절염</a:t>
            </a:r>
            <a:endParaRPr lang="en-US" sz="1300" dirty="0"/>
          </a:p>
        </p:txBody>
      </p:sp>
      <p:sp>
        <p:nvSpPr>
          <p:cNvPr id="42" name="list-price-7"/>
          <p:cNvSpPr txBox="1"/>
          <p:nvPr/>
        </p:nvSpPr>
        <p:spPr>
          <a:xfrm>
            <a:off x="7360920" y="355701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180~400만원</a:t>
            </a:r>
            <a:endParaRPr lang="en-US" sz="1200" dirty="0"/>
          </a:p>
        </p:txBody>
      </p:sp>
      <p:sp>
        <p:nvSpPr>
          <p:cNvPr id="43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금액은 각 상세 장의 출처 기준(공개 연도·기관 범위가 서로 달라 직접 비교용이 아님)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백내장 다초점 인공수정체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01 · 안과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180만원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중간금액 · 한쪽 눈 (2022 공개)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651154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1080922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33만원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900만원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같은 렌즈인데 최저·최고 27배 차이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백내장 (노안이 함께 있는 백내장 포함)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수술·단초점 렌즈는 건강보험, 다초점(조절성) 렌즈 값만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가격 격차가 가장 큰 대표 항목. 실손 청구·분쟁이 잦았던 수술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 비급여 진료비용 공개(2022) 보도, 데일리팜 「백내장 수술비 격차 27배」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다빈치 로봇수술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· 암 · 로봇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1,000만원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가장 많이 받는 가격 · 전립선암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25603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2990088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300만원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1,350만원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상급종합병원 기준 (심평원 2016 공개)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전립선암 · 갑상선암 · 자궁근종/자궁암 · 대장(직장)암 · 신장암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수술 자체는 건강보험, 로봇을 쓰는 비용이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상급종합병원 비급여 진료비 2·3위가 전립선암·갑상선암 로봇수술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심평원 비급여 진료비용 공개(2016) 보도(메디칼업저버·헬스코리아뉴스), 보건복지부 비급여 보고제도 분석(2025)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하이푸 (고강도 초음파 집속술)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· 여성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657만원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평균 · 초음파 유도 방식 (59개 기관)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1456441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1886209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142만원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1,500만원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심평원 공개자료 2021.9 반영분 인용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자궁근종 · 자궁선근증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배를 열지 않고 초음파 열로 근종을 태우는 치료로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MRI 유도 방식은 평균 약 400만원 안팎. 방식에 따라 가격이 크게 다름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모두닥 「자궁근종 하이푸 시술 가격」(심평원 비급여 공개자료 2021.9 반영분 인용)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맘모톰 (진공흡인 유방 절제)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· 여성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병원별 편차 큼</a:t>
            </a:r>
            <a:endParaRPr lang="en-US" sz="3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전국 평균 공개값 미확보 · 병원 견적 확인 필요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시술 성격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바늘로 혹을 빨아들여 제거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보험 이력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2019.7 법정비급여 전환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실손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지급 대상 판결(서울중앙지법)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유방 양성종양 (섬유선종 등) · 유방 혹 조직검사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가슴을 크게 절개하지 않는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실손에서 통원 처리·입원 적정성이 자주 쟁점. 수술비 특약은 약관의 '수술' 정의 확인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법률신문 「맘모톰 시술도 실손보험 지급대상」, 뱅크샐러드 「맘모톰 수술비용」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하지정맥류 (고주파·레이저·베나실)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· 혈관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159만원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평균 · 고주파 폐쇄술 (경기 67개 병·의원)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고주파 최저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고주파 평균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159만원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베나실(접착)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한쪽 250~450만원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하지정맥류 (다리 혈관이 부풀어 튀어나오는 병)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역류 기준 등 급여 조건을 못 맞추면 수술 전체가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양쪽 다리·혈관 수에 따라 금액이 배로 늘어남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내손안의닥터(my-doctor.io) 고주파정맥내막폐쇄술 경기 집계, 뱅크샐러드 「하지정맥류 수술비용」(베나실 병원 안내가)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경피적 경막외강 신경성형술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· 척추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170만원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중간금액 (평균 약 177만원)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병원 게시가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115~175만원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의원 범위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50~200만원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제도 변화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관리급여 전환 검토 (2025.11)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척추관협착증 · 허리디스크(추간판탈출증) · 만성 요통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가는 관을 넣어 신경 주변 유착을 푸는 시술. 2007년부터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정부가 가격 관리 대상으로 검토 중. 향후 비용 구조가 바뀔 수 있음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언론 보도 인용 평균·중간금액, 각 병원 비급여 게시가, 의학신문 「관리급여 검토항목」(2025.11)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전립선 결찰술 (유로리프트)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07 · 비뇨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440만원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2부위 기준 · 병원 고지 가격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4부위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880만원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병원 안내 범위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300~2,000만원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급여 수술 대비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15배 이상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전립선비대증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실(결찰사)을 넣어 막힌 요도를 넓히는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백내장 다음으로 실손 청구가 급증한 항목으로 보도됨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아시아경제 「전립선결찰술 비급여 급증」(2024.11), 비뇨의학과 비급여 고지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무릎 골수흡인농축물 주사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08 · 관절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180~400만원</a:t>
            </a:r>
            <a:endParaRPr lang="en-US" sz="3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무릎 1회 · 병원 게시가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제품 A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180만원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제품 B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비교: PRP 주사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20만원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무릎 골관절염 (퇴행성 관절염)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본인 골수를 뽑아 농축해 관절에 넣는 신의료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줄기세포 계열 주사는 일반 주사보다 10~20배 비쌈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정형외과 병원 비급여 진료비 게시 목록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고객 병명으로 바로 찾기</a:t>
            </a:r>
            <a:endParaRPr lang="en-US" sz="2600" dirty="0"/>
          </a:p>
        </p:txBody>
      </p:sp>
      <p:sp>
        <p:nvSpPr>
          <p:cNvPr id="3" name="map-card-0"/>
          <p:cNvSpPr/>
          <p:nvPr/>
        </p:nvSpPr>
        <p:spPr>
          <a:xfrm>
            <a:off x="5486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" name="map-dot-0"/>
          <p:cNvSpPr/>
          <p:nvPr/>
        </p:nvSpPr>
        <p:spPr>
          <a:xfrm>
            <a:off x="7498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map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399032"/>
            <a:ext cx="201168" cy="201168"/>
          </a:xfrm>
          <a:prstGeom prst="rect">
            <a:avLst/>
          </a:prstGeom>
        </p:spPr>
      </p:pic>
      <p:sp>
        <p:nvSpPr>
          <p:cNvPr id="6" name="map-group-0"/>
          <p:cNvSpPr txBox="1"/>
          <p:nvPr/>
        </p:nvSpPr>
        <p:spPr>
          <a:xfrm>
            <a:off x="12618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눈</a:t>
            </a:r>
            <a:endParaRPr lang="en-US" sz="1300" dirty="0"/>
          </a:p>
        </p:txBody>
      </p:sp>
      <p:sp>
        <p:nvSpPr>
          <p:cNvPr id="7" name="map-text-0"/>
          <p:cNvSpPr txBox="1"/>
          <p:nvPr/>
        </p:nvSpPr>
        <p:spPr>
          <a:xfrm>
            <a:off x="7498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백내장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다초점 인공수정체</a:t>
            </a:r>
            <a:endParaRPr lang="en-US" sz="1300" dirty="0"/>
          </a:p>
        </p:txBody>
      </p:sp>
      <p:sp>
        <p:nvSpPr>
          <p:cNvPr id="8" name="map-card-1"/>
          <p:cNvSpPr/>
          <p:nvPr/>
        </p:nvSpPr>
        <p:spPr>
          <a:xfrm>
            <a:off x="32918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9" name="map-dot-1"/>
          <p:cNvSpPr/>
          <p:nvPr/>
        </p:nvSpPr>
        <p:spPr>
          <a:xfrm>
            <a:off x="34930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map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399032"/>
            <a:ext cx="201168" cy="201168"/>
          </a:xfrm>
          <a:prstGeom prst="rect">
            <a:avLst/>
          </a:prstGeom>
        </p:spPr>
      </p:pic>
      <p:sp>
        <p:nvSpPr>
          <p:cNvPr id="11" name="map-group-1"/>
          <p:cNvSpPr txBox="1"/>
          <p:nvPr/>
        </p:nvSpPr>
        <p:spPr>
          <a:xfrm>
            <a:off x="40050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암</a:t>
            </a:r>
            <a:endParaRPr lang="en-US" sz="1300" dirty="0"/>
          </a:p>
        </p:txBody>
      </p:sp>
      <p:sp>
        <p:nvSpPr>
          <p:cNvPr id="12" name="map-text-1"/>
          <p:cNvSpPr txBox="1"/>
          <p:nvPr/>
        </p:nvSpPr>
        <p:spPr>
          <a:xfrm>
            <a:off x="34930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전립선암 · 갑상선암 · 자궁암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다빈치 로봇수술</a:t>
            </a:r>
            <a:endParaRPr lang="en-US" sz="1300" dirty="0"/>
          </a:p>
        </p:txBody>
      </p:sp>
      <p:sp>
        <p:nvSpPr>
          <p:cNvPr id="13" name="map-card-2"/>
          <p:cNvSpPr/>
          <p:nvPr/>
        </p:nvSpPr>
        <p:spPr>
          <a:xfrm>
            <a:off x="60350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4" name="map-dot-2"/>
          <p:cNvSpPr/>
          <p:nvPr/>
        </p:nvSpPr>
        <p:spPr>
          <a:xfrm>
            <a:off x="62362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ap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201168" cy="201168"/>
          </a:xfrm>
          <a:prstGeom prst="rect">
            <a:avLst/>
          </a:prstGeom>
        </p:spPr>
      </p:pic>
      <p:sp>
        <p:nvSpPr>
          <p:cNvPr id="16" name="map-group-2"/>
          <p:cNvSpPr txBox="1"/>
          <p:nvPr/>
        </p:nvSpPr>
        <p:spPr>
          <a:xfrm>
            <a:off x="67482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여성</a:t>
            </a:r>
            <a:endParaRPr lang="en-US" sz="1300" dirty="0"/>
          </a:p>
        </p:txBody>
      </p:sp>
      <p:sp>
        <p:nvSpPr>
          <p:cNvPr id="17" name="map-text-2"/>
          <p:cNvSpPr txBox="1"/>
          <p:nvPr/>
        </p:nvSpPr>
        <p:spPr>
          <a:xfrm>
            <a:off x="62362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자궁근종 · 유방 양성종양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하이푸 · 맘모톰</a:t>
            </a:r>
            <a:endParaRPr lang="en-US" sz="1300" dirty="0"/>
          </a:p>
        </p:txBody>
      </p:sp>
      <p:sp>
        <p:nvSpPr>
          <p:cNvPr id="18" name="map-card-3"/>
          <p:cNvSpPr/>
          <p:nvPr/>
        </p:nvSpPr>
        <p:spPr>
          <a:xfrm>
            <a:off x="5486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9" name="map-dot-3"/>
          <p:cNvSpPr/>
          <p:nvPr/>
        </p:nvSpPr>
        <p:spPr>
          <a:xfrm>
            <a:off x="7498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map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090672"/>
            <a:ext cx="201168" cy="201168"/>
          </a:xfrm>
          <a:prstGeom prst="rect">
            <a:avLst/>
          </a:prstGeom>
        </p:spPr>
      </p:pic>
      <p:sp>
        <p:nvSpPr>
          <p:cNvPr id="21" name="map-group-3"/>
          <p:cNvSpPr txBox="1"/>
          <p:nvPr/>
        </p:nvSpPr>
        <p:spPr>
          <a:xfrm>
            <a:off x="12618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혈관</a:t>
            </a:r>
            <a:endParaRPr lang="en-US" sz="1300" dirty="0"/>
          </a:p>
        </p:txBody>
      </p:sp>
      <p:sp>
        <p:nvSpPr>
          <p:cNvPr id="22" name="map-text-3"/>
          <p:cNvSpPr txBox="1"/>
          <p:nvPr/>
        </p:nvSpPr>
        <p:spPr>
          <a:xfrm>
            <a:off x="7498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하지정맥류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고주파 · 베나실</a:t>
            </a:r>
            <a:endParaRPr lang="en-US" sz="1300" dirty="0"/>
          </a:p>
        </p:txBody>
      </p:sp>
      <p:sp>
        <p:nvSpPr>
          <p:cNvPr id="23" name="map-card-4"/>
          <p:cNvSpPr/>
          <p:nvPr/>
        </p:nvSpPr>
        <p:spPr>
          <a:xfrm>
            <a:off x="32918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4" name="map-dot-4"/>
          <p:cNvSpPr/>
          <p:nvPr/>
        </p:nvSpPr>
        <p:spPr>
          <a:xfrm>
            <a:off x="34930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map-icon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3090672"/>
            <a:ext cx="201168" cy="201168"/>
          </a:xfrm>
          <a:prstGeom prst="rect">
            <a:avLst/>
          </a:prstGeom>
        </p:spPr>
      </p:pic>
      <p:sp>
        <p:nvSpPr>
          <p:cNvPr id="26" name="map-group-4"/>
          <p:cNvSpPr txBox="1"/>
          <p:nvPr/>
        </p:nvSpPr>
        <p:spPr>
          <a:xfrm>
            <a:off x="40050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척추 · 관절</a:t>
            </a:r>
            <a:endParaRPr lang="en-US" sz="1300" dirty="0"/>
          </a:p>
        </p:txBody>
      </p:sp>
      <p:sp>
        <p:nvSpPr>
          <p:cNvPr id="27" name="map-text-4"/>
          <p:cNvSpPr txBox="1"/>
          <p:nvPr/>
        </p:nvSpPr>
        <p:spPr>
          <a:xfrm>
            <a:off x="34930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척추협착증 · 무릎관절염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신경성형술 · 골수 주사</a:t>
            </a:r>
            <a:endParaRPr lang="en-US" sz="1300" dirty="0"/>
          </a:p>
        </p:txBody>
      </p:sp>
      <p:sp>
        <p:nvSpPr>
          <p:cNvPr id="28" name="map-card-5"/>
          <p:cNvSpPr/>
          <p:nvPr/>
        </p:nvSpPr>
        <p:spPr>
          <a:xfrm>
            <a:off x="60350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9" name="map-dot-5"/>
          <p:cNvSpPr/>
          <p:nvPr/>
        </p:nvSpPr>
        <p:spPr>
          <a:xfrm>
            <a:off x="62362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map-icon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090672"/>
            <a:ext cx="201168" cy="201168"/>
          </a:xfrm>
          <a:prstGeom prst="rect">
            <a:avLst/>
          </a:prstGeom>
        </p:spPr>
      </p:pic>
      <p:sp>
        <p:nvSpPr>
          <p:cNvPr id="31" name="map-group-5"/>
          <p:cNvSpPr txBox="1"/>
          <p:nvPr/>
        </p:nvSpPr>
        <p:spPr>
          <a:xfrm>
            <a:off x="67482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비뇨</a:t>
            </a:r>
            <a:endParaRPr lang="en-US" sz="1300" dirty="0"/>
          </a:p>
        </p:txBody>
      </p:sp>
      <p:sp>
        <p:nvSpPr>
          <p:cNvPr id="32" name="map-text-5"/>
          <p:cNvSpPr txBox="1"/>
          <p:nvPr/>
        </p:nvSpPr>
        <p:spPr>
          <a:xfrm>
            <a:off x="62362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전립선비대증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전립선 결찰술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실손만 있으면 충분할까요?</a:t>
            </a:r>
            <a:endParaRPr lang="en-US" sz="2600" dirty="0"/>
          </a:p>
        </p:txBody>
      </p:sp>
      <p:sp>
        <p:nvSpPr>
          <p:cNvPr id="3" name="step-card-0"/>
          <p:cNvSpPr/>
          <p:nvPr/>
        </p:nvSpPr>
        <p:spPr>
          <a:xfrm>
            <a:off x="548640" y="1188720"/>
            <a:ext cx="2377440" cy="17373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4" name="step-num-0"/>
          <p:cNvSpPr txBox="1"/>
          <p:nvPr/>
        </p:nvSpPr>
        <p:spPr>
          <a:xfrm>
            <a:off x="777240" y="13716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1,000만원</a:t>
            </a:r>
            <a:endParaRPr lang="en-US" sz="2600" dirty="0"/>
          </a:p>
        </p:txBody>
      </p:sp>
      <p:sp>
        <p:nvSpPr>
          <p:cNvPr id="5" name="step-label-0"/>
          <p:cNvSpPr txBox="1"/>
          <p:nvPr/>
        </p:nvSpPr>
        <p:spPr>
          <a:xfrm>
            <a:off x="777240" y="2057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로봇수술 비용</a:t>
            </a:r>
            <a:endParaRPr lang="en-US" sz="1300" dirty="0"/>
          </a:p>
        </p:txBody>
      </p:sp>
      <p:sp>
        <p:nvSpPr>
          <p:cNvPr id="6" name="step-arrow-0"/>
          <p:cNvSpPr txBox="1"/>
          <p:nvPr/>
        </p:nvSpPr>
        <p:spPr>
          <a:xfrm>
            <a:off x="2926080" y="18288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step-card-1"/>
          <p:cNvSpPr/>
          <p:nvPr/>
        </p:nvSpPr>
        <p:spPr>
          <a:xfrm>
            <a:off x="3291840" y="1188720"/>
            <a:ext cx="2377440" cy="17373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8" name="step-num-1"/>
          <p:cNvSpPr txBox="1"/>
          <p:nvPr/>
        </p:nvSpPr>
        <p:spPr>
          <a:xfrm>
            <a:off x="3520440" y="13716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300만원</a:t>
            </a:r>
            <a:endParaRPr lang="en-US" sz="2600" dirty="0"/>
          </a:p>
        </p:txBody>
      </p:sp>
      <p:sp>
        <p:nvSpPr>
          <p:cNvPr id="9" name="step-label-1"/>
          <p:cNvSpPr txBox="1"/>
          <p:nvPr/>
        </p:nvSpPr>
        <p:spPr>
          <a:xfrm>
            <a:off x="3520440" y="2057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4세대 실손 비급여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자기부담 30%</a:t>
            </a:r>
            <a:endParaRPr lang="en-US" sz="1300" dirty="0"/>
          </a:p>
        </p:txBody>
      </p:sp>
      <p:sp>
        <p:nvSpPr>
          <p:cNvPr id="10" name="step-arrow-1"/>
          <p:cNvSpPr txBox="1"/>
          <p:nvPr/>
        </p:nvSpPr>
        <p:spPr>
          <a:xfrm>
            <a:off x="5669280" y="18288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tep-card-2"/>
          <p:cNvSpPr/>
          <p:nvPr/>
        </p:nvSpPr>
        <p:spPr>
          <a:xfrm>
            <a:off x="6035040" y="1188720"/>
            <a:ext cx="2377440" cy="173736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/>
        </p:spPr>
      </p:sp>
      <p:sp>
        <p:nvSpPr>
          <p:cNvPr id="12" name="step-num-2"/>
          <p:cNvSpPr txBox="1"/>
          <p:nvPr/>
        </p:nvSpPr>
        <p:spPr>
          <a:xfrm>
            <a:off x="6263640" y="13716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정액 수술비</a:t>
            </a:r>
            <a:endParaRPr lang="en-US" sz="2600" dirty="0"/>
          </a:p>
        </p:txBody>
      </p:sp>
      <p:sp>
        <p:nvSpPr>
          <p:cNvPr id="13" name="step-label-2"/>
          <p:cNvSpPr txBox="1"/>
          <p:nvPr/>
        </p:nvSpPr>
        <p:spPr>
          <a:xfrm>
            <a:off x="6263640" y="2057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실손과 별개로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정해진 금액 지급</a:t>
            </a:r>
            <a:endParaRPr lang="en-US" sz="1300" dirty="0"/>
          </a:p>
        </p:txBody>
      </p:sp>
      <p:sp>
        <p:nvSpPr>
          <p:cNvPr id="14" name="sales-bullets"/>
          <p:cNvSpPr txBox="1"/>
          <p:nvPr/>
        </p:nvSpPr>
        <p:spPr>
          <a:xfrm>
            <a:off x="548640" y="31546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비급여 수술은 가격이 병원마다 수 배씩 달라요. 실손은 쓴 만큼 돌려주지만 비급여는 본인 몫이 크게 남아요.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고객 병명(앞 장)으로 해당 수술을 짚고, 정액 수술비 특약으로 남는 부담을 채우는 흐름으로 안내해 보세요.</a:t>
            </a:r>
            <a:endParaRPr lang="en-US" sz="1300" dirty="0"/>
          </a:p>
        </p:txBody>
      </p:sp>
      <p:sp>
        <p:nvSpPr>
          <p:cNvPr id="15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가정값: 1,000만원 × 30% 단순 계산(연간 한도·최소공제·세대별 차이 미반영). 실제 지급은 가입 약관 기준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자료 출처와 읽는 법</a:t>
            </a:r>
            <a:endParaRPr lang="en-US" sz="2600" dirty="0"/>
          </a:p>
        </p:txBody>
      </p:sp>
      <p:sp>
        <p:nvSpPr>
          <p:cNvPr id="3" name="sources"/>
          <p:cNvSpPr txBox="1"/>
          <p:nvPr/>
        </p:nvSpPr>
        <p:spPr>
          <a:xfrm>
            <a:off x="548640" y="114300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보건복지부·심평원 비급여 진료비용 공개 (2022·2025·2026 발표)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보건복지부·국민건강보험공단 비급여 보고제도 분석 (2025.9 진료분)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심평원 비급여 공개 보도: 로봇수술(2016), 하이푸(2021.9 반영)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언론: 데일리팜, 메디칼업저버, 아시아경제, 법률신문, 의학신문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병원 게시가·가격비교: 내손안의닥터, 모두닥, 병원 비급여 고지</a:t>
            </a:r>
            <a:endParaRPr lang="en-US" sz="1300" dirty="0"/>
          </a:p>
        </p:txBody>
      </p:sp>
      <p:sp>
        <p:nvSpPr>
          <p:cNvPr id="4" name="caution-card"/>
          <p:cNvSpPr/>
          <p:nvPr/>
        </p:nvSpPr>
        <p:spPr>
          <a:xfrm>
            <a:off x="5760720" y="1143000"/>
            <a:ext cx="2834640" cy="192024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/>
        </p:spPr>
      </p:sp>
      <p:sp>
        <p:nvSpPr>
          <p:cNvPr id="5" name="caution-text"/>
          <p:cNvSpPr txBox="1"/>
          <p:nvPr/>
        </p:nvSpPr>
        <p:spPr>
          <a:xfrm>
            <a:off x="5989320" y="13258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꼭 알아 두세요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공개 연도·집계 범위가 항목마다 달라요. 고객 안내 전 심평원 '비급여 진료비 정보'에서 최신 가격을 다시 확인하세요.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ss Clean">
  <a:themeElements>
    <a:clrScheme name="Toss Clean">
      <a:dk1>
        <a:srgbClr val="191F28"/>
      </a:dk1>
      <a:lt1>
        <a:srgbClr val="FFFFFF"/>
      </a:lt1>
      <a:dk2>
        <a:srgbClr val="4E5968"/>
      </a:dk2>
      <a:lt2>
        <a:srgbClr val="F2F4F6"/>
      </a:lt2>
      <a:accent1>
        <a:srgbClr val="3182F6"/>
      </a:accent1>
      <a:accent2>
        <a:srgbClr val="E8F3FF"/>
      </a:accent2>
      <a:accent3>
        <a:srgbClr val="8B95A1"/>
      </a:accent3>
      <a:accent4>
        <a:srgbClr val="E5E8EB"/>
      </a:accent4>
      <a:accent5>
        <a:srgbClr val="F04452"/>
      </a:accent5>
      <a:accent6>
        <a:srgbClr val="1B64DA"/>
      </a:accent6>
      <a:hlink>
        <a:srgbClr val="3182F6"/>
      </a:hlink>
      <a:folHlink>
        <a:srgbClr val="1B64DA"/>
      </a:folHlink>
    </a:clrScheme>
    <a:fontScheme name="Toss Clea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비급여 수술·시술 가이드</dc:title>
  <dc:subject>PptxGenJS Presentation</dc:subject>
  <dc:creator>메리츠화재 세일즈혁신</dc:creator>
  <cp:lastModifiedBy>메리츠화재 세일즈혁신</cp:lastModifiedBy>
  <cp:revision>1</cp:revision>
  <dcterms:created xsi:type="dcterms:W3CDTF">2026-10-13T22:13:06Z</dcterms:created>
  <dcterms:modified xsi:type="dcterms:W3CDTF">2026-10-13T22:13:06Z</dcterms:modified>
</cp:coreProperties>
</file>