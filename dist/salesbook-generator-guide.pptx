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c588c79-7051-5647-a9f8-ce3e8f0dc7a2}">
          <p14:sldIdLst>
            <p14:sldId id="256"/>
          </p14:sldIdLst>
        </p14:section>
        <p14:section name="왜 만들었나" id="{c628aa2a-3132-2029-b552-1d3cea6362bb}">
          <p14:sldIdLst>
            <p14:sldId id="257"/>
            <p14:sldId id="258"/>
            <p14:sldId id="259"/>
          </p14:sldIdLst>
        </p14:section>
        <p14:section name="사용 가이드" id="{82a4f1f4-00a4-572c-3710-5e52c9503997}">
          <p14:sldIdLst>
            <p14:sldId id="260"/>
            <p14:sldId id="261"/>
          </p14:sldIdLst>
        </p14:section>
        <p14:section name="결과물" id="{760e2b40-b9e8-ba82-d22d-defd2569b77b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원칙과 구조" id="{61220d2d-ef78-00df-7c0e-46be4fa46747}">
          <p14:sldIdLst>
            <p14:sldId id="269"/>
            <p14:sldId id="270"/>
          </p14:sldIdLst>
        </p14:section>
        <p14:section name="효과와 다음" id="{531546d9-bb47-15d0-cdae-722b82b310e6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세일즈북 자동 생성기 소개 덱. 발표 시 표지 오른쪽은 실제 생성 결과(표지)입니다.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91F28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E5968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세일즈북 자동 생성기 · 세일즈혁신TF · 사내 공모전 제출용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1.png"/><Relationship Id="rId7" Type="http://schemas.openxmlformats.org/officeDocument/2006/relationships/image" Target="../media/image-15-1.png"/><Relationship Id="rId8" Type="http://schemas.openxmlformats.org/officeDocument/2006/relationships/image" Target="../media/image-15-1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9.png"/><Relationship Id="rId13" Type="http://schemas.openxmlformats.org/officeDocument/2006/relationships/image" Target="../media/image-15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"/>
          <p:cNvSpPr/>
          <p:nvPr/>
        </p:nvSpPr>
        <p:spPr>
          <a:xfrm>
            <a:off x="548640" y="82296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3" name="text-2"/>
          <p:cNvSpPr txBox="1"/>
          <p:nvPr/>
        </p:nvSpPr>
        <p:spPr>
          <a:xfrm>
            <a:off x="548640" y="8229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사내 공모전 제출 · 세일즈혁신TF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548640" y="14630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세일즈북 자동 생성기</a:t>
            </a:r>
            <a:endParaRPr lang="en-US" sz="4800" dirty="0"/>
          </a:p>
        </p:txBody>
      </p:sp>
      <p:sp>
        <p:nvSpPr>
          <p:cNvPr id="5" name="text-4"/>
          <p:cNvSpPr txBox="1"/>
          <p:nvPr/>
        </p:nvSpPr>
        <p:spPr>
          <a:xfrm>
            <a:off x="548640" y="2697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상품설명서 PDF 한 장을 넣으면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약관 기준 컨설팅 가이드북이 1분 안에 나옵니다</a:t>
            </a:r>
            <a:endParaRPr lang="en-US" sz="2200" dirty="0"/>
          </a:p>
        </p:txBody>
      </p:sp>
      <p:sp>
        <p:nvSpPr>
          <p:cNvPr id="6" name="text-5"/>
          <p:cNvSpPr txBox="1"/>
          <p:nvPr/>
        </p:nvSpPr>
        <p:spPr>
          <a:xfrm>
            <a:off x="54864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6FF"/>
                </a:solidFill>
              </a:rPr>
              <a:t>사용 가이드 및 제작 취지  ·  2026년 10월</a:t>
            </a:r>
            <a:endParaRPr lang="en-US" sz="1400" dirty="0"/>
          </a:p>
        </p:txBody>
      </p:sp>
      <p:sp>
        <p:nvSpPr>
          <p:cNvPr id="7" name="text-6"/>
          <p:cNvSpPr txBox="1"/>
          <p:nvPr/>
        </p:nvSpPr>
        <p:spPr>
          <a:xfrm>
            <a:off x="548640" y="5943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6FF"/>
                </a:solidFill>
              </a:rPr>
              <a:t>오프라인 단일 HTML  ·  8개 상품  ·  특약 4,338건  ·  설치 없음</a:t>
            </a:r>
            <a:endParaRPr lang="en-US" sz="1200" dirty="0"/>
          </a:p>
        </p:txBody>
      </p:sp>
      <p:pic>
        <p:nvPicPr>
          <p:cNvPr id="8" name="pic-7" descr="shots/pag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685800"/>
            <a:ext cx="3886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한 줄로 말하면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설계사가 고객 앞에서 쓰는 「상품 가이드북」을 사람이 아니라 프로그램이 만듭니다</a:t>
            </a:r>
            <a:endParaRPr lang="en-US" sz="1400" dirty="0"/>
          </a:p>
        </p:txBody>
      </p:sp>
      <p:sp>
        <p:nvSpPr>
          <p:cNvPr id="4" name="text-8"/>
          <p:cNvSpPr txBox="1"/>
          <p:nvPr/>
        </p:nvSpPr>
        <p:spPr>
          <a:xfrm>
            <a:off x="548640" y="1691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E5968"/>
                </a:solidFill>
              </a:rPr>
              <a:t>상품설명서 PDF 를 끌어다 놓으면</a:t>
            </a:r>
            <a:endParaRPr lang="en-US" sz="2000" dirty="0"/>
          </a:p>
        </p:txBody>
      </p:sp>
      <p:sp>
        <p:nvSpPr>
          <p:cNvPr id="5" name="hero-9"/>
          <p:cNvSpPr txBox="1"/>
          <p:nvPr/>
        </p:nvSpPr>
        <p:spPr>
          <a:xfrm>
            <a:off x="548640" y="21488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82F6"/>
                </a:solidFill>
              </a:rPr>
              <a:t>담보표 · 설명문 · Key Point · 면책감액표</a:t>
            </a:r>
            <a:pPr indent="0" marL="0">
              <a:buNone/>
            </a:pPr>
            <a:r>
              <a:rPr lang="en-US" sz="2100" b="1" dirty="0">
                <a:solidFill>
                  <a:srgbClr val="191F28"/>
                </a:solidFill>
              </a:rPr>
              <a:t>를 묶은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91F28"/>
                </a:solidFill>
              </a:rPr>
              <a:t>20쪽 안팎의 가이드북이 자동으로 나옵니다.</a:t>
            </a:r>
            <a:endParaRPr lang="en-US" sz="2100" dirty="0"/>
          </a:p>
        </p:txBody>
      </p:sp>
      <p:sp>
        <p:nvSpPr>
          <p:cNvPr id="6" name="card-10"/>
          <p:cNvSpPr/>
          <p:nvPr/>
        </p:nvSpPr>
        <p:spPr>
          <a:xfrm>
            <a:off x="548640" y="3703320"/>
            <a:ext cx="2148840" cy="1325880"/>
          </a:xfrm>
          <a:prstGeom prst="roundRect">
            <a:avLst>
              <a:gd name="adj" fmla="val 1103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stat-11"/>
          <p:cNvSpPr txBox="1"/>
          <p:nvPr/>
        </p:nvSpPr>
        <p:spPr>
          <a:xfrm>
            <a:off x="777240" y="3886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82F6"/>
                </a:solidFill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 개 상품</a:t>
            </a:r>
            <a:endParaRPr lang="en-US" sz="3400" dirty="0"/>
          </a:p>
        </p:txBody>
      </p:sp>
      <p:sp>
        <p:nvSpPr>
          <p:cNvPr id="8" name="text-12"/>
          <p:cNvSpPr txBox="1"/>
          <p:nvPr/>
        </p:nvSpPr>
        <p:spPr>
          <a:xfrm>
            <a:off x="777240" y="4572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통합간편 · 케어프리 · 또또암 등 약관 내장</a:t>
            </a:r>
            <a:endParaRPr lang="en-US" sz="1200" dirty="0"/>
          </a:p>
        </p:txBody>
      </p:sp>
      <p:sp>
        <p:nvSpPr>
          <p:cNvPr id="9" name="card-13"/>
          <p:cNvSpPr/>
          <p:nvPr/>
        </p:nvSpPr>
        <p:spPr>
          <a:xfrm>
            <a:off x="2880360" y="3703320"/>
            <a:ext cx="2148840" cy="1325880"/>
          </a:xfrm>
          <a:prstGeom prst="roundRect">
            <a:avLst>
              <a:gd name="adj" fmla="val 1103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stat-14"/>
          <p:cNvSpPr txBox="1"/>
          <p:nvPr/>
        </p:nvSpPr>
        <p:spPr>
          <a:xfrm>
            <a:off x="3108960" y="3886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82F6"/>
                </a:solidFill>
              </a:rPr>
              <a:t>4,338</a:t>
            </a:r>
            <a:pPr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 건</a:t>
            </a:r>
            <a:endParaRPr lang="en-US" sz="3400" dirty="0"/>
          </a:p>
        </p:txBody>
      </p:sp>
      <p:sp>
        <p:nvSpPr>
          <p:cNvPr id="11" name="text-15"/>
          <p:cNvSpPr txBox="1"/>
          <p:nvPr/>
        </p:nvSpPr>
        <p:spPr>
          <a:xfrm>
            <a:off x="3108960" y="4572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특약 마스터 · 약관 별표 질병코드 포함</a:t>
            </a:r>
            <a:endParaRPr lang="en-US" sz="1200" dirty="0"/>
          </a:p>
        </p:txBody>
      </p:sp>
      <p:sp>
        <p:nvSpPr>
          <p:cNvPr id="12" name="card-16"/>
          <p:cNvSpPr/>
          <p:nvPr/>
        </p:nvSpPr>
        <p:spPr>
          <a:xfrm>
            <a:off x="5212080" y="3703320"/>
            <a:ext cx="2148840" cy="1325880"/>
          </a:xfrm>
          <a:prstGeom prst="roundRect">
            <a:avLst>
              <a:gd name="adj" fmla="val 1103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stat-17"/>
          <p:cNvSpPr txBox="1"/>
          <p:nvPr/>
        </p:nvSpPr>
        <p:spPr>
          <a:xfrm>
            <a:off x="5440680" y="3886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3B26C"/>
                </a:solidFill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 개</a:t>
            </a:r>
            <a:endParaRPr lang="en-US" sz="3400" dirty="0"/>
          </a:p>
        </p:txBody>
      </p:sp>
      <p:sp>
        <p:nvSpPr>
          <p:cNvPr id="14" name="text-18"/>
          <p:cNvSpPr txBox="1"/>
          <p:nvPr/>
        </p:nvSpPr>
        <p:spPr>
          <a:xfrm>
            <a:off x="5440680" y="4572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추정한 질병코드·금액 — 전부 약관·설계서에서</a:t>
            </a:r>
            <a:endParaRPr lang="en-US" sz="1200" dirty="0"/>
          </a:p>
        </p:txBody>
      </p:sp>
      <p:sp>
        <p:nvSpPr>
          <p:cNvPr id="15" name="text-19"/>
          <p:cNvSpPr txBox="1"/>
          <p:nvPr/>
        </p:nvSpPr>
        <p:spPr>
          <a:xfrm>
            <a:off x="548640" y="5257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※ 생성 소요시간은 테스트 환경(노트북 · 36쪽 설계서) 기준 30~60초. 이 덱의 화면은 개인정보가 없는 테스트용 설계서로 만든 것입니다.</a:t>
            </a:r>
            <a:endParaRPr lang="en-US" sz="1050" dirty="0"/>
          </a:p>
        </p:txBody>
      </p:sp>
      <p:sp>
        <p:nvSpPr>
          <p:cNvPr id="16" name="frame-20"/>
          <p:cNvSpPr/>
          <p:nvPr/>
        </p:nvSpPr>
        <p:spPr>
          <a:xfrm>
            <a:off x="7763256" y="1545336"/>
            <a:ext cx="3493008" cy="4773168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17" name="pic-21" descr="shots/pag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00200"/>
            <a:ext cx="3383280" cy="4663440"/>
          </a:xfrm>
          <a:prstGeom prst="rect">
            <a:avLst/>
          </a:prstGeom>
        </p:spPr>
      </p:pic>
      <p:sp>
        <p:nvSpPr>
          <p:cNvPr id="18" name="badge-22"/>
          <p:cNvSpPr/>
          <p:nvPr/>
        </p:nvSpPr>
        <p:spPr>
          <a:xfrm>
            <a:off x="7818120" y="60350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9" name="text-23"/>
          <p:cNvSpPr txBox="1"/>
          <p:nvPr/>
        </p:nvSpPr>
        <p:spPr>
          <a:xfrm>
            <a:off x="7818120" y="60350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</a:rPr>
              <a:t>자동 생성된 「1장 요약」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지금은 이렇습니다 (AS-IS)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상품은 많고 약관은 두꺼운데, 고객에게 설명할 「한 권」은 누군가 손으로 만들어야 했습니다</a:t>
            </a:r>
            <a:endParaRPr lang="en-US" sz="1400" dirty="0"/>
          </a:p>
        </p:txBody>
      </p:sp>
      <p:sp>
        <p:nvSpPr>
          <p:cNvPr id="4" name="card-24"/>
          <p:cNvSpPr/>
          <p:nvPr/>
        </p:nvSpPr>
        <p:spPr>
          <a:xfrm>
            <a:off x="548640" y="1783080"/>
            <a:ext cx="352044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sp>
        <p:nvSpPr>
          <p:cNvPr id="5" name="circ-25"/>
          <p:cNvSpPr/>
          <p:nvPr/>
        </p:nvSpPr>
        <p:spPr>
          <a:xfrm>
            <a:off x="822960" y="2039112"/>
            <a:ext cx="694944" cy="694944"/>
          </a:xfrm>
          <a:prstGeom prst="ellipse">
            <a:avLst/>
          </a:prstGeom>
          <a:solidFill>
            <a:srgbClr val="FFECEC"/>
          </a:solidFill>
          <a:ln w="12700">
            <a:solidFill>
              <a:srgbClr val="FFECEC"/>
            </a:solidFill>
            <a:prstDash val="solid"/>
          </a:ln>
        </p:spPr>
      </p:sp>
      <p:pic>
        <p:nvPicPr>
          <p:cNvPr id="6" name="icon-26" descr="icons/warn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94560"/>
            <a:ext cx="384048" cy="384048"/>
          </a:xfrm>
          <a:prstGeom prst="rect">
            <a:avLst/>
          </a:prstGeom>
        </p:spPr>
      </p:pic>
      <p:sp>
        <p:nvSpPr>
          <p:cNvPr id="7" name="text-27"/>
          <p:cNvSpPr txBox="1"/>
          <p:nvPr/>
        </p:nvSpPr>
        <p:spPr>
          <a:xfrm>
            <a:off x="8229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</a:rPr>
              <a:t>상품설명서는 「나열」이다</a:t>
            </a:r>
            <a:endParaRPr lang="en-US" sz="1700" dirty="0"/>
          </a:p>
        </p:txBody>
      </p:sp>
      <p:sp>
        <p:nvSpPr>
          <p:cNvPr id="8" name="text-28"/>
          <p:cNvSpPr txBox="1"/>
          <p:nvPr/>
        </p:nvSpPr>
        <p:spPr>
          <a:xfrm>
            <a:off x="822960" y="34290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E5968"/>
                </a:solidFill>
              </a:rPr>
              <a:t>담보명과 가입금액이 수십 줄 이어질 뿐, 왜 이 담보가 중요한지·언제 못 받는지는 적혀 있지 않습니다. 설계사가 머릿속에서 다시 조립해야 합니다.</a:t>
            </a:r>
            <a:endParaRPr lang="en-US" sz="1300" dirty="0"/>
          </a:p>
        </p:txBody>
      </p:sp>
      <p:sp>
        <p:nvSpPr>
          <p:cNvPr id="9" name="card-29"/>
          <p:cNvSpPr/>
          <p:nvPr/>
        </p:nvSpPr>
        <p:spPr>
          <a:xfrm>
            <a:off x="4297680" y="1783080"/>
            <a:ext cx="352044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sp>
        <p:nvSpPr>
          <p:cNvPr id="10" name="circ-30"/>
          <p:cNvSpPr/>
          <p:nvPr/>
        </p:nvSpPr>
        <p:spPr>
          <a:xfrm>
            <a:off x="4572000" y="2039112"/>
            <a:ext cx="694944" cy="694944"/>
          </a:xfrm>
          <a:prstGeom prst="ellipse">
            <a:avLst/>
          </a:prstGeom>
          <a:solidFill>
            <a:srgbClr val="FFECEC"/>
          </a:solidFill>
          <a:ln w="12700">
            <a:solidFill>
              <a:srgbClr val="FFECEC"/>
            </a:solidFill>
            <a:prstDash val="solid"/>
          </a:ln>
        </p:spPr>
      </p:sp>
      <p:pic>
        <p:nvPicPr>
          <p:cNvPr id="11" name="icon-31" descr="icons/book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194560"/>
            <a:ext cx="384048" cy="384048"/>
          </a:xfrm>
          <a:prstGeom prst="rect">
            <a:avLst/>
          </a:prstGeom>
        </p:spPr>
      </p:pic>
      <p:sp>
        <p:nvSpPr>
          <p:cNvPr id="12" name="text-32"/>
          <p:cNvSpPr txBox="1"/>
          <p:nvPr/>
        </p:nvSpPr>
        <p:spPr>
          <a:xfrm>
            <a:off x="457200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</a:rPr>
              <a:t>약관은 수백~천 쪽이다</a:t>
            </a:r>
            <a:endParaRPr lang="en-US" sz="1700" dirty="0"/>
          </a:p>
        </p:txBody>
      </p:sp>
      <p:sp>
        <p:nvSpPr>
          <p:cNvPr id="13" name="text-33"/>
          <p:cNvSpPr txBox="1"/>
          <p:nvPr/>
        </p:nvSpPr>
        <p:spPr>
          <a:xfrm>
            <a:off x="4572000" y="34290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E5968"/>
                </a:solidFill>
              </a:rPr>
              <a:t>질병코드 별표·감액 조건·수가코드는 약관 깊숙이 있습니다. 상담 중 열어 볼 수 없고, 기억에 의존하면 설명이 설계사마다 달라집니다.</a:t>
            </a:r>
            <a:endParaRPr lang="en-US" sz="1300" dirty="0"/>
          </a:p>
        </p:txBody>
      </p:sp>
      <p:sp>
        <p:nvSpPr>
          <p:cNvPr id="14" name="card-34"/>
          <p:cNvSpPr/>
          <p:nvPr/>
        </p:nvSpPr>
        <p:spPr>
          <a:xfrm>
            <a:off x="8046720" y="1783080"/>
            <a:ext cx="352044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sp>
        <p:nvSpPr>
          <p:cNvPr id="15" name="circ-35"/>
          <p:cNvSpPr/>
          <p:nvPr/>
        </p:nvSpPr>
        <p:spPr>
          <a:xfrm>
            <a:off x="8321040" y="2039112"/>
            <a:ext cx="694944" cy="694944"/>
          </a:xfrm>
          <a:prstGeom prst="ellipse">
            <a:avLst/>
          </a:prstGeom>
          <a:solidFill>
            <a:srgbClr val="FFECEC"/>
          </a:solidFill>
          <a:ln w="12700">
            <a:solidFill>
              <a:srgbClr val="FFECEC"/>
            </a:solidFill>
            <a:prstDash val="solid"/>
          </a:ln>
        </p:spPr>
      </p:sp>
      <p:pic>
        <p:nvPicPr>
          <p:cNvPr id="16" name="icon-36" descr="icons/clock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194560"/>
            <a:ext cx="384048" cy="384048"/>
          </a:xfrm>
          <a:prstGeom prst="rect">
            <a:avLst/>
          </a:prstGeom>
        </p:spPr>
      </p:pic>
      <p:sp>
        <p:nvSpPr>
          <p:cNvPr id="17" name="text-37"/>
          <p:cNvSpPr txBox="1"/>
          <p:nvPr/>
        </p:nvSpPr>
        <p:spPr>
          <a:xfrm>
            <a:off x="832104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</a:rPr>
              <a:t>가이드북은 사람이 만든다</a:t>
            </a:r>
            <a:endParaRPr lang="en-US" sz="1700" dirty="0"/>
          </a:p>
        </p:txBody>
      </p:sp>
      <p:sp>
        <p:nvSpPr>
          <p:cNvPr id="18" name="text-38"/>
          <p:cNvSpPr txBox="1"/>
          <p:nvPr/>
        </p:nvSpPr>
        <p:spPr>
          <a:xfrm>
            <a:off x="8321040" y="34290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E5968"/>
                </a:solidFill>
              </a:rPr>
              <a:t>본사가 상품별 가이드북을 수작업으로 편집합니다. 상품 개정·신상품마다 처음부터 다시 만들고, 고객별 설계안에 맞춘 판은 아예 없습니다.</a:t>
            </a:r>
            <a:endParaRPr lang="en-US" sz="1300" dirty="0"/>
          </a:p>
        </p:txBody>
      </p:sp>
      <p:sp>
        <p:nvSpPr>
          <p:cNvPr id="19" name="text-39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</a:rPr>
              <a:t>결과 : 같은 상품을 설계사마다 다르게 설명하고, 좋은 가이드북은 일부 상품에만 존재합니다.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이렇게 바뀝니다 (TO-BE)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설계서 한 장이 들어오면 네 단계를 거쳐 가이드북이 나옵니다 · 전부 설계사 PC 안에서</a:t>
            </a:r>
            <a:endParaRPr lang="en-US" sz="1400" dirty="0"/>
          </a:p>
        </p:txBody>
      </p:sp>
      <p:sp>
        <p:nvSpPr>
          <p:cNvPr id="4" name="card-40"/>
          <p:cNvSpPr/>
          <p:nvPr/>
        </p:nvSpPr>
        <p:spPr>
          <a:xfrm>
            <a:off x="548640" y="1783080"/>
            <a:ext cx="2606040" cy="3566160"/>
          </a:xfrm>
          <a:prstGeom prst="roundRect">
            <a:avLst>
              <a:gd name="adj" fmla="val 561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circ-41"/>
          <p:cNvSpPr/>
          <p:nvPr/>
        </p:nvSpPr>
        <p:spPr>
          <a:xfrm>
            <a:off x="777240" y="199339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con-42" descr="icons/upload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48840"/>
            <a:ext cx="402336" cy="402336"/>
          </a:xfrm>
          <a:prstGeom prst="rect">
            <a:avLst/>
          </a:prstGeom>
        </p:spPr>
      </p:pic>
      <p:sp>
        <p:nvSpPr>
          <p:cNvPr id="7" name="dot-43"/>
          <p:cNvSpPr/>
          <p:nvPr/>
        </p:nvSpPr>
        <p:spPr>
          <a:xfrm>
            <a:off x="2651760" y="1965960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8" name="text-44"/>
          <p:cNvSpPr txBox="1"/>
          <p:nvPr/>
        </p:nvSpPr>
        <p:spPr>
          <a:xfrm>
            <a:off x="26517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-45"/>
          <p:cNvSpPr txBox="1"/>
          <p:nvPr/>
        </p:nvSpPr>
        <p:spPr>
          <a:xfrm>
            <a:off x="77724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설계서 읽기</a:t>
            </a:r>
            <a:endParaRPr lang="en-US" sz="1600" dirty="0"/>
          </a:p>
        </p:txBody>
      </p:sp>
      <p:sp>
        <p:nvSpPr>
          <p:cNvPr id="10" name="text-46"/>
          <p:cNvSpPr txBox="1"/>
          <p:nvPr/>
        </p:nvSpPr>
        <p:spPr>
          <a:xfrm>
            <a:off x="777240" y="33375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</a:rPr>
              <a:t>상품설명서 PDF 에서 담보명 · 가입금액 · 보장내용 설명문을 읽습니다. 줄바꿈으로 끊긴 긴 담보명도 이어 붙입니다.</a:t>
            </a:r>
            <a:endParaRPr lang="en-US" sz="1200" dirty="0"/>
          </a:p>
        </p:txBody>
      </p:sp>
      <p:pic>
        <p:nvPicPr>
          <p:cNvPr id="11" name="icon-47" descr="icons/arrow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3383280"/>
            <a:ext cx="201168" cy="201168"/>
          </a:xfrm>
          <a:prstGeom prst="rect">
            <a:avLst/>
          </a:prstGeom>
        </p:spPr>
      </p:pic>
      <p:sp>
        <p:nvSpPr>
          <p:cNvPr id="12" name="card-48"/>
          <p:cNvSpPr/>
          <p:nvPr/>
        </p:nvSpPr>
        <p:spPr>
          <a:xfrm>
            <a:off x="3383280" y="1783080"/>
            <a:ext cx="2606040" cy="3566160"/>
          </a:xfrm>
          <a:prstGeom prst="roundRect">
            <a:avLst>
              <a:gd name="adj" fmla="val 561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circ-49"/>
          <p:cNvSpPr/>
          <p:nvPr/>
        </p:nvSpPr>
        <p:spPr>
          <a:xfrm>
            <a:off x="3611880" y="199339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con-50" descr="icons/search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2148840"/>
            <a:ext cx="402336" cy="402336"/>
          </a:xfrm>
          <a:prstGeom prst="rect">
            <a:avLst/>
          </a:prstGeom>
        </p:spPr>
      </p:pic>
      <p:sp>
        <p:nvSpPr>
          <p:cNvPr id="15" name="dot-51"/>
          <p:cNvSpPr/>
          <p:nvPr/>
        </p:nvSpPr>
        <p:spPr>
          <a:xfrm>
            <a:off x="5486400" y="1965960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-52"/>
          <p:cNvSpPr txBox="1"/>
          <p:nvPr/>
        </p:nvSpPr>
        <p:spPr>
          <a:xfrm>
            <a:off x="548640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-53"/>
          <p:cNvSpPr txBox="1"/>
          <p:nvPr/>
        </p:nvSpPr>
        <p:spPr>
          <a:xfrm>
            <a:off x="361188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특약 마스터 매칭</a:t>
            </a:r>
            <a:endParaRPr lang="en-US" sz="1600" dirty="0"/>
          </a:p>
        </p:txBody>
      </p:sp>
      <p:sp>
        <p:nvSpPr>
          <p:cNvPr id="18" name="text-54"/>
          <p:cNvSpPr txBox="1"/>
          <p:nvPr/>
        </p:nvSpPr>
        <p:spPr>
          <a:xfrm>
            <a:off x="3611880" y="33375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</a:rPr>
              <a:t>8개 상품 약관에서 뽑은 특약 4,338건과 이름을 맞춰 약관 별표 분류번호 · 제외코드를 붙입니다.</a:t>
            </a:r>
            <a:endParaRPr lang="en-US" sz="1200" dirty="0"/>
          </a:p>
        </p:txBody>
      </p:sp>
      <p:pic>
        <p:nvPicPr>
          <p:cNvPr id="19" name="icon-55" descr="icons/arrow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3383280"/>
            <a:ext cx="201168" cy="201168"/>
          </a:xfrm>
          <a:prstGeom prst="rect">
            <a:avLst/>
          </a:prstGeom>
        </p:spPr>
      </p:pic>
      <p:sp>
        <p:nvSpPr>
          <p:cNvPr id="20" name="card-56"/>
          <p:cNvSpPr/>
          <p:nvPr/>
        </p:nvSpPr>
        <p:spPr>
          <a:xfrm>
            <a:off x="6217920" y="1783080"/>
            <a:ext cx="2606040" cy="3566160"/>
          </a:xfrm>
          <a:prstGeom prst="roundRect">
            <a:avLst>
              <a:gd name="adj" fmla="val 561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circ-57"/>
          <p:cNvSpPr/>
          <p:nvPr/>
        </p:nvSpPr>
        <p:spPr>
          <a:xfrm>
            <a:off x="6446520" y="199339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con-58" descr="icons/spark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148840"/>
            <a:ext cx="402336" cy="402336"/>
          </a:xfrm>
          <a:prstGeom prst="rect">
            <a:avLst/>
          </a:prstGeom>
        </p:spPr>
      </p:pic>
      <p:sp>
        <p:nvSpPr>
          <p:cNvPr id="23" name="dot-59"/>
          <p:cNvSpPr/>
          <p:nvPr/>
        </p:nvSpPr>
        <p:spPr>
          <a:xfrm>
            <a:off x="8321040" y="1965960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4" name="text-60"/>
          <p:cNvSpPr txBox="1"/>
          <p:nvPr/>
        </p:nvSpPr>
        <p:spPr>
          <a:xfrm>
            <a:off x="832104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-61"/>
          <p:cNvSpPr txBox="1"/>
          <p:nvPr/>
        </p:nvSpPr>
        <p:spPr>
          <a:xfrm>
            <a:off x="644652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Key Point 결합</a:t>
            </a:r>
            <a:endParaRPr lang="en-US" sz="1600" dirty="0"/>
          </a:p>
        </p:txBody>
      </p:sp>
      <p:sp>
        <p:nvSpPr>
          <p:cNvPr id="26" name="text-62"/>
          <p:cNvSpPr txBox="1"/>
          <p:nvPr/>
        </p:nvSpPr>
        <p:spPr>
          <a:xfrm>
            <a:off x="6446520" y="33375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</a:rPr>
              <a:t>상담 글 상자 창고(36종)와 용어 풀이 · 자주 묻는 질문을 담보에 맞게 끼워 넣습니다. 빈 자리는 연관 정보로 채웁니다.</a:t>
            </a:r>
            <a:endParaRPr lang="en-US" sz="1200" dirty="0"/>
          </a:p>
        </p:txBody>
      </p:sp>
      <p:pic>
        <p:nvPicPr>
          <p:cNvPr id="27" name="icon-63" descr="icons/arrow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3383280"/>
            <a:ext cx="201168" cy="201168"/>
          </a:xfrm>
          <a:prstGeom prst="rect">
            <a:avLst/>
          </a:prstGeom>
        </p:spPr>
      </p:pic>
      <p:sp>
        <p:nvSpPr>
          <p:cNvPr id="28" name="card-64"/>
          <p:cNvSpPr/>
          <p:nvPr/>
        </p:nvSpPr>
        <p:spPr>
          <a:xfrm>
            <a:off x="9052560" y="1783080"/>
            <a:ext cx="2606040" cy="3566160"/>
          </a:xfrm>
          <a:prstGeom prst="roundRect">
            <a:avLst>
              <a:gd name="adj" fmla="val 561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9" name="circ-65"/>
          <p:cNvSpPr/>
          <p:nvPr/>
        </p:nvSpPr>
        <p:spPr>
          <a:xfrm>
            <a:off x="9281160" y="199339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con-66" descr="icons/printer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08" y="2148840"/>
            <a:ext cx="402336" cy="402336"/>
          </a:xfrm>
          <a:prstGeom prst="rect">
            <a:avLst/>
          </a:prstGeom>
        </p:spPr>
      </p:pic>
      <p:sp>
        <p:nvSpPr>
          <p:cNvPr id="31" name="dot-67"/>
          <p:cNvSpPr/>
          <p:nvPr/>
        </p:nvSpPr>
        <p:spPr>
          <a:xfrm>
            <a:off x="11155680" y="1965960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text-68"/>
          <p:cNvSpPr txBox="1"/>
          <p:nvPr/>
        </p:nvSpPr>
        <p:spPr>
          <a:xfrm>
            <a:off x="1115568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-69"/>
          <p:cNvSpPr txBox="1"/>
          <p:nvPr/>
        </p:nvSpPr>
        <p:spPr>
          <a:xfrm>
            <a:off x="928116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가이드북 출력</a:t>
            </a:r>
            <a:endParaRPr lang="en-US" sz="1600" dirty="0"/>
          </a:p>
        </p:txBody>
      </p:sp>
      <p:sp>
        <p:nvSpPr>
          <p:cNvPr id="34" name="text-70"/>
          <p:cNvSpPr txBox="1"/>
          <p:nvPr/>
        </p:nvSpPr>
        <p:spPr>
          <a:xfrm>
            <a:off x="9281160" y="33375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</a:rPr>
              <a:t>표지 → 1장 요약 → 용어 → 담보 지도 → 갈래별 해설 → 면책감액표 → 뒷표지. 인쇄 또는 PDF 저장.</a:t>
            </a:r>
            <a:endParaRPr lang="en-US" sz="1200" dirty="0"/>
          </a:p>
        </p:txBody>
      </p:sp>
      <p:sp>
        <p:nvSpPr>
          <p:cNvPr id="35" name="card-71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2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36" name="icon-72" descr="icons/lock_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705856"/>
            <a:ext cx="365760" cy="365760"/>
          </a:xfrm>
          <a:prstGeom prst="rect">
            <a:avLst/>
          </a:prstGeom>
        </p:spPr>
      </p:pic>
      <p:sp>
        <p:nvSpPr>
          <p:cNvPr id="37" name="text-73"/>
          <p:cNvSpPr txBox="1"/>
          <p:nvPr/>
        </p:nvSpPr>
        <p:spPr>
          <a:xfrm>
            <a:off x="132588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</a:rPr>
              <a:t>파일은 PC 밖으로 나가지 않습니다. 인터넷 없이 동작하는 HTML 파일 하나(4.7MB)라서 설치 · 서버 · 로그인이 없고, 사내 메일로 보내 바로 쓸 수 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화면은 이것이 전부입니다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왼쪽 조작부 하나 · 오른쪽은 생성된 가이드북 미리보기</a:t>
            </a:r>
            <a:endParaRPr lang="en-US" sz="1400" dirty="0"/>
          </a:p>
        </p:txBody>
      </p:sp>
      <p:sp>
        <p:nvSpPr>
          <p:cNvPr id="4" name="frame-74"/>
          <p:cNvSpPr/>
          <p:nvPr/>
        </p:nvSpPr>
        <p:spPr>
          <a:xfrm>
            <a:off x="493776" y="1636776"/>
            <a:ext cx="3264408" cy="46360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5" name="pic-75" descr="shots/crop_panel_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154680" cy="4526280"/>
          </a:xfrm>
          <a:prstGeom prst="rect">
            <a:avLst/>
          </a:prstGeom>
        </p:spPr>
      </p:pic>
      <p:sp>
        <p:nvSpPr>
          <p:cNvPr id="6" name="dot-76"/>
          <p:cNvSpPr/>
          <p:nvPr/>
        </p:nvSpPr>
        <p:spPr>
          <a:xfrm>
            <a:off x="4206240" y="1801368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-77"/>
          <p:cNvSpPr txBox="1"/>
          <p:nvPr/>
        </p:nvSpPr>
        <p:spPr>
          <a:xfrm>
            <a:off x="420624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-78"/>
          <p:cNvSpPr txBox="1"/>
          <p:nvPr/>
        </p:nvSpPr>
        <p:spPr>
          <a:xfrm>
            <a:off x="4663440" y="17647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상품설명서 PDF 끌어다 놓기</a:t>
            </a:r>
            <a:endParaRPr lang="en-US" sz="1500" dirty="0"/>
          </a:p>
        </p:txBody>
      </p:sp>
      <p:sp>
        <p:nvSpPr>
          <p:cNvPr id="9" name="text-79"/>
          <p:cNvSpPr txBox="1"/>
          <p:nvPr/>
        </p:nvSpPr>
        <p:spPr>
          <a:xfrm>
            <a:off x="4663440" y="21488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</a:rPr>
              <a:t>점선 상자에 파일을 놓거나 클릭해서 고릅니다. 파일은 이 PC 안에서만 읽힙니다.</a:t>
            </a:r>
            <a:endParaRPr lang="en-US" sz="1250" dirty="0"/>
          </a:p>
        </p:txBody>
      </p:sp>
      <p:sp>
        <p:nvSpPr>
          <p:cNvPr id="10" name="dot-80"/>
          <p:cNvSpPr/>
          <p:nvPr/>
        </p:nvSpPr>
        <p:spPr>
          <a:xfrm>
            <a:off x="4206240" y="2916936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1" name="text-81"/>
          <p:cNvSpPr txBox="1"/>
          <p:nvPr/>
        </p:nvSpPr>
        <p:spPr>
          <a:xfrm>
            <a:off x="420624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-82"/>
          <p:cNvSpPr txBox="1"/>
          <p:nvPr/>
        </p:nvSpPr>
        <p:spPr>
          <a:xfrm>
            <a:off x="4663440" y="2880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샘플 2건 내장</a:t>
            </a:r>
            <a:endParaRPr lang="en-US" sz="1500" dirty="0"/>
          </a:p>
        </p:txBody>
      </p:sp>
      <p:sp>
        <p:nvSpPr>
          <p:cNvPr id="13" name="text-83"/>
          <p:cNvSpPr txBox="1"/>
          <p:nvPr/>
        </p:nvSpPr>
        <p:spPr>
          <a:xfrm>
            <a:off x="4663440" y="32644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</a:rPr>
              <a:t>설계서가 없어도 「통합간편 · 내Mom대로 5.10.5」 샘플로 바로 결과를 볼 수 있습니다.</a:t>
            </a:r>
            <a:endParaRPr lang="en-US" sz="1250" dirty="0"/>
          </a:p>
        </p:txBody>
      </p:sp>
      <p:sp>
        <p:nvSpPr>
          <p:cNvPr id="14" name="dot-84"/>
          <p:cNvSpPr/>
          <p:nvPr/>
        </p:nvSpPr>
        <p:spPr>
          <a:xfrm>
            <a:off x="4206240" y="4032504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5" name="text-85"/>
          <p:cNvSpPr txBox="1"/>
          <p:nvPr/>
        </p:nvSpPr>
        <p:spPr>
          <a:xfrm>
            <a:off x="4206240" y="4032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-86"/>
          <p:cNvSpPr txBox="1"/>
          <p:nvPr/>
        </p:nvSpPr>
        <p:spPr>
          <a:xfrm>
            <a:off x="4663440" y="39959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가이드 제목 · 옵션 3개</a:t>
            </a:r>
            <a:endParaRPr lang="en-US" sz="1500" dirty="0"/>
          </a:p>
        </p:txBody>
      </p:sp>
      <p:sp>
        <p:nvSpPr>
          <p:cNvPr id="17" name="text-87"/>
          <p:cNvSpPr txBox="1"/>
          <p:nvPr/>
        </p:nvSpPr>
        <p:spPr>
          <a:xfrm>
            <a:off x="4663440" y="437997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</a:rPr>
              <a:t>Key Point 없는 담보 싣기 · 약관 별표 분류번호 표시 · 설계서 설명문 싣기. 비우면 상품명이 제목이 됩니다.</a:t>
            </a:r>
            <a:endParaRPr lang="en-US" sz="1250" dirty="0"/>
          </a:p>
        </p:txBody>
      </p:sp>
      <p:sp>
        <p:nvSpPr>
          <p:cNvPr id="18" name="dot-88"/>
          <p:cNvSpPr/>
          <p:nvPr/>
        </p:nvSpPr>
        <p:spPr>
          <a:xfrm>
            <a:off x="4206240" y="5148072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9" name="text-89"/>
          <p:cNvSpPr txBox="1"/>
          <p:nvPr/>
        </p:nvSpPr>
        <p:spPr>
          <a:xfrm>
            <a:off x="4206240" y="5148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-90"/>
          <p:cNvSpPr txBox="1"/>
          <p:nvPr/>
        </p:nvSpPr>
        <p:spPr>
          <a:xfrm>
            <a:off x="4663440" y="511149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다시 만들기 · 인쇄 · PDF 저장</a:t>
            </a:r>
            <a:endParaRPr lang="en-US" sz="1500" dirty="0"/>
          </a:p>
        </p:txBody>
      </p:sp>
      <p:sp>
        <p:nvSpPr>
          <p:cNvPr id="21" name="text-91"/>
          <p:cNvSpPr txBox="1"/>
          <p:nvPr/>
        </p:nvSpPr>
        <p:spPr>
          <a:xfrm>
            <a:off x="4663440" y="549554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</a:rPr>
              <a:t>옵션을 바꾼 뒤 다시 만들고, 브라우저 인쇄창에서 「PDF로 저장」을 고르면 끝입니다.</a:t>
            </a:r>
            <a:endParaRPr lang="en-US" sz="1250" dirty="0"/>
          </a:p>
        </p:txBody>
      </p:sp>
      <p:sp>
        <p:nvSpPr>
          <p:cNvPr id="22" name="text-92"/>
          <p:cNvSpPr txBox="1"/>
          <p:nvPr/>
        </p:nvSpPr>
        <p:spPr>
          <a:xfrm>
            <a:off x="4206240" y="61722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설명문은 설계서 뒤쪽 「가입담보 및 보장내용」에서, 분류번호는 약관 별표(특약 마스터)에서, Key Point 는 내장 글 상자 창고에서 옵니다.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사용법은 세 단계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처음 쓰는 설계사도 안내 없이 1분이면 끝납니다</a:t>
            </a:r>
            <a:endParaRPr lang="en-US" sz="1400" dirty="0"/>
          </a:p>
        </p:txBody>
      </p:sp>
      <p:sp>
        <p:nvSpPr>
          <p:cNvPr id="4" name="card-93"/>
          <p:cNvSpPr/>
          <p:nvPr/>
        </p:nvSpPr>
        <p:spPr>
          <a:xfrm>
            <a:off x="548640" y="1783080"/>
            <a:ext cx="5760720" cy="1280160"/>
          </a:xfrm>
          <a:prstGeom prst="roundRect">
            <a:avLst>
              <a:gd name="adj" fmla="val 1142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pic>
        <p:nvPicPr>
          <p:cNvPr id="5" name="icon-94" descr="icons/upload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12848"/>
            <a:ext cx="402336" cy="402336"/>
          </a:xfrm>
          <a:prstGeom prst="rect">
            <a:avLst/>
          </a:prstGeom>
        </p:spPr>
      </p:pic>
      <p:sp>
        <p:nvSpPr>
          <p:cNvPr id="6" name="text-95"/>
          <p:cNvSpPr txBox="1"/>
          <p:nvPr/>
        </p:nvSpPr>
        <p:spPr>
          <a:xfrm>
            <a:off x="1554480" y="1984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1. 넣는다</a:t>
            </a:r>
            <a:endParaRPr lang="en-US" sz="1600" dirty="0"/>
          </a:p>
        </p:txBody>
      </p:sp>
      <p:sp>
        <p:nvSpPr>
          <p:cNvPr id="7" name="text-96"/>
          <p:cNvSpPr txBox="1"/>
          <p:nvPr/>
        </p:nvSpPr>
        <p:spPr>
          <a:xfrm>
            <a:off x="1554480" y="23500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guidebook_proto.html 을 더블클릭해 열고, 고객 설계서(상품설명서 PDF)를 점선 상자에 끌어다 놓습니다.</a:t>
            </a:r>
            <a:endParaRPr lang="en-US" sz="1200" dirty="0"/>
          </a:p>
        </p:txBody>
      </p:sp>
      <p:sp>
        <p:nvSpPr>
          <p:cNvPr id="8" name="card-97"/>
          <p:cNvSpPr/>
          <p:nvPr/>
        </p:nvSpPr>
        <p:spPr>
          <a:xfrm>
            <a:off x="548640" y="3246120"/>
            <a:ext cx="5760720" cy="1280160"/>
          </a:xfrm>
          <a:prstGeom prst="roundRect">
            <a:avLst>
              <a:gd name="adj" fmla="val 11429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9" name="icon-98" descr="icons/ey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675888"/>
            <a:ext cx="402336" cy="402336"/>
          </a:xfrm>
          <a:prstGeom prst="rect">
            <a:avLst/>
          </a:prstGeom>
        </p:spPr>
      </p:pic>
      <p:sp>
        <p:nvSpPr>
          <p:cNvPr id="10" name="text-99"/>
          <p:cNvSpPr txBox="1"/>
          <p:nvPr/>
        </p:nvSpPr>
        <p:spPr>
          <a:xfrm>
            <a:off x="1554480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2. 확인한다</a:t>
            </a:r>
            <a:endParaRPr lang="en-US" sz="1600" dirty="0"/>
          </a:p>
        </p:txBody>
      </p:sp>
      <p:sp>
        <p:nvSpPr>
          <p:cNvPr id="11" name="text-100"/>
          <p:cNvSpPr txBox="1"/>
          <p:nvPr/>
        </p:nvSpPr>
        <p:spPr>
          <a:xfrm>
            <a:off x="1554480" y="38130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상태창에 「담보 ○건 · 특약 마스터 매칭 ○건 · 설명문 읽힘 ○건」이 찍힙니다. 매칭 안 된 담보가 있으면 이름이 그대로 나열됩니다.</a:t>
            </a:r>
            <a:endParaRPr lang="en-US" sz="1200" dirty="0"/>
          </a:p>
        </p:txBody>
      </p:sp>
      <p:sp>
        <p:nvSpPr>
          <p:cNvPr id="12" name="card-101"/>
          <p:cNvSpPr/>
          <p:nvPr/>
        </p:nvSpPr>
        <p:spPr>
          <a:xfrm>
            <a:off x="548640" y="4709160"/>
            <a:ext cx="5760720" cy="1280160"/>
          </a:xfrm>
          <a:prstGeom prst="roundRect">
            <a:avLst>
              <a:gd name="adj" fmla="val 1142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pic>
        <p:nvPicPr>
          <p:cNvPr id="13" name="icon-102" descr="icons/printer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38928"/>
            <a:ext cx="402336" cy="402336"/>
          </a:xfrm>
          <a:prstGeom prst="rect">
            <a:avLst/>
          </a:prstGeom>
        </p:spPr>
      </p:pic>
      <p:sp>
        <p:nvSpPr>
          <p:cNvPr id="14" name="text-103"/>
          <p:cNvSpPr txBox="1"/>
          <p:nvPr/>
        </p:nvSpPr>
        <p:spPr>
          <a:xfrm>
            <a:off x="1554480" y="4910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</a:rPr>
              <a:t>3. 저장한다</a:t>
            </a:r>
            <a:endParaRPr lang="en-US" sz="1600" dirty="0"/>
          </a:p>
        </p:txBody>
      </p:sp>
      <p:sp>
        <p:nvSpPr>
          <p:cNvPr id="15" name="text-104"/>
          <p:cNvSpPr txBox="1"/>
          <p:nvPr/>
        </p:nvSpPr>
        <p:spPr>
          <a:xfrm>
            <a:off x="1554480" y="52760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「인쇄 · PDF로 저장」 → 대상 : PDF로 저장 · 여백 : 없음 · 배경 그래픽 : 켬. A4 세로 20쪽 안팎의 PDF 가 저장됩니다.</a:t>
            </a:r>
            <a:endParaRPr lang="en-US" sz="1200" dirty="0"/>
          </a:p>
        </p:txBody>
      </p:sp>
      <p:sp>
        <p:nvSpPr>
          <p:cNvPr id="16" name="frame-105"/>
          <p:cNvSpPr/>
          <p:nvPr/>
        </p:nvSpPr>
        <p:spPr>
          <a:xfrm>
            <a:off x="6803136" y="1728216"/>
            <a:ext cx="486460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17" name="pic-106" descr="shots/crop_stat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83080"/>
            <a:ext cx="4754880" cy="2267712"/>
          </a:xfrm>
          <a:prstGeom prst="rect">
            <a:avLst/>
          </a:prstGeom>
        </p:spPr>
      </p:pic>
      <p:sp>
        <p:nvSpPr>
          <p:cNvPr id="18" name="badge-107"/>
          <p:cNvSpPr/>
          <p:nvPr/>
        </p:nvSpPr>
        <p:spPr>
          <a:xfrm>
            <a:off x="6858000" y="425196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9" name="text-108"/>
          <p:cNvSpPr txBox="1"/>
          <p:nvPr/>
        </p:nvSpPr>
        <p:spPr>
          <a:xfrm>
            <a:off x="6858000" y="4251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</a:rPr>
              <a:t>상태창 — 무엇을 몇 건 읽었는지 그대로 보여 줍니다</a:t>
            </a:r>
            <a:endParaRPr lang="en-US" sz="1100" dirty="0"/>
          </a:p>
        </p:txBody>
      </p:sp>
      <p:sp>
        <p:nvSpPr>
          <p:cNvPr id="20" name="text-109"/>
          <p:cNvSpPr txBox="1"/>
          <p:nvPr/>
        </p:nvSpPr>
        <p:spPr>
          <a:xfrm>
            <a:off x="6858000" y="4754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설계서가 바뀌거나 상품이 개정돼도 설계사가 할 일은 같습니다. 데이터는 파일을 새로 받으면 갱신됩니다. 매칭 안 된 담보는 이름이 그대로 나열되므로 어느 담보를 보강해야 하는지도 바로 보입니다.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결과물 : 20쪽 가이드북의 구성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순서가 곧 상담 순서입니다 — 요약으로 시작해 갈래별 해설로 깊어지고 면책·감액표로 닫습니다</a:t>
            </a:r>
            <a:endParaRPr lang="en-US" sz="1400" dirty="0"/>
          </a:p>
        </p:txBody>
      </p:sp>
      <p:sp>
        <p:nvSpPr>
          <p:cNvPr id="4" name="frame-110"/>
          <p:cNvSpPr/>
          <p:nvPr/>
        </p:nvSpPr>
        <p:spPr>
          <a:xfrm>
            <a:off x="493776" y="1682496"/>
            <a:ext cx="1801368" cy="2505456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5" name="pic-111" descr="shots/pag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691640" cy="2395728"/>
          </a:xfrm>
          <a:prstGeom prst="rect">
            <a:avLst/>
          </a:prstGeom>
        </p:spPr>
      </p:pic>
      <p:sp>
        <p:nvSpPr>
          <p:cNvPr id="6" name="text-112"/>
          <p:cNvSpPr txBox="1"/>
          <p:nvPr/>
        </p:nvSpPr>
        <p:spPr>
          <a:xfrm>
            <a:off x="548640" y="4224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</a:rPr>
              <a:t>① 표지</a:t>
            </a:r>
            <a:endParaRPr lang="en-US" sz="1150" dirty="0"/>
          </a:p>
        </p:txBody>
      </p:sp>
      <p:sp>
        <p:nvSpPr>
          <p:cNvPr id="7" name="frame-113"/>
          <p:cNvSpPr/>
          <p:nvPr/>
        </p:nvSpPr>
        <p:spPr>
          <a:xfrm>
            <a:off x="2368296" y="1682496"/>
            <a:ext cx="1801368" cy="2505456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8" name="pic-114" descr="shots/page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1691640" cy="2395728"/>
          </a:xfrm>
          <a:prstGeom prst="rect">
            <a:avLst/>
          </a:prstGeom>
        </p:spPr>
      </p:pic>
      <p:sp>
        <p:nvSpPr>
          <p:cNvPr id="9" name="text-115"/>
          <p:cNvSpPr txBox="1"/>
          <p:nvPr/>
        </p:nvSpPr>
        <p:spPr>
          <a:xfrm>
            <a:off x="2423160" y="4224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</a:rPr>
              <a:t>② 1장 요약</a:t>
            </a:r>
            <a:endParaRPr lang="en-US" sz="1150" dirty="0"/>
          </a:p>
        </p:txBody>
      </p:sp>
      <p:sp>
        <p:nvSpPr>
          <p:cNvPr id="10" name="frame-116"/>
          <p:cNvSpPr/>
          <p:nvPr/>
        </p:nvSpPr>
        <p:spPr>
          <a:xfrm>
            <a:off x="4242816" y="1682496"/>
            <a:ext cx="1801368" cy="2505456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11" name="pic-117" descr="shots/page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737360"/>
            <a:ext cx="1691640" cy="2395728"/>
          </a:xfrm>
          <a:prstGeom prst="rect">
            <a:avLst/>
          </a:prstGeom>
        </p:spPr>
      </p:pic>
      <p:sp>
        <p:nvSpPr>
          <p:cNvPr id="12" name="text-118"/>
          <p:cNvSpPr txBox="1"/>
          <p:nvPr/>
        </p:nvSpPr>
        <p:spPr>
          <a:xfrm>
            <a:off x="4297680" y="4224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</a:rPr>
              <a:t>③ 용어 풀이 · 상품 한눈에</a:t>
            </a:r>
            <a:endParaRPr lang="en-US" sz="1150" dirty="0"/>
          </a:p>
        </p:txBody>
      </p:sp>
      <p:sp>
        <p:nvSpPr>
          <p:cNvPr id="13" name="frame-119"/>
          <p:cNvSpPr/>
          <p:nvPr/>
        </p:nvSpPr>
        <p:spPr>
          <a:xfrm>
            <a:off x="6117336" y="1682496"/>
            <a:ext cx="1801368" cy="2505456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14" name="pic-120" descr="shots/page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37360"/>
            <a:ext cx="1691640" cy="2395728"/>
          </a:xfrm>
          <a:prstGeom prst="rect">
            <a:avLst/>
          </a:prstGeom>
        </p:spPr>
      </p:pic>
      <p:sp>
        <p:nvSpPr>
          <p:cNvPr id="15" name="text-121"/>
          <p:cNvSpPr txBox="1"/>
          <p:nvPr/>
        </p:nvSpPr>
        <p:spPr>
          <a:xfrm>
            <a:off x="6172200" y="4224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</a:rPr>
              <a:t>④ 담보 지도</a:t>
            </a:r>
            <a:endParaRPr lang="en-US" sz="1150" dirty="0"/>
          </a:p>
        </p:txBody>
      </p:sp>
      <p:sp>
        <p:nvSpPr>
          <p:cNvPr id="16" name="frame-122"/>
          <p:cNvSpPr/>
          <p:nvPr/>
        </p:nvSpPr>
        <p:spPr>
          <a:xfrm>
            <a:off x="7991856" y="1682496"/>
            <a:ext cx="1801368" cy="2505456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17" name="pic-123" descr="shots/page_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737360"/>
            <a:ext cx="1691640" cy="2395728"/>
          </a:xfrm>
          <a:prstGeom prst="rect">
            <a:avLst/>
          </a:prstGeom>
        </p:spPr>
      </p:pic>
      <p:sp>
        <p:nvSpPr>
          <p:cNvPr id="18" name="text-124"/>
          <p:cNvSpPr txBox="1"/>
          <p:nvPr/>
        </p:nvSpPr>
        <p:spPr>
          <a:xfrm>
            <a:off x="8046720" y="4224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</a:rPr>
              <a:t>⑤ 갈래별 담보 해설 (1~5장)</a:t>
            </a:r>
            <a:endParaRPr lang="en-US" sz="1150" dirty="0"/>
          </a:p>
        </p:txBody>
      </p:sp>
      <p:sp>
        <p:nvSpPr>
          <p:cNvPr id="19" name="frame-125"/>
          <p:cNvSpPr/>
          <p:nvPr/>
        </p:nvSpPr>
        <p:spPr>
          <a:xfrm>
            <a:off x="9866376" y="1682496"/>
            <a:ext cx="1801368" cy="2505456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20" name="pic-126" descr="shots/page_1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1737360"/>
            <a:ext cx="1691640" cy="2395728"/>
          </a:xfrm>
          <a:prstGeom prst="rect">
            <a:avLst/>
          </a:prstGeom>
        </p:spPr>
      </p:pic>
      <p:sp>
        <p:nvSpPr>
          <p:cNvPr id="21" name="text-127"/>
          <p:cNvSpPr txBox="1"/>
          <p:nvPr/>
        </p:nvSpPr>
        <p:spPr>
          <a:xfrm>
            <a:off x="9921240" y="4224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</a:rPr>
              <a:t>⑥ 면책·감액표 · 뒷표지</a:t>
            </a:r>
            <a:endParaRPr lang="en-US" sz="1150" dirty="0"/>
          </a:p>
        </p:txBody>
      </p:sp>
      <p:pic>
        <p:nvPicPr>
          <p:cNvPr id="22" name="icon-128" descr="icons/layers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5029200"/>
            <a:ext cx="329184" cy="329184"/>
          </a:xfrm>
          <a:prstGeom prst="rect">
            <a:avLst/>
          </a:prstGeom>
        </p:spPr>
      </p:pic>
      <p:sp>
        <p:nvSpPr>
          <p:cNvPr id="23" name="text-129"/>
          <p:cNvSpPr txBox="1"/>
          <p:nvPr/>
        </p:nvSpPr>
        <p:spPr>
          <a:xfrm>
            <a:off x="105156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5갈래</a:t>
            </a:r>
            <a:endParaRPr lang="en-US" sz="1400" dirty="0"/>
          </a:p>
        </p:txBody>
      </p:sp>
      <p:sp>
        <p:nvSpPr>
          <p:cNvPr id="24" name="text-130"/>
          <p:cNvSpPr txBox="1"/>
          <p:nvPr/>
        </p:nvSpPr>
        <p:spPr>
          <a:xfrm>
            <a:off x="1051560" y="5349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암 · 뇌심장순환기 · 수술비치료비 · 입원간병 · 상해운전배상기타</a:t>
            </a:r>
            <a:endParaRPr lang="en-US" sz="1150" dirty="0"/>
          </a:p>
        </p:txBody>
      </p:sp>
      <p:pic>
        <p:nvPicPr>
          <p:cNvPr id="25" name="icon-131" descr="icons/tag_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5029200"/>
            <a:ext cx="329184" cy="329184"/>
          </a:xfrm>
          <a:prstGeom prst="rect">
            <a:avLst/>
          </a:prstGeom>
        </p:spPr>
      </p:pic>
      <p:sp>
        <p:nvSpPr>
          <p:cNvPr id="26" name="text-132"/>
          <p:cNvSpPr txBox="1"/>
          <p:nvPr/>
        </p:nvSpPr>
        <p:spPr>
          <a:xfrm>
            <a:off x="480060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쪽마다 장 이름</a:t>
            </a:r>
            <a:endParaRPr lang="en-US" sz="1400" dirty="0"/>
          </a:p>
        </p:txBody>
      </p:sp>
      <p:sp>
        <p:nvSpPr>
          <p:cNvPr id="27" name="text-133"/>
          <p:cNvSpPr txBox="1"/>
          <p:nvPr/>
        </p:nvSpPr>
        <p:spPr>
          <a:xfrm>
            <a:off x="4800600" y="5349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쪽 머리띠에 「1장 암」처럼 장 이름과 쪽수가 붙어 넘기기 쉽습니다</a:t>
            </a:r>
            <a:endParaRPr lang="en-US" sz="1150" dirty="0"/>
          </a:p>
        </p:txBody>
      </p:sp>
      <p:pic>
        <p:nvPicPr>
          <p:cNvPr id="28" name="icon-134" descr="icons/puzzle_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5029200"/>
            <a:ext cx="329184" cy="329184"/>
          </a:xfrm>
          <a:prstGeom prst="rect">
            <a:avLst/>
          </a:prstGeom>
        </p:spPr>
      </p:pic>
      <p:sp>
        <p:nvSpPr>
          <p:cNvPr id="29" name="text-135"/>
          <p:cNvSpPr txBox="1"/>
          <p:nvPr/>
        </p:nvSpPr>
        <p:spPr>
          <a:xfrm>
            <a:off x="854964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빈 자리 자동 채움</a:t>
            </a:r>
            <a:endParaRPr lang="en-US" sz="1400" dirty="0"/>
          </a:p>
        </p:txBody>
      </p:sp>
      <p:sp>
        <p:nvSpPr>
          <p:cNvPr id="30" name="text-136"/>
          <p:cNvSpPr txBox="1"/>
          <p:nvPr/>
        </p:nvSpPr>
        <p:spPr>
          <a:xfrm>
            <a:off x="8549640" y="5349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여백이 남으면 그 갈래의 연관 정보 카드(25종)를 넣어 빈 쪽을 만들지 않습니다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표지와 「1장 요약」이 자동으로 써집니다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상품명 · 피보험자 · 계약사항은 설계서에서, 숫자는 담보 목록을 세어서</a:t>
            </a:r>
            <a:endParaRPr lang="en-US" sz="1400" dirty="0"/>
          </a:p>
        </p:txBody>
      </p:sp>
      <p:sp>
        <p:nvSpPr>
          <p:cNvPr id="4" name="frame-137"/>
          <p:cNvSpPr/>
          <p:nvPr/>
        </p:nvSpPr>
        <p:spPr>
          <a:xfrm>
            <a:off x="493776" y="1636776"/>
            <a:ext cx="3310128" cy="463600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5" name="pic-138" descr="shots/pag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200400" cy="4526280"/>
          </a:xfrm>
          <a:prstGeom prst="rect">
            <a:avLst/>
          </a:prstGeom>
        </p:spPr>
      </p:pic>
      <p:sp>
        <p:nvSpPr>
          <p:cNvPr id="6" name="frame-139"/>
          <p:cNvSpPr/>
          <p:nvPr/>
        </p:nvSpPr>
        <p:spPr>
          <a:xfrm>
            <a:off x="4059936" y="1636776"/>
            <a:ext cx="3310128" cy="463600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7" name="pic-140" descr="shots/page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691640"/>
            <a:ext cx="3200400" cy="4526280"/>
          </a:xfrm>
          <a:prstGeom prst="rect">
            <a:avLst/>
          </a:prstGeom>
        </p:spPr>
      </p:pic>
      <p:sp>
        <p:nvSpPr>
          <p:cNvPr id="8" name="text-141"/>
          <p:cNvSpPr txBox="1"/>
          <p:nvPr/>
        </p:nvSpPr>
        <p:spPr>
          <a:xfrm>
            <a:off x="77724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182F6"/>
                </a:solidFill>
              </a:rPr>
              <a:t>상품 한 장 요약</a:t>
            </a:r>
            <a:endParaRPr lang="en-US" sz="1450" dirty="0"/>
          </a:p>
        </p:txBody>
      </p:sp>
      <p:sp>
        <p:nvSpPr>
          <p:cNvPr id="9" name="text-142"/>
          <p:cNvSpPr txBox="1"/>
          <p:nvPr/>
        </p:nvSpPr>
        <p:spPr>
          <a:xfrm>
            <a:off x="777240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가입 담보 수 · 월 보험료 · Key Point 수를 큰 숫자로. 지급액 계산은 하지 않습니다(설계서에 있는 숫자만).</a:t>
            </a:r>
            <a:endParaRPr lang="en-US" sz="1200" dirty="0"/>
          </a:p>
        </p:txBody>
      </p:sp>
      <p:sp>
        <p:nvSpPr>
          <p:cNvPr id="10" name="text-143"/>
          <p:cNvSpPr txBox="1"/>
          <p:nvPr/>
        </p:nvSpPr>
        <p:spPr>
          <a:xfrm>
            <a:off x="7772400" y="2852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182F6"/>
                </a:solidFill>
              </a:rPr>
              <a:t>5갈래 타일</a:t>
            </a:r>
            <a:endParaRPr lang="en-US" sz="1450" dirty="0"/>
          </a:p>
        </p:txBody>
      </p:sp>
      <p:sp>
        <p:nvSpPr>
          <p:cNvPr id="11" name="text-144"/>
          <p:cNvSpPr txBox="1"/>
          <p:nvPr/>
        </p:nvSpPr>
        <p:spPr>
          <a:xfrm>
            <a:off x="7772400" y="32186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갈래마다 담보 건수와 대표 담보 4개(가입금액 큰 순). 어느 층이 두터운 설계인지 한눈에.</a:t>
            </a:r>
            <a:endParaRPr lang="en-US" sz="1200" dirty="0"/>
          </a:p>
        </p:txBody>
      </p:sp>
      <p:sp>
        <p:nvSpPr>
          <p:cNvPr id="12" name="text-145"/>
          <p:cNvSpPr txBox="1"/>
          <p:nvPr/>
        </p:nvSpPr>
        <p:spPr>
          <a:xfrm>
            <a:off x="7772400" y="39684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182F6"/>
                </a:solidFill>
              </a:rPr>
              <a:t>가입 첫 해 조건</a:t>
            </a:r>
            <a:endParaRPr lang="en-US" sz="1450" dirty="0"/>
          </a:p>
        </p:txBody>
      </p:sp>
      <p:sp>
        <p:nvSpPr>
          <p:cNvPr id="13" name="text-146"/>
          <p:cNvSpPr txBox="1"/>
          <p:nvPr/>
        </p:nvSpPr>
        <p:spPr>
          <a:xfrm>
            <a:off x="7772400" y="433425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설명문에서 읽은 보장개시일(면책) · 1년 미만 감액 · 90일 미만 감액 담보 수. 읽은 것만 셉니다.</a:t>
            </a:r>
            <a:endParaRPr lang="en-US" sz="1200" dirty="0"/>
          </a:p>
        </p:txBody>
      </p:sp>
      <p:sp>
        <p:nvSpPr>
          <p:cNvPr id="14" name="text-147"/>
          <p:cNvSpPr txBox="1"/>
          <p:nvPr/>
        </p:nvSpPr>
        <p:spPr>
          <a:xfrm>
            <a:off x="7772400" y="5084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182F6"/>
                </a:solidFill>
              </a:rPr>
              <a:t>상담 3층 구조</a:t>
            </a:r>
            <a:endParaRPr lang="en-US" sz="1450" dirty="0"/>
          </a:p>
        </p:txBody>
      </p:sp>
      <p:sp>
        <p:nvSpPr>
          <p:cNvPr id="15" name="text-148"/>
          <p:cNvSpPr txBox="1"/>
          <p:nvPr/>
        </p:nvSpPr>
        <p:spPr>
          <a:xfrm>
            <a:off x="7772400" y="544982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걸리면 한 번 크게(진단비) → 치료할 때마다(치료비·수술비) → 병원에 있는 동안(입원일당·간병). 담보를 세 층으로 재분류.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「1장 요약」 안쪽 : 설계사가 첫 3분에 말할 것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타일 → 첫 해 조건 → 3층 구조 → Key Point 8개. 이 한 쪽만 들고도 상담이 시작됩니다</a:t>
            </a:r>
            <a:endParaRPr lang="en-US" sz="1400" dirty="0"/>
          </a:p>
        </p:txBody>
      </p:sp>
      <p:sp>
        <p:nvSpPr>
          <p:cNvPr id="4" name="frame-149"/>
          <p:cNvSpPr/>
          <p:nvPr/>
        </p:nvSpPr>
        <p:spPr>
          <a:xfrm>
            <a:off x="493776" y="1636776"/>
            <a:ext cx="7059168" cy="2167128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5" name="pic-150" descr="shots/crop_t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949440" cy="2057400"/>
          </a:xfrm>
          <a:prstGeom prst="rect">
            <a:avLst/>
          </a:prstGeom>
        </p:spPr>
      </p:pic>
      <p:sp>
        <p:nvSpPr>
          <p:cNvPr id="6" name="frame-151"/>
          <p:cNvSpPr/>
          <p:nvPr/>
        </p:nvSpPr>
        <p:spPr>
          <a:xfrm>
            <a:off x="493776" y="3922776"/>
            <a:ext cx="705916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7" name="pic-152" descr="shots/crop_firsty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40"/>
            <a:ext cx="6949440" cy="2103120"/>
          </a:xfrm>
          <a:prstGeom prst="rect">
            <a:avLst/>
          </a:prstGeom>
        </p:spPr>
      </p:pic>
      <p:pic>
        <p:nvPicPr>
          <p:cNvPr id="8" name="icon-153" descr="icons/check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55648"/>
            <a:ext cx="274320" cy="274320"/>
          </a:xfrm>
          <a:prstGeom prst="rect">
            <a:avLst/>
          </a:prstGeom>
        </p:spPr>
      </p:pic>
      <p:sp>
        <p:nvSpPr>
          <p:cNvPr id="9" name="text-154"/>
          <p:cNvSpPr txBox="1"/>
          <p:nvPr/>
        </p:nvSpPr>
        <p:spPr>
          <a:xfrm>
            <a:off x="813816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갈래 색이 곧 장 색</a:t>
            </a:r>
            <a:endParaRPr lang="en-US" sz="1450" dirty="0"/>
          </a:p>
        </p:txBody>
      </p:sp>
      <p:sp>
        <p:nvSpPr>
          <p:cNvPr id="10" name="text-155"/>
          <p:cNvSpPr txBox="1"/>
          <p:nvPr/>
        </p:nvSpPr>
        <p:spPr>
          <a:xfrm>
            <a:off x="8138160" y="21214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암은 빨강, 뇌·심장은 파랑, 수술비는 초록, 입원·간병은 주황, 상해·기타는 회색. 본문 장 머리띠도 같은 색입니다.</a:t>
            </a:r>
            <a:endParaRPr lang="en-US" sz="1200" dirty="0"/>
          </a:p>
        </p:txBody>
      </p:sp>
      <p:pic>
        <p:nvPicPr>
          <p:cNvPr id="11" name="icon-156" descr="icons/check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218688"/>
            <a:ext cx="274320" cy="274320"/>
          </a:xfrm>
          <a:prstGeom prst="rect">
            <a:avLst/>
          </a:prstGeom>
        </p:spPr>
      </p:pic>
      <p:sp>
        <p:nvSpPr>
          <p:cNvPr id="12" name="text-157"/>
          <p:cNvSpPr txBox="1"/>
          <p:nvPr/>
        </p:nvSpPr>
        <p:spPr>
          <a:xfrm>
            <a:off x="813816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「읽은 것만」 세는 원칙</a:t>
            </a:r>
            <a:endParaRPr lang="en-US" sz="1450" dirty="0"/>
          </a:p>
        </p:txBody>
      </p:sp>
      <p:sp>
        <p:nvSpPr>
          <p:cNvPr id="13" name="text-158"/>
          <p:cNvSpPr txBox="1"/>
          <p:nvPr/>
        </p:nvSpPr>
        <p:spPr>
          <a:xfrm>
            <a:off x="8138160" y="35844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면책 4건 · 1년 미만 감액 5건 · 90일 미만 0건은 설명문에서 실제로 읽힌 담보만 센 숫자입니다. 설명문이 없는 샘플에서는 0으로 나오고, 그 사실을 옆에 적습니다.</a:t>
            </a:r>
            <a:endParaRPr lang="en-US" sz="1200" dirty="0"/>
          </a:p>
        </p:txBody>
      </p:sp>
      <p:pic>
        <p:nvPicPr>
          <p:cNvPr id="14" name="icon-159" descr="icons/check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681728"/>
            <a:ext cx="274320" cy="274320"/>
          </a:xfrm>
          <a:prstGeom prst="rect">
            <a:avLst/>
          </a:prstGeom>
        </p:spPr>
      </p:pic>
      <p:sp>
        <p:nvSpPr>
          <p:cNvPr id="15" name="text-160"/>
          <p:cNvSpPr txBox="1"/>
          <p:nvPr/>
        </p:nvSpPr>
        <p:spPr>
          <a:xfrm>
            <a:off x="813816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Key Point 칩 8개</a:t>
            </a:r>
            <a:endParaRPr lang="en-US" sz="1450" dirty="0"/>
          </a:p>
        </p:txBody>
      </p:sp>
      <p:sp>
        <p:nvSpPr>
          <p:cNvPr id="16" name="text-161"/>
          <p:cNvSpPr txBox="1"/>
          <p:nvPr/>
        </p:nvSpPr>
        <p:spPr>
          <a:xfrm>
            <a:off x="8138160" y="504748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전체 Key Point 중 8개를 칩으로 미리 보여 주고, 본문 오른쪽 점선 상자에서 자세히 설명합니다.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용어 풀이 · 상품 한눈에 보기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고객에게 쓰는 말부터 통일합니다 — 본문에 나오는 용어 17개를 한 쪽에</a:t>
            </a:r>
            <a:endParaRPr lang="en-US" sz="1400" dirty="0"/>
          </a:p>
        </p:txBody>
      </p:sp>
      <p:sp>
        <p:nvSpPr>
          <p:cNvPr id="4" name="frame-162"/>
          <p:cNvSpPr/>
          <p:nvPr/>
        </p:nvSpPr>
        <p:spPr>
          <a:xfrm>
            <a:off x="493776" y="1636776"/>
            <a:ext cx="3310128" cy="463600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5" name="pic-163" descr="shots/pag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200400" cy="4526280"/>
          </a:xfrm>
          <a:prstGeom prst="rect">
            <a:avLst/>
          </a:prstGeom>
        </p:spPr>
      </p:pic>
      <p:sp>
        <p:nvSpPr>
          <p:cNvPr id="6" name="circ-164"/>
          <p:cNvSpPr/>
          <p:nvPr/>
        </p:nvSpPr>
        <p:spPr>
          <a:xfrm>
            <a:off x="4005072" y="1600200"/>
            <a:ext cx="621792" cy="621792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7" name="icon-165" descr="icons/bulb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755648"/>
            <a:ext cx="310896" cy="310896"/>
          </a:xfrm>
          <a:prstGeom prst="rect">
            <a:avLst/>
          </a:prstGeom>
        </p:spPr>
      </p:pic>
      <p:sp>
        <p:nvSpPr>
          <p:cNvPr id="8" name="text-166"/>
          <p:cNvSpPr txBox="1"/>
          <p:nvPr/>
        </p:nvSpPr>
        <p:spPr>
          <a:xfrm>
            <a:off x="4754880" y="1737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용어 17개를 「고객 말」로</a:t>
            </a:r>
            <a:endParaRPr lang="en-US" sz="1450" dirty="0"/>
          </a:p>
        </p:txBody>
      </p:sp>
      <p:sp>
        <p:nvSpPr>
          <p:cNvPr id="9" name="text-167"/>
          <p:cNvSpPr txBox="1"/>
          <p:nvPr/>
        </p:nvSpPr>
        <p:spPr>
          <a:xfrm>
            <a:off x="4754880" y="212140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유사암 · 암보장개시일 · 통합치료비 · 비급여 · 전액본인부담 · 산정특례 … 한 줄 정의로. 설계사마다 다르던 설명이 같아집니다.</a:t>
            </a:r>
            <a:endParaRPr lang="en-US" sz="1200" dirty="0"/>
          </a:p>
        </p:txBody>
      </p:sp>
      <p:sp>
        <p:nvSpPr>
          <p:cNvPr id="10" name="circ-168"/>
          <p:cNvSpPr/>
          <p:nvPr/>
        </p:nvSpPr>
        <p:spPr>
          <a:xfrm>
            <a:off x="4005072" y="2715768"/>
            <a:ext cx="621792" cy="621792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11" name="icon-169" descr="icons/doc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871216"/>
            <a:ext cx="310896" cy="310896"/>
          </a:xfrm>
          <a:prstGeom prst="rect">
            <a:avLst/>
          </a:prstGeom>
        </p:spPr>
      </p:pic>
      <p:sp>
        <p:nvSpPr>
          <p:cNvPr id="12" name="text-170"/>
          <p:cNvSpPr txBox="1"/>
          <p:nvPr/>
        </p:nvSpPr>
        <p:spPr>
          <a:xfrm>
            <a:off x="475488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상품 한눈에 보기</a:t>
            </a:r>
            <a:endParaRPr lang="en-US" sz="1450" dirty="0"/>
          </a:p>
        </p:txBody>
      </p:sp>
      <p:sp>
        <p:nvSpPr>
          <p:cNvPr id="13" name="text-171"/>
          <p:cNvSpPr txBox="1"/>
          <p:nvPr/>
        </p:nvSpPr>
        <p:spPr>
          <a:xfrm>
            <a:off x="4754880" y="323697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상품명 · 피보험자 · 계약사항 · 월 보험료 · 가입담보(갈래별 건수) · 특약 마스터 매칭 결과. 어느 약관으로 읽었는지 적어 둡니다.</a:t>
            </a:r>
            <a:endParaRPr lang="en-US" sz="1200" dirty="0"/>
          </a:p>
        </p:txBody>
      </p:sp>
      <p:sp>
        <p:nvSpPr>
          <p:cNvPr id="14" name="circ-172"/>
          <p:cNvSpPr/>
          <p:nvPr/>
        </p:nvSpPr>
        <p:spPr>
          <a:xfrm>
            <a:off x="4005072" y="3831336"/>
            <a:ext cx="621792" cy="621792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15" name="icon-173" descr="icons/chat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986784"/>
            <a:ext cx="310896" cy="310896"/>
          </a:xfrm>
          <a:prstGeom prst="rect">
            <a:avLst/>
          </a:prstGeom>
        </p:spPr>
      </p:pic>
      <p:sp>
        <p:nvSpPr>
          <p:cNvPr id="16" name="text-174"/>
          <p:cNvSpPr txBox="1"/>
          <p:nvPr/>
        </p:nvSpPr>
        <p:spPr>
          <a:xfrm>
            <a:off x="4754880" y="39684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이 가이드 읽는 법</a:t>
            </a:r>
            <a:endParaRPr lang="en-US" sz="1450" dirty="0"/>
          </a:p>
        </p:txBody>
      </p:sp>
      <p:sp>
        <p:nvSpPr>
          <p:cNvPr id="17" name="text-175"/>
          <p:cNvSpPr txBox="1"/>
          <p:nvPr/>
        </p:nvSpPr>
        <p:spPr>
          <a:xfrm>
            <a:off x="4754880" y="435254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왼쪽은 설계서의 담보명·금액과 약관 요약 설명문, 오른쪽은 Key Point. 「추정한 코드·금액은 없다」는 문장이 매 가이드에 들어갑니다.</a:t>
            </a:r>
            <a:endParaRPr lang="en-US" sz="1200" dirty="0"/>
          </a:p>
        </p:txBody>
      </p:sp>
      <p:sp>
        <p:nvSpPr>
          <p:cNvPr id="18" name="circ-176"/>
          <p:cNvSpPr/>
          <p:nvPr/>
        </p:nvSpPr>
        <p:spPr>
          <a:xfrm>
            <a:off x="4005072" y="4946904"/>
            <a:ext cx="621792" cy="621792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19" name="icon-177" descr="icons/layers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5102352"/>
            <a:ext cx="310896" cy="310896"/>
          </a:xfrm>
          <a:prstGeom prst="rect">
            <a:avLst/>
          </a:prstGeom>
        </p:spPr>
      </p:pic>
      <p:sp>
        <p:nvSpPr>
          <p:cNvPr id="20" name="text-178"/>
          <p:cNvSpPr txBox="1"/>
          <p:nvPr/>
        </p:nvSpPr>
        <p:spPr>
          <a:xfrm>
            <a:off x="4754880" y="50840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세 층으로 설명하면 쉽습니다</a:t>
            </a:r>
            <a:endParaRPr lang="en-US" sz="1450" dirty="0"/>
          </a:p>
        </p:txBody>
      </p:sp>
      <p:sp>
        <p:nvSpPr>
          <p:cNvPr id="21" name="text-179"/>
          <p:cNvSpPr txBox="1"/>
          <p:nvPr/>
        </p:nvSpPr>
        <p:spPr>
          <a:xfrm>
            <a:off x="4754880" y="546811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진단비 → 치료비 → 입원일당의 3층 구조를 상담 틀로 제안합니다.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담보 지도 : 갈래별 담보 · 면책·감액 · 가입금액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설계서의 긴 담보 목록을 갈래별로 다시 묶고, 가운데에 면책·감액 조건을 세웁니다</a:t>
            </a:r>
            <a:endParaRPr lang="en-US" sz="1400" dirty="0"/>
          </a:p>
        </p:txBody>
      </p:sp>
      <p:sp>
        <p:nvSpPr>
          <p:cNvPr id="4" name="frame-180"/>
          <p:cNvSpPr/>
          <p:nvPr/>
        </p:nvSpPr>
        <p:spPr>
          <a:xfrm>
            <a:off x="493776" y="1636776"/>
            <a:ext cx="6784848" cy="4178808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5" name="pic-181" descr="shots/crop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675120" cy="4069080"/>
          </a:xfrm>
          <a:prstGeom prst="rect">
            <a:avLst/>
          </a:prstGeom>
        </p:spPr>
      </p:pic>
      <p:sp>
        <p:nvSpPr>
          <p:cNvPr id="6" name="dot-182"/>
          <p:cNvSpPr/>
          <p:nvPr/>
        </p:nvSpPr>
        <p:spPr>
          <a:xfrm>
            <a:off x="7498080" y="1755648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-183"/>
          <p:cNvSpPr txBox="1"/>
          <p:nvPr/>
        </p:nvSpPr>
        <p:spPr>
          <a:xfrm>
            <a:off x="749808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-184"/>
          <p:cNvSpPr txBox="1"/>
          <p:nvPr/>
        </p:nvSpPr>
        <p:spPr>
          <a:xfrm>
            <a:off x="79552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가운데 칸 = 면책 · 감액</a:t>
            </a:r>
            <a:endParaRPr lang="en-US" sz="1450" dirty="0"/>
          </a:p>
        </p:txBody>
      </p:sp>
      <p:sp>
        <p:nvSpPr>
          <p:cNvPr id="9" name="text-185"/>
          <p:cNvSpPr txBox="1"/>
          <p:nvPr/>
        </p:nvSpPr>
        <p:spPr>
          <a:xfrm>
            <a:off x="7955280" y="21214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「면책 90일」 「1년 미만 50%」 처럼 설명문에서 읽은 조건만 적습니다. 읽은 것이 없으면 빈 줄(—)로 두고 추정하지 않습니다.</a:t>
            </a:r>
            <a:endParaRPr lang="en-US" sz="1200" dirty="0"/>
          </a:p>
        </p:txBody>
      </p:sp>
      <p:sp>
        <p:nvSpPr>
          <p:cNvPr id="10" name="dot-186"/>
          <p:cNvSpPr/>
          <p:nvPr/>
        </p:nvSpPr>
        <p:spPr>
          <a:xfrm>
            <a:off x="7498080" y="3127248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1" name="text-187"/>
          <p:cNvSpPr txBox="1"/>
          <p:nvPr/>
        </p:nvSpPr>
        <p:spPr>
          <a:xfrm>
            <a:off x="749808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-188"/>
          <p:cNvSpPr txBox="1"/>
          <p:nvPr/>
        </p:nvSpPr>
        <p:spPr>
          <a:xfrm>
            <a:off x="795528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한 상자가 쪽을 넘지 않게</a:t>
            </a:r>
            <a:endParaRPr lang="en-US" sz="1450" dirty="0"/>
          </a:p>
        </p:txBody>
      </p:sp>
      <p:sp>
        <p:nvSpPr>
          <p:cNvPr id="13" name="text-189"/>
          <p:cNvSpPr txBox="1"/>
          <p:nvPr/>
        </p:nvSpPr>
        <p:spPr>
          <a:xfrm>
            <a:off x="7955280" y="34930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24줄씩 끊어 「— 계속」 상자로 이어집니다. 글자가 지면 밖으로 밀리는 일이 없도록 자동 점검합니다.</a:t>
            </a:r>
            <a:endParaRPr lang="en-US" sz="1200" dirty="0"/>
          </a:p>
        </p:txBody>
      </p:sp>
      <p:sp>
        <p:nvSpPr>
          <p:cNvPr id="14" name="dot-190"/>
          <p:cNvSpPr/>
          <p:nvPr/>
        </p:nvSpPr>
        <p:spPr>
          <a:xfrm>
            <a:off x="7498080" y="4498848"/>
            <a:ext cx="329184" cy="32918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5" name="text-191"/>
          <p:cNvSpPr txBox="1"/>
          <p:nvPr/>
        </p:nvSpPr>
        <p:spPr>
          <a:xfrm>
            <a:off x="749808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-192"/>
          <p:cNvSpPr txBox="1"/>
          <p:nvPr/>
        </p:nvSpPr>
        <p:spPr>
          <a:xfrm>
            <a:off x="7955280" y="4480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</a:rPr>
              <a:t>단위 만원 · 가입금액 큰 글씨</a:t>
            </a:r>
            <a:endParaRPr lang="en-US" sz="1450" dirty="0"/>
          </a:p>
        </p:txBody>
      </p:sp>
      <p:sp>
        <p:nvSpPr>
          <p:cNvPr id="17" name="text-193"/>
          <p:cNvSpPr txBox="1"/>
          <p:nvPr/>
        </p:nvSpPr>
        <p:spPr>
          <a:xfrm>
            <a:off x="7955280" y="48646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고객이 묻는 「그래서 얼마짜리예요?」에 바로 답할 수 있게 오른쪽 끝에 굵게.</a:t>
            </a:r>
            <a:endParaRPr lang="en-US" sz="1200" dirty="0"/>
          </a:p>
        </p:txBody>
      </p:sp>
      <p:sp>
        <p:nvSpPr>
          <p:cNvPr id="18" name="text-194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※ 처음 설계에는 「최대 가입금액 막대」가 있었으나 현장 의견으로 빼고 면책·감액 칸으로 바꿨습니다.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갈래별 담보 해설 : 왼쪽은 사실, 오른쪽은 말하는 법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담보표(설계서·약관) + Key Point(상담 글 상자) + 자주 나오는 질문</a:t>
            </a:r>
            <a:endParaRPr lang="en-US" sz="1400" dirty="0"/>
          </a:p>
        </p:txBody>
      </p:sp>
      <p:sp>
        <p:nvSpPr>
          <p:cNvPr id="4" name="frame-195"/>
          <p:cNvSpPr/>
          <p:nvPr/>
        </p:nvSpPr>
        <p:spPr>
          <a:xfrm>
            <a:off x="493776" y="1636776"/>
            <a:ext cx="5504688" cy="2304288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5" name="pic-196" descr="shots/crop_rider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2194560"/>
          </a:xfrm>
          <a:prstGeom prst="rect">
            <a:avLst/>
          </a:prstGeom>
        </p:spPr>
      </p:pic>
      <p:sp>
        <p:nvSpPr>
          <p:cNvPr id="6" name="frame-197"/>
          <p:cNvSpPr/>
          <p:nvPr/>
        </p:nvSpPr>
        <p:spPr>
          <a:xfrm>
            <a:off x="6208776" y="1636776"/>
            <a:ext cx="5458968" cy="2304288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7" name="pic-198" descr="shots/crop_kp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349240" cy="2194560"/>
          </a:xfrm>
          <a:prstGeom prst="rect">
            <a:avLst/>
          </a:prstGeom>
        </p:spPr>
      </p:pic>
      <p:sp>
        <p:nvSpPr>
          <p:cNvPr id="8" name="frame-199"/>
          <p:cNvSpPr/>
          <p:nvPr/>
        </p:nvSpPr>
        <p:spPr>
          <a:xfrm>
            <a:off x="493776" y="4425696"/>
            <a:ext cx="559612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9" name="pic-200" descr="shots/crop_fa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0"/>
            <a:ext cx="5486400" cy="1097280"/>
          </a:xfrm>
          <a:prstGeom prst="rect">
            <a:avLst/>
          </a:prstGeom>
        </p:spPr>
      </p:pic>
      <p:sp>
        <p:nvSpPr>
          <p:cNvPr id="10" name="badge-201"/>
          <p:cNvSpPr/>
          <p:nvPr/>
        </p:nvSpPr>
        <p:spPr>
          <a:xfrm>
            <a:off x="548640" y="4005072"/>
            <a:ext cx="5394960" cy="31089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-202"/>
          <p:cNvSpPr txBox="1"/>
          <p:nvPr/>
        </p:nvSpPr>
        <p:spPr>
          <a:xfrm>
            <a:off x="548640" y="40050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5968"/>
                </a:solidFill>
              </a:rPr>
              <a:t>왼쪽 : 담보명 · 가입금액 · 설명문 · 약관 별표 분류번호</a:t>
            </a:r>
            <a:endParaRPr lang="en-US" sz="1100" dirty="0"/>
          </a:p>
        </p:txBody>
      </p:sp>
      <p:sp>
        <p:nvSpPr>
          <p:cNvPr id="12" name="badge-203"/>
          <p:cNvSpPr/>
          <p:nvPr/>
        </p:nvSpPr>
        <p:spPr>
          <a:xfrm>
            <a:off x="6263640" y="4005072"/>
            <a:ext cx="5349240" cy="31089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3" name="text-204"/>
          <p:cNvSpPr txBox="1"/>
          <p:nvPr/>
        </p:nvSpPr>
        <p:spPr>
          <a:xfrm>
            <a:off x="6263640" y="400507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</a:rPr>
              <a:t>오른쪽 : Key Point — 고객에게 이렇게 말합니다</a:t>
            </a:r>
            <a:endParaRPr lang="en-US" sz="1100" dirty="0"/>
          </a:p>
        </p:txBody>
      </p:sp>
      <p:sp>
        <p:nvSpPr>
          <p:cNvPr id="14" name="text-205"/>
          <p:cNvSpPr txBox="1"/>
          <p:nvPr/>
        </p:nvSpPr>
        <p:spPr>
          <a:xfrm>
            <a:off x="6355080" y="4389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</a:rPr>
              <a:t>분류번호는 약관 별표에서만</a:t>
            </a:r>
            <a:endParaRPr lang="en-US" sz="1250" dirty="0"/>
          </a:p>
        </p:txBody>
      </p:sp>
      <p:sp>
        <p:nvSpPr>
          <p:cNvPr id="15" name="text-206"/>
          <p:cNvSpPr txBox="1"/>
          <p:nvPr/>
        </p:nvSpPr>
        <p:spPr>
          <a:xfrm>
            <a:off x="6355080" y="4663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C44 · C73 처럼 코드와 이름을 함께 적고, 제외코드는 「(제외 : …)」로 표시합니다.</a:t>
            </a:r>
            <a:endParaRPr lang="en-US" sz="1050" dirty="0"/>
          </a:p>
        </p:txBody>
      </p:sp>
      <p:sp>
        <p:nvSpPr>
          <p:cNvPr id="16" name="text-207"/>
          <p:cNvSpPr txBox="1"/>
          <p:nvPr/>
        </p:nvSpPr>
        <p:spPr>
          <a:xfrm>
            <a:off x="6355080" y="49743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</a:rPr>
              <a:t>같은 Key Point 는 한 번만</a:t>
            </a:r>
            <a:endParaRPr lang="en-US" sz="1250" dirty="0"/>
          </a:p>
        </p:txBody>
      </p:sp>
      <p:sp>
        <p:nvSpPr>
          <p:cNvPr id="17" name="text-208"/>
          <p:cNvSpPr txBox="1"/>
          <p:nvPr/>
        </p:nvSpPr>
        <p:spPr>
          <a:xfrm>
            <a:off x="6355080" y="52486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세부보장이 여럿인 담보는 왼쪽에 쌓고 오른쪽 Key Point 는 한 번만 둡니다.</a:t>
            </a:r>
            <a:endParaRPr lang="en-US" sz="1050" dirty="0"/>
          </a:p>
        </p:txBody>
      </p:sp>
      <p:sp>
        <p:nvSpPr>
          <p:cNvPr id="18" name="text-209"/>
          <p:cNvSpPr txBox="1"/>
          <p:nvPr/>
        </p:nvSpPr>
        <p:spPr>
          <a:xfrm>
            <a:off x="6355080" y="5559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</a:rPr>
              <a:t>자주 나오는 질문</a:t>
            </a:r>
            <a:endParaRPr lang="en-US" sz="1250" dirty="0"/>
          </a:p>
        </p:txBody>
      </p:sp>
      <p:sp>
        <p:nvSpPr>
          <p:cNvPr id="19" name="text-210"/>
          <p:cNvSpPr txBox="1"/>
          <p:nvPr/>
        </p:nvSpPr>
        <p:spPr>
          <a:xfrm>
            <a:off x="6355080" y="5833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「갑상선암도 암진단비가 나오나요?」 같은 Q&amp;A 를 장 끝에 붙입니다.</a:t>
            </a:r>
            <a:endParaRPr lang="en-US" sz="1050" dirty="0"/>
          </a:p>
        </p:txBody>
      </p:sp>
      <p:sp>
        <p:nvSpPr>
          <p:cNvPr id="20" name="text-211"/>
          <p:cNvSpPr txBox="1"/>
          <p:nvPr/>
        </p:nvSpPr>
        <p:spPr>
          <a:xfrm>
            <a:off x="54864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※ 담보 하나가 혼자 한 쪽을 넘기면(지급금액표가 긴 통합치료비) 설명문을 줄인 판으로 다시 그립니다.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면책기간 / 감액기간 표와 빈 자리 채우기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「언제 못 받는가」를 마지막에 한 표로 — 그리고 남는 여백은 연관 정보로</a:t>
            </a:r>
            <a:endParaRPr lang="en-US" sz="1400" dirty="0"/>
          </a:p>
        </p:txBody>
      </p:sp>
      <p:sp>
        <p:nvSpPr>
          <p:cNvPr id="4" name="frame-212"/>
          <p:cNvSpPr/>
          <p:nvPr/>
        </p:nvSpPr>
        <p:spPr>
          <a:xfrm>
            <a:off x="493776" y="1636776"/>
            <a:ext cx="7059168" cy="3557016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01600" dist="25400" dir="5400000">
              <a:srgbClr val="191F28">
                <a:alpha val="10000"/>
              </a:srgbClr>
            </a:outerShdw>
          </a:effectLst>
        </p:spPr>
      </p:sp>
      <p:pic>
        <p:nvPicPr>
          <p:cNvPr id="5" name="pic-213" descr="shots/crop_exe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949440" cy="3447288"/>
          </a:xfrm>
          <a:prstGeom prst="rect">
            <a:avLst/>
          </a:prstGeom>
        </p:spPr>
      </p:pic>
      <p:sp>
        <p:nvSpPr>
          <p:cNvPr id="6" name="circ-214"/>
          <p:cNvSpPr/>
          <p:nvPr/>
        </p:nvSpPr>
        <p:spPr>
          <a:xfrm>
            <a:off x="7616952" y="1600200"/>
            <a:ext cx="621792" cy="621792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7" name="icon-215" descr="icons/shield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55648"/>
            <a:ext cx="310896" cy="310896"/>
          </a:xfrm>
          <a:prstGeom prst="rect">
            <a:avLst/>
          </a:prstGeom>
        </p:spPr>
      </p:pic>
      <p:sp>
        <p:nvSpPr>
          <p:cNvPr id="8" name="text-216"/>
          <p:cNvSpPr txBox="1"/>
          <p:nvPr/>
        </p:nvSpPr>
        <p:spPr>
          <a:xfrm>
            <a:off x="836676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면책 · 감액을 한 표로</a:t>
            </a:r>
            <a:endParaRPr lang="en-US" sz="1400" dirty="0"/>
          </a:p>
        </p:txBody>
      </p:sp>
      <p:sp>
        <p:nvSpPr>
          <p:cNvPr id="9" name="text-217"/>
          <p:cNvSpPr txBox="1"/>
          <p:nvPr/>
        </p:nvSpPr>
        <p:spPr>
          <a:xfrm>
            <a:off x="8366760" y="212140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보장개시일(면책)과 「계약일부터 1년 미만 · 90일 미만 감액」을 담보별로. 설명문에서 읽은 담보만 싣고 나머지는 「조항 없음」이라고 적습니다.</a:t>
            </a:r>
            <a:endParaRPr lang="en-US" sz="1150" dirty="0"/>
          </a:p>
        </p:txBody>
      </p:sp>
      <p:sp>
        <p:nvSpPr>
          <p:cNvPr id="10" name="circ-218"/>
          <p:cNvSpPr/>
          <p:nvPr/>
        </p:nvSpPr>
        <p:spPr>
          <a:xfrm>
            <a:off x="7616952" y="3017520"/>
            <a:ext cx="621792" cy="621792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11" name="icon-219" descr="icons/bulb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172968"/>
            <a:ext cx="310896" cy="310896"/>
          </a:xfrm>
          <a:prstGeom prst="rect">
            <a:avLst/>
          </a:prstGeom>
        </p:spPr>
      </p:pic>
      <p:sp>
        <p:nvSpPr>
          <p:cNvPr id="12" name="text-220"/>
          <p:cNvSpPr txBox="1"/>
          <p:nvPr/>
        </p:nvSpPr>
        <p:spPr>
          <a:xfrm>
            <a:off x="8366760" y="3154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가입 첫 해에 짚어 줄 세 가지</a:t>
            </a:r>
            <a:endParaRPr lang="en-US" sz="1400" dirty="0"/>
          </a:p>
        </p:txBody>
      </p:sp>
      <p:sp>
        <p:nvSpPr>
          <p:cNvPr id="13" name="text-221"/>
          <p:cNvSpPr txBox="1"/>
          <p:nvPr/>
        </p:nvSpPr>
        <p:spPr>
          <a:xfrm>
            <a:off x="8366760" y="353872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① 암(유사암제외)은 90일 뒤부터 ② 1년 미만 50% 담보는 첫 해 절반 ③ 수술비·입원일당·유사암은 처음부터 100%.</a:t>
            </a:r>
            <a:endParaRPr lang="en-US" sz="1150" dirty="0"/>
          </a:p>
        </p:txBody>
      </p:sp>
      <p:sp>
        <p:nvSpPr>
          <p:cNvPr id="14" name="circ-222"/>
          <p:cNvSpPr/>
          <p:nvPr/>
        </p:nvSpPr>
        <p:spPr>
          <a:xfrm>
            <a:off x="7616952" y="4434840"/>
            <a:ext cx="621792" cy="621792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15" name="icon-223" descr="icons/puzzle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590288"/>
            <a:ext cx="310896" cy="310896"/>
          </a:xfrm>
          <a:prstGeom prst="rect">
            <a:avLst/>
          </a:prstGeom>
        </p:spPr>
      </p:pic>
      <p:sp>
        <p:nvSpPr>
          <p:cNvPr id="16" name="text-224"/>
          <p:cNvSpPr txBox="1"/>
          <p:nvPr/>
        </p:nvSpPr>
        <p:spPr>
          <a:xfrm>
            <a:off x="8366760" y="4572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빈 자리 카드 25종</a:t>
            </a:r>
            <a:endParaRPr lang="en-US" sz="1400" dirty="0"/>
          </a:p>
        </p:txBody>
      </p:sp>
      <p:sp>
        <p:nvSpPr>
          <p:cNvPr id="17" name="text-225"/>
          <p:cNvSpPr txBox="1"/>
          <p:nvPr/>
        </p:nvSpPr>
        <p:spPr>
          <a:xfrm>
            <a:off x="8366760" y="495604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「후유장해란」 「산정특례란」 같은 연관 설명 카드가 여백 크기에 맞춰 들어갑니다. 갈래가 맞는 카드부터, 그래도 남으면 공통 카드.</a:t>
            </a:r>
            <a:endParaRPr lang="en-US" sz="1150" dirty="0"/>
          </a:p>
        </p:txBody>
      </p:sp>
      <p:pic>
        <p:nvPicPr>
          <p:cNvPr id="18" name="pic-226" descr="shots/page_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49240"/>
            <a:ext cx="685800" cy="960120"/>
          </a:xfrm>
          <a:prstGeom prst="rect">
            <a:avLst/>
          </a:prstGeom>
        </p:spPr>
      </p:pic>
      <p:sp>
        <p:nvSpPr>
          <p:cNvPr id="19" name="text-227"/>
          <p:cNvSpPr txBox="1"/>
          <p:nvPr/>
        </p:nvSpPr>
        <p:spPr>
          <a:xfrm>
            <a:off x="1371600" y="53949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뒷표지 : 「이 가이드는 이렇게 만들어졌습니다」(데이터 출처 · 생성 일자 · 원본 파일명)와 문의처(세일즈혁신TF)를 적어, 어떤 가이드북이든 근거를 되짚을 수 있습니다.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지키는 원칙 네 가지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보험 설명 자료이기 때문에 「그럴듯함」보다 「근거」를 앞에 둡니다</a:t>
            </a:r>
            <a:endParaRPr lang="en-US" sz="1400" dirty="0"/>
          </a:p>
        </p:txBody>
      </p:sp>
      <p:sp>
        <p:nvSpPr>
          <p:cNvPr id="4" name="card-228"/>
          <p:cNvSpPr/>
          <p:nvPr/>
        </p:nvSpPr>
        <p:spPr>
          <a:xfrm>
            <a:off x="548640" y="1783080"/>
            <a:ext cx="544068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sp>
        <p:nvSpPr>
          <p:cNvPr id="5" name="circ-229"/>
          <p:cNvSpPr/>
          <p:nvPr/>
        </p:nvSpPr>
        <p:spPr>
          <a:xfrm>
            <a:off x="804672" y="2011680"/>
            <a:ext cx="694944" cy="694944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6" name="icon-230" descr="icons/ban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384048" cy="384048"/>
          </a:xfrm>
          <a:prstGeom prst="rect">
            <a:avLst/>
          </a:prstGeom>
        </p:spPr>
      </p:pic>
      <p:sp>
        <p:nvSpPr>
          <p:cNvPr id="7" name="text-231"/>
          <p:cNvSpPr txBox="1"/>
          <p:nvPr/>
        </p:nvSpPr>
        <p:spPr>
          <a:xfrm>
            <a:off x="1737360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</a:rPr>
              <a:t>추정하지 않는다</a:t>
            </a:r>
            <a:endParaRPr lang="en-US" sz="1700" dirty="0"/>
          </a:p>
        </p:txBody>
      </p:sp>
      <p:sp>
        <p:nvSpPr>
          <p:cNvPr id="8" name="text-232"/>
          <p:cNvSpPr txBox="1"/>
          <p:nvPr/>
        </p:nvSpPr>
        <p:spPr>
          <a:xfrm>
            <a:off x="1737360" y="25603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</a:rPr>
              <a:t>질병코드와 금액은 약관 별표 · 특약 마스터 · 설계서에서만 옵니다. 목록이 없으면 빈칸으로 두고 그 사실을 적습니다. 오류가 「틀린 숫자」가 아니라 「빈칸」으로 나타나게.</a:t>
            </a:r>
            <a:endParaRPr lang="en-US" sz="1200" dirty="0"/>
          </a:p>
        </p:txBody>
      </p:sp>
      <p:sp>
        <p:nvSpPr>
          <p:cNvPr id="9" name="card-233"/>
          <p:cNvSpPr/>
          <p:nvPr/>
        </p:nvSpPr>
        <p:spPr>
          <a:xfrm>
            <a:off x="6172200" y="1783080"/>
            <a:ext cx="544068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sp>
        <p:nvSpPr>
          <p:cNvPr id="10" name="circ-234"/>
          <p:cNvSpPr/>
          <p:nvPr/>
        </p:nvSpPr>
        <p:spPr>
          <a:xfrm>
            <a:off x="6428232" y="2011680"/>
            <a:ext cx="694944" cy="694944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11" name="icon-235" descr="icons/lo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67128"/>
            <a:ext cx="384048" cy="384048"/>
          </a:xfrm>
          <a:prstGeom prst="rect">
            <a:avLst/>
          </a:prstGeom>
        </p:spPr>
      </p:pic>
      <p:sp>
        <p:nvSpPr>
          <p:cNvPr id="12" name="text-236"/>
          <p:cNvSpPr txBox="1"/>
          <p:nvPr/>
        </p:nvSpPr>
        <p:spPr>
          <a:xfrm>
            <a:off x="7360920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</a:rPr>
              <a:t>PC 밖으로 나가지 않는다</a:t>
            </a:r>
            <a:endParaRPr lang="en-US" sz="1700" dirty="0"/>
          </a:p>
        </p:txBody>
      </p:sp>
      <p:sp>
        <p:nvSpPr>
          <p:cNvPr id="13" name="text-237"/>
          <p:cNvSpPr txBox="1"/>
          <p:nvPr/>
        </p:nvSpPr>
        <p:spPr>
          <a:xfrm>
            <a:off x="7360920" y="25603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</a:rPr>
              <a:t>설계서에는 고객 · 설계사 정보가 있습니다. 파일은 브라우저 안에서만 읽히고 어떤 서버로도 보내지 않습니다. 인터넷이 끊겨도 됩니다.</a:t>
            </a:r>
            <a:endParaRPr lang="en-US" sz="1200" dirty="0"/>
          </a:p>
        </p:txBody>
      </p:sp>
      <p:sp>
        <p:nvSpPr>
          <p:cNvPr id="14" name="card-238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sp>
        <p:nvSpPr>
          <p:cNvPr id="15" name="circ-239"/>
          <p:cNvSpPr/>
          <p:nvPr/>
        </p:nvSpPr>
        <p:spPr>
          <a:xfrm>
            <a:off x="804672" y="4251960"/>
            <a:ext cx="694944" cy="694944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16" name="icon-240" descr="icons/scale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07408"/>
            <a:ext cx="384048" cy="384048"/>
          </a:xfrm>
          <a:prstGeom prst="rect">
            <a:avLst/>
          </a:prstGeom>
        </p:spPr>
      </p:pic>
      <p:sp>
        <p:nvSpPr>
          <p:cNvPr id="17" name="text-241"/>
          <p:cNvSpPr txBox="1"/>
          <p:nvPr/>
        </p:nvSpPr>
        <p:spPr>
          <a:xfrm>
            <a:off x="1737360" y="4343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</a:rPr>
              <a:t>약관이 맞다</a:t>
            </a:r>
            <a:endParaRPr lang="en-US" sz="1700" dirty="0"/>
          </a:p>
        </p:txBody>
      </p:sp>
      <p:sp>
        <p:nvSpPr>
          <p:cNvPr id="18" name="text-242"/>
          <p:cNvSpPr txBox="1"/>
          <p:nvPr/>
        </p:nvSpPr>
        <p:spPr>
          <a:xfrm>
            <a:off x="1737360" y="48006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</a:rPr>
              <a:t>규칙표와 마스터가 서로 달라 보이면 약관 원문이 기준입니다. 같은 이름의 특약은 상품이 달라도 같은 별표를 씁니다(소유자 확인).</a:t>
            </a:r>
            <a:endParaRPr lang="en-US" sz="1200" dirty="0"/>
          </a:p>
        </p:txBody>
      </p:sp>
      <p:sp>
        <p:nvSpPr>
          <p:cNvPr id="19" name="card-243"/>
          <p:cNvSpPr/>
          <p:nvPr/>
        </p:nvSpPr>
        <p:spPr>
          <a:xfrm>
            <a:off x="6172200" y="4023360"/>
            <a:ext cx="544068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sp>
        <p:nvSpPr>
          <p:cNvPr id="20" name="circ-244"/>
          <p:cNvSpPr/>
          <p:nvPr/>
        </p:nvSpPr>
        <p:spPr>
          <a:xfrm>
            <a:off x="6428232" y="4251960"/>
            <a:ext cx="694944" cy="694944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21" name="icon-245" descr="icons/sync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07408"/>
            <a:ext cx="384048" cy="384048"/>
          </a:xfrm>
          <a:prstGeom prst="rect">
            <a:avLst/>
          </a:prstGeom>
        </p:spPr>
      </p:pic>
      <p:sp>
        <p:nvSpPr>
          <p:cNvPr id="22" name="text-246"/>
          <p:cNvSpPr txBox="1"/>
          <p:nvPr/>
        </p:nvSpPr>
        <p:spPr>
          <a:xfrm>
            <a:off x="7360920" y="4343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</a:rPr>
              <a:t>세 산출물이 함께 간다</a:t>
            </a:r>
            <a:endParaRPr lang="en-US" sz="1700" dirty="0"/>
          </a:p>
        </p:txBody>
      </p:sp>
      <p:sp>
        <p:nvSpPr>
          <p:cNvPr id="23" name="text-247"/>
          <p:cNvSpPr txBox="1"/>
          <p:nvPr/>
        </p:nvSpPr>
        <p:spPr>
          <a:xfrm>
            <a:off x="7360920" y="48006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</a:rPr>
              <a:t>세일즈북 · 스마트 제안서 · 영업지원도구가 같은 특약 마스터를 씁니다. 약관이 바뀌면 명령 하나로 셋이 같이 갱신됩니다.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지원 상품 8개와 데이터 흐름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원천은 약관입니다 — 약관 PDF 를 읽어 특약 마스터를 만들고, 그 마스터를 세 도구가 함께 씁니다</a:t>
            </a:r>
            <a:endParaRPr lang="en-US" sz="1400" dirty="0"/>
          </a:p>
        </p:txBody>
      </p:sp>
      <p:sp>
        <p:nvSpPr>
          <p:cNvPr id="4" name="card-248"/>
          <p:cNvSpPr/>
          <p:nvPr/>
        </p:nvSpPr>
        <p:spPr>
          <a:xfrm>
            <a:off x="548640" y="1737360"/>
            <a:ext cx="5120640" cy="4526280"/>
          </a:xfrm>
          <a:prstGeom prst="roundRect">
            <a:avLst>
              <a:gd name="adj" fmla="val 323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-249"/>
          <p:cNvSpPr txBox="1"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내장 특약 마스터</a:t>
            </a:r>
            <a:endParaRPr lang="en-US" sz="1500" dirty="0"/>
          </a:p>
        </p:txBody>
      </p:sp>
      <p:pic>
        <p:nvPicPr>
          <p:cNvPr id="6" name="icon-250" descr="icons/check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04872"/>
            <a:ext cx="237744" cy="237744"/>
          </a:xfrm>
          <a:prstGeom prst="rect">
            <a:avLst/>
          </a:prstGeom>
        </p:spPr>
      </p:pic>
      <p:sp>
        <p:nvSpPr>
          <p:cNvPr id="7" name="text-251"/>
          <p:cNvSpPr txBox="1"/>
          <p:nvPr/>
        </p:nvSpPr>
        <p:spPr>
          <a:xfrm>
            <a:off x="118872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F28"/>
                </a:solidFill>
              </a:rPr>
              <a:t>통합간편건강보험(3종 심사형)</a:t>
            </a:r>
            <a:endParaRPr lang="en-US" sz="1250" dirty="0"/>
          </a:p>
        </p:txBody>
      </p:sp>
      <p:pic>
        <p:nvPicPr>
          <p:cNvPr id="8" name="icon-252" descr="icons/che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62072"/>
            <a:ext cx="237744" cy="237744"/>
          </a:xfrm>
          <a:prstGeom prst="rect">
            <a:avLst/>
          </a:prstGeom>
        </p:spPr>
      </p:pic>
      <p:sp>
        <p:nvSpPr>
          <p:cNvPr id="9" name="text-253"/>
          <p:cNvSpPr txBox="1"/>
          <p:nvPr/>
        </p:nvSpPr>
        <p:spPr>
          <a:xfrm>
            <a:off x="1188720" y="2834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F28"/>
                </a:solidFill>
              </a:rPr>
              <a:t>케어프리보험 M-Basket</a:t>
            </a:r>
            <a:endParaRPr lang="en-US" sz="1250" dirty="0"/>
          </a:p>
        </p:txBody>
      </p:sp>
      <p:pic>
        <p:nvPicPr>
          <p:cNvPr id="10" name="icon-254" descr="icons/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19272"/>
            <a:ext cx="237744" cy="237744"/>
          </a:xfrm>
          <a:prstGeom prst="rect">
            <a:avLst/>
          </a:prstGeom>
        </p:spPr>
      </p:pic>
      <p:sp>
        <p:nvSpPr>
          <p:cNvPr id="11" name="text-255"/>
          <p:cNvSpPr txBox="1"/>
          <p:nvPr/>
        </p:nvSpPr>
        <p:spPr>
          <a:xfrm>
            <a:off x="118872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F28"/>
                </a:solidFill>
              </a:rPr>
              <a:t>또 걸려도 또 받는 암보험</a:t>
            </a:r>
            <a:endParaRPr lang="en-US" sz="1250" dirty="0"/>
          </a:p>
        </p:txBody>
      </p:sp>
      <p:pic>
        <p:nvPicPr>
          <p:cNvPr id="12" name="icon-256" descr="icons/chec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76472"/>
            <a:ext cx="237744" cy="237744"/>
          </a:xfrm>
          <a:prstGeom prst="rect">
            <a:avLst/>
          </a:prstGeom>
        </p:spPr>
      </p:pic>
      <p:sp>
        <p:nvSpPr>
          <p:cNvPr id="13" name="text-257"/>
          <p:cNvSpPr txBox="1"/>
          <p:nvPr/>
        </p:nvSpPr>
        <p:spPr>
          <a:xfrm>
            <a:off x="118872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F28"/>
                </a:solidFill>
              </a:rPr>
              <a:t>또 걸려도 또 받는 간편한 암보험</a:t>
            </a:r>
            <a:endParaRPr lang="en-US" sz="1250" dirty="0"/>
          </a:p>
        </p:txBody>
      </p:sp>
      <p:pic>
        <p:nvPicPr>
          <p:cNvPr id="14" name="icon-258" descr="icons/check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33672"/>
            <a:ext cx="237744" cy="237744"/>
          </a:xfrm>
          <a:prstGeom prst="rect">
            <a:avLst/>
          </a:prstGeom>
        </p:spPr>
      </p:pic>
      <p:sp>
        <p:nvSpPr>
          <p:cNvPr id="15" name="text-259"/>
          <p:cNvSpPr txBox="1"/>
          <p:nvPr/>
        </p:nvSpPr>
        <p:spPr>
          <a:xfrm>
            <a:off x="1188720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F28"/>
                </a:solidFill>
              </a:rPr>
              <a:t>내Mom대로 보장보험</a:t>
            </a:r>
            <a:endParaRPr lang="en-US" sz="1250" dirty="0"/>
          </a:p>
        </p:txBody>
      </p:sp>
      <p:pic>
        <p:nvPicPr>
          <p:cNvPr id="16" name="icon-260" descr="icons/check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690872"/>
            <a:ext cx="237744" cy="237744"/>
          </a:xfrm>
          <a:prstGeom prst="rect">
            <a:avLst/>
          </a:prstGeom>
        </p:spPr>
      </p:pic>
      <p:sp>
        <p:nvSpPr>
          <p:cNvPr id="17" name="text-261"/>
          <p:cNvSpPr txBox="1"/>
          <p:nvPr/>
        </p:nvSpPr>
        <p:spPr>
          <a:xfrm>
            <a:off x="118872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F28"/>
                </a:solidFill>
              </a:rPr>
              <a:t>내Mom같은 어린이보험</a:t>
            </a:r>
            <a:endParaRPr lang="en-US" sz="1250" dirty="0"/>
          </a:p>
        </p:txBody>
      </p:sp>
      <p:pic>
        <p:nvPicPr>
          <p:cNvPr id="18" name="icon-262" descr="icons/check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148072"/>
            <a:ext cx="237744" cy="237744"/>
          </a:xfrm>
          <a:prstGeom prst="rect">
            <a:avLst/>
          </a:prstGeom>
        </p:spPr>
      </p:pic>
      <p:sp>
        <p:nvSpPr>
          <p:cNvPr id="19" name="text-263"/>
          <p:cNvSpPr txBox="1"/>
          <p:nvPr/>
        </p:nvSpPr>
        <p:spPr>
          <a:xfrm>
            <a:off x="1188720" y="5120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F28"/>
                </a:solidFill>
              </a:rPr>
              <a:t>간편31 건강보험</a:t>
            </a:r>
            <a:endParaRPr lang="en-US" sz="1250" dirty="0"/>
          </a:p>
        </p:txBody>
      </p:sp>
      <p:pic>
        <p:nvPicPr>
          <p:cNvPr id="20" name="icon-264" descr="icons/check_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605272"/>
            <a:ext cx="237744" cy="237744"/>
          </a:xfrm>
          <a:prstGeom prst="rect">
            <a:avLst/>
          </a:prstGeom>
        </p:spPr>
      </p:pic>
      <p:sp>
        <p:nvSpPr>
          <p:cNvPr id="21" name="text-265"/>
          <p:cNvSpPr txBox="1"/>
          <p:nvPr/>
        </p:nvSpPr>
        <p:spPr>
          <a:xfrm>
            <a:off x="1188720" y="5577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F28"/>
                </a:solidFill>
              </a:rPr>
              <a:t>The건강한 내Mom대로 5.10.5 외 3종*</a:t>
            </a:r>
            <a:endParaRPr lang="en-US" sz="1250" dirty="0"/>
          </a:p>
        </p:txBody>
      </p:sp>
      <p:sp>
        <p:nvSpPr>
          <p:cNvPr id="22" name="text-266"/>
          <p:cNvSpPr txBox="1"/>
          <p:nvPr/>
        </p:nvSpPr>
        <p:spPr>
          <a:xfrm>
            <a:off x="822960" y="5943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* The건강한 5.10.5 · The좋은 내Mom대로 · The가벼운 간편355 (2026-10 추가)</a:t>
            </a:r>
            <a:endParaRPr lang="en-US" sz="1000" dirty="0"/>
          </a:p>
        </p:txBody>
      </p:sp>
      <p:sp>
        <p:nvSpPr>
          <p:cNvPr id="23" name="card-267"/>
          <p:cNvSpPr/>
          <p:nvPr/>
        </p:nvSpPr>
        <p:spPr>
          <a:xfrm>
            <a:off x="6172200" y="1737360"/>
            <a:ext cx="5486400" cy="1051560"/>
          </a:xfrm>
          <a:prstGeom prst="roundRect">
            <a:avLst>
              <a:gd name="adj" fmla="val 1391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pic>
        <p:nvPicPr>
          <p:cNvPr id="24" name="icon-268" descr="icons/doc_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2066544"/>
            <a:ext cx="384048" cy="384048"/>
          </a:xfrm>
          <a:prstGeom prst="rect">
            <a:avLst/>
          </a:prstGeom>
        </p:spPr>
      </p:pic>
      <p:sp>
        <p:nvSpPr>
          <p:cNvPr id="25" name="text-269"/>
          <p:cNvSpPr txBox="1"/>
          <p:nvPr/>
        </p:nvSpPr>
        <p:spPr>
          <a:xfrm>
            <a:off x="7040880" y="1874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</a:rPr>
              <a:t>약관 PDF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</a:rPr>
              <a:t>(저장소 루트)</a:t>
            </a:r>
            <a:endParaRPr lang="en-US" sz="1350" dirty="0"/>
          </a:p>
        </p:txBody>
      </p:sp>
      <p:sp>
        <p:nvSpPr>
          <p:cNvPr id="26" name="card-270"/>
          <p:cNvSpPr/>
          <p:nvPr/>
        </p:nvSpPr>
        <p:spPr>
          <a:xfrm>
            <a:off x="6172200" y="3108960"/>
            <a:ext cx="5486400" cy="1051560"/>
          </a:xfrm>
          <a:prstGeom prst="roundRect">
            <a:avLst>
              <a:gd name="adj" fmla="val 1391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27" name="icon-271" descr="icons/sync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3438144"/>
            <a:ext cx="384048" cy="384048"/>
          </a:xfrm>
          <a:prstGeom prst="rect">
            <a:avLst/>
          </a:prstGeom>
        </p:spPr>
      </p:pic>
      <p:sp>
        <p:nvSpPr>
          <p:cNvPr id="28" name="text-272"/>
          <p:cNvSpPr txBox="1"/>
          <p:nvPr/>
        </p:nvSpPr>
        <p:spPr>
          <a:xfrm>
            <a:off x="7040880" y="3246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특약 마스터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질병코드 · 제외코드 · 수가코드</a:t>
            </a:r>
            <a:endParaRPr lang="en-US" sz="1350" dirty="0"/>
          </a:p>
        </p:txBody>
      </p:sp>
      <p:sp>
        <p:nvSpPr>
          <p:cNvPr id="29" name="text-273"/>
          <p:cNvSpPr txBox="1"/>
          <p:nvPr/>
        </p:nvSpPr>
        <p:spPr>
          <a:xfrm>
            <a:off x="877824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1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text-274"/>
          <p:cNvSpPr txBox="1"/>
          <p:nvPr/>
        </p:nvSpPr>
        <p:spPr>
          <a:xfrm>
            <a:off x="87782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1"/>
                </a:solidFill>
              </a:rPr>
              <a:t>▼</a:t>
            </a:r>
            <a:endParaRPr lang="en-US" sz="1200" dirty="0"/>
          </a:p>
        </p:txBody>
      </p:sp>
      <p:sp>
        <p:nvSpPr>
          <p:cNvPr id="31" name="card-275"/>
          <p:cNvSpPr/>
          <p:nvPr/>
        </p:nvSpPr>
        <p:spPr>
          <a:xfrm>
            <a:off x="6172200" y="4480560"/>
            <a:ext cx="1737360" cy="17830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pic>
        <p:nvPicPr>
          <p:cNvPr id="32" name="icon-276" descr="icons/book_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0568" y="4663440"/>
            <a:ext cx="384048" cy="384048"/>
          </a:xfrm>
          <a:prstGeom prst="rect">
            <a:avLst/>
          </a:prstGeom>
        </p:spPr>
      </p:pic>
      <p:sp>
        <p:nvSpPr>
          <p:cNvPr id="33" name="text-277"/>
          <p:cNvSpPr txBox="1"/>
          <p:nvPr/>
        </p:nvSpPr>
        <p:spPr>
          <a:xfrm>
            <a:off x="626364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F28"/>
                </a:solidFill>
              </a:rPr>
              <a:t>세일즈북 생성기</a:t>
            </a:r>
            <a:endParaRPr lang="en-US" sz="1250" dirty="0"/>
          </a:p>
        </p:txBody>
      </p:sp>
      <p:sp>
        <p:nvSpPr>
          <p:cNvPr id="34" name="text-278"/>
          <p:cNvSpPr txBox="1"/>
          <p:nvPr/>
        </p:nvSpPr>
        <p:spPr>
          <a:xfrm>
            <a:off x="6263640" y="5532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이 덱의 주제</a:t>
            </a:r>
            <a:endParaRPr lang="en-US" sz="1050" dirty="0"/>
          </a:p>
        </p:txBody>
      </p:sp>
      <p:sp>
        <p:nvSpPr>
          <p:cNvPr id="35" name="card-279"/>
          <p:cNvSpPr/>
          <p:nvPr/>
        </p:nvSpPr>
        <p:spPr>
          <a:xfrm>
            <a:off x="8046720" y="4480560"/>
            <a:ext cx="1737360" cy="17830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pic>
        <p:nvPicPr>
          <p:cNvPr id="36" name="icon-280" descr="icons/doc_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05088" y="4663440"/>
            <a:ext cx="384048" cy="384048"/>
          </a:xfrm>
          <a:prstGeom prst="rect">
            <a:avLst/>
          </a:prstGeom>
        </p:spPr>
      </p:pic>
      <p:sp>
        <p:nvSpPr>
          <p:cNvPr id="37" name="text-281"/>
          <p:cNvSpPr txBox="1"/>
          <p:nvPr/>
        </p:nvSpPr>
        <p:spPr>
          <a:xfrm>
            <a:off x="813816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F28"/>
                </a:solidFill>
              </a:rPr>
              <a:t>스마트 제안서</a:t>
            </a:r>
            <a:endParaRPr lang="en-US" sz="1250" dirty="0"/>
          </a:p>
        </p:txBody>
      </p:sp>
      <p:sp>
        <p:nvSpPr>
          <p:cNvPr id="38" name="text-282"/>
          <p:cNvSpPr txBox="1"/>
          <p:nvPr/>
        </p:nvSpPr>
        <p:spPr>
          <a:xfrm>
            <a:off x="8138160" y="5532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설계서에 보장 지면 삽입</a:t>
            </a:r>
            <a:endParaRPr lang="en-US" sz="1050" dirty="0"/>
          </a:p>
        </p:txBody>
      </p:sp>
      <p:sp>
        <p:nvSpPr>
          <p:cNvPr id="39" name="card-283"/>
          <p:cNvSpPr/>
          <p:nvPr/>
        </p:nvSpPr>
        <p:spPr>
          <a:xfrm>
            <a:off x="9921240" y="4480560"/>
            <a:ext cx="1737360" cy="17830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191F28">
                <a:alpha val="8000"/>
              </a:srgbClr>
            </a:outerShdw>
          </a:effectLst>
        </p:spPr>
      </p:sp>
      <p:pic>
        <p:nvPicPr>
          <p:cNvPr id="40" name="icon-284" descr="icons/search_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79608" y="4663440"/>
            <a:ext cx="384048" cy="384048"/>
          </a:xfrm>
          <a:prstGeom prst="rect">
            <a:avLst/>
          </a:prstGeom>
        </p:spPr>
      </p:pic>
      <p:sp>
        <p:nvSpPr>
          <p:cNvPr id="41" name="text-285"/>
          <p:cNvSpPr txBox="1"/>
          <p:nvPr/>
        </p:nvSpPr>
        <p:spPr>
          <a:xfrm>
            <a:off x="1001268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F28"/>
                </a:solidFill>
              </a:rPr>
              <a:t>영업지원도구</a:t>
            </a:r>
            <a:endParaRPr lang="en-US" sz="1250" dirty="0"/>
          </a:p>
        </p:txBody>
      </p:sp>
      <p:sp>
        <p:nvSpPr>
          <p:cNvPr id="42" name="text-286"/>
          <p:cNvSpPr txBox="1"/>
          <p:nvPr/>
        </p:nvSpPr>
        <p:spPr>
          <a:xfrm>
            <a:off x="10012680" y="5532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968"/>
                </a:solidFill>
              </a:rPr>
              <a:t>특약검색 · 시뮬레이터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기대 효과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정량 효과는 가정값으로 산출했습니다 — 시범 운영에서 실측으로 바꿉니다</a:t>
            </a:r>
            <a:endParaRPr lang="en-US" sz="1400" dirty="0"/>
          </a:p>
        </p:txBody>
      </p:sp>
      <p:sp>
        <p:nvSpPr>
          <p:cNvPr id="4" name="card-287"/>
          <p:cNvSpPr/>
          <p:nvPr/>
        </p:nvSpPr>
        <p:spPr>
          <a:xfrm>
            <a:off x="548640" y="1737360"/>
            <a:ext cx="5486400" cy="4526280"/>
          </a:xfrm>
          <a:prstGeom prst="roundRect">
            <a:avLst>
              <a:gd name="adj" fmla="val 323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5" name="text-288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64DA"/>
                </a:solidFill>
              </a:rPr>
              <a:t>정량 효과 (연환산 · 가정값)</a:t>
            </a:r>
            <a:endParaRPr lang="en-US" sz="1500" dirty="0"/>
          </a:p>
        </p:txBody>
      </p:sp>
      <p:sp>
        <p:nvSpPr>
          <p:cNvPr id="6" name="big-289"/>
          <p:cNvSpPr txBox="1"/>
          <p:nvPr/>
        </p:nvSpPr>
        <p:spPr>
          <a:xfrm>
            <a:off x="82296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82F6"/>
                </a:solidFill>
              </a:rPr>
              <a:t>약 4.6억원</a:t>
            </a:r>
            <a:pPr indent="0" marL="0">
              <a:buNone/>
            </a:pPr>
            <a:r>
              <a:rPr lang="en-US" sz="1600" dirty="0">
                <a:solidFill>
                  <a:srgbClr val="4E5968"/>
                </a:solidFill>
              </a:rPr>
              <a:t>  / 년</a:t>
            </a:r>
            <a:endParaRPr lang="en-US" sz="4000" dirty="0"/>
          </a:p>
        </p:txBody>
      </p:sp>
      <p:sp>
        <p:nvSpPr>
          <p:cNvPr id="7" name="text-290"/>
          <p:cNvSpPr txBox="1"/>
          <p:nvPr/>
        </p:nvSpPr>
        <p:spPr>
          <a:xfrm>
            <a:off x="82296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</a:rPr>
              <a:t>A. 본사 가이드북 제작</a:t>
            </a:r>
            <a:endParaRPr lang="en-US" sz="1300" dirty="0"/>
          </a:p>
        </p:txBody>
      </p:sp>
      <p:sp>
        <p:nvSpPr>
          <p:cNvPr id="8" name="text-291"/>
          <p:cNvSpPr txBox="1"/>
          <p:nvPr/>
        </p:nvSpPr>
        <p:spPr>
          <a:xfrm>
            <a:off x="82296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</a:rPr>
              <a:t>수작업 16h → 검수 2h · 연 20건 × 14h × 5만원</a:t>
            </a:r>
            <a:endParaRPr lang="en-US" sz="1100" dirty="0"/>
          </a:p>
        </p:txBody>
      </p:sp>
      <p:sp>
        <p:nvSpPr>
          <p:cNvPr id="9" name="text-292"/>
          <p:cNvSpPr txBox="1"/>
          <p:nvPr/>
        </p:nvSpPr>
        <p:spPr>
          <a:xfrm>
            <a:off x="384048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182F6"/>
                </a:solidFill>
              </a:rPr>
              <a:t>1,400만원</a:t>
            </a:r>
            <a:endParaRPr lang="en-US" sz="1400" dirty="0"/>
          </a:p>
        </p:txBody>
      </p:sp>
      <p:sp>
        <p:nvSpPr>
          <p:cNvPr id="10" name="text-293"/>
          <p:cNvSpPr txBox="1"/>
          <p:nvPr/>
        </p:nvSpPr>
        <p:spPr>
          <a:xfrm>
            <a:off x="822960" y="4480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</a:rPr>
              <a:t>B. 설계사 상담 준비</a:t>
            </a:r>
            <a:endParaRPr lang="en-US" sz="1300" dirty="0"/>
          </a:p>
        </p:txBody>
      </p:sp>
      <p:sp>
        <p:nvSpPr>
          <p:cNvPr id="11" name="text-294"/>
          <p:cNvSpPr txBox="1"/>
          <p:nvPr/>
        </p:nvSpPr>
        <p:spPr>
          <a:xfrm>
            <a:off x="822960" y="4800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</a:rPr>
              <a:t>건당 30분 → 5분 · 300명 × 월 10건 × 12개월 × 25분 × 3만원/h</a:t>
            </a:r>
            <a:endParaRPr lang="en-US" sz="1100" dirty="0"/>
          </a:p>
        </p:txBody>
      </p:sp>
      <p:sp>
        <p:nvSpPr>
          <p:cNvPr id="12" name="text-295"/>
          <p:cNvSpPr txBox="1"/>
          <p:nvPr/>
        </p:nvSpPr>
        <p:spPr>
          <a:xfrm>
            <a:off x="3840480" y="4480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182F6"/>
                </a:solidFill>
              </a:rPr>
              <a:t>4억5,000만원</a:t>
            </a:r>
            <a:endParaRPr lang="en-US" sz="1400" dirty="0"/>
          </a:p>
        </p:txBody>
      </p:sp>
      <p:sp>
        <p:nvSpPr>
          <p:cNvPr id="13" name="text-296"/>
          <p:cNvSpPr txBox="1"/>
          <p:nvPr/>
        </p:nvSpPr>
        <p:spPr>
          <a:xfrm>
            <a:off x="822960" y="5806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E5968"/>
                </a:solidFill>
              </a:rPr>
              <a:t>※ 시간 · 인원 · 단가는 모두 가정값. 산출식은 공모 양식 「정량 산출 로직」에 그대로 적었습니다.</a:t>
            </a:r>
            <a:endParaRPr lang="en-US" sz="1000" dirty="0"/>
          </a:p>
        </p:txBody>
      </p:sp>
      <p:sp>
        <p:nvSpPr>
          <p:cNvPr id="14" name="circ-297"/>
          <p:cNvSpPr/>
          <p:nvPr/>
        </p:nvSpPr>
        <p:spPr>
          <a:xfrm>
            <a:off x="6245352" y="1600200"/>
            <a:ext cx="621792" cy="621792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pic>
        <p:nvPicPr>
          <p:cNvPr id="15" name="icon-298" descr="icons/users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55648"/>
            <a:ext cx="310896" cy="310896"/>
          </a:xfrm>
          <a:prstGeom prst="rect">
            <a:avLst/>
          </a:prstGeom>
        </p:spPr>
      </p:pic>
      <p:sp>
        <p:nvSpPr>
          <p:cNvPr id="16" name="text-299"/>
          <p:cNvSpPr txBox="1"/>
          <p:nvPr/>
        </p:nvSpPr>
        <p:spPr>
          <a:xfrm>
            <a:off x="6995160" y="1737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설명의 표준화</a:t>
            </a:r>
            <a:endParaRPr lang="en-US" sz="1400" dirty="0"/>
          </a:p>
        </p:txBody>
      </p:sp>
      <p:sp>
        <p:nvSpPr>
          <p:cNvPr id="17" name="text-300"/>
          <p:cNvSpPr txBox="1"/>
          <p:nvPr/>
        </p:nvSpPr>
        <p:spPr>
          <a:xfrm>
            <a:off x="6995160" y="2103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같은 상품을 어느 설계사가 설명해도 같은 용어 · 같은 Key Point · 같은 면책 안내. 불완전판매 소지가 줄어듭니다.</a:t>
            </a:r>
            <a:endParaRPr lang="en-US" sz="1150" dirty="0"/>
          </a:p>
        </p:txBody>
      </p:sp>
      <p:sp>
        <p:nvSpPr>
          <p:cNvPr id="18" name="circ-301"/>
          <p:cNvSpPr/>
          <p:nvPr/>
        </p:nvSpPr>
        <p:spPr>
          <a:xfrm>
            <a:off x="6245352" y="2743200"/>
            <a:ext cx="621792" cy="621792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pic>
        <p:nvPicPr>
          <p:cNvPr id="19" name="icon-302" descr="icons/heart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98648"/>
            <a:ext cx="310896" cy="310896"/>
          </a:xfrm>
          <a:prstGeom prst="rect">
            <a:avLst/>
          </a:prstGeom>
        </p:spPr>
      </p:pic>
      <p:sp>
        <p:nvSpPr>
          <p:cNvPr id="20" name="text-303"/>
          <p:cNvSpPr txBox="1"/>
          <p:nvPr/>
        </p:nvSpPr>
        <p:spPr>
          <a:xfrm>
            <a:off x="6995160" y="2880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고객 경험</a:t>
            </a:r>
            <a:endParaRPr lang="en-US" sz="1400" dirty="0"/>
          </a:p>
        </p:txBody>
      </p:sp>
      <p:sp>
        <p:nvSpPr>
          <p:cNvPr id="21" name="text-304"/>
          <p:cNvSpPr txBox="1"/>
          <p:nvPr/>
        </p:nvSpPr>
        <p:spPr>
          <a:xfrm>
            <a:off x="6995160" y="3246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고객별 설계안에 맞춘 「내 가이드북」. 담보 나열이 아니라 왜 이 담보인지, 언제 받는지가 적힌 한 권.</a:t>
            </a:r>
            <a:endParaRPr lang="en-US" sz="1150" dirty="0"/>
          </a:p>
        </p:txBody>
      </p:sp>
      <p:sp>
        <p:nvSpPr>
          <p:cNvPr id="22" name="circ-305"/>
          <p:cNvSpPr/>
          <p:nvPr/>
        </p:nvSpPr>
        <p:spPr>
          <a:xfrm>
            <a:off x="6245352" y="3886200"/>
            <a:ext cx="621792" cy="621792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pic>
        <p:nvPicPr>
          <p:cNvPr id="23" name="icon-306" descr="icons/bolt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041648"/>
            <a:ext cx="310896" cy="310896"/>
          </a:xfrm>
          <a:prstGeom prst="rect">
            <a:avLst/>
          </a:prstGeom>
        </p:spPr>
      </p:pic>
      <p:sp>
        <p:nvSpPr>
          <p:cNvPr id="24" name="text-307"/>
          <p:cNvSpPr txBox="1"/>
          <p:nvPr/>
        </p:nvSpPr>
        <p:spPr>
          <a:xfrm>
            <a:off x="6995160" y="4023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신상품 대응 속도</a:t>
            </a:r>
            <a:endParaRPr lang="en-US" sz="1400" dirty="0"/>
          </a:p>
        </p:txBody>
      </p:sp>
      <p:sp>
        <p:nvSpPr>
          <p:cNvPr id="25" name="text-308"/>
          <p:cNvSpPr txBox="1"/>
          <p:nvPr/>
        </p:nvSpPr>
        <p:spPr>
          <a:xfrm>
            <a:off x="6995160" y="4389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약관이 올라오면 마스터를 다시 뽑는 것으로 끝. 신상품 · 개정 당일 가이드북이 가능합니다.</a:t>
            </a:r>
            <a:endParaRPr lang="en-US" sz="1150" dirty="0"/>
          </a:p>
        </p:txBody>
      </p:sp>
      <p:sp>
        <p:nvSpPr>
          <p:cNvPr id="26" name="circ-309"/>
          <p:cNvSpPr/>
          <p:nvPr/>
        </p:nvSpPr>
        <p:spPr>
          <a:xfrm>
            <a:off x="6245352" y="5029200"/>
            <a:ext cx="621792" cy="621792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pic>
        <p:nvPicPr>
          <p:cNvPr id="27" name="icon-310" descr="icons/chart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184648"/>
            <a:ext cx="310896" cy="310896"/>
          </a:xfrm>
          <a:prstGeom prst="rect">
            <a:avLst/>
          </a:prstGeom>
        </p:spPr>
      </p:pic>
      <p:sp>
        <p:nvSpPr>
          <p:cNvPr id="28" name="text-311"/>
          <p:cNvSpPr txBox="1"/>
          <p:nvPr/>
        </p:nvSpPr>
        <p:spPr>
          <a:xfrm>
            <a:off x="6995160" y="5166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</a:rPr>
              <a:t>본사 자원 재배치</a:t>
            </a:r>
            <a:endParaRPr lang="en-US" sz="1400" dirty="0"/>
          </a:p>
        </p:txBody>
      </p:sp>
      <p:sp>
        <p:nvSpPr>
          <p:cNvPr id="29" name="text-312"/>
          <p:cNvSpPr txBox="1"/>
          <p:nvPr/>
        </p:nvSpPr>
        <p:spPr>
          <a:xfrm>
            <a:off x="6995160" y="5532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</a:rPr>
              <a:t>편집 노동 대신 Key Point 창고 · 용어 풀이 등 「내용」을 다듬는 데 시간을 씁니다.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</a:rPr>
              <a:t>다음 단계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</a:rPr>
              <a:t>프로토타입은 완성돼 있습니다 — 이제 현장에서 써 보고 내용을 키울 차례</a:t>
            </a:r>
            <a:endParaRPr lang="en-US" sz="1400" dirty="0"/>
          </a:p>
        </p:txBody>
      </p:sp>
      <p:sp>
        <p:nvSpPr>
          <p:cNvPr id="4" name="card-313"/>
          <p:cNvSpPr/>
          <p:nvPr/>
        </p:nvSpPr>
        <p:spPr>
          <a:xfrm>
            <a:off x="548640" y="1783080"/>
            <a:ext cx="5440680" cy="1508760"/>
          </a:xfrm>
          <a:prstGeom prst="roundRect">
            <a:avLst>
              <a:gd name="adj" fmla="val 969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text-314"/>
          <p:cNvSpPr txBox="1"/>
          <p:nvPr/>
        </p:nvSpPr>
        <p:spPr>
          <a:xfrm>
            <a:off x="822960" y="1984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</a:rPr>
              <a:t>① 시범 운영</a:t>
            </a:r>
            <a:endParaRPr lang="en-US" sz="1500" dirty="0"/>
          </a:p>
        </p:txBody>
      </p:sp>
      <p:sp>
        <p:nvSpPr>
          <p:cNvPr id="6" name="text-315"/>
          <p:cNvSpPr txBox="1"/>
          <p:nvPr/>
        </p:nvSpPr>
        <p:spPr>
          <a:xfrm>
            <a:off x="82296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세일즈혁신TF 인접 조직 설계사 30명 · 4주. 생성 시간 · 매칭률 · 상담 활용도를 실측해 가정값을 대체합니다.</a:t>
            </a:r>
            <a:endParaRPr lang="en-US" sz="1200" dirty="0"/>
          </a:p>
        </p:txBody>
      </p:sp>
      <p:sp>
        <p:nvSpPr>
          <p:cNvPr id="7" name="card-316"/>
          <p:cNvSpPr/>
          <p:nvPr/>
        </p:nvSpPr>
        <p:spPr>
          <a:xfrm>
            <a:off x="6172200" y="1783080"/>
            <a:ext cx="5440680" cy="1508760"/>
          </a:xfrm>
          <a:prstGeom prst="roundRect">
            <a:avLst>
              <a:gd name="adj" fmla="val 969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8" name="text-317"/>
          <p:cNvSpPr txBox="1"/>
          <p:nvPr/>
        </p:nvSpPr>
        <p:spPr>
          <a:xfrm>
            <a:off x="6446520" y="1984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</a:rPr>
              <a:t>② Key Point 창고 확장</a:t>
            </a:r>
            <a:endParaRPr lang="en-US" sz="1500" dirty="0"/>
          </a:p>
        </p:txBody>
      </p:sp>
      <p:sp>
        <p:nvSpPr>
          <p:cNvPr id="9" name="text-318"/>
          <p:cNvSpPr txBox="1"/>
          <p:nvPr/>
        </p:nvSpPr>
        <p:spPr>
          <a:xfrm>
            <a:off x="644652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36종 → 상품별 주요 특약 전부. 현장에서 「이 담보 설명이 아쉽다」는 의견을 창고에 바로 반영합니다.</a:t>
            </a:r>
            <a:endParaRPr lang="en-US" sz="1200" dirty="0"/>
          </a:p>
        </p:txBody>
      </p:sp>
      <p:sp>
        <p:nvSpPr>
          <p:cNvPr id="10" name="card-319"/>
          <p:cNvSpPr/>
          <p:nvPr/>
        </p:nvSpPr>
        <p:spPr>
          <a:xfrm>
            <a:off x="548640" y="3474720"/>
            <a:ext cx="5440680" cy="1508760"/>
          </a:xfrm>
          <a:prstGeom prst="roundRect">
            <a:avLst>
              <a:gd name="adj" fmla="val 969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-320"/>
          <p:cNvSpPr txBox="1"/>
          <p:nvPr/>
        </p:nvSpPr>
        <p:spPr>
          <a:xfrm>
            <a:off x="822960" y="3675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</a:rPr>
              <a:t>③ 전 상품 확대</a:t>
            </a:r>
            <a:endParaRPr lang="en-US" sz="1500" dirty="0"/>
          </a:p>
        </p:txBody>
      </p:sp>
      <p:sp>
        <p:nvSpPr>
          <p:cNvPr id="12" name="text-321"/>
          <p:cNvSpPr txBox="1"/>
          <p:nvPr/>
        </p:nvSpPr>
        <p:spPr>
          <a:xfrm>
            <a:off x="822960" y="4069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판매 중 상품 약관을 순차 추가. 약관 파싱 → 마스터 → 세 도구 동시 갱신 흐름은 이미 갖춰져 있습니다.</a:t>
            </a:r>
            <a:endParaRPr lang="en-US" sz="1200" dirty="0"/>
          </a:p>
        </p:txBody>
      </p:sp>
      <p:sp>
        <p:nvSpPr>
          <p:cNvPr id="13" name="card-322"/>
          <p:cNvSpPr/>
          <p:nvPr/>
        </p:nvSpPr>
        <p:spPr>
          <a:xfrm>
            <a:off x="6172200" y="3474720"/>
            <a:ext cx="5440680" cy="1508760"/>
          </a:xfrm>
          <a:prstGeom prst="roundRect">
            <a:avLst>
              <a:gd name="adj" fmla="val 969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-323"/>
          <p:cNvSpPr txBox="1"/>
          <p:nvPr/>
        </p:nvSpPr>
        <p:spPr>
          <a:xfrm>
            <a:off x="6446520" y="3675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</a:rPr>
              <a:t>④ 배포 방식 정비</a:t>
            </a:r>
            <a:endParaRPr lang="en-US" sz="1500" dirty="0"/>
          </a:p>
        </p:txBody>
      </p:sp>
      <p:sp>
        <p:nvSpPr>
          <p:cNvPr id="15" name="text-324"/>
          <p:cNvSpPr txBox="1"/>
          <p:nvPr/>
        </p:nvSpPr>
        <p:spPr>
          <a:xfrm>
            <a:off x="6446520" y="4069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</a:rPr>
              <a:t>사내 메일 첨부 가능한 단일 파일 유지, 또는 사내 포털 게시. 버전 · 데이터 일자는 파일 안에 찍힙니다.</a:t>
            </a:r>
            <a:endParaRPr lang="en-US" sz="1200" dirty="0"/>
          </a:p>
        </p:txBody>
      </p:sp>
      <p:sp>
        <p:nvSpPr>
          <p:cNvPr id="16" name="card-32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16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17" name="icon-326" descr="icons/cha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14416"/>
            <a:ext cx="384048" cy="384048"/>
          </a:xfrm>
          <a:prstGeom prst="rect">
            <a:avLst/>
          </a:prstGeom>
        </p:spPr>
      </p:pic>
      <p:sp>
        <p:nvSpPr>
          <p:cNvPr id="18" name="text-327"/>
          <p:cNvSpPr txBox="1"/>
          <p:nvPr/>
        </p:nvSpPr>
        <p:spPr>
          <a:xfrm>
            <a:off x="1417320" y="5440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문의 · 수정 요청 : 세일즈혁신TF 이헌수 (AI추진파트)</a:t>
            </a:r>
            <a:endParaRPr lang="en-US" sz="1500" dirty="0"/>
          </a:p>
        </p:txBody>
      </p:sp>
      <p:sp>
        <p:nvSpPr>
          <p:cNvPr id="19" name="text-328"/>
          <p:cNvSpPr txBox="1"/>
          <p:nvPr/>
        </p:nvSpPr>
        <p:spPr>
          <a:xfrm>
            <a:off x="14173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6FF"/>
                </a:solidFill>
              </a:rPr>
              <a:t>담보 설명이 약관과 다르거나 Key Point 를 보태고 싶을 때는 담보명과 함께 알려 주세요.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ss Clean">
  <a:themeElements>
    <a:clrScheme name="Toss Clean">
      <a:dk1>
        <a:srgbClr val="191F28"/>
      </a:dk1>
      <a:lt1>
        <a:srgbClr val="FFFFFF"/>
      </a:lt1>
      <a:dk2>
        <a:srgbClr val="4E5968"/>
      </a:dk2>
      <a:lt2>
        <a:srgbClr val="F2F4F6"/>
      </a:lt2>
      <a:accent1>
        <a:srgbClr val="3182F6"/>
      </a:accent1>
      <a:accent2>
        <a:srgbClr val="1B64DA"/>
      </a:accent2>
      <a:accent3>
        <a:srgbClr val="E8F3FF"/>
      </a:accent3>
      <a:accent4>
        <a:srgbClr val="F04452"/>
      </a:accent4>
      <a:accent5>
        <a:srgbClr val="03B26C"/>
      </a:accent5>
      <a:accent6>
        <a:srgbClr val="8B95A1"/>
      </a:accent6>
      <a:hlink>
        <a:srgbClr val="3182F6"/>
      </a:hlink>
      <a:folHlink>
        <a:srgbClr val="1B64DA"/>
      </a:folHlink>
    </a:clrScheme>
    <a:fontScheme name="Toss Clea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Meritz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세일즈북 자동 생성기 — 사용 가이드 및 제작 취지</dc:title>
  <dc:subject>PptxGenJS Presentation</dc:subject>
  <dc:creator>세일즈혁신TF</dc:creator>
  <cp:lastModifiedBy>세일즈혁신TF</cp:lastModifiedBy>
  <cp:revision>1</cp:revision>
  <dcterms:created xsi:type="dcterms:W3CDTF">2026-10-06T00:57:40Z</dcterms:created>
  <dcterms:modified xsi:type="dcterms:W3CDTF">2026-10-06T00:57:40Z</dcterms:modified>
</cp:coreProperties>
</file>