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32ae994-9209-fb3c-3de2-0d60a2103c0c}">
          <p14:sldIdLst>
            <p14:sldId id="256"/>
            <p14:sldId id="257"/>
          </p14:sldIdLst>
        </p14:section>
        <p14:section name="1부 사용 가이드" id="{eb84edf3-92d2-3e61-74de-49a1184c230c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부 기획 취지" id="{a0fc9e11-1409-a2db-c8b7-2bd723a179a5}">
          <p14:sldIdLst>
            <p14:sldId id="265"/>
            <p14:sldId id="266"/>
            <p14:sldId id="267"/>
            <p14:sldId id="268"/>
          </p14:sldIdLst>
        </p14:section>
        <p14:section name="3부 자주 묻는 질문" id="{5069f4b2-559c-261a-f5dc-9e515193dc9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91F28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E5968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세일즈북 자동 생성기 · 사용 가이드 및 기획 취지 · 세일즈혁신TF · 부서 내부 공유용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"/>
          <p:cNvSpPr txBox="1"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세일즈혁신TF  ·  부서 내부 공유용</a:t>
            </a:r>
            <a:endParaRPr lang="en-US" sz="1300" dirty="0"/>
          </a:p>
        </p:txBody>
      </p:sp>
      <p:sp>
        <p:nvSpPr>
          <p:cNvPr id="3" name="t-2"/>
          <p:cNvSpPr txBox="1"/>
          <p:nvPr/>
        </p:nvSpPr>
        <p:spPr>
          <a:xfrm>
            <a:off x="64008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</a:rPr>
              <a:t>세일즈북 자동 생성기</a:t>
            </a:r>
            <a:endParaRPr lang="en-US" sz="4000" dirty="0"/>
          </a:p>
        </p:txBody>
      </p:sp>
      <p:sp>
        <p:nvSpPr>
          <p:cNvPr id="4" name="t-3"/>
          <p:cNvSpPr txBox="1"/>
          <p:nvPr/>
        </p:nvSpPr>
        <p:spPr>
          <a:xfrm>
            <a:off x="64008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E5968"/>
                </a:solidFill>
              </a:rPr>
              <a:t>사용 가이드 및 기획 취지</a:t>
            </a:r>
            <a:endParaRPr lang="en-US" sz="2400" dirty="0"/>
          </a:p>
        </p:txBody>
      </p:sp>
      <p:sp>
        <p:nvSpPr>
          <p:cNvPr id="5" name="r-4"/>
          <p:cNvSpPr/>
          <p:nvPr/>
        </p:nvSpPr>
        <p:spPr>
          <a:xfrm>
            <a:off x="640080" y="3566160"/>
            <a:ext cx="5029200" cy="0"/>
          </a:xfrm>
          <a:prstGeom prst="line">
            <a:avLst/>
          </a:prstGeom>
          <a:noFill/>
          <a:ln w="9525">
            <a:solidFill>
              <a:srgbClr val="191F28"/>
            </a:solidFill>
            <a:prstDash val="solid"/>
          </a:ln>
        </p:spPr>
      </p:sp>
      <p:sp>
        <p:nvSpPr>
          <p:cNvPr id="6" name="t-5"/>
          <p:cNvSpPr txBox="1"/>
          <p:nvPr/>
        </p:nvSpPr>
        <p:spPr>
          <a:xfrm>
            <a:off x="64008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상품설명서(설계서) PDF 를 넣으면 담보표 · 설명문 · Key Point · 면책감액표를 묶은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컨설팅 가이드북을 만들어 주는 오프라인 HTML 도구입니다.</a:t>
            </a:r>
            <a:endParaRPr lang="en-US" sz="1400" dirty="0"/>
          </a:p>
        </p:txBody>
      </p:sp>
      <p:sp>
        <p:nvSpPr>
          <p:cNvPr id="7" name="t-6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2026년 10월  ·  생성기 빌드 2026-10-02  ·  특약 마스터 4,338건  ·  Key Point 36종</a:t>
            </a:r>
            <a:endParaRPr lang="en-US" sz="1100" dirty="0"/>
          </a:p>
        </p:txBody>
      </p:sp>
      <p:sp>
        <p:nvSpPr>
          <p:cNvPr id="8" name="f-7"/>
          <p:cNvSpPr/>
          <p:nvPr/>
        </p:nvSpPr>
        <p:spPr>
          <a:xfrm>
            <a:off x="8750808" y="1344168"/>
            <a:ext cx="2889504" cy="40782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9" name="p-8" descr="shots/pag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371600"/>
            <a:ext cx="28346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이 문서는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처음 쓰는 분은 1부부터, 배경이 궁금한 분은 2부부터 읽으면 됩니다</a:t>
            </a:r>
            <a:endParaRPr lang="en-US" sz="1300" dirty="0"/>
          </a:p>
        </p:txBody>
      </p:sp>
      <p:sp>
        <p:nvSpPr>
          <p:cNvPr id="4" name="b-9"/>
          <p:cNvSpPr/>
          <p:nvPr/>
        </p:nvSpPr>
        <p:spPr>
          <a:xfrm>
            <a:off x="640080" y="1737360"/>
            <a:ext cx="10881360" cy="114300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-10"/>
          <p:cNvSpPr txBox="1"/>
          <p:nvPr/>
        </p:nvSpPr>
        <p:spPr>
          <a:xfrm>
            <a:off x="914400" y="1938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1부  사용 가이드</a:t>
            </a:r>
            <a:endParaRPr lang="en-US" sz="1600" dirty="0"/>
          </a:p>
        </p:txBody>
      </p:sp>
      <p:sp>
        <p:nvSpPr>
          <p:cNvPr id="6" name="t-11"/>
          <p:cNvSpPr txBox="1"/>
          <p:nvPr/>
        </p:nvSpPr>
        <p:spPr>
          <a:xfrm>
            <a:off x="91440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5A1"/>
                </a:solidFill>
              </a:rPr>
              <a:t>3 ~ 9쪽</a:t>
            </a:r>
            <a:endParaRPr lang="en-US" sz="1150" dirty="0"/>
          </a:p>
        </p:txBody>
      </p:sp>
      <p:sp>
        <p:nvSpPr>
          <p:cNvPr id="7" name="t-12"/>
          <p:cNvSpPr txBox="1"/>
          <p:nvPr/>
        </p:nvSpPr>
        <p:spPr>
          <a:xfrm>
            <a:off x="4846320" y="193852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준비물 · 파일 넣기 · 상태창 읽는 법 · 옵션 · 인쇄와 PDF 저장 · 결과물 읽는 법</a:t>
            </a:r>
            <a:endParaRPr lang="en-US" sz="1300" dirty="0"/>
          </a:p>
        </p:txBody>
      </p:sp>
      <p:sp>
        <p:nvSpPr>
          <p:cNvPr id="8" name="b-13"/>
          <p:cNvSpPr/>
          <p:nvPr/>
        </p:nvSpPr>
        <p:spPr>
          <a:xfrm>
            <a:off x="640080" y="3108960"/>
            <a:ext cx="10881360" cy="114300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-14"/>
          <p:cNvSpPr txBox="1"/>
          <p:nvPr/>
        </p:nvSpPr>
        <p:spPr>
          <a:xfrm>
            <a:off x="914400" y="3310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2부  기획 취지</a:t>
            </a:r>
            <a:endParaRPr lang="en-US" sz="1600" dirty="0"/>
          </a:p>
        </p:txBody>
      </p:sp>
      <p:sp>
        <p:nvSpPr>
          <p:cNvPr id="10" name="t-15"/>
          <p:cNvSpPr txBox="1"/>
          <p:nvPr/>
        </p:nvSpPr>
        <p:spPr>
          <a:xfrm>
            <a:off x="914400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5A1"/>
                </a:solidFill>
              </a:rPr>
              <a:t>10 ~ 13쪽</a:t>
            </a:r>
            <a:endParaRPr lang="en-US" sz="1150" dirty="0"/>
          </a:p>
        </p:txBody>
      </p:sp>
      <p:sp>
        <p:nvSpPr>
          <p:cNvPr id="11" name="t-16"/>
          <p:cNvSpPr txBox="1"/>
          <p:nvPr/>
        </p:nvSpPr>
        <p:spPr>
          <a:xfrm>
            <a:off x="4846320" y="331012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왜 만들었나 · 무엇을 만들었나 · 지키는 원칙 · 데이터는 어디서 오나 · 제언(MeAI 리포트 생성과 잇기)</a:t>
            </a:r>
            <a:endParaRPr lang="en-US" sz="1300" dirty="0"/>
          </a:p>
        </p:txBody>
      </p:sp>
      <p:sp>
        <p:nvSpPr>
          <p:cNvPr id="12" name="b-17"/>
          <p:cNvSpPr/>
          <p:nvPr/>
        </p:nvSpPr>
        <p:spPr>
          <a:xfrm>
            <a:off x="640080" y="4480560"/>
            <a:ext cx="10881360" cy="114300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-18"/>
          <p:cNvSpPr txBox="1"/>
          <p:nvPr/>
        </p:nvSpPr>
        <p:spPr>
          <a:xfrm>
            <a:off x="914400" y="4681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3부  자주 묻는 질문 · 문의</a:t>
            </a:r>
            <a:endParaRPr lang="en-US" sz="1600" dirty="0"/>
          </a:p>
        </p:txBody>
      </p:sp>
      <p:sp>
        <p:nvSpPr>
          <p:cNvPr id="14" name="t-19"/>
          <p:cNvSpPr txBox="1"/>
          <p:nvPr/>
        </p:nvSpPr>
        <p:spPr>
          <a:xfrm>
            <a:off x="914400" y="5102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5A1"/>
                </a:solidFill>
              </a:rPr>
              <a:t>14 ~ 15쪽</a:t>
            </a:r>
            <a:endParaRPr lang="en-US" sz="1150" dirty="0"/>
          </a:p>
        </p:txBody>
      </p:sp>
      <p:sp>
        <p:nvSpPr>
          <p:cNvPr id="15" name="t-20"/>
          <p:cNvSpPr txBox="1"/>
          <p:nvPr/>
        </p:nvSpPr>
        <p:spPr>
          <a:xfrm>
            <a:off x="4846320" y="468172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담보가 적게 읽힐 때 · 글자가 깨질 때 · 지원 상품 밖일 때 · 개인정보 · 갱신 방법</a:t>
            </a:r>
            <a:endParaRPr lang="en-US" sz="1300" dirty="0"/>
          </a:p>
        </p:txBody>
      </p:sp>
      <p:sp>
        <p:nvSpPr>
          <p:cNvPr id="16" name="t-21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읽는 데 10분이면 충분합니다. 생성기 파일(guidebook_proto.html)은 메일에 함께 붙어 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1. 준비물과 실행 환경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설치할 것은 없습니다. 파일 하나와 브라우저면 됩니다</a:t>
            </a:r>
            <a:endParaRPr lang="en-US" sz="1300" dirty="0"/>
          </a:p>
        </p:txBody>
      </p:sp>
      <p:graphicFrame>
        <p:nvGraphicFramePr>
          <p:cNvPr id="4" name="tbl-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4904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생성기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guidebook_proto.html (약 4.7MB) 1개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첨부 또는 저장소 docs/ 폴더. 바탕화면 등 아무 곳에 두고 더블클릭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크롬 또는 엣지(최신판)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인터넷 연결 불필요. 사내 폐쇄망 · 외근 노트북에서도 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넣을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상품설명서(설계서) PDF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「가입담보」 표와 뒤쪽 「가입담보 및 보장내용」 설명문이 들어 있는 통상의 설계서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상품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8개 상품 계열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밖의 상품은 담보명은 읽히지만 약관 분류번호 · Key Point 가 비어 나옵니다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인쇄 → PDF 저장 또는 종이 인쇄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세로 · 20쪽 안팎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-23"/>
          <p:cNvSpPr txBox="1"/>
          <p:nvPr/>
        </p:nvSpPr>
        <p:spPr>
          <a:xfrm>
            <a:off x="64008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</a:rPr>
              <a:t>지원 상품 8개</a:t>
            </a:r>
            <a:endParaRPr lang="en-US" sz="1300" dirty="0"/>
          </a:p>
        </p:txBody>
      </p:sp>
      <p:sp>
        <p:nvSpPr>
          <p:cNvPr id="6" name="t-24"/>
          <p:cNvSpPr txBox="1"/>
          <p:nvPr/>
        </p:nvSpPr>
        <p:spPr>
          <a:xfrm>
            <a:off x="640080" y="46634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통합간편건강보험(세만기형) · 일반 / 통합간편 / 355 심사형</a:t>
            </a:r>
            <a:endParaRPr lang="en-US" sz="1150" dirty="0"/>
          </a:p>
        </p:txBody>
      </p:sp>
      <p:sp>
        <p:nvSpPr>
          <p:cNvPr id="7" name="t-25"/>
          <p:cNvSpPr txBox="1"/>
          <p:nvPr/>
        </p:nvSpPr>
        <p:spPr>
          <a:xfrm>
            <a:off x="6126480" y="46634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케어프리보험 M-Basket</a:t>
            </a:r>
            <a:endParaRPr lang="en-US" sz="1150" dirty="0"/>
          </a:p>
        </p:txBody>
      </p:sp>
      <p:sp>
        <p:nvSpPr>
          <p:cNvPr id="8" name="t-26"/>
          <p:cNvSpPr txBox="1"/>
          <p:nvPr/>
        </p:nvSpPr>
        <p:spPr>
          <a:xfrm>
            <a:off x="640080" y="49926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또 걸려도 또 받는 암보험 · 간편한 암보험</a:t>
            </a:r>
            <a:endParaRPr lang="en-US" sz="1150" dirty="0"/>
          </a:p>
        </p:txBody>
      </p:sp>
      <p:sp>
        <p:nvSpPr>
          <p:cNvPr id="9" name="t-27"/>
          <p:cNvSpPr txBox="1"/>
          <p:nvPr/>
        </p:nvSpPr>
        <p:spPr>
          <a:xfrm>
            <a:off x="6126480" y="49926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내Mom대로 보장보험 · 내Mom같은 어린이보험</a:t>
            </a:r>
            <a:endParaRPr lang="en-US" sz="1150" dirty="0"/>
          </a:p>
        </p:txBody>
      </p:sp>
      <p:sp>
        <p:nvSpPr>
          <p:cNvPr id="10" name="t-28"/>
          <p:cNvSpPr txBox="1"/>
          <p:nvPr/>
        </p:nvSpPr>
        <p:spPr>
          <a:xfrm>
            <a:off x="640080" y="53218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간편31 건강보험</a:t>
            </a:r>
            <a:endParaRPr lang="en-US" sz="1150" dirty="0"/>
          </a:p>
        </p:txBody>
      </p:sp>
      <p:sp>
        <p:nvSpPr>
          <p:cNvPr id="11" name="t-29"/>
          <p:cNvSpPr txBox="1"/>
          <p:nvPr/>
        </p:nvSpPr>
        <p:spPr>
          <a:xfrm>
            <a:off x="6126480" y="53218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The건강한 내Mom대로 5.10.5 · The건강한 5.10.5</a:t>
            </a:r>
            <a:endParaRPr lang="en-US" sz="1150" dirty="0"/>
          </a:p>
        </p:txBody>
      </p:sp>
      <p:sp>
        <p:nvSpPr>
          <p:cNvPr id="12" name="t-30"/>
          <p:cNvSpPr txBox="1"/>
          <p:nvPr/>
        </p:nvSpPr>
        <p:spPr>
          <a:xfrm>
            <a:off x="640080" y="56509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The좋은 내Mom대로 보장보험</a:t>
            </a:r>
            <a:endParaRPr lang="en-US" sz="1150" dirty="0"/>
          </a:p>
        </p:txBody>
      </p:sp>
      <p:sp>
        <p:nvSpPr>
          <p:cNvPr id="13" name="t-31"/>
          <p:cNvSpPr txBox="1"/>
          <p:nvPr/>
        </p:nvSpPr>
        <p:spPr>
          <a:xfrm>
            <a:off x="6126480" y="56509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·  The가벼운 간편355건강보험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2. 파일 열기와 설계서 넣기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생성기 파일을 열면 왼쪽에 조작부, 오른쪽에 빈 미리보기가 보입니다</a:t>
            </a:r>
            <a:endParaRPr lang="en-US" sz="1300" dirty="0"/>
          </a:p>
        </p:txBody>
      </p:sp>
      <p:sp>
        <p:nvSpPr>
          <p:cNvPr id="4" name="f-32"/>
          <p:cNvSpPr/>
          <p:nvPr/>
        </p:nvSpPr>
        <p:spPr>
          <a:xfrm>
            <a:off x="612648" y="1618488"/>
            <a:ext cx="3163824" cy="4507992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5" name="p-33" descr="shots/crop_panel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108960" cy="4453128"/>
          </a:xfrm>
          <a:prstGeom prst="rect">
            <a:avLst/>
          </a:prstGeom>
        </p:spPr>
      </p:pic>
      <p:sp>
        <p:nvSpPr>
          <p:cNvPr id="6" name="d-34"/>
          <p:cNvSpPr/>
          <p:nvPr/>
        </p:nvSpPr>
        <p:spPr>
          <a:xfrm>
            <a:off x="4114800" y="1709928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-35"/>
          <p:cNvSpPr txBox="1"/>
          <p:nvPr/>
        </p:nvSpPr>
        <p:spPr>
          <a:xfrm>
            <a:off x="411480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-36"/>
          <p:cNvSpPr txBox="1"/>
          <p:nvPr/>
        </p:nvSpPr>
        <p:spPr>
          <a:xfrm>
            <a:off x="452628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생성기 파일을 더블클릭해 엽니다</a:t>
            </a:r>
            <a:endParaRPr lang="en-US" sz="1400" dirty="0"/>
          </a:p>
        </p:txBody>
      </p:sp>
      <p:sp>
        <p:nvSpPr>
          <p:cNvPr id="9" name="t-37"/>
          <p:cNvSpPr txBox="1"/>
          <p:nvPr/>
        </p:nvSpPr>
        <p:spPr>
          <a:xfrm>
            <a:off x="4526280" y="20574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브라우저가 열리며 「세일즈혁신 가이드북 생성기」 화면이 나옵니다. 처음 열 때 글꼴 · 데이터를 읽느라 2~3초 걸릴 수 있습니다.</a:t>
            </a:r>
            <a:endParaRPr lang="en-US" sz="1200" dirty="0"/>
          </a:p>
        </p:txBody>
      </p:sp>
      <p:sp>
        <p:nvSpPr>
          <p:cNvPr id="10" name="d-38"/>
          <p:cNvSpPr/>
          <p:nvPr/>
        </p:nvSpPr>
        <p:spPr>
          <a:xfrm>
            <a:off x="4114800" y="2807208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-39"/>
          <p:cNvSpPr txBox="1"/>
          <p:nvPr/>
        </p:nvSpPr>
        <p:spPr>
          <a:xfrm>
            <a:off x="411480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-40"/>
          <p:cNvSpPr txBox="1"/>
          <p:nvPr/>
        </p:nvSpPr>
        <p:spPr>
          <a:xfrm>
            <a:off x="4526280" y="2788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설계서 PDF 를 점선 상자에 끌어다 놓습니다</a:t>
            </a:r>
            <a:endParaRPr lang="en-US" sz="1400" dirty="0"/>
          </a:p>
        </p:txBody>
      </p:sp>
      <p:sp>
        <p:nvSpPr>
          <p:cNvPr id="13" name="t-41"/>
          <p:cNvSpPr txBox="1"/>
          <p:nvPr/>
        </p:nvSpPr>
        <p:spPr>
          <a:xfrm>
            <a:off x="4526280" y="31546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탐색기에서 PDF 를 끌어 점선 상자 위에 놓거나, 상자를 클릭해 파일을 고릅니다. 한 번에 한 파일입니다.</a:t>
            </a:r>
            <a:endParaRPr lang="en-US" sz="1200" dirty="0"/>
          </a:p>
        </p:txBody>
      </p:sp>
      <p:sp>
        <p:nvSpPr>
          <p:cNvPr id="14" name="d-42"/>
          <p:cNvSpPr/>
          <p:nvPr/>
        </p:nvSpPr>
        <p:spPr>
          <a:xfrm>
            <a:off x="4114800" y="3904488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-43"/>
          <p:cNvSpPr txBox="1"/>
          <p:nvPr/>
        </p:nvSpPr>
        <p:spPr>
          <a:xfrm>
            <a:off x="411480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-44"/>
          <p:cNvSpPr txBox="1"/>
          <p:nvPr/>
        </p:nvSpPr>
        <p:spPr>
          <a:xfrm>
            <a:off x="4526280" y="3886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설계서가 없으면 샘플 버튼을 누릅니다</a:t>
            </a:r>
            <a:endParaRPr lang="en-US" sz="1400" dirty="0"/>
          </a:p>
        </p:txBody>
      </p:sp>
      <p:sp>
        <p:nvSpPr>
          <p:cNvPr id="17" name="t-45"/>
          <p:cNvSpPr txBox="1"/>
          <p:nvPr/>
        </p:nvSpPr>
        <p:spPr>
          <a:xfrm>
            <a:off x="4526280" y="42519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「샘플 ① 통합간편」 「샘플 ② 내Mom대로 5.10.5」 두 개가 들어 있어 결과물 모양을 먼저 볼 수 있습니다. 샘플은 설명문이 없어 설명문 칸이 비어 나옵니다.</a:t>
            </a:r>
            <a:endParaRPr lang="en-US" sz="1200" dirty="0"/>
          </a:p>
        </p:txBody>
      </p:sp>
      <p:sp>
        <p:nvSpPr>
          <p:cNvPr id="18" name="d-46"/>
          <p:cNvSpPr/>
          <p:nvPr/>
        </p:nvSpPr>
        <p:spPr>
          <a:xfrm>
            <a:off x="4114800" y="5001768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-47"/>
          <p:cNvSpPr txBox="1"/>
          <p:nvPr/>
        </p:nvSpPr>
        <p:spPr>
          <a:xfrm>
            <a:off x="411480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-48"/>
          <p:cNvSpPr txBox="1"/>
          <p:nvPr/>
        </p:nvSpPr>
        <p:spPr>
          <a:xfrm>
            <a:off x="4526280" y="4983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30초~1분 기다립니다</a:t>
            </a:r>
            <a:endParaRPr lang="en-US" sz="1400" dirty="0"/>
          </a:p>
        </p:txBody>
      </p:sp>
      <p:sp>
        <p:nvSpPr>
          <p:cNvPr id="21" name="t-49"/>
          <p:cNvSpPr txBox="1"/>
          <p:nvPr/>
        </p:nvSpPr>
        <p:spPr>
          <a:xfrm>
            <a:off x="4526280" y="53492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쪽수가 많은 설계서(30~40쪽)는 「읽는 중 … 10/36쪽」처럼 진행이 표시됩니다. 끝나면 오른쪽에 가이드북이 그려집니다.</a:t>
            </a:r>
            <a:endParaRPr lang="en-US" sz="1200" dirty="0"/>
          </a:p>
        </p:txBody>
      </p:sp>
      <p:sp>
        <p:nvSpPr>
          <p:cNvPr id="22" name="t-50"/>
          <p:cNvSpPr txBox="1"/>
          <p:nvPr/>
        </p:nvSpPr>
        <p:spPr>
          <a:xfrm>
            <a:off x="4114800" y="60807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90011"/>
                </a:solidFill>
              </a:rPr>
              <a:t>파일은 브라우저 안에서만 읽힙니다. 어떤 서버로도 올라가지 않으므로 고객 정보가 든 설계서를 그대로 써도 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3. 상태창 읽는 법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생성이 끝나면 상태창에 무엇을 몇 건 읽었는지 적힙니다. 이 숫자로 결과를 믿어도 되는지 판단합니다</a:t>
            </a:r>
            <a:endParaRPr lang="en-US" sz="1300" dirty="0"/>
          </a:p>
        </p:txBody>
      </p:sp>
      <p:sp>
        <p:nvSpPr>
          <p:cNvPr id="4" name="f-51"/>
          <p:cNvSpPr/>
          <p:nvPr/>
        </p:nvSpPr>
        <p:spPr>
          <a:xfrm>
            <a:off x="612648" y="1618488"/>
            <a:ext cx="4901184" cy="2368296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5" name="p-52" descr="shots/crop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846320" cy="2313432"/>
          </a:xfrm>
          <a:prstGeom prst="rect">
            <a:avLst/>
          </a:prstGeom>
        </p:spPr>
      </p:pic>
      <p:graphicFrame>
        <p:nvGraphicFramePr>
          <p:cNvPr id="6" name="tbl-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45920"/>
          <a:ext cx="5806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830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상태창 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이럴 때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N쪽 · 글자 추출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PDF 에서 글자를 다 읽었다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0쪽이거나 오류면 스캔 이미지 PDF 일 수 있음(글자 없는 PDF 는 못 읽음)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: 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쪽에서 읽은 정식 상품명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상품명이 이상하면 설계서 첫 쪽 표기가 다른 것. 「가이드 제목」에 직접 적으면 표지에 그 이름이 쓰임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 N건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가입담보 표에서 읽은 담보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담보 수보다 크게 적으면 표 형식이 다른 설계서. 세일즈혁신TF 에 PDF 와 함께 알려 주세요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특약 마스터 매칭 N건 (○○ 우선)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분류번호를 붙인 담보 수와 기준 약관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매칭 수가 담보 수보다 적으면 그 담보는 분류번호 · Key Point 없이 이름만 실림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설명문 읽힘 N건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뒤쪽 설명문을 붙인 담보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0건이면 설계서에 「가입담보 및 보장내용」이 없는 것. 설명문 · 면책감액표가 빈칸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가이드북 N쪽 생성 완료 · 빈 자리 카드 N장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만들어진 쪽수와 여백에 넣은 연관 정보 카드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「한 쪽을 넘겨 잘린 블록」 문구가 있으면 그 쪽을 확인하고 알려 주세요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-54"/>
          <p:cNvSpPr txBox="1"/>
          <p:nvPr/>
        </p:nvSpPr>
        <p:spPr>
          <a:xfrm>
            <a:off x="640080" y="4206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마스터에 없는 담보가 있으면 「마스터에 없는 담보(N) : …」로 이름이 그대로 나열됩니다. 이 목록이 다음 데이터 보강 대상입니다.</a:t>
            </a:r>
            <a:endParaRPr lang="en-US" sz="1200" dirty="0"/>
          </a:p>
        </p:txBody>
      </p:sp>
      <p:sp>
        <p:nvSpPr>
          <p:cNvPr id="8" name="t-55"/>
          <p:cNvSpPr txBox="1"/>
          <p:nvPr/>
        </p:nvSpPr>
        <p:spPr>
          <a:xfrm>
            <a:off x="640080" y="4983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매칭 기준 약관(「○○ 우선」)은 첫 쪽 상품명으로 자동 판별합니다. 같은 이름의 특약이라도 상품마다 약관이 다를 수 있어, 설계 상품의 약관 레코드를 먼저 찾고 없을 때만 다른 상품의 같은 이름 특약을 씁니다.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4. 옵션 세 개와 가이드 제목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기본값으로 두면 됩니다. 상황에 따라 끄는 경우만 적습니다</a:t>
            </a:r>
            <a:endParaRPr lang="en-US" sz="1300" dirty="0"/>
          </a:p>
        </p:txBody>
      </p:sp>
      <p:graphicFrame>
        <p:nvGraphicFramePr>
          <p:cNvPr id="7" name="tbl-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켜면(기본)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끄면 · 언제 끄나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 Point 가 없는 담보도 싣기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설계서의 모든 담보가 갈래별 해설에 실린다(Key Point 상자 없이 담보표만)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담보만 추려 얇게 만들고 싶을 때. 담보 지도에는 모든 담보가 그대로 남는다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별표 분류번호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담보표 아래에 「약관 별표 분류번호 : C44 기타 피부의 악성신생물 …」 줄이 붙는다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고객용으로 가볍게 보일 때. 분류번호는 교육 · 검증용 성격이 강하다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설명문 싣기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뒤쪽 보장내용 설명문을 요약해 담보표 안에 싣고, 면책 · 감액 조건을 표로 뽑는다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설명문이 깨져 읽힌 설계서일 때. 끄면 「설계서 설명문 없음」으로 표시되고 면책감액표가 비는 점을 알고 쓴다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-57"/>
          <p:cNvSpPr txBox="1"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</a:rPr>
              <a:t>가이드 제목</a:t>
            </a:r>
            <a:endParaRPr lang="en-US" sz="1300" dirty="0"/>
          </a:p>
        </p:txBody>
      </p:sp>
      <p:sp>
        <p:nvSpPr>
          <p:cNvPr id="6" name="t-58"/>
          <p:cNvSpPr txBox="1"/>
          <p:nvPr/>
        </p:nvSpPr>
        <p:spPr>
          <a:xfrm>
            <a:off x="640080" y="4663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비워 두면 설계서의 정식 상품명이 표지에 들어갑니다. 상품명이 「(무)메리츠 The건강한 내Mom대로 5.10.5 보장보험2607(3.0)(해약환급금지급형)…」처럼 길어 표지가 답답하면 「The건강한 내Mom대로 5.10.5」처럼 짧게 적습니다. 정식 상품명은 표지 아래와 「상품 한눈에 보기」에 그대로 남습니다.</a:t>
            </a:r>
            <a:endParaRPr lang="en-US" sz="1200" dirty="0"/>
          </a:p>
        </p:txBody>
      </p:sp>
      <p:sp>
        <p:nvSpPr>
          <p:cNvPr id="7" name="t-59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0011"/>
                </a:solidFill>
              </a:rPr>
              <a:t>옵션이나 제목을 바꾼 뒤에는 「다시 만들기」를 누릅니다. 설계서를 다시 넣을 필요는 없습니다.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5. 인쇄와 PDF 저장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브라우저 인쇄창 설정 세 가지만 맞추면 지면이 그대로 나옵니다</a:t>
            </a:r>
            <a:endParaRPr lang="en-US" sz="1300" dirty="0"/>
          </a:p>
        </p:txBody>
      </p:sp>
      <p:graphicFrame>
        <p:nvGraphicFramePr>
          <p:cNvPr id="8" name="tbl-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인쇄창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대상(프린터)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PDF로 저장  (종이는 사무실 프린터)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로 저장하면 메일 · 태블릿에서 그대로 열 수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용지 · 방향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· 세로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지면이 A4 세로 기준으로 그려져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기본값(보통)으로 두면 지면이 줄어들고 아래 잘린다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배경 그래픽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끄면 머리띠 · 카드 바탕색 · 점선 상자가 사라져 흰 바탕에 글자만 남는다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머리글 · 바닥글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브라우저가 날짜 · 파일 경로를 찍는 것을 막는다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-61"/>
          <p:cNvSpPr txBox="1"/>
          <p:nvPr/>
        </p:nvSpPr>
        <p:spPr>
          <a:xfrm>
            <a:off x="758952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자주 겪는 일</a:t>
            </a:r>
            <a:endParaRPr lang="en-US" sz="1400" dirty="0"/>
          </a:p>
        </p:txBody>
      </p:sp>
      <p:sp>
        <p:nvSpPr>
          <p:cNvPr id="6" name="t-62"/>
          <p:cNvSpPr txBox="1"/>
          <p:nvPr/>
        </p:nvSpPr>
        <p:spPr>
          <a:xfrm>
            <a:off x="758952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쪽이 21~22쪽으로 늘고 끝이 잘린다</a:t>
            </a:r>
            <a:endParaRPr lang="en-US" sz="1200" dirty="0"/>
          </a:p>
        </p:txBody>
      </p:sp>
      <p:sp>
        <p:nvSpPr>
          <p:cNvPr id="7" name="t-63"/>
          <p:cNvSpPr txBox="1"/>
          <p:nvPr/>
        </p:nvSpPr>
        <p:spPr>
          <a:xfrm>
            <a:off x="7589520" y="243230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여백이 「없음」이 아닙니다. 여백을 없음으로 바꾸고 다시 인쇄창을 엽니다.</a:t>
            </a:r>
            <a:endParaRPr lang="en-US" sz="1100" dirty="0"/>
          </a:p>
        </p:txBody>
      </p:sp>
      <p:sp>
        <p:nvSpPr>
          <p:cNvPr id="8" name="t-64"/>
          <p:cNvSpPr txBox="1"/>
          <p:nvPr/>
        </p:nvSpPr>
        <p:spPr>
          <a:xfrm>
            <a:off x="7589520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바탕색 · 머리띠가 안 나온다</a:t>
            </a:r>
            <a:endParaRPr lang="en-US" sz="1200" dirty="0"/>
          </a:p>
        </p:txBody>
      </p:sp>
      <p:sp>
        <p:nvSpPr>
          <p:cNvPr id="9" name="t-65"/>
          <p:cNvSpPr txBox="1"/>
          <p:nvPr/>
        </p:nvSpPr>
        <p:spPr>
          <a:xfrm>
            <a:off x="7589520" y="33284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「배경 그래픽」이 꺼져 있습니다(크롬은 「설정 더보기」 안에 있음).</a:t>
            </a:r>
            <a:endParaRPr lang="en-US" sz="1100" dirty="0"/>
          </a:p>
        </p:txBody>
      </p:sp>
      <p:sp>
        <p:nvSpPr>
          <p:cNvPr id="10" name="t-66"/>
          <p:cNvSpPr txBox="1"/>
          <p:nvPr/>
        </p:nvSpPr>
        <p:spPr>
          <a:xfrm>
            <a:off x="7589520" y="3895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첫 쪽 위에 날짜 · 경로가 찍힌다</a:t>
            </a:r>
            <a:endParaRPr lang="en-US" sz="1200" dirty="0"/>
          </a:p>
        </p:txBody>
      </p:sp>
      <p:sp>
        <p:nvSpPr>
          <p:cNvPr id="11" name="t-67"/>
          <p:cNvSpPr txBox="1"/>
          <p:nvPr/>
        </p:nvSpPr>
        <p:spPr>
          <a:xfrm>
            <a:off x="7589520" y="42245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「머리글 및 바닥글」을 끕니다.</a:t>
            </a:r>
            <a:endParaRPr lang="en-US" sz="1100" dirty="0"/>
          </a:p>
        </p:txBody>
      </p:sp>
      <p:sp>
        <p:nvSpPr>
          <p:cNvPr id="12" name="t-68"/>
          <p:cNvSpPr txBox="1"/>
          <p:nvPr/>
        </p:nvSpPr>
        <p:spPr>
          <a:xfrm>
            <a:off x="7589520" y="47914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PDF 파일이 너무 크다</a:t>
            </a:r>
            <a:endParaRPr lang="en-US" sz="1200" dirty="0"/>
          </a:p>
        </p:txBody>
      </p:sp>
      <p:sp>
        <p:nvSpPr>
          <p:cNvPr id="13" name="t-69"/>
          <p:cNvSpPr txBox="1"/>
          <p:nvPr/>
        </p:nvSpPr>
        <p:spPr>
          <a:xfrm>
            <a:off x="7589520" y="5120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글꼴이 내장되어 보통 2~5MB 입니다. 그 이상이면 인쇄창 「대상」이 프린터 드라이버의 PDF 가 아닌지 확인합니다.</a:t>
            </a:r>
            <a:endParaRPr lang="en-US" sz="1100" dirty="0"/>
          </a:p>
        </p:txBody>
      </p:sp>
      <p:sp>
        <p:nvSpPr>
          <p:cNvPr id="14" name="t-70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저장 파일명은 영문 · 숫자로 두는 편이 사내 메일 첨부와 윈도우 공유 폴더에서 탈이 없습니다. 예) guide_mom5105_40F_202610.pdf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6. 결과물 읽는 법 — 20쪽의 구성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쪽 순서가 상담 순서입니다. 쪽마다 어디서 온 내용인지 함께 적습니다</a:t>
            </a:r>
            <a:endParaRPr lang="en-US" sz="1300" dirty="0"/>
          </a:p>
        </p:txBody>
      </p:sp>
      <p:graphicFrame>
        <p:nvGraphicFramePr>
          <p:cNvPr id="9" name="tbl-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8521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 온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제목 · 정식 상품명 · 예시 설계(피보험자 · 나이 · 계약사항) · 가입담보 수 · 월 보험료 · Key Point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첫 쪽 · 담보 목록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1장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한 장 요약 · 5갈래 타일(건수 · 대표 담보 4개) · 가입 첫 해 조건 · 상담 3층 구조 · Key Point 칩 8개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 목록 · 설명문에서 읽은 면책 · 감액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풀이 · 상품 한눈에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본문에 나오는 용어 17개 한 줄 정의 · 상품 정보표 · 가이드 읽는 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용어 창고 · 설계서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 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갈래별로 담보 · 면책감액 · 가입금액(만원) 표. 24줄마다 「— 계속」 상자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 목록 · 설명문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갈래별 담보 해설(1~5장)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왼쪽 담보표(담보명 · 금액 · 설명문 요약 · 약관 별표 분류번호) · 오른쪽 Key Point · 장 끝 자주 나오는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· 특약 마스터(약관 별표) · Key Point 창고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면책기간 / 감액기간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보장개시일(면책)과 1년 미만 · 90일 미만 감액을 담보별 한 표로. 첫 해에 짚어 줄 세 가지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설명문에서 읽은 것만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자리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여백이 남는 쪽에 그 갈래의 연관 정보 카드(후유장해란 · 산정특례란 등 25종)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카드 창고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뒷표지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가이드는 이렇게 만들어졌습니다(출처 · 생성 일자 · 원본 파일명) · 문의처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7. 갈래별 담보 쪽을 뜯어 보면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왼쪽은 「사실」, 오른쪽은 「말하는 법」입니다. 두 칸의 출처가 다릅니다</a:t>
            </a:r>
            <a:endParaRPr lang="en-US" sz="1300" dirty="0"/>
          </a:p>
        </p:txBody>
      </p:sp>
      <p:sp>
        <p:nvSpPr>
          <p:cNvPr id="4" name="f-72"/>
          <p:cNvSpPr/>
          <p:nvPr/>
        </p:nvSpPr>
        <p:spPr>
          <a:xfrm>
            <a:off x="612648" y="1618488"/>
            <a:ext cx="517550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5" name="p-73" descr="shots/crop_rider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5120640" cy="2084832"/>
          </a:xfrm>
          <a:prstGeom prst="rect">
            <a:avLst/>
          </a:prstGeom>
        </p:spPr>
      </p:pic>
      <p:sp>
        <p:nvSpPr>
          <p:cNvPr id="6" name="f-74"/>
          <p:cNvSpPr/>
          <p:nvPr/>
        </p:nvSpPr>
        <p:spPr>
          <a:xfrm>
            <a:off x="6053328" y="1618488"/>
            <a:ext cx="5541264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7" name="p-75" descr="shots/crop_kp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486400" cy="2249424"/>
          </a:xfrm>
          <a:prstGeom prst="rect">
            <a:avLst/>
          </a:prstGeom>
        </p:spPr>
      </p:pic>
      <p:sp>
        <p:nvSpPr>
          <p:cNvPr id="8" name="t-76"/>
          <p:cNvSpPr txBox="1"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담보명 · 가입금액 · 보험기간</a:t>
            </a:r>
            <a:endParaRPr lang="en-US" sz="1200" dirty="0"/>
          </a:p>
        </p:txBody>
      </p:sp>
      <p:sp>
        <p:nvSpPr>
          <p:cNvPr id="9" name="t-77"/>
          <p:cNvSpPr txBox="1"/>
          <p:nvPr/>
        </p:nvSpPr>
        <p:spPr>
          <a:xfrm>
            <a:off x="64008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설계서 가입담보 표 그대로. 「2백만원 / 20년/100세」</a:t>
            </a:r>
            <a:endParaRPr lang="en-US" sz="1050" dirty="0"/>
          </a:p>
        </p:txBody>
      </p:sp>
      <p:sp>
        <p:nvSpPr>
          <p:cNvPr id="10" name="t-78"/>
          <p:cNvSpPr txBox="1"/>
          <p:nvPr/>
        </p:nvSpPr>
        <p:spPr>
          <a:xfrm>
            <a:off x="640080" y="4736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설명문 요약</a:t>
            </a:r>
            <a:endParaRPr lang="en-US" sz="1200" dirty="0"/>
          </a:p>
        </p:txBody>
      </p:sp>
      <p:sp>
        <p:nvSpPr>
          <p:cNvPr id="11" name="t-79"/>
          <p:cNvSpPr txBox="1"/>
          <p:nvPr/>
        </p:nvSpPr>
        <p:spPr>
          <a:xfrm>
            <a:off x="640080" y="50109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설계서 뒤쪽 보장내용 설명문을 380자 안으로 줄인 것. 지급금액표가 있으면 항목 · 금액 · 횟수 표로. ※ 뒤 노란 표시는 면책 · 감액 · 한도 문장</a:t>
            </a:r>
            <a:endParaRPr lang="en-US" sz="1050" dirty="0"/>
          </a:p>
        </p:txBody>
      </p:sp>
      <p:sp>
        <p:nvSpPr>
          <p:cNvPr id="12" name="t-80"/>
          <p:cNvSpPr txBox="1"/>
          <p:nvPr/>
        </p:nvSpPr>
        <p:spPr>
          <a:xfrm>
            <a:off x="640080" y="5449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약관 별표 분류번호</a:t>
            </a:r>
            <a:endParaRPr lang="en-US" sz="1200" dirty="0"/>
          </a:p>
        </p:txBody>
      </p:sp>
      <p:sp>
        <p:nvSpPr>
          <p:cNvPr id="13" name="t-81"/>
          <p:cNvSpPr txBox="1"/>
          <p:nvPr/>
        </p:nvSpPr>
        <p:spPr>
          <a:xfrm>
            <a:off x="640080" y="57241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특약 마스터(약관에서 뽑은 것)의 질병코드와 이름. 10개까지 보이고 나머지는 「외 N개」. 제외코드는 「(제외 : …)」</a:t>
            </a:r>
            <a:endParaRPr lang="en-US" sz="1050" dirty="0"/>
          </a:p>
        </p:txBody>
      </p:sp>
      <p:sp>
        <p:nvSpPr>
          <p:cNvPr id="14" name="t-82"/>
          <p:cNvSpPr txBox="1"/>
          <p:nvPr/>
        </p:nvSpPr>
        <p:spPr>
          <a:xfrm>
            <a:off x="608076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Key Point 상자</a:t>
            </a:r>
            <a:endParaRPr lang="en-US" sz="1200" dirty="0"/>
          </a:p>
        </p:txBody>
      </p:sp>
      <p:sp>
        <p:nvSpPr>
          <p:cNvPr id="15" name="t-83"/>
          <p:cNvSpPr txBox="1"/>
          <p:nvPr/>
        </p:nvSpPr>
        <p:spPr>
          <a:xfrm>
            <a:off x="608076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담보 이름으로 창고(36종)에서 찾은 상담 글 상자. 같은 Key Point 를 쓰는 담보가 이어지면 왼쪽에 담보표를 쌓고 상자는 한 번만</a:t>
            </a:r>
            <a:endParaRPr lang="en-US" sz="1050" dirty="0"/>
          </a:p>
        </p:txBody>
      </p:sp>
      <p:sp>
        <p:nvSpPr>
          <p:cNvPr id="16" name="t-84"/>
          <p:cNvSpPr txBox="1"/>
          <p:nvPr/>
        </p:nvSpPr>
        <p:spPr>
          <a:xfrm>
            <a:off x="608076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상담 포인트 — 자주 나오는 질문</a:t>
            </a:r>
            <a:endParaRPr lang="en-US" sz="1200" dirty="0"/>
          </a:p>
        </p:txBody>
      </p:sp>
      <p:sp>
        <p:nvSpPr>
          <p:cNvPr id="17" name="t-85"/>
          <p:cNvSpPr txBox="1"/>
          <p:nvPr/>
        </p:nvSpPr>
        <p:spPr>
          <a:xfrm>
            <a:off x="6080760" y="5010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장마다 끝에 붙는 Q&amp;A. 갈래별로 3개 안팎</a:t>
            </a:r>
            <a:endParaRPr lang="en-US" sz="1050" dirty="0"/>
          </a:p>
        </p:txBody>
      </p:sp>
      <p:sp>
        <p:nvSpPr>
          <p:cNvPr id="18" name="t-86"/>
          <p:cNvSpPr txBox="1"/>
          <p:nvPr/>
        </p:nvSpPr>
        <p:spPr>
          <a:xfrm>
            <a:off x="6080760" y="54498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</a:rPr>
              <a:t>Key Point 가 없는 담보</a:t>
            </a:r>
            <a:endParaRPr lang="en-US" sz="1200" dirty="0"/>
          </a:p>
        </p:txBody>
      </p:sp>
      <p:sp>
        <p:nvSpPr>
          <p:cNvPr id="19" name="t-87"/>
          <p:cNvSpPr txBox="1"/>
          <p:nvPr/>
        </p:nvSpPr>
        <p:spPr>
          <a:xfrm>
            <a:off x="6080760" y="57241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왼쪽 담보표만 실립니다(옵션으로 뺄 수 있음). 이 담보들이 Key Point 창고 보강 후보입니다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8. 왜 만들었나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설계사가 고객 앞에서 쓰는 「한 권」을 사람이 만들고 있었습니다</a:t>
            </a:r>
            <a:endParaRPr lang="en-US" sz="1300" dirty="0"/>
          </a:p>
        </p:txBody>
      </p:sp>
      <p:sp>
        <p:nvSpPr>
          <p:cNvPr id="4" name="t-88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상품설명서는 나열이다</a:t>
            </a:r>
            <a:endParaRPr lang="en-US" sz="1600" dirty="0"/>
          </a:p>
        </p:txBody>
      </p:sp>
      <p:sp>
        <p:nvSpPr>
          <p:cNvPr id="5" name="t-89"/>
          <p:cNvSpPr txBox="1"/>
          <p:nvPr/>
        </p:nvSpPr>
        <p:spPr>
          <a:xfrm>
            <a:off x="4114800" y="173736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</a:rPr>
              <a:t>담보명과 가입금액이 수십 줄 이어질 뿐, 왜 이 담보가 중요한지 · 언제 못 받는지(면책 90일, 1년 미만 50% 감액)는 적혀 있지 않습니다. 설계사가 머릿속에서 다시 조립해야 합니다.</a:t>
            </a:r>
            <a:endParaRPr lang="en-US" sz="1250" dirty="0"/>
          </a:p>
        </p:txBody>
      </p:sp>
      <p:sp>
        <p:nvSpPr>
          <p:cNvPr id="6" name="r-90"/>
          <p:cNvSpPr/>
          <p:nvPr/>
        </p:nvSpPr>
        <p:spPr>
          <a:xfrm>
            <a:off x="640080" y="2880360"/>
            <a:ext cx="10881360" cy="0"/>
          </a:xfrm>
          <a:prstGeom prst="line">
            <a:avLst/>
          </a:prstGeom>
          <a:noFill/>
          <a:ln w="9525">
            <a:solidFill>
              <a:srgbClr val="D1D6DB"/>
            </a:solidFill>
            <a:prstDash val="solid"/>
          </a:ln>
        </p:spPr>
      </p:sp>
      <p:sp>
        <p:nvSpPr>
          <p:cNvPr id="7" name="t-91"/>
          <p:cNvSpPr txBox="1"/>
          <p:nvPr/>
        </p:nvSpPr>
        <p:spPr>
          <a:xfrm>
            <a:off x="64008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약관은 수백~천 쪽이다</a:t>
            </a:r>
            <a:endParaRPr lang="en-US" sz="1600" dirty="0"/>
          </a:p>
        </p:txBody>
      </p:sp>
      <p:sp>
        <p:nvSpPr>
          <p:cNvPr id="8" name="t-92"/>
          <p:cNvSpPr txBox="1"/>
          <p:nvPr/>
        </p:nvSpPr>
        <p:spPr>
          <a:xfrm>
            <a:off x="4114800" y="30632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</a:rPr>
              <a:t>질병코드 별표 · 감액 조건 · 수가코드는 약관 깊숙이 흩어져 있어 상담 중 열어 볼 수 없습니다. 기억에 의존하면 같은 상품을 설계사마다 다르게 설명하게 됩니다.</a:t>
            </a:r>
            <a:endParaRPr lang="en-US" sz="1250" dirty="0"/>
          </a:p>
        </p:txBody>
      </p:sp>
      <p:sp>
        <p:nvSpPr>
          <p:cNvPr id="9" name="r-93"/>
          <p:cNvSpPr/>
          <p:nvPr/>
        </p:nvSpPr>
        <p:spPr>
          <a:xfrm>
            <a:off x="640080" y="4206240"/>
            <a:ext cx="10881360" cy="0"/>
          </a:xfrm>
          <a:prstGeom prst="line">
            <a:avLst/>
          </a:prstGeom>
          <a:noFill/>
          <a:ln w="9525">
            <a:solidFill>
              <a:srgbClr val="D1D6DB"/>
            </a:solidFill>
            <a:prstDash val="solid"/>
          </a:ln>
        </p:spPr>
      </p:sp>
      <p:sp>
        <p:nvSpPr>
          <p:cNvPr id="10" name="t-94"/>
          <p:cNvSpPr txBox="1"/>
          <p:nvPr/>
        </p:nvSpPr>
        <p:spPr>
          <a:xfrm>
            <a:off x="64008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가이드북은 손으로 만든다</a:t>
            </a:r>
            <a:endParaRPr lang="en-US" sz="1600" dirty="0"/>
          </a:p>
        </p:txBody>
      </p:sp>
      <p:sp>
        <p:nvSpPr>
          <p:cNvPr id="11" name="t-95"/>
          <p:cNvSpPr txBox="1"/>
          <p:nvPr/>
        </p:nvSpPr>
        <p:spPr>
          <a:xfrm>
            <a:off x="4114800" y="438912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</a:rPr>
              <a:t>본사가 상품별 가이드북을 수작업으로 편집해 일부 상품에만 있습니다. 상품 개정 · 신상품마다 처음부터 다시 만들어야 하고, 고객별 설계안에 맞춘 판은 없습니다.</a:t>
            </a:r>
            <a:endParaRPr lang="en-US" sz="1250" dirty="0"/>
          </a:p>
        </p:txBody>
      </p:sp>
      <p:sp>
        <p:nvSpPr>
          <p:cNvPr id="12" name="b-96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3" name="t-97"/>
          <p:cNvSpPr txBox="1"/>
          <p:nvPr/>
        </p:nvSpPr>
        <p:spPr>
          <a:xfrm>
            <a:off x="868680" y="57881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</a:rPr>
              <a:t>그래서 「설계서 한 장을 넣으면 그 설계에 맞는 가이드북이 나오는 도구」를 만들었습니다. 수작업 초판(The건강한 내Mom대로 5.10.5 · 15쪽)을 먼저 만들어 모양을 정하고, 그 모양을 프로그램으로 옮겼습니다.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9. 무엇을 만들었나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네 단계로 동작하는 HTML 파일 하나입니다. 서버도 설치도 없습니다</a:t>
            </a:r>
            <a:endParaRPr lang="en-US" sz="1300" dirty="0"/>
          </a:p>
        </p:txBody>
      </p:sp>
      <p:sp>
        <p:nvSpPr>
          <p:cNvPr id="4" name="b-98"/>
          <p:cNvSpPr/>
          <p:nvPr/>
        </p:nvSpPr>
        <p:spPr>
          <a:xfrm>
            <a:off x="640080" y="1737360"/>
            <a:ext cx="2560320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d-99"/>
          <p:cNvSpPr/>
          <p:nvPr/>
        </p:nvSpPr>
        <p:spPr>
          <a:xfrm>
            <a:off x="868680" y="196596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-100"/>
          <p:cNvSpPr txBox="1"/>
          <p:nvPr/>
        </p:nvSpPr>
        <p:spPr>
          <a:xfrm>
            <a:off x="8686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-101"/>
          <p:cNvSpPr txBox="1"/>
          <p:nvPr/>
        </p:nvSpPr>
        <p:spPr>
          <a:xfrm>
            <a:off x="8686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설계서 읽기</a:t>
            </a:r>
            <a:endParaRPr lang="en-US" sz="1450" dirty="0"/>
          </a:p>
        </p:txBody>
      </p:sp>
      <p:sp>
        <p:nvSpPr>
          <p:cNvPr id="8" name="t-102"/>
          <p:cNvSpPr txBox="1"/>
          <p:nvPr/>
        </p:nvSpPr>
        <p:spPr>
          <a:xfrm>
            <a:off x="868680" y="27889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5968"/>
                </a:solidFill>
              </a:rPr>
              <a:t>상품설명서 PDF 에서 담보명 · 가입금액 · 보장내용 설명문을 읽습니다. 줄바꿈으로 끊긴 긴 담보명도 이어 붙입니다.</a:t>
            </a:r>
            <a:endParaRPr lang="en-US" sz="1150" dirty="0"/>
          </a:p>
        </p:txBody>
      </p:sp>
      <p:sp>
        <p:nvSpPr>
          <p:cNvPr id="9" name="b-103"/>
          <p:cNvSpPr/>
          <p:nvPr/>
        </p:nvSpPr>
        <p:spPr>
          <a:xfrm>
            <a:off x="3383280" y="1737360"/>
            <a:ext cx="2560320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d-104"/>
          <p:cNvSpPr/>
          <p:nvPr/>
        </p:nvSpPr>
        <p:spPr>
          <a:xfrm>
            <a:off x="3611880" y="196596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-105"/>
          <p:cNvSpPr txBox="1"/>
          <p:nvPr/>
        </p:nvSpPr>
        <p:spPr>
          <a:xfrm>
            <a:off x="36118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-106"/>
          <p:cNvSpPr txBox="1"/>
          <p:nvPr/>
        </p:nvSpPr>
        <p:spPr>
          <a:xfrm>
            <a:off x="36118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특약 마스터 매칭</a:t>
            </a:r>
            <a:endParaRPr lang="en-US" sz="1450" dirty="0"/>
          </a:p>
        </p:txBody>
      </p:sp>
      <p:sp>
        <p:nvSpPr>
          <p:cNvPr id="13" name="t-107"/>
          <p:cNvSpPr txBox="1"/>
          <p:nvPr/>
        </p:nvSpPr>
        <p:spPr>
          <a:xfrm>
            <a:off x="3611880" y="27889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5968"/>
                </a:solidFill>
              </a:rPr>
              <a:t>8개 상품 약관에서 뽑은 특약 4,338건과 이름을 맞춰 약관 별표 분류번호 · 제외코드를 붙입니다. 설계 상품의 약관을 먼저 봅니다.</a:t>
            </a:r>
            <a:endParaRPr lang="en-US" sz="1150" dirty="0"/>
          </a:p>
        </p:txBody>
      </p:sp>
      <p:sp>
        <p:nvSpPr>
          <p:cNvPr id="14" name="b-108"/>
          <p:cNvSpPr/>
          <p:nvPr/>
        </p:nvSpPr>
        <p:spPr>
          <a:xfrm>
            <a:off x="6126480" y="1737360"/>
            <a:ext cx="2560320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d-109"/>
          <p:cNvSpPr/>
          <p:nvPr/>
        </p:nvSpPr>
        <p:spPr>
          <a:xfrm>
            <a:off x="6355080" y="196596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-110"/>
          <p:cNvSpPr txBox="1"/>
          <p:nvPr/>
        </p:nvSpPr>
        <p:spPr>
          <a:xfrm>
            <a:off x="63550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-111"/>
          <p:cNvSpPr txBox="1"/>
          <p:nvPr/>
        </p:nvSpPr>
        <p:spPr>
          <a:xfrm>
            <a:off x="6355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Key Point 결합</a:t>
            </a:r>
            <a:endParaRPr lang="en-US" sz="1450" dirty="0"/>
          </a:p>
        </p:txBody>
      </p:sp>
      <p:sp>
        <p:nvSpPr>
          <p:cNvPr id="18" name="t-112"/>
          <p:cNvSpPr txBox="1"/>
          <p:nvPr/>
        </p:nvSpPr>
        <p:spPr>
          <a:xfrm>
            <a:off x="6355080" y="27889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5968"/>
                </a:solidFill>
              </a:rPr>
              <a:t>상담 글 상자(36종) · 용어 풀이(17개) · 자주 묻는 질문을 담보에 맞게 끼워 넣고, 설명문에서 면책 · 감액 조건을 뽑아 표로 세웁니다.</a:t>
            </a:r>
            <a:endParaRPr lang="en-US" sz="1150" dirty="0"/>
          </a:p>
        </p:txBody>
      </p:sp>
      <p:sp>
        <p:nvSpPr>
          <p:cNvPr id="19" name="b-113"/>
          <p:cNvSpPr/>
          <p:nvPr/>
        </p:nvSpPr>
        <p:spPr>
          <a:xfrm>
            <a:off x="8869680" y="1737360"/>
            <a:ext cx="2560320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0" name="d-114"/>
          <p:cNvSpPr/>
          <p:nvPr/>
        </p:nvSpPr>
        <p:spPr>
          <a:xfrm>
            <a:off x="9098280" y="196596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-115"/>
          <p:cNvSpPr txBox="1"/>
          <p:nvPr/>
        </p:nvSpPr>
        <p:spPr>
          <a:xfrm>
            <a:off x="90982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-116"/>
          <p:cNvSpPr txBox="1"/>
          <p:nvPr/>
        </p:nvSpPr>
        <p:spPr>
          <a:xfrm>
            <a:off x="90982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지면 조립</a:t>
            </a:r>
            <a:endParaRPr lang="en-US" sz="1450" dirty="0"/>
          </a:p>
        </p:txBody>
      </p:sp>
      <p:sp>
        <p:nvSpPr>
          <p:cNvPr id="23" name="t-117"/>
          <p:cNvSpPr txBox="1"/>
          <p:nvPr/>
        </p:nvSpPr>
        <p:spPr>
          <a:xfrm>
            <a:off x="9098280" y="27889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5968"/>
                </a:solidFill>
              </a:rPr>
              <a:t>쪽 높이를 재 가며 블록을 배치해 글자가 지면을 넘지 않게 하고, 남는 여백에는 연관 정보 카드를 넣습니다. 쪽 머리띠에 장 이름 · 쪽수를 찍습니다.</a:t>
            </a:r>
            <a:endParaRPr lang="en-US" sz="1150" dirty="0"/>
          </a:p>
        </p:txBody>
      </p:sp>
      <p:sp>
        <p:nvSpPr>
          <p:cNvPr id="24" name="f-118"/>
          <p:cNvSpPr/>
          <p:nvPr/>
        </p:nvSpPr>
        <p:spPr>
          <a:xfrm>
            <a:off x="612648" y="4727448"/>
            <a:ext cx="1152144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25" name="p-119" descr="shots/pag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54880"/>
            <a:ext cx="1097280" cy="1554480"/>
          </a:xfrm>
          <a:prstGeom prst="rect">
            <a:avLst/>
          </a:prstGeom>
        </p:spPr>
      </p:pic>
      <p:sp>
        <p:nvSpPr>
          <p:cNvPr id="26" name="f-120"/>
          <p:cNvSpPr/>
          <p:nvPr/>
        </p:nvSpPr>
        <p:spPr>
          <a:xfrm>
            <a:off x="1847088" y="4727448"/>
            <a:ext cx="1152144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27" name="p-121" descr="shots/page_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4754880"/>
            <a:ext cx="1097280" cy="1554480"/>
          </a:xfrm>
          <a:prstGeom prst="rect">
            <a:avLst/>
          </a:prstGeom>
        </p:spPr>
      </p:pic>
      <p:sp>
        <p:nvSpPr>
          <p:cNvPr id="28" name="f-122"/>
          <p:cNvSpPr/>
          <p:nvPr/>
        </p:nvSpPr>
        <p:spPr>
          <a:xfrm>
            <a:off x="3081528" y="4727448"/>
            <a:ext cx="1152144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1D6DB"/>
            </a:solidFill>
            <a:prstDash val="solid"/>
          </a:ln>
        </p:spPr>
      </p:sp>
      <p:pic>
        <p:nvPicPr>
          <p:cNvPr id="29" name="p-123" descr="shots/page_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754880"/>
            <a:ext cx="1097280" cy="1554480"/>
          </a:xfrm>
          <a:prstGeom prst="rect">
            <a:avLst/>
          </a:prstGeom>
        </p:spPr>
      </p:pic>
      <p:sp>
        <p:nvSpPr>
          <p:cNvPr id="30" name="t-124"/>
          <p:cNvSpPr txBox="1"/>
          <p:nvPr/>
        </p:nvSpPr>
        <p:spPr>
          <a:xfrm>
            <a:off x="4526280" y="4754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</a:rPr>
              <a:t>만든 것의 범위</a:t>
            </a:r>
            <a:endParaRPr lang="en-US" sz="1300" dirty="0"/>
          </a:p>
        </p:txBody>
      </p:sp>
      <p:sp>
        <p:nvSpPr>
          <p:cNvPr id="31" name="t-125"/>
          <p:cNvSpPr txBox="1"/>
          <p:nvPr/>
        </p:nvSpPr>
        <p:spPr>
          <a:xfrm>
            <a:off x="4526280" y="5074920"/>
            <a:ext cx="6995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· 생성기 본체 : docs/guidebook_proto.html (pdf.js · 글꼴 · 아이콘 · 특약 마스터 · Key Point 창고를 한 파일에 내장)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· 데이터 : 특약 마스터(db.json · db_terms_extra.json)는 특약검색기 데이터와 약관 PDF 에서 자동 추출. 스마트 제안서 · 영업지원도구와 같은 마스터를 씁니다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· 글 상자 창고 : scripts/guidebook_kp.json (Key Point 36 · 용어 17 · 빈 자리 카드 25) — 내용을 보태면 생성기를 다시 조립해 반영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10. 지키는 원칙과 데이터의 출처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보험 설명 자료이므로 「그럴듯함」보다 「근거」를 앞에 둡니다</a:t>
            </a:r>
            <a:endParaRPr lang="en-US" sz="1300" dirty="0"/>
          </a:p>
        </p:txBody>
      </p:sp>
      <p:graphicFrame>
        <p:nvGraphicFramePr>
          <p:cNvPr id="13" name="tbl-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구체적으로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질병코드와 금액은 약관 별표 · 특약 마스터 · 설계서에서만 옵니다. 목록이 없으면 빈칸으로 두고 그 사실을 적습니다. 오류가 「틀린 숫자」가 아니라 「빈칸」으로 드러나게 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밖으로 나가지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설계서는 브라우저 안에서만 읽히고 어떤 서버로도 보내지 않습니다. 인터넷이 끊겨도 동작합니다.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약관이 기준이다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규칙표와 마스터가 서로 달라 보이면 약관 원문이 맞습니다. 같은 이름의 특약은 상품이 달라도 같은 별표를 씁니다. 다르면 데이터 오류로 보고 약관으로 바로잡습니다.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산출물이 함께 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세일즈북 · 스마트 제안서 · 영업지원도구가 같은 특약 마스터를 씁니다. 약관이 바뀌면 명령 하나로 셋이 같이 갱신됩니다.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bl-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45920"/>
          <a:ext cx="4800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가이드북의 이 내용은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여기서 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담보명 · 가입금액 · 보험기간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「가입담보」 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상품명 · 피보험자 · 계약사항 · 월 보험료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첫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설명문 요약 · 지급금액표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뒤쪽 「가입담보 및 보장내용」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면책 · 감액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설명문에서 읽은 문장(읽은 것만)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별표 분류번호 · 제외코드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특약 마스터(약관 PDF 에서 추출 · 특약검색기 감수본)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 Point · 용어 풀이 · Q&amp;A · 빈 자리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글 상자 창고(세일즈혁신TF 작성)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5갈래 분류 · 3층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담보명 규칙으로 자동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-128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한계도 적어 둡니다 : ① 8개 상품 밖은 분류번호 · Key Point 가 비어 나옵니다 ② 설명문이 없는 설계서는 면책감액표가 비어 나옵니다 ③ 지급액 계산은 하지 않습니다(그건 스마트 제안서의 몫) ④ Key Point 는 36종이라 담보의 절반 안팎에만 붙습니다 — 창고를 키우는 중입니다.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11. 제언 — MeAI 리포트 생성과 잇기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</a:rPr>
              <a:t>이 생성기는 MeAI 고도화를 위한 선행 과제입니다. 여기서 만든 것을 MeAI 리포트의 재료로 넘기는 방안을 제안합니다</a:t>
            </a:r>
            <a:endParaRPr lang="en-US" sz="1300" dirty="0"/>
          </a:p>
        </p:txBody>
      </p:sp>
      <p:graphicFrame>
        <p:nvGraphicFramePr>
          <p:cNvPr id="14" name="tbl-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MeAI 가 설계 리포트를 쓸 때 막히는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생성기가 이미 가진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잇는 방법(제언)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— 담보가 어느 질병코드를 보장하는지 모르면 그럴듯한 추정이 섞인다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특약 마스터 4,338건(약관 별표 질병코드 · 제외코드 · 수가코드) · Key Point 36 · 용어 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마스터와 창고를 MeAI 지식 자료로 연결해 리포트 문장마다 「약관 별표 ○○」 근거가 붙게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— 설계서 PDF 를 그대로 주면 담보 · 금액 · 설명문이 섞여 구조를 잃는다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읽기(담보 · 금액 · 설명문) · 5갈래 분류 · 면책 · 감액 조건 추출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생성기가 만든 구조 데이터를 MeAI 입력으로 넘기고, MeAI 는 고객 맞춤 서술만 맡는다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— 답은 글인데 설계사가 원하는 것은 고객 앞에 놓을 지면이다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표지 · 1장 요약 · 담보 지도 · 면책감액표를 채우는 지면 조립 틀(넘침 점검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MeAI 가 쓴 문장을 Key Point 상자 자리에 넣어 그대로 20쪽 PDF 로 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— 생성된 글이 약관과 맞는지 확인할 장치가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「추정하지 않는다」 규칙 · 약관 분류번호 대조 · 회귀 점검(쪽별 글자 비교)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MeAI 출력에도 같은 검증을 걸어 틀린 숫자 대신 빈칸과 사유가 나오게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-130"/>
          <p:cNvSpPr txBox="1"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</a:rPr>
              <a:t>단계 제안</a:t>
            </a:r>
            <a:endParaRPr lang="en-US" sz="1300" dirty="0"/>
          </a:p>
        </p:txBody>
      </p:sp>
      <p:sp>
        <p:nvSpPr>
          <p:cNvPr id="6" name="t-131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① 지금 : 오프라인 생성기로 현장 검증 — 어떤 쪽 · 어떤 Key Point 가 실제로 쓰이는지 모은다</a:t>
            </a:r>
            <a:endParaRPr lang="en-US" sz="1150" dirty="0"/>
          </a:p>
        </p:txBody>
      </p:sp>
      <p:sp>
        <p:nvSpPr>
          <p:cNvPr id="7" name="t-132"/>
          <p:cNvSpPr txBox="1"/>
          <p:nvPr/>
        </p:nvSpPr>
        <p:spPr>
          <a:xfrm>
            <a:off x="640080" y="53218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② 다음 : 특약검색기의 「MeAI 프롬프트 자동 생성」 · 프롬프트 라이브러리와 연결 — 가이드북의 담보 · 분류번호를 프롬프트에 실어 MeAI 에 묻는다</a:t>
            </a:r>
            <a:endParaRPr lang="en-US" sz="1150" dirty="0"/>
          </a:p>
        </p:txBody>
      </p:sp>
      <p:sp>
        <p:nvSpPr>
          <p:cNvPr id="8" name="t-133"/>
          <p:cNvSpPr txBox="1"/>
          <p:nvPr/>
        </p:nvSpPr>
        <p:spPr>
          <a:xfrm>
            <a:off x="640080" y="5705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③ 그 뒤 : MeAI 리포트 생성에 특약 마스터와 지면 조립 틀을 연동 — 리포트 생성 기능의 세부는 담당 부서와 맞춘다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12. 자주 묻는 질문</a:t>
            </a:r>
            <a:endParaRPr lang="en-US" sz="2400" dirty="0"/>
          </a:p>
        </p:txBody>
      </p:sp>
      <p:graphicFrame>
        <p:nvGraphicFramePr>
          <p:cNvPr id="15" name="tbl-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담보가 설계서보다 적게 읽혔어요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표 형식이 다른 경우입니다. 상태창 숫자와 함께 PDF 를 세일즈혁신TF 로 보내 주세요. 읽기 규칙을 보강합니다. 개인정보가 있으니 사내 메일로만.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「마스터에 없는 담보」가 여럿 나와요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담보는 이름만 실리고 분류번호 · Key Point 가 빠집니다. 지원 상품 8개 밖이거나, 지원 상품인데 담보명 표기가 약관과 다른 경우입니다. 목록을 알려 주시면 마스터를 보강합니다.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설명문 칸이 전부 「설계서 설명문 없음」이에요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설계서에 뒤쪽 「가입담보 및 보장내용」이 없거나(요약 설계서), 샘플 버튼으로 만든 경우입니다. 상세 설계서로 다시 넣으세요.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고객에게 그대로 줘도 되나요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판은 「교육용 · 사내 자료」 표시가 찍힌 설계사용입니다. 고객 교부용으로 쓰려면 준법 검토 후 문구 · 표시를 바꾼 판을 따로 만들어야 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밖에서도 열리나요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하나라 어디서든 열립니다. 다만 설계서에는 고객 · 설계사 정보가 있으니 사외 PC 에서는 쓰지 않습니다.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상품이 개정되면 어떻게 하나요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세일즈혁신TF 가 약관을 받아 특약 마스터를 다시 뽑고 생성기 파일을 다시 배포합니다. 받는 분은 새 파일로 바꾸기만 하면 됩니다. 파일 안 「빌드 일자」로 판을 구분합니다.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 Point 내용을 고치고 싶어요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담보명과 고칠 문장을 보내 주세요. 글 상자 창고(guidebook_kp.json)에 반영하고 다음 배포판에 넣습니다.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F28"/>
                </a:solidFill>
              </a:rPr>
              <a:t>13. 문의 · 피드백 · 버전</a:t>
            </a:r>
            <a:endParaRPr lang="en-US" sz="2400" dirty="0"/>
          </a:p>
        </p:txBody>
      </p:sp>
      <p:sp>
        <p:nvSpPr>
          <p:cNvPr id="3" name="b-135"/>
          <p:cNvSpPr/>
          <p:nvPr/>
        </p:nvSpPr>
        <p:spPr>
          <a:xfrm>
            <a:off x="640080" y="1280160"/>
            <a:ext cx="10881360" cy="1280160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4" name="t-136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문의 · 수정 요청</a:t>
            </a:r>
            <a:endParaRPr lang="en-US" sz="1400" dirty="0"/>
          </a:p>
        </p:txBody>
      </p:sp>
      <p:sp>
        <p:nvSpPr>
          <p:cNvPr id="5" name="t-137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세일즈혁신TF 이헌수 (AI추진파트)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담보 설명이 약관과 다르거나 Key Point 를 보태고 싶을 때는 「담보명 + 설계 상품 + 고칠 내용」을 함께 보내 주세요. 설계서 PDF 는 사내 메일로만.</a:t>
            </a:r>
            <a:endParaRPr lang="en-US" sz="1200" dirty="0"/>
          </a:p>
        </p:txBody>
      </p:sp>
      <p:sp>
        <p:nvSpPr>
          <p:cNvPr id="6" name="t-138"/>
          <p:cNvSpPr txBox="1"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피드백으로 받고 싶은 것</a:t>
            </a:r>
            <a:endParaRPr lang="en-US" sz="1400" dirty="0"/>
          </a:p>
        </p:txBody>
      </p:sp>
      <p:sp>
        <p:nvSpPr>
          <p:cNvPr id="7" name="t-139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·  상담에서 실제로 쓴 쪽과 안 쓴 쪽 (쪽 번호로)</a:t>
            </a:r>
            <a:endParaRPr lang="en-US" sz="1200" dirty="0"/>
          </a:p>
        </p:txBody>
      </p:sp>
      <p:sp>
        <p:nvSpPr>
          <p:cNvPr id="8" name="t-140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·  Key Point 가 틀렸거나 아쉬운 담보 (담보명으로)</a:t>
            </a:r>
            <a:endParaRPr lang="en-US" sz="1200" dirty="0"/>
          </a:p>
        </p:txBody>
      </p:sp>
      <p:sp>
        <p:nvSpPr>
          <p:cNvPr id="9" name="t-141"/>
          <p:cNvSpPr txBox="1"/>
          <p:nvPr/>
        </p:nvSpPr>
        <p:spPr>
          <a:xfrm>
            <a:off x="640080" y="3977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·  설계서를 넣었는데 담보 · 설명문이 덜 읽힌 사례 (상태창 숫자 + PDF)</a:t>
            </a:r>
            <a:endParaRPr lang="en-US" sz="1200" dirty="0"/>
          </a:p>
        </p:txBody>
      </p:sp>
      <p:sp>
        <p:nvSpPr>
          <p:cNvPr id="10" name="t-142"/>
          <p:cNvSpPr txBox="1"/>
          <p:nvPr/>
        </p:nvSpPr>
        <p:spPr>
          <a:xfrm>
            <a:off x="640080" y="43434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·  고객에게 설명할 때 더 있었으면 하는 용어 · Q&amp;A</a:t>
            </a:r>
            <a:endParaRPr lang="en-US" sz="1200" dirty="0"/>
          </a:p>
        </p:txBody>
      </p:sp>
      <p:graphicFrame>
        <p:nvGraphicFramePr>
          <p:cNvPr id="16" name="tbl-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834640"/>
          <a:ext cx="4892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생성기 빌드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2026-10-02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특약 마스터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4,338건 (8개 상품 · 약관 별표 질병코드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 Point 창고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36종 · 용어 17개 · 빈 자리 카드 25종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docs/guidebook_proto.html · 약 4.7MB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E5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hunx11-sys/MeAI · main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-144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이 문서와 생성기 파일은 부서 내부 공유용입니다. 사외 반출 시 설계서 캡처(피보험자 · 설계사 정보)를 가립니다.</a:t>
            </a:r>
            <a:endParaRPr lang="en-US" sz="11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640080" y="98755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 Guide">
  <a:themeElements>
    <a:clrScheme name="Plain Guide">
      <a:dk1>
        <a:srgbClr val="191F28"/>
      </a:dk1>
      <a:lt1>
        <a:srgbClr val="FFFFFF"/>
      </a:lt1>
      <a:dk2>
        <a:srgbClr val="4E5968"/>
      </a:dk2>
      <a:lt2>
        <a:srgbClr val="F4F5F7"/>
      </a:lt2>
      <a:accent1>
        <a:srgbClr val="334155"/>
      </a:accent1>
      <a:accent2>
        <a:srgbClr val="990011"/>
      </a:accent2>
      <a:accent3>
        <a:srgbClr val="E9EDF2"/>
      </a:accent3>
      <a:accent4>
        <a:srgbClr val="B91C1C"/>
      </a:accent4>
      <a:accent5>
        <a:srgbClr val="0F766E"/>
      </a:accent5>
      <a:accent6>
        <a:srgbClr val="8B95A1"/>
      </a:accent6>
      <a:hlink>
        <a:srgbClr val="334155"/>
      </a:hlink>
      <a:folHlink>
        <a:srgbClr val="334155"/>
      </a:folHlink>
    </a:clrScheme>
    <a:fontScheme name="Plain Guid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Meritz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세일즈북 자동 생성기 — 사용 가이드 및 기획 취지 (부서 내부 공유용)</dc:title>
  <dc:subject>PptxGenJS Presentation</dc:subject>
  <dc:creator>세일즈혁신TF</dc:creator>
  <cp:lastModifiedBy>세일즈혁신TF</cp:lastModifiedBy>
  <cp:revision>1</cp:revision>
  <dcterms:created xsi:type="dcterms:W3CDTF">2026-10-06T01:30:19Z</dcterms:created>
  <dcterms:modified xsi:type="dcterms:W3CDTF">2026-10-06T01:30:19Z</dcterms:modified>
</cp:coreProperties>
</file>